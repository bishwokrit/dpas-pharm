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74" r:id="rId14"/>
    <p:sldId id="275" r:id="rId15"/>
    <p:sldId id="276" r:id="rId16"/>
    <p:sldId id="277" r:id="rId17"/>
    <p:sldId id="278" r:id="rId18"/>
    <p:sldId id="279" r:id="rId19"/>
    <p:sldId id="282" r:id="rId20"/>
    <p:sldId id="283" r:id="rId21"/>
    <p:sldId id="284" r:id="rId22"/>
    <p:sldId id="287" r:id="rId23"/>
    <p:sldId id="288" r:id="rId24"/>
    <p:sldId id="289" r:id="rId25"/>
    <p:sldId id="290" r:id="rId26"/>
    <p:sldId id="291" r:id="rId27"/>
    <p:sldId id="292" r:id="rId28"/>
    <p:sldId id="293" r:id="rId29"/>
    <p:sldId id="294" r:id="rId30"/>
    <p:sldId id="297" r:id="rId31"/>
    <p:sldId id="300" r:id="rId32"/>
    <p:sldId id="301"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Musculoskeletal Pain" id="{7268C7C4-75A9-00E3-C9A1-EAB392F4A519}">
          <p14:sldIdLst>
            <p14:sldId id="256"/>
            <p14:sldId id="257"/>
            <p14:sldId id="258"/>
            <p14:sldId id="259"/>
          </p14:sldIdLst>
        </p14:section>
        <p14:section name="Default-1" id="{00FEFD66-728B-6F8A-1A3A-E1BAFAA85E45}">
          <p14:sldIdLst>
            <p14:sldId id="260"/>
            <p14:sldId id="261"/>
            <p14:sldId id="262"/>
            <p14:sldId id="263"/>
          </p14:sldIdLst>
        </p14:section>
        <p14:section name="Acetaminophen" id="{B697C509-B1E4-A6B7-FCAF-8F7CCCEC6C94}">
          <p14:sldIdLst>
            <p14:sldId id="268"/>
          </p14:sldIdLst>
        </p14:section>
        <p14:section name="Default-2" id="{EC0DD5DE-048A-2086-3F7D-0BBA7C0F26D7}">
          <p14:sldIdLst>
            <p14:sldId id="269"/>
            <p14:sldId id="270"/>
            <p14:sldId id="271"/>
          </p14:sldIdLst>
        </p14:section>
        <p14:section name="NSAIDs" id="{52783BCD-635E-8100-153C-B3D9A81D4C70}">
          <p14:sldIdLst>
            <p14:sldId id="274"/>
          </p14:sldIdLst>
        </p14:section>
        <p14:section name="Default-3" id="{60A5246A-CA01-25DF-EE0A-A56B5CFA6ED2}">
          <p14:sldIdLst>
            <p14:sldId id="275"/>
            <p14:sldId id="276"/>
            <p14:sldId id="277"/>
            <p14:sldId id="278"/>
            <p14:sldId id="279"/>
            <p14:sldId id="282"/>
            <p14:sldId id="283"/>
            <p14:sldId id="284"/>
          </p14:sldIdLst>
        </p14:section>
        <p14:section name="Osteoarthritis &amp; Rheumatoid Arthritis" id="{23EF15EC-4A6E-4580-E037-2357E2ABD034}">
          <p14:sldIdLst>
            <p14:sldId id="287"/>
          </p14:sldIdLst>
        </p14:section>
        <p14:section name="Default-4" id="{66D41D74-2373-8C68-326B-429574B59A1F}">
          <p14:sldIdLst>
            <p14:sldId id="288"/>
            <p14:sldId id="289"/>
            <p14:sldId id="290"/>
            <p14:sldId id="291"/>
            <p14:sldId id="292"/>
            <p14:sldId id="293"/>
            <p14:sldId id="294"/>
            <p14:sldId id="297"/>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92" d="100"/>
          <a:sy n="92" d="100"/>
        </p:scale>
        <p:origin x="19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449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students to the arc of this session: musculoskeletal pain pathways, acetaminophen, NSAIDs, and osteoarthritis/rheumatoid arthritis pharmacotherapy including DMARDs. Tell them this is the first of two sessions on Musculoskeletal Pharmacology — Session 2 picks up with gout, skeletal muscle relaxants, and bone pharmacology on Oct 29.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required and recommended texts for Unit 2 before diving into content. Katzung’s Chapters 27, 36, and 42 are the required reading for this unit; Pharmacotherapy Principles and Practice is recommended as additional support, not a substitute.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musculoskeletal pain in this lecture is a mix of nociceptive and inflammatory — pure neuropathic pain is more the territory of a separate pharmacology unit.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mediator list is the roadmap for the whole lecture — NSAIDs target prostaglandins, biologic DMARDs target specific cytokines.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arrow chain is the conceptual spine for the acetaminophen, NSAID, and corticosteroid sections that follow. The next slide builds this out further with the specific drug classes that intervene at each step.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adds the drug layer on top of the previous flow slide: name the specific drug classes (corticosteroids vs. NSAIDs/COX-2 inhibitors) and exactly where each one interrupts the cascade.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distinction students need: acetaminophen treats pain and fever well, but it is not an anti-inflammatory drug the way NSAIDs 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NAPQI = N-acetyl-p-benzoquinone imine. Tie this directly back to the "toxic metabolite" bullet from Lecture 1’s drug metabolism section.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to reinforce generic-name awareness from Lecture 1 — patients often do not realize a product contains acetaminophen unless they check the label.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this is a simplified teaching model, not an absolute separation — COX-1 and COX-2 functions overlap, and COX-2 is also constitutively expressed in the kidney and elsewhere.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classic "trade one risk for another" teaching point — better GI profile, but not a free lunch cardiovascularly or renally.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graphical version of the trade-off just described in the celecoxib bullet slide — use it to reinforce that there is no risk-free NSAID choice, only a different risk profile.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systems (GI, renal, CV) are the organizing framework for every NSAID contraindication and interaction discussion that follows. Table 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"triple whammy" (NSAID + ACEi/ARB + diuretic) is a very high-yield acute kidney injury pattern to flag explicitly.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Excellent exam-style vignette — ask students to name all three risk factors independently before revealing the answer.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the hinge the whole rest of the section turns on: OA is managed primarily with analgesics/NSAIDs, while RA requires disease-modifying therapy.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explicitly with NSAIDs: an NSAID can make a patient feel better without changing the underlying disease trajectory — a DMARD is meant to change the trajectory itself.</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Methotrexate’s weekly dosing is one of the highest-yield patient-safety teaching points in all of rheumatology pharmacology — emphasize it strongly.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biologic class corresponds to a different cytokine or cell type in the inflammatory cascade shown earlier in the lecture — tie this back to the mediator list from Section 1. The next slide shows these same four drug classes as a mechanism diagram.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visual counterpart to the fourCard slide just shown — have students match each generic drug name to its box on this diagram before you reveal the answer.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1 by previewing Session 2 explicitly — students should leave knowing pain, acetaminophen, NSAIDs, and DMARDs are complete, and that gout, muscle relaxants, and bone pharmacology pick up first next time.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documents AI-tool use for original figure generation per university citation requirements. It covers every original diagram in this deck (Figures 1–3); none are reproduced from any textbook.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3C4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22960" y="1234440"/>
            <a:ext cx="8229600" cy="457200"/>
          </a:xfrm>
          <a:prstGeom prst="rect">
            <a:avLst/>
          </a:prstGeom>
          <a:noFill/>
          <a:ln/>
        </p:spPr>
        <p:txBody>
          <a:bodyPr wrap="square" rtlCol="0"/>
          <a:lstStyle>
            <a:lvl1pPr marL="0" indent="0" algn="l">
              <a:buNone/>
              <a:defRPr lang="en-US" sz="1400" b="1" kern="0" spc="200" dirty="0">
                <a:solidFill>
                  <a:srgbClr val="E9A23B"/>
                </a:solidFill>
                <a:latin typeface="Calibri" pitchFamily="34" charset="0"/>
                <a:ea typeface="Calibri" pitchFamily="34" charset="-122"/>
                <a:cs typeface="Calibri" pitchFamily="34" charset="-120"/>
              </a:defRPr>
            </a:lvl1pPr>
          </a:lstStyle>
          <a:p>
            <a:pPr marL="0" indent="0" algn="l">
              <a:buNone/>
            </a:pPr>
            <a:r>
              <a:rPr lang="en-US" sz="1400" b="1" kern="0" spc="200" dirty="0">
                <a:solidFill>
                  <a:srgbClr val="E9A23B"/>
                </a:solidFill>
                <a:latin typeface="Calibri" pitchFamily="34" charset="0"/>
                <a:ea typeface="Calibri" pitchFamily="34" charset="-122"/>
                <a:cs typeface="Calibri" pitchFamily="34" charset="-120"/>
              </a:rPr>
              <a:t>KICKER</a:t>
            </a:r>
            <a:endParaRPr lang="en-US" sz="1400" dirty="0"/>
          </a:p>
        </p:txBody>
      </p:sp>
      <p:sp>
        <p:nvSpPr>
          <p:cNvPr id="3" name="Text 0"/>
          <p:cNvSpPr>
            <a:spLocks noGrp="1"/>
          </p:cNvSpPr>
          <p:nvPr>
            <p:ph type="title" idx="101" hasCustomPrompt="1"/>
          </p:nvPr>
        </p:nvSpPr>
        <p:spPr>
          <a:xfrm>
            <a:off x="822960" y="1783080"/>
            <a:ext cx="10058400" cy="1920240"/>
          </a:xfrm>
          <a:prstGeom prst="rect">
            <a:avLst/>
          </a:prstGeom>
          <a:noFill/>
          <a:ln/>
        </p:spPr>
        <p:txBody>
          <a:bodyPr wrap="square" rtlCol="0"/>
          <a:lstStyle>
            <a:lvl1pPr marL="0" indent="0" algn="l">
              <a:buNone/>
              <a:defRPr lang="en-US" sz="4000" b="1" dirty="0">
                <a:solidFill>
                  <a:srgbClr val="FFFFFF"/>
                </a:solidFill>
                <a:latin typeface="Cambria" pitchFamily="34" charset="0"/>
                <a:ea typeface="Cambria" pitchFamily="34" charset="-122"/>
                <a:cs typeface="Cambria" pitchFamily="34" charset="-120"/>
              </a:defRPr>
            </a:lvl1pPr>
          </a:lstStyle>
          <a:p>
            <a:pPr marL="0" indent="0" algn="l">
              <a:buNone/>
            </a:pPr>
            <a:r>
              <a:rPr lang="en-US" sz="4000" b="1" dirty="0">
                <a:solidFill>
                  <a:srgbClr val="FFFFFF"/>
                </a:solidFill>
                <a:latin typeface="Cambria" pitchFamily="34" charset="0"/>
                <a:ea typeface="Cambria" pitchFamily="34" charset="-122"/>
                <a:cs typeface="Cambria" pitchFamily="34" charset="-120"/>
              </a:rPr>
              <a:t>Title</a:t>
            </a:r>
            <a:endParaRPr lang="en-US" sz="4000" dirty="0"/>
          </a:p>
        </p:txBody>
      </p:sp>
      <p:sp>
        <p:nvSpPr>
          <p:cNvPr id="4" name="Text 0"/>
          <p:cNvSpPr>
            <a:spLocks noGrp="1"/>
          </p:cNvSpPr>
          <p:nvPr>
            <p:ph type="body" idx="102" hasCustomPrompt="1"/>
          </p:nvPr>
        </p:nvSpPr>
        <p:spPr>
          <a:xfrm>
            <a:off x="822960" y="3794760"/>
            <a:ext cx="9692640" cy="1097280"/>
          </a:xfrm>
          <a:prstGeom prst="rect">
            <a:avLst/>
          </a:prstGeom>
          <a:noFill/>
          <a:ln/>
        </p:spPr>
        <p:txBody>
          <a:bodyPr wrap="square" rtlCol="0"/>
          <a:lstStyle>
            <a:lvl1pPr marL="0" indent="0" algn="l">
              <a:buNone/>
              <a:defRPr lang="en-US" sz="1900" dirty="0">
                <a:solidFill>
                  <a:srgbClr val="E8F1F0"/>
                </a:solidFill>
                <a:latin typeface="Calibri" pitchFamily="34" charset="0"/>
                <a:ea typeface="Calibri" pitchFamily="34" charset="-122"/>
                <a:cs typeface="Calibri" pitchFamily="34" charset="-120"/>
              </a:defRPr>
            </a:lvl1pPr>
          </a:lstStyle>
          <a:p>
            <a:pPr marL="0" indent="0" algn="l">
              <a:buNone/>
            </a:pPr>
            <a:r>
              <a:rPr lang="en-US" sz="1900" dirty="0">
                <a:solidFill>
                  <a:srgbClr val="E8F1F0"/>
                </a:solidFill>
                <a:latin typeface="Calibri" pitchFamily="34" charset="0"/>
                <a:ea typeface="Calibri" pitchFamily="34" charset="-122"/>
                <a:cs typeface="Calibri" pitchFamily="34" charset="-120"/>
              </a:rPr>
              <a:t>Subtitle</a:t>
            </a: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717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965960"/>
            <a:ext cx="2926080" cy="1554480"/>
          </a:xfrm>
          <a:prstGeom prst="rect">
            <a:avLst/>
          </a:prstGeom>
          <a:noFill/>
          <a:ln/>
        </p:spPr>
        <p:txBody>
          <a:bodyPr wrap="square" rtlCol="0"/>
          <a:lstStyle>
            <a:lvl1pPr marL="0" indent="0" algn="l">
              <a:buNone/>
              <a:defRPr lang="en-US" sz="6800" b="1" dirty="0">
                <a:solidFill>
                  <a:srgbClr val="E9A23B"/>
                </a:solidFill>
                <a:latin typeface="Cambria" pitchFamily="34" charset="0"/>
                <a:ea typeface="Cambria" pitchFamily="34" charset="-122"/>
                <a:cs typeface="Cambria" pitchFamily="34" charset="-120"/>
              </a:defRPr>
            </a:lvl1pPr>
          </a:lstStyle>
          <a:p>
            <a:pPr marL="0" indent="0" algn="l">
              <a:buNone/>
            </a:pPr>
            <a:r>
              <a:rPr lang="en-US" sz="6800" b="1" dirty="0">
                <a:solidFill>
                  <a:srgbClr val="E9A23B"/>
                </a:solidFill>
                <a:latin typeface="Cambria" pitchFamily="34" charset="0"/>
                <a:ea typeface="Cambria" pitchFamily="34" charset="-122"/>
                <a:cs typeface="Cambria" pitchFamily="34" charset="-120"/>
              </a:rPr>
              <a:t>01</a:t>
            </a:r>
            <a:endParaRPr lang="en-US" sz="6800" dirty="0"/>
          </a:p>
        </p:txBody>
      </p:sp>
      <p:sp>
        <p:nvSpPr>
          <p:cNvPr id="3" name="Text 0"/>
          <p:cNvSpPr>
            <a:spLocks noGrp="1"/>
          </p:cNvSpPr>
          <p:nvPr>
            <p:ph type="title" idx="101" hasCustomPrompt="1"/>
          </p:nvPr>
        </p:nvSpPr>
        <p:spPr>
          <a:xfrm>
            <a:off x="822960" y="3429000"/>
            <a:ext cx="9692640" cy="1554480"/>
          </a:xfrm>
          <a:prstGeom prst="rect">
            <a:avLst/>
          </a:prstGeom>
          <a:noFill/>
          <a:ln/>
        </p:spPr>
        <p:txBody>
          <a:bodyPr wrap="square" rtlCol="0"/>
          <a:lstStyle>
            <a:lvl1pPr marL="0" indent="0" algn="l">
              <a:buNone/>
              <a:defRPr lang="en-US" sz="3200" b="1" dirty="0">
                <a:solidFill>
                  <a:srgbClr val="FFFFFF"/>
                </a:solidFill>
                <a:latin typeface="Cambria" pitchFamily="34" charset="0"/>
                <a:ea typeface="Cambria" pitchFamily="34" charset="-122"/>
                <a:cs typeface="Cambria" pitchFamily="34" charset="-120"/>
              </a:defRPr>
            </a:lvl1pPr>
          </a:lstStyle>
          <a:p>
            <a:pPr marL="0" indent="0" algn="l">
              <a:buNone/>
            </a:pPr>
            <a:r>
              <a:rPr lang="en-US" sz="3200" b="1" dirty="0">
                <a:solidFill>
                  <a:srgbClr val="FFFFFF"/>
                </a:solidFill>
                <a:latin typeface="Cambria" pitchFamily="34" charset="0"/>
                <a:ea typeface="Cambria" pitchFamily="34" charset="-122"/>
                <a:cs typeface="Cambria" pitchFamily="34" charset="-120"/>
              </a:rPr>
              <a:t>Section</a:t>
            </a: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lvl1pPr marL="0" indent="0" algn="l">
              <a:buNone/>
              <a:defRPr lang="en-US" sz="1200" b="1" kern="0" spc="150" dirty="0">
                <a:solidFill>
                  <a:srgbClr val="0F7173"/>
                </a:solidFill>
                <a:latin typeface="Calibri" pitchFamily="34" charset="0"/>
                <a:ea typeface="Calibri" pitchFamily="34" charset="-122"/>
                <a:cs typeface="Calibri" pitchFamily="34" charset="-120"/>
              </a:defRPr>
            </a:lvl1pPr>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KICKER</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lstStyle>
            <a:lvl1pPr marL="0" indent="0" algn="l">
              <a:buNone/>
              <a:defRPr lang="en-US" sz="2800" b="1" dirty="0">
                <a:solidFill>
                  <a:srgbClr val="123C44"/>
                </a:solidFill>
                <a:latin typeface="Cambria" pitchFamily="34" charset="0"/>
                <a:ea typeface="Cambria" pitchFamily="34" charset="-122"/>
                <a:cs typeface="Cambria" pitchFamily="34" charset="-120"/>
              </a:defRPr>
            </a:lvl1pPr>
          </a:lstStyle>
          <a:p>
            <a:pPr marL="0" indent="0" algn="l">
              <a:buNone/>
            </a:pPr>
            <a:r>
              <a:rPr lang="en-US" sz="2800" b="1" dirty="0">
                <a:solidFill>
                  <a:srgbClr val="123C44"/>
                </a:solidFill>
                <a:latin typeface="Cambria" pitchFamily="34" charset="0"/>
                <a:ea typeface="Cambria" pitchFamily="34" charset="-122"/>
                <a:cs typeface="Cambria" pitchFamily="34" charset="-120"/>
              </a:rPr>
              <a:t>Title</a:t>
            </a:r>
            <a:endParaRPr lang="en-US" sz="2800" dirty="0"/>
          </a:p>
        </p:txBody>
      </p:sp>
      <p:sp>
        <p:nvSpPr>
          <p:cNvPr id="4" name="Text 0"/>
          <p:cNvSpPr>
            <a:spLocks noGrp="1"/>
          </p:cNvSpPr>
          <p:nvPr>
            <p:ph type="body" idx="102" hasCustomPrompt="1"/>
          </p:nvPr>
        </p:nvSpPr>
        <p:spPr>
          <a:xfrm>
            <a:off x="640080" y="1536192"/>
            <a:ext cx="10881360" cy="4846320"/>
          </a:xfrm>
          <a:prstGeom prst="rect">
            <a:avLst/>
          </a:prstGeom>
          <a:noFill/>
          <a:ln/>
        </p:spPr>
        <p:txBody>
          <a:bodyPr wrap="square" rtlCol="0"/>
          <a:lstStyle>
            <a:lvl1pPr marL="0" indent="0" algn="l">
              <a:buNone/>
              <a:defRPr lang="en-US" sz="1600" dirty="0">
                <a:solidFill>
                  <a:srgbClr val="1A1A1A"/>
                </a:solidFill>
                <a:latin typeface="Calibri" pitchFamily="34" charset="0"/>
                <a:ea typeface="Calibri" pitchFamily="34" charset="-122"/>
                <a:cs typeface="Calibri" pitchFamily="34" charset="-120"/>
              </a:defRPr>
            </a:lvl1pPr>
          </a:lstStyle>
          <a:p>
            <a:pPr marL="0" indent="0" algn="l">
              <a:buNone/>
            </a:pPr>
            <a:r>
              <a:rPr lang="en-US" sz="1600" dirty="0">
                <a:solidFill>
                  <a:srgbClr val="1A1A1A"/>
                </a:solidFill>
                <a:latin typeface="Calibri" pitchFamily="34" charset="0"/>
                <a:ea typeface="Calibri" pitchFamily="34" charset="-122"/>
                <a:cs typeface="Calibri" pitchFamily="34" charset="-120"/>
              </a:rPr>
              <a:t>Body</a:t>
            </a:r>
            <a:endParaRPr lang="en-US" sz="1600" dirty="0"/>
          </a:p>
        </p:txBody>
      </p:sp>
      <p:sp>
        <p:nvSpPr>
          <p:cNvPr id="5" name="Text 0"/>
          <p:cNvSpPr/>
          <p:nvPr/>
        </p:nvSpPr>
        <p:spPr>
          <a:xfrm>
            <a:off x="640080" y="6510528"/>
            <a:ext cx="6400800" cy="274320"/>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Musculoskeletal Pharmacology — Session 1 of 2 — PA Program</a:t>
            </a:r>
            <a:endParaRPr lang="en-US" sz="10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lvl1pPr marL="0" indent="0" algn="l">
              <a:buNone/>
              <a:defRPr lang="en-US" sz="1200" b="1" kern="0" spc="150" dirty="0">
                <a:solidFill>
                  <a:srgbClr val="0F7173"/>
                </a:solidFill>
                <a:latin typeface="Calibri" pitchFamily="34" charset="0"/>
                <a:ea typeface="Calibri" pitchFamily="34" charset="-122"/>
                <a:cs typeface="Calibri" pitchFamily="34" charset="-120"/>
              </a:defRPr>
            </a:lvl1pPr>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KICKER</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lstStyle>
            <a:lvl1pPr marL="0" indent="0" algn="l">
              <a:buNone/>
              <a:defRPr lang="en-US" sz="2800" b="1" dirty="0">
                <a:solidFill>
                  <a:srgbClr val="123C44"/>
                </a:solidFill>
                <a:latin typeface="Cambria" pitchFamily="34" charset="0"/>
                <a:ea typeface="Cambria" pitchFamily="34" charset="-122"/>
                <a:cs typeface="Cambria" pitchFamily="34" charset="-120"/>
              </a:defRPr>
            </a:lvl1pPr>
          </a:lstStyle>
          <a:p>
            <a:pPr marL="0" indent="0" algn="l">
              <a:buNone/>
            </a:pPr>
            <a:r>
              <a:rPr lang="en-US" sz="2800" b="1" dirty="0">
                <a:solidFill>
                  <a:srgbClr val="123C44"/>
                </a:solidFill>
                <a:latin typeface="Cambria" pitchFamily="34" charset="0"/>
                <a:ea typeface="Cambria" pitchFamily="34" charset="-122"/>
                <a:cs typeface="Cambria" pitchFamily="34" charset="-120"/>
              </a:rPr>
              <a:t>Title</a:t>
            </a:r>
            <a:endParaRPr lang="en-US" sz="2800" dirty="0"/>
          </a:p>
        </p:txBody>
      </p:sp>
      <p:sp>
        <p:nvSpPr>
          <p:cNvPr id="4" name="Text 0"/>
          <p:cNvSpPr/>
          <p:nvPr/>
        </p:nvSpPr>
        <p:spPr>
          <a:xfrm>
            <a:off x="640080" y="6510528"/>
            <a:ext cx="6400800" cy="274320"/>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Musculoskeletal Pharmacology — Session 1 of 2 — PA Program</a:t>
            </a:r>
            <a:endParaRPr lang="en-US" sz="10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p:bg>
      <p:bgPr>
        <a:solidFill>
          <a:srgbClr val="123C4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22960" y="502920"/>
            <a:ext cx="9144000" cy="292608"/>
          </a:xfrm>
          <a:prstGeom prst="rect">
            <a:avLst/>
          </a:prstGeom>
          <a:noFill/>
          <a:ln/>
        </p:spPr>
        <p:txBody>
          <a:bodyPr wrap="square" rtlCol="0"/>
          <a:lstStyle>
            <a:lvl1pPr marL="0" indent="0" algn="l">
              <a:buNone/>
              <a:defRPr lang="en-US" sz="1200" b="1" kern="0" spc="150" dirty="0">
                <a:solidFill>
                  <a:srgbClr val="E9A23B"/>
                </a:solidFill>
                <a:latin typeface="Calibri" pitchFamily="34" charset="0"/>
                <a:ea typeface="Calibri" pitchFamily="34" charset="-122"/>
                <a:cs typeface="Calibri" pitchFamily="34" charset="-120"/>
              </a:defRPr>
            </a:lvl1pPr>
          </a:lstStyle>
          <a:p>
            <a:pPr marL="0" indent="0" algn="l">
              <a:buNone/>
            </a:pPr>
            <a:r>
              <a:rPr lang="en-US" sz="1200" b="1" kern="0" spc="150" dirty="0">
                <a:solidFill>
                  <a:srgbClr val="E9A23B"/>
                </a:solidFill>
                <a:latin typeface="Calibri" pitchFamily="34" charset="0"/>
                <a:ea typeface="Calibri" pitchFamily="34" charset="-122"/>
                <a:cs typeface="Calibri" pitchFamily="34" charset="-120"/>
              </a:rPr>
              <a:t>KICKER</a:t>
            </a:r>
            <a:endParaRPr lang="en-US" sz="1200" dirty="0"/>
          </a:p>
        </p:txBody>
      </p:sp>
      <p:sp>
        <p:nvSpPr>
          <p:cNvPr id="3" name="Text 0"/>
          <p:cNvSpPr>
            <a:spLocks noGrp="1"/>
          </p:cNvSpPr>
          <p:nvPr>
            <p:ph type="title" idx="101" hasCustomPrompt="1"/>
          </p:nvPr>
        </p:nvSpPr>
        <p:spPr>
          <a:xfrm>
            <a:off x="822960" y="804672"/>
            <a:ext cx="10058400" cy="777240"/>
          </a:xfrm>
          <a:prstGeom prst="rect">
            <a:avLst/>
          </a:prstGeom>
          <a:noFill/>
          <a:ln/>
        </p:spPr>
        <p:txBody>
          <a:bodyPr wrap="square" rtlCol="0"/>
          <a:lstStyle>
            <a:lvl1pPr marL="0" indent="0" algn="l">
              <a:buNone/>
              <a:defRPr lang="en-US" sz="2800" b="1" dirty="0">
                <a:solidFill>
                  <a:srgbClr val="FFFFFF"/>
                </a:solidFill>
                <a:latin typeface="Cambria" pitchFamily="34" charset="0"/>
                <a:ea typeface="Cambria" pitchFamily="34" charset="-122"/>
                <a:cs typeface="Cambria" pitchFamily="34" charset="-120"/>
              </a:defRPr>
            </a:lvl1pPr>
          </a:lstStyle>
          <a:p>
            <a:pPr marL="0" indent="0" algn="l">
              <a:buNone/>
            </a:pPr>
            <a:r>
              <a:rPr lang="en-US" sz="2800" b="1" dirty="0">
                <a:solidFill>
                  <a:srgbClr val="FFFFFF"/>
                </a:solidFill>
                <a:latin typeface="Cambria" pitchFamily="34" charset="0"/>
                <a:ea typeface="Cambria" pitchFamily="34" charset="-122"/>
                <a:cs typeface="Cambria" pitchFamily="34" charset="-120"/>
              </a:rPr>
              <a:t>Title</a:t>
            </a:r>
            <a:endParaRPr lang="en-US" sz="2800" dirty="0"/>
          </a:p>
        </p:txBody>
      </p:sp>
      <p:sp>
        <p:nvSpPr>
          <p:cNvPr id="4" name="Text 0"/>
          <p:cNvSpPr/>
          <p:nvPr/>
        </p:nvSpPr>
        <p:spPr>
          <a:xfrm>
            <a:off x="822960" y="6510528"/>
            <a:ext cx="6400800" cy="274320"/>
          </a:xfrm>
          <a:prstGeom prst="rect">
            <a:avLst/>
          </a:prstGeom>
          <a:noFill/>
          <a:ln/>
        </p:spPr>
        <p:txBody>
          <a:bodyPr wrap="square" rtlCol="0" anchor="ctr"/>
          <a:lstStyle/>
          <a:p>
            <a:pPr marL="0" indent="0" algn="l">
              <a:buNone/>
            </a:pPr>
            <a:r>
              <a:rPr lang="en-US" sz="1000" dirty="0">
                <a:solidFill>
                  <a:srgbClr val="9FC2BE"/>
                </a:solidFill>
                <a:latin typeface="Calibri" pitchFamily="34" charset="0"/>
                <a:ea typeface="Calibri" pitchFamily="34" charset="-122"/>
                <a:cs typeface="Calibri" pitchFamily="34" charset="-120"/>
              </a:rPr>
              <a:t>Musculoskeletal Pharmacology — Session 1 of 2 — PA Program</a:t>
            </a:r>
            <a:endParaRPr lang="en-US" sz="1000" dirty="0"/>
          </a:p>
        </p:txBody>
      </p:sp>
      <p:sp>
        <p:nvSpPr>
          <p:cNvPr id="5" name="Text 1"/>
          <p:cNvSpPr/>
          <p:nvPr/>
        </p:nvSpPr>
        <p:spPr>
          <a:xfrm>
            <a:off x="11475720" y="6510528"/>
            <a:ext cx="640080" cy="274320"/>
          </a:xfrm>
          <a:prstGeom prst="rect">
            <a:avLst/>
          </a:prstGeom>
          <a:noFill/>
          <a:ln/>
        </p:spPr>
        <p:txBody>
          <a:bodyPr wrap="square" rtlCol="0" anchor="ctr"/>
          <a:lstStyle/>
          <a:p>
            <a:pPr marL="0" indent="0" algn="l">
              <a:buNone/>
            </a:pP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hyperlink" Target="http://accessmedicine.mhmedical.com/book.aspx?bookid=3382"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502920"/>
            <a:ext cx="822960" cy="822960"/>
          </a:xfrm>
          <a:prstGeom prst="ellipse">
            <a:avLst/>
          </a:prstGeom>
          <a:solidFill>
            <a:srgbClr val="E9A23B"/>
          </a:solidFill>
          <a:ln/>
        </p:spPr>
        <p:txBody>
          <a:bodyPr/>
          <a:lstStyle/>
          <a:p>
            <a:endParaRPr lang="en-US"/>
          </a:p>
        </p:txBody>
      </p:sp>
      <p:pic>
        <p:nvPicPr>
          <p:cNvPr id="3" name="Image 0" descr="/home/claude/pharm_decks/assets/icons/bone.png"/>
          <p:cNvPicPr>
            <a:picLocks noChangeAspect="1"/>
          </p:cNvPicPr>
          <p:nvPr/>
        </p:nvPicPr>
        <p:blipFill>
          <a:blip r:embed="rId3"/>
          <a:stretch>
            <a:fillRect/>
          </a:stretch>
        </p:blipFill>
        <p:spPr>
          <a:xfrm>
            <a:off x="1020470" y="700430"/>
            <a:ext cx="427939" cy="427939"/>
          </a:xfrm>
          <a:prstGeom prst="rect">
            <a:avLst/>
          </a:prstGeom>
        </p:spPr>
      </p:pic>
      <p:sp>
        <p:nvSpPr>
          <p:cNvPr id="4" name="Text 0"/>
          <p:cNvSpPr>
            <a:spLocks noGrp="1"/>
          </p:cNvSpPr>
          <p:nvPr>
            <p:ph type="body" idx="100" hasCustomPrompt="1"/>
          </p:nvPr>
        </p:nvSpPr>
        <p:spPr>
          <a:xfrm>
            <a:off x="822960" y="1234440"/>
            <a:ext cx="8229600" cy="457200"/>
          </a:xfrm>
          <a:prstGeom prst="rect">
            <a:avLst/>
          </a:prstGeom>
          <a:noFill/>
          <a:ln/>
        </p:spPr>
        <p:txBody>
          <a:bodyPr wrap="square" rtlCol="0"/>
          <a:lstStyle/>
          <a:p>
            <a:pPr marL="0" indent="0" algn="l">
              <a:buNone/>
            </a:pPr>
            <a:r>
              <a:rPr lang="en-US" sz="1400" b="1" kern="0" spc="200" dirty="0">
                <a:solidFill>
                  <a:srgbClr val="E9A23B"/>
                </a:solidFill>
                <a:latin typeface="Calibri" pitchFamily="34" charset="0"/>
                <a:ea typeface="Calibri" pitchFamily="34" charset="-122"/>
                <a:cs typeface="Calibri" pitchFamily="34" charset="-120"/>
              </a:rPr>
              <a:t>PA PHARMACOLOGY COURSE · LECTURE 2 · SESSION 1 OF 2</a:t>
            </a:r>
            <a:endParaRPr lang="en-US" sz="1400" dirty="0"/>
          </a:p>
        </p:txBody>
      </p:sp>
      <p:sp>
        <p:nvSpPr>
          <p:cNvPr id="5" name="Text 0"/>
          <p:cNvSpPr>
            <a:spLocks noGrp="1"/>
          </p:cNvSpPr>
          <p:nvPr>
            <p:ph type="title" idx="101" hasCustomPrompt="1"/>
          </p:nvPr>
        </p:nvSpPr>
        <p:spPr>
          <a:xfrm>
            <a:off x="822960" y="1783080"/>
            <a:ext cx="10058400" cy="1920240"/>
          </a:xfrm>
          <a:prstGeom prst="rect">
            <a:avLst/>
          </a:prstGeom>
          <a:noFill/>
          <a:ln/>
        </p:spPr>
        <p:txBody>
          <a:bodyPr wrap="square"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Musculoskeletal Pharmacology</a:t>
            </a:r>
            <a:endParaRPr lang="en-US" sz="4000" dirty="0"/>
          </a:p>
        </p:txBody>
      </p:sp>
      <p:sp>
        <p:nvSpPr>
          <p:cNvPr id="6" name="Text 0"/>
          <p:cNvSpPr>
            <a:spLocks noGrp="1"/>
          </p:cNvSpPr>
          <p:nvPr>
            <p:ph type="body" idx="102" hasCustomPrompt="1"/>
          </p:nvPr>
        </p:nvSpPr>
        <p:spPr>
          <a:xfrm>
            <a:off x="822960" y="3794760"/>
            <a:ext cx="9692640" cy="1097280"/>
          </a:xfrm>
          <a:prstGeom prst="rect">
            <a:avLst/>
          </a:prstGeom>
          <a:noFill/>
          <a:ln/>
        </p:spPr>
        <p:txBody>
          <a:bodyPr wrap="square" rtlCol="0" anchor="t"/>
          <a:lstStyle/>
          <a:p>
            <a:pPr marL="0" indent="0" algn="l">
              <a:buNone/>
            </a:pPr>
            <a:r>
              <a:rPr lang="en-US" sz="1900" dirty="0">
                <a:solidFill>
                  <a:srgbClr val="E8F1F0"/>
                </a:solidFill>
                <a:latin typeface="Calibri" pitchFamily="34" charset="0"/>
                <a:ea typeface="Calibri" pitchFamily="34" charset="-122"/>
                <a:cs typeface="Calibri" pitchFamily="34" charset="-120"/>
              </a:rPr>
              <a:t>Session 1: Pain, Acetaminophen, NSAIDs, and Osteoarthritis/Rheumatoid Arthritis Pharmacotherapy  |  Tuesday, October 27</a:t>
            </a:r>
            <a:endParaRPr lang="en-US" sz="1900" dirty="0"/>
          </a:p>
        </p:txBody>
      </p:sp>
      <p:sp>
        <p:nvSpPr>
          <p:cNvPr id="7" name="Shape 4"/>
          <p:cNvSpPr/>
          <p:nvPr/>
        </p:nvSpPr>
        <p:spPr>
          <a:xfrm>
            <a:off x="822960" y="5074920"/>
            <a:ext cx="1005840" cy="0"/>
          </a:xfrm>
          <a:prstGeom prst="line">
            <a:avLst/>
          </a:prstGeom>
          <a:noFill/>
          <a:ln w="19050">
            <a:solidFill>
              <a:srgbClr val="E9A23B"/>
            </a:solidFill>
            <a:prstDash val="solid"/>
          </a:ln>
        </p:spPr>
        <p:txBody>
          <a:bodyPr/>
          <a:lstStyle/>
          <a:p>
            <a:endParaRPr lang="en-US"/>
          </a:p>
        </p:txBody>
      </p:sp>
      <p:sp>
        <p:nvSpPr>
          <p:cNvPr id="8" name="Text 5"/>
          <p:cNvSpPr txBox="1"/>
          <p:nvPr/>
        </p:nvSpPr>
        <p:spPr>
          <a:xfrm>
            <a:off x="822960" y="5193792"/>
            <a:ext cx="9692640" cy="365760"/>
          </a:xfrm>
          <a:prstGeom prst="rect">
            <a:avLst/>
          </a:prstGeom>
          <a:noFill/>
          <a:ln/>
        </p:spPr>
        <p:txBody>
          <a:bodyPr wrap="square" lIns="0" tIns="0" rIns="0" bIns="0" rtlCol="0" anchor="ctr"/>
          <a:lstStyle/>
          <a:p>
            <a:pPr marL="0" indent="0" algn="l">
              <a:buNone/>
            </a:pPr>
            <a:r>
              <a:rPr lang="en-US" sz="1450" i="1" dirty="0">
                <a:solidFill>
                  <a:srgbClr val="E8F1F0"/>
                </a:solidFill>
                <a:latin typeface="Calibri" pitchFamily="34" charset="0"/>
                <a:ea typeface="Calibri" pitchFamily="34" charset="-122"/>
                <a:cs typeface="Calibri" pitchFamily="34" charset="-120"/>
              </a:rPr>
              <a:t>Diane S. Allen-Gipson, Ph.D., M.S., Course Director</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BY THE END OF THIS LECTURE</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Learning Objectives — Session 1</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bulb.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900"/>
              </a:spcAft>
              <a:buSzPct val="100000"/>
              <a:buChar char="●"/>
            </a:pPr>
            <a:r>
              <a:rPr lang="en-US" sz="1550" dirty="0">
                <a:solidFill>
                  <a:srgbClr val="1A1A1A"/>
                </a:solidFill>
                <a:latin typeface="Calibri" pitchFamily="34" charset="0"/>
                <a:ea typeface="Calibri" pitchFamily="34" charset="-122"/>
                <a:cs typeface="Calibri" pitchFamily="34" charset="-120"/>
              </a:rPr>
              <a:t>Explain the pharmacologic basis of musculoskeletal pain and inflammation.</a:t>
            </a:r>
            <a:endParaRPr lang="en-US" sz="1600" dirty="0"/>
          </a:p>
          <a:p>
            <a:pPr marL="228600" indent="-228600" algn="l">
              <a:spcAft>
                <a:spcPts val="900"/>
              </a:spcAft>
              <a:buSzPct val="100000"/>
              <a:buChar char="●"/>
            </a:pPr>
            <a:r>
              <a:rPr lang="en-US" sz="1550" dirty="0">
                <a:solidFill>
                  <a:srgbClr val="1A1A1A"/>
                </a:solidFill>
                <a:latin typeface="Calibri" pitchFamily="34" charset="0"/>
                <a:ea typeface="Calibri" pitchFamily="34" charset="-122"/>
                <a:cs typeface="Calibri" pitchFamily="34" charset="-120"/>
              </a:rPr>
              <a:t>Compare acetaminophen and NSAIDs, including COX-1 vs. COX-2 inhibition.</a:t>
            </a:r>
            <a:endParaRPr lang="en-US" sz="1600" dirty="0"/>
          </a:p>
          <a:p>
            <a:pPr marL="228600" indent="-228600" algn="l">
              <a:spcAft>
                <a:spcPts val="900"/>
              </a:spcAft>
              <a:buSzPct val="100000"/>
              <a:buChar char="●"/>
            </a:pPr>
            <a:r>
              <a:rPr lang="en-US" sz="1550" dirty="0">
                <a:solidFill>
                  <a:srgbClr val="1A1A1A"/>
                </a:solidFill>
                <a:latin typeface="Calibri" pitchFamily="34" charset="0"/>
                <a:ea typeface="Calibri" pitchFamily="34" charset="-122"/>
                <a:cs typeface="Calibri" pitchFamily="34" charset="-120"/>
              </a:rPr>
              <a:t>Identify major NSAID adverse effects and select therapy based on patient risk factors.</a:t>
            </a:r>
            <a:endParaRPr lang="en-US" sz="1600" dirty="0"/>
          </a:p>
          <a:p>
            <a:pPr marL="228600" indent="-228600" algn="l">
              <a:spcAft>
                <a:spcPts val="900"/>
              </a:spcAft>
              <a:buSzPct val="100000"/>
              <a:buChar char="●"/>
            </a:pPr>
            <a:r>
              <a:rPr lang="en-US" sz="1550" dirty="0">
                <a:solidFill>
                  <a:srgbClr val="1A1A1A"/>
                </a:solidFill>
                <a:latin typeface="Calibri" pitchFamily="34" charset="0"/>
                <a:ea typeface="Calibri" pitchFamily="34" charset="-122"/>
                <a:cs typeface="Calibri" pitchFamily="34" charset="-120"/>
              </a:rPr>
              <a:t>Explain the mechanisms of conventional vs. biologic DMARDs, including representative generic agents in each class.</a:t>
            </a:r>
            <a:endParaRPr lang="en-US" sz="1600" dirty="0"/>
          </a:p>
          <a:p>
            <a:pPr marL="228600" indent="-228600" algn="l">
              <a:spcAft>
                <a:spcPts val="900"/>
              </a:spcAft>
              <a:buSzPct val="100000"/>
              <a:buChar char="●"/>
            </a:pPr>
            <a:r>
              <a:rPr lang="en-US" sz="1550" dirty="0">
                <a:solidFill>
                  <a:srgbClr val="1A1A1A"/>
                </a:solidFill>
                <a:latin typeface="Calibri" pitchFamily="34" charset="0"/>
                <a:ea typeface="Calibri" pitchFamily="34" charset="-122"/>
                <a:cs typeface="Calibri" pitchFamily="34" charset="-120"/>
              </a:rPr>
              <a:t>Identify key contraindications, adverse effects, and drug interactions for analgesics and DMARDs.</a:t>
            </a:r>
            <a:endParaRPr lang="en-US" sz="1600" dirty="0"/>
          </a:p>
          <a:p>
            <a:pPr marL="228600" indent="-228600" algn="l">
              <a:spcAft>
                <a:spcPts val="900"/>
              </a:spcAft>
              <a:buSzPct val="100000"/>
              <a:buChar char="●"/>
            </a:pPr>
            <a:r>
              <a:rPr lang="en-US" sz="1550" dirty="0">
                <a:solidFill>
                  <a:srgbClr val="1A1A1A"/>
                </a:solidFill>
                <a:latin typeface="Calibri" pitchFamily="34" charset="0"/>
                <a:ea typeface="Calibri" pitchFamily="34" charset="-122"/>
                <a:cs typeface="Calibri" pitchFamily="34" charset="-120"/>
              </a:rPr>
              <a:t>Preview: gout, skeletal muscle relaxants, and bone pharmacology continue in Session 2 (Thursday, October 29).</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COURSE MATERIALS</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Required &amp; Recommended Readings — Unit 2</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bone.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5212080" cy="4526280"/>
          </a:xfrm>
          <a:prstGeom prst="roundRect">
            <a:avLst>
              <a:gd name="adj" fmla="val 2020"/>
            </a:avLst>
          </a:prstGeom>
          <a:solidFill>
            <a:srgbClr val="E8F1F0"/>
          </a:solidFill>
          <a:ln/>
        </p:spPr>
        <p:txBody>
          <a:bodyPr/>
          <a:lstStyle/>
          <a:p>
            <a:endParaRPr lang="en-US"/>
          </a:p>
        </p:txBody>
      </p:sp>
      <p:sp>
        <p:nvSpPr>
          <p:cNvPr id="7" name="Shape 4"/>
          <p:cNvSpPr/>
          <p:nvPr/>
        </p:nvSpPr>
        <p:spPr>
          <a:xfrm>
            <a:off x="640080" y="1600200"/>
            <a:ext cx="5212080" cy="502920"/>
          </a:xfrm>
          <a:prstGeom prst="roundRect">
            <a:avLst>
              <a:gd name="adj" fmla="val 18182"/>
            </a:avLst>
          </a:prstGeom>
          <a:solidFill>
            <a:srgbClr val="0F7173"/>
          </a:solidFill>
          <a:ln/>
        </p:spPr>
        <p:txBody>
          <a:bodyPr/>
          <a:lstStyle/>
          <a:p>
            <a:endParaRPr lang="en-US"/>
          </a:p>
        </p:txBody>
      </p:sp>
      <p:sp>
        <p:nvSpPr>
          <p:cNvPr id="8" name="Shape 5"/>
          <p:cNvSpPr/>
          <p:nvPr/>
        </p:nvSpPr>
        <p:spPr>
          <a:xfrm>
            <a:off x="640080" y="1856232"/>
            <a:ext cx="5212080" cy="256032"/>
          </a:xfrm>
          <a:prstGeom prst="rect">
            <a:avLst/>
          </a:prstGeom>
          <a:solidFill>
            <a:srgbClr val="0F7173"/>
          </a:solidFill>
          <a:ln/>
        </p:spPr>
        <p:txBody>
          <a:bodyPr/>
          <a:lstStyle/>
          <a:p>
            <a:endParaRPr lang="en-US"/>
          </a:p>
        </p:txBody>
      </p:sp>
      <p:sp>
        <p:nvSpPr>
          <p:cNvPr id="9" name="Text 6"/>
          <p:cNvSpPr txBox="1"/>
          <p:nvPr/>
        </p:nvSpPr>
        <p:spPr>
          <a:xfrm>
            <a:off x="84124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Required Text</a:t>
            </a:r>
            <a:endParaRPr lang="en-US" sz="1600" dirty="0"/>
          </a:p>
        </p:txBody>
      </p:sp>
      <p:sp>
        <p:nvSpPr>
          <p:cNvPr id="10" name="Text 7"/>
          <p:cNvSpPr txBox="1"/>
          <p:nvPr/>
        </p:nvSpPr>
        <p:spPr>
          <a:xfrm>
            <a:off x="86868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Katzung's Basic and Clinical Pharmacology, 16th Edition</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Todd W. Vanderah · 2025 · McGraw-Hill Education</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ISBN 1260463303 (eBook)</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AccessMedicine: </a:t>
            </a:r>
            <a:r>
              <a:rPr lang="en-US" sz="1400" dirty="0">
                <a:solidFill>
                  <a:srgbClr val="1A1A1A"/>
                </a:solidFill>
                <a:latin typeface="Calibri" pitchFamily="34" charset="0"/>
                <a:ea typeface="Calibri" pitchFamily="34" charset="-122"/>
                <a:cs typeface="Calibri" pitchFamily="34" charset="-120"/>
                <a:hlinkClick r:id="rId4"/>
              </a:rPr>
              <a:t>accessmedicine.mhmedical.com/book.aspx?bookid=3382</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Unit 2 — Musculoskeletal: Chapters 27, 36, and 42</a:t>
            </a:r>
            <a:endParaRPr lang="en-US" sz="1400" dirty="0"/>
          </a:p>
        </p:txBody>
      </p:sp>
      <p:sp>
        <p:nvSpPr>
          <p:cNvPr id="11" name="Shape 8"/>
          <p:cNvSpPr/>
          <p:nvPr/>
        </p:nvSpPr>
        <p:spPr>
          <a:xfrm>
            <a:off x="6309360" y="1600200"/>
            <a:ext cx="5212080" cy="4526280"/>
          </a:xfrm>
          <a:prstGeom prst="roundRect">
            <a:avLst>
              <a:gd name="adj" fmla="val 2020"/>
            </a:avLst>
          </a:prstGeom>
          <a:solidFill>
            <a:srgbClr val="E8F1F0"/>
          </a:solidFill>
          <a:ln/>
        </p:spPr>
        <p:txBody>
          <a:bodyPr/>
          <a:lstStyle/>
          <a:p>
            <a:endParaRPr lang="en-US"/>
          </a:p>
        </p:txBody>
      </p:sp>
      <p:sp>
        <p:nvSpPr>
          <p:cNvPr id="12" name="Shape 9"/>
          <p:cNvSpPr/>
          <p:nvPr/>
        </p:nvSpPr>
        <p:spPr>
          <a:xfrm>
            <a:off x="6309360" y="1600200"/>
            <a:ext cx="5212080" cy="502920"/>
          </a:xfrm>
          <a:prstGeom prst="roundRect">
            <a:avLst>
              <a:gd name="adj" fmla="val 18182"/>
            </a:avLst>
          </a:prstGeom>
          <a:solidFill>
            <a:srgbClr val="2A6F97"/>
          </a:solidFill>
          <a:ln/>
        </p:spPr>
        <p:txBody>
          <a:bodyPr/>
          <a:lstStyle/>
          <a:p>
            <a:endParaRPr lang="en-US"/>
          </a:p>
        </p:txBody>
      </p:sp>
      <p:sp>
        <p:nvSpPr>
          <p:cNvPr id="13" name="Shape 10"/>
          <p:cNvSpPr/>
          <p:nvPr/>
        </p:nvSpPr>
        <p:spPr>
          <a:xfrm>
            <a:off x="6309360" y="1856232"/>
            <a:ext cx="5212080" cy="256032"/>
          </a:xfrm>
          <a:prstGeom prst="rect">
            <a:avLst/>
          </a:prstGeom>
          <a:solidFill>
            <a:srgbClr val="2A6F97"/>
          </a:solidFill>
          <a:ln/>
        </p:spPr>
        <p:txBody>
          <a:bodyPr/>
          <a:lstStyle/>
          <a:p>
            <a:endParaRPr lang="en-US"/>
          </a:p>
        </p:txBody>
      </p:sp>
      <p:sp>
        <p:nvSpPr>
          <p:cNvPr id="14" name="Text 11"/>
          <p:cNvSpPr txBox="1"/>
          <p:nvPr/>
        </p:nvSpPr>
        <p:spPr>
          <a:xfrm>
            <a:off x="651052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Recommended Text (for additional support)</a:t>
            </a:r>
            <a:endParaRPr lang="en-US" sz="1600" dirty="0"/>
          </a:p>
        </p:txBody>
      </p:sp>
      <p:sp>
        <p:nvSpPr>
          <p:cNvPr id="15" name="Text 12"/>
          <p:cNvSpPr txBox="1"/>
          <p:nvPr/>
        </p:nvSpPr>
        <p:spPr>
          <a:xfrm>
            <a:off x="653796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Pharmacotherapy Principles and Practice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Chisholm-Burns, Schwinghammer, Malone, Kolesar, Lee · 2022 · McGraw-Hill Education</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Print ISBN 9781260460278 · eText ISBN 9781260460285</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Use as supplemental support alongside Katzung’s Chapters 27, 36, and 42 for Unit 2</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965960"/>
            <a:ext cx="2926080" cy="1554480"/>
          </a:xfrm>
          <a:prstGeom prst="rect">
            <a:avLst/>
          </a:prstGeom>
          <a:noFill/>
          <a:ln/>
        </p:spPr>
        <p:txBody>
          <a:bodyPr wrap="square" rtlCol="0" anchor="t"/>
          <a:lstStyle/>
          <a:p>
            <a:pPr marL="0" indent="0" algn="l">
              <a:buNone/>
            </a:pPr>
            <a:r>
              <a:rPr lang="en-US" sz="6800" b="1" dirty="0">
                <a:solidFill>
                  <a:srgbClr val="E9A23B"/>
                </a:solidFill>
                <a:latin typeface="Cambria" pitchFamily="34" charset="0"/>
                <a:ea typeface="Cambria" pitchFamily="34" charset="-122"/>
                <a:cs typeface="Cambria" pitchFamily="34" charset="-120"/>
              </a:rPr>
              <a:t>01</a:t>
            </a:r>
            <a:endParaRPr lang="en-US" sz="6800" dirty="0"/>
          </a:p>
        </p:txBody>
      </p:sp>
      <p:sp>
        <p:nvSpPr>
          <p:cNvPr id="3" name="Text 0"/>
          <p:cNvSpPr>
            <a:spLocks noGrp="1"/>
          </p:cNvSpPr>
          <p:nvPr>
            <p:ph type="title" idx="101" hasCustomPrompt="1"/>
          </p:nvPr>
        </p:nvSpPr>
        <p:spPr>
          <a:xfrm>
            <a:off x="822960" y="3429000"/>
            <a:ext cx="9692640" cy="1554480"/>
          </a:xfrm>
          <a:prstGeom prst="rect">
            <a:avLst/>
          </a:prstGeom>
          <a:noFill/>
          <a:ln/>
        </p:spPr>
        <p:txBody>
          <a:bodyPr wrap="square" rtlCol="0" anchor="t"/>
          <a:lstStyle/>
          <a:p>
            <a:pPr marL="0" indent="0" algn="l">
              <a:buNone/>
            </a:pPr>
            <a:r>
              <a:rPr lang="en-US" sz="3200" b="1" dirty="0">
                <a:solidFill>
                  <a:srgbClr val="FFFFFF"/>
                </a:solidFill>
                <a:latin typeface="Cambria" pitchFamily="34" charset="0"/>
                <a:ea typeface="Cambria" pitchFamily="34" charset="-122"/>
                <a:cs typeface="Cambria" pitchFamily="34" charset="-120"/>
              </a:rPr>
              <a:t>Understanding Musculoskeletal Pain</a:t>
            </a:r>
            <a:endParaRPr lang="en-US" sz="3200" dirty="0"/>
          </a:p>
        </p:txBody>
      </p:sp>
      <p:sp>
        <p:nvSpPr>
          <p:cNvPr id="4" name="Text 2"/>
          <p:cNvSpPr txBox="1"/>
          <p:nvPr/>
        </p:nvSpPr>
        <p:spPr>
          <a:xfrm>
            <a:off x="841248" y="1508760"/>
            <a:ext cx="3657600" cy="320040"/>
          </a:xfrm>
          <a:prstGeom prst="rect">
            <a:avLst/>
          </a:prstGeom>
          <a:noFill/>
          <a:ln/>
        </p:spPr>
        <p:txBody>
          <a:bodyPr wrap="square" lIns="0" tIns="0" rIns="0" bIns="0" rtlCol="0" anchor="ctr"/>
          <a:lstStyle/>
          <a:p>
            <a:pPr marL="0" indent="0">
              <a:buNone/>
            </a:pPr>
            <a:r>
              <a:rPr lang="en-US" sz="1300" b="1" kern="0" spc="200" dirty="0">
                <a:solidFill>
                  <a:srgbClr val="E8F1F0"/>
                </a:solidFill>
                <a:latin typeface="Calibri" pitchFamily="34" charset="0"/>
                <a:ea typeface="Calibri" pitchFamily="34" charset="-122"/>
                <a:cs typeface="Calibri" pitchFamily="34" charset="-120"/>
              </a:rPr>
              <a:t>SECTION</a:t>
            </a:r>
            <a:endParaRPr lang="en-US" sz="1300" dirty="0"/>
          </a:p>
        </p:txBody>
      </p:sp>
      <p:sp>
        <p:nvSpPr>
          <p:cNvPr id="5" name="Text 3"/>
          <p:cNvSpPr txBox="1"/>
          <p:nvPr/>
        </p:nvSpPr>
        <p:spPr>
          <a:xfrm>
            <a:off x="822960" y="5074920"/>
            <a:ext cx="9692640" cy="1005840"/>
          </a:xfrm>
          <a:prstGeom prst="rect">
            <a:avLst/>
          </a:prstGeom>
          <a:noFill/>
          <a:ln/>
        </p:spPr>
        <p:txBody>
          <a:bodyPr wrap="square" lIns="0" tIns="0" rIns="0" bIns="0" rtlCol="0" anchor="ctr"/>
          <a:lstStyle/>
          <a:p>
            <a:pPr marL="0" indent="0">
              <a:buNone/>
            </a:pPr>
            <a:r>
              <a:rPr lang="en-US" sz="1500" i="1" dirty="0">
                <a:solidFill>
                  <a:srgbClr val="E8F1F0"/>
                </a:solidFill>
                <a:latin typeface="Calibri" pitchFamily="34" charset="0"/>
                <a:ea typeface="Calibri" pitchFamily="34" charset="-122"/>
                <a:cs typeface="Calibri" pitchFamily="34" charset="-120"/>
              </a:rPr>
              <a:t>Where the pain comes from shapes how we treat it.</a:t>
            </a:r>
            <a:endParaRPr lang="en-US" sz="1500" dirty="0"/>
          </a:p>
        </p:txBody>
      </p:sp>
      <p:sp>
        <p:nvSpPr>
          <p:cNvPr id="6" name="Shape 4"/>
          <p:cNvSpPr/>
          <p:nvPr/>
        </p:nvSpPr>
        <p:spPr>
          <a:xfrm>
            <a:off x="10058400" y="685800"/>
            <a:ext cx="1051560" cy="1051560"/>
          </a:xfrm>
          <a:prstGeom prst="ellipse">
            <a:avLst/>
          </a:prstGeom>
          <a:solidFill>
            <a:srgbClr val="E9A23B"/>
          </a:solidFill>
          <a:ln/>
        </p:spPr>
        <p:txBody>
          <a:bodyPr/>
          <a:lstStyle/>
          <a:p>
            <a:endParaRPr lang="en-US"/>
          </a:p>
        </p:txBody>
      </p:sp>
      <p:pic>
        <p:nvPicPr>
          <p:cNvPr id="7" name="Image 0" descr="/home/claude/pharm_decks/assets/icons/warning.png"/>
          <p:cNvPicPr>
            <a:picLocks noChangeAspect="1"/>
          </p:cNvPicPr>
          <p:nvPr/>
        </p:nvPicPr>
        <p:blipFill>
          <a:blip r:embed="rId3"/>
          <a:stretch>
            <a:fillRect/>
          </a:stretch>
        </p:blipFill>
        <p:spPr>
          <a:xfrm>
            <a:off x="10310774" y="938174"/>
            <a:ext cx="546811" cy="5468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CLASSIFICATION</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What Causes Musculoskeletal Pain?</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warning.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5212080" cy="4526280"/>
          </a:xfrm>
          <a:prstGeom prst="roundRect">
            <a:avLst>
              <a:gd name="adj" fmla="val 2020"/>
            </a:avLst>
          </a:prstGeom>
          <a:solidFill>
            <a:srgbClr val="E8F1F0"/>
          </a:solidFill>
          <a:ln/>
        </p:spPr>
        <p:txBody>
          <a:bodyPr/>
          <a:lstStyle/>
          <a:p>
            <a:endParaRPr lang="en-US"/>
          </a:p>
        </p:txBody>
      </p:sp>
      <p:sp>
        <p:nvSpPr>
          <p:cNvPr id="7" name="Shape 4"/>
          <p:cNvSpPr/>
          <p:nvPr/>
        </p:nvSpPr>
        <p:spPr>
          <a:xfrm>
            <a:off x="640080" y="1600200"/>
            <a:ext cx="5212080" cy="502920"/>
          </a:xfrm>
          <a:prstGeom prst="roundRect">
            <a:avLst>
              <a:gd name="adj" fmla="val 18182"/>
            </a:avLst>
          </a:prstGeom>
          <a:solidFill>
            <a:srgbClr val="0F7173"/>
          </a:solidFill>
          <a:ln/>
        </p:spPr>
        <p:txBody>
          <a:bodyPr/>
          <a:lstStyle/>
          <a:p>
            <a:endParaRPr lang="en-US"/>
          </a:p>
        </p:txBody>
      </p:sp>
      <p:sp>
        <p:nvSpPr>
          <p:cNvPr id="8" name="Shape 5"/>
          <p:cNvSpPr/>
          <p:nvPr/>
        </p:nvSpPr>
        <p:spPr>
          <a:xfrm>
            <a:off x="640080" y="1856232"/>
            <a:ext cx="5212080" cy="256032"/>
          </a:xfrm>
          <a:prstGeom prst="rect">
            <a:avLst/>
          </a:prstGeom>
          <a:solidFill>
            <a:srgbClr val="0F7173"/>
          </a:solidFill>
          <a:ln/>
        </p:spPr>
        <p:txBody>
          <a:bodyPr/>
          <a:lstStyle/>
          <a:p>
            <a:endParaRPr lang="en-US"/>
          </a:p>
        </p:txBody>
      </p:sp>
      <p:sp>
        <p:nvSpPr>
          <p:cNvPr id="9" name="Text 6"/>
          <p:cNvSpPr txBox="1"/>
          <p:nvPr/>
        </p:nvSpPr>
        <p:spPr>
          <a:xfrm>
            <a:off x="84124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By Mechanism</a:t>
            </a:r>
            <a:endParaRPr lang="en-US" sz="1600" dirty="0"/>
          </a:p>
        </p:txBody>
      </p:sp>
      <p:sp>
        <p:nvSpPr>
          <p:cNvPr id="10" name="Text 7"/>
          <p:cNvSpPr txBox="1"/>
          <p:nvPr/>
        </p:nvSpPr>
        <p:spPr>
          <a:xfrm>
            <a:off x="86868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Nociceptive — direct activation of pain receptors by tissue injury</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Inflammatory — pain driven by inflammatory mediators</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Neuropathic — pain from nerve injury or dysfunction</a:t>
            </a:r>
            <a:endParaRPr lang="en-US" sz="1400" dirty="0"/>
          </a:p>
        </p:txBody>
      </p:sp>
      <p:sp>
        <p:nvSpPr>
          <p:cNvPr id="11" name="Shape 8"/>
          <p:cNvSpPr/>
          <p:nvPr/>
        </p:nvSpPr>
        <p:spPr>
          <a:xfrm>
            <a:off x="6309360" y="1600200"/>
            <a:ext cx="5212080" cy="4526280"/>
          </a:xfrm>
          <a:prstGeom prst="roundRect">
            <a:avLst>
              <a:gd name="adj" fmla="val 2020"/>
            </a:avLst>
          </a:prstGeom>
          <a:solidFill>
            <a:srgbClr val="E8F1F0"/>
          </a:solidFill>
          <a:ln/>
        </p:spPr>
        <p:txBody>
          <a:bodyPr/>
          <a:lstStyle/>
          <a:p>
            <a:endParaRPr lang="en-US"/>
          </a:p>
        </p:txBody>
      </p:sp>
      <p:sp>
        <p:nvSpPr>
          <p:cNvPr id="12" name="Shape 9"/>
          <p:cNvSpPr/>
          <p:nvPr/>
        </p:nvSpPr>
        <p:spPr>
          <a:xfrm>
            <a:off x="6309360" y="1600200"/>
            <a:ext cx="5212080" cy="502920"/>
          </a:xfrm>
          <a:prstGeom prst="roundRect">
            <a:avLst>
              <a:gd name="adj" fmla="val 18182"/>
            </a:avLst>
          </a:prstGeom>
          <a:solidFill>
            <a:srgbClr val="2A6F97"/>
          </a:solidFill>
          <a:ln/>
        </p:spPr>
        <p:txBody>
          <a:bodyPr/>
          <a:lstStyle/>
          <a:p>
            <a:endParaRPr lang="en-US"/>
          </a:p>
        </p:txBody>
      </p:sp>
      <p:sp>
        <p:nvSpPr>
          <p:cNvPr id="13" name="Shape 10"/>
          <p:cNvSpPr/>
          <p:nvPr/>
        </p:nvSpPr>
        <p:spPr>
          <a:xfrm>
            <a:off x="6309360" y="1856232"/>
            <a:ext cx="5212080" cy="256032"/>
          </a:xfrm>
          <a:prstGeom prst="rect">
            <a:avLst/>
          </a:prstGeom>
          <a:solidFill>
            <a:srgbClr val="2A6F97"/>
          </a:solidFill>
          <a:ln/>
        </p:spPr>
        <p:txBody>
          <a:bodyPr/>
          <a:lstStyle/>
          <a:p>
            <a:endParaRPr lang="en-US"/>
          </a:p>
        </p:txBody>
      </p:sp>
      <p:sp>
        <p:nvSpPr>
          <p:cNvPr id="14" name="Text 11"/>
          <p:cNvSpPr txBox="1"/>
          <p:nvPr/>
        </p:nvSpPr>
        <p:spPr>
          <a:xfrm>
            <a:off x="651052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By Time Course</a:t>
            </a:r>
            <a:endParaRPr lang="en-US" sz="1600" dirty="0"/>
          </a:p>
        </p:txBody>
      </p:sp>
      <p:sp>
        <p:nvSpPr>
          <p:cNvPr id="15" name="Text 12"/>
          <p:cNvSpPr txBox="1"/>
          <p:nvPr/>
        </p:nvSpPr>
        <p:spPr>
          <a:xfrm>
            <a:off x="653796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Acute — recent onset, often tied to identifiable injury or flare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Chronic — persists beyond expected healing time, often &gt; 3 months</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Treatment approach differs sharply between the two</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THE CASCADE</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Inflammation Drives Pain</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warning.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b="1" dirty="0">
                <a:solidFill>
                  <a:srgbClr val="1A1A1A"/>
                </a:solidFill>
                <a:latin typeface="Calibri" pitchFamily="34" charset="0"/>
                <a:ea typeface="Calibri" pitchFamily="34" charset="-122"/>
                <a:cs typeface="Calibri" pitchFamily="34" charset="-120"/>
              </a:rPr>
              <a:t>Tissue injury → release of inflammatory mediators → sensitization of nociceptors → pain.</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Key mediators include:</a:t>
            </a:r>
            <a:endParaRPr lang="en-US" sz="1600" dirty="0"/>
          </a:p>
          <a:p>
            <a:pPr marL="457200" lvl="1" indent="-2286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Prostaglandins</a:t>
            </a:r>
            <a:endParaRPr lang="en-US" sz="1600" dirty="0"/>
          </a:p>
          <a:p>
            <a:pPr marL="457200" lvl="1" indent="-2286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Bradykinin</a:t>
            </a:r>
            <a:endParaRPr lang="en-US" sz="1600" dirty="0"/>
          </a:p>
          <a:p>
            <a:pPr marL="457200" lvl="1" indent="-2286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Histamine</a:t>
            </a:r>
            <a:endParaRPr lang="en-US" sz="1600" dirty="0"/>
          </a:p>
          <a:p>
            <a:pPr marL="457200" lvl="1" indent="-2286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Cytokines (e.g., TNF-α, IL-1, IL-6)</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WHERE DRUGS INTERVENE</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Therapeutic Targets in the Pain Pathway</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flask.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2377440"/>
            <a:ext cx="2432304" cy="1600200"/>
          </a:xfrm>
          <a:prstGeom prst="roundRect">
            <a:avLst>
              <a:gd name="adj" fmla="val 4571"/>
            </a:avLst>
          </a:prstGeom>
          <a:solidFill>
            <a:srgbClr val="0F7173"/>
          </a:solidFill>
          <a:ln/>
        </p:spPr>
        <p:txBody>
          <a:bodyPr/>
          <a:lstStyle/>
          <a:p>
            <a:endParaRPr lang="en-US"/>
          </a:p>
        </p:txBody>
      </p:sp>
      <p:sp>
        <p:nvSpPr>
          <p:cNvPr id="7" name="Text 4"/>
          <p:cNvSpPr txBox="1"/>
          <p:nvPr/>
        </p:nvSpPr>
        <p:spPr>
          <a:xfrm>
            <a:off x="713232"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Arachidonic</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Acid</a:t>
            </a:r>
            <a:endParaRPr lang="en-US" sz="1300" dirty="0"/>
          </a:p>
        </p:txBody>
      </p:sp>
      <p:sp>
        <p:nvSpPr>
          <p:cNvPr id="8" name="Shape 5"/>
          <p:cNvSpPr/>
          <p:nvPr/>
        </p:nvSpPr>
        <p:spPr>
          <a:xfrm>
            <a:off x="3072384" y="2994660"/>
            <a:ext cx="384048" cy="365760"/>
          </a:xfrm>
          <a:prstGeom prst="chevron">
            <a:avLst/>
          </a:prstGeom>
          <a:solidFill>
            <a:srgbClr val="5C6B73"/>
          </a:solidFill>
          <a:ln/>
        </p:spPr>
        <p:txBody>
          <a:bodyPr/>
          <a:lstStyle/>
          <a:p>
            <a:endParaRPr lang="en-US"/>
          </a:p>
        </p:txBody>
      </p:sp>
      <p:sp>
        <p:nvSpPr>
          <p:cNvPr id="9" name="Shape 6"/>
          <p:cNvSpPr/>
          <p:nvPr/>
        </p:nvSpPr>
        <p:spPr>
          <a:xfrm>
            <a:off x="3456432" y="2377440"/>
            <a:ext cx="2432304" cy="1600200"/>
          </a:xfrm>
          <a:prstGeom prst="roundRect">
            <a:avLst>
              <a:gd name="adj" fmla="val 4571"/>
            </a:avLst>
          </a:prstGeom>
          <a:solidFill>
            <a:srgbClr val="2A6F97"/>
          </a:solidFill>
          <a:ln/>
        </p:spPr>
        <p:txBody>
          <a:bodyPr/>
          <a:lstStyle/>
          <a:p>
            <a:endParaRPr lang="en-US"/>
          </a:p>
        </p:txBody>
      </p:sp>
      <p:sp>
        <p:nvSpPr>
          <p:cNvPr id="10" name="Text 7"/>
          <p:cNvSpPr txBox="1"/>
          <p:nvPr/>
        </p:nvSpPr>
        <p:spPr>
          <a:xfrm>
            <a:off x="3529584"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COX</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Enzyme</a:t>
            </a:r>
            <a:endParaRPr lang="en-US" sz="1300" dirty="0"/>
          </a:p>
        </p:txBody>
      </p:sp>
      <p:sp>
        <p:nvSpPr>
          <p:cNvPr id="11" name="Shape 8"/>
          <p:cNvSpPr/>
          <p:nvPr/>
        </p:nvSpPr>
        <p:spPr>
          <a:xfrm>
            <a:off x="5888736" y="2994660"/>
            <a:ext cx="384048" cy="365760"/>
          </a:xfrm>
          <a:prstGeom prst="chevron">
            <a:avLst/>
          </a:prstGeom>
          <a:solidFill>
            <a:srgbClr val="5C6B73"/>
          </a:solidFill>
          <a:ln/>
        </p:spPr>
        <p:txBody>
          <a:bodyPr/>
          <a:lstStyle/>
          <a:p>
            <a:endParaRPr lang="en-US"/>
          </a:p>
        </p:txBody>
      </p:sp>
      <p:sp>
        <p:nvSpPr>
          <p:cNvPr id="12" name="Shape 9"/>
          <p:cNvSpPr/>
          <p:nvPr/>
        </p:nvSpPr>
        <p:spPr>
          <a:xfrm>
            <a:off x="6272784" y="2377440"/>
            <a:ext cx="2432304" cy="1600200"/>
          </a:xfrm>
          <a:prstGeom prst="roundRect">
            <a:avLst>
              <a:gd name="adj" fmla="val 4571"/>
            </a:avLst>
          </a:prstGeom>
          <a:solidFill>
            <a:srgbClr val="6B9080"/>
          </a:solidFill>
          <a:ln/>
        </p:spPr>
        <p:txBody>
          <a:bodyPr/>
          <a:lstStyle/>
          <a:p>
            <a:endParaRPr lang="en-US"/>
          </a:p>
        </p:txBody>
      </p:sp>
      <p:sp>
        <p:nvSpPr>
          <p:cNvPr id="13" name="Text 10"/>
          <p:cNvSpPr txBox="1"/>
          <p:nvPr/>
        </p:nvSpPr>
        <p:spPr>
          <a:xfrm>
            <a:off x="6345936"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Prostaglandins</a:t>
            </a:r>
            <a:endParaRPr lang="en-US" sz="1300" dirty="0"/>
          </a:p>
        </p:txBody>
      </p:sp>
      <p:sp>
        <p:nvSpPr>
          <p:cNvPr id="14" name="Shape 11"/>
          <p:cNvSpPr/>
          <p:nvPr/>
        </p:nvSpPr>
        <p:spPr>
          <a:xfrm>
            <a:off x="8705088" y="2994660"/>
            <a:ext cx="384048" cy="365760"/>
          </a:xfrm>
          <a:prstGeom prst="chevron">
            <a:avLst/>
          </a:prstGeom>
          <a:solidFill>
            <a:srgbClr val="5C6B73"/>
          </a:solidFill>
          <a:ln/>
        </p:spPr>
        <p:txBody>
          <a:bodyPr/>
          <a:lstStyle/>
          <a:p>
            <a:endParaRPr lang="en-US"/>
          </a:p>
        </p:txBody>
      </p:sp>
      <p:sp>
        <p:nvSpPr>
          <p:cNvPr id="15" name="Shape 12"/>
          <p:cNvSpPr/>
          <p:nvPr/>
        </p:nvSpPr>
        <p:spPr>
          <a:xfrm>
            <a:off x="9089136" y="2377440"/>
            <a:ext cx="2432304" cy="1600200"/>
          </a:xfrm>
          <a:prstGeom prst="roundRect">
            <a:avLst>
              <a:gd name="adj" fmla="val 4571"/>
            </a:avLst>
          </a:prstGeom>
          <a:solidFill>
            <a:srgbClr val="0F7173"/>
          </a:solidFill>
          <a:ln/>
        </p:spPr>
        <p:txBody>
          <a:bodyPr/>
          <a:lstStyle/>
          <a:p>
            <a:endParaRPr lang="en-US"/>
          </a:p>
        </p:txBody>
      </p:sp>
      <p:sp>
        <p:nvSpPr>
          <p:cNvPr id="16" name="Text 13"/>
          <p:cNvSpPr txBox="1"/>
          <p:nvPr/>
        </p:nvSpPr>
        <p:spPr>
          <a:xfrm>
            <a:off x="9162288"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Pain &amp;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Inflammation</a:t>
            </a:r>
            <a:endParaRPr lang="en-US" sz="1300" dirty="0"/>
          </a:p>
        </p:txBody>
      </p:sp>
      <p:sp>
        <p:nvSpPr>
          <p:cNvPr id="17" name="Text 14"/>
          <p:cNvSpPr txBox="1"/>
          <p:nvPr/>
        </p:nvSpPr>
        <p:spPr>
          <a:xfrm>
            <a:off x="640080" y="4343400"/>
            <a:ext cx="10881360" cy="731520"/>
          </a:xfrm>
          <a:prstGeom prst="rect">
            <a:avLst/>
          </a:prstGeom>
          <a:noFill/>
          <a:ln/>
        </p:spPr>
        <p:txBody>
          <a:bodyPr wrap="square" lIns="0" tIns="0" rIns="0" bIns="0"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NSAIDs and COX-2 inhibitors act here; glucocorticoids act further upstream; cytokine inhibitors and analgesics act through separate, parallel pathways.</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ORIGINAL ILLUSTRATION · FIGURE 1</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The Arachidonic Acid Pathway: Where Analgesics Act</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flask.png"/>
          <p:cNvPicPr>
            <a:picLocks noChangeAspect="1"/>
          </p:cNvPicPr>
          <p:nvPr/>
        </p:nvPicPr>
        <p:blipFill>
          <a:blip r:embed="rId3"/>
          <a:stretch>
            <a:fillRect/>
          </a:stretch>
        </p:blipFill>
        <p:spPr>
          <a:xfrm>
            <a:off x="11108863" y="638983"/>
            <a:ext cx="294803" cy="294803"/>
          </a:xfrm>
          <a:prstGeom prst="rect">
            <a:avLst/>
          </a:prstGeom>
        </p:spPr>
      </p:pic>
      <p:pic>
        <p:nvPicPr>
          <p:cNvPr id="6" name="Image 1" descr="/home/claude/pharm_decks/assets/figures2/cox_pathway.png"/>
          <p:cNvPicPr>
            <a:picLocks noChangeAspect="1"/>
          </p:cNvPicPr>
          <p:nvPr/>
        </p:nvPicPr>
        <p:blipFill>
          <a:blip r:embed="rId4"/>
          <a:stretch>
            <a:fillRect/>
          </a:stretch>
        </p:blipFill>
        <p:spPr>
          <a:xfrm>
            <a:off x="1920240" y="1554480"/>
            <a:ext cx="8321040" cy="4160520"/>
          </a:xfrm>
          <a:prstGeom prst="rect">
            <a:avLst/>
          </a:prstGeom>
        </p:spPr>
      </p:pic>
      <p:sp>
        <p:nvSpPr>
          <p:cNvPr id="7" name="Text 3"/>
          <p:cNvSpPr txBox="1"/>
          <p:nvPr/>
        </p:nvSpPr>
        <p:spPr>
          <a:xfrm>
            <a:off x="640080" y="5788152"/>
            <a:ext cx="10881360" cy="502920"/>
          </a:xfrm>
          <a:prstGeom prst="rect">
            <a:avLst/>
          </a:prstGeom>
          <a:noFill/>
          <a:ln/>
        </p:spPr>
        <p:txBody>
          <a:bodyPr wrap="square" lIns="0" tIns="0" rIns="0" bIns="0" rtlCol="0" anchor="ctr"/>
          <a:lstStyle/>
          <a:p>
            <a:pPr marL="0" indent="0" algn="ctr">
              <a:buNone/>
            </a:pPr>
            <a:r>
              <a:rPr lang="en-US" sz="1350" i="1" dirty="0">
                <a:solidFill>
                  <a:srgbClr val="5C6B73"/>
                </a:solidFill>
                <a:latin typeface="Calibri" pitchFamily="34" charset="0"/>
                <a:ea typeface="Calibri" pitchFamily="34" charset="-122"/>
                <a:cs typeface="Calibri" pitchFamily="34" charset="-120"/>
              </a:rPr>
              <a:t>Figure 1. Original illustrative diagram (not from Katzung): corticosteroids block phospholipase A₂ upstream, while NSAIDs and COX-2 inhibitors block the COX step itself — two distinct points of pharmacologic intervention.</a:t>
            </a:r>
            <a:endParaRPr lang="en-US" sz="13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965960"/>
            <a:ext cx="2926080" cy="1554480"/>
          </a:xfrm>
          <a:prstGeom prst="rect">
            <a:avLst/>
          </a:prstGeom>
          <a:noFill/>
          <a:ln/>
        </p:spPr>
        <p:txBody>
          <a:bodyPr wrap="square" rtlCol="0" anchor="t"/>
          <a:lstStyle/>
          <a:p>
            <a:pPr marL="0" indent="0" algn="l">
              <a:buNone/>
            </a:pPr>
            <a:r>
              <a:rPr lang="en-US" sz="6800" b="1" dirty="0">
                <a:solidFill>
                  <a:srgbClr val="E9A23B"/>
                </a:solidFill>
                <a:latin typeface="Cambria" pitchFamily="34" charset="0"/>
                <a:ea typeface="Cambria" pitchFamily="34" charset="-122"/>
                <a:cs typeface="Cambria" pitchFamily="34" charset="-120"/>
              </a:rPr>
              <a:t>02</a:t>
            </a:r>
            <a:endParaRPr lang="en-US" sz="6800" dirty="0"/>
          </a:p>
        </p:txBody>
      </p:sp>
      <p:sp>
        <p:nvSpPr>
          <p:cNvPr id="3" name="Text 0"/>
          <p:cNvSpPr>
            <a:spLocks noGrp="1"/>
          </p:cNvSpPr>
          <p:nvPr>
            <p:ph type="title" idx="101" hasCustomPrompt="1"/>
          </p:nvPr>
        </p:nvSpPr>
        <p:spPr>
          <a:xfrm>
            <a:off x="822960" y="3429000"/>
            <a:ext cx="9692640" cy="1554480"/>
          </a:xfrm>
          <a:prstGeom prst="rect">
            <a:avLst/>
          </a:prstGeom>
          <a:noFill/>
          <a:ln/>
        </p:spPr>
        <p:txBody>
          <a:bodyPr wrap="square" rtlCol="0" anchor="t"/>
          <a:lstStyle/>
          <a:p>
            <a:pPr marL="0" indent="0" algn="l">
              <a:buNone/>
            </a:pPr>
            <a:r>
              <a:rPr lang="en-US" sz="3200" b="1" dirty="0">
                <a:solidFill>
                  <a:srgbClr val="FFFFFF"/>
                </a:solidFill>
                <a:latin typeface="Cambria" pitchFamily="34" charset="0"/>
                <a:ea typeface="Cambria" pitchFamily="34" charset="-122"/>
                <a:cs typeface="Cambria" pitchFamily="34" charset="-120"/>
              </a:rPr>
              <a:t>Acetaminophen</a:t>
            </a:r>
            <a:endParaRPr lang="en-US" sz="3200" dirty="0"/>
          </a:p>
        </p:txBody>
      </p:sp>
      <p:sp>
        <p:nvSpPr>
          <p:cNvPr id="4" name="Text 2"/>
          <p:cNvSpPr txBox="1"/>
          <p:nvPr/>
        </p:nvSpPr>
        <p:spPr>
          <a:xfrm>
            <a:off x="841248" y="1508760"/>
            <a:ext cx="3657600" cy="320040"/>
          </a:xfrm>
          <a:prstGeom prst="rect">
            <a:avLst/>
          </a:prstGeom>
          <a:noFill/>
          <a:ln/>
        </p:spPr>
        <p:txBody>
          <a:bodyPr wrap="square" lIns="0" tIns="0" rIns="0" bIns="0" rtlCol="0" anchor="ctr"/>
          <a:lstStyle/>
          <a:p>
            <a:pPr marL="0" indent="0">
              <a:buNone/>
            </a:pPr>
            <a:r>
              <a:rPr lang="en-US" sz="1300" b="1" kern="0" spc="200" dirty="0">
                <a:solidFill>
                  <a:srgbClr val="E8F1F0"/>
                </a:solidFill>
                <a:latin typeface="Calibri" pitchFamily="34" charset="0"/>
                <a:ea typeface="Calibri" pitchFamily="34" charset="-122"/>
                <a:cs typeface="Calibri" pitchFamily="34" charset="-120"/>
              </a:rPr>
              <a:t>SECTION</a:t>
            </a:r>
            <a:endParaRPr lang="en-US" sz="1300" dirty="0"/>
          </a:p>
        </p:txBody>
      </p:sp>
      <p:sp>
        <p:nvSpPr>
          <p:cNvPr id="5" name="Text 3"/>
          <p:cNvSpPr txBox="1"/>
          <p:nvPr/>
        </p:nvSpPr>
        <p:spPr>
          <a:xfrm>
            <a:off x="822960" y="5074920"/>
            <a:ext cx="9692640" cy="1005840"/>
          </a:xfrm>
          <a:prstGeom prst="rect">
            <a:avLst/>
          </a:prstGeom>
          <a:noFill/>
          <a:ln/>
        </p:spPr>
        <p:txBody>
          <a:bodyPr wrap="square" lIns="0" tIns="0" rIns="0" bIns="0" rtlCol="0" anchor="ctr"/>
          <a:lstStyle/>
          <a:p>
            <a:pPr marL="0" indent="0">
              <a:buNone/>
            </a:pPr>
            <a:r>
              <a:rPr lang="en-US" sz="1500" i="1" dirty="0">
                <a:solidFill>
                  <a:srgbClr val="E8F1F0"/>
                </a:solidFill>
                <a:latin typeface="Calibri" pitchFamily="34" charset="0"/>
                <a:ea typeface="Calibri" pitchFamily="34" charset="-122"/>
                <a:cs typeface="Calibri" pitchFamily="34" charset="-120"/>
              </a:rPr>
              <a:t>Effective analgesia, with a narrow margin in overdose.</a:t>
            </a:r>
            <a:endParaRPr lang="en-US" sz="1500" dirty="0"/>
          </a:p>
        </p:txBody>
      </p:sp>
      <p:sp>
        <p:nvSpPr>
          <p:cNvPr id="6" name="Shape 4"/>
          <p:cNvSpPr/>
          <p:nvPr/>
        </p:nvSpPr>
        <p:spPr>
          <a:xfrm>
            <a:off x="10058400" y="685800"/>
            <a:ext cx="1051560" cy="1051560"/>
          </a:xfrm>
          <a:prstGeom prst="ellipse">
            <a:avLst/>
          </a:prstGeom>
          <a:solidFill>
            <a:srgbClr val="E9A23B"/>
          </a:solidFill>
          <a:ln/>
        </p:spPr>
        <p:txBody>
          <a:bodyPr/>
          <a:lstStyle/>
          <a:p>
            <a:endParaRPr lang="en-US"/>
          </a:p>
        </p:txBody>
      </p:sp>
      <p:pic>
        <p:nvPicPr>
          <p:cNvPr id="7" name="Image 0" descr="/home/claude/pharm_decks/assets/icons/liver.png"/>
          <p:cNvPicPr>
            <a:picLocks noChangeAspect="1"/>
          </p:cNvPicPr>
          <p:nvPr/>
        </p:nvPicPr>
        <p:blipFill>
          <a:blip r:embed="rId3"/>
          <a:stretch>
            <a:fillRect/>
          </a:stretch>
        </p:blipFill>
        <p:spPr>
          <a:xfrm>
            <a:off x="10310774" y="938174"/>
            <a:ext cx="546811" cy="5468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MECHANISM &amp; EFFECTS</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Acetaminophen</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pills.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Analgesic effect: </a:t>
            </a:r>
            <a:r>
              <a:rPr lang="en-US" sz="1600" dirty="0">
                <a:solidFill>
                  <a:srgbClr val="1A1A1A"/>
                </a:solidFill>
                <a:latin typeface="Calibri" pitchFamily="34" charset="0"/>
                <a:ea typeface="Calibri" pitchFamily="34" charset="-122"/>
                <a:cs typeface="Calibri" pitchFamily="34" charset="-120"/>
              </a:rPr>
              <a:t>relieves mild-to-moderate pain, with a central mechanism that is still incompletely understood.</a:t>
            </a:r>
            <a:endParaRPr lang="en-US" sz="1600" dirty="0"/>
          </a:p>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Antipyretic effect: </a:t>
            </a:r>
            <a:r>
              <a:rPr lang="en-US" sz="1600" dirty="0">
                <a:solidFill>
                  <a:srgbClr val="1A1A1A"/>
                </a:solidFill>
                <a:latin typeface="Calibri" pitchFamily="34" charset="0"/>
                <a:ea typeface="Calibri" pitchFamily="34" charset="-122"/>
                <a:cs typeface="Calibri" pitchFamily="34" charset="-120"/>
              </a:rPr>
              <a:t>reduces fever via central effects on the hypothalamic temperature-regulating center.</a:t>
            </a:r>
            <a:endParaRPr lang="en-US" sz="1600" dirty="0"/>
          </a:p>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Anti-inflammatory effect: </a:t>
            </a:r>
            <a:r>
              <a:rPr lang="en-US" sz="1600" dirty="0">
                <a:solidFill>
                  <a:srgbClr val="1A1A1A"/>
                </a:solidFill>
                <a:latin typeface="Calibri" pitchFamily="34" charset="0"/>
                <a:ea typeface="Calibri" pitchFamily="34" charset="-122"/>
                <a:cs typeface="Calibri" pitchFamily="34" charset="-120"/>
              </a:rPr>
              <a:t>minimal at the periphery — unlike NSAIDs, acetaminophen is not a reliable anti-inflammatory agent.</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OVERDOSE MECHANISM</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Acetaminophen Toxicity</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liver.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2377440"/>
            <a:ext cx="2432304" cy="1600200"/>
          </a:xfrm>
          <a:prstGeom prst="roundRect">
            <a:avLst>
              <a:gd name="adj" fmla="val 4571"/>
            </a:avLst>
          </a:prstGeom>
          <a:solidFill>
            <a:srgbClr val="0F7173"/>
          </a:solidFill>
          <a:ln/>
        </p:spPr>
        <p:txBody>
          <a:bodyPr/>
          <a:lstStyle/>
          <a:p>
            <a:endParaRPr lang="en-US"/>
          </a:p>
        </p:txBody>
      </p:sp>
      <p:sp>
        <p:nvSpPr>
          <p:cNvPr id="7" name="Text 4"/>
          <p:cNvSpPr txBox="1"/>
          <p:nvPr/>
        </p:nvSpPr>
        <p:spPr>
          <a:xfrm>
            <a:off x="713232"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Acetaminophen</a:t>
            </a:r>
            <a:endParaRPr lang="en-US" sz="1300" dirty="0"/>
          </a:p>
        </p:txBody>
      </p:sp>
      <p:sp>
        <p:nvSpPr>
          <p:cNvPr id="8" name="Shape 5"/>
          <p:cNvSpPr/>
          <p:nvPr/>
        </p:nvSpPr>
        <p:spPr>
          <a:xfrm>
            <a:off x="3072384" y="2994660"/>
            <a:ext cx="384048" cy="365760"/>
          </a:xfrm>
          <a:prstGeom prst="chevron">
            <a:avLst/>
          </a:prstGeom>
          <a:solidFill>
            <a:srgbClr val="5C6B73"/>
          </a:solidFill>
          <a:ln/>
        </p:spPr>
        <p:txBody>
          <a:bodyPr/>
          <a:lstStyle/>
          <a:p>
            <a:endParaRPr lang="en-US"/>
          </a:p>
        </p:txBody>
      </p:sp>
      <p:sp>
        <p:nvSpPr>
          <p:cNvPr id="9" name="Shape 6"/>
          <p:cNvSpPr/>
          <p:nvPr/>
        </p:nvSpPr>
        <p:spPr>
          <a:xfrm>
            <a:off x="3456432" y="2377440"/>
            <a:ext cx="2432304" cy="1600200"/>
          </a:xfrm>
          <a:prstGeom prst="roundRect">
            <a:avLst>
              <a:gd name="adj" fmla="val 4571"/>
            </a:avLst>
          </a:prstGeom>
          <a:solidFill>
            <a:srgbClr val="2A6F97"/>
          </a:solidFill>
          <a:ln/>
        </p:spPr>
        <p:txBody>
          <a:bodyPr/>
          <a:lstStyle/>
          <a:p>
            <a:endParaRPr lang="en-US"/>
          </a:p>
        </p:txBody>
      </p:sp>
      <p:sp>
        <p:nvSpPr>
          <p:cNvPr id="10" name="Text 7"/>
          <p:cNvSpPr txBox="1"/>
          <p:nvPr/>
        </p:nvSpPr>
        <p:spPr>
          <a:xfrm>
            <a:off x="3529584"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NAPQI</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(toxic metabolite)</a:t>
            </a:r>
            <a:endParaRPr lang="en-US" sz="1300" dirty="0"/>
          </a:p>
        </p:txBody>
      </p:sp>
      <p:sp>
        <p:nvSpPr>
          <p:cNvPr id="11" name="Shape 8"/>
          <p:cNvSpPr/>
          <p:nvPr/>
        </p:nvSpPr>
        <p:spPr>
          <a:xfrm>
            <a:off x="5888736" y="2994660"/>
            <a:ext cx="384048" cy="365760"/>
          </a:xfrm>
          <a:prstGeom prst="chevron">
            <a:avLst/>
          </a:prstGeom>
          <a:solidFill>
            <a:srgbClr val="5C6B73"/>
          </a:solidFill>
          <a:ln/>
        </p:spPr>
        <p:txBody>
          <a:bodyPr/>
          <a:lstStyle/>
          <a:p>
            <a:endParaRPr lang="en-US"/>
          </a:p>
        </p:txBody>
      </p:sp>
      <p:sp>
        <p:nvSpPr>
          <p:cNvPr id="12" name="Shape 9"/>
          <p:cNvSpPr/>
          <p:nvPr/>
        </p:nvSpPr>
        <p:spPr>
          <a:xfrm>
            <a:off x="6272784" y="2377440"/>
            <a:ext cx="2432304" cy="1600200"/>
          </a:xfrm>
          <a:prstGeom prst="roundRect">
            <a:avLst>
              <a:gd name="adj" fmla="val 4571"/>
            </a:avLst>
          </a:prstGeom>
          <a:solidFill>
            <a:srgbClr val="6B9080"/>
          </a:solidFill>
          <a:ln/>
        </p:spPr>
        <p:txBody>
          <a:bodyPr/>
          <a:lstStyle/>
          <a:p>
            <a:endParaRPr lang="en-US"/>
          </a:p>
        </p:txBody>
      </p:sp>
      <p:sp>
        <p:nvSpPr>
          <p:cNvPr id="13" name="Text 10"/>
          <p:cNvSpPr txBox="1"/>
          <p:nvPr/>
        </p:nvSpPr>
        <p:spPr>
          <a:xfrm>
            <a:off x="6345936"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Glutathione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Conjugation</a:t>
            </a:r>
            <a:endParaRPr lang="en-US" sz="1300" dirty="0"/>
          </a:p>
        </p:txBody>
      </p:sp>
      <p:sp>
        <p:nvSpPr>
          <p:cNvPr id="14" name="Shape 11"/>
          <p:cNvSpPr/>
          <p:nvPr/>
        </p:nvSpPr>
        <p:spPr>
          <a:xfrm>
            <a:off x="8705088" y="2994660"/>
            <a:ext cx="384048" cy="365760"/>
          </a:xfrm>
          <a:prstGeom prst="chevron">
            <a:avLst/>
          </a:prstGeom>
          <a:solidFill>
            <a:srgbClr val="5C6B73"/>
          </a:solidFill>
          <a:ln/>
        </p:spPr>
        <p:txBody>
          <a:bodyPr/>
          <a:lstStyle/>
          <a:p>
            <a:endParaRPr lang="en-US"/>
          </a:p>
        </p:txBody>
      </p:sp>
      <p:sp>
        <p:nvSpPr>
          <p:cNvPr id="15" name="Shape 12"/>
          <p:cNvSpPr/>
          <p:nvPr/>
        </p:nvSpPr>
        <p:spPr>
          <a:xfrm>
            <a:off x="9089136" y="2377440"/>
            <a:ext cx="2432304" cy="1600200"/>
          </a:xfrm>
          <a:prstGeom prst="roundRect">
            <a:avLst>
              <a:gd name="adj" fmla="val 4571"/>
            </a:avLst>
          </a:prstGeom>
          <a:solidFill>
            <a:srgbClr val="0F7173"/>
          </a:solidFill>
          <a:ln/>
        </p:spPr>
        <p:txBody>
          <a:bodyPr/>
          <a:lstStyle/>
          <a:p>
            <a:endParaRPr lang="en-US"/>
          </a:p>
        </p:txBody>
      </p:sp>
      <p:sp>
        <p:nvSpPr>
          <p:cNvPr id="16" name="Text 13"/>
          <p:cNvSpPr txBox="1"/>
          <p:nvPr/>
        </p:nvSpPr>
        <p:spPr>
          <a:xfrm>
            <a:off x="9162288"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Safe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Excretion</a:t>
            </a:r>
            <a:endParaRPr lang="en-US" sz="1300" dirty="0"/>
          </a:p>
        </p:txBody>
      </p:sp>
      <p:sp>
        <p:nvSpPr>
          <p:cNvPr id="17" name="Text 14"/>
          <p:cNvSpPr txBox="1"/>
          <p:nvPr/>
        </p:nvSpPr>
        <p:spPr>
          <a:xfrm>
            <a:off x="640080" y="4343400"/>
            <a:ext cx="10881360" cy="731520"/>
          </a:xfrm>
          <a:prstGeom prst="rect">
            <a:avLst/>
          </a:prstGeom>
          <a:noFill/>
          <a:ln/>
        </p:spPr>
        <p:txBody>
          <a:bodyPr wrap="square" lIns="0" tIns="0" rIns="0" bIns="0"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In overdose, glutathione stores are depleted, NAPQI accumulates, and hepatocyte injury follows — this is why N-acetylcysteine (a glutathione precursor) is the antidote.</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CLINICAL CASE</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The Hidden Acetaminophen Overdose</a:t>
            </a:r>
            <a:endParaRPr lang="en-US" sz="2800" dirty="0"/>
          </a:p>
        </p:txBody>
      </p:sp>
      <p:sp>
        <p:nvSpPr>
          <p:cNvPr id="4" name="Shape 2"/>
          <p:cNvSpPr/>
          <p:nvPr/>
        </p:nvSpPr>
        <p:spPr>
          <a:xfrm>
            <a:off x="10972800" y="502920"/>
            <a:ext cx="566928" cy="566928"/>
          </a:xfrm>
          <a:prstGeom prst="ellipse">
            <a:avLst/>
          </a:prstGeom>
          <a:solidFill>
            <a:srgbClr val="D1495B"/>
          </a:solidFill>
          <a:ln/>
        </p:spPr>
        <p:txBody>
          <a:bodyPr/>
          <a:lstStyle/>
          <a:p>
            <a:endParaRPr lang="en-US"/>
          </a:p>
        </p:txBody>
      </p:sp>
      <p:pic>
        <p:nvPicPr>
          <p:cNvPr id="5" name="Image 0" descr="/home/claude/pharm_decks/assets/icons/case.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10881360" cy="2011680"/>
          </a:xfrm>
          <a:prstGeom prst="roundRect">
            <a:avLst>
              <a:gd name="adj" fmla="val 4545"/>
            </a:avLst>
          </a:prstGeom>
          <a:solidFill>
            <a:srgbClr val="E8F1F0"/>
          </a:solidFill>
          <a:ln/>
        </p:spPr>
        <p:txBody>
          <a:bodyPr/>
          <a:lstStyle/>
          <a:p>
            <a:endParaRPr lang="en-US"/>
          </a:p>
        </p:txBody>
      </p:sp>
      <p:sp>
        <p:nvSpPr>
          <p:cNvPr id="7" name="Text 4"/>
          <p:cNvSpPr txBox="1"/>
          <p:nvPr/>
        </p:nvSpPr>
        <p:spPr>
          <a:xfrm>
            <a:off x="914400" y="1810512"/>
            <a:ext cx="10332720" cy="1600200"/>
          </a:xfrm>
          <a:prstGeom prst="rect">
            <a:avLst/>
          </a:prstGeom>
          <a:noFill/>
          <a:ln/>
        </p:spPr>
        <p:txBody>
          <a:bodyPr wrap="square" lIns="0" tIns="0" rIns="0" bIns="0" rtlCol="0" anchor="t"/>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A patient takes acetaminophen regularly for chronic back pain. For a cold, they also start an over-the-counter combination cold-and-flu medication.</a:t>
            </a:r>
            <a:endParaRPr lang="en-US" sz="1700" dirty="0"/>
          </a:p>
        </p:txBody>
      </p:sp>
      <p:sp>
        <p:nvSpPr>
          <p:cNvPr id="8" name="Text 5"/>
          <p:cNvSpPr txBox="1"/>
          <p:nvPr/>
        </p:nvSpPr>
        <p:spPr>
          <a:xfrm>
            <a:off x="640080" y="3886200"/>
            <a:ext cx="10881360" cy="1005840"/>
          </a:xfrm>
          <a:prstGeom prst="rect">
            <a:avLst/>
          </a:prstGeom>
          <a:noFill/>
          <a:ln/>
        </p:spPr>
        <p:txBody>
          <a:bodyPr wrap="square" lIns="0" tIns="0" rIns="0" bIns="0" rtlCol="0" anchor="ctr"/>
          <a:lstStyle/>
          <a:p>
            <a:pPr marL="0" indent="0">
              <a:buNone/>
            </a:pPr>
            <a:r>
              <a:rPr lang="en-US" sz="1800" b="1" dirty="0">
                <a:solidFill>
                  <a:srgbClr val="D1495B"/>
                </a:solidFill>
                <a:latin typeface="Calibri" pitchFamily="34" charset="0"/>
                <a:ea typeface="Calibri" pitchFamily="34" charset="-122"/>
                <a:cs typeface="Calibri" pitchFamily="34" charset="-120"/>
              </a:rPr>
              <a:t>Ask yourself:  </a:t>
            </a:r>
            <a:r>
              <a:rPr lang="en-US" sz="1800" b="1" dirty="0">
                <a:solidFill>
                  <a:srgbClr val="123C44"/>
                </a:solidFill>
                <a:latin typeface="Calibri" pitchFamily="34" charset="0"/>
                <a:ea typeface="Calibri" pitchFamily="34" charset="-122"/>
                <a:cs typeface="Calibri" pitchFamily="34" charset="-120"/>
              </a:rPr>
              <a:t>What is the hidden danger in this combination?</a:t>
            </a:r>
            <a:endParaRPr lang="en-US" sz="1800" dirty="0"/>
          </a:p>
        </p:txBody>
      </p:sp>
      <p:sp>
        <p:nvSpPr>
          <p:cNvPr id="9" name="Text 6"/>
          <p:cNvSpPr txBox="1"/>
          <p:nvPr/>
        </p:nvSpPr>
        <p:spPr>
          <a:xfrm>
            <a:off x="640080" y="5074920"/>
            <a:ext cx="10881360" cy="1005840"/>
          </a:xfrm>
          <a:prstGeom prst="rect">
            <a:avLst/>
          </a:prstGeom>
          <a:noFill/>
          <a:ln/>
        </p:spPr>
        <p:txBody>
          <a:bodyPr wrap="square" lIns="0" tIns="0" rIns="0" bIns="0" rtlCol="0" anchor="t"/>
          <a:lstStyle/>
          <a:p>
            <a:pPr marL="0" indent="0">
              <a:buNone/>
            </a:pPr>
            <a:r>
              <a:rPr lang="en-US" sz="1400" b="1" i="1" dirty="0">
                <a:solidFill>
                  <a:srgbClr val="0F7173"/>
                </a:solidFill>
                <a:latin typeface="Calibri" pitchFamily="34" charset="0"/>
                <a:ea typeface="Calibri" pitchFamily="34" charset="-122"/>
                <a:cs typeface="Calibri" pitchFamily="34" charset="-120"/>
              </a:rPr>
              <a:t>Clinical pearl:  </a:t>
            </a:r>
            <a:r>
              <a:rPr lang="en-US" sz="1400" i="1" dirty="0">
                <a:solidFill>
                  <a:srgbClr val="5C6B73"/>
                </a:solidFill>
                <a:latin typeface="Calibri" pitchFamily="34" charset="0"/>
                <a:ea typeface="Calibri" pitchFamily="34" charset="-122"/>
                <a:cs typeface="Calibri" pitchFamily="34" charset="-120"/>
              </a:rPr>
              <a:t>Many combination cold, flu, and sleep products also contain acetaminophen — unintentional double-dosing is a leading cause of acetaminophen-related liver injury. Always ask about ALL sources of acetaminophen.</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965960"/>
            <a:ext cx="2926080" cy="1554480"/>
          </a:xfrm>
          <a:prstGeom prst="rect">
            <a:avLst/>
          </a:prstGeom>
          <a:noFill/>
          <a:ln/>
        </p:spPr>
        <p:txBody>
          <a:bodyPr wrap="square" rtlCol="0" anchor="t"/>
          <a:lstStyle/>
          <a:p>
            <a:pPr marL="0" indent="0" algn="l">
              <a:buNone/>
            </a:pPr>
            <a:r>
              <a:rPr lang="en-US" sz="6800" b="1" dirty="0">
                <a:solidFill>
                  <a:srgbClr val="E9A23B"/>
                </a:solidFill>
                <a:latin typeface="Cambria" pitchFamily="34" charset="0"/>
                <a:ea typeface="Cambria" pitchFamily="34" charset="-122"/>
                <a:cs typeface="Cambria" pitchFamily="34" charset="-120"/>
              </a:rPr>
              <a:t>03</a:t>
            </a:r>
            <a:endParaRPr lang="en-US" sz="6800" dirty="0"/>
          </a:p>
        </p:txBody>
      </p:sp>
      <p:sp>
        <p:nvSpPr>
          <p:cNvPr id="3" name="Text 0"/>
          <p:cNvSpPr>
            <a:spLocks noGrp="1"/>
          </p:cNvSpPr>
          <p:nvPr>
            <p:ph type="title" idx="101" hasCustomPrompt="1"/>
          </p:nvPr>
        </p:nvSpPr>
        <p:spPr>
          <a:xfrm>
            <a:off x="822960" y="3429000"/>
            <a:ext cx="9692640" cy="1554480"/>
          </a:xfrm>
          <a:prstGeom prst="rect">
            <a:avLst/>
          </a:prstGeom>
          <a:noFill/>
          <a:ln/>
        </p:spPr>
        <p:txBody>
          <a:bodyPr wrap="square" rtlCol="0" anchor="t"/>
          <a:lstStyle/>
          <a:p>
            <a:pPr marL="0" indent="0" algn="l">
              <a:buNone/>
            </a:pPr>
            <a:r>
              <a:rPr lang="en-US" sz="3200" b="1" dirty="0">
                <a:solidFill>
                  <a:srgbClr val="FFFFFF"/>
                </a:solidFill>
                <a:latin typeface="Cambria" pitchFamily="34" charset="0"/>
                <a:ea typeface="Cambria" pitchFamily="34" charset="-122"/>
                <a:cs typeface="Cambria" pitchFamily="34" charset="-120"/>
              </a:rPr>
              <a:t>NSAIDs</a:t>
            </a:r>
            <a:endParaRPr lang="en-US" sz="3200" dirty="0"/>
          </a:p>
        </p:txBody>
      </p:sp>
      <p:sp>
        <p:nvSpPr>
          <p:cNvPr id="4" name="Text 2"/>
          <p:cNvSpPr txBox="1"/>
          <p:nvPr/>
        </p:nvSpPr>
        <p:spPr>
          <a:xfrm>
            <a:off x="841248" y="1508760"/>
            <a:ext cx="3657600" cy="320040"/>
          </a:xfrm>
          <a:prstGeom prst="rect">
            <a:avLst/>
          </a:prstGeom>
          <a:noFill/>
          <a:ln/>
        </p:spPr>
        <p:txBody>
          <a:bodyPr wrap="square" lIns="0" tIns="0" rIns="0" bIns="0" rtlCol="0" anchor="ctr"/>
          <a:lstStyle/>
          <a:p>
            <a:pPr marL="0" indent="0">
              <a:buNone/>
            </a:pPr>
            <a:r>
              <a:rPr lang="en-US" sz="1300" b="1" kern="0" spc="200" dirty="0">
                <a:solidFill>
                  <a:srgbClr val="E8F1F0"/>
                </a:solidFill>
                <a:latin typeface="Calibri" pitchFamily="34" charset="0"/>
                <a:ea typeface="Calibri" pitchFamily="34" charset="-122"/>
                <a:cs typeface="Calibri" pitchFamily="34" charset="-120"/>
              </a:rPr>
              <a:t>SECTION</a:t>
            </a:r>
            <a:endParaRPr lang="en-US" sz="1300" dirty="0"/>
          </a:p>
        </p:txBody>
      </p:sp>
      <p:sp>
        <p:nvSpPr>
          <p:cNvPr id="5" name="Text 3"/>
          <p:cNvSpPr txBox="1"/>
          <p:nvPr/>
        </p:nvSpPr>
        <p:spPr>
          <a:xfrm>
            <a:off x="822960" y="5074920"/>
            <a:ext cx="9692640" cy="1005840"/>
          </a:xfrm>
          <a:prstGeom prst="rect">
            <a:avLst/>
          </a:prstGeom>
          <a:noFill/>
          <a:ln/>
        </p:spPr>
        <p:txBody>
          <a:bodyPr wrap="square" lIns="0" tIns="0" rIns="0" bIns="0" rtlCol="0" anchor="ctr"/>
          <a:lstStyle/>
          <a:p>
            <a:pPr marL="0" indent="0">
              <a:buNone/>
            </a:pPr>
            <a:r>
              <a:rPr lang="en-US" sz="1500" i="1" dirty="0">
                <a:solidFill>
                  <a:srgbClr val="E8F1F0"/>
                </a:solidFill>
                <a:latin typeface="Calibri" pitchFamily="34" charset="0"/>
                <a:ea typeface="Calibri" pitchFamily="34" charset="-122"/>
                <a:cs typeface="Calibri" pitchFamily="34" charset="-120"/>
              </a:rPr>
              <a:t>Powerful anti-inflammatory effect, with real systemic risk.</a:t>
            </a:r>
            <a:endParaRPr lang="en-US" sz="1500" dirty="0"/>
          </a:p>
        </p:txBody>
      </p:sp>
      <p:sp>
        <p:nvSpPr>
          <p:cNvPr id="6" name="Shape 4"/>
          <p:cNvSpPr/>
          <p:nvPr/>
        </p:nvSpPr>
        <p:spPr>
          <a:xfrm>
            <a:off x="10058400" y="685800"/>
            <a:ext cx="1051560" cy="1051560"/>
          </a:xfrm>
          <a:prstGeom prst="ellipse">
            <a:avLst/>
          </a:prstGeom>
          <a:solidFill>
            <a:srgbClr val="E9A23B"/>
          </a:solidFill>
          <a:ln/>
        </p:spPr>
        <p:txBody>
          <a:bodyPr/>
          <a:lstStyle/>
          <a:p>
            <a:endParaRPr lang="en-US"/>
          </a:p>
        </p:txBody>
      </p:sp>
      <p:pic>
        <p:nvPicPr>
          <p:cNvPr id="7" name="Image 0" descr="/home/claude/pharm_decks/assets/icons/stomach.png"/>
          <p:cNvPicPr>
            <a:picLocks noChangeAspect="1"/>
          </p:cNvPicPr>
          <p:nvPr/>
        </p:nvPicPr>
        <p:blipFill>
          <a:blip r:embed="rId3"/>
          <a:stretch>
            <a:fillRect/>
          </a:stretch>
        </p:blipFill>
        <p:spPr>
          <a:xfrm>
            <a:off x="10310774" y="938174"/>
            <a:ext cx="546811" cy="54681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MECHANISM</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How NSAIDs Work</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stomach.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2377440"/>
            <a:ext cx="2432304" cy="1600200"/>
          </a:xfrm>
          <a:prstGeom prst="roundRect">
            <a:avLst>
              <a:gd name="adj" fmla="val 4571"/>
            </a:avLst>
          </a:prstGeom>
          <a:solidFill>
            <a:srgbClr val="0F7173"/>
          </a:solidFill>
          <a:ln/>
        </p:spPr>
        <p:txBody>
          <a:bodyPr/>
          <a:lstStyle/>
          <a:p>
            <a:endParaRPr lang="en-US"/>
          </a:p>
        </p:txBody>
      </p:sp>
      <p:sp>
        <p:nvSpPr>
          <p:cNvPr id="7" name="Text 4"/>
          <p:cNvSpPr txBox="1"/>
          <p:nvPr/>
        </p:nvSpPr>
        <p:spPr>
          <a:xfrm>
            <a:off x="713232"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NSAID</a:t>
            </a:r>
            <a:endParaRPr lang="en-US" sz="1300" dirty="0"/>
          </a:p>
        </p:txBody>
      </p:sp>
      <p:sp>
        <p:nvSpPr>
          <p:cNvPr id="8" name="Shape 5"/>
          <p:cNvSpPr/>
          <p:nvPr/>
        </p:nvSpPr>
        <p:spPr>
          <a:xfrm>
            <a:off x="3072384" y="2994660"/>
            <a:ext cx="384048" cy="365760"/>
          </a:xfrm>
          <a:prstGeom prst="chevron">
            <a:avLst/>
          </a:prstGeom>
          <a:solidFill>
            <a:srgbClr val="5C6B73"/>
          </a:solidFill>
          <a:ln/>
        </p:spPr>
        <p:txBody>
          <a:bodyPr/>
          <a:lstStyle/>
          <a:p>
            <a:endParaRPr lang="en-US"/>
          </a:p>
        </p:txBody>
      </p:sp>
      <p:sp>
        <p:nvSpPr>
          <p:cNvPr id="9" name="Shape 6"/>
          <p:cNvSpPr/>
          <p:nvPr/>
        </p:nvSpPr>
        <p:spPr>
          <a:xfrm>
            <a:off x="3456432" y="2377440"/>
            <a:ext cx="2432304" cy="1600200"/>
          </a:xfrm>
          <a:prstGeom prst="roundRect">
            <a:avLst>
              <a:gd name="adj" fmla="val 4571"/>
            </a:avLst>
          </a:prstGeom>
          <a:solidFill>
            <a:srgbClr val="2A6F97"/>
          </a:solidFill>
          <a:ln/>
        </p:spPr>
        <p:txBody>
          <a:bodyPr/>
          <a:lstStyle/>
          <a:p>
            <a:endParaRPr lang="en-US"/>
          </a:p>
        </p:txBody>
      </p:sp>
      <p:sp>
        <p:nvSpPr>
          <p:cNvPr id="10" name="Text 7"/>
          <p:cNvSpPr txBox="1"/>
          <p:nvPr/>
        </p:nvSpPr>
        <p:spPr>
          <a:xfrm>
            <a:off x="3529584"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COX</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Inhibition</a:t>
            </a:r>
            <a:endParaRPr lang="en-US" sz="1300" dirty="0"/>
          </a:p>
        </p:txBody>
      </p:sp>
      <p:sp>
        <p:nvSpPr>
          <p:cNvPr id="11" name="Shape 8"/>
          <p:cNvSpPr/>
          <p:nvPr/>
        </p:nvSpPr>
        <p:spPr>
          <a:xfrm>
            <a:off x="5888736" y="2994660"/>
            <a:ext cx="384048" cy="365760"/>
          </a:xfrm>
          <a:prstGeom prst="chevron">
            <a:avLst/>
          </a:prstGeom>
          <a:solidFill>
            <a:srgbClr val="5C6B73"/>
          </a:solidFill>
          <a:ln/>
        </p:spPr>
        <p:txBody>
          <a:bodyPr/>
          <a:lstStyle/>
          <a:p>
            <a:endParaRPr lang="en-US"/>
          </a:p>
        </p:txBody>
      </p:sp>
      <p:sp>
        <p:nvSpPr>
          <p:cNvPr id="12" name="Shape 9"/>
          <p:cNvSpPr/>
          <p:nvPr/>
        </p:nvSpPr>
        <p:spPr>
          <a:xfrm>
            <a:off x="6272784" y="2377440"/>
            <a:ext cx="2432304" cy="1600200"/>
          </a:xfrm>
          <a:prstGeom prst="roundRect">
            <a:avLst>
              <a:gd name="adj" fmla="val 4571"/>
            </a:avLst>
          </a:prstGeom>
          <a:solidFill>
            <a:srgbClr val="6B9080"/>
          </a:solidFill>
          <a:ln/>
        </p:spPr>
        <p:txBody>
          <a:bodyPr/>
          <a:lstStyle/>
          <a:p>
            <a:endParaRPr lang="en-US"/>
          </a:p>
        </p:txBody>
      </p:sp>
      <p:sp>
        <p:nvSpPr>
          <p:cNvPr id="13" name="Text 10"/>
          <p:cNvSpPr txBox="1"/>
          <p:nvPr/>
        </p:nvSpPr>
        <p:spPr>
          <a:xfrm>
            <a:off x="6345936"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Prostaglandins</a:t>
            </a:r>
            <a:endParaRPr lang="en-US" sz="1300" dirty="0"/>
          </a:p>
        </p:txBody>
      </p:sp>
      <p:sp>
        <p:nvSpPr>
          <p:cNvPr id="14" name="Shape 11"/>
          <p:cNvSpPr/>
          <p:nvPr/>
        </p:nvSpPr>
        <p:spPr>
          <a:xfrm>
            <a:off x="8705088" y="2994660"/>
            <a:ext cx="384048" cy="365760"/>
          </a:xfrm>
          <a:prstGeom prst="chevron">
            <a:avLst/>
          </a:prstGeom>
          <a:solidFill>
            <a:srgbClr val="5C6B73"/>
          </a:solidFill>
          <a:ln/>
        </p:spPr>
        <p:txBody>
          <a:bodyPr/>
          <a:lstStyle/>
          <a:p>
            <a:endParaRPr lang="en-US"/>
          </a:p>
        </p:txBody>
      </p:sp>
      <p:sp>
        <p:nvSpPr>
          <p:cNvPr id="15" name="Shape 12"/>
          <p:cNvSpPr/>
          <p:nvPr/>
        </p:nvSpPr>
        <p:spPr>
          <a:xfrm>
            <a:off x="9089136" y="2377440"/>
            <a:ext cx="2432304" cy="1600200"/>
          </a:xfrm>
          <a:prstGeom prst="roundRect">
            <a:avLst>
              <a:gd name="adj" fmla="val 4571"/>
            </a:avLst>
          </a:prstGeom>
          <a:solidFill>
            <a:srgbClr val="0F7173"/>
          </a:solidFill>
          <a:ln/>
        </p:spPr>
        <p:txBody>
          <a:bodyPr/>
          <a:lstStyle/>
          <a:p>
            <a:endParaRPr lang="en-US"/>
          </a:p>
        </p:txBody>
      </p:sp>
      <p:sp>
        <p:nvSpPr>
          <p:cNvPr id="16" name="Text 13"/>
          <p:cNvSpPr txBox="1"/>
          <p:nvPr/>
        </p:nvSpPr>
        <p:spPr>
          <a:xfrm>
            <a:off x="9162288" y="2377440"/>
            <a:ext cx="2286000" cy="1600200"/>
          </a:xfrm>
          <a:prstGeom prst="rect">
            <a:avLst/>
          </a:prstGeom>
          <a:noFill/>
          <a:ln/>
        </p:spPr>
        <p:txBody>
          <a:bodyPr wrap="square" lIns="25400" tIns="25400" rIns="25400" bIns="254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Pain, Inflammation,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Fever</a:t>
            </a:r>
            <a:endParaRPr lang="en-US" sz="13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TWO ISOFORMS</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COX-1 vs. COX-2</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stomach.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5212080" cy="4526280"/>
          </a:xfrm>
          <a:prstGeom prst="roundRect">
            <a:avLst>
              <a:gd name="adj" fmla="val 2020"/>
            </a:avLst>
          </a:prstGeom>
          <a:solidFill>
            <a:srgbClr val="E8F1F0"/>
          </a:solidFill>
          <a:ln/>
        </p:spPr>
        <p:txBody>
          <a:bodyPr/>
          <a:lstStyle/>
          <a:p>
            <a:endParaRPr lang="en-US"/>
          </a:p>
        </p:txBody>
      </p:sp>
      <p:sp>
        <p:nvSpPr>
          <p:cNvPr id="7" name="Shape 4"/>
          <p:cNvSpPr/>
          <p:nvPr/>
        </p:nvSpPr>
        <p:spPr>
          <a:xfrm>
            <a:off x="640080" y="1600200"/>
            <a:ext cx="5212080" cy="502920"/>
          </a:xfrm>
          <a:prstGeom prst="roundRect">
            <a:avLst>
              <a:gd name="adj" fmla="val 18182"/>
            </a:avLst>
          </a:prstGeom>
          <a:solidFill>
            <a:srgbClr val="0F7173"/>
          </a:solidFill>
          <a:ln/>
        </p:spPr>
        <p:txBody>
          <a:bodyPr/>
          <a:lstStyle/>
          <a:p>
            <a:endParaRPr lang="en-US"/>
          </a:p>
        </p:txBody>
      </p:sp>
      <p:sp>
        <p:nvSpPr>
          <p:cNvPr id="8" name="Shape 5"/>
          <p:cNvSpPr/>
          <p:nvPr/>
        </p:nvSpPr>
        <p:spPr>
          <a:xfrm>
            <a:off x="640080" y="1856232"/>
            <a:ext cx="5212080" cy="256032"/>
          </a:xfrm>
          <a:prstGeom prst="rect">
            <a:avLst/>
          </a:prstGeom>
          <a:solidFill>
            <a:srgbClr val="0F7173"/>
          </a:solidFill>
          <a:ln/>
        </p:spPr>
        <p:txBody>
          <a:bodyPr/>
          <a:lstStyle/>
          <a:p>
            <a:endParaRPr lang="en-US"/>
          </a:p>
        </p:txBody>
      </p:sp>
      <p:sp>
        <p:nvSpPr>
          <p:cNvPr id="9" name="Text 6"/>
          <p:cNvSpPr txBox="1"/>
          <p:nvPr/>
        </p:nvSpPr>
        <p:spPr>
          <a:xfrm>
            <a:off x="84124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COX-1</a:t>
            </a:r>
            <a:endParaRPr lang="en-US" sz="1600" dirty="0"/>
          </a:p>
        </p:txBody>
      </p:sp>
      <p:sp>
        <p:nvSpPr>
          <p:cNvPr id="10" name="Text 7"/>
          <p:cNvSpPr txBox="1"/>
          <p:nvPr/>
        </p:nvSpPr>
        <p:spPr>
          <a:xfrm>
            <a:off x="86868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"Housekeeping" enzyme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Maintains gastric mucosal protection and normal renal blood flow</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Inhibition contributes to GI and renal adverse effects</a:t>
            </a:r>
            <a:endParaRPr lang="en-US" sz="1400" dirty="0"/>
          </a:p>
        </p:txBody>
      </p:sp>
      <p:sp>
        <p:nvSpPr>
          <p:cNvPr id="11" name="Shape 8"/>
          <p:cNvSpPr/>
          <p:nvPr/>
        </p:nvSpPr>
        <p:spPr>
          <a:xfrm>
            <a:off x="6309360" y="1600200"/>
            <a:ext cx="5212080" cy="4526280"/>
          </a:xfrm>
          <a:prstGeom prst="roundRect">
            <a:avLst>
              <a:gd name="adj" fmla="val 2020"/>
            </a:avLst>
          </a:prstGeom>
          <a:solidFill>
            <a:srgbClr val="E8F1F0"/>
          </a:solidFill>
          <a:ln/>
        </p:spPr>
        <p:txBody>
          <a:bodyPr/>
          <a:lstStyle/>
          <a:p>
            <a:endParaRPr lang="en-US"/>
          </a:p>
        </p:txBody>
      </p:sp>
      <p:sp>
        <p:nvSpPr>
          <p:cNvPr id="12" name="Shape 9"/>
          <p:cNvSpPr/>
          <p:nvPr/>
        </p:nvSpPr>
        <p:spPr>
          <a:xfrm>
            <a:off x="6309360" y="1600200"/>
            <a:ext cx="5212080" cy="502920"/>
          </a:xfrm>
          <a:prstGeom prst="roundRect">
            <a:avLst>
              <a:gd name="adj" fmla="val 18182"/>
            </a:avLst>
          </a:prstGeom>
          <a:solidFill>
            <a:srgbClr val="2A6F97"/>
          </a:solidFill>
          <a:ln/>
        </p:spPr>
        <p:txBody>
          <a:bodyPr/>
          <a:lstStyle/>
          <a:p>
            <a:endParaRPr lang="en-US"/>
          </a:p>
        </p:txBody>
      </p:sp>
      <p:sp>
        <p:nvSpPr>
          <p:cNvPr id="13" name="Shape 10"/>
          <p:cNvSpPr/>
          <p:nvPr/>
        </p:nvSpPr>
        <p:spPr>
          <a:xfrm>
            <a:off x="6309360" y="1856232"/>
            <a:ext cx="5212080" cy="256032"/>
          </a:xfrm>
          <a:prstGeom prst="rect">
            <a:avLst/>
          </a:prstGeom>
          <a:solidFill>
            <a:srgbClr val="2A6F97"/>
          </a:solidFill>
          <a:ln/>
        </p:spPr>
        <p:txBody>
          <a:bodyPr/>
          <a:lstStyle/>
          <a:p>
            <a:endParaRPr lang="en-US"/>
          </a:p>
        </p:txBody>
      </p:sp>
      <p:sp>
        <p:nvSpPr>
          <p:cNvPr id="14" name="Text 11"/>
          <p:cNvSpPr txBox="1"/>
          <p:nvPr/>
        </p:nvSpPr>
        <p:spPr>
          <a:xfrm>
            <a:off x="651052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COX-2</a:t>
            </a:r>
            <a:endParaRPr lang="en-US" sz="1600" dirty="0"/>
          </a:p>
        </p:txBody>
      </p:sp>
      <p:sp>
        <p:nvSpPr>
          <p:cNvPr id="15" name="Text 12"/>
          <p:cNvSpPr txBox="1"/>
          <p:nvPr/>
        </p:nvSpPr>
        <p:spPr>
          <a:xfrm>
            <a:off x="653796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Induced mainly at sites of inflammation</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Primary source of inflammatory prostaglandins</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Selective inhibition targets inflammation with less GI toxicity</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AGENTS</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Nonselective NSAIDs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capsules.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b="1" dirty="0">
                <a:solidFill>
                  <a:srgbClr val="1A1A1A"/>
                </a:solidFill>
                <a:latin typeface="Calibri" pitchFamily="34" charset="0"/>
                <a:ea typeface="Calibri" pitchFamily="34" charset="-122"/>
                <a:cs typeface="Calibri" pitchFamily="34" charset="-120"/>
              </a:rPr>
              <a:t>Nonselective NSAIDs inhibit both COX-1 and COX-2.</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Ibuprofen — common first-line choice for mild-moderate pain</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Naproxen — longer half-life, twice-daily dosing</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Diclofenac — available in oral and topical formulations</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Indomethacin — more potent, more GI/CNS adverse effects</a:t>
            </a:r>
            <a:endParaRPr lang="en-US" sz="1600" dirty="0"/>
          </a:p>
          <a:p>
            <a:pPr marL="228600" indent="-228600" algn="l">
              <a:spcAft>
                <a:spcPts val="1200"/>
              </a:spcAft>
              <a:buSzPct val="100000"/>
              <a:buChar char="●"/>
            </a:pPr>
            <a:r>
              <a:rPr lang="en-US" sz="1600" dirty="0">
                <a:solidFill>
                  <a:srgbClr val="D1495B"/>
                </a:solidFill>
                <a:latin typeface="Calibri" pitchFamily="34" charset="0"/>
                <a:ea typeface="Calibri" pitchFamily="34" charset="-122"/>
                <a:cs typeface="Calibri" pitchFamily="34" charset="-120"/>
              </a:rPr>
              <a:t>Ketorolac — short-term use only, significant GI/renal risk</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SELECTIVE AGENT</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COX-2 Selective Inhibition: Celecoxib</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heart.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b="1" dirty="0">
                <a:solidFill>
                  <a:srgbClr val="1A1A1A"/>
                </a:solidFill>
                <a:latin typeface="Calibri" pitchFamily="34" charset="0"/>
                <a:ea typeface="Calibri" pitchFamily="34" charset="-122"/>
                <a:cs typeface="Calibri" pitchFamily="34" charset="-120"/>
              </a:rPr>
              <a:t>Celecoxib selectively inhibits COX-2 over COX-1.</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GI effects: lower risk of ulcer/bleeding than nonselective NSAIDs.</a:t>
            </a:r>
            <a:endParaRPr lang="en-US" sz="1600" dirty="0"/>
          </a:p>
          <a:p>
            <a:pPr marL="228600" indent="-228600" algn="l">
              <a:spcAft>
                <a:spcPts val="1200"/>
              </a:spcAft>
              <a:buSzPct val="100000"/>
              <a:buChar char="●"/>
            </a:pPr>
            <a:r>
              <a:rPr lang="en-US" sz="1600" dirty="0">
                <a:solidFill>
                  <a:srgbClr val="D1495B"/>
                </a:solidFill>
                <a:latin typeface="Calibri" pitchFamily="34" charset="0"/>
                <a:ea typeface="Calibri" pitchFamily="34" charset="-122"/>
                <a:cs typeface="Calibri" pitchFamily="34" charset="-120"/>
              </a:rPr>
              <a:t>Cardiovascular risk: COX-2 selectivity is associated with increased cardiovascular event risk — a key trade-off.</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Renal effects: similar renal risk to nonselective NSAIDs — COX-2 selectivity does not protect the kidney.</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ORIGINAL ILLUSTRATION · FIGURE 2</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Nonselective NSAIDs vs. COX-2 Selective Inhibition</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heart.png"/>
          <p:cNvPicPr>
            <a:picLocks noChangeAspect="1"/>
          </p:cNvPicPr>
          <p:nvPr/>
        </p:nvPicPr>
        <p:blipFill>
          <a:blip r:embed="rId3"/>
          <a:stretch>
            <a:fillRect/>
          </a:stretch>
        </p:blipFill>
        <p:spPr>
          <a:xfrm>
            <a:off x="11108863" y="638983"/>
            <a:ext cx="294803" cy="294803"/>
          </a:xfrm>
          <a:prstGeom prst="rect">
            <a:avLst/>
          </a:prstGeom>
        </p:spPr>
      </p:pic>
      <p:pic>
        <p:nvPicPr>
          <p:cNvPr id="6" name="Image 1" descr="/home/claude/pharm_decks/assets/figures2/nsaid_tradeoff.png"/>
          <p:cNvPicPr>
            <a:picLocks noChangeAspect="1"/>
          </p:cNvPicPr>
          <p:nvPr/>
        </p:nvPicPr>
        <p:blipFill>
          <a:blip r:embed="rId4"/>
          <a:stretch>
            <a:fillRect/>
          </a:stretch>
        </p:blipFill>
        <p:spPr>
          <a:xfrm>
            <a:off x="2637571" y="1554480"/>
            <a:ext cx="6886378" cy="4160520"/>
          </a:xfrm>
          <a:prstGeom prst="rect">
            <a:avLst/>
          </a:prstGeom>
        </p:spPr>
      </p:pic>
      <p:sp>
        <p:nvSpPr>
          <p:cNvPr id="7" name="Text 3"/>
          <p:cNvSpPr txBox="1"/>
          <p:nvPr/>
        </p:nvSpPr>
        <p:spPr>
          <a:xfrm>
            <a:off x="640080" y="5788152"/>
            <a:ext cx="10881360" cy="502920"/>
          </a:xfrm>
          <a:prstGeom prst="rect">
            <a:avLst/>
          </a:prstGeom>
          <a:noFill/>
          <a:ln/>
        </p:spPr>
        <p:txBody>
          <a:bodyPr wrap="square" lIns="0" tIns="0" rIns="0" bIns="0" rtlCol="0" anchor="ctr"/>
          <a:lstStyle/>
          <a:p>
            <a:pPr marL="0" indent="0" algn="ctr">
              <a:buNone/>
            </a:pPr>
            <a:r>
              <a:rPr lang="en-US" sz="1350" i="1" dirty="0">
                <a:solidFill>
                  <a:srgbClr val="5C6B73"/>
                </a:solidFill>
                <a:latin typeface="Calibri" pitchFamily="34" charset="0"/>
                <a:ea typeface="Calibri" pitchFamily="34" charset="-122"/>
                <a:cs typeface="Calibri" pitchFamily="34" charset="-120"/>
              </a:rPr>
              <a:t>Figure 2. Original illustrative comparison (illustrative relative-risk values, not from Katzung): nonselective NSAIDs (e.g., ibuprofen, naproxen) carry higher GI risk; celecoxib trades lower GI risk for higher cardiovascular risk.</a:t>
            </a:r>
            <a:endParaRPr lang="en-US" sz="13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ORGANIZED BY SYSTEM · TABLE 1</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NSAID Adverse Effects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warning.png"/>
          <p:cNvPicPr>
            <a:picLocks noChangeAspect="1"/>
          </p:cNvPicPr>
          <p:nvPr/>
        </p:nvPicPr>
        <p:blipFill>
          <a:blip r:embed="rId3"/>
          <a:stretch>
            <a:fillRect/>
          </a:stretch>
        </p:blipFill>
        <p:spPr>
          <a:xfrm>
            <a:off x="11108863" y="638983"/>
            <a:ext cx="294803" cy="294803"/>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1320800"/>
        </p:xfrm>
        <a:graphic>
          <a:graphicData uri="http://schemas.openxmlformats.org/drawingml/2006/table">
            <a:tbl>
              <a:tblPr/>
              <a:tblGrid>
                <a:gridCol w="320040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System</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123C44"/>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Key Adverse Effects</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123C44"/>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1A1A1A"/>
                          </a:solidFill>
                          <a:latin typeface="Calibri" pitchFamily="34" charset="0"/>
                          <a:ea typeface="Calibri" pitchFamily="34" charset="-122"/>
                          <a:cs typeface="Calibri" pitchFamily="34" charset="-120"/>
                        </a:rPr>
                        <a:t>Gastrointestinal</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1A1A"/>
                          </a:solidFill>
                          <a:latin typeface="Calibri" pitchFamily="34" charset="0"/>
                          <a:ea typeface="Calibri" pitchFamily="34" charset="-122"/>
                          <a:cs typeface="Calibri" pitchFamily="34" charset="-120"/>
                        </a:rPr>
                        <a:t>Gastritis, peptic ulcer, GI bleeding</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1A1A1A"/>
                          </a:solidFill>
                          <a:latin typeface="Calibri" pitchFamily="34" charset="0"/>
                          <a:ea typeface="Calibri" pitchFamily="34" charset="-122"/>
                          <a:cs typeface="Calibri" pitchFamily="34" charset="-120"/>
                        </a:rPr>
                        <a:t>Renal</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E8F1F0"/>
                    </a:solidFill>
                  </a:tcPr>
                </a:tc>
                <a:tc>
                  <a:txBody>
                    <a:bodyPr/>
                    <a:lstStyle/>
                    <a:p>
                      <a:pPr marL="0" indent="0" algn="l">
                        <a:buNone/>
                      </a:pPr>
                      <a:r>
                        <a:rPr lang="en-US" sz="1500" dirty="0">
                          <a:solidFill>
                            <a:srgbClr val="1A1A1A"/>
                          </a:solidFill>
                          <a:latin typeface="Calibri" pitchFamily="34" charset="0"/>
                          <a:ea typeface="Calibri" pitchFamily="34" charset="-122"/>
                          <a:cs typeface="Calibri" pitchFamily="34" charset="-120"/>
                        </a:rPr>
                        <a:t>Decreased renal perfusion, fluid retention, acute kidney injury</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E8F1F0"/>
                    </a:solidFill>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1A1A1A"/>
                          </a:solidFill>
                          <a:latin typeface="Calibri" pitchFamily="34" charset="0"/>
                          <a:ea typeface="Calibri" pitchFamily="34" charset="-122"/>
                          <a:cs typeface="Calibri" pitchFamily="34" charset="-120"/>
                        </a:rPr>
                        <a:t>Cardiovascular</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1A1A"/>
                          </a:solidFill>
                          <a:latin typeface="Calibri" pitchFamily="34" charset="0"/>
                          <a:ea typeface="Calibri" pitchFamily="34" charset="-122"/>
                          <a:cs typeface="Calibri" pitchFamily="34" charset="-120"/>
                        </a:rPr>
                        <a:t>Hypertension, increased risk of cardiovascular events</a:t>
                      </a:r>
                      <a:endParaRPr lang="en-US" sz="1500" dirty="0">
                        <a:latin typeface="Calibri" charset="0"/>
                        <a:ea typeface="Calibri" charset="0"/>
                        <a:cs typeface="Calibri" charset="0"/>
                      </a:endParaRPr>
                    </a:p>
                  </a:txBody>
                  <a:tcPr marL="101600" marR="101600" marT="50800" marB="50800" anchor="ctr">
                    <a:lnL w="9525" cap="flat" cmpd="sng" algn="ctr">
                      <a:solidFill>
                        <a:srgbClr val="D7E4E3"/>
                      </a:solidFill>
                      <a:prstDash val="solid"/>
                      <a:round/>
                      <a:headEnd type="none" w="med" len="med"/>
                      <a:tailEnd type="none" w="med" len="med"/>
                    </a:lnL>
                    <a:lnR w="9525" cap="flat" cmpd="sng" algn="ctr">
                      <a:solidFill>
                        <a:srgbClr val="D7E4E3"/>
                      </a:solidFill>
                      <a:prstDash val="solid"/>
                      <a:round/>
                      <a:headEnd type="none" w="med" len="med"/>
                      <a:tailEnd type="none" w="med" len="med"/>
                    </a:lnR>
                    <a:lnT w="9525" cap="flat" cmpd="sng" algn="ctr">
                      <a:solidFill>
                        <a:srgbClr val="D7E4E3"/>
                      </a:solidFill>
                      <a:prstDash val="solid"/>
                      <a:round/>
                      <a:headEnd type="none" w="med" len="med"/>
                      <a:tailEnd type="none" w="med" len="med"/>
                    </a:lnT>
                    <a:lnB w="9525" cap="flat" cmpd="sng" algn="ctr">
                      <a:solidFill>
                        <a:srgbClr val="D7E4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PRESCRIBING SAFELY</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NSAID Contraindications &amp; Interactions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warning.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5212080" cy="4526280"/>
          </a:xfrm>
          <a:prstGeom prst="roundRect">
            <a:avLst>
              <a:gd name="adj" fmla="val 2020"/>
            </a:avLst>
          </a:prstGeom>
          <a:solidFill>
            <a:srgbClr val="E8F1F0"/>
          </a:solidFill>
          <a:ln/>
        </p:spPr>
        <p:txBody>
          <a:bodyPr/>
          <a:lstStyle/>
          <a:p>
            <a:endParaRPr lang="en-US"/>
          </a:p>
        </p:txBody>
      </p:sp>
      <p:sp>
        <p:nvSpPr>
          <p:cNvPr id="7" name="Shape 4"/>
          <p:cNvSpPr/>
          <p:nvPr/>
        </p:nvSpPr>
        <p:spPr>
          <a:xfrm>
            <a:off x="640080" y="1600200"/>
            <a:ext cx="5212080" cy="502920"/>
          </a:xfrm>
          <a:prstGeom prst="roundRect">
            <a:avLst>
              <a:gd name="adj" fmla="val 18182"/>
            </a:avLst>
          </a:prstGeom>
          <a:solidFill>
            <a:srgbClr val="D1495B"/>
          </a:solidFill>
          <a:ln/>
        </p:spPr>
        <p:txBody>
          <a:bodyPr/>
          <a:lstStyle/>
          <a:p>
            <a:endParaRPr lang="en-US"/>
          </a:p>
        </p:txBody>
      </p:sp>
      <p:sp>
        <p:nvSpPr>
          <p:cNvPr id="8" name="Shape 5"/>
          <p:cNvSpPr/>
          <p:nvPr/>
        </p:nvSpPr>
        <p:spPr>
          <a:xfrm>
            <a:off x="640080" y="1856232"/>
            <a:ext cx="5212080" cy="256032"/>
          </a:xfrm>
          <a:prstGeom prst="rect">
            <a:avLst/>
          </a:prstGeom>
          <a:solidFill>
            <a:srgbClr val="D1495B"/>
          </a:solidFill>
          <a:ln/>
        </p:spPr>
        <p:txBody>
          <a:bodyPr/>
          <a:lstStyle/>
          <a:p>
            <a:endParaRPr lang="en-US"/>
          </a:p>
        </p:txBody>
      </p:sp>
      <p:sp>
        <p:nvSpPr>
          <p:cNvPr id="9" name="Text 6"/>
          <p:cNvSpPr txBox="1"/>
          <p:nvPr/>
        </p:nvSpPr>
        <p:spPr>
          <a:xfrm>
            <a:off x="84124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Use Caution / Avoid In</a:t>
            </a:r>
            <a:endParaRPr lang="en-US" sz="1600" dirty="0"/>
          </a:p>
        </p:txBody>
      </p:sp>
      <p:sp>
        <p:nvSpPr>
          <p:cNvPr id="10" name="Text 7"/>
          <p:cNvSpPr txBox="1"/>
          <p:nvPr/>
        </p:nvSpPr>
        <p:spPr>
          <a:xfrm>
            <a:off x="86868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Active GI bleeding or ulcer history</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Chronic kidney disease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Heart failure or cardiovascular disease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Anticoagulant therapy</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Late pregnancy</a:t>
            </a:r>
            <a:endParaRPr lang="en-US" sz="1400" dirty="0"/>
          </a:p>
        </p:txBody>
      </p:sp>
      <p:sp>
        <p:nvSpPr>
          <p:cNvPr id="11" name="Shape 8"/>
          <p:cNvSpPr/>
          <p:nvPr/>
        </p:nvSpPr>
        <p:spPr>
          <a:xfrm>
            <a:off x="6309360" y="1600200"/>
            <a:ext cx="5212080" cy="4526280"/>
          </a:xfrm>
          <a:prstGeom prst="roundRect">
            <a:avLst>
              <a:gd name="adj" fmla="val 2020"/>
            </a:avLst>
          </a:prstGeom>
          <a:solidFill>
            <a:srgbClr val="E8F1F0"/>
          </a:solidFill>
          <a:ln/>
        </p:spPr>
        <p:txBody>
          <a:bodyPr/>
          <a:lstStyle/>
          <a:p>
            <a:endParaRPr lang="en-US"/>
          </a:p>
        </p:txBody>
      </p:sp>
      <p:sp>
        <p:nvSpPr>
          <p:cNvPr id="12" name="Shape 9"/>
          <p:cNvSpPr/>
          <p:nvPr/>
        </p:nvSpPr>
        <p:spPr>
          <a:xfrm>
            <a:off x="6309360" y="1600200"/>
            <a:ext cx="5212080" cy="502920"/>
          </a:xfrm>
          <a:prstGeom prst="roundRect">
            <a:avLst>
              <a:gd name="adj" fmla="val 18182"/>
            </a:avLst>
          </a:prstGeom>
          <a:solidFill>
            <a:srgbClr val="2A6F97"/>
          </a:solidFill>
          <a:ln/>
        </p:spPr>
        <p:txBody>
          <a:bodyPr/>
          <a:lstStyle/>
          <a:p>
            <a:endParaRPr lang="en-US"/>
          </a:p>
        </p:txBody>
      </p:sp>
      <p:sp>
        <p:nvSpPr>
          <p:cNvPr id="13" name="Shape 10"/>
          <p:cNvSpPr/>
          <p:nvPr/>
        </p:nvSpPr>
        <p:spPr>
          <a:xfrm>
            <a:off x="6309360" y="1856232"/>
            <a:ext cx="5212080" cy="256032"/>
          </a:xfrm>
          <a:prstGeom prst="rect">
            <a:avLst/>
          </a:prstGeom>
          <a:solidFill>
            <a:srgbClr val="2A6F97"/>
          </a:solidFill>
          <a:ln/>
        </p:spPr>
        <p:txBody>
          <a:bodyPr/>
          <a:lstStyle/>
          <a:p>
            <a:endParaRPr lang="en-US"/>
          </a:p>
        </p:txBody>
      </p:sp>
      <p:sp>
        <p:nvSpPr>
          <p:cNvPr id="14" name="Text 11"/>
          <p:cNvSpPr txBox="1"/>
          <p:nvPr/>
        </p:nvSpPr>
        <p:spPr>
          <a:xfrm>
            <a:off x="651052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High-Yield Drug Interactions</a:t>
            </a:r>
            <a:endParaRPr lang="en-US" sz="1600" dirty="0"/>
          </a:p>
        </p:txBody>
      </p:sp>
      <p:sp>
        <p:nvSpPr>
          <p:cNvPr id="15" name="Text 12"/>
          <p:cNvSpPr txBox="1"/>
          <p:nvPr/>
        </p:nvSpPr>
        <p:spPr>
          <a:xfrm>
            <a:off x="653796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NSAIDs + anticoagulants → ↑ bleeding risk</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NSAIDs + ACE inhibitors/ARBs → ↑ AKI risk ("triple whammy" with diuretics)</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NSAIDs + diuretics → reduced diuretic effect, ↑ renal risk</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NSAIDs + corticosteroids → ↑ GI ulcer risk</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CLINICAL CASE</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Is an NSAID the Right First Choice?</a:t>
            </a:r>
            <a:endParaRPr lang="en-US" sz="2800" dirty="0"/>
          </a:p>
        </p:txBody>
      </p:sp>
      <p:sp>
        <p:nvSpPr>
          <p:cNvPr id="4" name="Shape 2"/>
          <p:cNvSpPr/>
          <p:nvPr/>
        </p:nvSpPr>
        <p:spPr>
          <a:xfrm>
            <a:off x="10972800" y="502920"/>
            <a:ext cx="566928" cy="566928"/>
          </a:xfrm>
          <a:prstGeom prst="ellipse">
            <a:avLst/>
          </a:prstGeom>
          <a:solidFill>
            <a:srgbClr val="D1495B"/>
          </a:solidFill>
          <a:ln/>
        </p:spPr>
        <p:txBody>
          <a:bodyPr/>
          <a:lstStyle/>
          <a:p>
            <a:endParaRPr lang="en-US"/>
          </a:p>
        </p:txBody>
      </p:sp>
      <p:pic>
        <p:nvPicPr>
          <p:cNvPr id="5" name="Image 0" descr="/home/claude/pharm_decks/assets/icons/case.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10881360" cy="2011680"/>
          </a:xfrm>
          <a:prstGeom prst="roundRect">
            <a:avLst>
              <a:gd name="adj" fmla="val 4545"/>
            </a:avLst>
          </a:prstGeom>
          <a:solidFill>
            <a:srgbClr val="E8F1F0"/>
          </a:solidFill>
          <a:ln/>
        </p:spPr>
        <p:txBody>
          <a:bodyPr/>
          <a:lstStyle/>
          <a:p>
            <a:endParaRPr lang="en-US"/>
          </a:p>
        </p:txBody>
      </p:sp>
      <p:sp>
        <p:nvSpPr>
          <p:cNvPr id="7" name="Text 4"/>
          <p:cNvSpPr txBox="1"/>
          <p:nvPr/>
        </p:nvSpPr>
        <p:spPr>
          <a:xfrm>
            <a:off x="914400" y="1810512"/>
            <a:ext cx="10332720" cy="1600200"/>
          </a:xfrm>
          <a:prstGeom prst="rect">
            <a:avLst/>
          </a:prstGeom>
          <a:noFill/>
          <a:ln/>
        </p:spPr>
        <p:txBody>
          <a:bodyPr wrap="square" lIns="0" tIns="0" rIns="0" bIns="0" rtlCol="0" anchor="t"/>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A 72-year-old patient with osteoarthritis also has chronic kidney disease, hypertension, and is taking an anticoagulant.</a:t>
            </a:r>
            <a:endParaRPr lang="en-US" sz="1700" dirty="0"/>
          </a:p>
        </p:txBody>
      </p:sp>
      <p:sp>
        <p:nvSpPr>
          <p:cNvPr id="8" name="Text 5"/>
          <p:cNvSpPr txBox="1"/>
          <p:nvPr/>
        </p:nvSpPr>
        <p:spPr>
          <a:xfrm>
            <a:off x="640080" y="3886200"/>
            <a:ext cx="10881360" cy="1005840"/>
          </a:xfrm>
          <a:prstGeom prst="rect">
            <a:avLst/>
          </a:prstGeom>
          <a:noFill/>
          <a:ln/>
        </p:spPr>
        <p:txBody>
          <a:bodyPr wrap="square" lIns="0" tIns="0" rIns="0" bIns="0" rtlCol="0" anchor="ctr"/>
          <a:lstStyle/>
          <a:p>
            <a:pPr marL="0" indent="0">
              <a:buNone/>
            </a:pPr>
            <a:r>
              <a:rPr lang="en-US" sz="1800" b="1" dirty="0">
                <a:solidFill>
                  <a:srgbClr val="D1495B"/>
                </a:solidFill>
                <a:latin typeface="Calibri" pitchFamily="34" charset="0"/>
                <a:ea typeface="Calibri" pitchFamily="34" charset="-122"/>
                <a:cs typeface="Calibri" pitchFamily="34" charset="-120"/>
              </a:rPr>
              <a:t>Ask yourself:  </a:t>
            </a:r>
            <a:r>
              <a:rPr lang="en-US" sz="1800" b="1" dirty="0">
                <a:solidFill>
                  <a:srgbClr val="123C44"/>
                </a:solidFill>
                <a:latin typeface="Calibri" pitchFamily="34" charset="0"/>
                <a:ea typeface="Calibri" pitchFamily="34" charset="-122"/>
                <a:cs typeface="Calibri" pitchFamily="34" charset="-120"/>
              </a:rPr>
              <a:t>Is an NSAID a good first-line choice for this patient’s pain? Why or why not?</a:t>
            </a:r>
            <a:endParaRPr lang="en-US" sz="1800" dirty="0"/>
          </a:p>
        </p:txBody>
      </p:sp>
      <p:sp>
        <p:nvSpPr>
          <p:cNvPr id="9" name="Text 6"/>
          <p:cNvSpPr txBox="1"/>
          <p:nvPr/>
        </p:nvSpPr>
        <p:spPr>
          <a:xfrm>
            <a:off x="640080" y="5074920"/>
            <a:ext cx="10881360" cy="1005840"/>
          </a:xfrm>
          <a:prstGeom prst="rect">
            <a:avLst/>
          </a:prstGeom>
          <a:noFill/>
          <a:ln/>
        </p:spPr>
        <p:txBody>
          <a:bodyPr wrap="square" lIns="0" tIns="0" rIns="0" bIns="0" rtlCol="0" anchor="t"/>
          <a:lstStyle/>
          <a:p>
            <a:pPr marL="0" indent="0">
              <a:buNone/>
            </a:pPr>
            <a:r>
              <a:rPr lang="en-US" sz="1400" b="1" i="1" dirty="0">
                <a:solidFill>
                  <a:srgbClr val="0F7173"/>
                </a:solidFill>
                <a:latin typeface="Calibri" pitchFamily="34" charset="0"/>
                <a:ea typeface="Calibri" pitchFamily="34" charset="-122"/>
                <a:cs typeface="Calibri" pitchFamily="34" charset="-120"/>
              </a:rPr>
              <a:t>Clinical pearl:  </a:t>
            </a:r>
            <a:r>
              <a:rPr lang="en-US" sz="1400" i="1" dirty="0">
                <a:solidFill>
                  <a:srgbClr val="5C6B73"/>
                </a:solidFill>
                <a:latin typeface="Calibri" pitchFamily="34" charset="0"/>
                <a:ea typeface="Calibri" pitchFamily="34" charset="-122"/>
                <a:cs typeface="Calibri" pitchFamily="34" charset="-120"/>
              </a:rPr>
              <a:t>This patient has three separate NSAID red flags at once (renal disease, anticoagulation, and age-related bleeding risk) — acetaminophen or a non-NSAID strategy is generally safer first-line.</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965960"/>
            <a:ext cx="2926080" cy="1554480"/>
          </a:xfrm>
          <a:prstGeom prst="rect">
            <a:avLst/>
          </a:prstGeom>
          <a:noFill/>
          <a:ln/>
        </p:spPr>
        <p:txBody>
          <a:bodyPr wrap="square" rtlCol="0" anchor="t"/>
          <a:lstStyle/>
          <a:p>
            <a:pPr marL="0" indent="0" algn="l">
              <a:buNone/>
            </a:pPr>
            <a:r>
              <a:rPr lang="en-US" sz="6800" b="1" dirty="0">
                <a:solidFill>
                  <a:srgbClr val="E9A23B"/>
                </a:solidFill>
                <a:latin typeface="Cambria" pitchFamily="34" charset="0"/>
                <a:ea typeface="Cambria" pitchFamily="34" charset="-122"/>
                <a:cs typeface="Cambria" pitchFamily="34" charset="-120"/>
              </a:rPr>
              <a:t>04</a:t>
            </a:r>
            <a:endParaRPr lang="en-US" sz="6800" dirty="0"/>
          </a:p>
        </p:txBody>
      </p:sp>
      <p:sp>
        <p:nvSpPr>
          <p:cNvPr id="3" name="Text 0"/>
          <p:cNvSpPr>
            <a:spLocks noGrp="1"/>
          </p:cNvSpPr>
          <p:nvPr>
            <p:ph type="title" idx="101" hasCustomPrompt="1"/>
          </p:nvPr>
        </p:nvSpPr>
        <p:spPr>
          <a:xfrm>
            <a:off x="822960" y="3429000"/>
            <a:ext cx="9692640" cy="1554480"/>
          </a:xfrm>
          <a:prstGeom prst="rect">
            <a:avLst/>
          </a:prstGeom>
          <a:noFill/>
          <a:ln/>
        </p:spPr>
        <p:txBody>
          <a:bodyPr wrap="square" rtlCol="0" anchor="t"/>
          <a:lstStyle/>
          <a:p>
            <a:pPr marL="0" indent="0" algn="l">
              <a:buNone/>
            </a:pPr>
            <a:r>
              <a:rPr lang="en-US" sz="3200" b="1" dirty="0">
                <a:solidFill>
                  <a:srgbClr val="FFFFFF"/>
                </a:solidFill>
                <a:latin typeface="Cambria" pitchFamily="34" charset="0"/>
                <a:ea typeface="Cambria" pitchFamily="34" charset="-122"/>
                <a:cs typeface="Cambria" pitchFamily="34" charset="-120"/>
              </a:rPr>
              <a:t>Osteoarthritis &amp; Rheumatoid Arthritis</a:t>
            </a:r>
            <a:endParaRPr lang="en-US" sz="3200" dirty="0"/>
          </a:p>
        </p:txBody>
      </p:sp>
      <p:sp>
        <p:nvSpPr>
          <p:cNvPr id="4" name="Text 2"/>
          <p:cNvSpPr txBox="1"/>
          <p:nvPr/>
        </p:nvSpPr>
        <p:spPr>
          <a:xfrm>
            <a:off x="841248" y="1508760"/>
            <a:ext cx="3657600" cy="320040"/>
          </a:xfrm>
          <a:prstGeom prst="rect">
            <a:avLst/>
          </a:prstGeom>
          <a:noFill/>
          <a:ln/>
        </p:spPr>
        <p:txBody>
          <a:bodyPr wrap="square" lIns="0" tIns="0" rIns="0" bIns="0" rtlCol="0" anchor="ctr"/>
          <a:lstStyle/>
          <a:p>
            <a:pPr marL="0" indent="0">
              <a:buNone/>
            </a:pPr>
            <a:r>
              <a:rPr lang="en-US" sz="1300" b="1" kern="0" spc="200" dirty="0">
                <a:solidFill>
                  <a:srgbClr val="E8F1F0"/>
                </a:solidFill>
                <a:latin typeface="Calibri" pitchFamily="34" charset="0"/>
                <a:ea typeface="Calibri" pitchFamily="34" charset="-122"/>
                <a:cs typeface="Calibri" pitchFamily="34" charset="-120"/>
              </a:rPr>
              <a:t>SECTION</a:t>
            </a:r>
            <a:endParaRPr lang="en-US" sz="1300" dirty="0"/>
          </a:p>
        </p:txBody>
      </p:sp>
      <p:sp>
        <p:nvSpPr>
          <p:cNvPr id="5" name="Text 3"/>
          <p:cNvSpPr txBox="1"/>
          <p:nvPr/>
        </p:nvSpPr>
        <p:spPr>
          <a:xfrm>
            <a:off x="822960" y="5074920"/>
            <a:ext cx="9692640" cy="1005840"/>
          </a:xfrm>
          <a:prstGeom prst="rect">
            <a:avLst/>
          </a:prstGeom>
          <a:noFill/>
          <a:ln/>
        </p:spPr>
        <p:txBody>
          <a:bodyPr wrap="square" lIns="0" tIns="0" rIns="0" bIns="0" rtlCol="0" anchor="ctr"/>
          <a:lstStyle/>
          <a:p>
            <a:pPr marL="0" indent="0">
              <a:buNone/>
            </a:pPr>
            <a:r>
              <a:rPr lang="en-US" sz="1500" i="1" dirty="0">
                <a:solidFill>
                  <a:srgbClr val="E8F1F0"/>
                </a:solidFill>
                <a:latin typeface="Calibri" pitchFamily="34" charset="0"/>
                <a:ea typeface="Calibri" pitchFamily="34" charset="-122"/>
                <a:cs typeface="Calibri" pitchFamily="34" charset="-120"/>
              </a:rPr>
              <a:t>Two very different diseases that both affect the joint.</a:t>
            </a:r>
            <a:endParaRPr lang="en-US" sz="1500" dirty="0"/>
          </a:p>
        </p:txBody>
      </p:sp>
      <p:sp>
        <p:nvSpPr>
          <p:cNvPr id="6" name="Shape 4"/>
          <p:cNvSpPr/>
          <p:nvPr/>
        </p:nvSpPr>
        <p:spPr>
          <a:xfrm>
            <a:off x="10058400" y="685800"/>
            <a:ext cx="1051560" cy="1051560"/>
          </a:xfrm>
          <a:prstGeom prst="ellipse">
            <a:avLst/>
          </a:prstGeom>
          <a:solidFill>
            <a:srgbClr val="E9A23B"/>
          </a:solidFill>
          <a:ln/>
        </p:spPr>
        <p:txBody>
          <a:bodyPr/>
          <a:lstStyle/>
          <a:p>
            <a:endParaRPr lang="en-US"/>
          </a:p>
        </p:txBody>
      </p:sp>
      <p:pic>
        <p:nvPicPr>
          <p:cNvPr id="7" name="Image 0" descr="/home/claude/pharm_decks/assets/icons/bone.png"/>
          <p:cNvPicPr>
            <a:picLocks noChangeAspect="1"/>
          </p:cNvPicPr>
          <p:nvPr/>
        </p:nvPicPr>
        <p:blipFill>
          <a:blip r:embed="rId3"/>
          <a:stretch>
            <a:fillRect/>
          </a:stretch>
        </p:blipFill>
        <p:spPr>
          <a:xfrm>
            <a:off x="10310774" y="938174"/>
            <a:ext cx="546811" cy="5468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TWO DIFFERENT DISEASES</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Osteoarthritis vs. Rheumatoid Arthritis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bone.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5212080" cy="4526280"/>
          </a:xfrm>
          <a:prstGeom prst="roundRect">
            <a:avLst>
              <a:gd name="adj" fmla="val 2020"/>
            </a:avLst>
          </a:prstGeom>
          <a:solidFill>
            <a:srgbClr val="E8F1F0"/>
          </a:solidFill>
          <a:ln/>
        </p:spPr>
        <p:txBody>
          <a:bodyPr/>
          <a:lstStyle/>
          <a:p>
            <a:endParaRPr lang="en-US"/>
          </a:p>
        </p:txBody>
      </p:sp>
      <p:sp>
        <p:nvSpPr>
          <p:cNvPr id="7" name="Shape 4"/>
          <p:cNvSpPr/>
          <p:nvPr/>
        </p:nvSpPr>
        <p:spPr>
          <a:xfrm>
            <a:off x="640080" y="1600200"/>
            <a:ext cx="5212080" cy="502920"/>
          </a:xfrm>
          <a:prstGeom prst="roundRect">
            <a:avLst>
              <a:gd name="adj" fmla="val 18182"/>
            </a:avLst>
          </a:prstGeom>
          <a:solidFill>
            <a:srgbClr val="0F7173"/>
          </a:solidFill>
          <a:ln/>
        </p:spPr>
        <p:txBody>
          <a:bodyPr/>
          <a:lstStyle/>
          <a:p>
            <a:endParaRPr lang="en-US"/>
          </a:p>
        </p:txBody>
      </p:sp>
      <p:sp>
        <p:nvSpPr>
          <p:cNvPr id="8" name="Shape 5"/>
          <p:cNvSpPr/>
          <p:nvPr/>
        </p:nvSpPr>
        <p:spPr>
          <a:xfrm>
            <a:off x="640080" y="1856232"/>
            <a:ext cx="5212080" cy="256032"/>
          </a:xfrm>
          <a:prstGeom prst="rect">
            <a:avLst/>
          </a:prstGeom>
          <a:solidFill>
            <a:srgbClr val="0F7173"/>
          </a:solidFill>
          <a:ln/>
        </p:spPr>
        <p:txBody>
          <a:bodyPr/>
          <a:lstStyle/>
          <a:p>
            <a:endParaRPr lang="en-US"/>
          </a:p>
        </p:txBody>
      </p:sp>
      <p:sp>
        <p:nvSpPr>
          <p:cNvPr id="9" name="Text 6"/>
          <p:cNvSpPr txBox="1"/>
          <p:nvPr/>
        </p:nvSpPr>
        <p:spPr>
          <a:xfrm>
            <a:off x="84124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Osteoarthritis (OA)</a:t>
            </a:r>
            <a:endParaRPr lang="en-US" sz="1600" dirty="0"/>
          </a:p>
        </p:txBody>
      </p:sp>
      <p:sp>
        <p:nvSpPr>
          <p:cNvPr id="10" name="Text 7"/>
          <p:cNvSpPr txBox="1"/>
          <p:nvPr/>
        </p:nvSpPr>
        <p:spPr>
          <a:xfrm>
            <a:off x="86868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Primarily degenerative joint disease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Cartilage breakdown with mechanical wear</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Treatment goal: pain control and function</a:t>
            </a:r>
            <a:endParaRPr lang="en-US" sz="1400" dirty="0"/>
          </a:p>
        </p:txBody>
      </p:sp>
      <p:sp>
        <p:nvSpPr>
          <p:cNvPr id="11" name="Shape 8"/>
          <p:cNvSpPr/>
          <p:nvPr/>
        </p:nvSpPr>
        <p:spPr>
          <a:xfrm>
            <a:off x="6309360" y="1600200"/>
            <a:ext cx="5212080" cy="4526280"/>
          </a:xfrm>
          <a:prstGeom prst="roundRect">
            <a:avLst>
              <a:gd name="adj" fmla="val 2020"/>
            </a:avLst>
          </a:prstGeom>
          <a:solidFill>
            <a:srgbClr val="E8F1F0"/>
          </a:solidFill>
          <a:ln/>
        </p:spPr>
        <p:txBody>
          <a:bodyPr/>
          <a:lstStyle/>
          <a:p>
            <a:endParaRPr lang="en-US"/>
          </a:p>
        </p:txBody>
      </p:sp>
      <p:sp>
        <p:nvSpPr>
          <p:cNvPr id="12" name="Shape 9"/>
          <p:cNvSpPr/>
          <p:nvPr/>
        </p:nvSpPr>
        <p:spPr>
          <a:xfrm>
            <a:off x="6309360" y="1600200"/>
            <a:ext cx="5212080" cy="502920"/>
          </a:xfrm>
          <a:prstGeom prst="roundRect">
            <a:avLst>
              <a:gd name="adj" fmla="val 18182"/>
            </a:avLst>
          </a:prstGeom>
          <a:solidFill>
            <a:srgbClr val="D1495B"/>
          </a:solidFill>
          <a:ln/>
        </p:spPr>
        <p:txBody>
          <a:bodyPr/>
          <a:lstStyle/>
          <a:p>
            <a:endParaRPr lang="en-US"/>
          </a:p>
        </p:txBody>
      </p:sp>
      <p:sp>
        <p:nvSpPr>
          <p:cNvPr id="13" name="Shape 10"/>
          <p:cNvSpPr/>
          <p:nvPr/>
        </p:nvSpPr>
        <p:spPr>
          <a:xfrm>
            <a:off x="6309360" y="1856232"/>
            <a:ext cx="5212080" cy="256032"/>
          </a:xfrm>
          <a:prstGeom prst="rect">
            <a:avLst/>
          </a:prstGeom>
          <a:solidFill>
            <a:srgbClr val="D1495B"/>
          </a:solidFill>
          <a:ln/>
        </p:spPr>
        <p:txBody>
          <a:bodyPr/>
          <a:lstStyle/>
          <a:p>
            <a:endParaRPr lang="en-US"/>
          </a:p>
        </p:txBody>
      </p:sp>
      <p:sp>
        <p:nvSpPr>
          <p:cNvPr id="14" name="Text 11"/>
          <p:cNvSpPr txBox="1"/>
          <p:nvPr/>
        </p:nvSpPr>
        <p:spPr>
          <a:xfrm>
            <a:off x="6510528" y="1600200"/>
            <a:ext cx="480974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Rheumatoid Arthritis (RA)</a:t>
            </a:r>
            <a:endParaRPr lang="en-US" sz="1600" dirty="0"/>
          </a:p>
        </p:txBody>
      </p:sp>
      <p:sp>
        <p:nvSpPr>
          <p:cNvPr id="15" name="Text 12"/>
          <p:cNvSpPr txBox="1"/>
          <p:nvPr/>
        </p:nvSpPr>
        <p:spPr>
          <a:xfrm>
            <a:off x="6537960" y="2286000"/>
            <a:ext cx="4754880" cy="36118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Autoimmune, systemic inflammatory disease</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Immune-mediated joint destruction</a:t>
            </a:r>
            <a:endParaRPr lang="en-US" sz="1400" dirty="0"/>
          </a:p>
          <a:p>
            <a:pPr marL="177800" indent="-177800">
              <a:spcAft>
                <a:spcPts val="700"/>
              </a:spcAft>
              <a:buSzPct val="100000"/>
              <a:buChar char="–"/>
            </a:pPr>
            <a:r>
              <a:rPr lang="en-US" sz="1400" dirty="0">
                <a:solidFill>
                  <a:srgbClr val="1A1A1A"/>
                </a:solidFill>
                <a:latin typeface="Calibri" pitchFamily="34" charset="0"/>
                <a:ea typeface="Calibri" pitchFamily="34" charset="-122"/>
                <a:cs typeface="Calibri" pitchFamily="34" charset="-120"/>
              </a:rPr>
              <a:t>Treatment goal: suppress disease activity, not just pain</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OA MANAGEMENT</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Pharmacologic Treatment of Osteoarthritis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bone.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Acetaminophen — reasonable first-line for mild OA pain</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Oral NSAIDs — effective, but carry the systemic risks already discussed</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Topical NSAIDs — effective local relief with much lower systemic exposure</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Intra-articular corticosteroid injections — short-term relief for flares in a single joint</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Other approaches — activity modification, physical therapy, weight management</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CONCEPT</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What Makes a Drug "Disease-Modifying"?</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shield.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DMARD: </a:t>
            </a:r>
            <a:r>
              <a:rPr lang="en-US" sz="1600" dirty="0">
                <a:solidFill>
                  <a:srgbClr val="1A1A1A"/>
                </a:solidFill>
                <a:latin typeface="Calibri" pitchFamily="34" charset="0"/>
                <a:ea typeface="Calibri" pitchFamily="34" charset="-122"/>
                <a:cs typeface="Calibri" pitchFamily="34" charset="-120"/>
              </a:rPr>
              <a:t>Disease-Modifying Antirheumatic Drug — a drug intended to alter the course of RA, not just mask its symptoms.</a:t>
            </a:r>
            <a:endParaRPr lang="en-US" sz="1600" dirty="0"/>
          </a:p>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Goal of therapy: </a:t>
            </a:r>
            <a:r>
              <a:rPr lang="en-US" sz="1600" dirty="0">
                <a:solidFill>
                  <a:srgbClr val="1A1A1A"/>
                </a:solidFill>
                <a:latin typeface="Calibri" pitchFamily="34" charset="0"/>
                <a:ea typeface="Calibri" pitchFamily="34" charset="-122"/>
                <a:cs typeface="Calibri" pitchFamily="34" charset="-120"/>
              </a:rPr>
              <a:t>slow or halt joint destruction and systemic inflammation, rather than providing analgesia alone.</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CONVENTIONAL DMARDS</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Conventional (Non-Biologic) DMARDs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capsules.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b="1" dirty="0">
                <a:solidFill>
                  <a:srgbClr val="1A1A1A"/>
                </a:solidFill>
                <a:latin typeface="Calibri" pitchFamily="34" charset="0"/>
                <a:ea typeface="Calibri" pitchFamily="34" charset="-122"/>
                <a:cs typeface="Calibri" pitchFamily="34" charset="-120"/>
              </a:rPr>
              <a:t>Methotrexate — the anchor drug for most RA regimens (next slide)</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Hydroxychloroquine — milder disease; relatively favorable safety profile</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Sulfasalazine — often used in combination regimens</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Leflunomide — alternative when methotrexate is not tolerated</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ANCHOR DRUG</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Methotrexate</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warning.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b="1" dirty="0">
                <a:solidFill>
                  <a:srgbClr val="1A1A1A"/>
                </a:solidFill>
                <a:latin typeface="Calibri" pitchFamily="34" charset="0"/>
                <a:ea typeface="Calibri" pitchFamily="34" charset="-122"/>
                <a:cs typeface="Calibri" pitchFamily="34" charset="-120"/>
              </a:rPr>
              <a:t>Mechanism: inhibits dihydrofolate reductase, reducing immune cell proliferation at low RA doses.</a:t>
            </a:r>
            <a:endParaRPr lang="en-US" sz="1600" dirty="0"/>
          </a:p>
          <a:p>
            <a:pPr marL="228600" indent="-228600" algn="l">
              <a:spcAft>
                <a:spcPts val="1200"/>
              </a:spcAft>
              <a:buSzPct val="100000"/>
              <a:buChar char="●"/>
            </a:pPr>
            <a:r>
              <a:rPr lang="en-US" sz="1600" b="1" dirty="0">
                <a:solidFill>
                  <a:srgbClr val="D1495B"/>
                </a:solidFill>
                <a:latin typeface="Calibri" pitchFamily="34" charset="0"/>
                <a:ea typeface="Calibri" pitchFamily="34" charset="-122"/>
                <a:cs typeface="Calibri" pitchFamily="34" charset="-120"/>
              </a:rPr>
              <a:t>Dosed weekly (not daily) — a critical patient-safety point, since daily dosing can be fatal.</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Folate supplementation is routinely co-prescribed to reduce toxicity.</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Key adverse effects: hepatotoxicity, bone marrow suppression, pulmonary toxicity.</a:t>
            </a:r>
            <a:endParaRPr lang="en-US" sz="1600" dirty="0"/>
          </a:p>
          <a:p>
            <a:pPr marL="228600" indent="-228600" algn="l">
              <a:spcAft>
                <a:spcPts val="1200"/>
              </a:spcAft>
              <a:buSzPct val="100000"/>
              <a:buChar char="●"/>
            </a:pPr>
            <a:r>
              <a:rPr lang="en-US" sz="1600" dirty="0">
                <a:solidFill>
                  <a:srgbClr val="D1495B"/>
                </a:solidFill>
                <a:latin typeface="Calibri" pitchFamily="34" charset="0"/>
                <a:ea typeface="Calibri" pitchFamily="34" charset="-122"/>
                <a:cs typeface="Calibri" pitchFamily="34" charset="-120"/>
              </a:rPr>
              <a:t>Contraindicated in pregnancy (teratogenic).</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TARGETED THERAPY</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Biologic DMARDs</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dna.png"/>
          <p:cNvPicPr>
            <a:picLocks noChangeAspect="1"/>
          </p:cNvPicPr>
          <p:nvPr/>
        </p:nvPicPr>
        <p:blipFill>
          <a:blip r:embed="rId3"/>
          <a:stretch>
            <a:fillRect/>
          </a:stretch>
        </p:blipFill>
        <p:spPr>
          <a:xfrm>
            <a:off x="11108863" y="638983"/>
            <a:ext cx="294803" cy="294803"/>
          </a:xfrm>
          <a:prstGeom prst="rect">
            <a:avLst/>
          </a:prstGeom>
        </p:spPr>
      </p:pic>
      <p:sp>
        <p:nvSpPr>
          <p:cNvPr id="6" name="Shape 3"/>
          <p:cNvSpPr/>
          <p:nvPr/>
        </p:nvSpPr>
        <p:spPr>
          <a:xfrm>
            <a:off x="640080" y="1600200"/>
            <a:ext cx="5257800" cy="2103120"/>
          </a:xfrm>
          <a:prstGeom prst="roundRect">
            <a:avLst>
              <a:gd name="adj" fmla="val 4348"/>
            </a:avLst>
          </a:prstGeom>
          <a:solidFill>
            <a:srgbClr val="E8F1F0"/>
          </a:solidFill>
          <a:ln/>
        </p:spPr>
        <p:txBody>
          <a:bodyPr/>
          <a:lstStyle/>
          <a:p>
            <a:endParaRPr lang="en-US"/>
          </a:p>
        </p:txBody>
      </p:sp>
      <p:sp>
        <p:nvSpPr>
          <p:cNvPr id="7" name="Shape 4"/>
          <p:cNvSpPr/>
          <p:nvPr/>
        </p:nvSpPr>
        <p:spPr>
          <a:xfrm>
            <a:off x="640080" y="1600200"/>
            <a:ext cx="5257800" cy="502920"/>
          </a:xfrm>
          <a:prstGeom prst="roundRect">
            <a:avLst>
              <a:gd name="adj" fmla="val 18182"/>
            </a:avLst>
          </a:prstGeom>
          <a:solidFill>
            <a:srgbClr val="0F7173"/>
          </a:solidFill>
          <a:ln/>
        </p:spPr>
        <p:txBody>
          <a:bodyPr/>
          <a:lstStyle/>
          <a:p>
            <a:endParaRPr lang="en-US"/>
          </a:p>
        </p:txBody>
      </p:sp>
      <p:sp>
        <p:nvSpPr>
          <p:cNvPr id="8" name="Shape 5"/>
          <p:cNvSpPr/>
          <p:nvPr/>
        </p:nvSpPr>
        <p:spPr>
          <a:xfrm>
            <a:off x="640080" y="1856232"/>
            <a:ext cx="5257800" cy="256032"/>
          </a:xfrm>
          <a:prstGeom prst="rect">
            <a:avLst/>
          </a:prstGeom>
          <a:solidFill>
            <a:srgbClr val="0F7173"/>
          </a:solidFill>
          <a:ln/>
        </p:spPr>
        <p:txBody>
          <a:bodyPr/>
          <a:lstStyle/>
          <a:p>
            <a:endParaRPr lang="en-US"/>
          </a:p>
        </p:txBody>
      </p:sp>
      <p:sp>
        <p:nvSpPr>
          <p:cNvPr id="9" name="Text 6"/>
          <p:cNvSpPr txBox="1"/>
          <p:nvPr/>
        </p:nvSpPr>
        <p:spPr>
          <a:xfrm>
            <a:off x="841248" y="1600200"/>
            <a:ext cx="485546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TNF Inhibitors</a:t>
            </a:r>
            <a:endParaRPr lang="en-US" sz="1600" dirty="0"/>
          </a:p>
        </p:txBody>
      </p:sp>
      <p:sp>
        <p:nvSpPr>
          <p:cNvPr id="10" name="Text 7"/>
          <p:cNvSpPr txBox="1"/>
          <p:nvPr/>
        </p:nvSpPr>
        <p:spPr>
          <a:xfrm>
            <a:off x="868680" y="2286000"/>
            <a:ext cx="4800600" cy="11887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Block tumor necrosis factor-alpha signaling</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Examples: adalimumab, etanercept, infliximab</a:t>
            </a:r>
            <a:endParaRPr lang="en-US" sz="1300" dirty="0"/>
          </a:p>
        </p:txBody>
      </p:sp>
      <p:sp>
        <p:nvSpPr>
          <p:cNvPr id="11" name="Shape 8"/>
          <p:cNvSpPr/>
          <p:nvPr/>
        </p:nvSpPr>
        <p:spPr>
          <a:xfrm>
            <a:off x="6263640" y="1600200"/>
            <a:ext cx="5257800" cy="2103120"/>
          </a:xfrm>
          <a:prstGeom prst="roundRect">
            <a:avLst>
              <a:gd name="adj" fmla="val 4348"/>
            </a:avLst>
          </a:prstGeom>
          <a:solidFill>
            <a:srgbClr val="E8F1F0"/>
          </a:solidFill>
          <a:ln/>
        </p:spPr>
        <p:txBody>
          <a:bodyPr/>
          <a:lstStyle/>
          <a:p>
            <a:endParaRPr lang="en-US"/>
          </a:p>
        </p:txBody>
      </p:sp>
      <p:sp>
        <p:nvSpPr>
          <p:cNvPr id="12" name="Shape 9"/>
          <p:cNvSpPr/>
          <p:nvPr/>
        </p:nvSpPr>
        <p:spPr>
          <a:xfrm>
            <a:off x="6263640" y="1600200"/>
            <a:ext cx="5257800" cy="502920"/>
          </a:xfrm>
          <a:prstGeom prst="roundRect">
            <a:avLst>
              <a:gd name="adj" fmla="val 18182"/>
            </a:avLst>
          </a:prstGeom>
          <a:solidFill>
            <a:srgbClr val="2A6F97"/>
          </a:solidFill>
          <a:ln/>
        </p:spPr>
        <p:txBody>
          <a:bodyPr/>
          <a:lstStyle/>
          <a:p>
            <a:endParaRPr lang="en-US"/>
          </a:p>
        </p:txBody>
      </p:sp>
      <p:sp>
        <p:nvSpPr>
          <p:cNvPr id="13" name="Shape 10"/>
          <p:cNvSpPr/>
          <p:nvPr/>
        </p:nvSpPr>
        <p:spPr>
          <a:xfrm>
            <a:off x="6263640" y="1856232"/>
            <a:ext cx="5257800" cy="256032"/>
          </a:xfrm>
          <a:prstGeom prst="rect">
            <a:avLst/>
          </a:prstGeom>
          <a:solidFill>
            <a:srgbClr val="2A6F97"/>
          </a:solidFill>
          <a:ln/>
        </p:spPr>
        <p:txBody>
          <a:bodyPr/>
          <a:lstStyle/>
          <a:p>
            <a:endParaRPr lang="en-US"/>
          </a:p>
        </p:txBody>
      </p:sp>
      <p:sp>
        <p:nvSpPr>
          <p:cNvPr id="14" name="Text 11"/>
          <p:cNvSpPr txBox="1"/>
          <p:nvPr/>
        </p:nvSpPr>
        <p:spPr>
          <a:xfrm>
            <a:off x="6464808" y="1600200"/>
            <a:ext cx="485546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IL-6 Inhibitors</a:t>
            </a:r>
            <a:endParaRPr lang="en-US" sz="1600" dirty="0"/>
          </a:p>
        </p:txBody>
      </p:sp>
      <p:sp>
        <p:nvSpPr>
          <p:cNvPr id="15" name="Text 12"/>
          <p:cNvSpPr txBox="1"/>
          <p:nvPr/>
        </p:nvSpPr>
        <p:spPr>
          <a:xfrm>
            <a:off x="6492240" y="2286000"/>
            <a:ext cx="4800600" cy="11887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Block interleukin-6 receptor signaling</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Example: tocilizumab</a:t>
            </a:r>
            <a:endParaRPr lang="en-US" sz="1300" dirty="0"/>
          </a:p>
        </p:txBody>
      </p:sp>
      <p:sp>
        <p:nvSpPr>
          <p:cNvPr id="16" name="Shape 13"/>
          <p:cNvSpPr/>
          <p:nvPr/>
        </p:nvSpPr>
        <p:spPr>
          <a:xfrm>
            <a:off x="640080" y="4023360"/>
            <a:ext cx="5257800" cy="2103120"/>
          </a:xfrm>
          <a:prstGeom prst="roundRect">
            <a:avLst>
              <a:gd name="adj" fmla="val 4348"/>
            </a:avLst>
          </a:prstGeom>
          <a:solidFill>
            <a:srgbClr val="E8F1F0"/>
          </a:solidFill>
          <a:ln/>
        </p:spPr>
        <p:txBody>
          <a:bodyPr/>
          <a:lstStyle/>
          <a:p>
            <a:endParaRPr lang="en-US"/>
          </a:p>
        </p:txBody>
      </p:sp>
      <p:sp>
        <p:nvSpPr>
          <p:cNvPr id="17" name="Shape 14"/>
          <p:cNvSpPr/>
          <p:nvPr/>
        </p:nvSpPr>
        <p:spPr>
          <a:xfrm>
            <a:off x="640080" y="4023360"/>
            <a:ext cx="5257800" cy="502920"/>
          </a:xfrm>
          <a:prstGeom prst="roundRect">
            <a:avLst>
              <a:gd name="adj" fmla="val 18182"/>
            </a:avLst>
          </a:prstGeom>
          <a:solidFill>
            <a:srgbClr val="6B9080"/>
          </a:solidFill>
          <a:ln/>
        </p:spPr>
        <p:txBody>
          <a:bodyPr/>
          <a:lstStyle/>
          <a:p>
            <a:endParaRPr lang="en-US"/>
          </a:p>
        </p:txBody>
      </p:sp>
      <p:sp>
        <p:nvSpPr>
          <p:cNvPr id="18" name="Shape 15"/>
          <p:cNvSpPr/>
          <p:nvPr/>
        </p:nvSpPr>
        <p:spPr>
          <a:xfrm>
            <a:off x="640080" y="4279392"/>
            <a:ext cx="5257800" cy="256032"/>
          </a:xfrm>
          <a:prstGeom prst="rect">
            <a:avLst/>
          </a:prstGeom>
          <a:solidFill>
            <a:srgbClr val="6B9080"/>
          </a:solidFill>
          <a:ln/>
        </p:spPr>
        <p:txBody>
          <a:bodyPr/>
          <a:lstStyle/>
          <a:p>
            <a:endParaRPr lang="en-US"/>
          </a:p>
        </p:txBody>
      </p:sp>
      <p:sp>
        <p:nvSpPr>
          <p:cNvPr id="19" name="Text 16"/>
          <p:cNvSpPr txBox="1"/>
          <p:nvPr/>
        </p:nvSpPr>
        <p:spPr>
          <a:xfrm>
            <a:off x="841248" y="4023360"/>
            <a:ext cx="485546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B-Cell Targeted Therapy</a:t>
            </a:r>
            <a:endParaRPr lang="en-US" sz="1600" dirty="0"/>
          </a:p>
        </p:txBody>
      </p:sp>
      <p:sp>
        <p:nvSpPr>
          <p:cNvPr id="20" name="Text 17"/>
          <p:cNvSpPr txBox="1"/>
          <p:nvPr/>
        </p:nvSpPr>
        <p:spPr>
          <a:xfrm>
            <a:off x="868680" y="4709160"/>
            <a:ext cx="4800600" cy="11887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Depletes or modulates B lymphocytes</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Example: rituximab</a:t>
            </a:r>
            <a:endParaRPr lang="en-US" sz="1300" dirty="0"/>
          </a:p>
        </p:txBody>
      </p:sp>
      <p:sp>
        <p:nvSpPr>
          <p:cNvPr id="21" name="Shape 18"/>
          <p:cNvSpPr/>
          <p:nvPr/>
        </p:nvSpPr>
        <p:spPr>
          <a:xfrm>
            <a:off x="6263640" y="4023360"/>
            <a:ext cx="5257800" cy="2103120"/>
          </a:xfrm>
          <a:prstGeom prst="roundRect">
            <a:avLst>
              <a:gd name="adj" fmla="val 4348"/>
            </a:avLst>
          </a:prstGeom>
          <a:solidFill>
            <a:srgbClr val="E8F1F0"/>
          </a:solidFill>
          <a:ln/>
        </p:spPr>
        <p:txBody>
          <a:bodyPr/>
          <a:lstStyle/>
          <a:p>
            <a:endParaRPr lang="en-US"/>
          </a:p>
        </p:txBody>
      </p:sp>
      <p:sp>
        <p:nvSpPr>
          <p:cNvPr id="22" name="Shape 19"/>
          <p:cNvSpPr/>
          <p:nvPr/>
        </p:nvSpPr>
        <p:spPr>
          <a:xfrm>
            <a:off x="6263640" y="4023360"/>
            <a:ext cx="5257800" cy="502920"/>
          </a:xfrm>
          <a:prstGeom prst="roundRect">
            <a:avLst>
              <a:gd name="adj" fmla="val 18182"/>
            </a:avLst>
          </a:prstGeom>
          <a:solidFill>
            <a:srgbClr val="D1495B"/>
          </a:solidFill>
          <a:ln/>
        </p:spPr>
        <p:txBody>
          <a:bodyPr/>
          <a:lstStyle/>
          <a:p>
            <a:endParaRPr lang="en-US"/>
          </a:p>
        </p:txBody>
      </p:sp>
      <p:sp>
        <p:nvSpPr>
          <p:cNvPr id="23" name="Shape 20"/>
          <p:cNvSpPr/>
          <p:nvPr/>
        </p:nvSpPr>
        <p:spPr>
          <a:xfrm>
            <a:off x="6263640" y="4279392"/>
            <a:ext cx="5257800" cy="256032"/>
          </a:xfrm>
          <a:prstGeom prst="rect">
            <a:avLst/>
          </a:prstGeom>
          <a:solidFill>
            <a:srgbClr val="D1495B"/>
          </a:solidFill>
          <a:ln/>
        </p:spPr>
        <p:txBody>
          <a:bodyPr/>
          <a:lstStyle/>
          <a:p>
            <a:endParaRPr lang="en-US"/>
          </a:p>
        </p:txBody>
      </p:sp>
      <p:sp>
        <p:nvSpPr>
          <p:cNvPr id="24" name="Text 21"/>
          <p:cNvSpPr txBox="1"/>
          <p:nvPr/>
        </p:nvSpPr>
        <p:spPr>
          <a:xfrm>
            <a:off x="6464808" y="4023360"/>
            <a:ext cx="4855464"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T-Cell Costimulation Modulators</a:t>
            </a:r>
            <a:endParaRPr lang="en-US" sz="1600" dirty="0"/>
          </a:p>
        </p:txBody>
      </p:sp>
      <p:sp>
        <p:nvSpPr>
          <p:cNvPr id="25" name="Text 22"/>
          <p:cNvSpPr txBox="1"/>
          <p:nvPr/>
        </p:nvSpPr>
        <p:spPr>
          <a:xfrm>
            <a:off x="6492240" y="4709160"/>
            <a:ext cx="4800600" cy="11887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Block the second signal needed for T-cell activation</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Example: abatacept</a:t>
            </a:r>
            <a:endParaRPr lang="en-US" sz="1300" dirty="0"/>
          </a:p>
        </p:txBody>
      </p:sp>
      <p:sp>
        <p:nvSpPr>
          <p:cNvPr id="26"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ORIGINAL ILLUSTRATION · FIGURE 3</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Biologic DMARDs: Where Each Class Intercepts the Immune Cascade</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dna.png"/>
          <p:cNvPicPr>
            <a:picLocks noChangeAspect="1"/>
          </p:cNvPicPr>
          <p:nvPr/>
        </p:nvPicPr>
        <p:blipFill>
          <a:blip r:embed="rId3"/>
          <a:stretch>
            <a:fillRect/>
          </a:stretch>
        </p:blipFill>
        <p:spPr>
          <a:xfrm>
            <a:off x="11108863" y="638983"/>
            <a:ext cx="294803" cy="294803"/>
          </a:xfrm>
          <a:prstGeom prst="rect">
            <a:avLst/>
          </a:prstGeom>
        </p:spPr>
      </p:pic>
      <p:pic>
        <p:nvPicPr>
          <p:cNvPr id="6" name="Image 1" descr="/home/claude/pharm_decks/assets/figures2/dmard_targets.png"/>
          <p:cNvPicPr>
            <a:picLocks noChangeAspect="1"/>
          </p:cNvPicPr>
          <p:nvPr/>
        </p:nvPicPr>
        <p:blipFill>
          <a:blip r:embed="rId4"/>
          <a:stretch>
            <a:fillRect/>
          </a:stretch>
        </p:blipFill>
        <p:spPr>
          <a:xfrm>
            <a:off x="1989582" y="1554480"/>
            <a:ext cx="8182356" cy="4160520"/>
          </a:xfrm>
          <a:prstGeom prst="rect">
            <a:avLst/>
          </a:prstGeom>
        </p:spPr>
      </p:pic>
      <p:sp>
        <p:nvSpPr>
          <p:cNvPr id="7" name="Text 3"/>
          <p:cNvSpPr txBox="1"/>
          <p:nvPr/>
        </p:nvSpPr>
        <p:spPr>
          <a:xfrm>
            <a:off x="640080" y="5788152"/>
            <a:ext cx="10881360" cy="502920"/>
          </a:xfrm>
          <a:prstGeom prst="rect">
            <a:avLst/>
          </a:prstGeom>
          <a:noFill/>
          <a:ln/>
        </p:spPr>
        <p:txBody>
          <a:bodyPr wrap="square" lIns="0" tIns="0" rIns="0" bIns="0" rtlCol="0" anchor="ctr"/>
          <a:lstStyle/>
          <a:p>
            <a:pPr marL="0" indent="0" algn="ctr">
              <a:buNone/>
            </a:pPr>
            <a:r>
              <a:rPr lang="en-US" sz="1350" i="1" dirty="0">
                <a:solidFill>
                  <a:srgbClr val="5C6B73"/>
                </a:solidFill>
                <a:latin typeface="Calibri" pitchFamily="34" charset="0"/>
                <a:ea typeface="Calibri" pitchFamily="34" charset="-122"/>
                <a:cs typeface="Calibri" pitchFamily="34" charset="-120"/>
              </a:rPr>
              <a:t>Figure 3. Original illustrative diagram (not from Katzung): abatacept blocks T-cell costimulation, TNF inhibitors (adalimumab, etanercept, infliximab) and tocilizumab block cytokine signaling, and rituximab depletes B cells.</a:t>
            </a:r>
            <a:endParaRPr lang="en-US" sz="13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SHARED RISK</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DMARD Safety: Immunosuppression</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shield.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228600" indent="-228600" algn="l">
              <a:spcAft>
                <a:spcPts val="1200"/>
              </a:spcAft>
              <a:buSzPct val="100000"/>
              <a:buChar char="●"/>
            </a:pPr>
            <a:r>
              <a:rPr lang="en-US" sz="1600" b="1" dirty="0">
                <a:solidFill>
                  <a:srgbClr val="D1495B"/>
                </a:solidFill>
                <a:latin typeface="Calibri" pitchFamily="34" charset="0"/>
                <a:ea typeface="Calibri" pitchFamily="34" charset="-122"/>
                <a:cs typeface="Calibri" pitchFamily="34" charset="-120"/>
              </a:rPr>
              <a:t>The major safety theme across all DMARDs: immunosuppression → increased infection risk.</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Baseline screening — e.g., tuberculosis and hepatitis B/C screening before starting biologics</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Vaccination — update vaccines, especially live vaccines, before starting therapy</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Ongoing monitoring — regular labs to catch cytopenias, hepatotoxicity, or infection early</a:t>
            </a:r>
            <a:endParaRPr lang="en-US" sz="1600" dirty="0"/>
          </a:p>
          <a:p>
            <a:pPr marL="228600" indent="-228600" algn="l">
              <a:spcAft>
                <a:spcPts val="1200"/>
              </a:spcAft>
              <a:buSzPct val="100000"/>
              <a:buChar char="●"/>
            </a:pPr>
            <a:r>
              <a:rPr lang="en-US" sz="1600" dirty="0">
                <a:solidFill>
                  <a:srgbClr val="1A1A1A"/>
                </a:solidFill>
                <a:latin typeface="Calibri" pitchFamily="34" charset="0"/>
                <a:ea typeface="Calibri" pitchFamily="34" charset="-122"/>
                <a:cs typeface="Calibri" pitchFamily="34" charset="-120"/>
              </a:rPr>
              <a:t>Infection precautions — counsel patients to report fevers or infection symptoms promptly</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22960" y="502920"/>
            <a:ext cx="9144000" cy="292608"/>
          </a:xfrm>
          <a:prstGeom prst="rect">
            <a:avLst/>
          </a:prstGeom>
          <a:noFill/>
          <a:ln/>
        </p:spPr>
        <p:txBody>
          <a:bodyPr wrap="square" rtlCol="0"/>
          <a:lstStyle/>
          <a:p>
            <a:pPr marL="0" indent="0" algn="l">
              <a:buNone/>
            </a:pPr>
            <a:r>
              <a:rPr lang="en-US" sz="1200" b="1" kern="0" spc="150" dirty="0">
                <a:solidFill>
                  <a:srgbClr val="E9A23B"/>
                </a:solidFill>
                <a:latin typeface="Calibri" pitchFamily="34" charset="0"/>
                <a:ea typeface="Calibri" pitchFamily="34" charset="-122"/>
                <a:cs typeface="Calibri" pitchFamily="34" charset="-120"/>
              </a:rPr>
              <a:t>BIG PICTURE</a:t>
            </a:r>
            <a:endParaRPr lang="en-US" sz="1200" dirty="0"/>
          </a:p>
        </p:txBody>
      </p:sp>
      <p:sp>
        <p:nvSpPr>
          <p:cNvPr id="3" name="Text 0"/>
          <p:cNvSpPr>
            <a:spLocks noGrp="1"/>
          </p:cNvSpPr>
          <p:nvPr>
            <p:ph type="title" idx="101" hasCustomPrompt="1"/>
          </p:nvPr>
        </p:nvSpPr>
        <p:spPr>
          <a:xfrm>
            <a:off x="822960" y="804672"/>
            <a:ext cx="10058400" cy="777240"/>
          </a:xfrm>
          <a:prstGeom prst="rect">
            <a:avLst/>
          </a:prstGeom>
          <a:noFill/>
          <a:ln/>
        </p:spPr>
        <p:txBody>
          <a:bodyPr wrap="square"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Session 1 Recap — To Be Continued</a:t>
            </a:r>
            <a:endParaRPr lang="en-US" sz="2800" dirty="0"/>
          </a:p>
        </p:txBody>
      </p:sp>
      <p:sp>
        <p:nvSpPr>
          <p:cNvPr id="4" name="Shape 2"/>
          <p:cNvSpPr/>
          <p:nvPr/>
        </p:nvSpPr>
        <p:spPr>
          <a:xfrm>
            <a:off x="822960" y="1956816"/>
            <a:ext cx="566928" cy="566928"/>
          </a:xfrm>
          <a:prstGeom prst="ellipse">
            <a:avLst/>
          </a:prstGeom>
          <a:solidFill>
            <a:srgbClr val="E9A23B"/>
          </a:solidFill>
          <a:ln/>
        </p:spPr>
        <p:txBody>
          <a:bodyPr/>
          <a:lstStyle/>
          <a:p>
            <a:endParaRPr lang="en-US"/>
          </a:p>
        </p:txBody>
      </p:sp>
      <p:sp>
        <p:nvSpPr>
          <p:cNvPr id="5" name="Text 3"/>
          <p:cNvSpPr txBox="1"/>
          <p:nvPr/>
        </p:nvSpPr>
        <p:spPr>
          <a:xfrm>
            <a:off x="822960" y="1956816"/>
            <a:ext cx="566928" cy="566928"/>
          </a:xfrm>
          <a:prstGeom prst="rect">
            <a:avLst/>
          </a:prstGeom>
          <a:noFill/>
          <a:ln/>
        </p:spPr>
        <p:txBody>
          <a:bodyPr wrap="square" lIns="0" tIns="0" rIns="0" bIns="0" rtlCol="0" anchor="ctr"/>
          <a:lstStyle/>
          <a:p>
            <a:pPr marL="0" indent="0" algn="ctr">
              <a:buNone/>
            </a:pPr>
            <a:r>
              <a:rPr lang="en-US" sz="2000" b="1" dirty="0">
                <a:solidFill>
                  <a:srgbClr val="123C44"/>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691640" y="1783080"/>
            <a:ext cx="9692640" cy="91440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Musculoskeletal pain is driven by inflammatory mediators (prostaglandins, bradykinin, histamine, cytokines) — NSAIDs and corticosteroids intervene at different points along this cascade.</a:t>
            </a:r>
            <a:endParaRPr lang="en-US" sz="1650" dirty="0"/>
          </a:p>
        </p:txBody>
      </p:sp>
      <p:sp>
        <p:nvSpPr>
          <p:cNvPr id="7" name="Shape 5"/>
          <p:cNvSpPr/>
          <p:nvPr/>
        </p:nvSpPr>
        <p:spPr>
          <a:xfrm>
            <a:off x="822960" y="2871216"/>
            <a:ext cx="566928" cy="566928"/>
          </a:xfrm>
          <a:prstGeom prst="ellipse">
            <a:avLst/>
          </a:prstGeom>
          <a:solidFill>
            <a:srgbClr val="E9A23B"/>
          </a:solidFill>
          <a:ln/>
        </p:spPr>
        <p:txBody>
          <a:bodyPr/>
          <a:lstStyle/>
          <a:p>
            <a:endParaRPr lang="en-US"/>
          </a:p>
        </p:txBody>
      </p:sp>
      <p:sp>
        <p:nvSpPr>
          <p:cNvPr id="8" name="Text 6"/>
          <p:cNvSpPr txBox="1"/>
          <p:nvPr/>
        </p:nvSpPr>
        <p:spPr>
          <a:xfrm>
            <a:off x="822960" y="2871216"/>
            <a:ext cx="566928" cy="566928"/>
          </a:xfrm>
          <a:prstGeom prst="rect">
            <a:avLst/>
          </a:prstGeom>
          <a:noFill/>
          <a:ln/>
        </p:spPr>
        <p:txBody>
          <a:bodyPr wrap="square" lIns="0" tIns="0" rIns="0" bIns="0" rtlCol="0" anchor="ctr"/>
          <a:lstStyle/>
          <a:p>
            <a:pPr marL="0" indent="0" algn="ctr">
              <a:buNone/>
            </a:pPr>
            <a:r>
              <a:rPr lang="en-US" sz="2000" b="1" dirty="0">
                <a:solidFill>
                  <a:srgbClr val="123C44"/>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691640" y="2697480"/>
            <a:ext cx="9692640" cy="91440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Acetaminophen treats pain and fever but is not a reliable anti-inflammatory agent; its overdose toxicity is mediated by NAPQI accumulation.</a:t>
            </a:r>
            <a:endParaRPr lang="en-US" sz="1650" dirty="0"/>
          </a:p>
        </p:txBody>
      </p:sp>
      <p:sp>
        <p:nvSpPr>
          <p:cNvPr id="10" name="Shape 8"/>
          <p:cNvSpPr/>
          <p:nvPr/>
        </p:nvSpPr>
        <p:spPr>
          <a:xfrm>
            <a:off x="822960" y="3785616"/>
            <a:ext cx="566928" cy="566928"/>
          </a:xfrm>
          <a:prstGeom prst="ellipse">
            <a:avLst/>
          </a:prstGeom>
          <a:solidFill>
            <a:srgbClr val="E9A23B"/>
          </a:solidFill>
          <a:ln/>
        </p:spPr>
        <p:txBody>
          <a:bodyPr/>
          <a:lstStyle/>
          <a:p>
            <a:endParaRPr lang="en-US"/>
          </a:p>
        </p:txBody>
      </p:sp>
      <p:sp>
        <p:nvSpPr>
          <p:cNvPr id="11" name="Text 9"/>
          <p:cNvSpPr txBox="1"/>
          <p:nvPr/>
        </p:nvSpPr>
        <p:spPr>
          <a:xfrm>
            <a:off x="822960" y="3785616"/>
            <a:ext cx="566928" cy="566928"/>
          </a:xfrm>
          <a:prstGeom prst="rect">
            <a:avLst/>
          </a:prstGeom>
          <a:noFill/>
          <a:ln/>
        </p:spPr>
        <p:txBody>
          <a:bodyPr wrap="square" lIns="0" tIns="0" rIns="0" bIns="0" rtlCol="0" anchor="ctr"/>
          <a:lstStyle/>
          <a:p>
            <a:pPr marL="0" indent="0" algn="ctr">
              <a:buNone/>
            </a:pPr>
            <a:r>
              <a:rPr lang="en-US" sz="2000" b="1" dirty="0">
                <a:solidFill>
                  <a:srgbClr val="123C44"/>
                </a:solidFill>
                <a:latin typeface="Cambria" pitchFamily="34" charset="0"/>
                <a:ea typeface="Cambria" pitchFamily="34" charset="-122"/>
                <a:cs typeface="Cambria" pitchFamily="34" charset="-120"/>
              </a:rPr>
              <a:t>3</a:t>
            </a:r>
            <a:endParaRPr lang="en-US" sz="2000" dirty="0"/>
          </a:p>
        </p:txBody>
      </p:sp>
      <p:sp>
        <p:nvSpPr>
          <p:cNvPr id="12" name="Text 10"/>
          <p:cNvSpPr txBox="1"/>
          <p:nvPr/>
        </p:nvSpPr>
        <p:spPr>
          <a:xfrm>
            <a:off x="1691640" y="3611880"/>
            <a:ext cx="9692640" cy="91440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NSAIDs are effective but carry real GI, renal, and cardiovascular risk; celecoxib trades GI risk for cardiovascular risk.</a:t>
            </a:r>
            <a:endParaRPr lang="en-US" sz="1650" dirty="0"/>
          </a:p>
        </p:txBody>
      </p:sp>
      <p:sp>
        <p:nvSpPr>
          <p:cNvPr id="13" name="Shape 11"/>
          <p:cNvSpPr/>
          <p:nvPr/>
        </p:nvSpPr>
        <p:spPr>
          <a:xfrm>
            <a:off x="822960" y="4700016"/>
            <a:ext cx="566928" cy="566928"/>
          </a:xfrm>
          <a:prstGeom prst="ellipse">
            <a:avLst/>
          </a:prstGeom>
          <a:solidFill>
            <a:srgbClr val="E9A23B"/>
          </a:solidFill>
          <a:ln/>
        </p:spPr>
        <p:txBody>
          <a:bodyPr/>
          <a:lstStyle/>
          <a:p>
            <a:endParaRPr lang="en-US"/>
          </a:p>
        </p:txBody>
      </p:sp>
      <p:sp>
        <p:nvSpPr>
          <p:cNvPr id="14" name="Text 12"/>
          <p:cNvSpPr txBox="1"/>
          <p:nvPr/>
        </p:nvSpPr>
        <p:spPr>
          <a:xfrm>
            <a:off x="822960" y="4700016"/>
            <a:ext cx="566928" cy="566928"/>
          </a:xfrm>
          <a:prstGeom prst="rect">
            <a:avLst/>
          </a:prstGeom>
          <a:noFill/>
          <a:ln/>
        </p:spPr>
        <p:txBody>
          <a:bodyPr wrap="square" lIns="0" tIns="0" rIns="0" bIns="0" rtlCol="0" anchor="ctr"/>
          <a:lstStyle/>
          <a:p>
            <a:pPr marL="0" indent="0" algn="ctr">
              <a:buNone/>
            </a:pPr>
            <a:r>
              <a:rPr lang="en-US" sz="2000" b="1" dirty="0">
                <a:solidFill>
                  <a:srgbClr val="123C44"/>
                </a:solidFill>
                <a:latin typeface="Cambria" pitchFamily="34" charset="0"/>
                <a:ea typeface="Cambria" pitchFamily="34" charset="-122"/>
                <a:cs typeface="Cambria" pitchFamily="34" charset="-120"/>
              </a:rPr>
              <a:t>4</a:t>
            </a:r>
            <a:endParaRPr lang="en-US" sz="2000" dirty="0"/>
          </a:p>
        </p:txBody>
      </p:sp>
      <p:sp>
        <p:nvSpPr>
          <p:cNvPr id="15" name="Text 13"/>
          <p:cNvSpPr txBox="1"/>
          <p:nvPr/>
        </p:nvSpPr>
        <p:spPr>
          <a:xfrm>
            <a:off x="1691640" y="4526280"/>
            <a:ext cx="9692640" cy="91440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DMARDs (conventional and biologic — methotrexate, adalimumab, etanercept, infliximab, tocilizumab, rituximab, abatacept) modify RA’s disease course rather than only masking symptoms.</a:t>
            </a:r>
            <a:endParaRPr lang="en-US" sz="1650" dirty="0"/>
          </a:p>
        </p:txBody>
      </p:sp>
      <p:sp>
        <p:nvSpPr>
          <p:cNvPr id="16" name="Shape 14"/>
          <p:cNvSpPr/>
          <p:nvPr/>
        </p:nvSpPr>
        <p:spPr>
          <a:xfrm>
            <a:off x="822960" y="5614416"/>
            <a:ext cx="566928" cy="566928"/>
          </a:xfrm>
          <a:prstGeom prst="ellipse">
            <a:avLst/>
          </a:prstGeom>
          <a:solidFill>
            <a:srgbClr val="E9A23B"/>
          </a:solidFill>
          <a:ln/>
        </p:spPr>
        <p:txBody>
          <a:bodyPr/>
          <a:lstStyle/>
          <a:p>
            <a:endParaRPr lang="en-US"/>
          </a:p>
        </p:txBody>
      </p:sp>
      <p:sp>
        <p:nvSpPr>
          <p:cNvPr id="17" name="Text 15"/>
          <p:cNvSpPr txBox="1"/>
          <p:nvPr/>
        </p:nvSpPr>
        <p:spPr>
          <a:xfrm>
            <a:off x="822960" y="5614416"/>
            <a:ext cx="566928" cy="566928"/>
          </a:xfrm>
          <a:prstGeom prst="rect">
            <a:avLst/>
          </a:prstGeom>
          <a:noFill/>
          <a:ln/>
        </p:spPr>
        <p:txBody>
          <a:bodyPr wrap="square" lIns="0" tIns="0" rIns="0" bIns="0" rtlCol="0" anchor="ctr"/>
          <a:lstStyle/>
          <a:p>
            <a:pPr marL="0" indent="0" algn="ctr">
              <a:buNone/>
            </a:pPr>
            <a:r>
              <a:rPr lang="en-US" sz="2000" b="1" dirty="0">
                <a:solidFill>
                  <a:srgbClr val="123C44"/>
                </a:solidFill>
                <a:latin typeface="Cambria" pitchFamily="34" charset="0"/>
                <a:ea typeface="Cambria" pitchFamily="34" charset="-122"/>
                <a:cs typeface="Cambria" pitchFamily="34" charset="-120"/>
              </a:rPr>
              <a:t>5</a:t>
            </a:r>
            <a:endParaRPr lang="en-US" sz="2000" dirty="0"/>
          </a:p>
        </p:txBody>
      </p:sp>
      <p:sp>
        <p:nvSpPr>
          <p:cNvPr id="18" name="Text 16"/>
          <p:cNvSpPr txBox="1"/>
          <p:nvPr/>
        </p:nvSpPr>
        <p:spPr>
          <a:xfrm>
            <a:off x="1691640" y="5440680"/>
            <a:ext cx="9692640" cy="91440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Session 2 (Thursday, October 29) continues with gout, skeletal muscle relaxants, bone pharmacology, and the cumulative Lecture Recall Quiz.</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365760"/>
            <a:ext cx="9144000" cy="292608"/>
          </a:xfrm>
          <a:prstGeom prst="rect">
            <a:avLst/>
          </a:prstGeom>
          <a:noFill/>
          <a:ln/>
        </p:spPr>
        <p:txBody>
          <a:bodyPr wrap="square" rtlCol="0"/>
          <a:lstStyle/>
          <a:p>
            <a:pPr marL="0" indent="0" algn="l">
              <a:buNone/>
            </a:pPr>
            <a:r>
              <a:rPr lang="en-US" sz="1200" b="1" kern="0" spc="150" dirty="0">
                <a:solidFill>
                  <a:srgbClr val="0F7173"/>
                </a:solidFill>
                <a:latin typeface="Calibri" pitchFamily="34" charset="0"/>
                <a:ea typeface="Calibri" pitchFamily="34" charset="-122"/>
                <a:cs typeface="Calibri" pitchFamily="34" charset="-120"/>
              </a:rPr>
              <a:t>APPENDIX</a:t>
            </a:r>
            <a:endParaRPr lang="en-US" sz="1200" dirty="0"/>
          </a:p>
        </p:txBody>
      </p:sp>
      <p:sp>
        <p:nvSpPr>
          <p:cNvPr id="3" name="Text 0"/>
          <p:cNvSpPr>
            <a:spLocks noGrp="1"/>
          </p:cNvSpPr>
          <p:nvPr>
            <p:ph type="title" idx="101" hasCustomPrompt="1"/>
          </p:nvPr>
        </p:nvSpPr>
        <p:spPr>
          <a:xfrm>
            <a:off x="640080" y="658368"/>
            <a:ext cx="10241280" cy="777240"/>
          </a:xfrm>
          <a:prstGeom prst="rect">
            <a:avLst/>
          </a:prstGeom>
          <a:noFill/>
          <a:ln/>
        </p:spPr>
        <p:txBody>
          <a:bodyPr wrap="square" rtlCol="0" anchor="t"/>
          <a:lstStyle/>
          <a:p>
            <a:pPr marL="0" indent="0" algn="l">
              <a:buNone/>
            </a:pPr>
            <a:r>
              <a:rPr lang="en-US" sz="2800" b="1" dirty="0">
                <a:solidFill>
                  <a:srgbClr val="123C44"/>
                </a:solidFill>
                <a:latin typeface="Cambria" pitchFamily="34" charset="0"/>
                <a:ea typeface="Cambria" pitchFamily="34" charset="-122"/>
                <a:cs typeface="Cambria" pitchFamily="34" charset="-120"/>
              </a:rPr>
              <a:t>Image Attribution</a:t>
            </a:r>
            <a:endParaRPr lang="en-US" sz="2800" dirty="0"/>
          </a:p>
        </p:txBody>
      </p:sp>
      <p:sp>
        <p:nvSpPr>
          <p:cNvPr id="4" name="Shape 2"/>
          <p:cNvSpPr/>
          <p:nvPr/>
        </p:nvSpPr>
        <p:spPr>
          <a:xfrm>
            <a:off x="10972800" y="502920"/>
            <a:ext cx="566928" cy="566928"/>
          </a:xfrm>
          <a:prstGeom prst="ellipse">
            <a:avLst/>
          </a:prstGeom>
          <a:solidFill>
            <a:srgbClr val="E9A23B"/>
          </a:solidFill>
          <a:ln/>
        </p:spPr>
        <p:txBody>
          <a:bodyPr/>
          <a:lstStyle/>
          <a:p>
            <a:endParaRPr lang="en-US"/>
          </a:p>
        </p:txBody>
      </p:sp>
      <p:pic>
        <p:nvPicPr>
          <p:cNvPr id="5" name="Image 0" descr="/home/claude/pharm_decks/assets/icons/flask.png"/>
          <p:cNvPicPr>
            <a:picLocks noChangeAspect="1"/>
          </p:cNvPicPr>
          <p:nvPr/>
        </p:nvPicPr>
        <p:blipFill>
          <a:blip r:embed="rId3"/>
          <a:stretch>
            <a:fillRect/>
          </a:stretch>
        </p:blipFill>
        <p:spPr>
          <a:xfrm>
            <a:off x="11108863" y="638983"/>
            <a:ext cx="294803" cy="294803"/>
          </a:xfrm>
          <a:prstGeom prst="rect">
            <a:avLst/>
          </a:prstGeom>
        </p:spPr>
      </p:pic>
      <p:sp>
        <p:nvSpPr>
          <p:cNvPr id="6" name="Text 0"/>
          <p:cNvSpPr>
            <a:spLocks noGrp="1"/>
          </p:cNvSpPr>
          <p:nvPr>
            <p:ph type="body" idx="102" hasCustomPrompt="1"/>
          </p:nvPr>
        </p:nvSpPr>
        <p:spPr>
          <a:xfrm>
            <a:off x="640080" y="1536192"/>
            <a:ext cx="10881360" cy="4846320"/>
          </a:xfrm>
          <a:prstGeom prst="rect">
            <a:avLst/>
          </a:prstGeom>
          <a:noFill/>
          <a:ln/>
        </p:spPr>
        <p:txBody>
          <a:bodyPr wrap="square" rtlCol="0" anchor="t"/>
          <a:lstStyle/>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Original figures in this deck: </a:t>
            </a:r>
            <a:r>
              <a:rPr lang="en-US" sz="1600" dirty="0">
                <a:solidFill>
                  <a:srgbClr val="1A1A1A"/>
                </a:solidFill>
                <a:latin typeface="Calibri" pitchFamily="34" charset="0"/>
                <a:ea typeface="Calibri" pitchFamily="34" charset="-122"/>
                <a:cs typeface="Calibri" pitchFamily="34" charset="-120"/>
              </a:rPr>
              <a:t>Figures 1–3 (The Arachidonic Acid Pathway: Where Analgesics Act; Nonselective NSAIDs vs. COX-2 Selective Inhibition; Biologic DMARDs: Where Each Class Intercepts the Immune Cascade) were generated by the course director using the AI tool Claude to illustrate standard, non-copyrighted pharmacologic concepts. They are original diagrams, not reproduced from Katzung’s Basic and Clinical Pharmacology or any other copyrighted source.</a:t>
            </a:r>
            <a:endParaRPr lang="en-US" sz="1600" dirty="0"/>
          </a:p>
          <a:p>
            <a:pPr marL="0" indent="0" algn="l">
              <a:spcAft>
                <a:spcPts val="1200"/>
              </a:spcAft>
              <a:buNone/>
            </a:pPr>
            <a:r>
              <a:rPr lang="en-US" sz="1600" b="1" dirty="0">
                <a:solidFill>
                  <a:srgbClr val="123C44"/>
                </a:solidFill>
                <a:latin typeface="Calibri" pitchFamily="34" charset="0"/>
                <a:ea typeface="Calibri" pitchFamily="34" charset="-122"/>
                <a:cs typeface="Calibri" pitchFamily="34" charset="-120"/>
              </a:rPr>
              <a:t>●  Reference: </a:t>
            </a:r>
            <a:r>
              <a:rPr lang="en-US" sz="1600" dirty="0">
                <a:solidFill>
                  <a:srgbClr val="1A1A1A"/>
                </a:solidFill>
                <a:latin typeface="Calibri" pitchFamily="34" charset="0"/>
                <a:ea typeface="Calibri" pitchFamily="34" charset="-122"/>
                <a:cs typeface="Calibri" pitchFamily="34" charset="-120"/>
              </a:rPr>
              <a:t>Anthropic. (2026). Claude (Sonnet 5) [Large language model]. https://claude.ai</a:t>
            </a:r>
            <a:endParaRPr lang="en-US" sz="16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B73"/>
                </a:solidFill>
                <a:latin typeface="Calibri"/>
                <a:ea typeface="Calibri"/>
                <a:cs typeface="Calibri"/>
              </a:defRPr>
            </a:lvl1pPr>
          </a:lstStyle>
          <a:p>
            <a:pPr algn="l"/>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ClinicalTealCoral">
  <a:themeElements>
    <a:clrScheme name="ClinicalTealCoral">
      <a:dk1>
        <a:srgbClr val="1A1A1A"/>
      </a:dk1>
      <a:lt1>
        <a:srgbClr val="FFFFFF"/>
      </a:lt1>
      <a:dk2>
        <a:srgbClr val="123C44"/>
      </a:dk2>
      <a:lt2>
        <a:srgbClr val="E8F1F0"/>
      </a:lt2>
      <a:accent1>
        <a:srgbClr val="0F7173"/>
      </a:accent1>
      <a:accent2>
        <a:srgbClr val="D1495B"/>
      </a:accent2>
      <a:accent3>
        <a:srgbClr val="E9A23B"/>
      </a:accent3>
      <a:accent4>
        <a:srgbClr val="2A6F97"/>
      </a:accent4>
      <a:accent5>
        <a:srgbClr val="6B9080"/>
      </a:accent5>
      <a:accent6>
        <a:srgbClr val="5C6B73"/>
      </a:accent6>
      <a:hlink>
        <a:srgbClr val="0F7173"/>
      </a:hlink>
      <a:folHlink>
        <a:srgbClr val="123C44"/>
      </a:folHlink>
    </a:clrScheme>
    <a:fontScheme name="ClinicalTealCor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2565</Words>
  <Application>Microsoft Macintosh PowerPoint</Application>
  <PresentationFormat>Widescreen</PresentationFormat>
  <Paragraphs>309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ClinicalTealCoral</vt:lpstr>
      <vt:lpstr>Musculoskeletal Pharmacology</vt:lpstr>
      <vt:lpstr>Learning Objectives — Session 1</vt:lpstr>
      <vt:lpstr>Required &amp; Recommended Readings — Unit 2</vt:lpstr>
      <vt:lpstr>01</vt:lpstr>
      <vt:lpstr>What Causes Musculoskeletal Pain?</vt:lpstr>
      <vt:lpstr>Inflammation Drives Pain</vt:lpstr>
      <vt:lpstr>Therapeutic Targets in the Pain Pathway</vt:lpstr>
      <vt:lpstr>The Arachidonic Acid Pathway: Where Analgesics Act</vt:lpstr>
      <vt:lpstr>02</vt:lpstr>
      <vt:lpstr>Acetaminophen</vt:lpstr>
      <vt:lpstr>Acetaminophen Toxicity</vt:lpstr>
      <vt:lpstr>The Hidden Acetaminophen Overdose</vt:lpstr>
      <vt:lpstr>03</vt:lpstr>
      <vt:lpstr>How NSAIDs Work</vt:lpstr>
      <vt:lpstr>COX-1 vs. COX-2</vt:lpstr>
      <vt:lpstr>Nonselective NSAIDs</vt:lpstr>
      <vt:lpstr>COX-2 Selective Inhibition: Celecoxib</vt:lpstr>
      <vt:lpstr>Nonselective NSAIDs vs. COX-2 Selective Inhibition</vt:lpstr>
      <vt:lpstr>NSAID Adverse Effects</vt:lpstr>
      <vt:lpstr>NSAID Contraindications &amp; Interactions</vt:lpstr>
      <vt:lpstr>Is an NSAID the Right First Choice?</vt:lpstr>
      <vt:lpstr>04</vt:lpstr>
      <vt:lpstr>Osteoarthritis vs. Rheumatoid Arthritis</vt:lpstr>
      <vt:lpstr>Pharmacologic Treatment of Osteoarthritis</vt:lpstr>
      <vt:lpstr>What Makes a Drug "Disease-Modifying"?</vt:lpstr>
      <vt:lpstr>Conventional (Non-Biologic) DMARDs</vt:lpstr>
      <vt:lpstr>Methotrexate</vt:lpstr>
      <vt:lpstr>Biologic DMARDs</vt:lpstr>
      <vt:lpstr>Biologic DMARDs: Where Each Class Intercepts the Immune Cascade</vt:lpstr>
      <vt:lpstr>DMARD Safety: Immunosuppression</vt:lpstr>
      <vt:lpstr>Session 1 Recap — To Be Continued</vt:lpstr>
      <vt:lpstr>Image Attribution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Diane Allen-Gipson</cp:lastModifiedBy>
  <cp:revision>3</cp:revision>
  <dcterms:created xsi:type="dcterms:W3CDTF">2026-10-12T01:30:33Z</dcterms:created>
  <dcterms:modified xsi:type="dcterms:W3CDTF">2026-10-12T03:01:27Z</dcterms:modified>
</cp:coreProperties>
</file>