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12192000" cy="6858000"/>
  <p:notesSz cx="6858000" cy="12192000"/>
  <p:embeddedFontLst>
    <p:embeddedFont>
      <p:font typeface="Caladea Bold" panose="02040803050406030204" pitchFamily="18" charset="77"/>
      <p:regular r:id="rId65"/>
      <p:bold r:id="rId66"/>
    </p:embeddedFont>
    <p:embeddedFont>
      <p:font typeface="Carlito" panose="020F0502020204030204" pitchFamily="34" charset="0"/>
      <p:regular r:id="rId65"/>
      <p:bold r:id="rId67"/>
    </p:embeddedFont>
    <p:embeddedFont>
      <p:font typeface="Carlito Bold" panose="020F0502020204030204" pitchFamily="34" charset="0"/>
      <p:regular r:id="rId65"/>
      <p:bold r:id="rId6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370"/>
    <p:restoredTop sz="94610"/>
  </p:normalViewPr>
  <p:slideViewPr>
    <p:cSldViewPr snapToGrid="0" snapToObjects="1">
      <p:cViewPr varScale="1">
        <p:scale>
          <a:sx n="122" d="100"/>
          <a:sy n="122" d="100"/>
        </p:scale>
        <p:origin x="216"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2.fntdata"/><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4347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Say: "Today's question is simple: how do we treat musculoskeletal pain safely? We'll follow one pathway, arachidonic acid, and see where each drug class steps 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students to the arc of this session: musculoskeletal pain pathways, acetaminophen, NSAIDs, and osteoarthritis/rheumatoid arthritis pharmacotherapy including DMARDs. Tell them this is the first of two sessions on Musculoskeletal Pharmacology — Session 2 picks up with gout, skeletal muscle relaxants, and bone pharmacology on Oct 29.
Objectives. Read them aloud, then say: "By the end you should be able to choose between acetaminophen, an NSAID, and a DMARD, and defend the choice."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required and recommended texts for Unit 2 before diving into content. Katzung’s Chapters 27, 36, and 42 are the required reading for this unit; Pharmacotherapy Principles and Practice is recommended as additional support, not a substitute.
Readings: Katzung 16th ed.; the Unit 2 chapters. One sentence only.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musculoskeletal pain in this lecture is a mix of nociceptive and inflammatory — pure neuropathic pain is more the territory of a separate pharmacology unit.
Say: "Pain is classified by mechanism (nociceptive, inflammatory, neuropathic) and by time (acute vs. chronic)."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mediator list is the roadmap for the whole lecture — NSAIDs target prostaglandins, biologic DMARDs target specific cytokines.
Say: "Injury releases prostaglandins, bradykinin, histamine and cytokines. These lower the nociceptor threshold, so normally harmless stimuli hurt."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"Injury releases prostaglandins, bradykinin, histamine and cytokines. These lower the nociceptor threshold, so normally harmless stimuli hurt."
Know: Prostaglandins sensitize nociceptors, so they are the main NSAID target.
Know: Bradykinin, histamine and cytokines are not blocked by NSAIDs.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single arrow chain is the conceptual spine for the acetaminophen, NSAID, and corticosteroid sections that follow. The next slide builds this out further with the specific drug classes that intervene at each step.
Say: "Corticosteroids block phospholipase A2 upstream. NSAIDs block COX one step later."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adds the drug layer on top of the previous flow slide: name the specific drug classes (corticosteroids vs. NSAIDs/COX-2 inhibitors) and exactly where each one interrupts the cascade.
Figure 1: Corticosteroids block phospholipase A2 upstream. NSAIDs block COX one step later.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give 30 seconds, take a show of hands, then reveal.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corticosteroids act upstream of NSAIDs.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give 30 seconds, take a show of hands, then reveal.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prostaglandins are the NSAID target.
Say: "That's the pathway. Now the simplest drug on it: acetaminophen."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distinction students need: acetaminophen treats pain and fever well, but it is not an anti-inflammatory drug the way NSAIDs are.
Say: "Acetaminophen is mainly central, with analgesic and antipyretic effects and minimal peripheral anti-inflammatory action."
Know: It is not an anti-inflammatory drug.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major safe route first, then the minor CYP2E1 route, where NAPQI is normally neutralized by glutathione conjugation at therapeutic doses.
Say: "About 90% goes down the safe route of glucuronidation and sulfation. A small fraction goes through CYP2E1 to NAPQI, which glutathione neutralizes at normal doses."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Overdose saturates glucuronidation and sulfation, shunting more drug to CYP2E1 and producing more NAPQI. Once glutathione is depleted, NAPQI injures hepatocytes. Give N-acetylcysteine early.
Say: "In overdose the safe route saturates, more drug goes to CYP2E1, glutathione runs out, and NAPQI injures hepatocytes."
Know: The antidote is N-acetylcysteine (NAC), given early.
Know: Chronic alcohol use and fasting raise the risk.
Know: Use the Rumack-Matthew nomogram for acute single ingestions, and check AST/ALT.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nomogram predicts hepatotoxicity risk after a single acute ingestion; if time of ingestion is unknown or ingestion is chronic, do not rely on it. Start NAC without waiting if presentation is late or the level is unavailable and ingestion is significant.
After 24 hours the nomogram is not used: 4.7 mcg/mL is only where the treatment line ends, not a safe cutoff. Get AST/ALT; a detectable level or elevated AST/ALT guides NAC, per protocol or poison control.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NAPQI = N-acetyl-p-benzoquinone imine. Tie this directly back to the "toxic metabolite" bullet from Lecture 1’s drug metabolism section.
Ask: "What is the danger of a cold-and-flu product on top of regular acetaminophen?" Look for: unintentional double dosing from combination products.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moment to reinforce generic-name awareness from Lecture 1 — patients often do not realize a product contains acetaminophen unless they check the label.
Hidden overdose case (slides 18-19): see the Ask on the previous slide.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give 30 seconds, take a show of hands, then reveal.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NAPQI accumulation after glutathione depletion.
Say: "Acetaminophen leaves inflammation alone. NSAIDs go after it directly."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"NSAIDs inhibit COX, so less arachidonic acid becomes prostaglandins and thromboxane. That gives less pain, inflammation and fever."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COX step first; every NSAID shares this mechanism, and the side effects follow from losing protective prostaglandins.
Say: "NSAIDs inhibit COX, so less arachidonic acid becomes prostaglandins and thromboxane. That gives less pain, inflammation and fever."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this is a simplified teaching model, not an absolute separation — COX-1 and COX-2 functions overlap, and COX-2 is also constitutively expressed in the kidney and elsewhere.
Say: "COX-1 is the housekeeper: stomach lining, platelets, kidney. COX-2 is induced at sites of inflammation."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COX-1 keeps protective prostaglandins; COX-2 is induced by inflammation. Selectivity trades anti-inflammatory benefit against GI and platelet protection.
Say: "COX-1 is the housekeeper: stomach lining, platelets, kidney. COX-2 is induced at sites of inflammation."
Know: Nonselective NSAIDs block both, which is why GI injury is common.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Nonselective NSAIDs: ibuprofen (first-line), naproxen (longer half-life), diclofenac, indomethacin (more GI/CNS effects), ketorolac (short-term only, significant GI/renal risk).</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classic "trade one risk for another" teaching point — better GI profile, but not a free lunch cardiovascularly or renally.
Say: "Celecoxib spares COX-1, so the GI risk is lower. The trade-off is lower PGI2 without a matching drop in TXA2, which raises cardiovascular risk. The kidney is still affected."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diagram to show that selectivity separates the GI benefit from the cardiovascular trade-off. Link back to the nonselective NSAID comparison on the previous slide.
Say: "Celecoxib spares COX-1, so the GI risk is lower. The trade-off is lower PGI2 without a matching drop in TXA2, which raises cardiovascular risk. The kidney is still affected."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graphical version of the trade-off just described in the celecoxib bullet slide — use it to reinforce that there is no risk-free NSAID choice, only a different risk profile.
Figure 2 and trade-off summary: lower GI risk, some increase in cardiovascular risk. These risk values are illustrative, not clinical data.</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give 30 seconds, take a show of hands, then reveal.</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lower GI risk, with some increase in cardiovascular risk. These risk values are illustrative, not clinical data.</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systems (GI, renal, CV) are the organizing framework for every NSAID contraindication and interaction discussion that follows. Table 1.
Say: "Lose prostaglandins and you lose mucosal protection, renal afferent dilation and normal platelet function."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"Lose prostaglandins and you lose mucosal protection, renal afferent dilation and normal platelet function."
Know: GI (ulcer, bleeding), renal (AKI, fluid retention), cardiovascular (hypertension, events).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"triple whammy" (NSAID + ACEi/ARB + diuretic) is a very high-yield acute kidney injury pattern to flag explicitly.
Avoid or use caution with active GI bleeding or ulcer history, CKD, heart failure, anticoagulants, and late pregnancy.
Know (interactions): NSAID plus anticoagulant means more bleeding. NSAID plus ACE inhibitor/ARB plus diuretic is the "triple whammy" for AKI. NSAID plus corticosteroid means more GI ulcer risk.</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Excellent exam-style vignette — ask students to name all three risk factors independently before revealing the answer.
Ask: "72 years old, CKD, hypertension, on an anticoagulant. Is an NSAID a good first choice?"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give 30 seconds, take a show of hands, then reveal.</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no. Oral NSAIDs carry the highest combined risk. Acetaminophen or a non-NSAID approach is generally safer.
Say: "Now the same drugs in the setting of arthritis."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distinction is the hinge the whole rest of the section turns on: OA is managed primarily with analgesics/NSAIDs, while RA requires disease-modifying therapy.
Say: "OA is degenerative and mechanical, with cartilage wear and bone remodeling. RA is autoimmune, with synovitis, pannus, and TNF-alpha and IL-6 driving erosion."</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"OA is degenerative and mechanical, with cartilage wear and bone remodeling. RA is autoimmune, with synovitis, pannus, and TNF-alpha and IL-6 driving erosion."</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Acetaminophen is reasonable first-line for mild pain. Topical NSAIDs give effective relief with lower systemic exposure. Intra-articular corticosteroids give short-term relief for flares. Add activity modification, physical therapy and weight management.</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 each option to its site: acetaminophen centrally, NSAIDs in synovium and cartilage, corticosteroids inside the joint. Choice depends on which tissue drives the pain.
Acetaminophen is reasonable first-line for mild pain. Topical NSAIDs give effective relief with lower systemic exposure. Intra-articular corticosteroids give short-term relief for flares. Add activity modification, physical therapy and weight management.</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explicitly with NSAIDs: an NSAID can make a patient feel better without changing the underlying disease trajectory — a DMARD is meant to change the trajectory itself.
Say: "A DMARD changes the course of RA. An NSAID only masks symptoms."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fast, symptomatic effect of NSAIDs with the slow, structure-modifying effect of DMARDs. Set expectations that DMARD benefit builds over months.
Say: "A DMARD changes the course of RA. An NSAID only masks symptoms."
Know: DMARDs take weeks to months to work. Judge them over months, not at the first visit. The curve is a schematic, not data.</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Methotrexate (anchor drug, blocks DHFR), hydroxychloroquine (milder disease), sulfasalazine, leflunomide (blocks DHODH, pyrimidine synthesis).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drugs act inside cells or on broad immune pathways, with a slower onset than biologics.
Methotrexate (anchor drug, blocks DHFR), hydroxychloroquine (milder disease), sulfasalazine, leflunomide (blocks DHODH, pyrimidine synthesis).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Methotrexate’s weekly dosing is one of the highest-yield patient-safety teaching points in all of rheumatology pharmacology — emphasize it strongly.
Know: methotrexate is dosed WEEKLY, not daily. Daily dosing has caused fatal toxicity.</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diagram left to right: folate is reduced to THF through DHF, and methotrexate blocks the DHFR step. Emphasize the weekly-dosing safety point.
Give folic acid to reduce liver, marrow, lung and GI toxicity. Contraindicated in pregnancy (teratogenic).</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biologic class corresponds to a different cytokine or cell type in the inflammatory cascade shown earlier in the lecture — tie this back to the mediator list from Section 1. The next slide shows these same four drug classes as a mechanism diagram.
Say: "Four classes by target." TNF inhibitors (infliximab, adalimumab, etanercept), IL-6 blockers (tocilizumab), abatacept (CTLA-4-Ig, blocks CD28 costimulation), rituximab (anti-CD20, depletes B cells).</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biologic intercepts a different step of the immune cascade; match the target to the drug class.
Say: "Four classes by target." TNF inhibitors (infliximab, adalimumab, etanercept), IL-6 blockers (tocilizumab), abatacept (CTLA-4-Ig, blocks CD28 costimulation), rituximab (anti-CD20, depletes B cells).</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visual counterpart to the fourCard slide just shown — have students match each generic drug name to its box on this diagram before you reveal the answer.
Figure 3: walk the cascade from T-cell activation to cytokines to synovial damage. Abatacept acts earliest.</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give 30 seconds, take a show of hands, then reveal.</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abatacept acts earliest.</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theme is immunosuppression, so infection risk."</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 for TB and hepatitis B and C before starting; update non-live vaccines; monitor blood counts and organ function regularly, and act early on fever or infection signs.
Say: "The theme is immunosuppression, so infection risk."
Know: Screen for TB and hepatitis B/C before biologics. Update vaccines first, especially live vaccines. Monitor CBC and liver and kidney tests. Counsel patients to report fevers early.</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give 30 seconds, take a show of hands, then reveal.</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DMARD modifies the disease process, while an NSAID only masks symptoms.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students to read the stem first: it reveals mechanism class before the drug is recalled.
Say: "Read the stem and you know the class." -mab is a monoclonal antibody. -zumab is humanized, -ximab chimeric, -umab fully human. -cept is a receptor fusion protein. -nib/-tinib is a kinase inhibitor (for example tofacitinib, JAK). -coxib is COX-2 selective. -profen, -fenac and -oxicam are NSAID subclasses.</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Session 1 by previewing Session 2 explicitly — students should leave knowing pain, acetaminophen, NSAIDs, and DMARDs are complete, and that gout, muscle relaxants, and bone pharmacology pick up first next time.
Recap: walk the five points.
Say: "Next time, Thursday October 29: gout, muscle relaxants, bone pharmacology, and the cumulative recall quiz."
Five points to repeat if time runs short:
1. Prostaglandins drive inflammatory pain, and COX makes them.
2. Acetaminophen is central, with no real anti-inflammatory effect. Overdose means NAPQI, and the antidote is NAC.
3. COX-1 protects the stomach, platelets and kidney. Nonselective NSAIDs block both isoforms.
4. Celecoxib cuts GI risk but raises cardiovascular risk, and does not spare the kidney.
5. DMARDs change disease. Methotrexate is weekly, and screen for TB and hepatitis before biologics.</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documents AI-tool use for original figure generation per university citation requirements. It covers every original diagram in this deck (Figures 1–3); none are reproduced from any textbook.</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accessmedicine.mhmedical.com/book.aspx?bookid=3382"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8.jpeg"/></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26.jpeg"/></Relationships>
</file>

<file path=ppt/slides/_rels/slide5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C44"/>
        </a:solidFill>
        <a:effectLst/>
      </p:bgPr>
    </p:bg>
    <p:spTree>
      <p:nvGrpSpPr>
        <p:cNvPr id="1" name=""/>
        <p:cNvGrpSpPr/>
        <p:nvPr/>
      </p:nvGrpSpPr>
      <p:grpSpPr>
        <a:xfrm>
          <a:off x="0" y="0"/>
          <a:ext cx="0" cy="0"/>
          <a:chOff x="0" y="0"/>
          <a:chExt cx="0" cy="0"/>
        </a:xfrm>
      </p:grpSpPr>
      <p:sp>
        <p:nvSpPr>
          <p:cNvPr id="2" name="Shape 0"/>
          <p:cNvSpPr/>
          <p:nvPr/>
        </p:nvSpPr>
        <p:spPr>
          <a:xfrm>
            <a:off x="822900" y="502841"/>
            <a:ext cx="822900" cy="822920"/>
          </a:xfrm>
          <a:prstGeom prst="ellipse">
            <a:avLst/>
          </a:prstGeom>
          <a:solidFill>
            <a:srgbClr val="E9A23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1020340" y="700385"/>
            <a:ext cx="427920" cy="427930"/>
          </a:xfrm>
          <a:prstGeom prst="rect">
            <a:avLst/>
          </a:prstGeom>
        </p:spPr>
      </p:pic>
      <p:sp>
        <p:nvSpPr>
          <p:cNvPr id="4" name="Text 1"/>
          <p:cNvSpPr/>
          <p:nvPr/>
        </p:nvSpPr>
        <p:spPr>
          <a:xfrm>
            <a:off x="914278" y="1266702"/>
            <a:ext cx="8690452" cy="245269"/>
          </a:xfrm>
          <a:prstGeom prst="rect">
            <a:avLst/>
          </a:prstGeom>
          <a:noFill/>
          <a:ln/>
        </p:spPr>
        <p:txBody>
          <a:bodyPr wrap="none" lIns="0" tIns="0" rIns="0" bIns="0" rtlCol="0" anchor="t"/>
          <a:lstStyle/>
          <a:p>
            <a:pPr marL="0" indent="0" algn="l">
              <a:lnSpc>
                <a:spcPct val="115000"/>
              </a:lnSpc>
              <a:buNone/>
            </a:pPr>
            <a:r>
              <a:rPr lang="en-US" sz="1400" b="1" kern="100" spc="200" dirty="0">
                <a:solidFill>
                  <a:srgbClr val="E9A23B"/>
                </a:solidFill>
                <a:latin typeface="Carlito Bold" pitchFamily="34" charset="0"/>
                <a:ea typeface="Carlito Bold" pitchFamily="34" charset="-122"/>
                <a:cs typeface="Carlito Bold" pitchFamily="34" charset="0"/>
              </a:rPr>
              <a:t>PA PHARMACOLOGY COURSE · LECTURE 2 · SESSION 1 OF 2</a:t>
            </a:r>
            <a:endParaRPr lang="en-US" sz="1400" dirty="0"/>
          </a:p>
        </p:txBody>
      </p:sp>
      <p:sp>
        <p:nvSpPr>
          <p:cNvPr id="5" name="Text 2"/>
          <p:cNvSpPr/>
          <p:nvPr/>
        </p:nvSpPr>
        <p:spPr>
          <a:xfrm>
            <a:off x="914278" y="1843088"/>
            <a:ext cx="9909622" cy="609600"/>
          </a:xfrm>
          <a:prstGeom prst="rect">
            <a:avLst/>
          </a:prstGeom>
          <a:noFill/>
          <a:ln/>
        </p:spPr>
        <p:txBody>
          <a:bodyPr wrap="none" lIns="0" tIns="0" rIns="0" bIns="0" rtlCol="0" anchor="t"/>
          <a:lstStyle/>
          <a:p>
            <a:pPr marL="0" indent="0" algn="l">
              <a:lnSpc>
                <a:spcPct val="100000"/>
              </a:lnSpc>
              <a:buNone/>
            </a:pPr>
            <a:r>
              <a:rPr lang="en-US" sz="4000" b="1" kern="100" spc="44" dirty="0">
                <a:solidFill>
                  <a:srgbClr val="FFFFFF"/>
                </a:solidFill>
                <a:latin typeface="Caladea Bold" pitchFamily="34" charset="0"/>
                <a:ea typeface="Caladea Bold" pitchFamily="34" charset="-122"/>
                <a:cs typeface="Caladea Bold" pitchFamily="34" charset="0"/>
              </a:rPr>
              <a:t>Musculoskeletal Pharmacology</a:t>
            </a:r>
            <a:endParaRPr lang="en-US" sz="4000" dirty="0"/>
          </a:p>
        </p:txBody>
      </p:sp>
      <p:sp>
        <p:nvSpPr>
          <p:cNvPr id="6" name="Text 3"/>
          <p:cNvSpPr/>
          <p:nvPr/>
        </p:nvSpPr>
        <p:spPr>
          <a:xfrm>
            <a:off x="914278" y="3835043"/>
            <a:ext cx="9543811" cy="579041"/>
          </a:xfrm>
          <a:prstGeom prst="rect">
            <a:avLst/>
          </a:prstGeom>
          <a:noFill/>
          <a:ln/>
        </p:spPr>
        <p:txBody>
          <a:bodyPr wrap="square" lIns="0" tIns="0" rIns="0" bIns="0" rtlCol="0" anchor="t">
            <a:normAutofit/>
          </a:bodyPr>
          <a:lstStyle/>
          <a:p>
            <a:pPr marL="0" indent="0" algn="l">
              <a:lnSpc>
                <a:spcPct val="100000"/>
              </a:lnSpc>
              <a:buNone/>
            </a:pPr>
            <a:r>
              <a:rPr lang="en-US" sz="1900" dirty="0">
                <a:solidFill>
                  <a:srgbClr val="E8F1F0"/>
                </a:solidFill>
                <a:latin typeface="Carlito" pitchFamily="34" charset="0"/>
                <a:ea typeface="Carlito" pitchFamily="34" charset="-122"/>
                <a:cs typeface="Carlito" pitchFamily="34" charset="0"/>
              </a:rPr>
              <a:t>Session 1: Pain, Acetaminophen, NSAIDs, and Osteoarthritis/Rheumatoid Arthritis Pharmacotherapy  |  Tuesday, October 27</a:t>
            </a:r>
            <a:endParaRPr lang="en-US" sz="1900" dirty="0"/>
          </a:p>
        </p:txBody>
      </p:sp>
      <p:sp>
        <p:nvSpPr>
          <p:cNvPr id="7" name="Shape 4"/>
          <p:cNvSpPr/>
          <p:nvPr/>
        </p:nvSpPr>
        <p:spPr>
          <a:xfrm>
            <a:off x="822900" y="5065316"/>
            <a:ext cx="1005755" cy="19050"/>
          </a:xfrm>
          <a:prstGeom prst="rect">
            <a:avLst/>
          </a:prstGeom>
          <a:solidFill>
            <a:srgbClr val="E9A23B"/>
          </a:solidFill>
          <a:ln/>
        </p:spPr>
        <p:txBody>
          <a:bodyPr/>
          <a:lstStyle/>
          <a:p>
            <a:endParaRPr lang="en-US"/>
          </a:p>
        </p:txBody>
      </p:sp>
      <p:sp>
        <p:nvSpPr>
          <p:cNvPr id="8" name="Text 5"/>
          <p:cNvSpPr/>
          <p:nvPr/>
        </p:nvSpPr>
        <p:spPr>
          <a:xfrm>
            <a:off x="822900" y="5252145"/>
            <a:ext cx="10301923" cy="254099"/>
          </a:xfrm>
          <a:prstGeom prst="rect">
            <a:avLst/>
          </a:prstGeom>
          <a:noFill/>
          <a:ln/>
        </p:spPr>
        <p:txBody>
          <a:bodyPr wrap="none" lIns="0" tIns="0" rIns="0" bIns="0" rtlCol="0" anchor="t"/>
          <a:lstStyle/>
          <a:p>
            <a:pPr marL="0" indent="0" algn="l">
              <a:lnSpc>
                <a:spcPct val="115000"/>
              </a:lnSpc>
              <a:buNone/>
            </a:pPr>
            <a:r>
              <a:rPr lang="en-US" sz="1450" i="1" dirty="0">
                <a:solidFill>
                  <a:srgbClr val="E8F1F0"/>
                </a:solidFill>
                <a:latin typeface="Carlito" pitchFamily="34" charset="0"/>
                <a:ea typeface="Carlito" pitchFamily="34" charset="-122"/>
                <a:cs typeface="Carlito" pitchFamily="34" charset="0"/>
              </a:rPr>
              <a:t>Diane S. Allen-Gipson, Ph.D., M.S., Course Director</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BY THE END OF THIS LECTURE</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Learning Objectives — Session 1</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441790" y="1567854"/>
            <a:ext cx="11030092" cy="2880855"/>
          </a:xfrm>
          <a:prstGeom prst="rect">
            <a:avLst/>
          </a:prstGeom>
          <a:noFill/>
          <a:ln/>
        </p:spPr>
        <p:txBody>
          <a:bodyPr wrap="square" lIns="0" tIns="0" rIns="0" bIns="0" rtlCol="0" anchor="t">
            <a:normAutofit/>
          </a:bodyPr>
          <a:lstStyle/>
          <a:p>
            <a:pPr marL="228346" indent="-228346" algn="l">
              <a:lnSpc>
                <a:spcPct val="100000"/>
              </a:lnSpc>
              <a:buSzPct val="100000"/>
              <a:buChar char="●"/>
            </a:pPr>
            <a:r>
              <a:rPr lang="en-US" sz="1550" dirty="0">
                <a:solidFill>
                  <a:srgbClr val="1A1A1A"/>
                </a:solidFill>
                <a:latin typeface="Carlito" pitchFamily="34" charset="0"/>
                <a:ea typeface="Carlito" pitchFamily="34" charset="-122"/>
                <a:cs typeface="Carlito" pitchFamily="34" charset="0"/>
              </a:rPr>
              <a:t>Explain the pharmacologic basis of musculoskeletal pain and inflammation.</a:t>
            </a:r>
          </a:p>
          <a:p>
            <a:pPr marL="228346" indent="-228346" algn="l">
              <a:lnSpc>
                <a:spcPct val="100000"/>
              </a:lnSpc>
              <a:buSzPct val="100000"/>
              <a:buChar char="●"/>
            </a:pPr>
            <a:endParaRPr lang="en-US" sz="1550" dirty="0"/>
          </a:p>
          <a:p>
            <a:pPr marL="228346" indent="-228346" algn="l">
              <a:lnSpc>
                <a:spcPct val="100000"/>
              </a:lnSpc>
              <a:buSzPct val="100000"/>
              <a:buChar char="●"/>
            </a:pPr>
            <a:r>
              <a:rPr lang="en-US" sz="1550" dirty="0">
                <a:solidFill>
                  <a:srgbClr val="1A1A1A"/>
                </a:solidFill>
                <a:latin typeface="Carlito" pitchFamily="34" charset="0"/>
                <a:ea typeface="Carlito" pitchFamily="34" charset="-122"/>
                <a:cs typeface="Carlito" pitchFamily="34" charset="0"/>
              </a:rPr>
              <a:t>Compare acetaminophen and NSAIDs, including COX-1 vs. COX-2 inhibition.</a:t>
            </a:r>
          </a:p>
          <a:p>
            <a:pPr marL="228346" indent="-228346" algn="l">
              <a:lnSpc>
                <a:spcPct val="100000"/>
              </a:lnSpc>
              <a:buSzPct val="100000"/>
              <a:buChar char="●"/>
            </a:pPr>
            <a:endParaRPr lang="en-US" sz="1550" dirty="0"/>
          </a:p>
          <a:p>
            <a:pPr marL="228346" indent="-228346" algn="l">
              <a:lnSpc>
                <a:spcPct val="100000"/>
              </a:lnSpc>
              <a:buSzPct val="100000"/>
              <a:buChar char="●"/>
            </a:pPr>
            <a:r>
              <a:rPr lang="en-US" sz="1550" dirty="0">
                <a:solidFill>
                  <a:srgbClr val="1A1A1A"/>
                </a:solidFill>
                <a:latin typeface="Carlito" pitchFamily="34" charset="0"/>
                <a:ea typeface="Carlito" pitchFamily="34" charset="-122"/>
                <a:cs typeface="Carlito" pitchFamily="34" charset="0"/>
              </a:rPr>
              <a:t>Identify major NSAID adverse effects and select therapy based on patient risk factors.</a:t>
            </a:r>
          </a:p>
          <a:p>
            <a:pPr marL="228346" indent="-228346" algn="l">
              <a:lnSpc>
                <a:spcPct val="100000"/>
              </a:lnSpc>
              <a:buSzPct val="100000"/>
              <a:buChar char="●"/>
            </a:pPr>
            <a:endParaRPr lang="en-US" sz="1550" dirty="0"/>
          </a:p>
          <a:p>
            <a:pPr marL="228346" indent="-228346" algn="l">
              <a:lnSpc>
                <a:spcPct val="100000"/>
              </a:lnSpc>
              <a:buSzPct val="100000"/>
              <a:buChar char="●"/>
            </a:pPr>
            <a:r>
              <a:rPr lang="en-US" sz="1550" dirty="0">
                <a:solidFill>
                  <a:srgbClr val="1A1A1A"/>
                </a:solidFill>
                <a:latin typeface="Carlito" pitchFamily="34" charset="0"/>
                <a:ea typeface="Carlito" pitchFamily="34" charset="-122"/>
                <a:cs typeface="Carlito" pitchFamily="34" charset="0"/>
              </a:rPr>
              <a:t>Explain the mechanisms of conventional vs. biologic DMARDs, including representative generic agents in each class.</a:t>
            </a:r>
          </a:p>
          <a:p>
            <a:pPr marL="228346" indent="-228346" algn="l">
              <a:lnSpc>
                <a:spcPct val="100000"/>
              </a:lnSpc>
              <a:buSzPct val="100000"/>
              <a:buChar char="●"/>
            </a:pPr>
            <a:endParaRPr lang="en-US" sz="1550" dirty="0"/>
          </a:p>
          <a:p>
            <a:pPr marL="228346" indent="-228346" algn="l">
              <a:lnSpc>
                <a:spcPct val="100000"/>
              </a:lnSpc>
              <a:buSzPct val="100000"/>
              <a:buChar char="●"/>
            </a:pPr>
            <a:r>
              <a:rPr lang="en-US" sz="1550" dirty="0">
                <a:solidFill>
                  <a:srgbClr val="1A1A1A"/>
                </a:solidFill>
                <a:latin typeface="Carlito" pitchFamily="34" charset="0"/>
                <a:ea typeface="Carlito" pitchFamily="34" charset="-122"/>
                <a:cs typeface="Carlito" pitchFamily="34" charset="0"/>
              </a:rPr>
              <a:t>Identify key contraindications, adverse effects, and drug interactions for analgesics and DMARDs.</a:t>
            </a:r>
          </a:p>
          <a:p>
            <a:pPr marL="228346" indent="-228346" algn="l">
              <a:lnSpc>
                <a:spcPct val="100000"/>
              </a:lnSpc>
              <a:buSzPct val="100000"/>
              <a:buChar char="●"/>
            </a:pPr>
            <a:endParaRPr lang="en-US" sz="1550" dirty="0"/>
          </a:p>
          <a:p>
            <a:pPr marL="228346" indent="-228346" algn="l">
              <a:lnSpc>
                <a:spcPct val="100000"/>
              </a:lnSpc>
              <a:buSzPct val="100000"/>
              <a:buChar char="●"/>
            </a:pPr>
            <a:r>
              <a:rPr lang="en-US" sz="1550" dirty="0">
                <a:solidFill>
                  <a:srgbClr val="1A1A1A"/>
                </a:solidFill>
                <a:latin typeface="Carlito" pitchFamily="34" charset="0"/>
                <a:ea typeface="Carlito" pitchFamily="34" charset="-122"/>
                <a:cs typeface="Carlito" pitchFamily="34" charset="0"/>
              </a:rPr>
              <a:t>Preview: gout, skeletal muscle relaxants, and bone pharmacology continue in Session 2 (Thursday, October 29).</a:t>
            </a:r>
          </a:p>
          <a:p>
            <a:pPr marL="228346" indent="-228346" algn="l">
              <a:lnSpc>
                <a:spcPct val="100000"/>
              </a:lnSpc>
              <a:buSzPct val="100000"/>
              <a:buChar char="●"/>
            </a:pPr>
            <a:endParaRPr lang="en-US" sz="155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COURSE MATERIALS</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Required &amp; Recommended Readings — Unit 2</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5211930" cy="4526260"/>
          </a:xfrm>
          <a:prstGeom prst="roundRect">
            <a:avLst>
              <a:gd name="adj" fmla="val 2424"/>
            </a:avLst>
          </a:prstGeom>
          <a:solidFill>
            <a:srgbClr val="E8F1F0"/>
          </a:solidFill>
          <a:ln/>
        </p:spPr>
        <p:txBody>
          <a:bodyPr/>
          <a:lstStyle/>
          <a:p>
            <a:endParaRPr lang="en-US"/>
          </a:p>
        </p:txBody>
      </p:sp>
      <p:sp>
        <p:nvSpPr>
          <p:cNvPr id="7" name="Shape 4"/>
          <p:cNvSpPr/>
          <p:nvPr/>
        </p:nvSpPr>
        <p:spPr>
          <a:xfrm>
            <a:off x="640044" y="1600200"/>
            <a:ext cx="5211930" cy="502841"/>
          </a:xfrm>
          <a:prstGeom prst="roundRect">
            <a:avLst>
              <a:gd name="adj" fmla="val 21821"/>
            </a:avLst>
          </a:prstGeom>
          <a:solidFill>
            <a:srgbClr val="0F7173"/>
          </a:solidFill>
          <a:ln/>
        </p:spPr>
        <p:txBody>
          <a:bodyPr/>
          <a:lstStyle/>
          <a:p>
            <a:endParaRPr lang="en-US"/>
          </a:p>
        </p:txBody>
      </p:sp>
      <p:sp>
        <p:nvSpPr>
          <p:cNvPr id="8" name="Shape 5"/>
          <p:cNvSpPr/>
          <p:nvPr/>
        </p:nvSpPr>
        <p:spPr>
          <a:xfrm>
            <a:off x="640044" y="1856184"/>
            <a:ext cx="5211930" cy="255984"/>
          </a:xfrm>
          <a:prstGeom prst="rect">
            <a:avLst/>
          </a:prstGeom>
          <a:solidFill>
            <a:srgbClr val="0F7173"/>
          </a:solidFill>
          <a:ln/>
        </p:spPr>
        <p:txBody>
          <a:bodyPr/>
          <a:lstStyle/>
          <a:p>
            <a:endParaRPr lang="en-US"/>
          </a:p>
        </p:txBody>
      </p:sp>
      <p:sp>
        <p:nvSpPr>
          <p:cNvPr id="9" name="Text 6"/>
          <p:cNvSpPr/>
          <p:nvPr/>
        </p:nvSpPr>
        <p:spPr>
          <a:xfrm>
            <a:off x="841156" y="1729680"/>
            <a:ext cx="5419193"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Required Text</a:t>
            </a:r>
            <a:endParaRPr lang="en-US" sz="1600" dirty="0"/>
          </a:p>
        </p:txBody>
      </p:sp>
      <p:sp>
        <p:nvSpPr>
          <p:cNvPr id="10" name="Text 7"/>
          <p:cNvSpPr/>
          <p:nvPr/>
        </p:nvSpPr>
        <p:spPr>
          <a:xfrm>
            <a:off x="1046434" y="2272010"/>
            <a:ext cx="4519797" cy="1737122"/>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Katzung's Basic and Clinical Pharmacology, 16th Edition</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Todd W. Vanderah · 2025 · McGraw-Hill Education</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ISBN 1260463303 (eBook)</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AccessMedicine: </a:t>
            </a:r>
            <a:r>
              <a:rPr lang="en-US" sz="1400" u="sng" dirty="0">
                <a:solidFill>
                  <a:srgbClr val="0F7173"/>
                </a:solidFill>
                <a:latin typeface="Carlito" pitchFamily="34" charset="0"/>
                <a:ea typeface="Carlito" pitchFamily="34" charset="-122"/>
                <a:cs typeface="Carlito" pitchFamily="34" charset="0"/>
                <a:hlinkClick r:id="rId4">
                  <a:extLst>
                    <a:ext uri="{A12FA001-AC4F-418D-AE19-62706E023703}">
                      <ahyp:hlinkClr xmlns:ahyp="http://schemas.microsoft.com/office/drawing/2018/hyperlinkcolor" val="tx"/>
                    </a:ext>
                  </a:extLst>
                </a:hlinkClick>
              </a:rPr>
              <a:t>accessmedicine.mhmedical.com/book.aspx?bookid=3382</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Unit 2 — Musculoskeletal: Chapters 27, 36, and 42</a:t>
            </a:r>
            <a:endParaRPr lang="en-US" sz="1400" dirty="0"/>
          </a:p>
        </p:txBody>
      </p:sp>
      <p:sp>
        <p:nvSpPr>
          <p:cNvPr id="11" name="Shape 8"/>
          <p:cNvSpPr/>
          <p:nvPr/>
        </p:nvSpPr>
        <p:spPr>
          <a:xfrm>
            <a:off x="6309162" y="1600200"/>
            <a:ext cx="5211930" cy="4526260"/>
          </a:xfrm>
          <a:prstGeom prst="roundRect">
            <a:avLst>
              <a:gd name="adj" fmla="val 2424"/>
            </a:avLst>
          </a:prstGeom>
          <a:solidFill>
            <a:srgbClr val="E8F1F0"/>
          </a:solidFill>
          <a:ln/>
        </p:spPr>
        <p:txBody>
          <a:bodyPr/>
          <a:lstStyle/>
          <a:p>
            <a:endParaRPr lang="en-US"/>
          </a:p>
        </p:txBody>
      </p:sp>
      <p:sp>
        <p:nvSpPr>
          <p:cNvPr id="12" name="Shape 9"/>
          <p:cNvSpPr/>
          <p:nvPr/>
        </p:nvSpPr>
        <p:spPr>
          <a:xfrm>
            <a:off x="6309162" y="1600200"/>
            <a:ext cx="5211930" cy="502841"/>
          </a:xfrm>
          <a:prstGeom prst="roundRect">
            <a:avLst>
              <a:gd name="adj" fmla="val 21821"/>
            </a:avLst>
          </a:prstGeom>
          <a:solidFill>
            <a:srgbClr val="2A6F97"/>
          </a:solidFill>
          <a:ln/>
        </p:spPr>
        <p:txBody>
          <a:bodyPr/>
          <a:lstStyle/>
          <a:p>
            <a:endParaRPr lang="en-US"/>
          </a:p>
        </p:txBody>
      </p:sp>
      <p:sp>
        <p:nvSpPr>
          <p:cNvPr id="13" name="Shape 10"/>
          <p:cNvSpPr/>
          <p:nvPr/>
        </p:nvSpPr>
        <p:spPr>
          <a:xfrm>
            <a:off x="6309162" y="1856184"/>
            <a:ext cx="5211930" cy="255984"/>
          </a:xfrm>
          <a:prstGeom prst="rect">
            <a:avLst/>
          </a:prstGeom>
          <a:solidFill>
            <a:srgbClr val="2A6F97"/>
          </a:solidFill>
          <a:ln/>
        </p:spPr>
        <p:txBody>
          <a:bodyPr/>
          <a:lstStyle/>
          <a:p>
            <a:endParaRPr lang="en-US"/>
          </a:p>
        </p:txBody>
      </p:sp>
      <p:sp>
        <p:nvSpPr>
          <p:cNvPr id="14" name="Text 11"/>
          <p:cNvSpPr/>
          <p:nvPr/>
        </p:nvSpPr>
        <p:spPr>
          <a:xfrm>
            <a:off x="6510274" y="1729680"/>
            <a:ext cx="5419193"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Recommended Text (for additional support)</a:t>
            </a:r>
            <a:endParaRPr lang="en-US" sz="1600" dirty="0"/>
          </a:p>
        </p:txBody>
      </p:sp>
      <p:sp>
        <p:nvSpPr>
          <p:cNvPr id="15" name="Text 12"/>
          <p:cNvSpPr/>
          <p:nvPr/>
        </p:nvSpPr>
        <p:spPr>
          <a:xfrm>
            <a:off x="6715552" y="2272010"/>
            <a:ext cx="4519797" cy="1622822"/>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Pharmacotherapy Principles and Practice</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Chisholm-Burns, Schwinghammer, Malone, Kolesar, Lee · 2022 · McGraw-Hill Education</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Print ISBN 9781260460278 · eText ISBN 9781260460285</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Use as supplemental support alongside Katzung’s Chapters 27, 36, and 42 for Unit 2</a:t>
            </a:r>
            <a:endParaRPr lang="en-US" sz="1400" dirty="0"/>
          </a:p>
        </p:txBody>
      </p:sp>
      <p:sp>
        <p:nvSpPr>
          <p:cNvPr id="16" name="Text 1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17" name="Text 1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7173"/>
        </a:solidFill>
        <a:effectLst/>
      </p:bgPr>
    </p:bg>
    <p:spTree>
      <p:nvGrpSpPr>
        <p:cNvPr id="1" name=""/>
        <p:cNvGrpSpPr/>
        <p:nvPr/>
      </p:nvGrpSpPr>
      <p:grpSpPr>
        <a:xfrm>
          <a:off x="0" y="0"/>
          <a:ext cx="0" cy="0"/>
          <a:chOff x="0" y="0"/>
          <a:chExt cx="0" cy="0"/>
        </a:xfrm>
      </p:grpSpPr>
      <p:sp>
        <p:nvSpPr>
          <p:cNvPr id="2" name="Text 0"/>
          <p:cNvSpPr/>
          <p:nvPr/>
        </p:nvSpPr>
        <p:spPr>
          <a:xfrm>
            <a:off x="914278" y="2011660"/>
            <a:ext cx="2777460" cy="1036241"/>
          </a:xfrm>
          <a:prstGeom prst="rect">
            <a:avLst/>
          </a:prstGeom>
          <a:noFill/>
          <a:ln/>
        </p:spPr>
        <p:txBody>
          <a:bodyPr wrap="none" lIns="0" tIns="0" rIns="0" bIns="0" rtlCol="0" anchor="t"/>
          <a:lstStyle/>
          <a:p>
            <a:pPr marL="0" indent="0" algn="l">
              <a:lnSpc>
                <a:spcPct val="100000"/>
              </a:lnSpc>
              <a:buNone/>
            </a:pPr>
            <a:r>
              <a:rPr lang="en-US" sz="6800" b="1" kern="100" spc="75" dirty="0">
                <a:solidFill>
                  <a:srgbClr val="E9A23B"/>
                </a:solidFill>
                <a:latin typeface="Caladea Bold" pitchFamily="34" charset="0"/>
                <a:ea typeface="Caladea Bold" pitchFamily="34" charset="-122"/>
                <a:cs typeface="Caladea Bold" pitchFamily="34" charset="0"/>
              </a:rPr>
              <a:t>01</a:t>
            </a:r>
            <a:endParaRPr lang="en-US" sz="6800" dirty="0"/>
          </a:p>
        </p:txBody>
      </p:sp>
      <p:sp>
        <p:nvSpPr>
          <p:cNvPr id="3" name="Text 1"/>
          <p:cNvSpPr/>
          <p:nvPr/>
        </p:nvSpPr>
        <p:spPr>
          <a:xfrm>
            <a:off x="914278" y="3474641"/>
            <a:ext cx="9543811" cy="487660"/>
          </a:xfrm>
          <a:prstGeom prst="rect">
            <a:avLst/>
          </a:prstGeom>
          <a:noFill/>
          <a:ln/>
        </p:spPr>
        <p:txBody>
          <a:bodyPr wrap="none" lIns="0" tIns="0" rIns="0" bIns="0" rtlCol="0" anchor="t"/>
          <a:lstStyle/>
          <a:p>
            <a:pPr marL="0" indent="0" algn="l">
              <a:lnSpc>
                <a:spcPct val="100000"/>
              </a:lnSpc>
              <a:buNone/>
            </a:pPr>
            <a:r>
              <a:rPr lang="en-US" sz="3200" b="1" kern="100" spc="35" dirty="0">
                <a:solidFill>
                  <a:srgbClr val="FFFFFF"/>
                </a:solidFill>
                <a:latin typeface="Caladea Bold" pitchFamily="34" charset="0"/>
                <a:ea typeface="Caladea Bold" pitchFamily="34" charset="-122"/>
                <a:cs typeface="Caladea Bold" pitchFamily="34" charset="0"/>
              </a:rPr>
              <a:t>Understanding Musculoskeletal Pain</a:t>
            </a:r>
            <a:endParaRPr lang="en-US" sz="3200" dirty="0"/>
          </a:p>
        </p:txBody>
      </p:sp>
      <p:sp>
        <p:nvSpPr>
          <p:cNvPr id="4" name="Text 2"/>
          <p:cNvSpPr/>
          <p:nvPr/>
        </p:nvSpPr>
        <p:spPr>
          <a:xfrm>
            <a:off x="841156" y="1555941"/>
            <a:ext cx="4267093" cy="227806"/>
          </a:xfrm>
          <a:prstGeom prst="rect">
            <a:avLst/>
          </a:prstGeom>
          <a:noFill/>
          <a:ln/>
        </p:spPr>
        <p:txBody>
          <a:bodyPr wrap="none" lIns="0" tIns="0" rIns="0" bIns="0" rtlCol="0" anchor="t"/>
          <a:lstStyle/>
          <a:p>
            <a:pPr marL="0" indent="0" algn="l">
              <a:lnSpc>
                <a:spcPct val="115000"/>
              </a:lnSpc>
              <a:buNone/>
            </a:pPr>
            <a:r>
              <a:rPr lang="en-US" sz="1300" b="1" kern="100" spc="200" dirty="0">
                <a:solidFill>
                  <a:srgbClr val="E8F1F0"/>
                </a:solidFill>
                <a:latin typeface="Carlito Bold" pitchFamily="34" charset="0"/>
                <a:ea typeface="Carlito Bold" pitchFamily="34" charset="-122"/>
                <a:cs typeface="Carlito Bold" pitchFamily="34" charset="0"/>
              </a:rPr>
              <a:t>SECTION</a:t>
            </a:r>
            <a:endParaRPr lang="en-US" sz="1300" dirty="0"/>
          </a:p>
        </p:txBody>
      </p:sp>
      <p:sp>
        <p:nvSpPr>
          <p:cNvPr id="5" name="Text 3"/>
          <p:cNvSpPr/>
          <p:nvPr/>
        </p:nvSpPr>
        <p:spPr>
          <a:xfrm>
            <a:off x="822900" y="5450443"/>
            <a:ext cx="10301923" cy="262830"/>
          </a:xfrm>
          <a:prstGeom prst="rect">
            <a:avLst/>
          </a:prstGeom>
          <a:noFill/>
          <a:ln/>
        </p:spPr>
        <p:txBody>
          <a:bodyPr wrap="none" lIns="0" tIns="0" rIns="0" bIns="0" rtlCol="0" anchor="t"/>
          <a:lstStyle/>
          <a:p>
            <a:pPr marL="0" indent="0" algn="l">
              <a:lnSpc>
                <a:spcPct val="115000"/>
              </a:lnSpc>
              <a:buNone/>
            </a:pPr>
            <a:r>
              <a:rPr lang="en-US" sz="1500" i="1" dirty="0">
                <a:solidFill>
                  <a:srgbClr val="E8F1F0"/>
                </a:solidFill>
                <a:latin typeface="Carlito" pitchFamily="34" charset="0"/>
                <a:ea typeface="Carlito" pitchFamily="34" charset="-122"/>
                <a:cs typeface="Carlito" pitchFamily="34" charset="0"/>
              </a:rPr>
              <a:t>Where the pain comes from shapes how we treat it.</a:t>
            </a:r>
            <a:endParaRPr lang="en-US" sz="1500" dirty="0"/>
          </a:p>
        </p:txBody>
      </p:sp>
      <p:sp>
        <p:nvSpPr>
          <p:cNvPr id="6" name="Shape 4"/>
          <p:cNvSpPr/>
          <p:nvPr/>
        </p:nvSpPr>
        <p:spPr>
          <a:xfrm>
            <a:off x="10058148" y="685800"/>
            <a:ext cx="1051494" cy="1051520"/>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310455" y="938113"/>
            <a:ext cx="546781" cy="5467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44" y="1600200"/>
            <a:ext cx="5211930" cy="4526260"/>
          </a:xfrm>
          <a:prstGeom prst="roundRect">
            <a:avLst>
              <a:gd name="adj" fmla="val 2424"/>
            </a:avLst>
          </a:prstGeom>
          <a:solidFill>
            <a:srgbClr val="E8F1F0"/>
          </a:solidFill>
          <a:ln/>
        </p:spPr>
        <p:txBody>
          <a:bodyPr/>
          <a:lstStyle/>
          <a:p>
            <a:endParaRPr lang="en-US"/>
          </a:p>
        </p:txBody>
      </p:sp>
      <p:sp>
        <p:nvSpPr>
          <p:cNvPr id="3" name="Shape 1"/>
          <p:cNvSpPr/>
          <p:nvPr/>
        </p:nvSpPr>
        <p:spPr>
          <a:xfrm>
            <a:off x="6309162" y="1600200"/>
            <a:ext cx="5211930" cy="4526260"/>
          </a:xfrm>
          <a:prstGeom prst="roundRect">
            <a:avLst>
              <a:gd name="adj" fmla="val 2424"/>
            </a:avLst>
          </a:prstGeom>
          <a:solidFill>
            <a:srgbClr val="E8F1F0"/>
          </a:solidFill>
          <a:ln/>
        </p:spPr>
        <p:txBody>
          <a:bodyPr/>
          <a:lstStyle/>
          <a:p>
            <a:endParaRPr lang="en-US"/>
          </a:p>
        </p:txBody>
      </p:sp>
      <p:sp>
        <p:nvSpPr>
          <p:cNvPr id="4" name="Text 2"/>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CLASSIFICATION</a:t>
            </a:r>
            <a:endParaRPr lang="en-US" sz="1200" dirty="0"/>
          </a:p>
        </p:txBody>
      </p:sp>
      <p:sp>
        <p:nvSpPr>
          <p:cNvPr id="5" name="Text 3"/>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What Causes Musculoskeletal Pain?</a:t>
            </a:r>
            <a:endParaRPr lang="en-US" sz="2800" dirty="0"/>
          </a:p>
        </p:txBody>
      </p:sp>
      <p:sp>
        <p:nvSpPr>
          <p:cNvPr id="6" name="Shape 4"/>
          <p:cNvSpPr/>
          <p:nvPr/>
        </p:nvSpPr>
        <p:spPr>
          <a:xfrm>
            <a:off x="10972526" y="502841"/>
            <a:ext cx="566823" cy="566837"/>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8" name="Shape 5"/>
          <p:cNvSpPr/>
          <p:nvPr/>
        </p:nvSpPr>
        <p:spPr>
          <a:xfrm>
            <a:off x="640044" y="1600200"/>
            <a:ext cx="5211831" cy="502841"/>
          </a:xfrm>
          <a:prstGeom prst="roundRect">
            <a:avLst>
              <a:gd name="adj" fmla="val 21821"/>
            </a:avLst>
          </a:prstGeom>
          <a:solidFill>
            <a:srgbClr val="0F7173"/>
          </a:solidFill>
          <a:ln/>
        </p:spPr>
        <p:txBody>
          <a:bodyPr/>
          <a:lstStyle/>
          <a:p>
            <a:endParaRPr lang="en-US"/>
          </a:p>
        </p:txBody>
      </p:sp>
      <p:sp>
        <p:nvSpPr>
          <p:cNvPr id="9" name="Shape 6"/>
          <p:cNvSpPr/>
          <p:nvPr/>
        </p:nvSpPr>
        <p:spPr>
          <a:xfrm>
            <a:off x="640044" y="1856184"/>
            <a:ext cx="5211831" cy="255984"/>
          </a:xfrm>
          <a:prstGeom prst="rect">
            <a:avLst/>
          </a:prstGeom>
          <a:solidFill>
            <a:srgbClr val="0F7173"/>
          </a:solidFill>
          <a:ln/>
        </p:spPr>
        <p:txBody>
          <a:bodyPr/>
          <a:lstStyle/>
          <a:p>
            <a:endParaRPr lang="en-US"/>
          </a:p>
        </p:txBody>
      </p:sp>
      <p:sp>
        <p:nvSpPr>
          <p:cNvPr id="10" name="Text 7"/>
          <p:cNvSpPr/>
          <p:nvPr/>
        </p:nvSpPr>
        <p:spPr>
          <a:xfrm>
            <a:off x="841156"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By Mechanism</a:t>
            </a:r>
            <a:endParaRPr lang="en-US" sz="1600" dirty="0"/>
          </a:p>
        </p:txBody>
      </p:sp>
      <p:sp>
        <p:nvSpPr>
          <p:cNvPr id="11" name="Text 8"/>
          <p:cNvSpPr/>
          <p:nvPr/>
        </p:nvSpPr>
        <p:spPr>
          <a:xfrm>
            <a:off x="1046236" y="2272010"/>
            <a:ext cx="4519896" cy="1081683"/>
          </a:xfrm>
          <a:prstGeom prst="rect">
            <a:avLst/>
          </a:prstGeom>
          <a:noFill/>
          <a:ln/>
        </p:spPr>
        <p:txBody>
          <a:bodyPr wrap="square" lIns="0" tIns="0" rIns="0" bIns="0" rtlCol="0" anchor="t">
            <a:normAutofit/>
          </a:bodyPr>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Nociceptive — direct activation of pain receptors by tissue injury</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Inflammatory — pain driven by inflammatory mediators</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Neuropathic — pain from nerve injury or dysfunction</a:t>
            </a:r>
            <a:endParaRPr lang="en-US" sz="1400" dirty="0"/>
          </a:p>
        </p:txBody>
      </p:sp>
      <p:sp>
        <p:nvSpPr>
          <p:cNvPr id="12" name="Shape 9"/>
          <p:cNvSpPr/>
          <p:nvPr/>
        </p:nvSpPr>
        <p:spPr>
          <a:xfrm>
            <a:off x="6309162" y="1600200"/>
            <a:ext cx="5211831" cy="502841"/>
          </a:xfrm>
          <a:prstGeom prst="roundRect">
            <a:avLst>
              <a:gd name="adj" fmla="val 21821"/>
            </a:avLst>
          </a:prstGeom>
          <a:solidFill>
            <a:srgbClr val="2A6F97"/>
          </a:solidFill>
          <a:ln/>
        </p:spPr>
        <p:txBody>
          <a:bodyPr/>
          <a:lstStyle/>
          <a:p>
            <a:endParaRPr lang="en-US"/>
          </a:p>
        </p:txBody>
      </p:sp>
      <p:sp>
        <p:nvSpPr>
          <p:cNvPr id="13" name="Shape 10"/>
          <p:cNvSpPr/>
          <p:nvPr/>
        </p:nvSpPr>
        <p:spPr>
          <a:xfrm>
            <a:off x="6309162" y="1856184"/>
            <a:ext cx="5211831" cy="255984"/>
          </a:xfrm>
          <a:prstGeom prst="rect">
            <a:avLst/>
          </a:prstGeom>
          <a:solidFill>
            <a:srgbClr val="2A6F97"/>
          </a:solidFill>
          <a:ln/>
        </p:spPr>
        <p:txBody>
          <a:bodyPr/>
          <a:lstStyle/>
          <a:p>
            <a:endParaRPr lang="en-US"/>
          </a:p>
        </p:txBody>
      </p:sp>
      <p:sp>
        <p:nvSpPr>
          <p:cNvPr id="14" name="Text 11"/>
          <p:cNvSpPr/>
          <p:nvPr/>
        </p:nvSpPr>
        <p:spPr>
          <a:xfrm>
            <a:off x="6510274"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By Time Course</a:t>
            </a:r>
            <a:endParaRPr lang="en-US" sz="1600" dirty="0"/>
          </a:p>
        </p:txBody>
      </p:sp>
      <p:sp>
        <p:nvSpPr>
          <p:cNvPr id="15" name="Text 12"/>
          <p:cNvSpPr/>
          <p:nvPr/>
        </p:nvSpPr>
        <p:spPr>
          <a:xfrm>
            <a:off x="6715354" y="2272010"/>
            <a:ext cx="4519896" cy="1081683"/>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Acute — recent onset, often tied to identifiable injury or flare</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Chronic — persists beyond expected healing time, often &gt; 3 months</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Treatment approach differs sharply between the two</a:t>
            </a:r>
            <a:endParaRPr lang="en-US" sz="1400" dirty="0"/>
          </a:p>
        </p:txBody>
      </p:sp>
      <p:sp>
        <p:nvSpPr>
          <p:cNvPr id="16" name="Text 1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17" name="Text 1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THE CASCADE</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Inflammation Drives Pain</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698292" cy="688677"/>
          </a:xfrm>
          <a:prstGeom prst="rect">
            <a:avLst/>
          </a:prstGeom>
          <a:noFill/>
          <a:ln/>
        </p:spPr>
        <p:txBody>
          <a:bodyPr wrap="square" lIns="0" tIns="0" rIns="0" bIns="0" rtlCol="0" anchor="t">
            <a:normAutofit lnSpcReduction="10000"/>
          </a:bodyPr>
          <a:lstStyle/>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Tissue injury → release of inflammatory mediators → sensitization of nociceptors → pain.</a:t>
            </a:r>
          </a:p>
          <a:p>
            <a:pPr marL="229616" indent="-229616" algn="l">
              <a:lnSpc>
                <a:spcPct val="100000"/>
              </a:lnSpc>
              <a:buSzPct val="100000"/>
              <a:buChar char="●"/>
            </a:pP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Key mediators include:</a:t>
            </a:r>
            <a:endParaRPr lang="en-US" sz="1600" dirty="0"/>
          </a:p>
        </p:txBody>
      </p:sp>
      <p:sp>
        <p:nvSpPr>
          <p:cNvPr id="7" name="Text 4"/>
          <p:cNvSpPr/>
          <p:nvPr/>
        </p:nvSpPr>
        <p:spPr>
          <a:xfrm>
            <a:off x="1188313" y="2258147"/>
            <a:ext cx="10241401" cy="414139"/>
          </a:xfrm>
          <a:prstGeom prst="rect">
            <a:avLst/>
          </a:prstGeom>
          <a:noFill/>
          <a:ln/>
        </p:spPr>
        <p:txBody>
          <a:bodyPr wrap="square" lIns="0" tIns="200909" rIns="0" bIns="0" rtlCol="0" anchor="t">
            <a:normAutofit fontScale="92500" lnSpcReduction="10000"/>
          </a:bodyPr>
          <a:lstStyle/>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a:t>
            </a:r>
            <a:r>
              <a:rPr lang="en-US" sz="1600" dirty="0">
                <a:solidFill>
                  <a:srgbClr val="1A1A1A"/>
                </a:solidFill>
                <a:latin typeface="Carlito" pitchFamily="34" charset="0"/>
                <a:ea typeface="Carlito" pitchFamily="34" charset="-122"/>
                <a:cs typeface="Carlito" pitchFamily="34" charset="0"/>
              </a:rPr>
              <a:t>Prostaglandins</a:t>
            </a:r>
            <a:endParaRPr lang="en-US" sz="1600" dirty="0"/>
          </a:p>
        </p:txBody>
      </p:sp>
      <p:sp>
        <p:nvSpPr>
          <p:cNvPr id="8" name="Text 5"/>
          <p:cNvSpPr/>
          <p:nvPr/>
        </p:nvSpPr>
        <p:spPr>
          <a:xfrm>
            <a:off x="1188313" y="2670671"/>
            <a:ext cx="10241401" cy="1716394"/>
          </a:xfrm>
          <a:prstGeom prst="rect">
            <a:avLst/>
          </a:prstGeom>
          <a:noFill/>
          <a:ln/>
        </p:spPr>
        <p:txBody>
          <a:bodyPr wrap="square" lIns="0" tIns="151127" rIns="0" bIns="0" rtlCol="0" anchor="t">
            <a:normAutofit/>
          </a:bodyPr>
          <a:lstStyle/>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Bradykinin</a:t>
            </a:r>
          </a:p>
          <a:p>
            <a:pPr marL="0" indent="0" algn="l">
              <a:lnSpc>
                <a:spcPct val="100000"/>
              </a:lnSpc>
              <a:buNone/>
            </a:pP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Histamine</a:t>
            </a:r>
          </a:p>
          <a:p>
            <a:pPr marL="0" indent="0" algn="l">
              <a:lnSpc>
                <a:spcPct val="100000"/>
              </a:lnSpc>
              <a:buNone/>
            </a:pP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Cytokines (e.g., TNF-α, IL-1, IL-6)</a:t>
            </a:r>
            <a:endParaRPr lang="en-US" sz="1400" dirty="0"/>
          </a:p>
        </p:txBody>
      </p:sp>
      <p:sp>
        <p:nvSpPr>
          <p:cNvPr id="9" name="Text 6"/>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10" name="Text 7"/>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60866"/>
            <a:ext cx="10972526" cy="422176"/>
          </a:xfrm>
          <a:prstGeom prst="rect">
            <a:avLst/>
          </a:prstGeom>
          <a:noFill/>
          <a:ln/>
        </p:spPr>
        <p:txBody>
          <a:bodyPr wrap="none" lIns="0" tIns="0" rIns="0" bIns="0" rtlCol="0" anchor="t"/>
          <a:lstStyle/>
          <a:p>
            <a:pPr marL="0" indent="0" algn="l">
              <a:lnSpc>
                <a:spcPct val="100000"/>
              </a:lnSpc>
              <a:buNone/>
            </a:pPr>
            <a:r>
              <a:rPr lang="en-US" sz="2750" b="1" dirty="0">
                <a:solidFill>
                  <a:srgbClr val="123C44"/>
                </a:solidFill>
                <a:latin typeface="Caladea Bold" pitchFamily="34" charset="0"/>
                <a:ea typeface="Caladea Bold" pitchFamily="34" charset="-122"/>
                <a:cs typeface="Caladea Bold" pitchFamily="34" charset="0"/>
              </a:rPr>
              <a:t>Inflammatory Mediators Sensitize Nociceptors</a:t>
            </a:r>
            <a:endParaRPr lang="en-US" sz="2750" dirty="0"/>
          </a:p>
        </p:txBody>
      </p:sp>
      <p:pic>
        <p:nvPicPr>
          <p:cNvPr id="4" name="Image 0" descr="preencoded.png"/>
          <p:cNvPicPr>
            <a:picLocks noChangeAspect="1"/>
          </p:cNvPicPr>
          <p:nvPr/>
        </p:nvPicPr>
        <p:blipFill>
          <a:blip r:embed="rId3"/>
          <a:stretch>
            <a:fillRect/>
          </a:stretch>
        </p:blipFill>
        <p:spPr>
          <a:xfrm>
            <a:off x="838179" y="1831479"/>
            <a:ext cx="5760497" cy="3240286"/>
          </a:xfrm>
          <a:prstGeom prst="rect">
            <a:avLst/>
          </a:prstGeom>
        </p:spPr>
      </p:pic>
      <p:sp>
        <p:nvSpPr>
          <p:cNvPr id="5" name="Text 2"/>
          <p:cNvSpPr/>
          <p:nvPr/>
        </p:nvSpPr>
        <p:spPr>
          <a:xfrm>
            <a:off x="6827270" y="1831479"/>
            <a:ext cx="4754840" cy="2226813"/>
          </a:xfrm>
          <a:prstGeom prst="rect">
            <a:avLst/>
          </a:prstGeom>
          <a:noFill/>
          <a:ln/>
        </p:spPr>
        <p:txBody>
          <a:bodyPr wrap="square" lIns="0" tIns="0" rIns="0" bIns="0" rtlCol="0" anchor="t">
            <a:normAutofit lnSpcReduction="10000"/>
          </a:bodyPr>
          <a:lstStyle/>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Injury releases mediators:</a:t>
            </a:r>
            <a:r>
              <a:rPr lang="en-US" sz="1600" dirty="0">
                <a:solidFill>
                  <a:srgbClr val="1A1A1A"/>
                </a:solidFill>
                <a:latin typeface="Carlito" pitchFamily="34" charset="0"/>
                <a:ea typeface="Carlito" pitchFamily="34" charset="-122"/>
                <a:cs typeface="Carlito" pitchFamily="34" charset="0"/>
              </a:rPr>
              <a:t> PGE2, bradykinin, histamine, and cytokines.</a:t>
            </a:r>
          </a:p>
          <a:p>
            <a:pPr marL="325120" indent="-325120" algn="l">
              <a:lnSpc>
                <a:spcPct val="115000"/>
              </a:lnSpc>
              <a:buSzPct val="100000"/>
              <a:buChar char="•"/>
            </a:pP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Nociceptor sensitization:</a:t>
            </a:r>
            <a:r>
              <a:rPr lang="en-US" sz="1600" dirty="0">
                <a:solidFill>
                  <a:srgbClr val="1A1A1A"/>
                </a:solidFill>
                <a:latin typeface="Carlito" pitchFamily="34" charset="0"/>
                <a:ea typeface="Carlito" pitchFamily="34" charset="-122"/>
                <a:cs typeface="Carlito" pitchFamily="34" charset="0"/>
              </a:rPr>
              <a:t> mediators lower the pain threshold.</a:t>
            </a:r>
          </a:p>
          <a:p>
            <a:pPr marL="325120" indent="-325120" algn="l">
              <a:lnSpc>
                <a:spcPct val="115000"/>
              </a:lnSpc>
              <a:buSzPct val="100000"/>
              <a:buChar char="•"/>
            </a:pP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Where drugs act:</a:t>
            </a:r>
            <a:r>
              <a:rPr lang="en-US" sz="1600" dirty="0">
                <a:solidFill>
                  <a:srgbClr val="1A1A1A"/>
                </a:solidFill>
                <a:latin typeface="Carlito" pitchFamily="34" charset="0"/>
                <a:ea typeface="Carlito" pitchFamily="34" charset="-122"/>
                <a:cs typeface="Carlito" pitchFamily="34" charset="0"/>
              </a:rPr>
              <a:t> NSAIDs block COX; corticosteroids block PLA2 upstream.</a:t>
            </a:r>
          </a:p>
          <a:p>
            <a:pPr marL="325120" indent="-325120" algn="l">
              <a:lnSpc>
                <a:spcPct val="115000"/>
              </a:lnSpc>
              <a:buSzPct val="100000"/>
              <a:buChar char="•"/>
            </a:pPr>
            <a:endParaRPr lang="en-US" sz="1600" dirty="0"/>
          </a:p>
        </p:txBody>
      </p:sp>
      <p:sp>
        <p:nvSpPr>
          <p:cNvPr id="6" name="Text 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7" name="Text 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WHERE DRUGS INTERVENE</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Therapeutic Targets in the Pain Pathway</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2377380"/>
            <a:ext cx="2432188" cy="1600200"/>
          </a:xfrm>
          <a:prstGeom prst="roundRect">
            <a:avLst>
              <a:gd name="adj" fmla="val 5486"/>
            </a:avLst>
          </a:prstGeom>
          <a:solidFill>
            <a:srgbClr val="0F7173"/>
          </a:solidFill>
          <a:ln/>
        </p:spPr>
        <p:txBody>
          <a:bodyPr/>
          <a:lstStyle/>
          <a:p>
            <a:endParaRPr lang="en-US"/>
          </a:p>
        </p:txBody>
      </p:sp>
      <p:sp>
        <p:nvSpPr>
          <p:cNvPr id="7" name="Text 4"/>
          <p:cNvSpPr/>
          <p:nvPr/>
        </p:nvSpPr>
        <p:spPr>
          <a:xfrm>
            <a:off x="738566" y="2965641"/>
            <a:ext cx="2235144" cy="455612"/>
          </a:xfrm>
          <a:prstGeom prst="rect">
            <a:avLst/>
          </a:prstGeom>
          <a:noFill/>
          <a:ln/>
        </p:spPr>
        <p:txBody>
          <a:bodyPr wrap="square" lIns="0" tIns="0" rIns="0" bIns="0" rtlCol="0" anchor="t">
            <a:normAutofit/>
          </a:bodyPr>
          <a:lstStyle/>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Arachidonic</a:t>
            </a:r>
            <a:endParaRPr lang="en-US" sz="1300" dirty="0"/>
          </a:p>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Acid</a:t>
            </a:r>
            <a:endParaRPr lang="en-US" sz="1300" dirty="0"/>
          </a:p>
        </p:txBody>
      </p:sp>
      <p:sp>
        <p:nvSpPr>
          <p:cNvPr id="8" name="Shape 5"/>
          <p:cNvSpPr/>
          <p:nvPr/>
        </p:nvSpPr>
        <p:spPr>
          <a:xfrm>
            <a:off x="3072232" y="2994620"/>
            <a:ext cx="383967" cy="365720"/>
          </a:xfrm>
          <a:custGeom>
            <a:avLst/>
            <a:gdLst/>
            <a:ahLst/>
            <a:cxnLst/>
            <a:rect l="l" t="t" r="r" b="b"/>
            <a:pathLst>
              <a:path w="383967" h="365720">
                <a:moveTo>
                  <a:pt x="0" y="0"/>
                </a:moveTo>
                <a:lnTo>
                  <a:pt x="201122" y="0"/>
                </a:lnTo>
                <a:lnTo>
                  <a:pt x="383967" y="182860"/>
                </a:lnTo>
                <a:lnTo>
                  <a:pt x="201122" y="365720"/>
                </a:lnTo>
                <a:lnTo>
                  <a:pt x="0" y="365720"/>
                </a:lnTo>
                <a:lnTo>
                  <a:pt x="182845" y="182860"/>
                </a:lnTo>
                <a:close/>
              </a:path>
            </a:pathLst>
          </a:custGeom>
          <a:solidFill>
            <a:srgbClr val="5C6B73"/>
          </a:solidFill>
          <a:ln/>
        </p:spPr>
        <p:txBody>
          <a:bodyPr/>
          <a:lstStyle/>
          <a:p>
            <a:endParaRPr lang="en-US"/>
          </a:p>
        </p:txBody>
      </p:sp>
      <p:sp>
        <p:nvSpPr>
          <p:cNvPr id="9" name="Shape 6"/>
          <p:cNvSpPr/>
          <p:nvPr/>
        </p:nvSpPr>
        <p:spPr>
          <a:xfrm>
            <a:off x="3456298" y="2377380"/>
            <a:ext cx="2432188" cy="1600200"/>
          </a:xfrm>
          <a:prstGeom prst="roundRect">
            <a:avLst>
              <a:gd name="adj" fmla="val 5486"/>
            </a:avLst>
          </a:prstGeom>
          <a:solidFill>
            <a:srgbClr val="2A6F97"/>
          </a:solidFill>
          <a:ln/>
        </p:spPr>
        <p:txBody>
          <a:bodyPr/>
          <a:lstStyle/>
          <a:p>
            <a:endParaRPr lang="en-US"/>
          </a:p>
        </p:txBody>
      </p:sp>
      <p:sp>
        <p:nvSpPr>
          <p:cNvPr id="10" name="Text 7"/>
          <p:cNvSpPr/>
          <p:nvPr/>
        </p:nvSpPr>
        <p:spPr>
          <a:xfrm>
            <a:off x="3554820" y="2965641"/>
            <a:ext cx="2235144" cy="455612"/>
          </a:xfrm>
          <a:prstGeom prst="rect">
            <a:avLst/>
          </a:prstGeom>
          <a:noFill/>
          <a:ln/>
        </p:spPr>
        <p:txBody>
          <a:bodyPr wrap="square" lIns="0" tIns="0" rIns="0" bIns="0" rtlCol="0" anchor="t">
            <a:normAutofit/>
          </a:bodyPr>
          <a:lstStyle/>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COX</a:t>
            </a:r>
            <a:endParaRPr lang="en-US" sz="1300" dirty="0"/>
          </a:p>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Enzyme</a:t>
            </a:r>
            <a:endParaRPr lang="en-US" sz="1300" dirty="0"/>
          </a:p>
        </p:txBody>
      </p:sp>
      <p:sp>
        <p:nvSpPr>
          <p:cNvPr id="11" name="Shape 8"/>
          <p:cNvSpPr/>
          <p:nvPr/>
        </p:nvSpPr>
        <p:spPr>
          <a:xfrm>
            <a:off x="5888585" y="2994620"/>
            <a:ext cx="383967" cy="365720"/>
          </a:xfrm>
          <a:custGeom>
            <a:avLst/>
            <a:gdLst/>
            <a:ahLst/>
            <a:cxnLst/>
            <a:rect l="l" t="t" r="r" b="b"/>
            <a:pathLst>
              <a:path w="383967" h="365720">
                <a:moveTo>
                  <a:pt x="0" y="0"/>
                </a:moveTo>
                <a:lnTo>
                  <a:pt x="201122" y="0"/>
                </a:lnTo>
                <a:lnTo>
                  <a:pt x="383967" y="182860"/>
                </a:lnTo>
                <a:lnTo>
                  <a:pt x="201122" y="365720"/>
                </a:lnTo>
                <a:lnTo>
                  <a:pt x="0" y="365720"/>
                </a:lnTo>
                <a:lnTo>
                  <a:pt x="182845" y="182860"/>
                </a:lnTo>
                <a:close/>
              </a:path>
            </a:pathLst>
          </a:custGeom>
          <a:solidFill>
            <a:srgbClr val="5C6B73"/>
          </a:solidFill>
          <a:ln/>
        </p:spPr>
        <p:txBody>
          <a:bodyPr/>
          <a:lstStyle/>
          <a:p>
            <a:endParaRPr lang="en-US"/>
          </a:p>
        </p:txBody>
      </p:sp>
      <p:sp>
        <p:nvSpPr>
          <p:cNvPr id="12" name="Shape 9"/>
          <p:cNvSpPr/>
          <p:nvPr/>
        </p:nvSpPr>
        <p:spPr>
          <a:xfrm>
            <a:off x="6272552" y="2377380"/>
            <a:ext cx="2432188" cy="1600200"/>
          </a:xfrm>
          <a:prstGeom prst="roundRect">
            <a:avLst>
              <a:gd name="adj" fmla="val 5486"/>
            </a:avLst>
          </a:prstGeom>
          <a:solidFill>
            <a:srgbClr val="6B9080"/>
          </a:solidFill>
          <a:ln/>
        </p:spPr>
        <p:txBody>
          <a:bodyPr/>
          <a:lstStyle/>
          <a:p>
            <a:endParaRPr lang="en-US"/>
          </a:p>
        </p:txBody>
      </p:sp>
      <p:sp>
        <p:nvSpPr>
          <p:cNvPr id="13" name="Text 10"/>
          <p:cNvSpPr/>
          <p:nvPr/>
        </p:nvSpPr>
        <p:spPr>
          <a:xfrm>
            <a:off x="6066380" y="3064661"/>
            <a:ext cx="2844729" cy="227806"/>
          </a:xfrm>
          <a:prstGeom prst="rect">
            <a:avLst/>
          </a:prstGeom>
          <a:noFill/>
          <a:ln/>
        </p:spPr>
        <p:txBody>
          <a:bodyPr wrap="none" lIns="0" tIns="0" rIns="0" bIns="0" rtlCol="0" anchor="t"/>
          <a:lstStyle/>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Prostaglandins</a:t>
            </a:r>
            <a:endParaRPr lang="en-US" sz="1300" dirty="0"/>
          </a:p>
        </p:txBody>
      </p:sp>
      <p:sp>
        <p:nvSpPr>
          <p:cNvPr id="14" name="Shape 11"/>
          <p:cNvSpPr/>
          <p:nvPr/>
        </p:nvSpPr>
        <p:spPr>
          <a:xfrm>
            <a:off x="8704838" y="2994620"/>
            <a:ext cx="383967" cy="365720"/>
          </a:xfrm>
          <a:custGeom>
            <a:avLst/>
            <a:gdLst/>
            <a:ahLst/>
            <a:cxnLst/>
            <a:rect l="l" t="t" r="r" b="b"/>
            <a:pathLst>
              <a:path w="383967" h="365720">
                <a:moveTo>
                  <a:pt x="0" y="0"/>
                </a:moveTo>
                <a:lnTo>
                  <a:pt x="201122" y="0"/>
                </a:lnTo>
                <a:lnTo>
                  <a:pt x="383967" y="182860"/>
                </a:lnTo>
                <a:lnTo>
                  <a:pt x="201122" y="365720"/>
                </a:lnTo>
                <a:lnTo>
                  <a:pt x="0" y="365720"/>
                </a:lnTo>
                <a:lnTo>
                  <a:pt x="182845" y="182860"/>
                </a:lnTo>
                <a:close/>
              </a:path>
            </a:pathLst>
          </a:custGeom>
          <a:solidFill>
            <a:srgbClr val="5C6B73"/>
          </a:solidFill>
          <a:ln/>
        </p:spPr>
        <p:txBody>
          <a:bodyPr/>
          <a:lstStyle/>
          <a:p>
            <a:endParaRPr lang="en-US"/>
          </a:p>
        </p:txBody>
      </p:sp>
      <p:sp>
        <p:nvSpPr>
          <p:cNvPr id="15" name="Shape 12"/>
          <p:cNvSpPr/>
          <p:nvPr/>
        </p:nvSpPr>
        <p:spPr>
          <a:xfrm>
            <a:off x="9088905" y="2377380"/>
            <a:ext cx="2432188" cy="1600200"/>
          </a:xfrm>
          <a:prstGeom prst="roundRect">
            <a:avLst>
              <a:gd name="adj" fmla="val 5486"/>
            </a:avLst>
          </a:prstGeom>
          <a:solidFill>
            <a:srgbClr val="0F7173"/>
          </a:solidFill>
          <a:ln/>
        </p:spPr>
        <p:txBody>
          <a:bodyPr/>
          <a:lstStyle/>
          <a:p>
            <a:endParaRPr lang="en-US"/>
          </a:p>
        </p:txBody>
      </p:sp>
      <p:sp>
        <p:nvSpPr>
          <p:cNvPr id="16" name="Text 13"/>
          <p:cNvSpPr/>
          <p:nvPr/>
        </p:nvSpPr>
        <p:spPr>
          <a:xfrm>
            <a:off x="9187426" y="2965641"/>
            <a:ext cx="2235144" cy="455612"/>
          </a:xfrm>
          <a:prstGeom prst="rect">
            <a:avLst/>
          </a:prstGeom>
          <a:noFill/>
          <a:ln/>
        </p:spPr>
        <p:txBody>
          <a:bodyPr wrap="square" lIns="0" tIns="0" rIns="0" bIns="0" rtlCol="0" anchor="t">
            <a:normAutofit/>
          </a:bodyPr>
          <a:lstStyle/>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Pain &amp;</a:t>
            </a:r>
            <a:endParaRPr lang="en-US" sz="1300" dirty="0"/>
          </a:p>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Inflammation</a:t>
            </a:r>
            <a:endParaRPr lang="en-US" sz="1300" dirty="0"/>
          </a:p>
        </p:txBody>
      </p:sp>
      <p:sp>
        <p:nvSpPr>
          <p:cNvPr id="17" name="Text 14"/>
          <p:cNvSpPr/>
          <p:nvPr/>
        </p:nvSpPr>
        <p:spPr>
          <a:xfrm>
            <a:off x="640044" y="4589042"/>
            <a:ext cx="11490633" cy="245269"/>
          </a:xfrm>
          <a:prstGeom prst="rect">
            <a:avLst/>
          </a:prstGeom>
          <a:noFill/>
          <a:ln/>
        </p:spPr>
        <p:txBody>
          <a:bodyPr wrap="none" lIns="0" tIns="0" rIns="0" bIns="0" rtlCol="0" anchor="t"/>
          <a:lstStyle/>
          <a:p>
            <a:pPr marL="0" indent="0" algn="l">
              <a:lnSpc>
                <a:spcPct val="115000"/>
              </a:lnSpc>
              <a:buNone/>
            </a:pPr>
            <a:r>
              <a:rPr lang="en-US" sz="1400" i="1" dirty="0">
                <a:solidFill>
                  <a:srgbClr val="5C6B73"/>
                </a:solidFill>
                <a:latin typeface="Carlito" pitchFamily="34" charset="0"/>
                <a:ea typeface="Carlito" pitchFamily="34" charset="-122"/>
                <a:cs typeface="Carlito" pitchFamily="34" charset="0"/>
              </a:rPr>
              <a:t>NSAIDs and COX-2 inhibitors act here; glucocorticoids act further upstream; cytokine inhibitors and analgesics act through separate, parallel pathways.</a:t>
            </a:r>
            <a:endParaRPr lang="en-US" sz="1400" dirty="0"/>
          </a:p>
        </p:txBody>
      </p:sp>
      <p:sp>
        <p:nvSpPr>
          <p:cNvPr id="18" name="Text 15"/>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19" name="Text 16"/>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ORIGINAL ILLUSTRATION · FIGURE 1</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The Arachidonic Acid Pathway: Where Analgesics Act</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pic>
        <p:nvPicPr>
          <p:cNvPr id="6" name="Image 1" descr="preencoded.png"/>
          <p:cNvPicPr>
            <a:picLocks noChangeAspect="1"/>
          </p:cNvPicPr>
          <p:nvPr/>
        </p:nvPicPr>
        <p:blipFill>
          <a:blip r:embed="rId4"/>
          <a:stretch>
            <a:fillRect/>
          </a:stretch>
        </p:blipFill>
        <p:spPr>
          <a:xfrm>
            <a:off x="1920132" y="1554460"/>
            <a:ext cx="8320772" cy="4160441"/>
          </a:xfrm>
          <a:prstGeom prst="rect">
            <a:avLst/>
          </a:prstGeom>
        </p:spPr>
      </p:pic>
      <p:sp>
        <p:nvSpPr>
          <p:cNvPr id="7" name="Text 3"/>
          <p:cNvSpPr/>
          <p:nvPr/>
        </p:nvSpPr>
        <p:spPr>
          <a:xfrm>
            <a:off x="640044" y="5819874"/>
            <a:ext cx="10881048" cy="473075"/>
          </a:xfrm>
          <a:prstGeom prst="rect">
            <a:avLst/>
          </a:prstGeom>
          <a:noFill/>
          <a:ln/>
        </p:spPr>
        <p:txBody>
          <a:bodyPr wrap="square" lIns="0" tIns="0" rIns="0" bIns="0" rtlCol="0" anchor="t">
            <a:normAutofit/>
          </a:bodyPr>
          <a:lstStyle/>
          <a:p>
            <a:pPr marL="0" indent="0" algn="ctr">
              <a:lnSpc>
                <a:spcPct val="115000"/>
              </a:lnSpc>
              <a:buNone/>
            </a:pPr>
            <a:r>
              <a:rPr lang="en-US" sz="1350" i="1" dirty="0">
                <a:solidFill>
                  <a:srgbClr val="5C6B73"/>
                </a:solidFill>
                <a:latin typeface="Carlito" pitchFamily="34" charset="0"/>
                <a:ea typeface="Carlito" pitchFamily="34" charset="-122"/>
                <a:cs typeface="Carlito" pitchFamily="34" charset="0"/>
              </a:rPr>
              <a:t>Figure 1. Original illustrative diagram (not from Katzung): corticosteroids block phospholipase A₂ upstream, while NSAIDs and COX-2 inhibitors block the COX step itself — two distinct points of pharmacologic intervention.</a:t>
            </a:r>
            <a:endParaRPr lang="en-US" sz="1350" dirty="0"/>
          </a:p>
        </p:txBody>
      </p:sp>
      <p:sp>
        <p:nvSpPr>
          <p:cNvPr id="8"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9"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QUICK CHECK · FIGURE 1</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Quick Check</a:t>
            </a:r>
            <a:endParaRPr lang="en-US" sz="2800" dirty="0"/>
          </a:p>
        </p:txBody>
      </p:sp>
      <p:sp>
        <p:nvSpPr>
          <p:cNvPr id="4" name="Shape 2"/>
          <p:cNvSpPr/>
          <p:nvPr/>
        </p:nvSpPr>
        <p:spPr>
          <a:xfrm>
            <a:off x="10972526" y="502841"/>
            <a:ext cx="566823" cy="566837"/>
          </a:xfrm>
          <a:prstGeom prst="ellipse">
            <a:avLst/>
          </a:prstGeom>
          <a:solidFill>
            <a:srgbClr val="0F717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640044" y="1403350"/>
            <a:ext cx="10823900" cy="648295"/>
          </a:xfrm>
          <a:prstGeom prst="rect">
            <a:avLst/>
          </a:prstGeom>
          <a:noFill/>
          <a:ln/>
        </p:spPr>
        <p:txBody>
          <a:bodyPr wrap="square" lIns="0" tIns="0" rIns="0" bIns="0" rtlCol="0" anchor="t">
            <a:normAutofit/>
          </a:bodyPr>
          <a:lstStyle/>
          <a:p>
            <a:pPr marL="0" indent="0" algn="l">
              <a:lnSpc>
                <a:spcPct val="115000"/>
              </a:lnSpc>
              <a:buNone/>
            </a:pPr>
            <a:r>
              <a:rPr lang="en-US" sz="1850" b="1" dirty="0">
                <a:solidFill>
                  <a:srgbClr val="123C44"/>
                </a:solidFill>
                <a:latin typeface="Carlito Bold" pitchFamily="34" charset="0"/>
                <a:ea typeface="Carlito Bold" pitchFamily="34" charset="-122"/>
                <a:cs typeface="Carlito Bold" pitchFamily="34" charset="0"/>
              </a:rPr>
              <a:t>In Figure 1, corticosteroids are shown blocking the pathway at the "Membrane Phospholipids → Arachidonic Acid" step, while NSAIDs act one step later. What does this positioning explain?</a:t>
            </a:r>
            <a:endParaRPr lang="en-US" sz="1850" dirty="0"/>
          </a:p>
        </p:txBody>
      </p:sp>
      <p:sp>
        <p:nvSpPr>
          <p:cNvPr id="7" name="Shape 4"/>
          <p:cNvSpPr/>
          <p:nvPr/>
        </p:nvSpPr>
        <p:spPr>
          <a:xfrm>
            <a:off x="640044" y="2605980"/>
            <a:ext cx="5257668" cy="1097260"/>
          </a:xfrm>
          <a:prstGeom prst="roundRect">
            <a:avLst>
              <a:gd name="adj" fmla="val 8000"/>
            </a:avLst>
          </a:prstGeom>
          <a:solidFill>
            <a:srgbClr val="E8F1F0"/>
          </a:solidFill>
          <a:ln/>
        </p:spPr>
        <p:txBody>
          <a:bodyPr/>
          <a:lstStyle/>
          <a:p>
            <a:endParaRPr lang="en-US"/>
          </a:p>
        </p:txBody>
      </p:sp>
      <p:sp>
        <p:nvSpPr>
          <p:cNvPr id="8" name="Shape 5"/>
          <p:cNvSpPr/>
          <p:nvPr/>
        </p:nvSpPr>
        <p:spPr>
          <a:xfrm>
            <a:off x="804644" y="2944316"/>
            <a:ext cx="420578" cy="420588"/>
          </a:xfrm>
          <a:prstGeom prst="ellipse">
            <a:avLst/>
          </a:prstGeom>
          <a:solidFill>
            <a:srgbClr val="2A6F97"/>
          </a:solidFill>
          <a:ln/>
        </p:spPr>
        <p:txBody>
          <a:bodyPr/>
          <a:lstStyle/>
          <a:p>
            <a:endParaRPr lang="en-US"/>
          </a:p>
        </p:txBody>
      </p:sp>
      <p:sp>
        <p:nvSpPr>
          <p:cNvPr id="9" name="Text 6"/>
          <p:cNvSpPr/>
          <p:nvPr/>
        </p:nvSpPr>
        <p:spPr>
          <a:xfrm>
            <a:off x="499852"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A</a:t>
            </a:r>
            <a:endParaRPr lang="en-US" sz="1600" dirty="0"/>
          </a:p>
        </p:txBody>
      </p:sp>
      <p:sp>
        <p:nvSpPr>
          <p:cNvPr id="10" name="Text 7"/>
          <p:cNvSpPr/>
          <p:nvPr/>
        </p:nvSpPr>
        <p:spPr>
          <a:xfrm>
            <a:off x="1389821" y="2832100"/>
            <a:ext cx="4286143" cy="709613"/>
          </a:xfrm>
          <a:prstGeom prst="rect">
            <a:avLst/>
          </a:prstGeom>
          <a:noFill/>
          <a:ln/>
        </p:spPr>
        <p:txBody>
          <a:bodyPr wrap="square" lIns="0" tIns="0" rIns="0" bIns="0" rtlCol="0" anchor="t">
            <a:normAutofit/>
          </a:bodyPr>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Corticosteroids act upstream of NSAIDs, which is why they can suppress a broader range of inflammatory mediators, not just prostaglandins</a:t>
            </a:r>
            <a:endParaRPr lang="en-US" sz="1350" dirty="0"/>
          </a:p>
        </p:txBody>
      </p:sp>
      <p:sp>
        <p:nvSpPr>
          <p:cNvPr id="11" name="Shape 8"/>
          <p:cNvSpPr/>
          <p:nvPr/>
        </p:nvSpPr>
        <p:spPr>
          <a:xfrm>
            <a:off x="6263424" y="2605980"/>
            <a:ext cx="5257668" cy="1097260"/>
          </a:xfrm>
          <a:prstGeom prst="roundRect">
            <a:avLst>
              <a:gd name="adj" fmla="val 8000"/>
            </a:avLst>
          </a:prstGeom>
          <a:solidFill>
            <a:srgbClr val="E8F1F0"/>
          </a:solidFill>
          <a:ln/>
        </p:spPr>
        <p:txBody>
          <a:bodyPr/>
          <a:lstStyle/>
          <a:p>
            <a:endParaRPr lang="en-US"/>
          </a:p>
        </p:txBody>
      </p:sp>
      <p:sp>
        <p:nvSpPr>
          <p:cNvPr id="12" name="Shape 9"/>
          <p:cNvSpPr/>
          <p:nvPr/>
        </p:nvSpPr>
        <p:spPr>
          <a:xfrm>
            <a:off x="6428024" y="2944316"/>
            <a:ext cx="420578" cy="420588"/>
          </a:xfrm>
          <a:prstGeom prst="ellipse">
            <a:avLst/>
          </a:prstGeom>
          <a:solidFill>
            <a:srgbClr val="2A6F97"/>
          </a:solidFill>
          <a:ln/>
        </p:spPr>
        <p:txBody>
          <a:bodyPr/>
          <a:lstStyle/>
          <a:p>
            <a:endParaRPr lang="en-US"/>
          </a:p>
        </p:txBody>
      </p:sp>
      <p:sp>
        <p:nvSpPr>
          <p:cNvPr id="13" name="Text 10"/>
          <p:cNvSpPr/>
          <p:nvPr/>
        </p:nvSpPr>
        <p:spPr>
          <a:xfrm>
            <a:off x="6123231"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B</a:t>
            </a:r>
            <a:endParaRPr lang="en-US" sz="1600" dirty="0"/>
          </a:p>
        </p:txBody>
      </p:sp>
      <p:sp>
        <p:nvSpPr>
          <p:cNvPr id="14" name="Text 11"/>
          <p:cNvSpPr/>
          <p:nvPr/>
        </p:nvSpPr>
        <p:spPr>
          <a:xfrm>
            <a:off x="701320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Corticosteroids and NSAIDs block the exact same enzyme</a:t>
            </a:r>
            <a:endParaRPr lang="en-US" sz="1350" dirty="0"/>
          </a:p>
        </p:txBody>
      </p:sp>
      <p:sp>
        <p:nvSpPr>
          <p:cNvPr id="15" name="Shape 12"/>
          <p:cNvSpPr/>
          <p:nvPr/>
        </p:nvSpPr>
        <p:spPr>
          <a:xfrm>
            <a:off x="640044" y="3977580"/>
            <a:ext cx="5257668" cy="1097260"/>
          </a:xfrm>
          <a:prstGeom prst="roundRect">
            <a:avLst>
              <a:gd name="adj" fmla="val 8000"/>
            </a:avLst>
          </a:prstGeom>
          <a:solidFill>
            <a:srgbClr val="E8F1F0"/>
          </a:solidFill>
          <a:ln/>
        </p:spPr>
        <p:txBody>
          <a:bodyPr/>
          <a:lstStyle/>
          <a:p>
            <a:endParaRPr lang="en-US"/>
          </a:p>
        </p:txBody>
      </p:sp>
      <p:sp>
        <p:nvSpPr>
          <p:cNvPr id="16" name="Shape 13"/>
          <p:cNvSpPr/>
          <p:nvPr/>
        </p:nvSpPr>
        <p:spPr>
          <a:xfrm>
            <a:off x="804644" y="4315916"/>
            <a:ext cx="420578" cy="420588"/>
          </a:xfrm>
          <a:prstGeom prst="ellipse">
            <a:avLst/>
          </a:prstGeom>
          <a:solidFill>
            <a:srgbClr val="2A6F97"/>
          </a:solidFill>
          <a:ln/>
        </p:spPr>
        <p:txBody>
          <a:bodyPr/>
          <a:lstStyle/>
          <a:p>
            <a:endParaRPr lang="en-US"/>
          </a:p>
        </p:txBody>
      </p:sp>
      <p:sp>
        <p:nvSpPr>
          <p:cNvPr id="17" name="Text 14"/>
          <p:cNvSpPr/>
          <p:nvPr/>
        </p:nvSpPr>
        <p:spPr>
          <a:xfrm>
            <a:off x="499852"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a:t>
            </a:r>
            <a:endParaRPr lang="en-US" sz="1600" dirty="0"/>
          </a:p>
        </p:txBody>
      </p:sp>
      <p:sp>
        <p:nvSpPr>
          <p:cNvPr id="18" name="Text 15"/>
          <p:cNvSpPr/>
          <p:nvPr/>
        </p:nvSpPr>
        <p:spPr>
          <a:xfrm>
            <a:off x="138982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NSAIDs act upstream of corticosteroids</a:t>
            </a:r>
            <a:endParaRPr lang="en-US" sz="1350" dirty="0"/>
          </a:p>
        </p:txBody>
      </p:sp>
      <p:sp>
        <p:nvSpPr>
          <p:cNvPr id="19" name="Shape 16"/>
          <p:cNvSpPr/>
          <p:nvPr/>
        </p:nvSpPr>
        <p:spPr>
          <a:xfrm>
            <a:off x="6263424" y="3977580"/>
            <a:ext cx="5257668" cy="1097260"/>
          </a:xfrm>
          <a:prstGeom prst="roundRect">
            <a:avLst>
              <a:gd name="adj" fmla="val 8000"/>
            </a:avLst>
          </a:prstGeom>
          <a:solidFill>
            <a:srgbClr val="E8F1F0"/>
          </a:solidFill>
          <a:ln/>
        </p:spPr>
        <p:txBody>
          <a:bodyPr/>
          <a:lstStyle/>
          <a:p>
            <a:endParaRPr lang="en-US"/>
          </a:p>
        </p:txBody>
      </p:sp>
      <p:sp>
        <p:nvSpPr>
          <p:cNvPr id="20" name="Shape 17"/>
          <p:cNvSpPr/>
          <p:nvPr/>
        </p:nvSpPr>
        <p:spPr>
          <a:xfrm>
            <a:off x="6428024" y="4315916"/>
            <a:ext cx="420578" cy="420588"/>
          </a:xfrm>
          <a:prstGeom prst="ellipse">
            <a:avLst/>
          </a:prstGeom>
          <a:solidFill>
            <a:srgbClr val="2A6F97"/>
          </a:solidFill>
          <a:ln/>
        </p:spPr>
        <p:txBody>
          <a:bodyPr/>
          <a:lstStyle/>
          <a:p>
            <a:endParaRPr lang="en-US"/>
          </a:p>
        </p:txBody>
      </p:sp>
      <p:sp>
        <p:nvSpPr>
          <p:cNvPr id="21" name="Text 18"/>
          <p:cNvSpPr/>
          <p:nvPr/>
        </p:nvSpPr>
        <p:spPr>
          <a:xfrm>
            <a:off x="6123231"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D</a:t>
            </a:r>
            <a:endParaRPr lang="en-US" sz="1600" dirty="0"/>
          </a:p>
        </p:txBody>
      </p:sp>
      <p:sp>
        <p:nvSpPr>
          <p:cNvPr id="22" name="Text 19"/>
          <p:cNvSpPr/>
          <p:nvPr/>
        </p:nvSpPr>
        <p:spPr>
          <a:xfrm>
            <a:off x="701320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Neither drug class affects the arachidonic acid pathway</a:t>
            </a:r>
            <a:endParaRPr lang="en-US" sz="1350" dirty="0"/>
          </a:p>
        </p:txBody>
      </p:sp>
      <p:sp>
        <p:nvSpPr>
          <p:cNvPr id="23" name="Text 20"/>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24" name="Text 21"/>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ANSWER · FIGURE 1</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Answer</a:t>
            </a:r>
            <a:endParaRPr lang="en-US" sz="2800" dirty="0"/>
          </a:p>
        </p:txBody>
      </p:sp>
      <p:sp>
        <p:nvSpPr>
          <p:cNvPr id="4" name="Shape 2"/>
          <p:cNvSpPr/>
          <p:nvPr/>
        </p:nvSpPr>
        <p:spPr>
          <a:xfrm>
            <a:off x="10972526" y="502841"/>
            <a:ext cx="566823" cy="566837"/>
          </a:xfrm>
          <a:prstGeom prst="ellipse">
            <a:avLst/>
          </a:prstGeom>
          <a:solidFill>
            <a:srgbClr val="6B9080"/>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10881048" cy="1234380"/>
          </a:xfrm>
          <a:prstGeom prst="roundRect">
            <a:avLst>
              <a:gd name="adj" fmla="val 8889"/>
            </a:avLst>
          </a:prstGeom>
          <a:solidFill>
            <a:srgbClr val="E8F1F0"/>
          </a:solidFill>
          <a:ln/>
        </p:spPr>
        <p:txBody>
          <a:bodyPr/>
          <a:lstStyle/>
          <a:p>
            <a:endParaRPr lang="en-US"/>
          </a:p>
        </p:txBody>
      </p:sp>
      <p:sp>
        <p:nvSpPr>
          <p:cNvPr id="7" name="Shape 4"/>
          <p:cNvSpPr/>
          <p:nvPr/>
        </p:nvSpPr>
        <p:spPr>
          <a:xfrm>
            <a:off x="868638" y="1851620"/>
            <a:ext cx="731422" cy="731441"/>
          </a:xfrm>
          <a:prstGeom prst="ellipse">
            <a:avLst/>
          </a:prstGeom>
          <a:solidFill>
            <a:srgbClr val="6B9080"/>
          </a:solidFill>
          <a:ln/>
        </p:spPr>
        <p:txBody>
          <a:bodyPr/>
          <a:lstStyle/>
          <a:p>
            <a:endParaRPr lang="en-US"/>
          </a:p>
        </p:txBody>
      </p:sp>
      <p:sp>
        <p:nvSpPr>
          <p:cNvPr id="8" name="Text 5"/>
          <p:cNvSpPr/>
          <p:nvPr/>
        </p:nvSpPr>
        <p:spPr>
          <a:xfrm>
            <a:off x="868638" y="2019300"/>
            <a:ext cx="731422" cy="396180"/>
          </a:xfrm>
          <a:prstGeom prst="rect">
            <a:avLst/>
          </a:prstGeom>
          <a:noFill/>
          <a:ln/>
        </p:spPr>
        <p:txBody>
          <a:bodyPr wrap="none" lIns="0" tIns="0" rIns="0" bIns="0" rtlCol="0" anchor="t"/>
          <a:lstStyle/>
          <a:p>
            <a:pPr marL="0" indent="0" algn="ctr">
              <a:lnSpc>
                <a:spcPct val="100000"/>
              </a:lnSpc>
              <a:buNone/>
            </a:pPr>
            <a:r>
              <a:rPr lang="en-US" sz="2600" b="1" kern="100" spc="29" dirty="0">
                <a:solidFill>
                  <a:srgbClr val="FFFFFF"/>
                </a:solidFill>
                <a:latin typeface="Caladea Bold" pitchFamily="34" charset="0"/>
                <a:ea typeface="Caladea Bold" pitchFamily="34" charset="-122"/>
                <a:cs typeface="Caladea Bold" pitchFamily="34" charset="0"/>
              </a:rPr>
              <a:t>A</a:t>
            </a:r>
            <a:endParaRPr lang="en-US" sz="2600" dirty="0"/>
          </a:p>
        </p:txBody>
      </p:sp>
      <p:sp>
        <p:nvSpPr>
          <p:cNvPr id="9" name="Text 6"/>
          <p:cNvSpPr/>
          <p:nvPr/>
        </p:nvSpPr>
        <p:spPr>
          <a:xfrm>
            <a:off x="1828754" y="2081510"/>
            <a:ext cx="10027590" cy="280392"/>
          </a:xfrm>
          <a:prstGeom prst="rect">
            <a:avLst/>
          </a:prstGeom>
          <a:noFill/>
          <a:ln/>
        </p:spPr>
        <p:txBody>
          <a:bodyPr wrap="none" lIns="0" tIns="0" rIns="0" bIns="0" rtlCol="0" anchor="t"/>
          <a:lstStyle/>
          <a:p>
            <a:pPr marL="0" indent="0" algn="l">
              <a:lnSpc>
                <a:spcPct val="115000"/>
              </a:lnSpc>
              <a:buNone/>
            </a:pPr>
            <a:r>
              <a:rPr lang="en-US" sz="1600" b="1" dirty="0">
                <a:solidFill>
                  <a:srgbClr val="123C44"/>
                </a:solidFill>
                <a:latin typeface="Carlito Bold" pitchFamily="34" charset="0"/>
                <a:ea typeface="Carlito Bold" pitchFamily="34" charset="-122"/>
                <a:cs typeface="Carlito Bold" pitchFamily="34" charset="0"/>
              </a:rPr>
              <a:t>Corticosteroids act upstream of NSAIDs, broadly suppressing inflammatory mediator production.</a:t>
            </a:r>
            <a:endParaRPr lang="en-US" sz="1600" dirty="0"/>
          </a:p>
        </p:txBody>
      </p:sp>
      <p:sp>
        <p:nvSpPr>
          <p:cNvPr id="10" name="Text 7"/>
          <p:cNvSpPr/>
          <p:nvPr/>
        </p:nvSpPr>
        <p:spPr>
          <a:xfrm>
            <a:off x="640044" y="3142357"/>
            <a:ext cx="10823900" cy="571500"/>
          </a:xfrm>
          <a:prstGeom prst="rect">
            <a:avLst/>
          </a:prstGeom>
          <a:noFill/>
          <a:ln/>
        </p:spPr>
        <p:txBody>
          <a:bodyPr wrap="square" lIns="0" tIns="0" rIns="0" bIns="0" rtlCol="0" anchor="t">
            <a:normAutofit/>
          </a:bodyPr>
          <a:lstStyle/>
          <a:p>
            <a:pPr marL="0" indent="0" algn="l">
              <a:lnSpc>
                <a:spcPct val="125000"/>
              </a:lnSpc>
              <a:buNone/>
            </a:pPr>
            <a:r>
              <a:rPr lang="en-US" sz="1500" b="1" dirty="0">
                <a:solidFill>
                  <a:srgbClr val="0F7173"/>
                </a:solidFill>
                <a:latin typeface="Carlito Bold" pitchFamily="34" charset="0"/>
                <a:ea typeface="Carlito Bold" pitchFamily="34" charset="-122"/>
                <a:cs typeface="Carlito Bold" pitchFamily="34" charset="0"/>
              </a:rPr>
              <a:t>Why:  </a:t>
            </a:r>
            <a:r>
              <a:rPr lang="en-US" sz="1500" dirty="0">
                <a:solidFill>
                  <a:srgbClr val="1A1A1A"/>
                </a:solidFill>
                <a:latin typeface="Carlito" pitchFamily="34" charset="0"/>
                <a:ea typeface="Carlito" pitchFamily="34" charset="-122"/>
                <a:cs typeface="Carlito" pitchFamily="34" charset="0"/>
              </a:rPr>
              <a:t>By inhibiting phospholipase A₂, corticosteroids block the release of arachidonic acid itself — upstream of COX — which is why they suppress a broader range of inflammatory mediators (not just prostaglandins) than NSAIDs, which act only at the COX step.</a:t>
            </a:r>
            <a:endParaRPr lang="en-US" sz="1500" dirty="0"/>
          </a:p>
        </p:txBody>
      </p:sp>
      <p:sp>
        <p:nvSpPr>
          <p:cNvPr id="11" name="Text 8"/>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12" name="Text 9"/>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QUICK CHECK · UNDERSTANDING MUSCULOSKELETAL PAIN</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Quick Check</a:t>
            </a:r>
            <a:endParaRPr lang="en-US" sz="2800" dirty="0"/>
          </a:p>
        </p:txBody>
      </p:sp>
      <p:sp>
        <p:nvSpPr>
          <p:cNvPr id="4" name="Shape 2"/>
          <p:cNvSpPr/>
          <p:nvPr/>
        </p:nvSpPr>
        <p:spPr>
          <a:xfrm>
            <a:off x="10972526" y="502841"/>
            <a:ext cx="566823" cy="566837"/>
          </a:xfrm>
          <a:prstGeom prst="ellipse">
            <a:avLst/>
          </a:prstGeom>
          <a:solidFill>
            <a:srgbClr val="0F717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640044" y="1403350"/>
            <a:ext cx="10881048" cy="324148"/>
          </a:xfrm>
          <a:prstGeom prst="rect">
            <a:avLst/>
          </a:prstGeom>
          <a:noFill/>
          <a:ln/>
        </p:spPr>
        <p:txBody>
          <a:bodyPr wrap="none" lIns="0" tIns="0" rIns="0" bIns="0" rtlCol="0" anchor="t"/>
          <a:lstStyle/>
          <a:p>
            <a:pPr marL="0" indent="0" algn="l">
              <a:lnSpc>
                <a:spcPct val="115000"/>
              </a:lnSpc>
              <a:buNone/>
            </a:pPr>
            <a:r>
              <a:rPr lang="en-US" sz="1850" b="1" dirty="0">
                <a:solidFill>
                  <a:srgbClr val="123C44"/>
                </a:solidFill>
                <a:latin typeface="Carlito Bold" pitchFamily="34" charset="0"/>
                <a:ea typeface="Carlito Bold" pitchFamily="34" charset="-122"/>
                <a:cs typeface="Carlito Bold" pitchFamily="34" charset="0"/>
              </a:rPr>
              <a:t>Which mediator is the primary target of NSAID therapy within the inflammatory pain pathway?</a:t>
            </a:r>
            <a:endParaRPr lang="en-US" sz="1850" dirty="0"/>
          </a:p>
        </p:txBody>
      </p:sp>
      <p:sp>
        <p:nvSpPr>
          <p:cNvPr id="7" name="Shape 4"/>
          <p:cNvSpPr/>
          <p:nvPr/>
        </p:nvSpPr>
        <p:spPr>
          <a:xfrm>
            <a:off x="640044" y="2605980"/>
            <a:ext cx="5257668" cy="1097260"/>
          </a:xfrm>
          <a:prstGeom prst="roundRect">
            <a:avLst>
              <a:gd name="adj" fmla="val 8000"/>
            </a:avLst>
          </a:prstGeom>
          <a:solidFill>
            <a:srgbClr val="E8F1F0"/>
          </a:solidFill>
          <a:ln/>
        </p:spPr>
        <p:txBody>
          <a:bodyPr/>
          <a:lstStyle/>
          <a:p>
            <a:endParaRPr lang="en-US"/>
          </a:p>
        </p:txBody>
      </p:sp>
      <p:sp>
        <p:nvSpPr>
          <p:cNvPr id="8" name="Shape 5"/>
          <p:cNvSpPr/>
          <p:nvPr/>
        </p:nvSpPr>
        <p:spPr>
          <a:xfrm>
            <a:off x="804644" y="2944316"/>
            <a:ext cx="420578" cy="420588"/>
          </a:xfrm>
          <a:prstGeom prst="ellipse">
            <a:avLst/>
          </a:prstGeom>
          <a:solidFill>
            <a:srgbClr val="2A6F97"/>
          </a:solidFill>
          <a:ln/>
        </p:spPr>
        <p:txBody>
          <a:bodyPr/>
          <a:lstStyle/>
          <a:p>
            <a:endParaRPr lang="en-US"/>
          </a:p>
        </p:txBody>
      </p:sp>
      <p:sp>
        <p:nvSpPr>
          <p:cNvPr id="9" name="Text 6"/>
          <p:cNvSpPr/>
          <p:nvPr/>
        </p:nvSpPr>
        <p:spPr>
          <a:xfrm>
            <a:off x="499852"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A</a:t>
            </a:r>
            <a:endParaRPr lang="en-US" sz="1600" dirty="0"/>
          </a:p>
        </p:txBody>
      </p:sp>
      <p:sp>
        <p:nvSpPr>
          <p:cNvPr id="10" name="Text 7"/>
          <p:cNvSpPr/>
          <p:nvPr/>
        </p:nvSpPr>
        <p:spPr>
          <a:xfrm>
            <a:off x="138982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Prostaglandins</a:t>
            </a:r>
            <a:endParaRPr lang="en-US" sz="1350" dirty="0"/>
          </a:p>
        </p:txBody>
      </p:sp>
      <p:sp>
        <p:nvSpPr>
          <p:cNvPr id="11" name="Shape 8"/>
          <p:cNvSpPr/>
          <p:nvPr/>
        </p:nvSpPr>
        <p:spPr>
          <a:xfrm>
            <a:off x="6263424" y="2605980"/>
            <a:ext cx="5257668" cy="1097260"/>
          </a:xfrm>
          <a:prstGeom prst="roundRect">
            <a:avLst>
              <a:gd name="adj" fmla="val 8000"/>
            </a:avLst>
          </a:prstGeom>
          <a:solidFill>
            <a:srgbClr val="E8F1F0"/>
          </a:solidFill>
          <a:ln/>
        </p:spPr>
        <p:txBody>
          <a:bodyPr/>
          <a:lstStyle/>
          <a:p>
            <a:endParaRPr lang="en-US"/>
          </a:p>
        </p:txBody>
      </p:sp>
      <p:sp>
        <p:nvSpPr>
          <p:cNvPr id="12" name="Shape 9"/>
          <p:cNvSpPr/>
          <p:nvPr/>
        </p:nvSpPr>
        <p:spPr>
          <a:xfrm>
            <a:off x="6428024" y="2944316"/>
            <a:ext cx="420578" cy="420588"/>
          </a:xfrm>
          <a:prstGeom prst="ellipse">
            <a:avLst/>
          </a:prstGeom>
          <a:solidFill>
            <a:srgbClr val="2A6F97"/>
          </a:solidFill>
          <a:ln/>
        </p:spPr>
        <p:txBody>
          <a:bodyPr/>
          <a:lstStyle/>
          <a:p>
            <a:endParaRPr lang="en-US"/>
          </a:p>
        </p:txBody>
      </p:sp>
      <p:sp>
        <p:nvSpPr>
          <p:cNvPr id="13" name="Text 10"/>
          <p:cNvSpPr/>
          <p:nvPr/>
        </p:nvSpPr>
        <p:spPr>
          <a:xfrm>
            <a:off x="6123231"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B</a:t>
            </a:r>
            <a:endParaRPr lang="en-US" sz="1600" dirty="0"/>
          </a:p>
        </p:txBody>
      </p:sp>
      <p:sp>
        <p:nvSpPr>
          <p:cNvPr id="14" name="Text 11"/>
          <p:cNvSpPr/>
          <p:nvPr/>
        </p:nvSpPr>
        <p:spPr>
          <a:xfrm>
            <a:off x="701320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Histamine</a:t>
            </a:r>
            <a:endParaRPr lang="en-US" sz="1350" dirty="0"/>
          </a:p>
        </p:txBody>
      </p:sp>
      <p:sp>
        <p:nvSpPr>
          <p:cNvPr id="15" name="Shape 12"/>
          <p:cNvSpPr/>
          <p:nvPr/>
        </p:nvSpPr>
        <p:spPr>
          <a:xfrm>
            <a:off x="640044" y="3977580"/>
            <a:ext cx="5257668" cy="1097260"/>
          </a:xfrm>
          <a:prstGeom prst="roundRect">
            <a:avLst>
              <a:gd name="adj" fmla="val 8000"/>
            </a:avLst>
          </a:prstGeom>
          <a:solidFill>
            <a:srgbClr val="E8F1F0"/>
          </a:solidFill>
          <a:ln/>
        </p:spPr>
        <p:txBody>
          <a:bodyPr/>
          <a:lstStyle/>
          <a:p>
            <a:endParaRPr lang="en-US"/>
          </a:p>
        </p:txBody>
      </p:sp>
      <p:sp>
        <p:nvSpPr>
          <p:cNvPr id="16" name="Shape 13"/>
          <p:cNvSpPr/>
          <p:nvPr/>
        </p:nvSpPr>
        <p:spPr>
          <a:xfrm>
            <a:off x="804644" y="4315916"/>
            <a:ext cx="420578" cy="420588"/>
          </a:xfrm>
          <a:prstGeom prst="ellipse">
            <a:avLst/>
          </a:prstGeom>
          <a:solidFill>
            <a:srgbClr val="2A6F97"/>
          </a:solidFill>
          <a:ln/>
        </p:spPr>
        <p:txBody>
          <a:bodyPr/>
          <a:lstStyle/>
          <a:p>
            <a:endParaRPr lang="en-US"/>
          </a:p>
        </p:txBody>
      </p:sp>
      <p:sp>
        <p:nvSpPr>
          <p:cNvPr id="17" name="Text 14"/>
          <p:cNvSpPr/>
          <p:nvPr/>
        </p:nvSpPr>
        <p:spPr>
          <a:xfrm>
            <a:off x="499852"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a:t>
            </a:r>
            <a:endParaRPr lang="en-US" sz="1600" dirty="0"/>
          </a:p>
        </p:txBody>
      </p:sp>
      <p:sp>
        <p:nvSpPr>
          <p:cNvPr id="18" name="Text 15"/>
          <p:cNvSpPr/>
          <p:nvPr/>
        </p:nvSpPr>
        <p:spPr>
          <a:xfrm>
            <a:off x="138982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Bradykinin</a:t>
            </a:r>
            <a:endParaRPr lang="en-US" sz="1350" dirty="0"/>
          </a:p>
        </p:txBody>
      </p:sp>
      <p:sp>
        <p:nvSpPr>
          <p:cNvPr id="19" name="Shape 16"/>
          <p:cNvSpPr/>
          <p:nvPr/>
        </p:nvSpPr>
        <p:spPr>
          <a:xfrm>
            <a:off x="6263424" y="3977580"/>
            <a:ext cx="5257668" cy="1097260"/>
          </a:xfrm>
          <a:prstGeom prst="roundRect">
            <a:avLst>
              <a:gd name="adj" fmla="val 8000"/>
            </a:avLst>
          </a:prstGeom>
          <a:solidFill>
            <a:srgbClr val="E8F1F0"/>
          </a:solidFill>
          <a:ln/>
        </p:spPr>
        <p:txBody>
          <a:bodyPr/>
          <a:lstStyle/>
          <a:p>
            <a:endParaRPr lang="en-US"/>
          </a:p>
        </p:txBody>
      </p:sp>
      <p:sp>
        <p:nvSpPr>
          <p:cNvPr id="20" name="Shape 17"/>
          <p:cNvSpPr/>
          <p:nvPr/>
        </p:nvSpPr>
        <p:spPr>
          <a:xfrm>
            <a:off x="6428024" y="4315916"/>
            <a:ext cx="420578" cy="420588"/>
          </a:xfrm>
          <a:prstGeom prst="ellipse">
            <a:avLst/>
          </a:prstGeom>
          <a:solidFill>
            <a:srgbClr val="2A6F97"/>
          </a:solidFill>
          <a:ln/>
        </p:spPr>
        <p:txBody>
          <a:bodyPr/>
          <a:lstStyle/>
          <a:p>
            <a:endParaRPr lang="en-US"/>
          </a:p>
        </p:txBody>
      </p:sp>
      <p:sp>
        <p:nvSpPr>
          <p:cNvPr id="21" name="Text 18"/>
          <p:cNvSpPr/>
          <p:nvPr/>
        </p:nvSpPr>
        <p:spPr>
          <a:xfrm>
            <a:off x="6123231"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D</a:t>
            </a:r>
            <a:endParaRPr lang="en-US" sz="1600" dirty="0"/>
          </a:p>
        </p:txBody>
      </p:sp>
      <p:sp>
        <p:nvSpPr>
          <p:cNvPr id="22" name="Text 19"/>
          <p:cNvSpPr/>
          <p:nvPr/>
        </p:nvSpPr>
        <p:spPr>
          <a:xfrm>
            <a:off x="701320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Cytokines broadly (e.g., all of TNF-α, IL-1, IL-6)</a:t>
            </a:r>
            <a:endParaRPr lang="en-US" sz="1350" dirty="0"/>
          </a:p>
        </p:txBody>
      </p:sp>
      <p:sp>
        <p:nvSpPr>
          <p:cNvPr id="23" name="Text 20"/>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24" name="Text 21"/>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ANSWER · UNDERSTANDING MUSCULOSKELETAL PAIN</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Answer</a:t>
            </a:r>
            <a:endParaRPr lang="en-US" sz="2800" dirty="0"/>
          </a:p>
        </p:txBody>
      </p:sp>
      <p:sp>
        <p:nvSpPr>
          <p:cNvPr id="4" name="Shape 2"/>
          <p:cNvSpPr/>
          <p:nvPr/>
        </p:nvSpPr>
        <p:spPr>
          <a:xfrm>
            <a:off x="10972526" y="502841"/>
            <a:ext cx="566823" cy="566837"/>
          </a:xfrm>
          <a:prstGeom prst="ellipse">
            <a:avLst/>
          </a:prstGeom>
          <a:solidFill>
            <a:srgbClr val="6B9080"/>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10881048" cy="1234380"/>
          </a:xfrm>
          <a:prstGeom prst="roundRect">
            <a:avLst>
              <a:gd name="adj" fmla="val 8889"/>
            </a:avLst>
          </a:prstGeom>
          <a:solidFill>
            <a:srgbClr val="E8F1F0"/>
          </a:solidFill>
          <a:ln/>
        </p:spPr>
        <p:txBody>
          <a:bodyPr/>
          <a:lstStyle/>
          <a:p>
            <a:endParaRPr lang="en-US"/>
          </a:p>
        </p:txBody>
      </p:sp>
      <p:sp>
        <p:nvSpPr>
          <p:cNvPr id="7" name="Shape 4"/>
          <p:cNvSpPr/>
          <p:nvPr/>
        </p:nvSpPr>
        <p:spPr>
          <a:xfrm>
            <a:off x="868638" y="1851620"/>
            <a:ext cx="731422" cy="731441"/>
          </a:xfrm>
          <a:prstGeom prst="ellipse">
            <a:avLst/>
          </a:prstGeom>
          <a:solidFill>
            <a:srgbClr val="6B9080"/>
          </a:solidFill>
          <a:ln/>
        </p:spPr>
        <p:txBody>
          <a:bodyPr/>
          <a:lstStyle/>
          <a:p>
            <a:endParaRPr lang="en-US"/>
          </a:p>
        </p:txBody>
      </p:sp>
      <p:sp>
        <p:nvSpPr>
          <p:cNvPr id="8" name="Text 5"/>
          <p:cNvSpPr/>
          <p:nvPr/>
        </p:nvSpPr>
        <p:spPr>
          <a:xfrm>
            <a:off x="868638" y="2019300"/>
            <a:ext cx="731422" cy="396180"/>
          </a:xfrm>
          <a:prstGeom prst="rect">
            <a:avLst/>
          </a:prstGeom>
          <a:noFill/>
          <a:ln/>
        </p:spPr>
        <p:txBody>
          <a:bodyPr wrap="none" lIns="0" tIns="0" rIns="0" bIns="0" rtlCol="0" anchor="t"/>
          <a:lstStyle/>
          <a:p>
            <a:pPr marL="0" indent="0" algn="ctr">
              <a:lnSpc>
                <a:spcPct val="100000"/>
              </a:lnSpc>
              <a:buNone/>
            </a:pPr>
            <a:r>
              <a:rPr lang="en-US" sz="2600" b="1" kern="100" spc="29" dirty="0">
                <a:solidFill>
                  <a:srgbClr val="FFFFFF"/>
                </a:solidFill>
                <a:latin typeface="Caladea Bold" pitchFamily="34" charset="0"/>
                <a:ea typeface="Caladea Bold" pitchFamily="34" charset="-122"/>
                <a:cs typeface="Caladea Bold" pitchFamily="34" charset="0"/>
              </a:rPr>
              <a:t>A</a:t>
            </a:r>
            <a:endParaRPr lang="en-US" sz="2600" dirty="0"/>
          </a:p>
        </p:txBody>
      </p:sp>
      <p:sp>
        <p:nvSpPr>
          <p:cNvPr id="9" name="Text 6"/>
          <p:cNvSpPr/>
          <p:nvPr/>
        </p:nvSpPr>
        <p:spPr>
          <a:xfrm>
            <a:off x="1828754" y="2081510"/>
            <a:ext cx="10027590" cy="280392"/>
          </a:xfrm>
          <a:prstGeom prst="rect">
            <a:avLst/>
          </a:prstGeom>
          <a:noFill/>
          <a:ln/>
        </p:spPr>
        <p:txBody>
          <a:bodyPr wrap="none" lIns="0" tIns="0" rIns="0" bIns="0" rtlCol="0" anchor="t"/>
          <a:lstStyle/>
          <a:p>
            <a:pPr marL="0" indent="0" algn="l">
              <a:lnSpc>
                <a:spcPct val="115000"/>
              </a:lnSpc>
              <a:buNone/>
            </a:pPr>
            <a:r>
              <a:rPr lang="en-US" sz="1600" b="1" dirty="0">
                <a:solidFill>
                  <a:srgbClr val="123C44"/>
                </a:solidFill>
                <a:latin typeface="Carlito Bold" pitchFamily="34" charset="0"/>
                <a:ea typeface="Carlito Bold" pitchFamily="34" charset="-122"/>
                <a:cs typeface="Carlito Bold" pitchFamily="34" charset="0"/>
              </a:rPr>
              <a:t>Prostaglandins.</a:t>
            </a:r>
            <a:endParaRPr lang="en-US" sz="1600" dirty="0"/>
          </a:p>
        </p:txBody>
      </p:sp>
      <p:sp>
        <p:nvSpPr>
          <p:cNvPr id="10" name="Text 7"/>
          <p:cNvSpPr/>
          <p:nvPr/>
        </p:nvSpPr>
        <p:spPr>
          <a:xfrm>
            <a:off x="640044" y="3142357"/>
            <a:ext cx="10823900" cy="571500"/>
          </a:xfrm>
          <a:prstGeom prst="rect">
            <a:avLst/>
          </a:prstGeom>
          <a:noFill/>
          <a:ln/>
        </p:spPr>
        <p:txBody>
          <a:bodyPr wrap="square" lIns="0" tIns="0" rIns="0" bIns="0" rtlCol="0" anchor="t">
            <a:normAutofit/>
          </a:bodyPr>
          <a:lstStyle/>
          <a:p>
            <a:pPr marL="0" indent="0" algn="l">
              <a:lnSpc>
                <a:spcPct val="125000"/>
              </a:lnSpc>
              <a:buNone/>
            </a:pPr>
            <a:r>
              <a:rPr lang="en-US" sz="1500" b="1" dirty="0">
                <a:solidFill>
                  <a:srgbClr val="0F7173"/>
                </a:solidFill>
                <a:latin typeface="Carlito Bold" pitchFamily="34" charset="0"/>
                <a:ea typeface="Carlito Bold" pitchFamily="34" charset="-122"/>
                <a:cs typeface="Carlito Bold" pitchFamily="34" charset="0"/>
              </a:rPr>
              <a:t>Why:  </a:t>
            </a:r>
            <a:r>
              <a:rPr lang="en-US" sz="1500" dirty="0">
                <a:solidFill>
                  <a:srgbClr val="1A1A1A"/>
                </a:solidFill>
                <a:latin typeface="Carlito" pitchFamily="34" charset="0"/>
                <a:ea typeface="Carlito" pitchFamily="34" charset="-122"/>
                <a:cs typeface="Carlito" pitchFamily="34" charset="0"/>
              </a:rPr>
              <a:t>NSAIDs inhibit COX enzymes, directly reducing prostaglandin synthesis. Histamine, bradykinin, and cytokines are important inflammatory mediators too, but they are not the primary target of NSAID mechanism.</a:t>
            </a:r>
            <a:endParaRPr lang="en-US" sz="1500" dirty="0"/>
          </a:p>
        </p:txBody>
      </p:sp>
      <p:sp>
        <p:nvSpPr>
          <p:cNvPr id="11" name="Text 8"/>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12" name="Text 9"/>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7173"/>
        </a:solidFill>
        <a:effectLst/>
      </p:bgPr>
    </p:bg>
    <p:spTree>
      <p:nvGrpSpPr>
        <p:cNvPr id="1" name=""/>
        <p:cNvGrpSpPr/>
        <p:nvPr/>
      </p:nvGrpSpPr>
      <p:grpSpPr>
        <a:xfrm>
          <a:off x="0" y="0"/>
          <a:ext cx="0" cy="0"/>
          <a:chOff x="0" y="0"/>
          <a:chExt cx="0" cy="0"/>
        </a:xfrm>
      </p:grpSpPr>
      <p:sp>
        <p:nvSpPr>
          <p:cNvPr id="2" name="Text 0"/>
          <p:cNvSpPr/>
          <p:nvPr/>
        </p:nvSpPr>
        <p:spPr>
          <a:xfrm>
            <a:off x="914278" y="2011660"/>
            <a:ext cx="2777460" cy="1036241"/>
          </a:xfrm>
          <a:prstGeom prst="rect">
            <a:avLst/>
          </a:prstGeom>
          <a:noFill/>
          <a:ln/>
        </p:spPr>
        <p:txBody>
          <a:bodyPr wrap="none" lIns="0" tIns="0" rIns="0" bIns="0" rtlCol="0" anchor="t"/>
          <a:lstStyle/>
          <a:p>
            <a:pPr marL="0" indent="0" algn="l">
              <a:lnSpc>
                <a:spcPct val="100000"/>
              </a:lnSpc>
              <a:buNone/>
            </a:pPr>
            <a:r>
              <a:rPr lang="en-US" sz="6800" b="1" kern="100" spc="75" dirty="0">
                <a:solidFill>
                  <a:srgbClr val="E9A23B"/>
                </a:solidFill>
                <a:latin typeface="Caladea Bold" pitchFamily="34" charset="0"/>
                <a:ea typeface="Caladea Bold" pitchFamily="34" charset="-122"/>
                <a:cs typeface="Caladea Bold" pitchFamily="34" charset="0"/>
              </a:rPr>
              <a:t>02</a:t>
            </a:r>
            <a:endParaRPr lang="en-US" sz="6800" dirty="0"/>
          </a:p>
        </p:txBody>
      </p:sp>
      <p:sp>
        <p:nvSpPr>
          <p:cNvPr id="3" name="Text 1"/>
          <p:cNvSpPr/>
          <p:nvPr/>
        </p:nvSpPr>
        <p:spPr>
          <a:xfrm>
            <a:off x="914278" y="3474641"/>
            <a:ext cx="9543811" cy="487660"/>
          </a:xfrm>
          <a:prstGeom prst="rect">
            <a:avLst/>
          </a:prstGeom>
          <a:noFill/>
          <a:ln/>
        </p:spPr>
        <p:txBody>
          <a:bodyPr wrap="none" lIns="0" tIns="0" rIns="0" bIns="0" rtlCol="0" anchor="t"/>
          <a:lstStyle/>
          <a:p>
            <a:pPr marL="0" indent="0" algn="l">
              <a:lnSpc>
                <a:spcPct val="100000"/>
              </a:lnSpc>
              <a:buNone/>
            </a:pPr>
            <a:r>
              <a:rPr lang="en-US" sz="3200" b="1" kern="100" spc="35" dirty="0">
                <a:solidFill>
                  <a:srgbClr val="FFFFFF"/>
                </a:solidFill>
                <a:latin typeface="Caladea Bold" pitchFamily="34" charset="0"/>
                <a:ea typeface="Caladea Bold" pitchFamily="34" charset="-122"/>
                <a:cs typeface="Caladea Bold" pitchFamily="34" charset="0"/>
              </a:rPr>
              <a:t>Acetaminophen</a:t>
            </a:r>
            <a:endParaRPr lang="en-US" sz="3200" dirty="0"/>
          </a:p>
        </p:txBody>
      </p:sp>
      <p:sp>
        <p:nvSpPr>
          <p:cNvPr id="4" name="Text 2"/>
          <p:cNvSpPr/>
          <p:nvPr/>
        </p:nvSpPr>
        <p:spPr>
          <a:xfrm>
            <a:off x="841156" y="1555941"/>
            <a:ext cx="4267093" cy="227806"/>
          </a:xfrm>
          <a:prstGeom prst="rect">
            <a:avLst/>
          </a:prstGeom>
          <a:noFill/>
          <a:ln/>
        </p:spPr>
        <p:txBody>
          <a:bodyPr wrap="none" lIns="0" tIns="0" rIns="0" bIns="0" rtlCol="0" anchor="t"/>
          <a:lstStyle/>
          <a:p>
            <a:pPr marL="0" indent="0" algn="l">
              <a:lnSpc>
                <a:spcPct val="115000"/>
              </a:lnSpc>
              <a:buNone/>
            </a:pPr>
            <a:r>
              <a:rPr lang="en-US" sz="1300" b="1" kern="100" spc="200" dirty="0">
                <a:solidFill>
                  <a:srgbClr val="E8F1F0"/>
                </a:solidFill>
                <a:latin typeface="Carlito Bold" pitchFamily="34" charset="0"/>
                <a:ea typeface="Carlito Bold" pitchFamily="34" charset="-122"/>
                <a:cs typeface="Carlito Bold" pitchFamily="34" charset="0"/>
              </a:rPr>
              <a:t>SECTION</a:t>
            </a:r>
            <a:endParaRPr lang="en-US" sz="1300" dirty="0"/>
          </a:p>
        </p:txBody>
      </p:sp>
      <p:sp>
        <p:nvSpPr>
          <p:cNvPr id="5" name="Text 3"/>
          <p:cNvSpPr/>
          <p:nvPr/>
        </p:nvSpPr>
        <p:spPr>
          <a:xfrm>
            <a:off x="822900" y="5450443"/>
            <a:ext cx="10301923" cy="262830"/>
          </a:xfrm>
          <a:prstGeom prst="rect">
            <a:avLst/>
          </a:prstGeom>
          <a:noFill/>
          <a:ln/>
        </p:spPr>
        <p:txBody>
          <a:bodyPr wrap="none" lIns="0" tIns="0" rIns="0" bIns="0" rtlCol="0" anchor="t"/>
          <a:lstStyle/>
          <a:p>
            <a:pPr marL="0" indent="0" algn="l">
              <a:lnSpc>
                <a:spcPct val="115000"/>
              </a:lnSpc>
              <a:buNone/>
            </a:pPr>
            <a:r>
              <a:rPr lang="en-US" sz="1500" i="1" dirty="0">
                <a:solidFill>
                  <a:srgbClr val="E8F1F0"/>
                </a:solidFill>
                <a:latin typeface="Carlito" pitchFamily="34" charset="0"/>
                <a:ea typeface="Carlito" pitchFamily="34" charset="-122"/>
                <a:cs typeface="Carlito" pitchFamily="34" charset="0"/>
              </a:rPr>
              <a:t>Effective analgesia, with a narrow margin in overdose.</a:t>
            </a:r>
            <a:endParaRPr lang="en-US" sz="1500" dirty="0"/>
          </a:p>
        </p:txBody>
      </p:sp>
      <p:sp>
        <p:nvSpPr>
          <p:cNvPr id="6" name="Shape 4"/>
          <p:cNvSpPr/>
          <p:nvPr/>
        </p:nvSpPr>
        <p:spPr>
          <a:xfrm>
            <a:off x="10058148" y="685800"/>
            <a:ext cx="1051494" cy="1051520"/>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310455" y="938113"/>
            <a:ext cx="546781" cy="5467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MECHANISM &amp; EFFECTS</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Acetaminophen</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2521" cy="1183779"/>
          </a:xfrm>
          <a:prstGeom prst="rect">
            <a:avLst/>
          </a:prstGeom>
          <a:noFill/>
          <a:ln/>
        </p:spPr>
        <p:txBody>
          <a:bodyPr wrap="square" lIns="0" tIns="0" rIns="0" bIns="0" rtlCol="0" anchor="t"/>
          <a:lstStyle/>
          <a:p>
            <a:pPr marL="0" indent="0" algn="l">
              <a:lnSpc>
                <a:spcPct val="100000"/>
              </a:lnSpc>
              <a:spcAft>
                <a:spcPts val="1750"/>
              </a:spcAft>
              <a:buNone/>
            </a:pPr>
            <a:r>
              <a:rPr lang="en-US" sz="1600" b="1" dirty="0">
                <a:solidFill>
                  <a:srgbClr val="123C44"/>
                </a:solidFill>
                <a:latin typeface="Carlito Bold" pitchFamily="34" charset="0"/>
                <a:ea typeface="Carlito Bold" pitchFamily="34" charset="-122"/>
                <a:cs typeface="Carlito Bold" pitchFamily="34" charset="0"/>
              </a:rPr>
              <a:t>●  Analgesic effect: </a:t>
            </a:r>
            <a:r>
              <a:rPr lang="en-US" sz="1600" dirty="0">
                <a:solidFill>
                  <a:srgbClr val="1A1A1A"/>
                </a:solidFill>
                <a:latin typeface="Carlito" pitchFamily="34" charset="0"/>
                <a:ea typeface="Carlito" pitchFamily="34" charset="-122"/>
                <a:cs typeface="Carlito" pitchFamily="34" charset="0"/>
              </a:rPr>
              <a:t>relieves mild-to-moderate pain, with a central mechanism that is still incompletely understood.</a:t>
            </a:r>
            <a:endParaRPr lang="en-US" sz="1600" dirty="0"/>
          </a:p>
          <a:p>
            <a:pPr marL="0" indent="0" algn="l">
              <a:lnSpc>
                <a:spcPct val="100000"/>
              </a:lnSpc>
              <a:spcAft>
                <a:spcPts val="1750"/>
              </a:spcAft>
              <a:buNone/>
            </a:pPr>
            <a:r>
              <a:rPr lang="en-US" sz="1600" b="1" dirty="0">
                <a:solidFill>
                  <a:srgbClr val="123C44"/>
                </a:solidFill>
                <a:latin typeface="Carlito Bold" pitchFamily="34" charset="0"/>
                <a:ea typeface="Carlito Bold" pitchFamily="34" charset="-122"/>
                <a:cs typeface="Carlito Bold" pitchFamily="34" charset="0"/>
              </a:rPr>
              <a:t>●  Antipyretic effect: </a:t>
            </a:r>
            <a:r>
              <a:rPr lang="en-US" sz="1600" dirty="0">
                <a:solidFill>
                  <a:srgbClr val="1A1A1A"/>
                </a:solidFill>
                <a:latin typeface="Carlito" pitchFamily="34" charset="0"/>
                <a:ea typeface="Carlito" pitchFamily="34" charset="-122"/>
                <a:cs typeface="Carlito" pitchFamily="34" charset="0"/>
              </a:rPr>
              <a:t>reduces fever via central effects on the hypothalamic temperature-regulating center.</a:t>
            </a:r>
            <a:endParaRPr lang="en-US" sz="1600" dirty="0"/>
          </a:p>
          <a:p>
            <a:pPr marL="0" indent="0" algn="l">
              <a:lnSpc>
                <a:spcPct val="100000"/>
              </a:lnSpc>
              <a:buNone/>
            </a:pPr>
            <a:r>
              <a:rPr lang="en-US" sz="1600" b="1" dirty="0">
                <a:solidFill>
                  <a:srgbClr val="123C44"/>
                </a:solidFill>
                <a:latin typeface="Carlito Bold" pitchFamily="34" charset="0"/>
                <a:ea typeface="Carlito Bold" pitchFamily="34" charset="-122"/>
                <a:cs typeface="Carlito Bold" pitchFamily="34" charset="0"/>
              </a:rPr>
              <a:t>●  Anti-inflammatory effect: </a:t>
            </a:r>
            <a:r>
              <a:rPr lang="en-US" sz="1600" dirty="0">
                <a:solidFill>
                  <a:srgbClr val="1A1A1A"/>
                </a:solidFill>
                <a:latin typeface="Carlito" pitchFamily="34" charset="0"/>
                <a:ea typeface="Carlito" pitchFamily="34" charset="-122"/>
                <a:cs typeface="Carlito" pitchFamily="34" charset="0"/>
              </a:rPr>
              <a:t>minimal at the periphery — unlike NSAIDs, acetaminophen is not a reliable anti-inflammatory agent.</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60866"/>
            <a:ext cx="10972526" cy="422176"/>
          </a:xfrm>
          <a:prstGeom prst="rect">
            <a:avLst/>
          </a:prstGeom>
          <a:noFill/>
          <a:ln/>
        </p:spPr>
        <p:txBody>
          <a:bodyPr wrap="none" lIns="0" tIns="0" rIns="0" bIns="0" rtlCol="0" anchor="t"/>
          <a:lstStyle/>
          <a:p>
            <a:pPr marL="0" indent="0" algn="l">
              <a:lnSpc>
                <a:spcPct val="100000"/>
              </a:lnSpc>
              <a:buNone/>
            </a:pPr>
            <a:r>
              <a:rPr lang="en-US" sz="2750" b="1" dirty="0">
                <a:solidFill>
                  <a:srgbClr val="123C44"/>
                </a:solidFill>
                <a:latin typeface="Caladea Bold" pitchFamily="34" charset="0"/>
                <a:ea typeface="Caladea Bold" pitchFamily="34" charset="-122"/>
                <a:cs typeface="Caladea Bold" pitchFamily="34" charset="0"/>
              </a:rPr>
              <a:t>Acetaminophen: Safe vs. Toxic Metabolism</a:t>
            </a:r>
            <a:endParaRPr lang="en-US" sz="2750" dirty="0"/>
          </a:p>
        </p:txBody>
      </p:sp>
      <p:sp>
        <p:nvSpPr>
          <p:cNvPr id="4" name="Shape 2"/>
          <p:cNvSpPr/>
          <p:nvPr/>
        </p:nvSpPr>
        <p:spPr>
          <a:xfrm>
            <a:off x="609585" y="1602879"/>
            <a:ext cx="6217586" cy="467816"/>
          </a:xfrm>
          <a:prstGeom prst="rect">
            <a:avLst/>
          </a:prstGeom>
          <a:solidFill>
            <a:srgbClr val="2563A8"/>
          </a:solidFill>
          <a:ln/>
        </p:spPr>
        <p:txBody>
          <a:bodyPr/>
          <a:lstStyle/>
          <a:p>
            <a:endParaRPr lang="en-US"/>
          </a:p>
        </p:txBody>
      </p:sp>
      <p:sp>
        <p:nvSpPr>
          <p:cNvPr id="5" name="Text 3"/>
          <p:cNvSpPr/>
          <p:nvPr/>
        </p:nvSpPr>
        <p:spPr>
          <a:xfrm>
            <a:off x="787380" y="1681174"/>
            <a:ext cx="6039790" cy="315416"/>
          </a:xfrm>
          <a:prstGeom prst="rect">
            <a:avLst/>
          </a:prstGeom>
          <a:noFill/>
          <a:ln/>
        </p:spPr>
        <p:txBody>
          <a:bodyPr wrap="none" lIns="0" tIns="0" rIns="0" bIns="0" rtlCol="0" anchor="t"/>
          <a:lstStyle/>
          <a:p>
            <a:pPr marL="0" indent="0" algn="l">
              <a:lnSpc>
                <a:spcPct val="115000"/>
              </a:lnSpc>
              <a:buNone/>
            </a:pPr>
            <a:r>
              <a:rPr lang="en-US" sz="1800" b="1" dirty="0">
                <a:solidFill>
                  <a:srgbClr val="FFFFFF"/>
                </a:solidFill>
                <a:latin typeface="Carlito Bold" pitchFamily="34" charset="0"/>
                <a:ea typeface="Carlito Bold" pitchFamily="34" charset="-122"/>
                <a:cs typeface="Carlito Bold" pitchFamily="34" charset="0"/>
              </a:rPr>
              <a:t>Oral acetaminophen → Liver</a:t>
            </a:r>
            <a:endParaRPr lang="en-US" sz="1800" dirty="0"/>
          </a:p>
        </p:txBody>
      </p:sp>
      <p:sp>
        <p:nvSpPr>
          <p:cNvPr id="6" name="Shape 4"/>
          <p:cNvSpPr/>
          <p:nvPr/>
        </p:nvSpPr>
        <p:spPr>
          <a:xfrm>
            <a:off x="609585" y="2223095"/>
            <a:ext cx="3032545" cy="407392"/>
          </a:xfrm>
          <a:prstGeom prst="rect">
            <a:avLst/>
          </a:prstGeom>
          <a:solidFill>
            <a:srgbClr val="2E7D4F"/>
          </a:solidFill>
          <a:ln/>
        </p:spPr>
        <p:txBody>
          <a:bodyPr/>
          <a:lstStyle/>
          <a:p>
            <a:endParaRPr lang="en-US"/>
          </a:p>
        </p:txBody>
      </p:sp>
      <p:sp>
        <p:nvSpPr>
          <p:cNvPr id="7" name="Text 5"/>
          <p:cNvSpPr/>
          <p:nvPr/>
        </p:nvSpPr>
        <p:spPr>
          <a:xfrm>
            <a:off x="761981" y="2286595"/>
            <a:ext cx="2880149" cy="280392"/>
          </a:xfrm>
          <a:prstGeom prst="rect">
            <a:avLst/>
          </a:prstGeom>
          <a:noFill/>
          <a:ln/>
        </p:spPr>
        <p:txBody>
          <a:bodyPr wrap="none" lIns="0" tIns="0" rIns="0" bIns="0" rtlCol="0" anchor="t"/>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Major route (~90%)</a:t>
            </a:r>
            <a:endParaRPr lang="en-US" sz="1600" dirty="0"/>
          </a:p>
        </p:txBody>
      </p:sp>
      <p:sp>
        <p:nvSpPr>
          <p:cNvPr id="8" name="Text 6"/>
          <p:cNvSpPr/>
          <p:nvPr/>
        </p:nvSpPr>
        <p:spPr>
          <a:xfrm>
            <a:off x="609585" y="2782887"/>
            <a:ext cx="3032545" cy="280392"/>
          </a:xfrm>
          <a:prstGeom prst="rect">
            <a:avLst/>
          </a:prstGeom>
          <a:noFill/>
          <a:ln/>
        </p:spPr>
        <p:txBody>
          <a:bodyPr wrap="none" lIns="0" tIns="0" rIns="0" bIns="0" rtlCol="0" anchor="t"/>
          <a:lstStyle/>
          <a:p>
            <a:pPr marL="0" indent="0" algn="l">
              <a:lnSpc>
                <a:spcPct val="115000"/>
              </a:lnSpc>
              <a:buNone/>
            </a:pPr>
            <a:r>
              <a:rPr lang="en-US" sz="1600" dirty="0">
                <a:solidFill>
                  <a:srgbClr val="1A1A1A"/>
                </a:solidFill>
                <a:latin typeface="Carlito" pitchFamily="34" charset="0"/>
                <a:ea typeface="Carlito" pitchFamily="34" charset="-122"/>
                <a:cs typeface="Carlito" pitchFamily="34" charset="0"/>
              </a:rPr>
              <a:t>↓</a:t>
            </a:r>
            <a:endParaRPr lang="en-US" sz="1600" dirty="0"/>
          </a:p>
        </p:txBody>
      </p:sp>
      <p:sp>
        <p:nvSpPr>
          <p:cNvPr id="9" name="Shape 7"/>
          <p:cNvSpPr/>
          <p:nvPr/>
        </p:nvSpPr>
        <p:spPr>
          <a:xfrm>
            <a:off x="609585" y="3215680"/>
            <a:ext cx="3032545" cy="407392"/>
          </a:xfrm>
          <a:prstGeom prst="rect">
            <a:avLst/>
          </a:prstGeom>
          <a:solidFill>
            <a:srgbClr val="2E7D4F"/>
          </a:solidFill>
          <a:ln/>
        </p:spPr>
        <p:txBody>
          <a:bodyPr/>
          <a:lstStyle/>
          <a:p>
            <a:endParaRPr lang="en-US"/>
          </a:p>
        </p:txBody>
      </p:sp>
      <p:sp>
        <p:nvSpPr>
          <p:cNvPr id="10" name="Text 8"/>
          <p:cNvSpPr/>
          <p:nvPr/>
        </p:nvSpPr>
        <p:spPr>
          <a:xfrm>
            <a:off x="761981" y="3279180"/>
            <a:ext cx="2880149" cy="280392"/>
          </a:xfrm>
          <a:prstGeom prst="rect">
            <a:avLst/>
          </a:prstGeom>
          <a:noFill/>
          <a:ln/>
        </p:spPr>
        <p:txBody>
          <a:bodyPr wrap="none" lIns="0" tIns="0" rIns="0" bIns="0" rtlCol="0" anchor="t"/>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Glucuronidation and sulfation</a:t>
            </a:r>
            <a:endParaRPr lang="en-US" sz="1600" dirty="0"/>
          </a:p>
        </p:txBody>
      </p:sp>
      <p:sp>
        <p:nvSpPr>
          <p:cNvPr id="11" name="Text 9"/>
          <p:cNvSpPr/>
          <p:nvPr/>
        </p:nvSpPr>
        <p:spPr>
          <a:xfrm>
            <a:off x="609585" y="3775472"/>
            <a:ext cx="3032545" cy="280392"/>
          </a:xfrm>
          <a:prstGeom prst="rect">
            <a:avLst/>
          </a:prstGeom>
          <a:noFill/>
          <a:ln/>
        </p:spPr>
        <p:txBody>
          <a:bodyPr wrap="none" lIns="0" tIns="0" rIns="0" bIns="0" rtlCol="0" anchor="t"/>
          <a:lstStyle/>
          <a:p>
            <a:pPr marL="0" indent="0" algn="l">
              <a:lnSpc>
                <a:spcPct val="115000"/>
              </a:lnSpc>
              <a:buNone/>
            </a:pPr>
            <a:r>
              <a:rPr lang="en-US" sz="1600" dirty="0">
                <a:solidFill>
                  <a:srgbClr val="1A1A1A"/>
                </a:solidFill>
                <a:latin typeface="Carlito" pitchFamily="34" charset="0"/>
                <a:ea typeface="Carlito" pitchFamily="34" charset="-122"/>
                <a:cs typeface="Carlito" pitchFamily="34" charset="0"/>
              </a:rPr>
              <a:t>↓</a:t>
            </a:r>
            <a:endParaRPr lang="en-US" sz="1600" dirty="0"/>
          </a:p>
        </p:txBody>
      </p:sp>
      <p:sp>
        <p:nvSpPr>
          <p:cNvPr id="12" name="Shape 10"/>
          <p:cNvSpPr/>
          <p:nvPr/>
        </p:nvSpPr>
        <p:spPr>
          <a:xfrm>
            <a:off x="609585" y="4208264"/>
            <a:ext cx="3032545" cy="407392"/>
          </a:xfrm>
          <a:prstGeom prst="rect">
            <a:avLst/>
          </a:prstGeom>
          <a:solidFill>
            <a:srgbClr val="2E7D4F"/>
          </a:solidFill>
          <a:ln/>
        </p:spPr>
        <p:txBody>
          <a:bodyPr/>
          <a:lstStyle/>
          <a:p>
            <a:endParaRPr lang="en-US"/>
          </a:p>
        </p:txBody>
      </p:sp>
      <p:sp>
        <p:nvSpPr>
          <p:cNvPr id="13" name="Text 11"/>
          <p:cNvSpPr/>
          <p:nvPr/>
        </p:nvSpPr>
        <p:spPr>
          <a:xfrm>
            <a:off x="761981" y="4271764"/>
            <a:ext cx="2880149" cy="280392"/>
          </a:xfrm>
          <a:prstGeom prst="rect">
            <a:avLst/>
          </a:prstGeom>
          <a:noFill/>
          <a:ln/>
        </p:spPr>
        <p:txBody>
          <a:bodyPr wrap="none" lIns="0" tIns="0" rIns="0" bIns="0" rtlCol="0" anchor="t"/>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Safe urinary excretion</a:t>
            </a:r>
            <a:endParaRPr lang="en-US" sz="1600" dirty="0"/>
          </a:p>
        </p:txBody>
      </p:sp>
      <p:sp>
        <p:nvSpPr>
          <p:cNvPr id="14" name="Shape 12"/>
          <p:cNvSpPr/>
          <p:nvPr/>
        </p:nvSpPr>
        <p:spPr>
          <a:xfrm>
            <a:off x="3794526" y="2223095"/>
            <a:ext cx="3032644" cy="407392"/>
          </a:xfrm>
          <a:prstGeom prst="rect">
            <a:avLst/>
          </a:prstGeom>
          <a:solidFill>
            <a:srgbClr val="0F7173"/>
          </a:solidFill>
          <a:ln/>
        </p:spPr>
        <p:txBody>
          <a:bodyPr/>
          <a:lstStyle/>
          <a:p>
            <a:endParaRPr lang="en-US"/>
          </a:p>
        </p:txBody>
      </p:sp>
      <p:sp>
        <p:nvSpPr>
          <p:cNvPr id="15" name="Text 13"/>
          <p:cNvSpPr/>
          <p:nvPr/>
        </p:nvSpPr>
        <p:spPr>
          <a:xfrm>
            <a:off x="3946922" y="2286595"/>
            <a:ext cx="2880248" cy="280392"/>
          </a:xfrm>
          <a:prstGeom prst="rect">
            <a:avLst/>
          </a:prstGeom>
          <a:noFill/>
          <a:ln/>
        </p:spPr>
        <p:txBody>
          <a:bodyPr wrap="none" lIns="0" tIns="0" rIns="0" bIns="0" rtlCol="0" anchor="t"/>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Minor route (~5–10%)</a:t>
            </a:r>
            <a:endParaRPr lang="en-US" sz="1600" dirty="0"/>
          </a:p>
        </p:txBody>
      </p:sp>
      <p:sp>
        <p:nvSpPr>
          <p:cNvPr id="16" name="Text 14"/>
          <p:cNvSpPr/>
          <p:nvPr/>
        </p:nvSpPr>
        <p:spPr>
          <a:xfrm>
            <a:off x="3794526" y="2782887"/>
            <a:ext cx="3032644" cy="280392"/>
          </a:xfrm>
          <a:prstGeom prst="rect">
            <a:avLst/>
          </a:prstGeom>
          <a:noFill/>
          <a:ln/>
        </p:spPr>
        <p:txBody>
          <a:bodyPr wrap="none" lIns="0" tIns="0" rIns="0" bIns="0" rtlCol="0" anchor="t"/>
          <a:lstStyle/>
          <a:p>
            <a:pPr marL="0" indent="0" algn="l">
              <a:lnSpc>
                <a:spcPct val="115000"/>
              </a:lnSpc>
              <a:buNone/>
            </a:pPr>
            <a:r>
              <a:rPr lang="en-US" sz="1600" dirty="0">
                <a:solidFill>
                  <a:srgbClr val="1A1A1A"/>
                </a:solidFill>
                <a:latin typeface="Carlito" pitchFamily="34" charset="0"/>
                <a:ea typeface="Carlito" pitchFamily="34" charset="-122"/>
                <a:cs typeface="Carlito" pitchFamily="34" charset="0"/>
              </a:rPr>
              <a:t>↓</a:t>
            </a:r>
            <a:endParaRPr lang="en-US" sz="1600" dirty="0"/>
          </a:p>
        </p:txBody>
      </p:sp>
      <p:sp>
        <p:nvSpPr>
          <p:cNvPr id="17" name="Shape 15"/>
          <p:cNvSpPr/>
          <p:nvPr/>
        </p:nvSpPr>
        <p:spPr>
          <a:xfrm>
            <a:off x="3794526" y="3215680"/>
            <a:ext cx="3032644" cy="407392"/>
          </a:xfrm>
          <a:prstGeom prst="rect">
            <a:avLst/>
          </a:prstGeom>
          <a:solidFill>
            <a:srgbClr val="0F7173"/>
          </a:solidFill>
          <a:ln/>
        </p:spPr>
        <p:txBody>
          <a:bodyPr/>
          <a:lstStyle/>
          <a:p>
            <a:endParaRPr lang="en-US"/>
          </a:p>
        </p:txBody>
      </p:sp>
      <p:sp>
        <p:nvSpPr>
          <p:cNvPr id="18" name="Text 16"/>
          <p:cNvSpPr/>
          <p:nvPr/>
        </p:nvSpPr>
        <p:spPr>
          <a:xfrm>
            <a:off x="3946922" y="3279180"/>
            <a:ext cx="2880248" cy="280392"/>
          </a:xfrm>
          <a:prstGeom prst="rect">
            <a:avLst/>
          </a:prstGeom>
          <a:noFill/>
          <a:ln/>
        </p:spPr>
        <p:txBody>
          <a:bodyPr wrap="none" lIns="0" tIns="0" rIns="0" bIns="0" rtlCol="0" anchor="t"/>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CYP2E1 oxidation</a:t>
            </a:r>
            <a:endParaRPr lang="en-US" sz="1600" dirty="0"/>
          </a:p>
        </p:txBody>
      </p:sp>
      <p:sp>
        <p:nvSpPr>
          <p:cNvPr id="19" name="Text 17"/>
          <p:cNvSpPr/>
          <p:nvPr/>
        </p:nvSpPr>
        <p:spPr>
          <a:xfrm>
            <a:off x="3794526" y="3775472"/>
            <a:ext cx="3032644" cy="280392"/>
          </a:xfrm>
          <a:prstGeom prst="rect">
            <a:avLst/>
          </a:prstGeom>
          <a:noFill/>
          <a:ln/>
        </p:spPr>
        <p:txBody>
          <a:bodyPr wrap="none" lIns="0" tIns="0" rIns="0" bIns="0" rtlCol="0" anchor="t"/>
          <a:lstStyle/>
          <a:p>
            <a:pPr marL="0" indent="0" algn="l">
              <a:lnSpc>
                <a:spcPct val="115000"/>
              </a:lnSpc>
              <a:buNone/>
            </a:pPr>
            <a:r>
              <a:rPr lang="en-US" sz="1600" dirty="0">
                <a:solidFill>
                  <a:srgbClr val="1A1A1A"/>
                </a:solidFill>
                <a:latin typeface="Carlito" pitchFamily="34" charset="0"/>
                <a:ea typeface="Carlito" pitchFamily="34" charset="-122"/>
                <a:cs typeface="Carlito" pitchFamily="34" charset="0"/>
              </a:rPr>
              <a:t>↓</a:t>
            </a:r>
            <a:endParaRPr lang="en-US" sz="1600" dirty="0"/>
          </a:p>
        </p:txBody>
      </p:sp>
      <p:sp>
        <p:nvSpPr>
          <p:cNvPr id="20" name="Shape 18"/>
          <p:cNvSpPr/>
          <p:nvPr/>
        </p:nvSpPr>
        <p:spPr>
          <a:xfrm>
            <a:off x="3794526" y="4208264"/>
            <a:ext cx="3032644" cy="407392"/>
          </a:xfrm>
          <a:prstGeom prst="rect">
            <a:avLst/>
          </a:prstGeom>
          <a:solidFill>
            <a:srgbClr val="B5452F"/>
          </a:solidFill>
          <a:ln/>
        </p:spPr>
        <p:txBody>
          <a:bodyPr/>
          <a:lstStyle/>
          <a:p>
            <a:endParaRPr lang="en-US"/>
          </a:p>
        </p:txBody>
      </p:sp>
      <p:sp>
        <p:nvSpPr>
          <p:cNvPr id="21" name="Text 19"/>
          <p:cNvSpPr/>
          <p:nvPr/>
        </p:nvSpPr>
        <p:spPr>
          <a:xfrm>
            <a:off x="3946922" y="4271764"/>
            <a:ext cx="2880248" cy="280392"/>
          </a:xfrm>
          <a:prstGeom prst="rect">
            <a:avLst/>
          </a:prstGeom>
          <a:noFill/>
          <a:ln/>
        </p:spPr>
        <p:txBody>
          <a:bodyPr wrap="none" lIns="0" tIns="0" rIns="0" bIns="0" rtlCol="0" anchor="t"/>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NAPQI (toxic metabolite)</a:t>
            </a:r>
            <a:endParaRPr lang="en-US" sz="1600" dirty="0"/>
          </a:p>
        </p:txBody>
      </p:sp>
      <p:sp>
        <p:nvSpPr>
          <p:cNvPr id="22" name="Text 20"/>
          <p:cNvSpPr/>
          <p:nvPr/>
        </p:nvSpPr>
        <p:spPr>
          <a:xfrm>
            <a:off x="3794526" y="4768056"/>
            <a:ext cx="3032644" cy="280392"/>
          </a:xfrm>
          <a:prstGeom prst="rect">
            <a:avLst/>
          </a:prstGeom>
          <a:noFill/>
          <a:ln/>
        </p:spPr>
        <p:txBody>
          <a:bodyPr wrap="none" lIns="0" tIns="0" rIns="0" bIns="0" rtlCol="0" anchor="t"/>
          <a:lstStyle/>
          <a:p>
            <a:pPr marL="0" indent="0" algn="l">
              <a:lnSpc>
                <a:spcPct val="115000"/>
              </a:lnSpc>
              <a:buNone/>
            </a:pPr>
            <a:r>
              <a:rPr lang="en-US" sz="1600" dirty="0">
                <a:solidFill>
                  <a:srgbClr val="1A1A1A"/>
                </a:solidFill>
                <a:latin typeface="Carlito" pitchFamily="34" charset="0"/>
                <a:ea typeface="Carlito" pitchFamily="34" charset="-122"/>
                <a:cs typeface="Carlito" pitchFamily="34" charset="0"/>
              </a:rPr>
              <a:t>↓</a:t>
            </a:r>
            <a:endParaRPr lang="en-US" sz="1600" dirty="0"/>
          </a:p>
        </p:txBody>
      </p:sp>
      <p:sp>
        <p:nvSpPr>
          <p:cNvPr id="23" name="Shape 21"/>
          <p:cNvSpPr/>
          <p:nvPr/>
        </p:nvSpPr>
        <p:spPr>
          <a:xfrm>
            <a:off x="3794526" y="5200848"/>
            <a:ext cx="3032644" cy="687784"/>
          </a:xfrm>
          <a:prstGeom prst="rect">
            <a:avLst/>
          </a:prstGeom>
          <a:solidFill>
            <a:srgbClr val="2E7D4F"/>
          </a:solidFill>
          <a:ln/>
        </p:spPr>
        <p:txBody>
          <a:bodyPr/>
          <a:lstStyle/>
          <a:p>
            <a:endParaRPr lang="en-US"/>
          </a:p>
        </p:txBody>
      </p:sp>
      <p:sp>
        <p:nvSpPr>
          <p:cNvPr id="24" name="Text 22"/>
          <p:cNvSpPr/>
          <p:nvPr/>
        </p:nvSpPr>
        <p:spPr>
          <a:xfrm>
            <a:off x="3946922" y="5264348"/>
            <a:ext cx="2727852" cy="560784"/>
          </a:xfrm>
          <a:prstGeom prst="rect">
            <a:avLst/>
          </a:prstGeom>
          <a:noFill/>
          <a:ln/>
        </p:spPr>
        <p:txBody>
          <a:bodyPr wrap="square" lIns="0" tIns="0" rIns="0" bIns="0" rtlCol="0" anchor="t">
            <a:normAutofit/>
          </a:bodyPr>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GSH conjugation → safe excretion (at therapeutic doses)</a:t>
            </a:r>
            <a:endParaRPr lang="en-US" sz="1600" dirty="0"/>
          </a:p>
        </p:txBody>
      </p:sp>
      <p:sp>
        <p:nvSpPr>
          <p:cNvPr id="25" name="Text 23"/>
          <p:cNvSpPr/>
          <p:nvPr/>
        </p:nvSpPr>
        <p:spPr>
          <a:xfrm>
            <a:off x="7212458" y="1613264"/>
            <a:ext cx="4770344" cy="2595000"/>
          </a:xfrm>
          <a:prstGeom prst="rect">
            <a:avLst/>
          </a:prstGeom>
          <a:noFill/>
          <a:ln/>
        </p:spPr>
        <p:txBody>
          <a:bodyPr wrap="square" lIns="0" tIns="0" rIns="0" bIns="0" rtlCol="0" anchor="t">
            <a:normAutofit lnSpcReduction="10000"/>
          </a:bodyPr>
          <a:lstStyle/>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Mechanism:</a:t>
            </a:r>
            <a:r>
              <a:rPr lang="en-US" sz="1600" dirty="0">
                <a:solidFill>
                  <a:srgbClr val="1A1A1A"/>
                </a:solidFill>
                <a:latin typeface="Carlito" pitchFamily="34" charset="0"/>
                <a:ea typeface="Carlito" pitchFamily="34" charset="-122"/>
                <a:cs typeface="Carlito" pitchFamily="34" charset="0"/>
              </a:rPr>
              <a:t> analgesia and antipyresis are mainly central via reduced CNS prostaglandin synthesis; peripheral anti-inflammatory action is minimal.</a:t>
            </a:r>
          </a:p>
          <a:p>
            <a:pPr marL="325120" indent="-325120" algn="l">
              <a:lnSpc>
                <a:spcPct val="115000"/>
              </a:lnSpc>
              <a:buSzPct val="100000"/>
              <a:buChar char="•"/>
            </a:pP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Major route:</a:t>
            </a:r>
            <a:r>
              <a:rPr lang="en-US" sz="1600" dirty="0">
                <a:solidFill>
                  <a:srgbClr val="1A1A1A"/>
                </a:solidFill>
                <a:latin typeface="Carlito" pitchFamily="34" charset="0"/>
                <a:ea typeface="Carlito" pitchFamily="34" charset="-122"/>
                <a:cs typeface="Carlito" pitchFamily="34" charset="0"/>
              </a:rPr>
              <a:t> glucuronidation and sulfation handle about 90% of the dose, giving safe urinary excretion.</a:t>
            </a:r>
          </a:p>
          <a:p>
            <a:pPr marL="325120" indent="-325120" algn="l">
              <a:lnSpc>
                <a:spcPct val="115000"/>
              </a:lnSpc>
              <a:buSzPct val="100000"/>
              <a:buChar char="•"/>
            </a:pP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Minor route:</a:t>
            </a:r>
            <a:r>
              <a:rPr lang="en-US" sz="1600" dirty="0">
                <a:solidFill>
                  <a:srgbClr val="1A1A1A"/>
                </a:solidFill>
                <a:latin typeface="Carlito" pitchFamily="34" charset="0"/>
                <a:ea typeface="Carlito" pitchFamily="34" charset="-122"/>
                <a:cs typeface="Carlito" pitchFamily="34" charset="0"/>
              </a:rPr>
              <a:t> CYP2E1 converts a small fraction to NAPQI (N-acetyl-p-benzoquinone-imine), normally neutralized by glutathione.</a:t>
            </a:r>
            <a:endParaRPr lang="en-US" sz="1600" dirty="0"/>
          </a:p>
        </p:txBody>
      </p:sp>
      <p:sp>
        <p:nvSpPr>
          <p:cNvPr id="26" name="Text 2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27" name="Text 2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60866"/>
            <a:ext cx="10972526" cy="422176"/>
          </a:xfrm>
          <a:prstGeom prst="rect">
            <a:avLst/>
          </a:prstGeom>
          <a:noFill/>
          <a:ln/>
        </p:spPr>
        <p:txBody>
          <a:bodyPr wrap="none" lIns="0" tIns="0" rIns="0" bIns="0" rtlCol="0" anchor="t"/>
          <a:lstStyle/>
          <a:p>
            <a:pPr marL="0" indent="0" algn="l">
              <a:lnSpc>
                <a:spcPct val="100000"/>
              </a:lnSpc>
              <a:buNone/>
            </a:pPr>
            <a:r>
              <a:rPr lang="en-US" sz="2750" b="1" dirty="0">
                <a:solidFill>
                  <a:srgbClr val="123C44"/>
                </a:solidFill>
                <a:latin typeface="Caladea Bold" pitchFamily="34" charset="0"/>
                <a:ea typeface="Caladea Bold" pitchFamily="34" charset="-122"/>
                <a:cs typeface="Caladea Bold" pitchFamily="34" charset="0"/>
              </a:rPr>
              <a:t>Acetaminophen Overdose and NAC Rescue</a:t>
            </a:r>
            <a:endParaRPr lang="en-US" sz="2750" dirty="0"/>
          </a:p>
        </p:txBody>
      </p:sp>
      <p:sp>
        <p:nvSpPr>
          <p:cNvPr id="4" name="Shape 2"/>
          <p:cNvSpPr/>
          <p:nvPr/>
        </p:nvSpPr>
        <p:spPr>
          <a:xfrm>
            <a:off x="609585" y="1602879"/>
            <a:ext cx="6217685" cy="483592"/>
          </a:xfrm>
          <a:prstGeom prst="rect">
            <a:avLst/>
          </a:prstGeom>
          <a:solidFill>
            <a:srgbClr val="C8323C"/>
          </a:solidFill>
          <a:ln/>
        </p:spPr>
        <p:txBody>
          <a:bodyPr/>
          <a:lstStyle/>
          <a:p>
            <a:endParaRPr lang="en-US"/>
          </a:p>
        </p:txBody>
      </p:sp>
      <p:sp>
        <p:nvSpPr>
          <p:cNvPr id="5" name="Text 3"/>
          <p:cNvSpPr/>
          <p:nvPr/>
        </p:nvSpPr>
        <p:spPr>
          <a:xfrm>
            <a:off x="761981" y="1704479"/>
            <a:ext cx="6065289" cy="280392"/>
          </a:xfrm>
          <a:prstGeom prst="rect">
            <a:avLst/>
          </a:prstGeom>
          <a:noFill/>
          <a:ln/>
        </p:spPr>
        <p:txBody>
          <a:bodyPr wrap="none" lIns="0" tIns="0" rIns="0" bIns="0" rtlCol="0" anchor="t"/>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Overdose: saturated glucuronidation/sulfation</a:t>
            </a:r>
            <a:endParaRPr lang="en-US" sz="1600" dirty="0"/>
          </a:p>
        </p:txBody>
      </p:sp>
      <p:sp>
        <p:nvSpPr>
          <p:cNvPr id="6" name="Text 4"/>
          <p:cNvSpPr/>
          <p:nvPr/>
        </p:nvSpPr>
        <p:spPr>
          <a:xfrm>
            <a:off x="609585" y="2086471"/>
            <a:ext cx="6217685" cy="280392"/>
          </a:xfrm>
          <a:prstGeom prst="rect">
            <a:avLst/>
          </a:prstGeom>
          <a:noFill/>
          <a:ln/>
        </p:spPr>
        <p:txBody>
          <a:bodyPr wrap="none" lIns="0" tIns="0" rIns="0" bIns="0" rtlCol="0" anchor="t"/>
          <a:lstStyle/>
          <a:p>
            <a:pPr marL="0" indent="0" algn="l">
              <a:lnSpc>
                <a:spcPct val="115000"/>
              </a:lnSpc>
              <a:buNone/>
            </a:pPr>
            <a:r>
              <a:rPr lang="en-US" sz="1600" dirty="0">
                <a:solidFill>
                  <a:srgbClr val="1A1A1A"/>
                </a:solidFill>
                <a:latin typeface="Carlito" pitchFamily="34" charset="0"/>
                <a:ea typeface="Carlito" pitchFamily="34" charset="-122"/>
                <a:cs typeface="Carlito" pitchFamily="34" charset="0"/>
              </a:rPr>
              <a:t>↓</a:t>
            </a:r>
            <a:endParaRPr lang="en-US" sz="1600" dirty="0"/>
          </a:p>
        </p:txBody>
      </p:sp>
      <p:sp>
        <p:nvSpPr>
          <p:cNvPr id="7" name="Shape 5"/>
          <p:cNvSpPr/>
          <p:nvPr/>
        </p:nvSpPr>
        <p:spPr>
          <a:xfrm>
            <a:off x="609585" y="2366863"/>
            <a:ext cx="6217685" cy="483592"/>
          </a:xfrm>
          <a:prstGeom prst="rect">
            <a:avLst/>
          </a:prstGeom>
          <a:solidFill>
            <a:srgbClr val="C8323C"/>
          </a:solidFill>
          <a:ln/>
        </p:spPr>
        <p:txBody>
          <a:bodyPr/>
          <a:lstStyle/>
          <a:p>
            <a:endParaRPr lang="en-US"/>
          </a:p>
        </p:txBody>
      </p:sp>
      <p:sp>
        <p:nvSpPr>
          <p:cNvPr id="8" name="Text 6"/>
          <p:cNvSpPr/>
          <p:nvPr/>
        </p:nvSpPr>
        <p:spPr>
          <a:xfrm>
            <a:off x="761981" y="2468463"/>
            <a:ext cx="6065289" cy="280392"/>
          </a:xfrm>
          <a:prstGeom prst="rect">
            <a:avLst/>
          </a:prstGeom>
          <a:noFill/>
          <a:ln/>
        </p:spPr>
        <p:txBody>
          <a:bodyPr wrap="none" lIns="0" tIns="0" rIns="0" bIns="0" rtlCol="0" anchor="t"/>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More drug shunted to CYP2E1</a:t>
            </a:r>
            <a:endParaRPr lang="en-US" sz="1600" dirty="0"/>
          </a:p>
        </p:txBody>
      </p:sp>
      <p:sp>
        <p:nvSpPr>
          <p:cNvPr id="9" name="Text 7"/>
          <p:cNvSpPr/>
          <p:nvPr/>
        </p:nvSpPr>
        <p:spPr>
          <a:xfrm>
            <a:off x="609585" y="2850455"/>
            <a:ext cx="6217685" cy="280392"/>
          </a:xfrm>
          <a:prstGeom prst="rect">
            <a:avLst/>
          </a:prstGeom>
          <a:noFill/>
          <a:ln/>
        </p:spPr>
        <p:txBody>
          <a:bodyPr wrap="none" lIns="0" tIns="0" rIns="0" bIns="0" rtlCol="0" anchor="t"/>
          <a:lstStyle/>
          <a:p>
            <a:pPr marL="0" indent="0" algn="l">
              <a:lnSpc>
                <a:spcPct val="115000"/>
              </a:lnSpc>
              <a:buNone/>
            </a:pPr>
            <a:r>
              <a:rPr lang="en-US" sz="1600" dirty="0">
                <a:solidFill>
                  <a:srgbClr val="1A1A1A"/>
                </a:solidFill>
                <a:latin typeface="Carlito" pitchFamily="34" charset="0"/>
                <a:ea typeface="Carlito" pitchFamily="34" charset="-122"/>
                <a:cs typeface="Carlito" pitchFamily="34" charset="0"/>
              </a:rPr>
              <a:t>↓</a:t>
            </a:r>
            <a:endParaRPr lang="en-US" sz="1600" dirty="0"/>
          </a:p>
        </p:txBody>
      </p:sp>
      <p:sp>
        <p:nvSpPr>
          <p:cNvPr id="10" name="Shape 8"/>
          <p:cNvSpPr/>
          <p:nvPr/>
        </p:nvSpPr>
        <p:spPr>
          <a:xfrm>
            <a:off x="609585" y="3130848"/>
            <a:ext cx="3523269" cy="1044377"/>
          </a:xfrm>
          <a:prstGeom prst="rect">
            <a:avLst/>
          </a:prstGeom>
          <a:solidFill>
            <a:srgbClr val="B5452F"/>
          </a:solidFill>
          <a:ln/>
        </p:spPr>
        <p:txBody>
          <a:bodyPr/>
          <a:lstStyle/>
          <a:p>
            <a:endParaRPr lang="en-US"/>
          </a:p>
        </p:txBody>
      </p:sp>
      <p:sp>
        <p:nvSpPr>
          <p:cNvPr id="11" name="Text 9"/>
          <p:cNvSpPr/>
          <p:nvPr/>
        </p:nvSpPr>
        <p:spPr>
          <a:xfrm>
            <a:off x="761981" y="3232448"/>
            <a:ext cx="3218477" cy="560784"/>
          </a:xfrm>
          <a:prstGeom prst="rect">
            <a:avLst/>
          </a:prstGeom>
          <a:noFill/>
          <a:ln/>
        </p:spPr>
        <p:txBody>
          <a:bodyPr wrap="square" lIns="0" tIns="0" rIns="0" bIns="0" rtlCol="0" anchor="t">
            <a:normAutofit/>
          </a:bodyPr>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More NAPQI; glutathione (GSH) depleted</a:t>
            </a:r>
            <a:endParaRPr lang="en-US" sz="1600" dirty="0"/>
          </a:p>
        </p:txBody>
      </p:sp>
      <p:sp>
        <p:nvSpPr>
          <p:cNvPr id="12" name="Text 10"/>
          <p:cNvSpPr/>
          <p:nvPr/>
        </p:nvSpPr>
        <p:spPr>
          <a:xfrm>
            <a:off x="4132854" y="3512840"/>
            <a:ext cx="621788" cy="280392"/>
          </a:xfrm>
          <a:prstGeom prst="rect">
            <a:avLst/>
          </a:prstGeom>
          <a:noFill/>
          <a:ln/>
        </p:spPr>
        <p:txBody>
          <a:bodyPr wrap="none" lIns="0" tIns="0" rIns="0" bIns="0" rtlCol="0" anchor="t"/>
          <a:lstStyle/>
          <a:p>
            <a:pPr marL="0" indent="0" algn="l">
              <a:lnSpc>
                <a:spcPct val="115000"/>
              </a:lnSpc>
              <a:buNone/>
            </a:pPr>
            <a:r>
              <a:rPr lang="en-US" sz="1600" dirty="0">
                <a:solidFill>
                  <a:srgbClr val="1A1A1A"/>
                </a:solidFill>
                <a:latin typeface="Carlito" pitchFamily="34" charset="0"/>
                <a:ea typeface="Carlito" pitchFamily="34" charset="-122"/>
                <a:cs typeface="Carlito" pitchFamily="34" charset="0"/>
              </a:rPr>
              <a:t>←</a:t>
            </a:r>
            <a:endParaRPr lang="en-US" sz="1600" dirty="0"/>
          </a:p>
        </p:txBody>
      </p:sp>
      <p:sp>
        <p:nvSpPr>
          <p:cNvPr id="13" name="Shape 11"/>
          <p:cNvSpPr/>
          <p:nvPr/>
        </p:nvSpPr>
        <p:spPr>
          <a:xfrm>
            <a:off x="4754642" y="3130848"/>
            <a:ext cx="2072628" cy="1044377"/>
          </a:xfrm>
          <a:prstGeom prst="rect">
            <a:avLst/>
          </a:prstGeom>
          <a:solidFill>
            <a:srgbClr val="2563A8"/>
          </a:solidFill>
          <a:ln/>
        </p:spPr>
        <p:txBody>
          <a:bodyPr/>
          <a:lstStyle/>
          <a:p>
            <a:endParaRPr lang="en-US"/>
          </a:p>
        </p:txBody>
      </p:sp>
      <p:sp>
        <p:nvSpPr>
          <p:cNvPr id="14" name="Text 12"/>
          <p:cNvSpPr/>
          <p:nvPr/>
        </p:nvSpPr>
        <p:spPr>
          <a:xfrm>
            <a:off x="4881639" y="3232448"/>
            <a:ext cx="1818634" cy="841177"/>
          </a:xfrm>
          <a:prstGeom prst="rect">
            <a:avLst/>
          </a:prstGeom>
          <a:noFill/>
          <a:ln/>
        </p:spPr>
        <p:txBody>
          <a:bodyPr wrap="square" lIns="0" tIns="0" rIns="0" bIns="0" rtlCol="0" anchor="t">
            <a:normAutofit/>
          </a:bodyPr>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N-acetylcysteine (NAC) replenishes GSH</a:t>
            </a:r>
            <a:endParaRPr lang="en-US" sz="1600" dirty="0"/>
          </a:p>
        </p:txBody>
      </p:sp>
      <p:sp>
        <p:nvSpPr>
          <p:cNvPr id="15" name="Text 13"/>
          <p:cNvSpPr/>
          <p:nvPr/>
        </p:nvSpPr>
        <p:spPr>
          <a:xfrm>
            <a:off x="609585" y="4175224"/>
            <a:ext cx="6217685" cy="280392"/>
          </a:xfrm>
          <a:prstGeom prst="rect">
            <a:avLst/>
          </a:prstGeom>
          <a:noFill/>
          <a:ln/>
        </p:spPr>
        <p:txBody>
          <a:bodyPr wrap="none" lIns="0" tIns="0" rIns="0" bIns="0" rtlCol="0" anchor="t"/>
          <a:lstStyle/>
          <a:p>
            <a:pPr marL="0" indent="0" algn="l">
              <a:lnSpc>
                <a:spcPct val="115000"/>
              </a:lnSpc>
              <a:buNone/>
            </a:pPr>
            <a:r>
              <a:rPr lang="en-US" sz="1600" dirty="0">
                <a:solidFill>
                  <a:srgbClr val="1A1A1A"/>
                </a:solidFill>
                <a:latin typeface="Carlito" pitchFamily="34" charset="0"/>
                <a:ea typeface="Carlito" pitchFamily="34" charset="-122"/>
                <a:cs typeface="Carlito" pitchFamily="34" charset="0"/>
              </a:rPr>
              <a:t>↓</a:t>
            </a:r>
            <a:endParaRPr lang="en-US" sz="1600" dirty="0"/>
          </a:p>
        </p:txBody>
      </p:sp>
      <p:sp>
        <p:nvSpPr>
          <p:cNvPr id="16" name="Shape 14"/>
          <p:cNvSpPr/>
          <p:nvPr/>
        </p:nvSpPr>
        <p:spPr>
          <a:xfrm>
            <a:off x="609585" y="4455616"/>
            <a:ext cx="6217685" cy="483592"/>
          </a:xfrm>
          <a:prstGeom prst="rect">
            <a:avLst/>
          </a:prstGeom>
          <a:solidFill>
            <a:srgbClr val="C8323C"/>
          </a:solidFill>
          <a:ln/>
        </p:spPr>
        <p:txBody>
          <a:bodyPr/>
          <a:lstStyle/>
          <a:p>
            <a:endParaRPr lang="en-US"/>
          </a:p>
        </p:txBody>
      </p:sp>
      <p:sp>
        <p:nvSpPr>
          <p:cNvPr id="17" name="Text 15"/>
          <p:cNvSpPr/>
          <p:nvPr/>
        </p:nvSpPr>
        <p:spPr>
          <a:xfrm>
            <a:off x="761981" y="4557216"/>
            <a:ext cx="6065289" cy="280392"/>
          </a:xfrm>
          <a:prstGeom prst="rect">
            <a:avLst/>
          </a:prstGeom>
          <a:noFill/>
          <a:ln/>
        </p:spPr>
        <p:txBody>
          <a:bodyPr wrap="none" lIns="0" tIns="0" rIns="0" bIns="0" rtlCol="0" anchor="t"/>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NAPQI binds hepatocyte proteins</a:t>
            </a:r>
            <a:endParaRPr lang="en-US" sz="1600" dirty="0"/>
          </a:p>
        </p:txBody>
      </p:sp>
      <p:sp>
        <p:nvSpPr>
          <p:cNvPr id="18" name="Text 16"/>
          <p:cNvSpPr/>
          <p:nvPr/>
        </p:nvSpPr>
        <p:spPr>
          <a:xfrm>
            <a:off x="609585" y="4939209"/>
            <a:ext cx="6217685" cy="280392"/>
          </a:xfrm>
          <a:prstGeom prst="rect">
            <a:avLst/>
          </a:prstGeom>
          <a:noFill/>
          <a:ln/>
        </p:spPr>
        <p:txBody>
          <a:bodyPr wrap="none" lIns="0" tIns="0" rIns="0" bIns="0" rtlCol="0" anchor="t"/>
          <a:lstStyle/>
          <a:p>
            <a:pPr marL="0" indent="0" algn="l">
              <a:lnSpc>
                <a:spcPct val="115000"/>
              </a:lnSpc>
              <a:buNone/>
            </a:pPr>
            <a:r>
              <a:rPr lang="en-US" sz="1600" dirty="0">
                <a:solidFill>
                  <a:srgbClr val="1A1A1A"/>
                </a:solidFill>
                <a:latin typeface="Carlito" pitchFamily="34" charset="0"/>
                <a:ea typeface="Carlito" pitchFamily="34" charset="-122"/>
                <a:cs typeface="Carlito" pitchFamily="34" charset="0"/>
              </a:rPr>
              <a:t>↓</a:t>
            </a:r>
            <a:endParaRPr lang="en-US" sz="1600" dirty="0"/>
          </a:p>
        </p:txBody>
      </p:sp>
      <p:sp>
        <p:nvSpPr>
          <p:cNvPr id="19" name="Shape 17"/>
          <p:cNvSpPr/>
          <p:nvPr/>
        </p:nvSpPr>
        <p:spPr>
          <a:xfrm>
            <a:off x="609585" y="5219601"/>
            <a:ext cx="6217685" cy="483592"/>
          </a:xfrm>
          <a:prstGeom prst="rect">
            <a:avLst/>
          </a:prstGeom>
          <a:solidFill>
            <a:srgbClr val="C8323C"/>
          </a:solidFill>
          <a:ln/>
        </p:spPr>
        <p:txBody>
          <a:bodyPr/>
          <a:lstStyle/>
          <a:p>
            <a:endParaRPr lang="en-US"/>
          </a:p>
        </p:txBody>
      </p:sp>
      <p:sp>
        <p:nvSpPr>
          <p:cNvPr id="20" name="Text 18"/>
          <p:cNvSpPr/>
          <p:nvPr/>
        </p:nvSpPr>
        <p:spPr>
          <a:xfrm>
            <a:off x="761981" y="5321201"/>
            <a:ext cx="6065289" cy="280392"/>
          </a:xfrm>
          <a:prstGeom prst="rect">
            <a:avLst/>
          </a:prstGeom>
          <a:noFill/>
          <a:ln/>
        </p:spPr>
        <p:txBody>
          <a:bodyPr wrap="none" lIns="0" tIns="0" rIns="0" bIns="0" rtlCol="0" anchor="t"/>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Centrilobular liver necrosis</a:t>
            </a:r>
            <a:endParaRPr lang="en-US" sz="1600" dirty="0"/>
          </a:p>
        </p:txBody>
      </p:sp>
      <p:sp>
        <p:nvSpPr>
          <p:cNvPr id="21" name="Text 19"/>
          <p:cNvSpPr/>
          <p:nvPr/>
        </p:nvSpPr>
        <p:spPr>
          <a:xfrm>
            <a:off x="6827270" y="1602879"/>
            <a:ext cx="4754840" cy="2729210"/>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Overdose:</a:t>
            </a:r>
            <a:r>
              <a:rPr lang="en-US" sz="1600" dirty="0">
                <a:solidFill>
                  <a:srgbClr val="1A1A1A"/>
                </a:solidFill>
                <a:latin typeface="Carlito" pitchFamily="34" charset="0"/>
                <a:ea typeface="Carlito" pitchFamily="34" charset="-122"/>
                <a:cs typeface="Carlito" pitchFamily="34" charset="0"/>
              </a:rPr>
              <a:t> glutathione is exhausted, so NAPQI injures hepatocytes.</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Antidote:</a:t>
            </a:r>
            <a:r>
              <a:rPr lang="en-US" sz="1600" dirty="0">
                <a:solidFill>
                  <a:srgbClr val="1A1A1A"/>
                </a:solidFill>
                <a:latin typeface="Carlito" pitchFamily="34" charset="0"/>
                <a:ea typeface="Carlito" pitchFamily="34" charset="-122"/>
                <a:cs typeface="Carlito" pitchFamily="34" charset="0"/>
              </a:rPr>
              <a:t> NAC replenishes glutathione; give early for best effect.</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Pearl:</a:t>
            </a:r>
            <a:r>
              <a:rPr lang="en-US" sz="1600" dirty="0">
                <a:solidFill>
                  <a:srgbClr val="1A1A1A"/>
                </a:solidFill>
                <a:latin typeface="Carlito" pitchFamily="34" charset="0"/>
                <a:ea typeface="Carlito" pitchFamily="34" charset="-122"/>
                <a:cs typeface="Carlito" pitchFamily="34" charset="0"/>
              </a:rPr>
              <a:t> chronic alcohol use and fasting lower GSH and raise risk; both also induce CYP2E1.</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Monitoring:</a:t>
            </a:r>
            <a:r>
              <a:rPr lang="en-US" sz="1600" dirty="0">
                <a:solidFill>
                  <a:srgbClr val="1A1A1A"/>
                </a:solidFill>
                <a:latin typeface="Carlito" pitchFamily="34" charset="0"/>
                <a:ea typeface="Carlito" pitchFamily="34" charset="-122"/>
                <a:cs typeface="Carlito" pitchFamily="34" charset="0"/>
              </a:rPr>
              <a:t> plot the acetaminophen level on the Rumack-Matthew nomogram for acute single ingestion; check AST/ALT.</a:t>
            </a:r>
            <a:endParaRPr lang="en-US" sz="1600" dirty="0"/>
          </a:p>
        </p:txBody>
      </p:sp>
      <p:sp>
        <p:nvSpPr>
          <p:cNvPr id="22" name="Text 20"/>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23" name="Text 21"/>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60866"/>
            <a:ext cx="10972526" cy="422176"/>
          </a:xfrm>
          <a:prstGeom prst="rect">
            <a:avLst/>
          </a:prstGeom>
          <a:noFill/>
          <a:ln/>
        </p:spPr>
        <p:txBody>
          <a:bodyPr wrap="none" lIns="0" tIns="0" rIns="0" bIns="0" rtlCol="0" anchor="t"/>
          <a:lstStyle/>
          <a:p>
            <a:pPr marL="0" indent="0" algn="l">
              <a:lnSpc>
                <a:spcPct val="100000"/>
              </a:lnSpc>
              <a:buNone/>
            </a:pPr>
            <a:r>
              <a:rPr lang="en-US" sz="2750" b="1" dirty="0">
                <a:solidFill>
                  <a:srgbClr val="123C44"/>
                </a:solidFill>
                <a:latin typeface="Caladea Bold" pitchFamily="34" charset="0"/>
                <a:ea typeface="Caladea Bold" pitchFamily="34" charset="-122"/>
                <a:cs typeface="Caladea Bold" pitchFamily="34" charset="0"/>
              </a:rPr>
              <a:t>Rumack-Matthew Nomogram: Assessing Toxicity</a:t>
            </a:r>
            <a:endParaRPr lang="en-US" sz="2750" dirty="0"/>
          </a:p>
        </p:txBody>
      </p:sp>
      <p:sp>
        <p:nvSpPr>
          <p:cNvPr id="4" name="Text 2"/>
          <p:cNvSpPr/>
          <p:nvPr/>
        </p:nvSpPr>
        <p:spPr>
          <a:xfrm>
            <a:off x="609585" y="1602879"/>
            <a:ext cx="6672393" cy="280392"/>
          </a:xfrm>
          <a:prstGeom prst="rect">
            <a:avLst/>
          </a:prstGeom>
          <a:noFill/>
          <a:ln/>
        </p:spPr>
        <p:txBody>
          <a:bodyPr wrap="none" lIns="0" tIns="0" rIns="0" bIns="0" rtlCol="0" anchor="t"/>
          <a:lstStyle/>
          <a:p>
            <a:pPr marL="0" indent="0" algn="l">
              <a:lnSpc>
                <a:spcPct val="115000"/>
              </a:lnSpc>
              <a:buNone/>
            </a:pPr>
            <a:r>
              <a:rPr lang="en-US" sz="1600" dirty="0">
                <a:solidFill>
                  <a:srgbClr val="1A1A1A"/>
                </a:solidFill>
                <a:latin typeface="Carlito" pitchFamily="34" charset="0"/>
                <a:ea typeface="Carlito" pitchFamily="34" charset="-122"/>
                <a:cs typeface="Carlito" pitchFamily="34" charset="0"/>
              </a:rPr>
              <a:t>Illustrative schematic, single acute ingestion.</a:t>
            </a:r>
            <a:endParaRPr lang="en-US" sz="1600" dirty="0"/>
          </a:p>
        </p:txBody>
      </p:sp>
      <p:pic>
        <p:nvPicPr>
          <p:cNvPr id="5" name="Image 0" descr="preencoded.png"/>
          <p:cNvPicPr>
            <a:picLocks noChangeAspect="1"/>
          </p:cNvPicPr>
          <p:nvPr/>
        </p:nvPicPr>
        <p:blipFill>
          <a:blip r:embed="rId3"/>
          <a:stretch>
            <a:fillRect/>
          </a:stretch>
        </p:blipFill>
        <p:spPr>
          <a:xfrm>
            <a:off x="609585" y="2008981"/>
            <a:ext cx="5587860" cy="3725267"/>
          </a:xfrm>
          <a:prstGeom prst="rect">
            <a:avLst/>
          </a:prstGeom>
        </p:spPr>
      </p:pic>
      <p:sp>
        <p:nvSpPr>
          <p:cNvPr id="6" name="Text 3"/>
          <p:cNvSpPr/>
          <p:nvPr/>
        </p:nvSpPr>
        <p:spPr>
          <a:xfrm>
            <a:off x="609585" y="5859959"/>
            <a:ext cx="6672393" cy="280392"/>
          </a:xfrm>
          <a:prstGeom prst="rect">
            <a:avLst/>
          </a:prstGeom>
          <a:noFill/>
          <a:ln/>
        </p:spPr>
        <p:txBody>
          <a:bodyPr wrap="none" lIns="0" tIns="0" rIns="0" bIns="0" rtlCol="0" anchor="t"/>
          <a:lstStyle/>
          <a:p>
            <a:pPr marL="0" indent="0" algn="l">
              <a:lnSpc>
                <a:spcPct val="115000"/>
              </a:lnSpc>
              <a:buNone/>
            </a:pPr>
            <a:r>
              <a:rPr lang="en-US" sz="1600" dirty="0">
                <a:solidFill>
                  <a:srgbClr val="1A1A1A"/>
                </a:solidFill>
                <a:latin typeface="Carlito" pitchFamily="34" charset="0"/>
                <a:ea typeface="Carlito" pitchFamily="34" charset="-122"/>
                <a:cs typeface="Carlito" pitchFamily="34" charset="0"/>
              </a:rPr>
              <a:t>Example: 8 h, 120 mcg/mL is above the line, so start NAC.</a:t>
            </a:r>
            <a:endParaRPr lang="en-US" sz="1600" dirty="0"/>
          </a:p>
        </p:txBody>
      </p:sp>
      <p:sp>
        <p:nvSpPr>
          <p:cNvPr id="7" name="Text 4"/>
          <p:cNvSpPr/>
          <p:nvPr/>
        </p:nvSpPr>
        <p:spPr>
          <a:xfrm>
            <a:off x="7434275" y="1602879"/>
            <a:ext cx="4147835" cy="3009602"/>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How to use:</a:t>
            </a:r>
            <a:r>
              <a:rPr lang="en-US" sz="1600" dirty="0">
                <a:solidFill>
                  <a:srgbClr val="1A1A1A"/>
                </a:solidFill>
                <a:latin typeface="Carlito" pitchFamily="34" charset="0"/>
                <a:ea typeface="Carlito" pitchFamily="34" charset="-122"/>
                <a:cs typeface="Carlito" pitchFamily="34" charset="0"/>
              </a:rPr>
              <a:t> draw a level at 4 hours or later after a single acute ingestion and plot it against time since ingestion.</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Above the treatment line:</a:t>
            </a:r>
            <a:r>
              <a:rPr lang="en-US" sz="1600" dirty="0">
                <a:solidFill>
                  <a:srgbClr val="1A1A1A"/>
                </a:solidFill>
                <a:latin typeface="Carlito" pitchFamily="34" charset="0"/>
                <a:ea typeface="Carlito" pitchFamily="34" charset="-122"/>
                <a:cs typeface="Carlito" pitchFamily="34" charset="0"/>
              </a:rPr>
              <a:t> give NAC.</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Below the line:</a:t>
            </a:r>
            <a:r>
              <a:rPr lang="en-US" sz="1600" dirty="0">
                <a:solidFill>
                  <a:srgbClr val="1A1A1A"/>
                </a:solidFill>
                <a:latin typeface="Carlito" pitchFamily="34" charset="0"/>
                <a:ea typeface="Carlito" pitchFamily="34" charset="-122"/>
                <a:cs typeface="Carlito" pitchFamily="34" charset="0"/>
              </a:rPr>
              <a:t> toxicity unlikely.</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Limits:</a:t>
            </a:r>
            <a:r>
              <a:rPr lang="en-US" sz="1600" dirty="0">
                <a:solidFill>
                  <a:srgbClr val="1A1A1A"/>
                </a:solidFill>
                <a:latin typeface="Carlito" pitchFamily="34" charset="0"/>
                <a:ea typeface="Carlito" pitchFamily="34" charset="-122"/>
                <a:cs typeface="Carlito" pitchFamily="34" charset="0"/>
              </a:rPr>
              <a:t> not valid before 4 hours, for unknown ingestion time, staggered or repeated supratherapeutic ingestion, or chronic use; treat these using clinical judgment, AST/ALT and poison control.</a:t>
            </a:r>
            <a:endParaRPr lang="en-US" sz="1600" dirty="0"/>
          </a:p>
        </p:txBody>
      </p:sp>
      <p:sp>
        <p:nvSpPr>
          <p:cNvPr id="8" name="Text 5"/>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9" name="Text 6"/>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OVERDOSE MECHANISM</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Acetaminophen Toxicity</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2377380"/>
            <a:ext cx="2432188" cy="1600200"/>
          </a:xfrm>
          <a:prstGeom prst="roundRect">
            <a:avLst>
              <a:gd name="adj" fmla="val 5486"/>
            </a:avLst>
          </a:prstGeom>
          <a:solidFill>
            <a:srgbClr val="0F7173"/>
          </a:solidFill>
          <a:ln/>
        </p:spPr>
        <p:txBody>
          <a:bodyPr/>
          <a:lstStyle/>
          <a:p>
            <a:endParaRPr lang="en-US"/>
          </a:p>
        </p:txBody>
      </p:sp>
      <p:sp>
        <p:nvSpPr>
          <p:cNvPr id="7" name="Text 4"/>
          <p:cNvSpPr/>
          <p:nvPr/>
        </p:nvSpPr>
        <p:spPr>
          <a:xfrm>
            <a:off x="433774" y="3064661"/>
            <a:ext cx="2844729" cy="227806"/>
          </a:xfrm>
          <a:prstGeom prst="rect">
            <a:avLst/>
          </a:prstGeom>
          <a:noFill/>
          <a:ln/>
        </p:spPr>
        <p:txBody>
          <a:bodyPr wrap="none" lIns="0" tIns="0" rIns="0" bIns="0" rtlCol="0" anchor="t"/>
          <a:lstStyle/>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Acetaminophen</a:t>
            </a:r>
            <a:endParaRPr lang="en-US" sz="1300" dirty="0"/>
          </a:p>
        </p:txBody>
      </p:sp>
      <p:sp>
        <p:nvSpPr>
          <p:cNvPr id="8" name="Shape 5"/>
          <p:cNvSpPr/>
          <p:nvPr/>
        </p:nvSpPr>
        <p:spPr>
          <a:xfrm>
            <a:off x="3072232" y="2994620"/>
            <a:ext cx="383967" cy="365720"/>
          </a:xfrm>
          <a:custGeom>
            <a:avLst/>
            <a:gdLst/>
            <a:ahLst/>
            <a:cxnLst/>
            <a:rect l="l" t="t" r="r" b="b"/>
            <a:pathLst>
              <a:path w="383967" h="365720">
                <a:moveTo>
                  <a:pt x="0" y="0"/>
                </a:moveTo>
                <a:lnTo>
                  <a:pt x="201122" y="0"/>
                </a:lnTo>
                <a:lnTo>
                  <a:pt x="383967" y="182860"/>
                </a:lnTo>
                <a:lnTo>
                  <a:pt x="201122" y="365720"/>
                </a:lnTo>
                <a:lnTo>
                  <a:pt x="0" y="365720"/>
                </a:lnTo>
                <a:lnTo>
                  <a:pt x="182845" y="182860"/>
                </a:lnTo>
                <a:close/>
              </a:path>
            </a:pathLst>
          </a:custGeom>
          <a:solidFill>
            <a:srgbClr val="5C6B73"/>
          </a:solidFill>
          <a:ln/>
        </p:spPr>
        <p:txBody>
          <a:bodyPr/>
          <a:lstStyle/>
          <a:p>
            <a:endParaRPr lang="en-US"/>
          </a:p>
        </p:txBody>
      </p:sp>
      <p:sp>
        <p:nvSpPr>
          <p:cNvPr id="9" name="Shape 6"/>
          <p:cNvSpPr/>
          <p:nvPr/>
        </p:nvSpPr>
        <p:spPr>
          <a:xfrm>
            <a:off x="3456298" y="2377380"/>
            <a:ext cx="2432188" cy="1600200"/>
          </a:xfrm>
          <a:prstGeom prst="roundRect">
            <a:avLst>
              <a:gd name="adj" fmla="val 5486"/>
            </a:avLst>
          </a:prstGeom>
          <a:solidFill>
            <a:srgbClr val="2A6F97"/>
          </a:solidFill>
          <a:ln/>
        </p:spPr>
        <p:txBody>
          <a:bodyPr/>
          <a:lstStyle/>
          <a:p>
            <a:endParaRPr lang="en-US"/>
          </a:p>
        </p:txBody>
      </p:sp>
      <p:sp>
        <p:nvSpPr>
          <p:cNvPr id="10" name="Text 7"/>
          <p:cNvSpPr/>
          <p:nvPr/>
        </p:nvSpPr>
        <p:spPr>
          <a:xfrm>
            <a:off x="3554820" y="2965641"/>
            <a:ext cx="2235144" cy="455612"/>
          </a:xfrm>
          <a:prstGeom prst="rect">
            <a:avLst/>
          </a:prstGeom>
          <a:noFill/>
          <a:ln/>
        </p:spPr>
        <p:txBody>
          <a:bodyPr wrap="square" lIns="0" tIns="0" rIns="0" bIns="0" rtlCol="0" anchor="t">
            <a:normAutofit/>
          </a:bodyPr>
          <a:lstStyle/>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NAPQI</a:t>
            </a:r>
            <a:endParaRPr lang="en-US" sz="1300" dirty="0"/>
          </a:p>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(toxic metabolite)</a:t>
            </a:r>
            <a:endParaRPr lang="en-US" sz="1300" dirty="0"/>
          </a:p>
        </p:txBody>
      </p:sp>
      <p:sp>
        <p:nvSpPr>
          <p:cNvPr id="11" name="Shape 8"/>
          <p:cNvSpPr/>
          <p:nvPr/>
        </p:nvSpPr>
        <p:spPr>
          <a:xfrm>
            <a:off x="5888585" y="2994620"/>
            <a:ext cx="383967" cy="365720"/>
          </a:xfrm>
          <a:custGeom>
            <a:avLst/>
            <a:gdLst/>
            <a:ahLst/>
            <a:cxnLst/>
            <a:rect l="l" t="t" r="r" b="b"/>
            <a:pathLst>
              <a:path w="383967" h="365720">
                <a:moveTo>
                  <a:pt x="0" y="0"/>
                </a:moveTo>
                <a:lnTo>
                  <a:pt x="201122" y="0"/>
                </a:lnTo>
                <a:lnTo>
                  <a:pt x="383967" y="182860"/>
                </a:lnTo>
                <a:lnTo>
                  <a:pt x="201122" y="365720"/>
                </a:lnTo>
                <a:lnTo>
                  <a:pt x="0" y="365720"/>
                </a:lnTo>
                <a:lnTo>
                  <a:pt x="182845" y="182860"/>
                </a:lnTo>
                <a:close/>
              </a:path>
            </a:pathLst>
          </a:custGeom>
          <a:solidFill>
            <a:srgbClr val="5C6B73"/>
          </a:solidFill>
          <a:ln/>
        </p:spPr>
        <p:txBody>
          <a:bodyPr/>
          <a:lstStyle/>
          <a:p>
            <a:endParaRPr lang="en-US"/>
          </a:p>
        </p:txBody>
      </p:sp>
      <p:sp>
        <p:nvSpPr>
          <p:cNvPr id="12" name="Shape 9"/>
          <p:cNvSpPr/>
          <p:nvPr/>
        </p:nvSpPr>
        <p:spPr>
          <a:xfrm>
            <a:off x="6272552" y="2377380"/>
            <a:ext cx="2432188" cy="1600200"/>
          </a:xfrm>
          <a:prstGeom prst="roundRect">
            <a:avLst>
              <a:gd name="adj" fmla="val 5486"/>
            </a:avLst>
          </a:prstGeom>
          <a:solidFill>
            <a:srgbClr val="6B9080"/>
          </a:solidFill>
          <a:ln/>
        </p:spPr>
        <p:txBody>
          <a:bodyPr/>
          <a:lstStyle/>
          <a:p>
            <a:endParaRPr lang="en-US"/>
          </a:p>
        </p:txBody>
      </p:sp>
      <p:sp>
        <p:nvSpPr>
          <p:cNvPr id="13" name="Text 10"/>
          <p:cNvSpPr/>
          <p:nvPr/>
        </p:nvSpPr>
        <p:spPr>
          <a:xfrm>
            <a:off x="6371173" y="2965641"/>
            <a:ext cx="2235144" cy="455612"/>
          </a:xfrm>
          <a:prstGeom prst="rect">
            <a:avLst/>
          </a:prstGeom>
          <a:noFill/>
          <a:ln/>
        </p:spPr>
        <p:txBody>
          <a:bodyPr wrap="square" lIns="0" tIns="0" rIns="0" bIns="0" rtlCol="0" anchor="t">
            <a:normAutofit/>
          </a:bodyPr>
          <a:lstStyle/>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Glutathione</a:t>
            </a:r>
            <a:endParaRPr lang="en-US" sz="1300" dirty="0"/>
          </a:p>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Conjugation</a:t>
            </a:r>
            <a:endParaRPr lang="en-US" sz="1300" dirty="0"/>
          </a:p>
        </p:txBody>
      </p:sp>
      <p:sp>
        <p:nvSpPr>
          <p:cNvPr id="14" name="Shape 11"/>
          <p:cNvSpPr/>
          <p:nvPr/>
        </p:nvSpPr>
        <p:spPr>
          <a:xfrm>
            <a:off x="8704838" y="2994620"/>
            <a:ext cx="383967" cy="365720"/>
          </a:xfrm>
          <a:custGeom>
            <a:avLst/>
            <a:gdLst/>
            <a:ahLst/>
            <a:cxnLst/>
            <a:rect l="l" t="t" r="r" b="b"/>
            <a:pathLst>
              <a:path w="383967" h="365720">
                <a:moveTo>
                  <a:pt x="0" y="0"/>
                </a:moveTo>
                <a:lnTo>
                  <a:pt x="201122" y="0"/>
                </a:lnTo>
                <a:lnTo>
                  <a:pt x="383967" y="182860"/>
                </a:lnTo>
                <a:lnTo>
                  <a:pt x="201122" y="365720"/>
                </a:lnTo>
                <a:lnTo>
                  <a:pt x="0" y="365720"/>
                </a:lnTo>
                <a:lnTo>
                  <a:pt x="182845" y="182860"/>
                </a:lnTo>
                <a:close/>
              </a:path>
            </a:pathLst>
          </a:custGeom>
          <a:solidFill>
            <a:srgbClr val="5C6B73"/>
          </a:solidFill>
          <a:ln/>
        </p:spPr>
        <p:txBody>
          <a:bodyPr/>
          <a:lstStyle/>
          <a:p>
            <a:endParaRPr lang="en-US"/>
          </a:p>
        </p:txBody>
      </p:sp>
      <p:sp>
        <p:nvSpPr>
          <p:cNvPr id="15" name="Shape 12"/>
          <p:cNvSpPr/>
          <p:nvPr/>
        </p:nvSpPr>
        <p:spPr>
          <a:xfrm>
            <a:off x="9088905" y="2377380"/>
            <a:ext cx="2432188" cy="1600200"/>
          </a:xfrm>
          <a:prstGeom prst="roundRect">
            <a:avLst>
              <a:gd name="adj" fmla="val 5486"/>
            </a:avLst>
          </a:prstGeom>
          <a:solidFill>
            <a:srgbClr val="0F7173"/>
          </a:solidFill>
          <a:ln/>
        </p:spPr>
        <p:txBody>
          <a:bodyPr/>
          <a:lstStyle/>
          <a:p>
            <a:endParaRPr lang="en-US"/>
          </a:p>
        </p:txBody>
      </p:sp>
      <p:sp>
        <p:nvSpPr>
          <p:cNvPr id="16" name="Text 13"/>
          <p:cNvSpPr/>
          <p:nvPr/>
        </p:nvSpPr>
        <p:spPr>
          <a:xfrm>
            <a:off x="9187426" y="2965641"/>
            <a:ext cx="2235144" cy="455612"/>
          </a:xfrm>
          <a:prstGeom prst="rect">
            <a:avLst/>
          </a:prstGeom>
          <a:noFill/>
          <a:ln/>
        </p:spPr>
        <p:txBody>
          <a:bodyPr wrap="square" lIns="0" tIns="0" rIns="0" bIns="0" rtlCol="0" anchor="t">
            <a:normAutofit/>
          </a:bodyPr>
          <a:lstStyle/>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Safe</a:t>
            </a:r>
            <a:endParaRPr lang="en-US" sz="1300" dirty="0"/>
          </a:p>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Excretion</a:t>
            </a:r>
            <a:endParaRPr lang="en-US" sz="1300" dirty="0"/>
          </a:p>
        </p:txBody>
      </p:sp>
      <p:sp>
        <p:nvSpPr>
          <p:cNvPr id="17" name="Text 14"/>
          <p:cNvSpPr/>
          <p:nvPr/>
        </p:nvSpPr>
        <p:spPr>
          <a:xfrm>
            <a:off x="640044" y="4482382"/>
            <a:ext cx="10823900" cy="490537"/>
          </a:xfrm>
          <a:prstGeom prst="rect">
            <a:avLst/>
          </a:prstGeom>
          <a:noFill/>
          <a:ln/>
        </p:spPr>
        <p:txBody>
          <a:bodyPr wrap="square" lIns="0" tIns="0" rIns="0" bIns="0" rtlCol="0" anchor="t">
            <a:normAutofit/>
          </a:bodyPr>
          <a:lstStyle/>
          <a:p>
            <a:pPr marL="0" indent="0" algn="l">
              <a:lnSpc>
                <a:spcPct val="115000"/>
              </a:lnSpc>
              <a:buNone/>
            </a:pPr>
            <a:r>
              <a:rPr lang="en-US" sz="1400" i="1" dirty="0">
                <a:solidFill>
                  <a:srgbClr val="5C6B73"/>
                </a:solidFill>
                <a:latin typeface="Carlito" pitchFamily="34" charset="0"/>
                <a:ea typeface="Carlito" pitchFamily="34" charset="-122"/>
                <a:cs typeface="Carlito" pitchFamily="34" charset="0"/>
              </a:rPr>
              <a:t>In overdose, glutathione stores are depleted, NAPQI accumulates, and hepatocyte injury follows — this is why N-acetylcysteine (a glutathione precursor) is the antidote.</a:t>
            </a:r>
            <a:endParaRPr lang="en-US" sz="1400" dirty="0"/>
          </a:p>
        </p:txBody>
      </p:sp>
      <p:sp>
        <p:nvSpPr>
          <p:cNvPr id="18" name="Text 15"/>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19" name="Text 16"/>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CLINICAL CASE</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The Hidden Acetaminophen Overdose</a:t>
            </a:r>
            <a:endParaRPr lang="en-US" sz="2800" dirty="0"/>
          </a:p>
        </p:txBody>
      </p:sp>
      <p:sp>
        <p:nvSpPr>
          <p:cNvPr id="4" name="Shape 2"/>
          <p:cNvSpPr/>
          <p:nvPr/>
        </p:nvSpPr>
        <p:spPr>
          <a:xfrm>
            <a:off x="10972526" y="502841"/>
            <a:ext cx="566823" cy="566837"/>
          </a:xfrm>
          <a:prstGeom prst="ellipse">
            <a:avLst/>
          </a:prstGeom>
          <a:solidFill>
            <a:srgbClr val="D1495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10881048" cy="2011660"/>
          </a:xfrm>
          <a:prstGeom prst="roundRect">
            <a:avLst>
              <a:gd name="adj" fmla="val 5454"/>
            </a:avLst>
          </a:prstGeom>
          <a:solidFill>
            <a:srgbClr val="E8F1F0"/>
          </a:solidFill>
          <a:ln/>
        </p:spPr>
        <p:txBody>
          <a:bodyPr/>
          <a:lstStyle/>
          <a:p>
            <a:endParaRPr lang="en-US"/>
          </a:p>
        </p:txBody>
      </p:sp>
      <p:sp>
        <p:nvSpPr>
          <p:cNvPr id="7" name="Text 4"/>
          <p:cNvSpPr/>
          <p:nvPr/>
        </p:nvSpPr>
        <p:spPr>
          <a:xfrm>
            <a:off x="914377" y="1798169"/>
            <a:ext cx="10275234" cy="595709"/>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A1A1A"/>
                </a:solidFill>
                <a:latin typeface="Carlito" pitchFamily="34" charset="0"/>
                <a:ea typeface="Carlito" pitchFamily="34" charset="-122"/>
                <a:cs typeface="Carlito" pitchFamily="34" charset="0"/>
              </a:rPr>
              <a:t>A patient takes acetaminophen regularly for chronic back pain. For a cold, they also start an over-the-counter combination cold-and-flu medication.</a:t>
            </a:r>
            <a:endParaRPr lang="en-US" sz="1700" dirty="0"/>
          </a:p>
        </p:txBody>
      </p:sp>
      <p:sp>
        <p:nvSpPr>
          <p:cNvPr id="8" name="Text 5"/>
          <p:cNvSpPr/>
          <p:nvPr/>
        </p:nvSpPr>
        <p:spPr>
          <a:xfrm>
            <a:off x="640044" y="4250313"/>
            <a:ext cx="10881048" cy="274241"/>
          </a:xfrm>
          <a:prstGeom prst="rect">
            <a:avLst/>
          </a:prstGeom>
          <a:noFill/>
          <a:ln/>
        </p:spPr>
        <p:txBody>
          <a:bodyPr wrap="none" lIns="0" tIns="0" rIns="0" bIns="0" rtlCol="0" anchor="t"/>
          <a:lstStyle/>
          <a:p>
            <a:pPr marL="0" indent="0" algn="l">
              <a:lnSpc>
                <a:spcPct val="100000"/>
              </a:lnSpc>
              <a:buNone/>
            </a:pPr>
            <a:r>
              <a:rPr lang="en-US" sz="1800" b="1" dirty="0">
                <a:solidFill>
                  <a:srgbClr val="D1495B"/>
                </a:solidFill>
                <a:latin typeface="Carlito Bold" pitchFamily="34" charset="0"/>
                <a:ea typeface="Carlito Bold" pitchFamily="34" charset="-122"/>
                <a:cs typeface="Carlito Bold" pitchFamily="34" charset="0"/>
              </a:rPr>
              <a:t>Ask yourself:  </a:t>
            </a:r>
            <a:r>
              <a:rPr lang="en-US" sz="1800" b="1" dirty="0">
                <a:solidFill>
                  <a:srgbClr val="123C44"/>
                </a:solidFill>
                <a:latin typeface="Carlito Bold" pitchFamily="34" charset="0"/>
                <a:ea typeface="Carlito Bold" pitchFamily="34" charset="-122"/>
                <a:cs typeface="Carlito Bold" pitchFamily="34" charset="0"/>
              </a:rPr>
              <a:t>What is the hidden danger in this combination?</a:t>
            </a:r>
            <a:endParaRPr lang="en-US" sz="1800" dirty="0"/>
          </a:p>
        </p:txBody>
      </p:sp>
      <p:sp>
        <p:nvSpPr>
          <p:cNvPr id="9" name="Text 6"/>
          <p:cNvSpPr/>
          <p:nvPr/>
        </p:nvSpPr>
        <p:spPr>
          <a:xfrm>
            <a:off x="640044" y="5061522"/>
            <a:ext cx="10823900" cy="490537"/>
          </a:xfrm>
          <a:prstGeom prst="rect">
            <a:avLst/>
          </a:prstGeom>
          <a:noFill/>
          <a:ln/>
        </p:spPr>
        <p:txBody>
          <a:bodyPr wrap="square" lIns="0" tIns="0" rIns="0" bIns="0" rtlCol="0" anchor="t">
            <a:normAutofit/>
          </a:bodyPr>
          <a:lstStyle/>
          <a:p>
            <a:pPr marL="0" indent="0" algn="l">
              <a:lnSpc>
                <a:spcPct val="115000"/>
              </a:lnSpc>
              <a:buNone/>
            </a:pPr>
            <a:r>
              <a:rPr lang="en-US" sz="1400" b="1" i="1" dirty="0">
                <a:solidFill>
                  <a:srgbClr val="0F7173"/>
                </a:solidFill>
                <a:latin typeface="Carlito Bold" pitchFamily="34" charset="0"/>
                <a:ea typeface="Carlito Bold" pitchFamily="34" charset="-122"/>
                <a:cs typeface="Carlito Bold" pitchFamily="34" charset="0"/>
              </a:rPr>
              <a:t>Clinical pearl:  </a:t>
            </a:r>
            <a:r>
              <a:rPr lang="en-US" sz="1400" i="1" dirty="0">
                <a:solidFill>
                  <a:srgbClr val="5C6B73"/>
                </a:solidFill>
                <a:latin typeface="Carlito" pitchFamily="34" charset="0"/>
                <a:ea typeface="Carlito" pitchFamily="34" charset="-122"/>
                <a:cs typeface="Carlito" pitchFamily="34" charset="0"/>
              </a:rPr>
              <a:t>Many combination cold, flu, and sleep products also contain acetaminophen — unintentional double-dosing is a leading cause of acetaminophen-related liver injury. Always ask about ALL sources of acetaminophen.</a:t>
            </a:r>
            <a:endParaRPr lang="en-US" sz="1400" dirty="0"/>
          </a:p>
        </p:txBody>
      </p:sp>
      <p:sp>
        <p:nvSpPr>
          <p:cNvPr id="10" name="Text 7"/>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11" name="Text 8"/>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QUICK CHECK · ACETAMINOPHEN</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Quick Check</a:t>
            </a:r>
            <a:endParaRPr lang="en-US" sz="2800" dirty="0"/>
          </a:p>
        </p:txBody>
      </p:sp>
      <p:sp>
        <p:nvSpPr>
          <p:cNvPr id="4" name="Shape 2"/>
          <p:cNvSpPr/>
          <p:nvPr/>
        </p:nvSpPr>
        <p:spPr>
          <a:xfrm>
            <a:off x="10972526" y="502841"/>
            <a:ext cx="566823" cy="566837"/>
          </a:xfrm>
          <a:prstGeom prst="ellipse">
            <a:avLst/>
          </a:prstGeom>
          <a:solidFill>
            <a:srgbClr val="0F717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640044" y="1403350"/>
            <a:ext cx="10881048" cy="324148"/>
          </a:xfrm>
          <a:prstGeom prst="rect">
            <a:avLst/>
          </a:prstGeom>
          <a:noFill/>
          <a:ln/>
        </p:spPr>
        <p:txBody>
          <a:bodyPr wrap="none" lIns="0" tIns="0" rIns="0" bIns="0" rtlCol="0" anchor="t"/>
          <a:lstStyle/>
          <a:p>
            <a:pPr marL="0" indent="0" algn="l">
              <a:lnSpc>
                <a:spcPct val="115000"/>
              </a:lnSpc>
              <a:buNone/>
            </a:pPr>
            <a:r>
              <a:rPr lang="en-US" sz="1850" b="1" dirty="0">
                <a:solidFill>
                  <a:srgbClr val="123C44"/>
                </a:solidFill>
                <a:latin typeface="Carlito Bold" pitchFamily="34" charset="0"/>
                <a:ea typeface="Carlito Bold" pitchFamily="34" charset="-122"/>
                <a:cs typeface="Carlito Bold" pitchFamily="34" charset="0"/>
              </a:rPr>
              <a:t>In acetaminophen overdose, hepatotoxicity results primarily from which mechanism?</a:t>
            </a:r>
            <a:endParaRPr lang="en-US" sz="1850" dirty="0"/>
          </a:p>
        </p:txBody>
      </p:sp>
      <p:sp>
        <p:nvSpPr>
          <p:cNvPr id="7" name="Shape 4"/>
          <p:cNvSpPr/>
          <p:nvPr/>
        </p:nvSpPr>
        <p:spPr>
          <a:xfrm>
            <a:off x="640044" y="2605980"/>
            <a:ext cx="5257668" cy="1097260"/>
          </a:xfrm>
          <a:prstGeom prst="roundRect">
            <a:avLst>
              <a:gd name="adj" fmla="val 8000"/>
            </a:avLst>
          </a:prstGeom>
          <a:solidFill>
            <a:srgbClr val="E8F1F0"/>
          </a:solidFill>
          <a:ln/>
        </p:spPr>
        <p:txBody>
          <a:bodyPr/>
          <a:lstStyle/>
          <a:p>
            <a:endParaRPr lang="en-US"/>
          </a:p>
        </p:txBody>
      </p:sp>
      <p:sp>
        <p:nvSpPr>
          <p:cNvPr id="8" name="Shape 5"/>
          <p:cNvSpPr/>
          <p:nvPr/>
        </p:nvSpPr>
        <p:spPr>
          <a:xfrm>
            <a:off x="804644" y="2944316"/>
            <a:ext cx="420578" cy="420588"/>
          </a:xfrm>
          <a:prstGeom prst="ellipse">
            <a:avLst/>
          </a:prstGeom>
          <a:solidFill>
            <a:srgbClr val="2A6F97"/>
          </a:solidFill>
          <a:ln/>
        </p:spPr>
        <p:txBody>
          <a:bodyPr/>
          <a:lstStyle/>
          <a:p>
            <a:endParaRPr lang="en-US"/>
          </a:p>
        </p:txBody>
      </p:sp>
      <p:sp>
        <p:nvSpPr>
          <p:cNvPr id="9" name="Text 6"/>
          <p:cNvSpPr/>
          <p:nvPr/>
        </p:nvSpPr>
        <p:spPr>
          <a:xfrm>
            <a:off x="499852"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A</a:t>
            </a:r>
            <a:endParaRPr lang="en-US" sz="1600" dirty="0"/>
          </a:p>
        </p:txBody>
      </p:sp>
      <p:sp>
        <p:nvSpPr>
          <p:cNvPr id="10" name="Text 7"/>
          <p:cNvSpPr/>
          <p:nvPr/>
        </p:nvSpPr>
        <p:spPr>
          <a:xfrm>
            <a:off x="138982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Direct COX inhibition in the liver</a:t>
            </a:r>
            <a:endParaRPr lang="en-US" sz="1350" dirty="0"/>
          </a:p>
        </p:txBody>
      </p:sp>
      <p:sp>
        <p:nvSpPr>
          <p:cNvPr id="11" name="Shape 8"/>
          <p:cNvSpPr/>
          <p:nvPr/>
        </p:nvSpPr>
        <p:spPr>
          <a:xfrm>
            <a:off x="6263424" y="2605980"/>
            <a:ext cx="5257668" cy="1097260"/>
          </a:xfrm>
          <a:prstGeom prst="roundRect">
            <a:avLst>
              <a:gd name="adj" fmla="val 8000"/>
            </a:avLst>
          </a:prstGeom>
          <a:solidFill>
            <a:srgbClr val="E8F1F0"/>
          </a:solidFill>
          <a:ln/>
        </p:spPr>
        <p:txBody>
          <a:bodyPr/>
          <a:lstStyle/>
          <a:p>
            <a:endParaRPr lang="en-US"/>
          </a:p>
        </p:txBody>
      </p:sp>
      <p:sp>
        <p:nvSpPr>
          <p:cNvPr id="12" name="Shape 9"/>
          <p:cNvSpPr/>
          <p:nvPr/>
        </p:nvSpPr>
        <p:spPr>
          <a:xfrm>
            <a:off x="6428024" y="2944316"/>
            <a:ext cx="420578" cy="420588"/>
          </a:xfrm>
          <a:prstGeom prst="ellipse">
            <a:avLst/>
          </a:prstGeom>
          <a:solidFill>
            <a:srgbClr val="2A6F97"/>
          </a:solidFill>
          <a:ln/>
        </p:spPr>
        <p:txBody>
          <a:bodyPr/>
          <a:lstStyle/>
          <a:p>
            <a:endParaRPr lang="en-US"/>
          </a:p>
        </p:txBody>
      </p:sp>
      <p:sp>
        <p:nvSpPr>
          <p:cNvPr id="13" name="Text 10"/>
          <p:cNvSpPr/>
          <p:nvPr/>
        </p:nvSpPr>
        <p:spPr>
          <a:xfrm>
            <a:off x="6123231"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B</a:t>
            </a:r>
            <a:endParaRPr lang="en-US" sz="1600" dirty="0"/>
          </a:p>
        </p:txBody>
      </p:sp>
      <p:sp>
        <p:nvSpPr>
          <p:cNvPr id="14" name="Text 11"/>
          <p:cNvSpPr/>
          <p:nvPr/>
        </p:nvSpPr>
        <p:spPr>
          <a:xfrm>
            <a:off x="701320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Excess Phase II glucuronidation</a:t>
            </a:r>
            <a:endParaRPr lang="en-US" sz="1350" dirty="0"/>
          </a:p>
        </p:txBody>
      </p:sp>
      <p:sp>
        <p:nvSpPr>
          <p:cNvPr id="15" name="Shape 12"/>
          <p:cNvSpPr/>
          <p:nvPr/>
        </p:nvSpPr>
        <p:spPr>
          <a:xfrm>
            <a:off x="640044" y="3977580"/>
            <a:ext cx="5257668" cy="1097260"/>
          </a:xfrm>
          <a:prstGeom prst="roundRect">
            <a:avLst>
              <a:gd name="adj" fmla="val 8000"/>
            </a:avLst>
          </a:prstGeom>
          <a:solidFill>
            <a:srgbClr val="E8F1F0"/>
          </a:solidFill>
          <a:ln/>
        </p:spPr>
        <p:txBody>
          <a:bodyPr/>
          <a:lstStyle/>
          <a:p>
            <a:endParaRPr lang="en-US"/>
          </a:p>
        </p:txBody>
      </p:sp>
      <p:sp>
        <p:nvSpPr>
          <p:cNvPr id="16" name="Shape 13"/>
          <p:cNvSpPr/>
          <p:nvPr/>
        </p:nvSpPr>
        <p:spPr>
          <a:xfrm>
            <a:off x="804644" y="4315916"/>
            <a:ext cx="420578" cy="420588"/>
          </a:xfrm>
          <a:prstGeom prst="ellipse">
            <a:avLst/>
          </a:prstGeom>
          <a:solidFill>
            <a:srgbClr val="2A6F97"/>
          </a:solidFill>
          <a:ln/>
        </p:spPr>
        <p:txBody>
          <a:bodyPr/>
          <a:lstStyle/>
          <a:p>
            <a:endParaRPr lang="en-US"/>
          </a:p>
        </p:txBody>
      </p:sp>
      <p:sp>
        <p:nvSpPr>
          <p:cNvPr id="17" name="Text 14"/>
          <p:cNvSpPr/>
          <p:nvPr/>
        </p:nvSpPr>
        <p:spPr>
          <a:xfrm>
            <a:off x="499852"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a:t>
            </a:r>
            <a:endParaRPr lang="en-US" sz="1600" dirty="0"/>
          </a:p>
        </p:txBody>
      </p:sp>
      <p:sp>
        <p:nvSpPr>
          <p:cNvPr id="18" name="Text 15"/>
          <p:cNvSpPr/>
          <p:nvPr/>
        </p:nvSpPr>
        <p:spPr>
          <a:xfrm>
            <a:off x="138982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Accumulation of NAPQI after glutathione stores are depleted</a:t>
            </a:r>
            <a:endParaRPr lang="en-US" sz="1350" dirty="0"/>
          </a:p>
        </p:txBody>
      </p:sp>
      <p:sp>
        <p:nvSpPr>
          <p:cNvPr id="19" name="Shape 16"/>
          <p:cNvSpPr/>
          <p:nvPr/>
        </p:nvSpPr>
        <p:spPr>
          <a:xfrm>
            <a:off x="6263424" y="3977580"/>
            <a:ext cx="5257668" cy="1097260"/>
          </a:xfrm>
          <a:prstGeom prst="roundRect">
            <a:avLst>
              <a:gd name="adj" fmla="val 8000"/>
            </a:avLst>
          </a:prstGeom>
          <a:solidFill>
            <a:srgbClr val="E8F1F0"/>
          </a:solidFill>
          <a:ln/>
        </p:spPr>
        <p:txBody>
          <a:bodyPr/>
          <a:lstStyle/>
          <a:p>
            <a:endParaRPr lang="en-US"/>
          </a:p>
        </p:txBody>
      </p:sp>
      <p:sp>
        <p:nvSpPr>
          <p:cNvPr id="20" name="Shape 17"/>
          <p:cNvSpPr/>
          <p:nvPr/>
        </p:nvSpPr>
        <p:spPr>
          <a:xfrm>
            <a:off x="6428024" y="4315916"/>
            <a:ext cx="420578" cy="420588"/>
          </a:xfrm>
          <a:prstGeom prst="ellipse">
            <a:avLst/>
          </a:prstGeom>
          <a:solidFill>
            <a:srgbClr val="2A6F97"/>
          </a:solidFill>
          <a:ln/>
        </p:spPr>
        <p:txBody>
          <a:bodyPr/>
          <a:lstStyle/>
          <a:p>
            <a:endParaRPr lang="en-US"/>
          </a:p>
        </p:txBody>
      </p:sp>
      <p:sp>
        <p:nvSpPr>
          <p:cNvPr id="21" name="Text 18"/>
          <p:cNvSpPr/>
          <p:nvPr/>
        </p:nvSpPr>
        <p:spPr>
          <a:xfrm>
            <a:off x="6123231"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D</a:t>
            </a:r>
            <a:endParaRPr lang="en-US" sz="1600" dirty="0"/>
          </a:p>
        </p:txBody>
      </p:sp>
      <p:sp>
        <p:nvSpPr>
          <p:cNvPr id="22" name="Text 19"/>
          <p:cNvSpPr/>
          <p:nvPr/>
        </p:nvSpPr>
        <p:spPr>
          <a:xfrm>
            <a:off x="701320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Renal crystal formation</a:t>
            </a:r>
            <a:endParaRPr lang="en-US" sz="1350" dirty="0"/>
          </a:p>
        </p:txBody>
      </p:sp>
      <p:sp>
        <p:nvSpPr>
          <p:cNvPr id="23" name="Text 20"/>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24" name="Text 21"/>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ANSWER · ACETAMINOPHEN</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Answer</a:t>
            </a:r>
            <a:endParaRPr lang="en-US" sz="2800" dirty="0"/>
          </a:p>
        </p:txBody>
      </p:sp>
      <p:sp>
        <p:nvSpPr>
          <p:cNvPr id="4" name="Shape 2"/>
          <p:cNvSpPr/>
          <p:nvPr/>
        </p:nvSpPr>
        <p:spPr>
          <a:xfrm>
            <a:off x="10972526" y="502841"/>
            <a:ext cx="566823" cy="566837"/>
          </a:xfrm>
          <a:prstGeom prst="ellipse">
            <a:avLst/>
          </a:prstGeom>
          <a:solidFill>
            <a:srgbClr val="6B9080"/>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10881048" cy="1234380"/>
          </a:xfrm>
          <a:prstGeom prst="roundRect">
            <a:avLst>
              <a:gd name="adj" fmla="val 8889"/>
            </a:avLst>
          </a:prstGeom>
          <a:solidFill>
            <a:srgbClr val="E8F1F0"/>
          </a:solidFill>
          <a:ln/>
        </p:spPr>
        <p:txBody>
          <a:bodyPr/>
          <a:lstStyle/>
          <a:p>
            <a:endParaRPr lang="en-US"/>
          </a:p>
        </p:txBody>
      </p:sp>
      <p:sp>
        <p:nvSpPr>
          <p:cNvPr id="7" name="Shape 4"/>
          <p:cNvSpPr/>
          <p:nvPr/>
        </p:nvSpPr>
        <p:spPr>
          <a:xfrm>
            <a:off x="868638" y="1851620"/>
            <a:ext cx="731422" cy="731441"/>
          </a:xfrm>
          <a:prstGeom prst="ellipse">
            <a:avLst/>
          </a:prstGeom>
          <a:solidFill>
            <a:srgbClr val="6B9080"/>
          </a:solidFill>
          <a:ln/>
        </p:spPr>
        <p:txBody>
          <a:bodyPr/>
          <a:lstStyle/>
          <a:p>
            <a:endParaRPr lang="en-US"/>
          </a:p>
        </p:txBody>
      </p:sp>
      <p:sp>
        <p:nvSpPr>
          <p:cNvPr id="8" name="Text 5"/>
          <p:cNvSpPr/>
          <p:nvPr/>
        </p:nvSpPr>
        <p:spPr>
          <a:xfrm>
            <a:off x="868638" y="2019300"/>
            <a:ext cx="731422" cy="396180"/>
          </a:xfrm>
          <a:prstGeom prst="rect">
            <a:avLst/>
          </a:prstGeom>
          <a:noFill/>
          <a:ln/>
        </p:spPr>
        <p:txBody>
          <a:bodyPr wrap="none" lIns="0" tIns="0" rIns="0" bIns="0" rtlCol="0" anchor="t"/>
          <a:lstStyle/>
          <a:p>
            <a:pPr marL="0" indent="0" algn="ctr">
              <a:lnSpc>
                <a:spcPct val="100000"/>
              </a:lnSpc>
              <a:buNone/>
            </a:pPr>
            <a:r>
              <a:rPr lang="en-US" sz="2600" b="1" kern="100" spc="29" dirty="0">
                <a:solidFill>
                  <a:srgbClr val="FFFFFF"/>
                </a:solidFill>
                <a:latin typeface="Caladea Bold" pitchFamily="34" charset="0"/>
                <a:ea typeface="Caladea Bold" pitchFamily="34" charset="-122"/>
                <a:cs typeface="Caladea Bold" pitchFamily="34" charset="0"/>
              </a:rPr>
              <a:t>C</a:t>
            </a:r>
            <a:endParaRPr lang="en-US" sz="2600" dirty="0"/>
          </a:p>
        </p:txBody>
      </p:sp>
      <p:sp>
        <p:nvSpPr>
          <p:cNvPr id="9" name="Text 6"/>
          <p:cNvSpPr/>
          <p:nvPr/>
        </p:nvSpPr>
        <p:spPr>
          <a:xfrm>
            <a:off x="1828754" y="2081510"/>
            <a:ext cx="10027590" cy="280392"/>
          </a:xfrm>
          <a:prstGeom prst="rect">
            <a:avLst/>
          </a:prstGeom>
          <a:noFill/>
          <a:ln/>
        </p:spPr>
        <p:txBody>
          <a:bodyPr wrap="none" lIns="0" tIns="0" rIns="0" bIns="0" rtlCol="0" anchor="t"/>
          <a:lstStyle/>
          <a:p>
            <a:pPr marL="0" indent="0" algn="l">
              <a:lnSpc>
                <a:spcPct val="115000"/>
              </a:lnSpc>
              <a:buNone/>
            </a:pPr>
            <a:r>
              <a:rPr lang="en-US" sz="1600" b="1" dirty="0">
                <a:solidFill>
                  <a:srgbClr val="123C44"/>
                </a:solidFill>
                <a:latin typeface="Carlito Bold" pitchFamily="34" charset="0"/>
                <a:ea typeface="Carlito Bold" pitchFamily="34" charset="-122"/>
                <a:cs typeface="Carlito Bold" pitchFamily="34" charset="0"/>
              </a:rPr>
              <a:t>Accumulation of NAPQI after glutathione stores are depleted.</a:t>
            </a:r>
            <a:endParaRPr lang="en-US" sz="1600" dirty="0"/>
          </a:p>
        </p:txBody>
      </p:sp>
      <p:sp>
        <p:nvSpPr>
          <p:cNvPr id="10" name="Text 7"/>
          <p:cNvSpPr/>
          <p:nvPr/>
        </p:nvSpPr>
        <p:spPr>
          <a:xfrm>
            <a:off x="640044" y="3142357"/>
            <a:ext cx="10823900" cy="571500"/>
          </a:xfrm>
          <a:prstGeom prst="rect">
            <a:avLst/>
          </a:prstGeom>
          <a:noFill/>
          <a:ln/>
        </p:spPr>
        <p:txBody>
          <a:bodyPr wrap="square" lIns="0" tIns="0" rIns="0" bIns="0" rtlCol="0" anchor="t">
            <a:normAutofit/>
          </a:bodyPr>
          <a:lstStyle/>
          <a:p>
            <a:pPr marL="0" indent="0" algn="l">
              <a:lnSpc>
                <a:spcPct val="125000"/>
              </a:lnSpc>
              <a:buNone/>
            </a:pPr>
            <a:r>
              <a:rPr lang="en-US" sz="1500" b="1" dirty="0">
                <a:solidFill>
                  <a:srgbClr val="0F7173"/>
                </a:solidFill>
                <a:latin typeface="Carlito Bold" pitchFamily="34" charset="0"/>
                <a:ea typeface="Carlito Bold" pitchFamily="34" charset="-122"/>
                <a:cs typeface="Carlito Bold" pitchFamily="34" charset="0"/>
              </a:rPr>
              <a:t>Why:  </a:t>
            </a:r>
            <a:r>
              <a:rPr lang="en-US" sz="1500" dirty="0">
                <a:solidFill>
                  <a:srgbClr val="1A1A1A"/>
                </a:solidFill>
                <a:latin typeface="Carlito" pitchFamily="34" charset="0"/>
                <a:ea typeface="Carlito" pitchFamily="34" charset="-122"/>
                <a:cs typeface="Carlito" pitchFamily="34" charset="0"/>
              </a:rPr>
              <a:t>NAPQI, normally detoxified by conjugation with glutathione, accumulates once glutathione stores are exhausted in overdose, causing hepatocyte injury — which is why N-acetylcysteine (a glutathione precursor) is the antidote.</a:t>
            </a:r>
            <a:endParaRPr lang="en-US" sz="1500" dirty="0"/>
          </a:p>
        </p:txBody>
      </p:sp>
      <p:sp>
        <p:nvSpPr>
          <p:cNvPr id="11" name="Text 8"/>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12" name="Text 9"/>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7173"/>
        </a:solidFill>
        <a:effectLst/>
      </p:bgPr>
    </p:bg>
    <p:spTree>
      <p:nvGrpSpPr>
        <p:cNvPr id="1" name=""/>
        <p:cNvGrpSpPr/>
        <p:nvPr/>
      </p:nvGrpSpPr>
      <p:grpSpPr>
        <a:xfrm>
          <a:off x="0" y="0"/>
          <a:ext cx="0" cy="0"/>
          <a:chOff x="0" y="0"/>
          <a:chExt cx="0" cy="0"/>
        </a:xfrm>
      </p:grpSpPr>
      <p:sp>
        <p:nvSpPr>
          <p:cNvPr id="2" name="Text 0"/>
          <p:cNvSpPr/>
          <p:nvPr/>
        </p:nvSpPr>
        <p:spPr>
          <a:xfrm>
            <a:off x="914278" y="2011660"/>
            <a:ext cx="2777460" cy="1036241"/>
          </a:xfrm>
          <a:prstGeom prst="rect">
            <a:avLst/>
          </a:prstGeom>
          <a:noFill/>
          <a:ln/>
        </p:spPr>
        <p:txBody>
          <a:bodyPr wrap="none" lIns="0" tIns="0" rIns="0" bIns="0" rtlCol="0" anchor="t"/>
          <a:lstStyle/>
          <a:p>
            <a:pPr marL="0" indent="0" algn="l">
              <a:lnSpc>
                <a:spcPct val="100000"/>
              </a:lnSpc>
              <a:buNone/>
            </a:pPr>
            <a:r>
              <a:rPr lang="en-US" sz="6800" b="1" kern="100" spc="75" dirty="0">
                <a:solidFill>
                  <a:srgbClr val="E9A23B"/>
                </a:solidFill>
                <a:latin typeface="Caladea Bold" pitchFamily="34" charset="0"/>
                <a:ea typeface="Caladea Bold" pitchFamily="34" charset="-122"/>
                <a:cs typeface="Caladea Bold" pitchFamily="34" charset="0"/>
              </a:rPr>
              <a:t>03</a:t>
            </a:r>
            <a:endParaRPr lang="en-US" sz="6800" dirty="0"/>
          </a:p>
        </p:txBody>
      </p:sp>
      <p:sp>
        <p:nvSpPr>
          <p:cNvPr id="3" name="Text 1"/>
          <p:cNvSpPr/>
          <p:nvPr/>
        </p:nvSpPr>
        <p:spPr>
          <a:xfrm>
            <a:off x="914278" y="3474641"/>
            <a:ext cx="9543811" cy="487660"/>
          </a:xfrm>
          <a:prstGeom prst="rect">
            <a:avLst/>
          </a:prstGeom>
          <a:noFill/>
          <a:ln/>
        </p:spPr>
        <p:txBody>
          <a:bodyPr wrap="none" lIns="0" tIns="0" rIns="0" bIns="0" rtlCol="0" anchor="t"/>
          <a:lstStyle/>
          <a:p>
            <a:pPr marL="0" indent="0" algn="l">
              <a:lnSpc>
                <a:spcPct val="100000"/>
              </a:lnSpc>
              <a:buNone/>
            </a:pPr>
            <a:r>
              <a:rPr lang="en-US" sz="3200" b="1" kern="100" spc="35" dirty="0">
                <a:solidFill>
                  <a:srgbClr val="FFFFFF"/>
                </a:solidFill>
                <a:latin typeface="Caladea Bold" pitchFamily="34" charset="0"/>
                <a:ea typeface="Caladea Bold" pitchFamily="34" charset="-122"/>
                <a:cs typeface="Caladea Bold" pitchFamily="34" charset="0"/>
              </a:rPr>
              <a:t>NSAIDs</a:t>
            </a:r>
            <a:endParaRPr lang="en-US" sz="3200" dirty="0"/>
          </a:p>
        </p:txBody>
      </p:sp>
      <p:sp>
        <p:nvSpPr>
          <p:cNvPr id="4" name="Text 2"/>
          <p:cNvSpPr/>
          <p:nvPr/>
        </p:nvSpPr>
        <p:spPr>
          <a:xfrm>
            <a:off x="841156" y="1555941"/>
            <a:ext cx="4267093" cy="227806"/>
          </a:xfrm>
          <a:prstGeom prst="rect">
            <a:avLst/>
          </a:prstGeom>
          <a:noFill/>
          <a:ln/>
        </p:spPr>
        <p:txBody>
          <a:bodyPr wrap="none" lIns="0" tIns="0" rIns="0" bIns="0" rtlCol="0" anchor="t"/>
          <a:lstStyle/>
          <a:p>
            <a:pPr marL="0" indent="0" algn="l">
              <a:lnSpc>
                <a:spcPct val="115000"/>
              </a:lnSpc>
              <a:buNone/>
            </a:pPr>
            <a:r>
              <a:rPr lang="en-US" sz="1300" b="1" kern="100" spc="200" dirty="0">
                <a:solidFill>
                  <a:srgbClr val="E8F1F0"/>
                </a:solidFill>
                <a:latin typeface="Carlito Bold" pitchFamily="34" charset="0"/>
                <a:ea typeface="Carlito Bold" pitchFamily="34" charset="-122"/>
                <a:cs typeface="Carlito Bold" pitchFamily="34" charset="0"/>
              </a:rPr>
              <a:t>SECTION</a:t>
            </a:r>
            <a:endParaRPr lang="en-US" sz="1300" dirty="0"/>
          </a:p>
        </p:txBody>
      </p:sp>
      <p:sp>
        <p:nvSpPr>
          <p:cNvPr id="5" name="Text 3"/>
          <p:cNvSpPr/>
          <p:nvPr/>
        </p:nvSpPr>
        <p:spPr>
          <a:xfrm>
            <a:off x="822900" y="5450443"/>
            <a:ext cx="10301923" cy="262830"/>
          </a:xfrm>
          <a:prstGeom prst="rect">
            <a:avLst/>
          </a:prstGeom>
          <a:noFill/>
          <a:ln/>
        </p:spPr>
        <p:txBody>
          <a:bodyPr wrap="none" lIns="0" tIns="0" rIns="0" bIns="0" rtlCol="0" anchor="t"/>
          <a:lstStyle/>
          <a:p>
            <a:pPr marL="0" indent="0" algn="l">
              <a:lnSpc>
                <a:spcPct val="115000"/>
              </a:lnSpc>
              <a:buNone/>
            </a:pPr>
            <a:r>
              <a:rPr lang="en-US" sz="1500" i="1" dirty="0">
                <a:solidFill>
                  <a:srgbClr val="E8F1F0"/>
                </a:solidFill>
                <a:latin typeface="Carlito" pitchFamily="34" charset="0"/>
                <a:ea typeface="Carlito" pitchFamily="34" charset="-122"/>
                <a:cs typeface="Carlito" pitchFamily="34" charset="0"/>
              </a:rPr>
              <a:t>Powerful anti-inflammatory effect, with real systemic risk.</a:t>
            </a:r>
            <a:endParaRPr lang="en-US" sz="1500" dirty="0"/>
          </a:p>
        </p:txBody>
      </p:sp>
      <p:sp>
        <p:nvSpPr>
          <p:cNvPr id="6" name="Shape 4"/>
          <p:cNvSpPr/>
          <p:nvPr/>
        </p:nvSpPr>
        <p:spPr>
          <a:xfrm>
            <a:off x="10058148" y="685800"/>
            <a:ext cx="1051494" cy="1051520"/>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310455" y="938113"/>
            <a:ext cx="546781" cy="54679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MECHANISM</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How NSAIDs Work</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2377380"/>
            <a:ext cx="2432188" cy="1600200"/>
          </a:xfrm>
          <a:prstGeom prst="roundRect">
            <a:avLst>
              <a:gd name="adj" fmla="val 5486"/>
            </a:avLst>
          </a:prstGeom>
          <a:solidFill>
            <a:srgbClr val="0F7173"/>
          </a:solidFill>
          <a:ln/>
        </p:spPr>
        <p:txBody>
          <a:bodyPr/>
          <a:lstStyle/>
          <a:p>
            <a:endParaRPr lang="en-US"/>
          </a:p>
        </p:txBody>
      </p:sp>
      <p:sp>
        <p:nvSpPr>
          <p:cNvPr id="7" name="Text 4"/>
          <p:cNvSpPr/>
          <p:nvPr/>
        </p:nvSpPr>
        <p:spPr>
          <a:xfrm>
            <a:off x="433774" y="3064661"/>
            <a:ext cx="2844729" cy="227806"/>
          </a:xfrm>
          <a:prstGeom prst="rect">
            <a:avLst/>
          </a:prstGeom>
          <a:noFill/>
          <a:ln/>
        </p:spPr>
        <p:txBody>
          <a:bodyPr wrap="none" lIns="0" tIns="0" rIns="0" bIns="0" rtlCol="0" anchor="t"/>
          <a:lstStyle/>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NSAID</a:t>
            </a:r>
            <a:endParaRPr lang="en-US" sz="1300" dirty="0"/>
          </a:p>
        </p:txBody>
      </p:sp>
      <p:sp>
        <p:nvSpPr>
          <p:cNvPr id="8" name="Shape 5"/>
          <p:cNvSpPr/>
          <p:nvPr/>
        </p:nvSpPr>
        <p:spPr>
          <a:xfrm>
            <a:off x="3072232" y="2994620"/>
            <a:ext cx="383967" cy="365720"/>
          </a:xfrm>
          <a:custGeom>
            <a:avLst/>
            <a:gdLst/>
            <a:ahLst/>
            <a:cxnLst/>
            <a:rect l="l" t="t" r="r" b="b"/>
            <a:pathLst>
              <a:path w="383967" h="365720">
                <a:moveTo>
                  <a:pt x="0" y="0"/>
                </a:moveTo>
                <a:lnTo>
                  <a:pt x="201122" y="0"/>
                </a:lnTo>
                <a:lnTo>
                  <a:pt x="383967" y="182860"/>
                </a:lnTo>
                <a:lnTo>
                  <a:pt x="201122" y="365720"/>
                </a:lnTo>
                <a:lnTo>
                  <a:pt x="0" y="365720"/>
                </a:lnTo>
                <a:lnTo>
                  <a:pt x="182845" y="182860"/>
                </a:lnTo>
                <a:close/>
              </a:path>
            </a:pathLst>
          </a:custGeom>
          <a:solidFill>
            <a:srgbClr val="5C6B73"/>
          </a:solidFill>
          <a:ln/>
        </p:spPr>
        <p:txBody>
          <a:bodyPr/>
          <a:lstStyle/>
          <a:p>
            <a:endParaRPr lang="en-US"/>
          </a:p>
        </p:txBody>
      </p:sp>
      <p:sp>
        <p:nvSpPr>
          <p:cNvPr id="9" name="Shape 6"/>
          <p:cNvSpPr/>
          <p:nvPr/>
        </p:nvSpPr>
        <p:spPr>
          <a:xfrm>
            <a:off x="3456298" y="2377380"/>
            <a:ext cx="2432188" cy="1600200"/>
          </a:xfrm>
          <a:prstGeom prst="roundRect">
            <a:avLst>
              <a:gd name="adj" fmla="val 5486"/>
            </a:avLst>
          </a:prstGeom>
          <a:solidFill>
            <a:srgbClr val="2A6F97"/>
          </a:solidFill>
          <a:ln/>
        </p:spPr>
        <p:txBody>
          <a:bodyPr/>
          <a:lstStyle/>
          <a:p>
            <a:endParaRPr lang="en-US"/>
          </a:p>
        </p:txBody>
      </p:sp>
      <p:sp>
        <p:nvSpPr>
          <p:cNvPr id="10" name="Text 7"/>
          <p:cNvSpPr/>
          <p:nvPr/>
        </p:nvSpPr>
        <p:spPr>
          <a:xfrm>
            <a:off x="3554820" y="2965641"/>
            <a:ext cx="2235144" cy="455612"/>
          </a:xfrm>
          <a:prstGeom prst="rect">
            <a:avLst/>
          </a:prstGeom>
          <a:noFill/>
          <a:ln/>
        </p:spPr>
        <p:txBody>
          <a:bodyPr wrap="square" lIns="0" tIns="0" rIns="0" bIns="0" rtlCol="0" anchor="t">
            <a:normAutofit/>
          </a:bodyPr>
          <a:lstStyle/>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COX</a:t>
            </a:r>
            <a:endParaRPr lang="en-US" sz="1300" dirty="0"/>
          </a:p>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Inhibition</a:t>
            </a:r>
            <a:endParaRPr lang="en-US" sz="1300" dirty="0"/>
          </a:p>
        </p:txBody>
      </p:sp>
      <p:sp>
        <p:nvSpPr>
          <p:cNvPr id="11" name="Shape 8"/>
          <p:cNvSpPr/>
          <p:nvPr/>
        </p:nvSpPr>
        <p:spPr>
          <a:xfrm>
            <a:off x="5888585" y="2994620"/>
            <a:ext cx="383967" cy="365720"/>
          </a:xfrm>
          <a:custGeom>
            <a:avLst/>
            <a:gdLst/>
            <a:ahLst/>
            <a:cxnLst/>
            <a:rect l="l" t="t" r="r" b="b"/>
            <a:pathLst>
              <a:path w="383967" h="365720">
                <a:moveTo>
                  <a:pt x="0" y="0"/>
                </a:moveTo>
                <a:lnTo>
                  <a:pt x="201122" y="0"/>
                </a:lnTo>
                <a:lnTo>
                  <a:pt x="383967" y="182860"/>
                </a:lnTo>
                <a:lnTo>
                  <a:pt x="201122" y="365720"/>
                </a:lnTo>
                <a:lnTo>
                  <a:pt x="0" y="365720"/>
                </a:lnTo>
                <a:lnTo>
                  <a:pt x="182845" y="182860"/>
                </a:lnTo>
                <a:close/>
              </a:path>
            </a:pathLst>
          </a:custGeom>
          <a:solidFill>
            <a:srgbClr val="5C6B73"/>
          </a:solidFill>
          <a:ln/>
        </p:spPr>
        <p:txBody>
          <a:bodyPr/>
          <a:lstStyle/>
          <a:p>
            <a:endParaRPr lang="en-US"/>
          </a:p>
        </p:txBody>
      </p:sp>
      <p:sp>
        <p:nvSpPr>
          <p:cNvPr id="12" name="Shape 9"/>
          <p:cNvSpPr/>
          <p:nvPr/>
        </p:nvSpPr>
        <p:spPr>
          <a:xfrm>
            <a:off x="6272552" y="2377380"/>
            <a:ext cx="2432188" cy="1600200"/>
          </a:xfrm>
          <a:prstGeom prst="roundRect">
            <a:avLst>
              <a:gd name="adj" fmla="val 5486"/>
            </a:avLst>
          </a:prstGeom>
          <a:solidFill>
            <a:srgbClr val="6B9080"/>
          </a:solidFill>
          <a:ln/>
        </p:spPr>
        <p:txBody>
          <a:bodyPr/>
          <a:lstStyle/>
          <a:p>
            <a:endParaRPr lang="en-US"/>
          </a:p>
        </p:txBody>
      </p:sp>
      <p:sp>
        <p:nvSpPr>
          <p:cNvPr id="13" name="Text 10"/>
          <p:cNvSpPr/>
          <p:nvPr/>
        </p:nvSpPr>
        <p:spPr>
          <a:xfrm>
            <a:off x="6066380" y="3064661"/>
            <a:ext cx="2844729" cy="227806"/>
          </a:xfrm>
          <a:prstGeom prst="rect">
            <a:avLst/>
          </a:prstGeom>
          <a:noFill/>
          <a:ln/>
        </p:spPr>
        <p:txBody>
          <a:bodyPr wrap="none" lIns="0" tIns="0" rIns="0" bIns="0" rtlCol="0" anchor="t"/>
          <a:lstStyle/>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 Prostaglandins</a:t>
            </a:r>
            <a:endParaRPr lang="en-US" sz="1300" dirty="0"/>
          </a:p>
        </p:txBody>
      </p:sp>
      <p:sp>
        <p:nvSpPr>
          <p:cNvPr id="14" name="Shape 11"/>
          <p:cNvSpPr/>
          <p:nvPr/>
        </p:nvSpPr>
        <p:spPr>
          <a:xfrm>
            <a:off x="8704838" y="2994620"/>
            <a:ext cx="383967" cy="365720"/>
          </a:xfrm>
          <a:custGeom>
            <a:avLst/>
            <a:gdLst/>
            <a:ahLst/>
            <a:cxnLst/>
            <a:rect l="l" t="t" r="r" b="b"/>
            <a:pathLst>
              <a:path w="383967" h="365720">
                <a:moveTo>
                  <a:pt x="0" y="0"/>
                </a:moveTo>
                <a:lnTo>
                  <a:pt x="201122" y="0"/>
                </a:lnTo>
                <a:lnTo>
                  <a:pt x="383967" y="182860"/>
                </a:lnTo>
                <a:lnTo>
                  <a:pt x="201122" y="365720"/>
                </a:lnTo>
                <a:lnTo>
                  <a:pt x="0" y="365720"/>
                </a:lnTo>
                <a:lnTo>
                  <a:pt x="182845" y="182860"/>
                </a:lnTo>
                <a:close/>
              </a:path>
            </a:pathLst>
          </a:custGeom>
          <a:solidFill>
            <a:srgbClr val="5C6B73"/>
          </a:solidFill>
          <a:ln/>
        </p:spPr>
        <p:txBody>
          <a:bodyPr/>
          <a:lstStyle/>
          <a:p>
            <a:endParaRPr lang="en-US"/>
          </a:p>
        </p:txBody>
      </p:sp>
      <p:sp>
        <p:nvSpPr>
          <p:cNvPr id="15" name="Shape 12"/>
          <p:cNvSpPr/>
          <p:nvPr/>
        </p:nvSpPr>
        <p:spPr>
          <a:xfrm>
            <a:off x="9088905" y="2377380"/>
            <a:ext cx="2432188" cy="1600200"/>
          </a:xfrm>
          <a:prstGeom prst="roundRect">
            <a:avLst>
              <a:gd name="adj" fmla="val 5486"/>
            </a:avLst>
          </a:prstGeom>
          <a:solidFill>
            <a:srgbClr val="0F7173"/>
          </a:solidFill>
          <a:ln/>
        </p:spPr>
        <p:txBody>
          <a:bodyPr/>
          <a:lstStyle/>
          <a:p>
            <a:endParaRPr lang="en-US"/>
          </a:p>
        </p:txBody>
      </p:sp>
      <p:sp>
        <p:nvSpPr>
          <p:cNvPr id="16" name="Text 13"/>
          <p:cNvSpPr/>
          <p:nvPr/>
        </p:nvSpPr>
        <p:spPr>
          <a:xfrm>
            <a:off x="9187426" y="2965641"/>
            <a:ext cx="2235144" cy="455612"/>
          </a:xfrm>
          <a:prstGeom prst="rect">
            <a:avLst/>
          </a:prstGeom>
          <a:noFill/>
          <a:ln/>
        </p:spPr>
        <p:txBody>
          <a:bodyPr wrap="square" lIns="0" tIns="0" rIns="0" bIns="0" rtlCol="0" anchor="t">
            <a:normAutofit/>
          </a:bodyPr>
          <a:lstStyle/>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 Pain, Inflammation,</a:t>
            </a:r>
            <a:endParaRPr lang="en-US" sz="1300" dirty="0"/>
          </a:p>
          <a:p>
            <a:pPr marL="0" indent="0" algn="ctr">
              <a:lnSpc>
                <a:spcPct val="115000"/>
              </a:lnSpc>
              <a:buNone/>
            </a:pPr>
            <a:r>
              <a:rPr lang="en-US" sz="1300" b="1" dirty="0">
                <a:solidFill>
                  <a:srgbClr val="FFFFFF"/>
                </a:solidFill>
                <a:latin typeface="Carlito Bold" pitchFamily="34" charset="0"/>
                <a:ea typeface="Carlito Bold" pitchFamily="34" charset="-122"/>
                <a:cs typeface="Carlito Bold" pitchFamily="34" charset="0"/>
              </a:rPr>
              <a:t>Fever</a:t>
            </a:r>
            <a:endParaRPr lang="en-US" sz="1300" dirty="0"/>
          </a:p>
        </p:txBody>
      </p:sp>
      <p:sp>
        <p:nvSpPr>
          <p:cNvPr id="17" name="Text 1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18" name="Text 1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60866"/>
            <a:ext cx="10972526" cy="422176"/>
          </a:xfrm>
          <a:prstGeom prst="rect">
            <a:avLst/>
          </a:prstGeom>
          <a:noFill/>
          <a:ln/>
        </p:spPr>
        <p:txBody>
          <a:bodyPr wrap="none" lIns="0" tIns="0" rIns="0" bIns="0" rtlCol="0" anchor="t"/>
          <a:lstStyle/>
          <a:p>
            <a:pPr marL="0" indent="0" algn="l">
              <a:lnSpc>
                <a:spcPct val="100000"/>
              </a:lnSpc>
              <a:buNone/>
            </a:pPr>
            <a:r>
              <a:rPr lang="en-US" sz="2750" b="1" dirty="0">
                <a:solidFill>
                  <a:srgbClr val="123C44"/>
                </a:solidFill>
                <a:latin typeface="Caladea Bold" pitchFamily="34" charset="0"/>
                <a:ea typeface="Caladea Bold" pitchFamily="34" charset="-122"/>
                <a:cs typeface="Caladea Bold" pitchFamily="34" charset="0"/>
              </a:rPr>
              <a:t>NSAIDs Block COX and Prostaglandin Synthesis</a:t>
            </a:r>
            <a:endParaRPr lang="en-US" sz="2750" dirty="0"/>
          </a:p>
        </p:txBody>
      </p:sp>
      <p:sp>
        <p:nvSpPr>
          <p:cNvPr id="4" name="Shape 2"/>
          <p:cNvSpPr/>
          <p:nvPr/>
        </p:nvSpPr>
        <p:spPr>
          <a:xfrm>
            <a:off x="609585" y="1602879"/>
            <a:ext cx="6217685" cy="407392"/>
          </a:xfrm>
          <a:prstGeom prst="rect">
            <a:avLst/>
          </a:prstGeom>
          <a:solidFill>
            <a:srgbClr val="5B6770"/>
          </a:solidFill>
          <a:ln/>
        </p:spPr>
        <p:txBody>
          <a:bodyPr/>
          <a:lstStyle/>
          <a:p>
            <a:endParaRPr lang="en-US"/>
          </a:p>
        </p:txBody>
      </p:sp>
      <p:sp>
        <p:nvSpPr>
          <p:cNvPr id="5" name="Text 3"/>
          <p:cNvSpPr/>
          <p:nvPr/>
        </p:nvSpPr>
        <p:spPr>
          <a:xfrm>
            <a:off x="761981" y="1666379"/>
            <a:ext cx="6065289" cy="280392"/>
          </a:xfrm>
          <a:prstGeom prst="rect">
            <a:avLst/>
          </a:prstGeom>
          <a:noFill/>
          <a:ln/>
        </p:spPr>
        <p:txBody>
          <a:bodyPr wrap="none" lIns="0" tIns="0" rIns="0" bIns="0" rtlCol="0" anchor="t"/>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Membrane phospholipids</a:t>
            </a:r>
            <a:endParaRPr lang="en-US" sz="1600" dirty="0"/>
          </a:p>
        </p:txBody>
      </p:sp>
      <p:sp>
        <p:nvSpPr>
          <p:cNvPr id="6" name="Text 4"/>
          <p:cNvSpPr/>
          <p:nvPr/>
        </p:nvSpPr>
        <p:spPr>
          <a:xfrm>
            <a:off x="609585" y="2010843"/>
            <a:ext cx="6217685" cy="245269"/>
          </a:xfrm>
          <a:prstGeom prst="rect">
            <a:avLst/>
          </a:prstGeom>
          <a:noFill/>
          <a:ln/>
        </p:spPr>
        <p:txBody>
          <a:bodyPr wrap="none" lIns="0" tIns="0" rIns="0" bIns="0" rtlCol="0" anchor="t"/>
          <a:lstStyle/>
          <a:p>
            <a:pPr marL="0" indent="0" algn="l">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7" name="Shape 5"/>
          <p:cNvSpPr/>
          <p:nvPr/>
        </p:nvSpPr>
        <p:spPr>
          <a:xfrm>
            <a:off x="609585" y="2255540"/>
            <a:ext cx="6217685" cy="407392"/>
          </a:xfrm>
          <a:prstGeom prst="rect">
            <a:avLst/>
          </a:prstGeom>
          <a:solidFill>
            <a:srgbClr val="0F7173"/>
          </a:solidFill>
          <a:ln/>
        </p:spPr>
        <p:txBody>
          <a:bodyPr/>
          <a:lstStyle/>
          <a:p>
            <a:endParaRPr lang="en-US"/>
          </a:p>
        </p:txBody>
      </p:sp>
      <p:sp>
        <p:nvSpPr>
          <p:cNvPr id="8" name="Text 6"/>
          <p:cNvSpPr/>
          <p:nvPr/>
        </p:nvSpPr>
        <p:spPr>
          <a:xfrm>
            <a:off x="761981" y="2319040"/>
            <a:ext cx="6065289" cy="280392"/>
          </a:xfrm>
          <a:prstGeom prst="rect">
            <a:avLst/>
          </a:prstGeom>
          <a:noFill/>
          <a:ln/>
        </p:spPr>
        <p:txBody>
          <a:bodyPr wrap="none" lIns="0" tIns="0" rIns="0" bIns="0" rtlCol="0" anchor="t"/>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Arachidonic acid</a:t>
            </a:r>
            <a:endParaRPr lang="en-US" sz="1600" dirty="0"/>
          </a:p>
        </p:txBody>
      </p:sp>
      <p:sp>
        <p:nvSpPr>
          <p:cNvPr id="9" name="Text 7"/>
          <p:cNvSpPr/>
          <p:nvPr/>
        </p:nvSpPr>
        <p:spPr>
          <a:xfrm>
            <a:off x="609585" y="2663504"/>
            <a:ext cx="6217685" cy="245269"/>
          </a:xfrm>
          <a:prstGeom prst="rect">
            <a:avLst/>
          </a:prstGeom>
          <a:noFill/>
          <a:ln/>
        </p:spPr>
        <p:txBody>
          <a:bodyPr wrap="none" lIns="0" tIns="0" rIns="0" bIns="0" rtlCol="0" anchor="t"/>
          <a:lstStyle/>
          <a:p>
            <a:pPr marL="0" indent="0" algn="l">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0" name="Shape 8"/>
          <p:cNvSpPr/>
          <p:nvPr/>
        </p:nvSpPr>
        <p:spPr>
          <a:xfrm>
            <a:off x="609585" y="2908201"/>
            <a:ext cx="6217685" cy="407392"/>
          </a:xfrm>
          <a:prstGeom prst="rect">
            <a:avLst/>
          </a:prstGeom>
          <a:solidFill>
            <a:srgbClr val="1F3A4D"/>
          </a:solidFill>
          <a:ln/>
        </p:spPr>
        <p:txBody>
          <a:bodyPr/>
          <a:lstStyle/>
          <a:p>
            <a:endParaRPr lang="en-US"/>
          </a:p>
        </p:txBody>
      </p:sp>
      <p:sp>
        <p:nvSpPr>
          <p:cNvPr id="11" name="Text 9"/>
          <p:cNvSpPr/>
          <p:nvPr/>
        </p:nvSpPr>
        <p:spPr>
          <a:xfrm>
            <a:off x="761981" y="2971701"/>
            <a:ext cx="6065289" cy="280392"/>
          </a:xfrm>
          <a:prstGeom prst="rect">
            <a:avLst/>
          </a:prstGeom>
          <a:noFill/>
          <a:ln/>
        </p:spPr>
        <p:txBody>
          <a:bodyPr wrap="none" lIns="0" tIns="0" rIns="0" bIns="0" rtlCol="0" anchor="t"/>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COX-1 / COX-2</a:t>
            </a:r>
            <a:endParaRPr lang="en-US" sz="1600" dirty="0"/>
          </a:p>
        </p:txBody>
      </p:sp>
      <p:sp>
        <p:nvSpPr>
          <p:cNvPr id="12" name="Text 10"/>
          <p:cNvSpPr/>
          <p:nvPr/>
        </p:nvSpPr>
        <p:spPr>
          <a:xfrm>
            <a:off x="609585" y="3316164"/>
            <a:ext cx="6217685" cy="245269"/>
          </a:xfrm>
          <a:prstGeom prst="rect">
            <a:avLst/>
          </a:prstGeom>
          <a:noFill/>
          <a:ln/>
        </p:spPr>
        <p:txBody>
          <a:bodyPr wrap="none" lIns="0" tIns="0" rIns="0" bIns="0" rtlCol="0" anchor="t"/>
          <a:lstStyle/>
          <a:p>
            <a:pPr marL="0" indent="0" algn="l">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3" name="Shape 11"/>
          <p:cNvSpPr/>
          <p:nvPr/>
        </p:nvSpPr>
        <p:spPr>
          <a:xfrm>
            <a:off x="609585" y="3560862"/>
            <a:ext cx="6217685" cy="407392"/>
          </a:xfrm>
          <a:prstGeom prst="rect">
            <a:avLst/>
          </a:prstGeom>
          <a:solidFill>
            <a:srgbClr val="2563A8"/>
          </a:solidFill>
          <a:ln/>
        </p:spPr>
        <p:txBody>
          <a:bodyPr/>
          <a:lstStyle/>
          <a:p>
            <a:endParaRPr lang="en-US"/>
          </a:p>
        </p:txBody>
      </p:sp>
      <p:sp>
        <p:nvSpPr>
          <p:cNvPr id="14" name="Text 12"/>
          <p:cNvSpPr/>
          <p:nvPr/>
        </p:nvSpPr>
        <p:spPr>
          <a:xfrm>
            <a:off x="761981" y="3624362"/>
            <a:ext cx="6065289" cy="280392"/>
          </a:xfrm>
          <a:prstGeom prst="rect">
            <a:avLst/>
          </a:prstGeom>
          <a:noFill/>
          <a:ln/>
        </p:spPr>
        <p:txBody>
          <a:bodyPr wrap="none" lIns="0" tIns="0" rIns="0" bIns="0" rtlCol="0" anchor="t"/>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Prostaglandins and TXA2</a:t>
            </a:r>
            <a:endParaRPr lang="en-US" sz="1600" dirty="0"/>
          </a:p>
        </p:txBody>
      </p:sp>
      <p:sp>
        <p:nvSpPr>
          <p:cNvPr id="15" name="Text 13"/>
          <p:cNvSpPr/>
          <p:nvPr/>
        </p:nvSpPr>
        <p:spPr>
          <a:xfrm>
            <a:off x="609585" y="3968825"/>
            <a:ext cx="6217685" cy="245269"/>
          </a:xfrm>
          <a:prstGeom prst="rect">
            <a:avLst/>
          </a:prstGeom>
          <a:noFill/>
          <a:ln/>
        </p:spPr>
        <p:txBody>
          <a:bodyPr wrap="none" lIns="0" tIns="0" rIns="0" bIns="0" rtlCol="0" anchor="t"/>
          <a:lstStyle/>
          <a:p>
            <a:pPr marL="0" indent="0" algn="l">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6" name="Shape 14"/>
          <p:cNvSpPr/>
          <p:nvPr/>
        </p:nvSpPr>
        <p:spPr>
          <a:xfrm>
            <a:off x="609585" y="4213523"/>
            <a:ext cx="6217685" cy="407392"/>
          </a:xfrm>
          <a:prstGeom prst="rect">
            <a:avLst/>
          </a:prstGeom>
          <a:solidFill>
            <a:srgbClr val="C8323C"/>
          </a:solidFill>
          <a:ln/>
        </p:spPr>
        <p:txBody>
          <a:bodyPr/>
          <a:lstStyle/>
          <a:p>
            <a:endParaRPr lang="en-US"/>
          </a:p>
        </p:txBody>
      </p:sp>
      <p:sp>
        <p:nvSpPr>
          <p:cNvPr id="17" name="Text 15"/>
          <p:cNvSpPr/>
          <p:nvPr/>
        </p:nvSpPr>
        <p:spPr>
          <a:xfrm>
            <a:off x="761981" y="4277023"/>
            <a:ext cx="6065289" cy="280392"/>
          </a:xfrm>
          <a:prstGeom prst="rect">
            <a:avLst/>
          </a:prstGeom>
          <a:noFill/>
          <a:ln/>
        </p:spPr>
        <p:txBody>
          <a:bodyPr wrap="none" lIns="0" tIns="0" rIns="0" bIns="0" rtlCol="0" anchor="t"/>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NSAIDs block COX</a:t>
            </a:r>
            <a:endParaRPr lang="en-US" sz="1600" dirty="0"/>
          </a:p>
        </p:txBody>
      </p:sp>
      <p:sp>
        <p:nvSpPr>
          <p:cNvPr id="18" name="Text 16"/>
          <p:cNvSpPr/>
          <p:nvPr/>
        </p:nvSpPr>
        <p:spPr>
          <a:xfrm>
            <a:off x="609585" y="4621486"/>
            <a:ext cx="6217685" cy="245269"/>
          </a:xfrm>
          <a:prstGeom prst="rect">
            <a:avLst/>
          </a:prstGeom>
          <a:noFill/>
          <a:ln/>
        </p:spPr>
        <p:txBody>
          <a:bodyPr wrap="none" lIns="0" tIns="0" rIns="0" bIns="0" rtlCol="0" anchor="t"/>
          <a:lstStyle/>
          <a:p>
            <a:pPr marL="0" indent="0" algn="l">
              <a:lnSpc>
                <a:spcPct val="115000"/>
              </a:lnSpc>
              <a:buNone/>
            </a:pPr>
            <a:r>
              <a:rPr lang="en-US" sz="1400" dirty="0">
                <a:solidFill>
                  <a:srgbClr val="1A1A1A"/>
                </a:solidFill>
                <a:latin typeface="Carlito" pitchFamily="34" charset="0"/>
                <a:ea typeface="Carlito" pitchFamily="34" charset="-122"/>
                <a:cs typeface="Carlito" pitchFamily="34" charset="0"/>
              </a:rPr>
              <a:t>↓</a:t>
            </a:r>
            <a:endParaRPr lang="en-US" sz="1400" dirty="0"/>
          </a:p>
        </p:txBody>
      </p:sp>
      <p:sp>
        <p:nvSpPr>
          <p:cNvPr id="19" name="Shape 17"/>
          <p:cNvSpPr/>
          <p:nvPr/>
        </p:nvSpPr>
        <p:spPr>
          <a:xfrm>
            <a:off x="609585" y="4866184"/>
            <a:ext cx="3032545" cy="687784"/>
          </a:xfrm>
          <a:prstGeom prst="rect">
            <a:avLst/>
          </a:prstGeom>
          <a:solidFill>
            <a:srgbClr val="2E7D4F"/>
          </a:solidFill>
          <a:ln/>
        </p:spPr>
        <p:txBody>
          <a:bodyPr/>
          <a:lstStyle/>
          <a:p>
            <a:endParaRPr lang="en-US"/>
          </a:p>
        </p:txBody>
      </p:sp>
      <p:sp>
        <p:nvSpPr>
          <p:cNvPr id="20" name="Text 18"/>
          <p:cNvSpPr/>
          <p:nvPr/>
        </p:nvSpPr>
        <p:spPr>
          <a:xfrm>
            <a:off x="736582" y="4929684"/>
            <a:ext cx="2778552" cy="560784"/>
          </a:xfrm>
          <a:prstGeom prst="rect">
            <a:avLst/>
          </a:prstGeom>
          <a:noFill/>
          <a:ln/>
        </p:spPr>
        <p:txBody>
          <a:bodyPr wrap="square" lIns="0" tIns="0" rIns="0" bIns="0" rtlCol="0" anchor="t">
            <a:normAutofit/>
          </a:bodyPr>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Less prostaglandin: pain and fever fall</a:t>
            </a:r>
            <a:endParaRPr lang="en-US" sz="1600" dirty="0"/>
          </a:p>
        </p:txBody>
      </p:sp>
      <p:sp>
        <p:nvSpPr>
          <p:cNvPr id="21" name="Shape 19"/>
          <p:cNvSpPr/>
          <p:nvPr/>
        </p:nvSpPr>
        <p:spPr>
          <a:xfrm>
            <a:off x="3794526" y="4866184"/>
            <a:ext cx="3032644" cy="687784"/>
          </a:xfrm>
          <a:prstGeom prst="rect">
            <a:avLst/>
          </a:prstGeom>
          <a:solidFill>
            <a:srgbClr val="C8323C"/>
          </a:solidFill>
          <a:ln/>
        </p:spPr>
        <p:txBody>
          <a:bodyPr/>
          <a:lstStyle/>
          <a:p>
            <a:endParaRPr lang="en-US"/>
          </a:p>
        </p:txBody>
      </p:sp>
      <p:sp>
        <p:nvSpPr>
          <p:cNvPr id="22" name="Text 20"/>
          <p:cNvSpPr/>
          <p:nvPr/>
        </p:nvSpPr>
        <p:spPr>
          <a:xfrm>
            <a:off x="3921523" y="4929684"/>
            <a:ext cx="2905648" cy="280392"/>
          </a:xfrm>
          <a:prstGeom prst="rect">
            <a:avLst/>
          </a:prstGeom>
          <a:noFill/>
          <a:ln/>
        </p:spPr>
        <p:txBody>
          <a:bodyPr wrap="none" lIns="0" tIns="0" rIns="0" bIns="0" rtlCol="0" anchor="t"/>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Less TXA2: bleeding risk</a:t>
            </a:r>
            <a:endParaRPr lang="en-US" sz="1600" dirty="0"/>
          </a:p>
        </p:txBody>
      </p:sp>
      <p:sp>
        <p:nvSpPr>
          <p:cNvPr id="23" name="Text 21"/>
          <p:cNvSpPr/>
          <p:nvPr/>
        </p:nvSpPr>
        <p:spPr>
          <a:xfrm>
            <a:off x="6827270" y="1602879"/>
            <a:ext cx="4754840" cy="1819473"/>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Pathway:</a:t>
            </a:r>
            <a:r>
              <a:rPr lang="en-US" sz="1600" dirty="0">
                <a:solidFill>
                  <a:srgbClr val="1A1A1A"/>
                </a:solidFill>
                <a:latin typeface="Carlito" pitchFamily="34" charset="0"/>
                <a:ea typeface="Carlito" pitchFamily="34" charset="-122"/>
                <a:cs typeface="Carlito" pitchFamily="34" charset="0"/>
              </a:rPr>
              <a:t> arachidonic acid is converted by COX to prostaglandins and thromboxane A2.</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Effect:</a:t>
            </a:r>
            <a:r>
              <a:rPr lang="en-US" sz="1600" dirty="0">
                <a:solidFill>
                  <a:srgbClr val="1A1A1A"/>
                </a:solidFill>
                <a:latin typeface="Carlito" pitchFamily="34" charset="0"/>
                <a:ea typeface="Carlito" pitchFamily="34" charset="-122"/>
                <a:cs typeface="Carlito" pitchFamily="34" charset="0"/>
              </a:rPr>
              <a:t> reduced prostaglandins give analgesia, antipyresis and anti-inflammation.</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Adverse effects:</a:t>
            </a:r>
            <a:r>
              <a:rPr lang="en-US" sz="1600" dirty="0">
                <a:solidFill>
                  <a:srgbClr val="1A1A1A"/>
                </a:solidFill>
                <a:latin typeface="Carlito" pitchFamily="34" charset="0"/>
                <a:ea typeface="Carlito" pitchFamily="34" charset="-122"/>
                <a:cs typeface="Carlito" pitchFamily="34" charset="0"/>
              </a:rPr>
              <a:t> GI injury, platelet inhibition and renal effects.</a:t>
            </a:r>
            <a:endParaRPr lang="en-US" sz="1600" dirty="0"/>
          </a:p>
        </p:txBody>
      </p:sp>
      <p:sp>
        <p:nvSpPr>
          <p:cNvPr id="24" name="Text 22"/>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25" name="Text 23"/>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44" y="1600200"/>
            <a:ext cx="5211930" cy="4526260"/>
          </a:xfrm>
          <a:prstGeom prst="roundRect">
            <a:avLst>
              <a:gd name="adj" fmla="val 2424"/>
            </a:avLst>
          </a:prstGeom>
          <a:solidFill>
            <a:srgbClr val="E8F1F0"/>
          </a:solidFill>
          <a:ln/>
        </p:spPr>
        <p:txBody>
          <a:bodyPr/>
          <a:lstStyle/>
          <a:p>
            <a:endParaRPr lang="en-US"/>
          </a:p>
        </p:txBody>
      </p:sp>
      <p:sp>
        <p:nvSpPr>
          <p:cNvPr id="3" name="Shape 1"/>
          <p:cNvSpPr/>
          <p:nvPr/>
        </p:nvSpPr>
        <p:spPr>
          <a:xfrm>
            <a:off x="6309162" y="1600200"/>
            <a:ext cx="5211930" cy="4526260"/>
          </a:xfrm>
          <a:prstGeom prst="roundRect">
            <a:avLst>
              <a:gd name="adj" fmla="val 2424"/>
            </a:avLst>
          </a:prstGeom>
          <a:solidFill>
            <a:srgbClr val="E8F1F0"/>
          </a:solidFill>
          <a:ln/>
        </p:spPr>
        <p:txBody>
          <a:bodyPr/>
          <a:lstStyle/>
          <a:p>
            <a:endParaRPr lang="en-US"/>
          </a:p>
        </p:txBody>
      </p:sp>
      <p:sp>
        <p:nvSpPr>
          <p:cNvPr id="4" name="Text 2"/>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TWO ISOFORMS</a:t>
            </a:r>
            <a:endParaRPr lang="en-US" sz="1200" dirty="0"/>
          </a:p>
        </p:txBody>
      </p:sp>
      <p:sp>
        <p:nvSpPr>
          <p:cNvPr id="5" name="Text 3"/>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COX-1 vs. COX-2</a:t>
            </a:r>
            <a:endParaRPr lang="en-US" sz="2800" dirty="0"/>
          </a:p>
        </p:txBody>
      </p:sp>
      <p:sp>
        <p:nvSpPr>
          <p:cNvPr id="6" name="Shape 4"/>
          <p:cNvSpPr/>
          <p:nvPr/>
        </p:nvSpPr>
        <p:spPr>
          <a:xfrm>
            <a:off x="10972526" y="502841"/>
            <a:ext cx="566823" cy="566837"/>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8" name="Shape 5"/>
          <p:cNvSpPr/>
          <p:nvPr/>
        </p:nvSpPr>
        <p:spPr>
          <a:xfrm>
            <a:off x="640044" y="1600200"/>
            <a:ext cx="5211831" cy="502841"/>
          </a:xfrm>
          <a:prstGeom prst="roundRect">
            <a:avLst>
              <a:gd name="adj" fmla="val 21821"/>
            </a:avLst>
          </a:prstGeom>
          <a:solidFill>
            <a:srgbClr val="0F7173"/>
          </a:solidFill>
          <a:ln/>
        </p:spPr>
        <p:txBody>
          <a:bodyPr/>
          <a:lstStyle/>
          <a:p>
            <a:endParaRPr lang="en-US"/>
          </a:p>
        </p:txBody>
      </p:sp>
      <p:sp>
        <p:nvSpPr>
          <p:cNvPr id="9" name="Shape 6"/>
          <p:cNvSpPr/>
          <p:nvPr/>
        </p:nvSpPr>
        <p:spPr>
          <a:xfrm>
            <a:off x="640044" y="1856184"/>
            <a:ext cx="5211831" cy="255984"/>
          </a:xfrm>
          <a:prstGeom prst="rect">
            <a:avLst/>
          </a:prstGeom>
          <a:solidFill>
            <a:srgbClr val="0F7173"/>
          </a:solidFill>
          <a:ln/>
        </p:spPr>
        <p:txBody>
          <a:bodyPr/>
          <a:lstStyle/>
          <a:p>
            <a:endParaRPr lang="en-US"/>
          </a:p>
        </p:txBody>
      </p:sp>
      <p:sp>
        <p:nvSpPr>
          <p:cNvPr id="10" name="Text 7"/>
          <p:cNvSpPr/>
          <p:nvPr/>
        </p:nvSpPr>
        <p:spPr>
          <a:xfrm>
            <a:off x="841156"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COX-1</a:t>
            </a:r>
            <a:endParaRPr lang="en-US" sz="1600" dirty="0"/>
          </a:p>
        </p:txBody>
      </p:sp>
      <p:sp>
        <p:nvSpPr>
          <p:cNvPr id="11" name="Text 8"/>
          <p:cNvSpPr/>
          <p:nvPr/>
        </p:nvSpPr>
        <p:spPr>
          <a:xfrm>
            <a:off x="1046236" y="2272010"/>
            <a:ext cx="4519896" cy="1081683"/>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"Housekeeping" enzyme</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Maintains gastric mucosal protection and normal renal blood flow</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Inhibition contributes to GI and renal adverse effects</a:t>
            </a:r>
            <a:endParaRPr lang="en-US" sz="1400" dirty="0"/>
          </a:p>
        </p:txBody>
      </p:sp>
      <p:sp>
        <p:nvSpPr>
          <p:cNvPr id="12" name="Shape 9"/>
          <p:cNvSpPr/>
          <p:nvPr/>
        </p:nvSpPr>
        <p:spPr>
          <a:xfrm>
            <a:off x="6309162" y="1600200"/>
            <a:ext cx="5211831" cy="502841"/>
          </a:xfrm>
          <a:prstGeom prst="roundRect">
            <a:avLst>
              <a:gd name="adj" fmla="val 21821"/>
            </a:avLst>
          </a:prstGeom>
          <a:solidFill>
            <a:srgbClr val="2A6F97"/>
          </a:solidFill>
          <a:ln/>
        </p:spPr>
        <p:txBody>
          <a:bodyPr/>
          <a:lstStyle/>
          <a:p>
            <a:endParaRPr lang="en-US"/>
          </a:p>
        </p:txBody>
      </p:sp>
      <p:sp>
        <p:nvSpPr>
          <p:cNvPr id="13" name="Shape 10"/>
          <p:cNvSpPr/>
          <p:nvPr/>
        </p:nvSpPr>
        <p:spPr>
          <a:xfrm>
            <a:off x="6309162" y="1856184"/>
            <a:ext cx="5211831" cy="255984"/>
          </a:xfrm>
          <a:prstGeom prst="rect">
            <a:avLst/>
          </a:prstGeom>
          <a:solidFill>
            <a:srgbClr val="2A6F97"/>
          </a:solidFill>
          <a:ln/>
        </p:spPr>
        <p:txBody>
          <a:bodyPr/>
          <a:lstStyle/>
          <a:p>
            <a:endParaRPr lang="en-US"/>
          </a:p>
        </p:txBody>
      </p:sp>
      <p:sp>
        <p:nvSpPr>
          <p:cNvPr id="14" name="Text 11"/>
          <p:cNvSpPr/>
          <p:nvPr/>
        </p:nvSpPr>
        <p:spPr>
          <a:xfrm>
            <a:off x="6510274"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COX-2</a:t>
            </a:r>
            <a:endParaRPr lang="en-US" sz="1600" dirty="0"/>
          </a:p>
        </p:txBody>
      </p:sp>
      <p:sp>
        <p:nvSpPr>
          <p:cNvPr id="15" name="Text 12"/>
          <p:cNvSpPr/>
          <p:nvPr/>
        </p:nvSpPr>
        <p:spPr>
          <a:xfrm>
            <a:off x="6715354" y="2272010"/>
            <a:ext cx="4576946" cy="868362"/>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Induced mainly at sites of inflammation</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Primary source of inflammatory prostaglandins</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Selective inhibition targets inflammation with less GI toxicity</a:t>
            </a:r>
            <a:endParaRPr lang="en-US" sz="1400" dirty="0"/>
          </a:p>
        </p:txBody>
      </p:sp>
      <p:sp>
        <p:nvSpPr>
          <p:cNvPr id="16" name="Text 1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17" name="Text 1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60866"/>
            <a:ext cx="10972526" cy="422176"/>
          </a:xfrm>
          <a:prstGeom prst="rect">
            <a:avLst/>
          </a:prstGeom>
          <a:noFill/>
          <a:ln/>
        </p:spPr>
        <p:txBody>
          <a:bodyPr wrap="none" lIns="0" tIns="0" rIns="0" bIns="0" rtlCol="0" anchor="t"/>
          <a:lstStyle/>
          <a:p>
            <a:pPr marL="0" indent="0" algn="l">
              <a:lnSpc>
                <a:spcPct val="100000"/>
              </a:lnSpc>
              <a:buNone/>
            </a:pPr>
            <a:r>
              <a:rPr lang="en-US" sz="2750" b="1" dirty="0">
                <a:solidFill>
                  <a:srgbClr val="123C44"/>
                </a:solidFill>
                <a:latin typeface="Caladea Bold" pitchFamily="34" charset="0"/>
                <a:ea typeface="Caladea Bold" pitchFamily="34" charset="-122"/>
                <a:cs typeface="Caladea Bold" pitchFamily="34" charset="0"/>
              </a:rPr>
              <a:t>COX-1 vs. COX-2: Constitutive vs. Inducible</a:t>
            </a:r>
            <a:endParaRPr lang="en-US" sz="2750" dirty="0"/>
          </a:p>
        </p:txBody>
      </p:sp>
      <p:sp>
        <p:nvSpPr>
          <p:cNvPr id="4" name="Shape 2"/>
          <p:cNvSpPr/>
          <p:nvPr/>
        </p:nvSpPr>
        <p:spPr>
          <a:xfrm>
            <a:off x="609585" y="1602879"/>
            <a:ext cx="6217685" cy="569416"/>
          </a:xfrm>
          <a:prstGeom prst="rect">
            <a:avLst/>
          </a:prstGeom>
          <a:solidFill>
            <a:srgbClr val="0F7173"/>
          </a:solidFill>
          <a:ln/>
        </p:spPr>
        <p:txBody>
          <a:bodyPr/>
          <a:lstStyle/>
          <a:p>
            <a:endParaRPr lang="en-US"/>
          </a:p>
        </p:txBody>
      </p:sp>
      <p:sp>
        <p:nvSpPr>
          <p:cNvPr id="5" name="Text 3"/>
          <p:cNvSpPr/>
          <p:nvPr/>
        </p:nvSpPr>
        <p:spPr>
          <a:xfrm>
            <a:off x="812780" y="1731974"/>
            <a:ext cx="6014490" cy="315416"/>
          </a:xfrm>
          <a:prstGeom prst="rect">
            <a:avLst/>
          </a:prstGeom>
          <a:noFill/>
          <a:ln/>
        </p:spPr>
        <p:txBody>
          <a:bodyPr wrap="none" lIns="0" tIns="0" rIns="0" bIns="0" rtlCol="0" anchor="t"/>
          <a:lstStyle/>
          <a:p>
            <a:pPr marL="0" indent="0" algn="l">
              <a:lnSpc>
                <a:spcPct val="115000"/>
              </a:lnSpc>
              <a:buNone/>
            </a:pPr>
            <a:r>
              <a:rPr lang="en-US" sz="1800" b="1" dirty="0">
                <a:solidFill>
                  <a:srgbClr val="FFFFFF"/>
                </a:solidFill>
                <a:latin typeface="Carlito Bold" pitchFamily="34" charset="0"/>
                <a:ea typeface="Carlito Bold" pitchFamily="34" charset="-122"/>
                <a:cs typeface="Carlito Bold" pitchFamily="34" charset="0"/>
              </a:rPr>
              <a:t>Arachidonic acid</a:t>
            </a:r>
            <a:endParaRPr lang="en-US" sz="1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09585" y="2298005"/>
          <a:ext cx="3032545" cy="2319576"/>
        </p:xfrm>
        <a:graphic>
          <a:graphicData uri="http://schemas.openxmlformats.org/drawingml/2006/table">
            <a:tbl>
              <a:tblPr/>
              <a:tblGrid>
                <a:gridCol w="3032545">
                  <a:extLst>
                    <a:ext uri="{9D8B030D-6E8A-4147-A177-3AD203B41FA5}">
                      <a16:colId xmlns:a16="http://schemas.microsoft.com/office/drawing/2014/main" val="20000"/>
                    </a:ext>
                  </a:extLst>
                </a:gridCol>
              </a:tblGrid>
              <a:tr h="512948">
                <a:tc>
                  <a:txBody>
                    <a:bodyPr/>
                    <a:lstStyle/>
                    <a:p>
                      <a:pPr marL="0" indent="0" algn="l">
                        <a:buNone/>
                      </a:pPr>
                      <a:r>
                        <a:rPr lang="en-US" sz="2000" dirty="0">
                          <a:solidFill>
                            <a:srgbClr val="FFFFFF"/>
                          </a:solidFill>
                          <a:latin typeface="Carlito" pitchFamily="34" charset="0"/>
                          <a:ea typeface="Carlito" pitchFamily="34" charset="-122"/>
                          <a:cs typeface="Carlito" pitchFamily="34" charset="0"/>
                        </a:rPr>
                        <a:t>↓</a:t>
                      </a:r>
                      <a:endParaRPr lang="en-US" sz="2000" dirty="0">
                        <a:latin typeface="Carlito" charset="0"/>
                        <a:ea typeface="Carlito" charset="0"/>
                        <a:cs typeface="Carlito" charset="0"/>
                      </a:endParaRPr>
                    </a:p>
                  </a:txBody>
                  <a:tcPr marL="152396" marR="152396" marT="81278" marB="81278" anchor="ctr">
                    <a:lnL w="12700" cap="flat" cmpd="sng" algn="ctr">
                      <a:solidFill>
                        <a:srgbClr val="1F3A4D"/>
                      </a:solidFill>
                      <a:prstDash val="solid"/>
                      <a:round/>
                      <a:headEnd type="none" w="med" len="med"/>
                      <a:tailEnd type="none" w="med" len="med"/>
                    </a:lnL>
                    <a:lnR w="12700" cap="flat" cmpd="sng" algn="ctr">
                      <a:solidFill>
                        <a:srgbClr val="1F3A4D"/>
                      </a:solidFill>
                      <a:prstDash val="solid"/>
                      <a:round/>
                      <a:headEnd type="none" w="med" len="med"/>
                      <a:tailEnd type="none" w="med" len="med"/>
                    </a:lnR>
                    <a:lnT w="12700" cap="flat" cmpd="sng" algn="ctr">
                      <a:solidFill>
                        <a:srgbClr val="1F3A4D"/>
                      </a:solidFill>
                      <a:prstDash val="solid"/>
                      <a:round/>
                      <a:headEnd type="none" w="med" len="med"/>
                      <a:tailEnd type="none" w="med" len="med"/>
                    </a:lnT>
                    <a:lnB w="12700" cap="flat" cmpd="sng" algn="ctr">
                      <a:solidFill>
                        <a:srgbClr val="1F3A4D"/>
                      </a:solidFill>
                      <a:prstDash val="solid"/>
                      <a:round/>
                      <a:headEnd type="none" w="med" len="med"/>
                      <a:tailEnd type="none" w="med" len="med"/>
                    </a:lnB>
                    <a:solidFill>
                      <a:srgbClr val="1F3A4D"/>
                    </a:solidFill>
                  </a:tcPr>
                </a:tc>
                <a:extLst>
                  <a:ext uri="{0D108BD9-81ED-4DB2-BD59-A6C34878D82A}">
                    <a16:rowId xmlns:a16="http://schemas.microsoft.com/office/drawing/2014/main" val="10000"/>
                  </a:ext>
                </a:extLst>
              </a:tr>
              <a:tr h="477925">
                <a:tc>
                  <a:txBody>
                    <a:bodyPr/>
                    <a:lstStyle/>
                    <a:p>
                      <a:pPr marL="0" indent="0" algn="l">
                        <a:buNone/>
                      </a:pPr>
                      <a:r>
                        <a:rPr lang="en-US" sz="1800" b="1" dirty="0">
                          <a:solidFill>
                            <a:srgbClr val="FFFFFF"/>
                          </a:solidFill>
                          <a:latin typeface="Carlito" pitchFamily="34" charset="0"/>
                          <a:ea typeface="Carlito" pitchFamily="34" charset="-122"/>
                          <a:cs typeface="Carlito" pitchFamily="34" charset="0"/>
                        </a:rPr>
                        <a:t>COX-1 (constitutive)</a:t>
                      </a:r>
                      <a:endParaRPr lang="en-US" sz="1800" dirty="0">
                        <a:latin typeface="Carlito" charset="0"/>
                        <a:ea typeface="Carlito" charset="0"/>
                        <a:cs typeface="Carlito" charset="0"/>
                      </a:endParaRPr>
                    </a:p>
                  </a:txBody>
                  <a:tcPr marL="152396" marR="152396" marT="81278" marB="81278" anchor="ctr">
                    <a:lnL w="12700" cap="flat" cmpd="sng" algn="ctr">
                      <a:solidFill>
                        <a:srgbClr val="1F3A4D"/>
                      </a:solidFill>
                      <a:prstDash val="solid"/>
                      <a:round/>
                      <a:headEnd type="none" w="med" len="med"/>
                      <a:tailEnd type="none" w="med" len="med"/>
                    </a:lnL>
                    <a:lnR w="12700" cap="flat" cmpd="sng" algn="ctr">
                      <a:solidFill>
                        <a:srgbClr val="1F3A4D"/>
                      </a:solidFill>
                      <a:prstDash val="solid"/>
                      <a:round/>
                      <a:headEnd type="none" w="med" len="med"/>
                      <a:tailEnd type="none" w="med" len="med"/>
                    </a:lnR>
                    <a:lnT w="12700" cap="flat" cmpd="sng" algn="ctr">
                      <a:solidFill>
                        <a:srgbClr val="1F3A4D"/>
                      </a:solidFill>
                      <a:prstDash val="solid"/>
                      <a:round/>
                      <a:headEnd type="none" w="med" len="med"/>
                      <a:tailEnd type="none" w="med" len="med"/>
                    </a:lnT>
                    <a:lnB w="12700" cap="flat" cmpd="sng" algn="ctr">
                      <a:solidFill>
                        <a:srgbClr val="1F3A4D"/>
                      </a:solidFill>
                      <a:prstDash val="solid"/>
                      <a:round/>
                      <a:headEnd type="none" w="med" len="med"/>
                      <a:tailEnd type="none" w="med" len="med"/>
                    </a:lnB>
                    <a:solidFill>
                      <a:srgbClr val="1F3A4D"/>
                    </a:solidFill>
                  </a:tcPr>
                </a:tc>
                <a:extLst>
                  <a:ext uri="{0D108BD9-81ED-4DB2-BD59-A6C34878D82A}">
                    <a16:rowId xmlns:a16="http://schemas.microsoft.com/office/drawing/2014/main" val="10001"/>
                  </a:ext>
                </a:extLst>
              </a:tr>
              <a:tr h="442901">
                <a:tc>
                  <a:txBody>
                    <a:bodyPr/>
                    <a:lstStyle/>
                    <a:p>
                      <a:pPr marL="0" indent="0" algn="l">
                        <a:buNone/>
                      </a:pPr>
                      <a:r>
                        <a:rPr lang="en-US" sz="1600" dirty="0">
                          <a:solidFill>
                            <a:srgbClr val="FFFFFF"/>
                          </a:solidFill>
                          <a:latin typeface="Carlito" pitchFamily="34" charset="0"/>
                          <a:ea typeface="Carlito" pitchFamily="34" charset="-122"/>
                          <a:cs typeface="Carlito" pitchFamily="34" charset="0"/>
                        </a:rPr>
                        <a:t>Stomach mucosal protection</a:t>
                      </a:r>
                      <a:endParaRPr lang="en-US" sz="1600" dirty="0">
                        <a:latin typeface="Carlito" charset="0"/>
                        <a:ea typeface="Carlito" charset="0"/>
                        <a:cs typeface="Carlito" charset="0"/>
                      </a:endParaRPr>
                    </a:p>
                  </a:txBody>
                  <a:tcPr marL="152396" marR="152396" marT="81278" marB="81278" anchor="ctr">
                    <a:lnL w="12700" cap="flat" cmpd="sng" algn="ctr">
                      <a:solidFill>
                        <a:srgbClr val="1F3A4D"/>
                      </a:solidFill>
                      <a:prstDash val="solid"/>
                      <a:round/>
                      <a:headEnd type="none" w="med" len="med"/>
                      <a:tailEnd type="none" w="med" len="med"/>
                    </a:lnL>
                    <a:lnR w="12700" cap="flat" cmpd="sng" algn="ctr">
                      <a:solidFill>
                        <a:srgbClr val="1F3A4D"/>
                      </a:solidFill>
                      <a:prstDash val="solid"/>
                      <a:round/>
                      <a:headEnd type="none" w="med" len="med"/>
                      <a:tailEnd type="none" w="med" len="med"/>
                    </a:lnR>
                    <a:lnT w="12700" cap="flat" cmpd="sng" algn="ctr">
                      <a:solidFill>
                        <a:srgbClr val="1F3A4D"/>
                      </a:solidFill>
                      <a:prstDash val="solid"/>
                      <a:round/>
                      <a:headEnd type="none" w="med" len="med"/>
                      <a:tailEnd type="none" w="med" len="med"/>
                    </a:lnT>
                    <a:lnB w="12700" cap="flat" cmpd="sng" algn="ctr">
                      <a:solidFill>
                        <a:srgbClr val="1F3A4D"/>
                      </a:solidFill>
                      <a:prstDash val="solid"/>
                      <a:round/>
                      <a:headEnd type="none" w="med" len="med"/>
                      <a:tailEnd type="none" w="med" len="med"/>
                    </a:lnB>
                    <a:solidFill>
                      <a:srgbClr val="1F3A4D"/>
                    </a:solidFill>
                  </a:tcPr>
                </a:tc>
                <a:extLst>
                  <a:ext uri="{0D108BD9-81ED-4DB2-BD59-A6C34878D82A}">
                    <a16:rowId xmlns:a16="http://schemas.microsoft.com/office/drawing/2014/main" val="10002"/>
                  </a:ext>
                </a:extLst>
              </a:tr>
              <a:tr h="442901">
                <a:tc>
                  <a:txBody>
                    <a:bodyPr/>
                    <a:lstStyle/>
                    <a:p>
                      <a:pPr marL="0" indent="0" algn="l">
                        <a:buNone/>
                      </a:pPr>
                      <a:r>
                        <a:rPr lang="en-US" sz="1600" dirty="0">
                          <a:solidFill>
                            <a:srgbClr val="FFFFFF"/>
                          </a:solidFill>
                          <a:latin typeface="Carlito" pitchFamily="34" charset="0"/>
                          <a:ea typeface="Carlito" pitchFamily="34" charset="-122"/>
                          <a:cs typeface="Carlito" pitchFamily="34" charset="0"/>
                        </a:rPr>
                        <a:t>Platelet TXA2 (clotting)</a:t>
                      </a:r>
                      <a:endParaRPr lang="en-US" sz="1600" dirty="0">
                        <a:latin typeface="Carlito" charset="0"/>
                        <a:ea typeface="Carlito" charset="0"/>
                        <a:cs typeface="Carlito" charset="0"/>
                      </a:endParaRPr>
                    </a:p>
                  </a:txBody>
                  <a:tcPr marL="152396" marR="152396" marT="81278" marB="81278" anchor="ctr">
                    <a:lnL w="12700" cap="flat" cmpd="sng" algn="ctr">
                      <a:solidFill>
                        <a:srgbClr val="1F3A4D"/>
                      </a:solidFill>
                      <a:prstDash val="solid"/>
                      <a:round/>
                      <a:headEnd type="none" w="med" len="med"/>
                      <a:tailEnd type="none" w="med" len="med"/>
                    </a:lnL>
                    <a:lnR w="12700" cap="flat" cmpd="sng" algn="ctr">
                      <a:solidFill>
                        <a:srgbClr val="1F3A4D"/>
                      </a:solidFill>
                      <a:prstDash val="solid"/>
                      <a:round/>
                      <a:headEnd type="none" w="med" len="med"/>
                      <a:tailEnd type="none" w="med" len="med"/>
                    </a:lnR>
                    <a:lnT w="12700" cap="flat" cmpd="sng" algn="ctr">
                      <a:solidFill>
                        <a:srgbClr val="1F3A4D"/>
                      </a:solidFill>
                      <a:prstDash val="solid"/>
                      <a:round/>
                      <a:headEnd type="none" w="med" len="med"/>
                      <a:tailEnd type="none" w="med" len="med"/>
                    </a:lnT>
                    <a:lnB w="12700" cap="flat" cmpd="sng" algn="ctr">
                      <a:solidFill>
                        <a:srgbClr val="1F3A4D"/>
                      </a:solidFill>
                      <a:prstDash val="solid"/>
                      <a:round/>
                      <a:headEnd type="none" w="med" len="med"/>
                      <a:tailEnd type="none" w="med" len="med"/>
                    </a:lnB>
                    <a:solidFill>
                      <a:srgbClr val="1F3A4D"/>
                    </a:solidFill>
                  </a:tcPr>
                </a:tc>
                <a:extLst>
                  <a:ext uri="{0D108BD9-81ED-4DB2-BD59-A6C34878D82A}">
                    <a16:rowId xmlns:a16="http://schemas.microsoft.com/office/drawing/2014/main" val="10003"/>
                  </a:ext>
                </a:extLst>
              </a:tr>
              <a:tr h="442901">
                <a:tc>
                  <a:txBody>
                    <a:bodyPr/>
                    <a:lstStyle/>
                    <a:p>
                      <a:pPr marL="0" indent="0" algn="l">
                        <a:buNone/>
                      </a:pPr>
                      <a:r>
                        <a:rPr lang="en-US" sz="1600" dirty="0">
                          <a:solidFill>
                            <a:srgbClr val="FFFFFF"/>
                          </a:solidFill>
                          <a:latin typeface="Carlito" pitchFamily="34" charset="0"/>
                          <a:ea typeface="Carlito" pitchFamily="34" charset="-122"/>
                          <a:cs typeface="Carlito" pitchFamily="34" charset="0"/>
                        </a:rPr>
                        <a:t>Renal blood flow</a:t>
                      </a:r>
                      <a:endParaRPr lang="en-US" sz="1600" dirty="0">
                        <a:latin typeface="Carlito" charset="0"/>
                        <a:ea typeface="Carlito" charset="0"/>
                        <a:cs typeface="Carlito" charset="0"/>
                      </a:endParaRPr>
                    </a:p>
                  </a:txBody>
                  <a:tcPr marL="152396" marR="152396" marT="81278" marB="81278" anchor="ctr">
                    <a:lnL w="12700" cap="flat" cmpd="sng" algn="ctr">
                      <a:solidFill>
                        <a:srgbClr val="1F3A4D"/>
                      </a:solidFill>
                      <a:prstDash val="solid"/>
                      <a:round/>
                      <a:headEnd type="none" w="med" len="med"/>
                      <a:tailEnd type="none" w="med" len="med"/>
                    </a:lnL>
                    <a:lnR w="12700" cap="flat" cmpd="sng" algn="ctr">
                      <a:solidFill>
                        <a:srgbClr val="1F3A4D"/>
                      </a:solidFill>
                      <a:prstDash val="solid"/>
                      <a:round/>
                      <a:headEnd type="none" w="med" len="med"/>
                      <a:tailEnd type="none" w="med" len="med"/>
                    </a:lnR>
                    <a:lnT w="12700" cap="flat" cmpd="sng" algn="ctr">
                      <a:solidFill>
                        <a:srgbClr val="1F3A4D"/>
                      </a:solidFill>
                      <a:prstDash val="solid"/>
                      <a:round/>
                      <a:headEnd type="none" w="med" len="med"/>
                      <a:tailEnd type="none" w="med" len="med"/>
                    </a:lnT>
                    <a:lnB w="12700" cap="flat" cmpd="sng" algn="ctr">
                      <a:solidFill>
                        <a:srgbClr val="1F3A4D"/>
                      </a:solidFill>
                      <a:prstDash val="solid"/>
                      <a:round/>
                      <a:headEnd type="none" w="med" len="med"/>
                      <a:tailEnd type="none" w="med" len="med"/>
                    </a:lnB>
                    <a:solidFill>
                      <a:srgbClr val="1F3A4D"/>
                    </a:solidFill>
                  </a:tcPr>
                </a:tc>
                <a:extLst>
                  <a:ext uri="{0D108BD9-81ED-4DB2-BD59-A6C34878D82A}">
                    <a16:rowId xmlns:a16="http://schemas.microsoft.com/office/drawing/2014/main" val="10004"/>
                  </a:ext>
                </a:extLst>
              </a:tr>
            </a:tbl>
          </a:graphicData>
        </a:graphic>
      </p:graphicFrame>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3794526" y="2298005"/>
          <a:ext cx="3032644" cy="2634984"/>
        </p:xfrm>
        <a:graphic>
          <a:graphicData uri="http://schemas.openxmlformats.org/drawingml/2006/table">
            <a:tbl>
              <a:tblPr/>
              <a:tblGrid>
                <a:gridCol w="3032644">
                  <a:extLst>
                    <a:ext uri="{9D8B030D-6E8A-4147-A177-3AD203B41FA5}">
                      <a16:colId xmlns:a16="http://schemas.microsoft.com/office/drawing/2014/main" val="20000"/>
                    </a:ext>
                  </a:extLst>
                </a:gridCol>
              </a:tblGrid>
              <a:tr h="512948">
                <a:tc>
                  <a:txBody>
                    <a:bodyPr/>
                    <a:lstStyle/>
                    <a:p>
                      <a:pPr marL="0" indent="0" algn="l">
                        <a:buNone/>
                      </a:pPr>
                      <a:r>
                        <a:rPr lang="en-US" sz="2000" dirty="0">
                          <a:solidFill>
                            <a:srgbClr val="FFFFFF"/>
                          </a:solidFill>
                          <a:latin typeface="Carlito" pitchFamily="34" charset="0"/>
                          <a:ea typeface="Carlito" pitchFamily="34" charset="-122"/>
                          <a:cs typeface="Carlito" pitchFamily="34" charset="0"/>
                        </a:rPr>
                        <a:t>↓</a:t>
                      </a:r>
                      <a:endParaRPr lang="en-US" sz="2000" dirty="0">
                        <a:latin typeface="Carlito" charset="0"/>
                        <a:ea typeface="Carlito" charset="0"/>
                        <a:cs typeface="Carlito" charset="0"/>
                      </a:endParaRPr>
                    </a:p>
                  </a:txBody>
                  <a:tcPr marL="152396" marR="152396" marT="81278" marB="81278" anchor="ctr">
                    <a:lnL w="12700" cap="flat" cmpd="sng" algn="ctr">
                      <a:solidFill>
                        <a:srgbClr val="2563A8"/>
                      </a:solidFill>
                      <a:prstDash val="solid"/>
                      <a:round/>
                      <a:headEnd type="none" w="med" len="med"/>
                      <a:tailEnd type="none" w="med" len="med"/>
                    </a:lnL>
                    <a:lnR w="12700" cap="flat" cmpd="sng" algn="ctr">
                      <a:solidFill>
                        <a:srgbClr val="2563A8"/>
                      </a:solidFill>
                      <a:prstDash val="solid"/>
                      <a:round/>
                      <a:headEnd type="none" w="med" len="med"/>
                      <a:tailEnd type="none" w="med" len="med"/>
                    </a:lnR>
                    <a:lnT w="12700" cap="flat" cmpd="sng" algn="ctr">
                      <a:solidFill>
                        <a:srgbClr val="2563A8"/>
                      </a:solidFill>
                      <a:prstDash val="solid"/>
                      <a:round/>
                      <a:headEnd type="none" w="med" len="med"/>
                      <a:tailEnd type="none" w="med" len="med"/>
                    </a:lnT>
                    <a:lnB w="12700" cap="flat" cmpd="sng" algn="ctr">
                      <a:solidFill>
                        <a:srgbClr val="2563A8"/>
                      </a:solidFill>
                      <a:prstDash val="solid"/>
                      <a:round/>
                      <a:headEnd type="none" w="med" len="med"/>
                      <a:tailEnd type="none" w="med" len="med"/>
                    </a:lnB>
                    <a:solidFill>
                      <a:srgbClr val="2563A8"/>
                    </a:solidFill>
                  </a:tcPr>
                </a:tc>
                <a:extLst>
                  <a:ext uri="{0D108BD9-81ED-4DB2-BD59-A6C34878D82A}">
                    <a16:rowId xmlns:a16="http://schemas.microsoft.com/office/drawing/2014/main" val="10000"/>
                  </a:ext>
                </a:extLst>
              </a:tr>
              <a:tr h="793333">
                <a:tc>
                  <a:txBody>
                    <a:bodyPr/>
                    <a:lstStyle/>
                    <a:p>
                      <a:pPr marL="0" indent="0" algn="l">
                        <a:buNone/>
                      </a:pPr>
                      <a:r>
                        <a:rPr lang="en-US" sz="1800" b="1" dirty="0">
                          <a:solidFill>
                            <a:srgbClr val="FFFFFF"/>
                          </a:solidFill>
                          <a:latin typeface="Carlito" pitchFamily="34" charset="0"/>
                          <a:ea typeface="Carlito" pitchFamily="34" charset="-122"/>
                          <a:cs typeface="Carlito" pitchFamily="34" charset="0"/>
                        </a:rPr>
                        <a:t>COX-2 (inducible, at inflamed tissue)</a:t>
                      </a:r>
                      <a:endParaRPr lang="en-US" sz="1800" dirty="0">
                        <a:latin typeface="Carlito" charset="0"/>
                        <a:ea typeface="Carlito" charset="0"/>
                        <a:cs typeface="Carlito" charset="0"/>
                      </a:endParaRPr>
                    </a:p>
                  </a:txBody>
                  <a:tcPr marL="152396" marR="152396" marT="81278" marB="81278" anchor="ctr">
                    <a:lnL w="12700" cap="flat" cmpd="sng" algn="ctr">
                      <a:solidFill>
                        <a:srgbClr val="2563A8"/>
                      </a:solidFill>
                      <a:prstDash val="solid"/>
                      <a:round/>
                      <a:headEnd type="none" w="med" len="med"/>
                      <a:tailEnd type="none" w="med" len="med"/>
                    </a:lnL>
                    <a:lnR w="12700" cap="flat" cmpd="sng" algn="ctr">
                      <a:solidFill>
                        <a:srgbClr val="2563A8"/>
                      </a:solidFill>
                      <a:prstDash val="solid"/>
                      <a:round/>
                      <a:headEnd type="none" w="med" len="med"/>
                      <a:tailEnd type="none" w="med" len="med"/>
                    </a:lnR>
                    <a:lnT w="12700" cap="flat" cmpd="sng" algn="ctr">
                      <a:solidFill>
                        <a:srgbClr val="2563A8"/>
                      </a:solidFill>
                      <a:prstDash val="solid"/>
                      <a:round/>
                      <a:headEnd type="none" w="med" len="med"/>
                      <a:tailEnd type="none" w="med" len="med"/>
                    </a:lnT>
                    <a:lnB w="12700" cap="flat" cmpd="sng" algn="ctr">
                      <a:solidFill>
                        <a:srgbClr val="2563A8"/>
                      </a:solidFill>
                      <a:prstDash val="solid"/>
                      <a:round/>
                      <a:headEnd type="none" w="med" len="med"/>
                      <a:tailEnd type="none" w="med" len="med"/>
                    </a:lnB>
                    <a:solidFill>
                      <a:srgbClr val="2563A8"/>
                    </a:solidFill>
                  </a:tcPr>
                </a:tc>
                <a:extLst>
                  <a:ext uri="{0D108BD9-81ED-4DB2-BD59-A6C34878D82A}">
                    <a16:rowId xmlns:a16="http://schemas.microsoft.com/office/drawing/2014/main" val="10001"/>
                  </a:ext>
                </a:extLst>
              </a:tr>
              <a:tr h="442901">
                <a:tc>
                  <a:txBody>
                    <a:bodyPr/>
                    <a:lstStyle/>
                    <a:p>
                      <a:pPr marL="0" indent="0" algn="l">
                        <a:buNone/>
                      </a:pPr>
                      <a:r>
                        <a:rPr lang="en-US" sz="1600" dirty="0">
                          <a:solidFill>
                            <a:srgbClr val="FFFFFF"/>
                          </a:solidFill>
                          <a:latin typeface="Carlito" pitchFamily="34" charset="0"/>
                          <a:ea typeface="Carlito" pitchFamily="34" charset="-122"/>
                          <a:cs typeface="Carlito" pitchFamily="34" charset="0"/>
                        </a:rPr>
                        <a:t>Inflammation</a:t>
                      </a:r>
                      <a:endParaRPr lang="en-US" sz="1600" dirty="0">
                        <a:latin typeface="Carlito" charset="0"/>
                        <a:ea typeface="Carlito" charset="0"/>
                        <a:cs typeface="Carlito" charset="0"/>
                      </a:endParaRPr>
                    </a:p>
                  </a:txBody>
                  <a:tcPr marL="152396" marR="152396" marT="81278" marB="81278" anchor="ctr">
                    <a:lnL w="12700" cap="flat" cmpd="sng" algn="ctr">
                      <a:solidFill>
                        <a:srgbClr val="2563A8"/>
                      </a:solidFill>
                      <a:prstDash val="solid"/>
                      <a:round/>
                      <a:headEnd type="none" w="med" len="med"/>
                      <a:tailEnd type="none" w="med" len="med"/>
                    </a:lnL>
                    <a:lnR w="12700" cap="flat" cmpd="sng" algn="ctr">
                      <a:solidFill>
                        <a:srgbClr val="2563A8"/>
                      </a:solidFill>
                      <a:prstDash val="solid"/>
                      <a:round/>
                      <a:headEnd type="none" w="med" len="med"/>
                      <a:tailEnd type="none" w="med" len="med"/>
                    </a:lnR>
                    <a:lnT w="12700" cap="flat" cmpd="sng" algn="ctr">
                      <a:solidFill>
                        <a:srgbClr val="2563A8"/>
                      </a:solidFill>
                      <a:prstDash val="solid"/>
                      <a:round/>
                      <a:headEnd type="none" w="med" len="med"/>
                      <a:tailEnd type="none" w="med" len="med"/>
                    </a:lnT>
                    <a:lnB w="12700" cap="flat" cmpd="sng" algn="ctr">
                      <a:solidFill>
                        <a:srgbClr val="2563A8"/>
                      </a:solidFill>
                      <a:prstDash val="solid"/>
                      <a:round/>
                      <a:headEnd type="none" w="med" len="med"/>
                      <a:tailEnd type="none" w="med" len="med"/>
                    </a:lnB>
                    <a:solidFill>
                      <a:srgbClr val="2563A8"/>
                    </a:solidFill>
                  </a:tcPr>
                </a:tc>
                <a:extLst>
                  <a:ext uri="{0D108BD9-81ED-4DB2-BD59-A6C34878D82A}">
                    <a16:rowId xmlns:a16="http://schemas.microsoft.com/office/drawing/2014/main" val="10002"/>
                  </a:ext>
                </a:extLst>
              </a:tr>
              <a:tr h="442901">
                <a:tc>
                  <a:txBody>
                    <a:bodyPr/>
                    <a:lstStyle/>
                    <a:p>
                      <a:pPr marL="0" indent="0" algn="l">
                        <a:buNone/>
                      </a:pPr>
                      <a:r>
                        <a:rPr lang="en-US" sz="1600" dirty="0">
                          <a:solidFill>
                            <a:srgbClr val="FFFFFF"/>
                          </a:solidFill>
                          <a:latin typeface="Carlito" pitchFamily="34" charset="0"/>
                          <a:ea typeface="Carlito" pitchFamily="34" charset="-122"/>
                          <a:cs typeface="Carlito" pitchFamily="34" charset="0"/>
                        </a:rPr>
                        <a:t>Pain</a:t>
                      </a:r>
                      <a:endParaRPr lang="en-US" sz="1600" dirty="0">
                        <a:latin typeface="Carlito" charset="0"/>
                        <a:ea typeface="Carlito" charset="0"/>
                        <a:cs typeface="Carlito" charset="0"/>
                      </a:endParaRPr>
                    </a:p>
                  </a:txBody>
                  <a:tcPr marL="152396" marR="152396" marT="81278" marB="81278" anchor="ctr">
                    <a:lnL w="12700" cap="flat" cmpd="sng" algn="ctr">
                      <a:solidFill>
                        <a:srgbClr val="2563A8"/>
                      </a:solidFill>
                      <a:prstDash val="solid"/>
                      <a:round/>
                      <a:headEnd type="none" w="med" len="med"/>
                      <a:tailEnd type="none" w="med" len="med"/>
                    </a:lnL>
                    <a:lnR w="12700" cap="flat" cmpd="sng" algn="ctr">
                      <a:solidFill>
                        <a:srgbClr val="2563A8"/>
                      </a:solidFill>
                      <a:prstDash val="solid"/>
                      <a:round/>
                      <a:headEnd type="none" w="med" len="med"/>
                      <a:tailEnd type="none" w="med" len="med"/>
                    </a:lnR>
                    <a:lnT w="12700" cap="flat" cmpd="sng" algn="ctr">
                      <a:solidFill>
                        <a:srgbClr val="2563A8"/>
                      </a:solidFill>
                      <a:prstDash val="solid"/>
                      <a:round/>
                      <a:headEnd type="none" w="med" len="med"/>
                      <a:tailEnd type="none" w="med" len="med"/>
                    </a:lnT>
                    <a:lnB w="12700" cap="flat" cmpd="sng" algn="ctr">
                      <a:solidFill>
                        <a:srgbClr val="2563A8"/>
                      </a:solidFill>
                      <a:prstDash val="solid"/>
                      <a:round/>
                      <a:headEnd type="none" w="med" len="med"/>
                      <a:tailEnd type="none" w="med" len="med"/>
                    </a:lnB>
                    <a:solidFill>
                      <a:srgbClr val="2563A8"/>
                    </a:solidFill>
                  </a:tcPr>
                </a:tc>
                <a:extLst>
                  <a:ext uri="{0D108BD9-81ED-4DB2-BD59-A6C34878D82A}">
                    <a16:rowId xmlns:a16="http://schemas.microsoft.com/office/drawing/2014/main" val="10003"/>
                  </a:ext>
                </a:extLst>
              </a:tr>
              <a:tr h="442901">
                <a:tc>
                  <a:txBody>
                    <a:bodyPr/>
                    <a:lstStyle/>
                    <a:p>
                      <a:pPr marL="0" indent="0" algn="l">
                        <a:buNone/>
                      </a:pPr>
                      <a:r>
                        <a:rPr lang="en-US" sz="1600" dirty="0">
                          <a:solidFill>
                            <a:srgbClr val="FFFFFF"/>
                          </a:solidFill>
                          <a:latin typeface="Carlito" pitchFamily="34" charset="0"/>
                          <a:ea typeface="Carlito" pitchFamily="34" charset="-122"/>
                          <a:cs typeface="Carlito" pitchFamily="34" charset="0"/>
                        </a:rPr>
                        <a:t>Fever</a:t>
                      </a:r>
                      <a:endParaRPr lang="en-US" sz="1600" dirty="0">
                        <a:latin typeface="Carlito" charset="0"/>
                        <a:ea typeface="Carlito" charset="0"/>
                        <a:cs typeface="Carlito" charset="0"/>
                      </a:endParaRPr>
                    </a:p>
                  </a:txBody>
                  <a:tcPr marL="152396" marR="152396" marT="81278" marB="81278" anchor="ctr">
                    <a:lnL w="12700" cap="flat" cmpd="sng" algn="ctr">
                      <a:solidFill>
                        <a:srgbClr val="2563A8"/>
                      </a:solidFill>
                      <a:prstDash val="solid"/>
                      <a:round/>
                      <a:headEnd type="none" w="med" len="med"/>
                      <a:tailEnd type="none" w="med" len="med"/>
                    </a:lnL>
                    <a:lnR w="12700" cap="flat" cmpd="sng" algn="ctr">
                      <a:solidFill>
                        <a:srgbClr val="2563A8"/>
                      </a:solidFill>
                      <a:prstDash val="solid"/>
                      <a:round/>
                      <a:headEnd type="none" w="med" len="med"/>
                      <a:tailEnd type="none" w="med" len="med"/>
                    </a:lnR>
                    <a:lnT w="12700" cap="flat" cmpd="sng" algn="ctr">
                      <a:solidFill>
                        <a:srgbClr val="2563A8"/>
                      </a:solidFill>
                      <a:prstDash val="solid"/>
                      <a:round/>
                      <a:headEnd type="none" w="med" len="med"/>
                      <a:tailEnd type="none" w="med" len="med"/>
                    </a:lnT>
                    <a:lnB w="12700" cap="flat" cmpd="sng" algn="ctr">
                      <a:solidFill>
                        <a:srgbClr val="2563A8"/>
                      </a:solidFill>
                      <a:prstDash val="solid"/>
                      <a:round/>
                      <a:headEnd type="none" w="med" len="med"/>
                      <a:tailEnd type="none" w="med" len="med"/>
                    </a:lnB>
                    <a:solidFill>
                      <a:srgbClr val="2563A8"/>
                    </a:solidFill>
                  </a:tcPr>
                </a:tc>
                <a:extLst>
                  <a:ext uri="{0D108BD9-81ED-4DB2-BD59-A6C34878D82A}">
                    <a16:rowId xmlns:a16="http://schemas.microsoft.com/office/drawing/2014/main" val="10004"/>
                  </a:ext>
                </a:extLst>
              </a:tr>
            </a:tbl>
          </a:graphicData>
        </a:graphic>
      </p:graphicFrame>
      <p:sp>
        <p:nvSpPr>
          <p:cNvPr id="8" name="Shape 4"/>
          <p:cNvSpPr/>
          <p:nvPr/>
        </p:nvSpPr>
        <p:spPr>
          <a:xfrm>
            <a:off x="609585" y="5058767"/>
            <a:ext cx="6217685" cy="884833"/>
          </a:xfrm>
          <a:prstGeom prst="rect">
            <a:avLst/>
          </a:prstGeom>
          <a:solidFill>
            <a:srgbClr val="C8323C"/>
          </a:solidFill>
          <a:ln/>
        </p:spPr>
        <p:txBody>
          <a:bodyPr/>
          <a:lstStyle/>
          <a:p>
            <a:endParaRPr lang="en-US"/>
          </a:p>
        </p:txBody>
      </p:sp>
      <p:sp>
        <p:nvSpPr>
          <p:cNvPr id="9" name="Text 5"/>
          <p:cNvSpPr/>
          <p:nvPr/>
        </p:nvSpPr>
        <p:spPr>
          <a:xfrm>
            <a:off x="812780" y="5187863"/>
            <a:ext cx="5811295" cy="630833"/>
          </a:xfrm>
          <a:prstGeom prst="rect">
            <a:avLst/>
          </a:prstGeom>
          <a:noFill/>
          <a:ln/>
        </p:spPr>
        <p:txBody>
          <a:bodyPr wrap="square" lIns="0" tIns="0" rIns="0" bIns="0" rtlCol="0" anchor="t">
            <a:normAutofit/>
          </a:bodyPr>
          <a:lstStyle/>
          <a:p>
            <a:pPr marL="0" indent="0" algn="l">
              <a:lnSpc>
                <a:spcPct val="115000"/>
              </a:lnSpc>
              <a:buNone/>
            </a:pPr>
            <a:r>
              <a:rPr lang="en-US" sz="1800" b="1" dirty="0">
                <a:solidFill>
                  <a:srgbClr val="FFFFFF"/>
                </a:solidFill>
                <a:latin typeface="Carlito Bold" pitchFamily="34" charset="0"/>
                <a:ea typeface="Carlito Bold" pitchFamily="34" charset="-122"/>
                <a:cs typeface="Carlito Bold" pitchFamily="34" charset="0"/>
              </a:rPr>
              <a:t>Nonselective NSAIDs block both COX-1 and COX-2 → GI and renal risk</a:t>
            </a:r>
            <a:endParaRPr lang="en-US" sz="1800" dirty="0"/>
          </a:p>
        </p:txBody>
      </p:sp>
      <p:sp>
        <p:nvSpPr>
          <p:cNvPr id="10" name="Text 6"/>
          <p:cNvSpPr/>
          <p:nvPr/>
        </p:nvSpPr>
        <p:spPr>
          <a:xfrm>
            <a:off x="6827270" y="1602879"/>
            <a:ext cx="4754840" cy="1888034"/>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COX-1:</a:t>
            </a:r>
            <a:r>
              <a:rPr lang="en-US" sz="1600" dirty="0">
                <a:solidFill>
                  <a:srgbClr val="1A1A1A"/>
                </a:solidFill>
                <a:latin typeface="Carlito" pitchFamily="34" charset="0"/>
                <a:ea typeface="Carlito" pitchFamily="34" charset="-122"/>
                <a:cs typeface="Carlito" pitchFamily="34" charset="0"/>
              </a:rPr>
              <a:t> constitutive; gastric mucosa, platelets, kidney.</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COX-2:</a:t>
            </a:r>
            <a:r>
              <a:rPr lang="en-US" sz="1600" dirty="0">
                <a:solidFill>
                  <a:srgbClr val="1A1A1A"/>
                </a:solidFill>
                <a:latin typeface="Carlito" pitchFamily="34" charset="0"/>
                <a:ea typeface="Carlito" pitchFamily="34" charset="-122"/>
                <a:cs typeface="Carlito" pitchFamily="34" charset="0"/>
              </a:rPr>
              <a:t> inducible in inflamed tissue; pain, swelling, fever.</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Nonselective NSAIDs</a:t>
            </a:r>
            <a:r>
              <a:rPr lang="en-US" sz="1600" dirty="0">
                <a:solidFill>
                  <a:srgbClr val="1A1A1A"/>
                </a:solidFill>
                <a:latin typeface="Carlito" pitchFamily="34" charset="0"/>
                <a:ea typeface="Carlito" pitchFamily="34" charset="-122"/>
                <a:cs typeface="Carlito" pitchFamily="34" charset="0"/>
              </a:rPr>
              <a:t> block both, so GI injury is common.</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Celecoxib</a:t>
            </a:r>
            <a:r>
              <a:rPr lang="en-US" sz="1600" dirty="0">
                <a:solidFill>
                  <a:srgbClr val="1A1A1A"/>
                </a:solidFill>
                <a:latin typeface="Carlito" pitchFamily="34" charset="0"/>
                <a:ea typeface="Carlito" pitchFamily="34" charset="-122"/>
                <a:cs typeface="Carlito" pitchFamily="34" charset="0"/>
              </a:rPr>
              <a:t> spares COX-1 at therapeutic doses.</a:t>
            </a:r>
            <a:endParaRPr lang="en-US" sz="1600" dirty="0"/>
          </a:p>
        </p:txBody>
      </p:sp>
      <p:sp>
        <p:nvSpPr>
          <p:cNvPr id="11" name="Text 7"/>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12" name="Text 8"/>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AGENTS</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Nonselective NSAIDs</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2468265"/>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Nonselective NSAIDs inhibit both COX-1 and COX-2.</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Ibuprofen — common first-line choice for mild-moderate pain</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Naproxen — longer half-life, twice-daily dosing</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Diclofenac — available in oral and topical formulations</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Indomethacin — more potent, more GI/CNS adverse effects</a:t>
            </a:r>
            <a:endParaRPr lang="en-US" sz="1600" dirty="0"/>
          </a:p>
          <a:p>
            <a:pPr marL="229616" indent="-229616" algn="l">
              <a:lnSpc>
                <a:spcPct val="100000"/>
              </a:lnSpc>
              <a:buSzPct val="100000"/>
              <a:buChar char="●"/>
            </a:pPr>
            <a:r>
              <a:rPr lang="en-US" sz="1600" dirty="0">
                <a:solidFill>
                  <a:srgbClr val="D1495B"/>
                </a:solidFill>
                <a:latin typeface="Carlito" pitchFamily="34" charset="0"/>
                <a:ea typeface="Carlito" pitchFamily="34" charset="-122"/>
                <a:cs typeface="Carlito" pitchFamily="34" charset="0"/>
              </a:rPr>
              <a:t>Ketorolac — short-term use only, significant GI/renal risk</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SELECTIVE AGENT</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COX-2 Selective Inhibition: Celecoxib</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1578471"/>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Celecoxib selectively inhibits COX-2 over COX-1.</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GI effects: lower risk of ulcer/bleeding than nonselective NSAIDs.</a:t>
            </a:r>
            <a:endParaRPr lang="en-US" sz="1600" dirty="0"/>
          </a:p>
          <a:p>
            <a:pPr marL="229616" indent="-229616" algn="l">
              <a:lnSpc>
                <a:spcPct val="100000"/>
              </a:lnSpc>
              <a:buSzPct val="100000"/>
              <a:buChar char="●"/>
            </a:pPr>
            <a:r>
              <a:rPr lang="en-US" sz="1600" dirty="0">
                <a:solidFill>
                  <a:srgbClr val="D1495B"/>
                </a:solidFill>
                <a:latin typeface="Carlito" pitchFamily="34" charset="0"/>
                <a:ea typeface="Carlito" pitchFamily="34" charset="-122"/>
                <a:cs typeface="Carlito" pitchFamily="34" charset="0"/>
              </a:rPr>
              <a:t>Cardiovascular risk: COX-2 selectivity is associated with increased cardiovascular event risk — a key trade-off.</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Renal effects: similar renal risk to nonselective NSAIDs — COX-2 selectivity does not protect the kidney.</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60866"/>
            <a:ext cx="10972526" cy="422176"/>
          </a:xfrm>
          <a:prstGeom prst="rect">
            <a:avLst/>
          </a:prstGeom>
          <a:noFill/>
          <a:ln/>
        </p:spPr>
        <p:txBody>
          <a:bodyPr wrap="none" lIns="0" tIns="0" rIns="0" bIns="0" rtlCol="0" anchor="t"/>
          <a:lstStyle/>
          <a:p>
            <a:pPr marL="0" indent="0" algn="l">
              <a:lnSpc>
                <a:spcPct val="100000"/>
              </a:lnSpc>
              <a:buNone/>
            </a:pPr>
            <a:r>
              <a:rPr lang="en-US" sz="2750" b="1" dirty="0">
                <a:solidFill>
                  <a:srgbClr val="123C44"/>
                </a:solidFill>
                <a:latin typeface="Caladea Bold" pitchFamily="34" charset="0"/>
                <a:ea typeface="Caladea Bold" pitchFamily="34" charset="-122"/>
                <a:cs typeface="Caladea Bold" pitchFamily="34" charset="0"/>
              </a:rPr>
              <a:t>Celecoxib: Sparing COX-1 While Blocking COX-2</a:t>
            </a:r>
            <a:endParaRPr lang="en-US" sz="2750" dirty="0"/>
          </a:p>
        </p:txBody>
      </p:sp>
      <p:sp>
        <p:nvSpPr>
          <p:cNvPr id="4" name="Shape 2"/>
          <p:cNvSpPr/>
          <p:nvPr/>
        </p:nvSpPr>
        <p:spPr>
          <a:xfrm>
            <a:off x="609585" y="1602879"/>
            <a:ext cx="6217685" cy="690860"/>
          </a:xfrm>
          <a:prstGeom prst="rect">
            <a:avLst/>
          </a:prstGeom>
          <a:solidFill>
            <a:srgbClr val="117A76"/>
          </a:solidFill>
          <a:ln/>
        </p:spPr>
        <p:txBody>
          <a:bodyPr/>
          <a:lstStyle/>
          <a:p>
            <a:endParaRPr lang="en-US"/>
          </a:p>
        </p:txBody>
      </p:sp>
      <p:sp>
        <p:nvSpPr>
          <p:cNvPr id="5" name="Text 3"/>
          <p:cNvSpPr/>
          <p:nvPr/>
        </p:nvSpPr>
        <p:spPr>
          <a:xfrm>
            <a:off x="863578" y="1787346"/>
            <a:ext cx="5709698" cy="335260"/>
          </a:xfrm>
          <a:prstGeom prst="rect">
            <a:avLst/>
          </a:prstGeom>
          <a:noFill/>
          <a:ln/>
        </p:spPr>
        <p:txBody>
          <a:bodyPr wrap="none" lIns="0" tIns="0" rIns="0" bIns="0" rtlCol="0" anchor="t"/>
          <a:lstStyle/>
          <a:p>
            <a:pPr marL="0" indent="0" algn="l">
              <a:lnSpc>
                <a:spcPct val="100000"/>
              </a:lnSpc>
              <a:buNone/>
            </a:pPr>
            <a:r>
              <a:rPr lang="en-US" sz="2200" b="1" dirty="0">
                <a:solidFill>
                  <a:srgbClr val="FFFFFF"/>
                </a:solidFill>
                <a:latin typeface="Caladea Bold" pitchFamily="34" charset="0"/>
                <a:ea typeface="Caladea Bold" pitchFamily="34" charset="-122"/>
                <a:cs typeface="Caladea Bold" pitchFamily="34" charset="0"/>
              </a:rPr>
              <a:t>Arachidonic acid</a:t>
            </a:r>
            <a:endParaRPr lang="en-US" sz="2200" dirty="0"/>
          </a:p>
        </p:txBody>
      </p:sp>
      <p:sp>
        <p:nvSpPr>
          <p:cNvPr id="6" name="Shape 4"/>
          <p:cNvSpPr/>
          <p:nvPr/>
        </p:nvSpPr>
        <p:spPr>
          <a:xfrm>
            <a:off x="609585" y="2446139"/>
            <a:ext cx="3032545" cy="1828602"/>
          </a:xfrm>
          <a:prstGeom prst="rect">
            <a:avLst/>
          </a:prstGeom>
          <a:solidFill>
            <a:srgbClr val="2E7D4F"/>
          </a:solidFill>
          <a:ln/>
        </p:spPr>
        <p:txBody>
          <a:bodyPr/>
          <a:lstStyle/>
          <a:p>
            <a:endParaRPr lang="en-US"/>
          </a:p>
        </p:txBody>
      </p:sp>
      <p:sp>
        <p:nvSpPr>
          <p:cNvPr id="7" name="Text 5"/>
          <p:cNvSpPr/>
          <p:nvPr/>
        </p:nvSpPr>
        <p:spPr>
          <a:xfrm>
            <a:off x="812780" y="2987477"/>
            <a:ext cx="2626155" cy="304800"/>
          </a:xfrm>
          <a:prstGeom prst="rect">
            <a:avLst/>
          </a:prstGeom>
          <a:noFill/>
          <a:ln/>
        </p:spPr>
        <p:txBody>
          <a:bodyPr wrap="none" lIns="0" tIns="0" rIns="0" bIns="0" rtlCol="0" anchor="t"/>
          <a:lstStyle/>
          <a:p>
            <a:pPr marL="0" indent="0" algn="l">
              <a:lnSpc>
                <a:spcPct val="100000"/>
              </a:lnSpc>
              <a:buNone/>
            </a:pPr>
            <a:r>
              <a:rPr lang="en-US" sz="2000" b="1" dirty="0">
                <a:solidFill>
                  <a:srgbClr val="FFFFFF"/>
                </a:solidFill>
                <a:latin typeface="Caladea Bold" pitchFamily="34" charset="0"/>
                <a:ea typeface="Caladea Bold" pitchFamily="34" charset="-122"/>
                <a:cs typeface="Caladea Bold" pitchFamily="34" charset="0"/>
              </a:rPr>
              <a:t>COX-1</a:t>
            </a:r>
            <a:endParaRPr lang="en-US" sz="2000" dirty="0"/>
          </a:p>
        </p:txBody>
      </p:sp>
      <p:sp>
        <p:nvSpPr>
          <p:cNvPr id="8" name="Text 6"/>
          <p:cNvSpPr/>
          <p:nvPr/>
        </p:nvSpPr>
        <p:spPr>
          <a:xfrm>
            <a:off x="812780" y="3420082"/>
            <a:ext cx="2829350" cy="315416"/>
          </a:xfrm>
          <a:prstGeom prst="rect">
            <a:avLst/>
          </a:prstGeom>
          <a:noFill/>
          <a:ln/>
        </p:spPr>
        <p:txBody>
          <a:bodyPr wrap="none" lIns="0" tIns="0" rIns="0" bIns="0" rtlCol="0" anchor="t"/>
          <a:lstStyle/>
          <a:p>
            <a:pPr marL="0" indent="0" algn="l">
              <a:lnSpc>
                <a:spcPct val="115000"/>
              </a:lnSpc>
              <a:buNone/>
            </a:pPr>
            <a:r>
              <a:rPr lang="en-US" sz="1800" dirty="0">
                <a:solidFill>
                  <a:srgbClr val="FFFFFF"/>
                </a:solidFill>
                <a:latin typeface="Carlito" pitchFamily="34" charset="0"/>
                <a:ea typeface="Carlito" pitchFamily="34" charset="-122"/>
                <a:cs typeface="Carlito" pitchFamily="34" charset="0"/>
              </a:rPr>
              <a:t>Spared by celecoxib</a:t>
            </a:r>
            <a:endParaRPr lang="en-US" sz="1800" dirty="0"/>
          </a:p>
        </p:txBody>
      </p:sp>
      <p:sp>
        <p:nvSpPr>
          <p:cNvPr id="9" name="Shape 7"/>
          <p:cNvSpPr/>
          <p:nvPr/>
        </p:nvSpPr>
        <p:spPr>
          <a:xfrm>
            <a:off x="609585" y="4427141"/>
            <a:ext cx="3032545" cy="1713607"/>
          </a:xfrm>
          <a:prstGeom prst="rect">
            <a:avLst/>
          </a:prstGeom>
          <a:solidFill>
            <a:srgbClr val="2E7D4F"/>
          </a:solidFill>
          <a:ln/>
        </p:spPr>
        <p:txBody>
          <a:bodyPr/>
          <a:lstStyle/>
          <a:p>
            <a:endParaRPr lang="en-US"/>
          </a:p>
        </p:txBody>
      </p:sp>
      <p:sp>
        <p:nvSpPr>
          <p:cNvPr id="10" name="Text 8"/>
          <p:cNvSpPr/>
          <p:nvPr/>
        </p:nvSpPr>
        <p:spPr>
          <a:xfrm>
            <a:off x="812780" y="4970574"/>
            <a:ext cx="2626155" cy="630833"/>
          </a:xfrm>
          <a:prstGeom prst="rect">
            <a:avLst/>
          </a:prstGeom>
          <a:noFill/>
          <a:ln/>
        </p:spPr>
        <p:txBody>
          <a:bodyPr wrap="square" lIns="0" tIns="0" rIns="0" bIns="0" rtlCol="0" anchor="t">
            <a:normAutofit/>
          </a:bodyPr>
          <a:lstStyle/>
          <a:p>
            <a:pPr marL="0" indent="0" algn="l">
              <a:lnSpc>
                <a:spcPct val="115000"/>
              </a:lnSpc>
              <a:buNone/>
            </a:pPr>
            <a:r>
              <a:rPr lang="en-US" sz="1800" dirty="0">
                <a:solidFill>
                  <a:srgbClr val="FFFFFF"/>
                </a:solidFill>
                <a:latin typeface="Carlito" pitchFamily="34" charset="0"/>
                <a:ea typeface="Carlito" pitchFamily="34" charset="-122"/>
                <a:cs typeface="Carlito" pitchFamily="34" charset="0"/>
              </a:rPr>
              <a:t>↓ Stomach and platelet protection continues</a:t>
            </a:r>
            <a:endParaRPr lang="en-US" sz="1800" dirty="0"/>
          </a:p>
        </p:txBody>
      </p:sp>
      <p:sp>
        <p:nvSpPr>
          <p:cNvPr id="11" name="Shape 9"/>
          <p:cNvSpPr/>
          <p:nvPr/>
        </p:nvSpPr>
        <p:spPr>
          <a:xfrm>
            <a:off x="3794526" y="2446139"/>
            <a:ext cx="3032644" cy="1101527"/>
          </a:xfrm>
          <a:prstGeom prst="rect">
            <a:avLst/>
          </a:prstGeom>
          <a:solidFill>
            <a:srgbClr val="B3261E"/>
          </a:solidFill>
          <a:ln/>
        </p:spPr>
        <p:txBody>
          <a:bodyPr/>
          <a:lstStyle/>
          <a:p>
            <a:endParaRPr lang="en-US"/>
          </a:p>
        </p:txBody>
      </p:sp>
      <p:sp>
        <p:nvSpPr>
          <p:cNvPr id="12" name="Text 10"/>
          <p:cNvSpPr/>
          <p:nvPr/>
        </p:nvSpPr>
        <p:spPr>
          <a:xfrm>
            <a:off x="3997721" y="2623939"/>
            <a:ext cx="2626255" cy="304800"/>
          </a:xfrm>
          <a:prstGeom prst="rect">
            <a:avLst/>
          </a:prstGeom>
          <a:noFill/>
          <a:ln/>
        </p:spPr>
        <p:txBody>
          <a:bodyPr wrap="none" lIns="0" tIns="0" rIns="0" bIns="0" rtlCol="0" anchor="t"/>
          <a:lstStyle/>
          <a:p>
            <a:pPr marL="0" indent="0" algn="l">
              <a:lnSpc>
                <a:spcPct val="100000"/>
              </a:lnSpc>
              <a:buNone/>
            </a:pPr>
            <a:r>
              <a:rPr lang="en-US" sz="2000" b="1" dirty="0">
                <a:solidFill>
                  <a:srgbClr val="FFFFFF"/>
                </a:solidFill>
                <a:latin typeface="Caladea Bold" pitchFamily="34" charset="0"/>
                <a:ea typeface="Caladea Bold" pitchFamily="34" charset="-122"/>
                <a:cs typeface="Caladea Bold" pitchFamily="34" charset="0"/>
              </a:rPr>
              <a:t>COX-2</a:t>
            </a:r>
            <a:endParaRPr lang="en-US" sz="2000" dirty="0"/>
          </a:p>
        </p:txBody>
      </p:sp>
      <p:sp>
        <p:nvSpPr>
          <p:cNvPr id="13" name="Text 11"/>
          <p:cNvSpPr/>
          <p:nvPr/>
        </p:nvSpPr>
        <p:spPr>
          <a:xfrm>
            <a:off x="3997721" y="3056545"/>
            <a:ext cx="2829450" cy="315416"/>
          </a:xfrm>
          <a:prstGeom prst="rect">
            <a:avLst/>
          </a:prstGeom>
          <a:noFill/>
          <a:ln/>
        </p:spPr>
        <p:txBody>
          <a:bodyPr wrap="none" lIns="0" tIns="0" rIns="0" bIns="0" rtlCol="0" anchor="t"/>
          <a:lstStyle/>
          <a:p>
            <a:pPr marL="0" indent="0" algn="l">
              <a:lnSpc>
                <a:spcPct val="115000"/>
              </a:lnSpc>
              <a:buNone/>
            </a:pPr>
            <a:r>
              <a:rPr lang="en-US" sz="1800" dirty="0">
                <a:solidFill>
                  <a:srgbClr val="FFFFFF"/>
                </a:solidFill>
                <a:latin typeface="Carlito" pitchFamily="34" charset="0"/>
                <a:ea typeface="Carlito" pitchFamily="34" charset="-122"/>
                <a:cs typeface="Carlito" pitchFamily="34" charset="0"/>
              </a:rPr>
              <a:t>Blocked by celecoxib</a:t>
            </a:r>
            <a:endParaRPr lang="en-US" sz="1800" dirty="0"/>
          </a:p>
        </p:txBody>
      </p:sp>
      <p:sp>
        <p:nvSpPr>
          <p:cNvPr id="14" name="Shape 12"/>
          <p:cNvSpPr/>
          <p:nvPr/>
        </p:nvSpPr>
        <p:spPr>
          <a:xfrm>
            <a:off x="3794526" y="3700066"/>
            <a:ext cx="3032644" cy="1301849"/>
          </a:xfrm>
          <a:prstGeom prst="rect">
            <a:avLst/>
          </a:prstGeom>
          <a:solidFill>
            <a:srgbClr val="2563A8"/>
          </a:solidFill>
          <a:ln/>
        </p:spPr>
        <p:txBody>
          <a:bodyPr/>
          <a:lstStyle/>
          <a:p>
            <a:endParaRPr lang="en-US"/>
          </a:p>
        </p:txBody>
      </p:sp>
      <p:sp>
        <p:nvSpPr>
          <p:cNvPr id="15" name="Text 13"/>
          <p:cNvSpPr/>
          <p:nvPr/>
        </p:nvSpPr>
        <p:spPr>
          <a:xfrm>
            <a:off x="3997721" y="3879961"/>
            <a:ext cx="2626255" cy="946249"/>
          </a:xfrm>
          <a:prstGeom prst="rect">
            <a:avLst/>
          </a:prstGeom>
          <a:noFill/>
          <a:ln/>
        </p:spPr>
        <p:txBody>
          <a:bodyPr wrap="square" lIns="0" tIns="0" rIns="0" bIns="0" rtlCol="0" anchor="t">
            <a:normAutofit/>
          </a:bodyPr>
          <a:lstStyle/>
          <a:p>
            <a:pPr marL="0" indent="0" algn="l">
              <a:lnSpc>
                <a:spcPct val="115000"/>
              </a:lnSpc>
              <a:buNone/>
            </a:pPr>
            <a:r>
              <a:rPr lang="en-US" sz="1800" dirty="0">
                <a:solidFill>
                  <a:srgbClr val="FFFFFF"/>
                </a:solidFill>
                <a:latin typeface="Carlito" pitchFamily="34" charset="0"/>
                <a:ea typeface="Carlito" pitchFamily="34" charset="-122"/>
                <a:cs typeface="Carlito" pitchFamily="34" charset="0"/>
              </a:rPr>
              <a:t>↓ Fewer inflammatory prostaglandins → less pain and inflammation</a:t>
            </a:r>
            <a:endParaRPr lang="en-US" sz="1800" dirty="0"/>
          </a:p>
        </p:txBody>
      </p:sp>
      <p:sp>
        <p:nvSpPr>
          <p:cNvPr id="16" name="Shape 14"/>
          <p:cNvSpPr/>
          <p:nvPr/>
        </p:nvSpPr>
        <p:spPr>
          <a:xfrm>
            <a:off x="3794526" y="5154315"/>
            <a:ext cx="3032644" cy="986433"/>
          </a:xfrm>
          <a:prstGeom prst="rect">
            <a:avLst/>
          </a:prstGeom>
          <a:solidFill>
            <a:srgbClr val="B3261E"/>
          </a:solidFill>
          <a:ln/>
        </p:spPr>
        <p:txBody>
          <a:bodyPr/>
          <a:lstStyle/>
          <a:p>
            <a:endParaRPr lang="en-US"/>
          </a:p>
        </p:txBody>
      </p:sp>
      <p:sp>
        <p:nvSpPr>
          <p:cNvPr id="17" name="Text 15"/>
          <p:cNvSpPr/>
          <p:nvPr/>
        </p:nvSpPr>
        <p:spPr>
          <a:xfrm>
            <a:off x="3997721" y="5334210"/>
            <a:ext cx="2626255" cy="630833"/>
          </a:xfrm>
          <a:prstGeom prst="rect">
            <a:avLst/>
          </a:prstGeom>
          <a:noFill/>
          <a:ln/>
        </p:spPr>
        <p:txBody>
          <a:bodyPr wrap="square" lIns="0" tIns="0" rIns="0" bIns="0" rtlCol="0" anchor="t">
            <a:normAutofit/>
          </a:bodyPr>
          <a:lstStyle/>
          <a:p>
            <a:pPr marL="0" indent="0" algn="l">
              <a:lnSpc>
                <a:spcPct val="115000"/>
              </a:lnSpc>
              <a:buNone/>
            </a:pPr>
            <a:r>
              <a:rPr lang="en-US" sz="1800" dirty="0">
                <a:solidFill>
                  <a:srgbClr val="FFFFFF"/>
                </a:solidFill>
                <a:latin typeface="Carlito" pitchFamily="34" charset="0"/>
                <a:ea typeface="Carlito" pitchFamily="34" charset="-122"/>
                <a:cs typeface="Carlito" pitchFamily="34" charset="0"/>
              </a:rPr>
              <a:t>↓ PGI₂ falls, TXA₂ preserved → cardiovascular risk</a:t>
            </a:r>
            <a:endParaRPr lang="en-US" sz="1800" dirty="0"/>
          </a:p>
        </p:txBody>
      </p:sp>
      <p:sp>
        <p:nvSpPr>
          <p:cNvPr id="18" name="Text 16"/>
          <p:cNvSpPr/>
          <p:nvPr/>
        </p:nvSpPr>
        <p:spPr>
          <a:xfrm>
            <a:off x="6827270" y="1602879"/>
            <a:ext cx="4754840" cy="2448818"/>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Mechanism:</a:t>
            </a:r>
            <a:r>
              <a:rPr lang="en-US" sz="1600" dirty="0">
                <a:solidFill>
                  <a:srgbClr val="1A1A1A"/>
                </a:solidFill>
                <a:latin typeface="Carlito" pitchFamily="34" charset="0"/>
                <a:ea typeface="Carlito" pitchFamily="34" charset="-122"/>
                <a:cs typeface="Carlito" pitchFamily="34" charset="0"/>
              </a:rPr>
              <a:t> selectively inhibits inducible COX-2, the main source of inflammatory prostaglandins.</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GI benefit:</a:t>
            </a:r>
            <a:r>
              <a:rPr lang="en-US" sz="1600" dirty="0">
                <a:solidFill>
                  <a:srgbClr val="1A1A1A"/>
                </a:solidFill>
                <a:latin typeface="Carlito" pitchFamily="34" charset="0"/>
                <a:ea typeface="Carlito" pitchFamily="34" charset="-122"/>
                <a:cs typeface="Carlito" pitchFamily="34" charset="0"/>
              </a:rPr>
              <a:t> COX-1 in gastric mucosa is largely spared, lowering ulcer and bleeding risk.</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Trade-off:</a:t>
            </a:r>
            <a:r>
              <a:rPr lang="en-US" sz="1600" dirty="0">
                <a:solidFill>
                  <a:srgbClr val="1A1A1A"/>
                </a:solidFill>
                <a:latin typeface="Carlito" pitchFamily="34" charset="0"/>
                <a:ea typeface="Carlito" pitchFamily="34" charset="-122"/>
                <a:cs typeface="Carlito" pitchFamily="34" charset="0"/>
              </a:rPr>
              <a:t> suppressed PGI2 without matched TXA2 loss raises cardiovascular event risk.</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Renal:</a:t>
            </a:r>
            <a:r>
              <a:rPr lang="en-US" sz="1600" dirty="0">
                <a:solidFill>
                  <a:srgbClr val="1A1A1A"/>
                </a:solidFill>
                <a:latin typeface="Carlito" pitchFamily="34" charset="0"/>
                <a:ea typeface="Carlito" pitchFamily="34" charset="-122"/>
                <a:cs typeface="Carlito" pitchFamily="34" charset="0"/>
              </a:rPr>
              <a:t> kidney prostaglandins are still affected; renal risk is not eliminated.</a:t>
            </a:r>
            <a:endParaRPr lang="en-US" sz="1600" dirty="0"/>
          </a:p>
        </p:txBody>
      </p:sp>
      <p:sp>
        <p:nvSpPr>
          <p:cNvPr id="19" name="Text 17"/>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20" name="Text 18"/>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ORIGINAL ILLUSTRATION · FIGURE 2</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Nonselective NSAIDs vs. COX-2 Selective Inhibition</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pic>
        <p:nvPicPr>
          <p:cNvPr id="6" name="Image 1" descr="preencoded.png"/>
          <p:cNvPicPr>
            <a:picLocks noChangeAspect="1"/>
          </p:cNvPicPr>
          <p:nvPr/>
        </p:nvPicPr>
        <p:blipFill>
          <a:blip r:embed="rId4"/>
          <a:stretch>
            <a:fillRect/>
          </a:stretch>
        </p:blipFill>
        <p:spPr>
          <a:xfrm>
            <a:off x="2637466" y="1554460"/>
            <a:ext cx="6886105" cy="4160441"/>
          </a:xfrm>
          <a:prstGeom prst="rect">
            <a:avLst/>
          </a:prstGeom>
        </p:spPr>
      </p:pic>
      <p:sp>
        <p:nvSpPr>
          <p:cNvPr id="7" name="Text 3"/>
          <p:cNvSpPr/>
          <p:nvPr/>
        </p:nvSpPr>
        <p:spPr>
          <a:xfrm>
            <a:off x="640044" y="5819874"/>
            <a:ext cx="10881048" cy="473075"/>
          </a:xfrm>
          <a:prstGeom prst="rect">
            <a:avLst/>
          </a:prstGeom>
          <a:noFill/>
          <a:ln/>
        </p:spPr>
        <p:txBody>
          <a:bodyPr wrap="square" lIns="0" tIns="0" rIns="0" bIns="0" rtlCol="0" anchor="t">
            <a:normAutofit/>
          </a:bodyPr>
          <a:lstStyle/>
          <a:p>
            <a:pPr marL="0" indent="0" algn="ctr">
              <a:lnSpc>
                <a:spcPct val="115000"/>
              </a:lnSpc>
              <a:buNone/>
            </a:pPr>
            <a:r>
              <a:rPr lang="en-US" sz="1350" i="1" dirty="0">
                <a:solidFill>
                  <a:srgbClr val="5C6B73"/>
                </a:solidFill>
                <a:latin typeface="Carlito" pitchFamily="34" charset="0"/>
                <a:ea typeface="Carlito" pitchFamily="34" charset="-122"/>
                <a:cs typeface="Carlito" pitchFamily="34" charset="0"/>
              </a:rPr>
              <a:t>Figure 2. Original illustrative comparison (illustrative relative-risk values, not from Katzung): nonselective NSAIDs (e.g., ibuprofen, naproxen) carry higher GI risk; celecoxib trades lower GI risk for higher cardiovascular risk.</a:t>
            </a:r>
            <a:endParaRPr lang="en-US" sz="1350" dirty="0"/>
          </a:p>
        </p:txBody>
      </p:sp>
      <p:sp>
        <p:nvSpPr>
          <p:cNvPr id="8"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9"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QUICK CHECK · FIGURE 2</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Quick Check</a:t>
            </a:r>
            <a:endParaRPr lang="en-US" sz="2800" dirty="0"/>
          </a:p>
        </p:txBody>
      </p:sp>
      <p:sp>
        <p:nvSpPr>
          <p:cNvPr id="4" name="Shape 2"/>
          <p:cNvSpPr/>
          <p:nvPr/>
        </p:nvSpPr>
        <p:spPr>
          <a:xfrm>
            <a:off x="10972526" y="502841"/>
            <a:ext cx="566823" cy="566837"/>
          </a:xfrm>
          <a:prstGeom prst="ellipse">
            <a:avLst/>
          </a:prstGeom>
          <a:solidFill>
            <a:srgbClr val="0F717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640044" y="1403350"/>
            <a:ext cx="10823900" cy="648295"/>
          </a:xfrm>
          <a:prstGeom prst="rect">
            <a:avLst/>
          </a:prstGeom>
          <a:noFill/>
          <a:ln/>
        </p:spPr>
        <p:txBody>
          <a:bodyPr wrap="square" lIns="0" tIns="0" rIns="0" bIns="0" rtlCol="0" anchor="t">
            <a:normAutofit/>
          </a:bodyPr>
          <a:lstStyle/>
          <a:p>
            <a:pPr marL="0" indent="0" algn="l">
              <a:lnSpc>
                <a:spcPct val="115000"/>
              </a:lnSpc>
              <a:buNone/>
            </a:pPr>
            <a:r>
              <a:rPr lang="en-US" sz="1850" b="1" dirty="0">
                <a:solidFill>
                  <a:srgbClr val="123C44"/>
                </a:solidFill>
                <a:latin typeface="Carlito Bold" pitchFamily="34" charset="0"/>
                <a:ea typeface="Carlito Bold" pitchFamily="34" charset="-122"/>
                <a:cs typeface="Carlito Bold" pitchFamily="34" charset="0"/>
              </a:rPr>
              <a:t>Based on Figure 2, a patient with a history of GI ulcer but no cardiovascular disease is switched from ibuprofen to celecoxib. What is the most likely net effect on this patient’s risk profile?</a:t>
            </a:r>
            <a:endParaRPr lang="en-US" sz="1850" dirty="0"/>
          </a:p>
        </p:txBody>
      </p:sp>
      <p:sp>
        <p:nvSpPr>
          <p:cNvPr id="7" name="Shape 4"/>
          <p:cNvSpPr/>
          <p:nvPr/>
        </p:nvSpPr>
        <p:spPr>
          <a:xfrm>
            <a:off x="640044" y="2605980"/>
            <a:ext cx="5257668" cy="1097260"/>
          </a:xfrm>
          <a:prstGeom prst="roundRect">
            <a:avLst>
              <a:gd name="adj" fmla="val 8000"/>
            </a:avLst>
          </a:prstGeom>
          <a:solidFill>
            <a:srgbClr val="E8F1F0"/>
          </a:solidFill>
          <a:ln/>
        </p:spPr>
        <p:txBody>
          <a:bodyPr/>
          <a:lstStyle/>
          <a:p>
            <a:endParaRPr lang="en-US"/>
          </a:p>
        </p:txBody>
      </p:sp>
      <p:sp>
        <p:nvSpPr>
          <p:cNvPr id="8" name="Shape 5"/>
          <p:cNvSpPr/>
          <p:nvPr/>
        </p:nvSpPr>
        <p:spPr>
          <a:xfrm>
            <a:off x="804644" y="2944316"/>
            <a:ext cx="420578" cy="420588"/>
          </a:xfrm>
          <a:prstGeom prst="ellipse">
            <a:avLst/>
          </a:prstGeom>
          <a:solidFill>
            <a:srgbClr val="2A6F97"/>
          </a:solidFill>
          <a:ln/>
        </p:spPr>
        <p:txBody>
          <a:bodyPr/>
          <a:lstStyle/>
          <a:p>
            <a:endParaRPr lang="en-US"/>
          </a:p>
        </p:txBody>
      </p:sp>
      <p:sp>
        <p:nvSpPr>
          <p:cNvPr id="9" name="Text 6"/>
          <p:cNvSpPr/>
          <p:nvPr/>
        </p:nvSpPr>
        <p:spPr>
          <a:xfrm>
            <a:off x="499852"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A</a:t>
            </a:r>
            <a:endParaRPr lang="en-US" sz="1600" dirty="0"/>
          </a:p>
        </p:txBody>
      </p:sp>
      <p:sp>
        <p:nvSpPr>
          <p:cNvPr id="10" name="Text 7"/>
          <p:cNvSpPr/>
          <p:nvPr/>
        </p:nvSpPr>
        <p:spPr>
          <a:xfrm>
            <a:off x="138982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Lower GI risk, with some increase in cardiovascular risk</a:t>
            </a:r>
            <a:endParaRPr lang="en-US" sz="1350" dirty="0"/>
          </a:p>
        </p:txBody>
      </p:sp>
      <p:sp>
        <p:nvSpPr>
          <p:cNvPr id="11" name="Shape 8"/>
          <p:cNvSpPr/>
          <p:nvPr/>
        </p:nvSpPr>
        <p:spPr>
          <a:xfrm>
            <a:off x="6263424" y="2605980"/>
            <a:ext cx="5257668" cy="1097260"/>
          </a:xfrm>
          <a:prstGeom prst="roundRect">
            <a:avLst>
              <a:gd name="adj" fmla="val 8000"/>
            </a:avLst>
          </a:prstGeom>
          <a:solidFill>
            <a:srgbClr val="E8F1F0"/>
          </a:solidFill>
          <a:ln/>
        </p:spPr>
        <p:txBody>
          <a:bodyPr/>
          <a:lstStyle/>
          <a:p>
            <a:endParaRPr lang="en-US"/>
          </a:p>
        </p:txBody>
      </p:sp>
      <p:sp>
        <p:nvSpPr>
          <p:cNvPr id="12" name="Shape 9"/>
          <p:cNvSpPr/>
          <p:nvPr/>
        </p:nvSpPr>
        <p:spPr>
          <a:xfrm>
            <a:off x="6428024" y="2944316"/>
            <a:ext cx="420578" cy="420588"/>
          </a:xfrm>
          <a:prstGeom prst="ellipse">
            <a:avLst/>
          </a:prstGeom>
          <a:solidFill>
            <a:srgbClr val="2A6F97"/>
          </a:solidFill>
          <a:ln/>
        </p:spPr>
        <p:txBody>
          <a:bodyPr/>
          <a:lstStyle/>
          <a:p>
            <a:endParaRPr lang="en-US"/>
          </a:p>
        </p:txBody>
      </p:sp>
      <p:sp>
        <p:nvSpPr>
          <p:cNvPr id="13" name="Text 10"/>
          <p:cNvSpPr/>
          <p:nvPr/>
        </p:nvSpPr>
        <p:spPr>
          <a:xfrm>
            <a:off x="6123231"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B</a:t>
            </a:r>
            <a:endParaRPr lang="en-US" sz="1600" dirty="0"/>
          </a:p>
        </p:txBody>
      </p:sp>
      <p:sp>
        <p:nvSpPr>
          <p:cNvPr id="14" name="Text 11"/>
          <p:cNvSpPr/>
          <p:nvPr/>
        </p:nvSpPr>
        <p:spPr>
          <a:xfrm>
            <a:off x="701320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Both GI and cardiovascular risk decrease</a:t>
            </a:r>
            <a:endParaRPr lang="en-US" sz="1350" dirty="0"/>
          </a:p>
        </p:txBody>
      </p:sp>
      <p:sp>
        <p:nvSpPr>
          <p:cNvPr id="15" name="Shape 12"/>
          <p:cNvSpPr/>
          <p:nvPr/>
        </p:nvSpPr>
        <p:spPr>
          <a:xfrm>
            <a:off x="640044" y="3977580"/>
            <a:ext cx="5257668" cy="1097260"/>
          </a:xfrm>
          <a:prstGeom prst="roundRect">
            <a:avLst>
              <a:gd name="adj" fmla="val 8000"/>
            </a:avLst>
          </a:prstGeom>
          <a:solidFill>
            <a:srgbClr val="E8F1F0"/>
          </a:solidFill>
          <a:ln/>
        </p:spPr>
        <p:txBody>
          <a:bodyPr/>
          <a:lstStyle/>
          <a:p>
            <a:endParaRPr lang="en-US"/>
          </a:p>
        </p:txBody>
      </p:sp>
      <p:sp>
        <p:nvSpPr>
          <p:cNvPr id="16" name="Shape 13"/>
          <p:cNvSpPr/>
          <p:nvPr/>
        </p:nvSpPr>
        <p:spPr>
          <a:xfrm>
            <a:off x="804644" y="4315916"/>
            <a:ext cx="420578" cy="420588"/>
          </a:xfrm>
          <a:prstGeom prst="ellipse">
            <a:avLst/>
          </a:prstGeom>
          <a:solidFill>
            <a:srgbClr val="2A6F97"/>
          </a:solidFill>
          <a:ln/>
        </p:spPr>
        <p:txBody>
          <a:bodyPr/>
          <a:lstStyle/>
          <a:p>
            <a:endParaRPr lang="en-US"/>
          </a:p>
        </p:txBody>
      </p:sp>
      <p:sp>
        <p:nvSpPr>
          <p:cNvPr id="17" name="Text 14"/>
          <p:cNvSpPr/>
          <p:nvPr/>
        </p:nvSpPr>
        <p:spPr>
          <a:xfrm>
            <a:off x="499852"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a:t>
            </a:r>
            <a:endParaRPr lang="en-US" sz="1600" dirty="0"/>
          </a:p>
        </p:txBody>
      </p:sp>
      <p:sp>
        <p:nvSpPr>
          <p:cNvPr id="18" name="Text 15"/>
          <p:cNvSpPr/>
          <p:nvPr/>
        </p:nvSpPr>
        <p:spPr>
          <a:xfrm>
            <a:off x="138982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Both GI and cardiovascular risk increase</a:t>
            </a:r>
            <a:endParaRPr lang="en-US" sz="1350" dirty="0"/>
          </a:p>
        </p:txBody>
      </p:sp>
      <p:sp>
        <p:nvSpPr>
          <p:cNvPr id="19" name="Shape 16"/>
          <p:cNvSpPr/>
          <p:nvPr/>
        </p:nvSpPr>
        <p:spPr>
          <a:xfrm>
            <a:off x="6263424" y="3977580"/>
            <a:ext cx="5257668" cy="1097260"/>
          </a:xfrm>
          <a:prstGeom prst="roundRect">
            <a:avLst>
              <a:gd name="adj" fmla="val 8000"/>
            </a:avLst>
          </a:prstGeom>
          <a:solidFill>
            <a:srgbClr val="E8F1F0"/>
          </a:solidFill>
          <a:ln/>
        </p:spPr>
        <p:txBody>
          <a:bodyPr/>
          <a:lstStyle/>
          <a:p>
            <a:endParaRPr lang="en-US"/>
          </a:p>
        </p:txBody>
      </p:sp>
      <p:sp>
        <p:nvSpPr>
          <p:cNvPr id="20" name="Shape 17"/>
          <p:cNvSpPr/>
          <p:nvPr/>
        </p:nvSpPr>
        <p:spPr>
          <a:xfrm>
            <a:off x="6428024" y="4315916"/>
            <a:ext cx="420578" cy="420588"/>
          </a:xfrm>
          <a:prstGeom prst="ellipse">
            <a:avLst/>
          </a:prstGeom>
          <a:solidFill>
            <a:srgbClr val="2A6F97"/>
          </a:solidFill>
          <a:ln/>
        </p:spPr>
        <p:txBody>
          <a:bodyPr/>
          <a:lstStyle/>
          <a:p>
            <a:endParaRPr lang="en-US"/>
          </a:p>
        </p:txBody>
      </p:sp>
      <p:sp>
        <p:nvSpPr>
          <p:cNvPr id="21" name="Text 18"/>
          <p:cNvSpPr/>
          <p:nvPr/>
        </p:nvSpPr>
        <p:spPr>
          <a:xfrm>
            <a:off x="6123231"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D</a:t>
            </a:r>
            <a:endParaRPr lang="en-US" sz="1600" dirty="0"/>
          </a:p>
        </p:txBody>
      </p:sp>
      <p:sp>
        <p:nvSpPr>
          <p:cNvPr id="22" name="Text 19"/>
          <p:cNvSpPr/>
          <p:nvPr/>
        </p:nvSpPr>
        <p:spPr>
          <a:xfrm>
            <a:off x="7013201" y="4306491"/>
            <a:ext cx="4286143" cy="473075"/>
          </a:xfrm>
          <a:prstGeom prst="rect">
            <a:avLst/>
          </a:prstGeom>
          <a:noFill/>
          <a:ln/>
        </p:spPr>
        <p:txBody>
          <a:bodyPr wrap="square" lIns="0" tIns="0" rIns="0" bIns="0" rtlCol="0" anchor="t">
            <a:normAutofit/>
          </a:bodyPr>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No change in either risk, since all NSAIDs carry identical risk profiles</a:t>
            </a:r>
            <a:endParaRPr lang="en-US" sz="1350" dirty="0"/>
          </a:p>
        </p:txBody>
      </p:sp>
      <p:sp>
        <p:nvSpPr>
          <p:cNvPr id="23" name="Text 20"/>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24" name="Text 21"/>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ANSWER · FIGURE 2</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Answer</a:t>
            </a:r>
            <a:endParaRPr lang="en-US" sz="2800" dirty="0"/>
          </a:p>
        </p:txBody>
      </p:sp>
      <p:sp>
        <p:nvSpPr>
          <p:cNvPr id="4" name="Shape 2"/>
          <p:cNvSpPr/>
          <p:nvPr/>
        </p:nvSpPr>
        <p:spPr>
          <a:xfrm>
            <a:off x="10972526" y="502841"/>
            <a:ext cx="566823" cy="566837"/>
          </a:xfrm>
          <a:prstGeom prst="ellipse">
            <a:avLst/>
          </a:prstGeom>
          <a:solidFill>
            <a:srgbClr val="6B9080"/>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10881048" cy="1234380"/>
          </a:xfrm>
          <a:prstGeom prst="roundRect">
            <a:avLst>
              <a:gd name="adj" fmla="val 8889"/>
            </a:avLst>
          </a:prstGeom>
          <a:solidFill>
            <a:srgbClr val="E8F1F0"/>
          </a:solidFill>
          <a:ln/>
        </p:spPr>
        <p:txBody>
          <a:bodyPr/>
          <a:lstStyle/>
          <a:p>
            <a:endParaRPr lang="en-US"/>
          </a:p>
        </p:txBody>
      </p:sp>
      <p:sp>
        <p:nvSpPr>
          <p:cNvPr id="7" name="Shape 4"/>
          <p:cNvSpPr/>
          <p:nvPr/>
        </p:nvSpPr>
        <p:spPr>
          <a:xfrm>
            <a:off x="868638" y="1851620"/>
            <a:ext cx="731422" cy="731441"/>
          </a:xfrm>
          <a:prstGeom prst="ellipse">
            <a:avLst/>
          </a:prstGeom>
          <a:solidFill>
            <a:srgbClr val="6B9080"/>
          </a:solidFill>
          <a:ln/>
        </p:spPr>
        <p:txBody>
          <a:bodyPr/>
          <a:lstStyle/>
          <a:p>
            <a:endParaRPr lang="en-US"/>
          </a:p>
        </p:txBody>
      </p:sp>
      <p:sp>
        <p:nvSpPr>
          <p:cNvPr id="8" name="Text 5"/>
          <p:cNvSpPr/>
          <p:nvPr/>
        </p:nvSpPr>
        <p:spPr>
          <a:xfrm>
            <a:off x="868638" y="2019300"/>
            <a:ext cx="731422" cy="396180"/>
          </a:xfrm>
          <a:prstGeom prst="rect">
            <a:avLst/>
          </a:prstGeom>
          <a:noFill/>
          <a:ln/>
        </p:spPr>
        <p:txBody>
          <a:bodyPr wrap="none" lIns="0" tIns="0" rIns="0" bIns="0" rtlCol="0" anchor="t"/>
          <a:lstStyle/>
          <a:p>
            <a:pPr marL="0" indent="0" algn="ctr">
              <a:lnSpc>
                <a:spcPct val="100000"/>
              </a:lnSpc>
              <a:buNone/>
            </a:pPr>
            <a:r>
              <a:rPr lang="en-US" sz="2600" b="1" kern="100" spc="29" dirty="0">
                <a:solidFill>
                  <a:srgbClr val="FFFFFF"/>
                </a:solidFill>
                <a:latin typeface="Caladea Bold" pitchFamily="34" charset="0"/>
                <a:ea typeface="Caladea Bold" pitchFamily="34" charset="-122"/>
                <a:cs typeface="Caladea Bold" pitchFamily="34" charset="0"/>
              </a:rPr>
              <a:t>A</a:t>
            </a:r>
            <a:endParaRPr lang="en-US" sz="2600" dirty="0"/>
          </a:p>
        </p:txBody>
      </p:sp>
      <p:sp>
        <p:nvSpPr>
          <p:cNvPr id="9" name="Text 6"/>
          <p:cNvSpPr/>
          <p:nvPr/>
        </p:nvSpPr>
        <p:spPr>
          <a:xfrm>
            <a:off x="1828754" y="2081510"/>
            <a:ext cx="10027590" cy="280392"/>
          </a:xfrm>
          <a:prstGeom prst="rect">
            <a:avLst/>
          </a:prstGeom>
          <a:noFill/>
          <a:ln/>
        </p:spPr>
        <p:txBody>
          <a:bodyPr wrap="none" lIns="0" tIns="0" rIns="0" bIns="0" rtlCol="0" anchor="t"/>
          <a:lstStyle/>
          <a:p>
            <a:pPr marL="0" indent="0" algn="l">
              <a:lnSpc>
                <a:spcPct val="115000"/>
              </a:lnSpc>
              <a:buNone/>
            </a:pPr>
            <a:r>
              <a:rPr lang="en-US" sz="1600" b="1" dirty="0">
                <a:solidFill>
                  <a:srgbClr val="123C44"/>
                </a:solidFill>
                <a:latin typeface="Carlito Bold" pitchFamily="34" charset="0"/>
                <a:ea typeface="Carlito Bold" pitchFamily="34" charset="-122"/>
                <a:cs typeface="Carlito Bold" pitchFamily="34" charset="0"/>
              </a:rPr>
              <a:t>Lower GI risk, with some increase in cardiovascular risk.</a:t>
            </a:r>
            <a:endParaRPr lang="en-US" sz="1600" dirty="0"/>
          </a:p>
        </p:txBody>
      </p:sp>
      <p:sp>
        <p:nvSpPr>
          <p:cNvPr id="10" name="Text 7"/>
          <p:cNvSpPr/>
          <p:nvPr/>
        </p:nvSpPr>
        <p:spPr>
          <a:xfrm>
            <a:off x="640044" y="3142357"/>
            <a:ext cx="10823900" cy="857250"/>
          </a:xfrm>
          <a:prstGeom prst="rect">
            <a:avLst/>
          </a:prstGeom>
          <a:noFill/>
          <a:ln/>
        </p:spPr>
        <p:txBody>
          <a:bodyPr wrap="square" lIns="0" tIns="0" rIns="0" bIns="0" rtlCol="0" anchor="t">
            <a:normAutofit/>
          </a:bodyPr>
          <a:lstStyle/>
          <a:p>
            <a:pPr marL="0" indent="0" algn="l">
              <a:lnSpc>
                <a:spcPct val="125000"/>
              </a:lnSpc>
              <a:buNone/>
            </a:pPr>
            <a:r>
              <a:rPr lang="en-US" sz="1500" b="1" dirty="0">
                <a:solidFill>
                  <a:srgbClr val="0F7173"/>
                </a:solidFill>
                <a:latin typeface="Carlito Bold" pitchFamily="34" charset="0"/>
                <a:ea typeface="Carlito Bold" pitchFamily="34" charset="-122"/>
                <a:cs typeface="Carlito Bold" pitchFamily="34" charset="0"/>
              </a:rPr>
              <a:t>Why:  </a:t>
            </a:r>
            <a:r>
              <a:rPr lang="en-US" sz="1500" dirty="0">
                <a:solidFill>
                  <a:srgbClr val="1A1A1A"/>
                </a:solidFill>
                <a:latin typeface="Carlito" pitchFamily="34" charset="0"/>
                <a:ea typeface="Carlito" pitchFamily="34" charset="-122"/>
                <a:cs typeface="Carlito" pitchFamily="34" charset="0"/>
              </a:rPr>
              <a:t>Figure 2 shows celecoxib’s illustrative GI-risk bar is lower than the nonselective NSAID bar, while its cardiovascular-risk bar is higher — exactly the trade-off described in the celecoxib bullet slide. For this GI-ulcer-history patient without cardiovascular disease, that trade may be favorable, but the increased cardiovascular risk should still be discussed.</a:t>
            </a:r>
            <a:endParaRPr lang="en-US" sz="1500" dirty="0"/>
          </a:p>
        </p:txBody>
      </p:sp>
      <p:sp>
        <p:nvSpPr>
          <p:cNvPr id="11" name="Text 8"/>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12" name="Text 9"/>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ORGANIZED BY SYSTEM · TABLE 1</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NSAID Adverse Effects</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40044" y="1554460"/>
          <a:ext cx="10881048" cy="1339824"/>
        </p:xfrm>
        <a:graphic>
          <a:graphicData uri="http://schemas.openxmlformats.org/drawingml/2006/table">
            <a:tbl>
              <a:tblPr/>
              <a:tblGrid>
                <a:gridCol w="3200086">
                  <a:extLst>
                    <a:ext uri="{9D8B030D-6E8A-4147-A177-3AD203B41FA5}">
                      <a16:colId xmlns:a16="http://schemas.microsoft.com/office/drawing/2014/main" val="20000"/>
                    </a:ext>
                  </a:extLst>
                </a:gridCol>
                <a:gridCol w="7680962">
                  <a:extLst>
                    <a:ext uri="{9D8B030D-6E8A-4147-A177-3AD203B41FA5}">
                      <a16:colId xmlns:a16="http://schemas.microsoft.com/office/drawing/2014/main" val="20001"/>
                    </a:ext>
                  </a:extLst>
                </a:gridCol>
              </a:tblGrid>
              <a:tr h="336542">
                <a:tc>
                  <a:txBody>
                    <a:bodyPr/>
                    <a:lstStyle/>
                    <a:p>
                      <a:pPr marL="0" indent="0" algn="l">
                        <a:buNone/>
                      </a:pPr>
                      <a:r>
                        <a:rPr lang="en-US" sz="1500" b="1" dirty="0">
                          <a:solidFill>
                            <a:srgbClr val="FFFFFF"/>
                          </a:solidFill>
                          <a:latin typeface="Carlito" pitchFamily="34" charset="0"/>
                          <a:ea typeface="Carlito" pitchFamily="34" charset="-122"/>
                          <a:cs typeface="Carlito" pitchFamily="34" charset="0"/>
                        </a:rPr>
                        <a:t>System</a:t>
                      </a:r>
                      <a:endParaRPr lang="en-US" sz="1500" dirty="0">
                        <a:latin typeface="Carlito" charset="0"/>
                        <a:ea typeface="Carlito" charset="0"/>
                        <a:cs typeface="Carlito" charset="0"/>
                      </a:endParaRPr>
                    </a:p>
                  </a:txBody>
                  <a:tcPr marL="101598" marR="92073" marT="50799" marB="50799" anchor="ctr">
                    <a:lnL w="12700" cap="flat" cmpd="sng" algn="ctr">
                      <a:solidFill>
                        <a:srgbClr val="D7E4E3"/>
                      </a:solidFill>
                      <a:prstDash val="solid"/>
                      <a:round/>
                      <a:headEnd type="none" w="med" len="med"/>
                      <a:tailEnd type="none" w="med" len="med"/>
                    </a:lnL>
                    <a:lnR w="12700" cap="flat" cmpd="sng" algn="ctr">
                      <a:solidFill>
                        <a:srgbClr val="D7E4E3"/>
                      </a:solidFill>
                      <a:prstDash val="solid"/>
                      <a:round/>
                      <a:headEnd type="none" w="med" len="med"/>
                      <a:tailEnd type="none" w="med" len="med"/>
                    </a:lnR>
                    <a:lnT w="12700" cap="flat" cmpd="sng" algn="ctr">
                      <a:solidFill>
                        <a:srgbClr val="D7E4E3"/>
                      </a:solidFill>
                      <a:prstDash val="solid"/>
                      <a:round/>
                      <a:headEnd type="none" w="med" len="med"/>
                      <a:tailEnd type="none" w="med" len="med"/>
                    </a:lnT>
                    <a:lnB w="12700" cap="flat" cmpd="sng" algn="ctr">
                      <a:solidFill>
                        <a:srgbClr val="D7E4E3"/>
                      </a:solidFill>
                      <a:prstDash val="solid"/>
                      <a:round/>
                      <a:headEnd type="none" w="med" len="med"/>
                      <a:tailEnd type="none" w="med" len="med"/>
                    </a:lnB>
                    <a:solidFill>
                      <a:srgbClr val="123C44"/>
                    </a:solidFill>
                  </a:tcPr>
                </a:tc>
                <a:tc>
                  <a:txBody>
                    <a:bodyPr/>
                    <a:lstStyle/>
                    <a:p>
                      <a:pPr marL="0" indent="0" algn="l">
                        <a:buNone/>
                      </a:pPr>
                      <a:r>
                        <a:rPr lang="en-US" sz="1500" b="1" dirty="0">
                          <a:solidFill>
                            <a:srgbClr val="FFFFFF"/>
                          </a:solidFill>
                          <a:latin typeface="Carlito" pitchFamily="34" charset="0"/>
                          <a:ea typeface="Carlito" pitchFamily="34" charset="-122"/>
                          <a:cs typeface="Carlito" pitchFamily="34" charset="0"/>
                        </a:rPr>
                        <a:t>Key Adverse Effects</a:t>
                      </a:r>
                      <a:endParaRPr lang="en-US" sz="1500" dirty="0">
                        <a:latin typeface="Carlito" charset="0"/>
                        <a:ea typeface="Carlito" charset="0"/>
                        <a:cs typeface="Carlito" charset="0"/>
                      </a:endParaRPr>
                    </a:p>
                  </a:txBody>
                  <a:tcPr marL="101598" marR="101598" marT="50799" marB="50799" anchor="ctr">
                    <a:lnL w="12700" cap="flat" cmpd="sng" algn="ctr">
                      <a:solidFill>
                        <a:srgbClr val="D7E4E3"/>
                      </a:solidFill>
                      <a:prstDash val="solid"/>
                      <a:round/>
                      <a:headEnd type="none" w="med" len="med"/>
                      <a:tailEnd type="none" w="med" len="med"/>
                    </a:lnL>
                    <a:lnR w="12700" cap="flat" cmpd="sng" algn="ctr">
                      <a:solidFill>
                        <a:srgbClr val="D7E4E3"/>
                      </a:solidFill>
                      <a:prstDash val="solid"/>
                      <a:round/>
                      <a:headEnd type="none" w="med" len="med"/>
                      <a:tailEnd type="none" w="med" len="med"/>
                    </a:lnR>
                    <a:lnT w="12700" cap="flat" cmpd="sng" algn="ctr">
                      <a:solidFill>
                        <a:srgbClr val="D7E4E3"/>
                      </a:solidFill>
                      <a:prstDash val="solid"/>
                      <a:round/>
                      <a:headEnd type="none" w="med" len="med"/>
                      <a:tailEnd type="none" w="med" len="med"/>
                    </a:lnT>
                    <a:lnB w="12700" cap="flat" cmpd="sng" algn="ctr">
                      <a:solidFill>
                        <a:srgbClr val="D7E4E3"/>
                      </a:solidFill>
                      <a:prstDash val="solid"/>
                      <a:round/>
                      <a:headEnd type="none" w="med" len="med"/>
                      <a:tailEnd type="none" w="med" len="med"/>
                    </a:lnB>
                    <a:solidFill>
                      <a:srgbClr val="123C44"/>
                    </a:solidFill>
                  </a:tcPr>
                </a:tc>
                <a:extLst>
                  <a:ext uri="{0D108BD9-81ED-4DB2-BD59-A6C34878D82A}">
                    <a16:rowId xmlns:a16="http://schemas.microsoft.com/office/drawing/2014/main" val="10000"/>
                  </a:ext>
                </a:extLst>
              </a:tr>
              <a:tr h="336542">
                <a:tc>
                  <a:txBody>
                    <a:bodyPr/>
                    <a:lstStyle/>
                    <a:p>
                      <a:pPr marL="0" indent="0" algn="l">
                        <a:buNone/>
                      </a:pPr>
                      <a:r>
                        <a:rPr lang="en-US" sz="1500" dirty="0">
                          <a:solidFill>
                            <a:srgbClr val="1A1A1A"/>
                          </a:solidFill>
                          <a:latin typeface="Carlito" pitchFamily="34" charset="0"/>
                          <a:ea typeface="Carlito" pitchFamily="34" charset="-122"/>
                          <a:cs typeface="Carlito" pitchFamily="34" charset="0"/>
                        </a:rPr>
                        <a:t>Gastrointestinal</a:t>
                      </a:r>
                      <a:endParaRPr lang="en-US" sz="1500" dirty="0">
                        <a:latin typeface="Carlito" charset="0"/>
                        <a:ea typeface="Carlito" charset="0"/>
                        <a:cs typeface="Carlito" charset="0"/>
                      </a:endParaRPr>
                    </a:p>
                  </a:txBody>
                  <a:tcPr marL="101598" marR="92073" marT="50799" marB="50799" anchor="ctr">
                    <a:lnL w="12700" cap="flat" cmpd="sng" algn="ctr">
                      <a:solidFill>
                        <a:srgbClr val="D7E4E3"/>
                      </a:solidFill>
                      <a:prstDash val="solid"/>
                      <a:round/>
                      <a:headEnd type="none" w="med" len="med"/>
                      <a:tailEnd type="none" w="med" len="med"/>
                    </a:lnL>
                    <a:lnR w="12700" cap="flat" cmpd="sng" algn="ctr">
                      <a:solidFill>
                        <a:srgbClr val="D7E4E3"/>
                      </a:solidFill>
                      <a:prstDash val="solid"/>
                      <a:round/>
                      <a:headEnd type="none" w="med" len="med"/>
                      <a:tailEnd type="none" w="med" len="med"/>
                    </a:lnR>
                    <a:lnT w="12700" cap="flat" cmpd="sng" algn="ctr">
                      <a:solidFill>
                        <a:srgbClr val="D7E4E3"/>
                      </a:solidFill>
                      <a:prstDash val="solid"/>
                      <a:round/>
                      <a:headEnd type="none" w="med" len="med"/>
                      <a:tailEnd type="none" w="med" len="med"/>
                    </a:lnT>
                    <a:lnB w="12700" cap="flat" cmpd="sng" algn="ctr">
                      <a:solidFill>
                        <a:srgbClr val="D7E4E3"/>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1A1A"/>
                          </a:solidFill>
                          <a:latin typeface="Carlito" pitchFamily="34" charset="0"/>
                          <a:ea typeface="Carlito" pitchFamily="34" charset="-122"/>
                          <a:cs typeface="Carlito" pitchFamily="34" charset="0"/>
                        </a:rPr>
                        <a:t>Gastritis, peptic ulcer, GI bleeding</a:t>
                      </a:r>
                      <a:endParaRPr lang="en-US" sz="1500" dirty="0">
                        <a:latin typeface="Carlito" charset="0"/>
                        <a:ea typeface="Carlito" charset="0"/>
                        <a:cs typeface="Carlito" charset="0"/>
                      </a:endParaRPr>
                    </a:p>
                  </a:txBody>
                  <a:tcPr marL="101598" marR="101598" marT="50799" marB="50799" anchor="ctr">
                    <a:lnL w="12700" cap="flat" cmpd="sng" algn="ctr">
                      <a:solidFill>
                        <a:srgbClr val="D7E4E3"/>
                      </a:solidFill>
                      <a:prstDash val="solid"/>
                      <a:round/>
                      <a:headEnd type="none" w="med" len="med"/>
                      <a:tailEnd type="none" w="med" len="med"/>
                    </a:lnL>
                    <a:lnR w="12700" cap="flat" cmpd="sng" algn="ctr">
                      <a:solidFill>
                        <a:srgbClr val="D7E4E3"/>
                      </a:solidFill>
                      <a:prstDash val="solid"/>
                      <a:round/>
                      <a:headEnd type="none" w="med" len="med"/>
                      <a:tailEnd type="none" w="med" len="med"/>
                    </a:lnR>
                    <a:lnT w="12700" cap="flat" cmpd="sng" algn="ctr">
                      <a:solidFill>
                        <a:srgbClr val="D7E4E3"/>
                      </a:solidFill>
                      <a:prstDash val="solid"/>
                      <a:round/>
                      <a:headEnd type="none" w="med" len="med"/>
                      <a:tailEnd type="none" w="med" len="med"/>
                    </a:lnT>
                    <a:lnB w="12700" cap="flat" cmpd="sng" algn="ctr">
                      <a:solidFill>
                        <a:srgbClr val="D7E4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6542">
                <a:tc>
                  <a:txBody>
                    <a:bodyPr/>
                    <a:lstStyle/>
                    <a:p>
                      <a:pPr marL="0" indent="0" algn="l">
                        <a:buNone/>
                      </a:pPr>
                      <a:r>
                        <a:rPr lang="en-US" sz="1500" dirty="0">
                          <a:solidFill>
                            <a:srgbClr val="1A1A1A"/>
                          </a:solidFill>
                          <a:latin typeface="Carlito" pitchFamily="34" charset="0"/>
                          <a:ea typeface="Carlito" pitchFamily="34" charset="-122"/>
                          <a:cs typeface="Carlito" pitchFamily="34" charset="0"/>
                        </a:rPr>
                        <a:t>Renal</a:t>
                      </a:r>
                      <a:endParaRPr lang="en-US" sz="1500" dirty="0">
                        <a:latin typeface="Carlito" charset="0"/>
                        <a:ea typeface="Carlito" charset="0"/>
                        <a:cs typeface="Carlito" charset="0"/>
                      </a:endParaRPr>
                    </a:p>
                  </a:txBody>
                  <a:tcPr marL="101598" marR="92073" marT="50799" marB="50799" anchor="ctr">
                    <a:lnL w="12700" cap="flat" cmpd="sng" algn="ctr">
                      <a:solidFill>
                        <a:srgbClr val="D7E4E3"/>
                      </a:solidFill>
                      <a:prstDash val="solid"/>
                      <a:round/>
                      <a:headEnd type="none" w="med" len="med"/>
                      <a:tailEnd type="none" w="med" len="med"/>
                    </a:lnL>
                    <a:lnR w="12700" cap="flat" cmpd="sng" algn="ctr">
                      <a:solidFill>
                        <a:srgbClr val="D7E4E3"/>
                      </a:solidFill>
                      <a:prstDash val="solid"/>
                      <a:round/>
                      <a:headEnd type="none" w="med" len="med"/>
                      <a:tailEnd type="none" w="med" len="med"/>
                    </a:lnR>
                    <a:lnT w="12700" cap="flat" cmpd="sng" algn="ctr">
                      <a:solidFill>
                        <a:srgbClr val="D7E4E3"/>
                      </a:solidFill>
                      <a:prstDash val="solid"/>
                      <a:round/>
                      <a:headEnd type="none" w="med" len="med"/>
                      <a:tailEnd type="none" w="med" len="med"/>
                    </a:lnT>
                    <a:lnB w="12700" cap="flat" cmpd="sng" algn="ctr">
                      <a:solidFill>
                        <a:srgbClr val="D7E4E3"/>
                      </a:solidFill>
                      <a:prstDash val="solid"/>
                      <a:round/>
                      <a:headEnd type="none" w="med" len="med"/>
                      <a:tailEnd type="none" w="med" len="med"/>
                    </a:lnB>
                    <a:solidFill>
                      <a:srgbClr val="E8F1F0"/>
                    </a:solidFill>
                  </a:tcPr>
                </a:tc>
                <a:tc>
                  <a:txBody>
                    <a:bodyPr/>
                    <a:lstStyle/>
                    <a:p>
                      <a:pPr marL="0" indent="0" algn="l">
                        <a:buNone/>
                      </a:pPr>
                      <a:r>
                        <a:rPr lang="en-US" sz="1500" dirty="0">
                          <a:solidFill>
                            <a:srgbClr val="1A1A1A"/>
                          </a:solidFill>
                          <a:latin typeface="Carlito" pitchFamily="34" charset="0"/>
                          <a:ea typeface="Carlito" pitchFamily="34" charset="-122"/>
                          <a:cs typeface="Carlito" pitchFamily="34" charset="0"/>
                        </a:rPr>
                        <a:t>Decreased renal perfusion, fluid retention, acute kidney injury</a:t>
                      </a:r>
                      <a:endParaRPr lang="en-US" sz="1500" dirty="0">
                        <a:latin typeface="Carlito" charset="0"/>
                        <a:ea typeface="Carlito" charset="0"/>
                        <a:cs typeface="Carlito" charset="0"/>
                      </a:endParaRPr>
                    </a:p>
                  </a:txBody>
                  <a:tcPr marL="101598" marR="101598" marT="50799" marB="50799" anchor="ctr">
                    <a:lnL w="12700" cap="flat" cmpd="sng" algn="ctr">
                      <a:solidFill>
                        <a:srgbClr val="D7E4E3"/>
                      </a:solidFill>
                      <a:prstDash val="solid"/>
                      <a:round/>
                      <a:headEnd type="none" w="med" len="med"/>
                      <a:tailEnd type="none" w="med" len="med"/>
                    </a:lnL>
                    <a:lnR w="12700" cap="flat" cmpd="sng" algn="ctr">
                      <a:solidFill>
                        <a:srgbClr val="D7E4E3"/>
                      </a:solidFill>
                      <a:prstDash val="solid"/>
                      <a:round/>
                      <a:headEnd type="none" w="med" len="med"/>
                      <a:tailEnd type="none" w="med" len="med"/>
                    </a:lnR>
                    <a:lnT w="12700" cap="flat" cmpd="sng" algn="ctr">
                      <a:solidFill>
                        <a:srgbClr val="D7E4E3"/>
                      </a:solidFill>
                      <a:prstDash val="solid"/>
                      <a:round/>
                      <a:headEnd type="none" w="med" len="med"/>
                      <a:tailEnd type="none" w="med" len="med"/>
                    </a:lnT>
                    <a:lnB w="12700" cap="flat" cmpd="sng" algn="ctr">
                      <a:solidFill>
                        <a:srgbClr val="D7E4E3"/>
                      </a:solidFill>
                      <a:prstDash val="solid"/>
                      <a:round/>
                      <a:headEnd type="none" w="med" len="med"/>
                      <a:tailEnd type="none" w="med" len="med"/>
                    </a:lnB>
                    <a:solidFill>
                      <a:srgbClr val="E8F1F0"/>
                    </a:solidFill>
                  </a:tcPr>
                </a:tc>
                <a:extLst>
                  <a:ext uri="{0D108BD9-81ED-4DB2-BD59-A6C34878D82A}">
                    <a16:rowId xmlns:a16="http://schemas.microsoft.com/office/drawing/2014/main" val="10002"/>
                  </a:ext>
                </a:extLst>
              </a:tr>
              <a:tr h="330192">
                <a:tc>
                  <a:txBody>
                    <a:bodyPr/>
                    <a:lstStyle/>
                    <a:p>
                      <a:pPr marL="0" indent="0" algn="l">
                        <a:buNone/>
                      </a:pPr>
                      <a:r>
                        <a:rPr lang="en-US" sz="1500" dirty="0">
                          <a:solidFill>
                            <a:srgbClr val="1A1A1A"/>
                          </a:solidFill>
                          <a:latin typeface="Carlito" pitchFamily="34" charset="0"/>
                          <a:ea typeface="Carlito" pitchFamily="34" charset="-122"/>
                          <a:cs typeface="Carlito" pitchFamily="34" charset="0"/>
                        </a:rPr>
                        <a:t>Cardiovascular</a:t>
                      </a:r>
                      <a:endParaRPr lang="en-US" sz="1500" dirty="0">
                        <a:latin typeface="Carlito" charset="0"/>
                        <a:ea typeface="Carlito" charset="0"/>
                        <a:cs typeface="Carlito" charset="0"/>
                      </a:endParaRPr>
                    </a:p>
                  </a:txBody>
                  <a:tcPr marL="101598" marR="92073" marT="50799" marB="50799" anchor="ctr">
                    <a:lnL w="12700" cap="flat" cmpd="sng" algn="ctr">
                      <a:solidFill>
                        <a:srgbClr val="D7E4E3"/>
                      </a:solidFill>
                      <a:prstDash val="solid"/>
                      <a:round/>
                      <a:headEnd type="none" w="med" len="med"/>
                      <a:tailEnd type="none" w="med" len="med"/>
                    </a:lnL>
                    <a:lnR w="12700" cap="flat" cmpd="sng" algn="ctr">
                      <a:solidFill>
                        <a:srgbClr val="D7E4E3"/>
                      </a:solidFill>
                      <a:prstDash val="solid"/>
                      <a:round/>
                      <a:headEnd type="none" w="med" len="med"/>
                      <a:tailEnd type="none" w="med" len="med"/>
                    </a:lnR>
                    <a:lnT w="12700" cap="flat" cmpd="sng" algn="ctr">
                      <a:solidFill>
                        <a:srgbClr val="D7E4E3"/>
                      </a:solidFill>
                      <a:prstDash val="solid"/>
                      <a:round/>
                      <a:headEnd type="none" w="med" len="med"/>
                      <a:tailEnd type="none" w="med" len="med"/>
                    </a:lnT>
                    <a:lnB w="12700" cap="flat" cmpd="sng" algn="ctr">
                      <a:solidFill>
                        <a:srgbClr val="D7E4E3"/>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A1A1A"/>
                          </a:solidFill>
                          <a:latin typeface="Carlito" pitchFamily="34" charset="0"/>
                          <a:ea typeface="Carlito" pitchFamily="34" charset="-122"/>
                          <a:cs typeface="Carlito" pitchFamily="34" charset="0"/>
                        </a:rPr>
                        <a:t>Hypertension, increased risk of cardiovascular events</a:t>
                      </a:r>
                      <a:endParaRPr lang="en-US" sz="1500" dirty="0">
                        <a:latin typeface="Carlito" charset="0"/>
                        <a:ea typeface="Carlito" charset="0"/>
                        <a:cs typeface="Carlito" charset="0"/>
                      </a:endParaRPr>
                    </a:p>
                  </a:txBody>
                  <a:tcPr marL="101598" marR="101598" marT="50799" marB="50799" anchor="ctr">
                    <a:lnL w="12700" cap="flat" cmpd="sng" algn="ctr">
                      <a:solidFill>
                        <a:srgbClr val="D7E4E3"/>
                      </a:solidFill>
                      <a:prstDash val="solid"/>
                      <a:round/>
                      <a:headEnd type="none" w="med" len="med"/>
                      <a:tailEnd type="none" w="med" len="med"/>
                    </a:lnL>
                    <a:lnR w="12700" cap="flat" cmpd="sng" algn="ctr">
                      <a:solidFill>
                        <a:srgbClr val="D7E4E3"/>
                      </a:solidFill>
                      <a:prstDash val="solid"/>
                      <a:round/>
                      <a:headEnd type="none" w="med" len="med"/>
                      <a:tailEnd type="none" w="med" len="med"/>
                    </a:lnR>
                    <a:lnT w="12700" cap="flat" cmpd="sng" algn="ctr">
                      <a:solidFill>
                        <a:srgbClr val="D7E4E3"/>
                      </a:solidFill>
                      <a:prstDash val="solid"/>
                      <a:round/>
                      <a:headEnd type="none" w="med" len="med"/>
                      <a:tailEnd type="none" w="med" len="med"/>
                    </a:lnT>
                    <a:lnB w="12700" cap="flat" cmpd="sng" algn="ctr">
                      <a:solidFill>
                        <a:srgbClr val="D7E4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8" name="Text 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60866"/>
            <a:ext cx="10972526" cy="422176"/>
          </a:xfrm>
          <a:prstGeom prst="rect">
            <a:avLst/>
          </a:prstGeom>
          <a:noFill/>
          <a:ln/>
        </p:spPr>
        <p:txBody>
          <a:bodyPr wrap="none" lIns="0" tIns="0" rIns="0" bIns="0" rtlCol="0" anchor="t"/>
          <a:lstStyle/>
          <a:p>
            <a:pPr marL="0" indent="0" algn="l">
              <a:lnSpc>
                <a:spcPct val="100000"/>
              </a:lnSpc>
              <a:buNone/>
            </a:pPr>
            <a:r>
              <a:rPr lang="en-US" sz="2750" b="1" dirty="0">
                <a:solidFill>
                  <a:srgbClr val="123C44"/>
                </a:solidFill>
                <a:latin typeface="Caladea Bold" pitchFamily="34" charset="0"/>
                <a:ea typeface="Caladea Bold" pitchFamily="34" charset="-122"/>
                <a:cs typeface="Caladea Bold" pitchFamily="34" charset="0"/>
              </a:rPr>
              <a:t>NSAIDs: Prostaglandin Loss and Organ Effects</a:t>
            </a:r>
            <a:endParaRPr lang="en-US" sz="2750" dirty="0"/>
          </a:p>
        </p:txBody>
      </p:sp>
      <p:pic>
        <p:nvPicPr>
          <p:cNvPr id="4" name="Image 0" descr="preencoded.png"/>
          <p:cNvPicPr>
            <a:picLocks noChangeAspect="1"/>
          </p:cNvPicPr>
          <p:nvPr/>
        </p:nvPicPr>
        <p:blipFill>
          <a:blip r:embed="rId3"/>
          <a:stretch>
            <a:fillRect/>
          </a:stretch>
        </p:blipFill>
        <p:spPr>
          <a:xfrm>
            <a:off x="838179" y="1831479"/>
            <a:ext cx="5760497" cy="3240286"/>
          </a:xfrm>
          <a:prstGeom prst="rect">
            <a:avLst/>
          </a:prstGeom>
        </p:spPr>
      </p:pic>
      <p:sp>
        <p:nvSpPr>
          <p:cNvPr id="5" name="Text 2"/>
          <p:cNvSpPr/>
          <p:nvPr/>
        </p:nvSpPr>
        <p:spPr>
          <a:xfrm>
            <a:off x="6827270" y="1831479"/>
            <a:ext cx="4754840" cy="1819473"/>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GI:</a:t>
            </a:r>
            <a:r>
              <a:rPr lang="en-US" sz="1600" dirty="0">
                <a:solidFill>
                  <a:srgbClr val="1A1A1A"/>
                </a:solidFill>
                <a:latin typeface="Carlito" pitchFamily="34" charset="0"/>
                <a:ea typeface="Carlito" pitchFamily="34" charset="-122"/>
                <a:cs typeface="Carlito" pitchFamily="34" charset="0"/>
              </a:rPr>
              <a:t> less prostaglandin-driven mucus and bicarbonate leaves the mucosa open to injury.</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Kidney:</a:t>
            </a:r>
            <a:r>
              <a:rPr lang="en-US" sz="1600" dirty="0">
                <a:solidFill>
                  <a:srgbClr val="1A1A1A"/>
                </a:solidFill>
                <a:latin typeface="Carlito" pitchFamily="34" charset="0"/>
                <a:ea typeface="Carlito" pitchFamily="34" charset="-122"/>
                <a:cs typeface="Carlito" pitchFamily="34" charset="0"/>
              </a:rPr>
              <a:t> reduced afferent arteriolar dilation lowers renal blood flow.</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Platelets:</a:t>
            </a:r>
            <a:r>
              <a:rPr lang="en-US" sz="1600" dirty="0">
                <a:solidFill>
                  <a:srgbClr val="1A1A1A"/>
                </a:solidFill>
                <a:latin typeface="Carlito" pitchFamily="34" charset="0"/>
                <a:ea typeface="Carlito" pitchFamily="34" charset="-122"/>
                <a:cs typeface="Carlito" pitchFamily="34" charset="0"/>
              </a:rPr>
              <a:t> reduced TXA2 impairs aggregation, increasing bleeding risk.</a:t>
            </a:r>
            <a:endParaRPr lang="en-US" sz="1600" dirty="0"/>
          </a:p>
        </p:txBody>
      </p:sp>
      <p:sp>
        <p:nvSpPr>
          <p:cNvPr id="6" name="Text 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7" name="Text 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44" y="1600200"/>
            <a:ext cx="5211930" cy="4526260"/>
          </a:xfrm>
          <a:prstGeom prst="roundRect">
            <a:avLst>
              <a:gd name="adj" fmla="val 2424"/>
            </a:avLst>
          </a:prstGeom>
          <a:solidFill>
            <a:srgbClr val="E8F1F0"/>
          </a:solidFill>
          <a:ln/>
        </p:spPr>
        <p:txBody>
          <a:bodyPr/>
          <a:lstStyle/>
          <a:p>
            <a:endParaRPr lang="en-US"/>
          </a:p>
        </p:txBody>
      </p:sp>
      <p:sp>
        <p:nvSpPr>
          <p:cNvPr id="3" name="Shape 1"/>
          <p:cNvSpPr/>
          <p:nvPr/>
        </p:nvSpPr>
        <p:spPr>
          <a:xfrm>
            <a:off x="6309162" y="1600200"/>
            <a:ext cx="5211930" cy="4526260"/>
          </a:xfrm>
          <a:prstGeom prst="roundRect">
            <a:avLst>
              <a:gd name="adj" fmla="val 2424"/>
            </a:avLst>
          </a:prstGeom>
          <a:solidFill>
            <a:srgbClr val="E8F1F0"/>
          </a:solidFill>
          <a:ln/>
        </p:spPr>
        <p:txBody>
          <a:bodyPr/>
          <a:lstStyle/>
          <a:p>
            <a:endParaRPr lang="en-US"/>
          </a:p>
        </p:txBody>
      </p:sp>
      <p:sp>
        <p:nvSpPr>
          <p:cNvPr id="4" name="Text 2"/>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PRESCRIBING SAFELY</a:t>
            </a:r>
            <a:endParaRPr lang="en-US" sz="1200" dirty="0"/>
          </a:p>
        </p:txBody>
      </p:sp>
      <p:sp>
        <p:nvSpPr>
          <p:cNvPr id="5" name="Text 3"/>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NSAID Contraindications &amp; Interactions</a:t>
            </a:r>
            <a:endParaRPr lang="en-US" sz="2800" dirty="0"/>
          </a:p>
        </p:txBody>
      </p:sp>
      <p:sp>
        <p:nvSpPr>
          <p:cNvPr id="6" name="Shape 4"/>
          <p:cNvSpPr/>
          <p:nvPr/>
        </p:nvSpPr>
        <p:spPr>
          <a:xfrm>
            <a:off x="10972526" y="502841"/>
            <a:ext cx="566823" cy="566837"/>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8" name="Shape 5"/>
          <p:cNvSpPr/>
          <p:nvPr/>
        </p:nvSpPr>
        <p:spPr>
          <a:xfrm>
            <a:off x="640044" y="1600200"/>
            <a:ext cx="5211831" cy="502841"/>
          </a:xfrm>
          <a:prstGeom prst="roundRect">
            <a:avLst>
              <a:gd name="adj" fmla="val 21821"/>
            </a:avLst>
          </a:prstGeom>
          <a:solidFill>
            <a:srgbClr val="D1495B"/>
          </a:solidFill>
          <a:ln/>
        </p:spPr>
        <p:txBody>
          <a:bodyPr/>
          <a:lstStyle/>
          <a:p>
            <a:endParaRPr lang="en-US"/>
          </a:p>
        </p:txBody>
      </p:sp>
      <p:sp>
        <p:nvSpPr>
          <p:cNvPr id="9" name="Shape 6"/>
          <p:cNvSpPr/>
          <p:nvPr/>
        </p:nvSpPr>
        <p:spPr>
          <a:xfrm>
            <a:off x="640044" y="1856184"/>
            <a:ext cx="5211831" cy="255984"/>
          </a:xfrm>
          <a:prstGeom prst="rect">
            <a:avLst/>
          </a:prstGeom>
          <a:solidFill>
            <a:srgbClr val="D1495B"/>
          </a:solidFill>
          <a:ln/>
        </p:spPr>
        <p:txBody>
          <a:bodyPr/>
          <a:lstStyle/>
          <a:p>
            <a:endParaRPr lang="en-US"/>
          </a:p>
        </p:txBody>
      </p:sp>
      <p:sp>
        <p:nvSpPr>
          <p:cNvPr id="10" name="Text 7"/>
          <p:cNvSpPr/>
          <p:nvPr/>
        </p:nvSpPr>
        <p:spPr>
          <a:xfrm>
            <a:off x="841156"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Use Caution / Avoid In</a:t>
            </a:r>
            <a:endParaRPr lang="en-US" sz="1600" dirty="0"/>
          </a:p>
        </p:txBody>
      </p:sp>
      <p:sp>
        <p:nvSpPr>
          <p:cNvPr id="11" name="Text 8"/>
          <p:cNvSpPr/>
          <p:nvPr/>
        </p:nvSpPr>
        <p:spPr>
          <a:xfrm>
            <a:off x="1046236" y="2272010"/>
            <a:ext cx="4576946" cy="1523405"/>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Active GI bleeding or ulcer history</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Chronic kidney disease</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Heart failure or cardiovascular disease</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Anticoagulant therapy</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Late pregnancy</a:t>
            </a:r>
            <a:endParaRPr lang="en-US" sz="1400" dirty="0"/>
          </a:p>
        </p:txBody>
      </p:sp>
      <p:sp>
        <p:nvSpPr>
          <p:cNvPr id="12" name="Shape 9"/>
          <p:cNvSpPr/>
          <p:nvPr/>
        </p:nvSpPr>
        <p:spPr>
          <a:xfrm>
            <a:off x="6309162" y="1600200"/>
            <a:ext cx="5211831" cy="502841"/>
          </a:xfrm>
          <a:prstGeom prst="roundRect">
            <a:avLst>
              <a:gd name="adj" fmla="val 21821"/>
            </a:avLst>
          </a:prstGeom>
          <a:solidFill>
            <a:srgbClr val="2A6F97"/>
          </a:solidFill>
          <a:ln/>
        </p:spPr>
        <p:txBody>
          <a:bodyPr/>
          <a:lstStyle/>
          <a:p>
            <a:endParaRPr lang="en-US"/>
          </a:p>
        </p:txBody>
      </p:sp>
      <p:sp>
        <p:nvSpPr>
          <p:cNvPr id="13" name="Shape 10"/>
          <p:cNvSpPr/>
          <p:nvPr/>
        </p:nvSpPr>
        <p:spPr>
          <a:xfrm>
            <a:off x="6309162" y="1856184"/>
            <a:ext cx="5211831" cy="255984"/>
          </a:xfrm>
          <a:prstGeom prst="rect">
            <a:avLst/>
          </a:prstGeom>
          <a:solidFill>
            <a:srgbClr val="2A6F97"/>
          </a:solidFill>
          <a:ln/>
        </p:spPr>
        <p:txBody>
          <a:bodyPr/>
          <a:lstStyle/>
          <a:p>
            <a:endParaRPr lang="en-US"/>
          </a:p>
        </p:txBody>
      </p:sp>
      <p:sp>
        <p:nvSpPr>
          <p:cNvPr id="14" name="Text 11"/>
          <p:cNvSpPr/>
          <p:nvPr/>
        </p:nvSpPr>
        <p:spPr>
          <a:xfrm>
            <a:off x="6510274"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High-Yield Drug Interactions</a:t>
            </a:r>
            <a:endParaRPr lang="en-US" sz="1600" dirty="0"/>
          </a:p>
        </p:txBody>
      </p:sp>
      <p:sp>
        <p:nvSpPr>
          <p:cNvPr id="15" name="Text 12"/>
          <p:cNvSpPr/>
          <p:nvPr/>
        </p:nvSpPr>
        <p:spPr>
          <a:xfrm>
            <a:off x="6715354" y="2272010"/>
            <a:ext cx="4519896" cy="1409204"/>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NSAIDs + anticoagulants → ↑ bleeding risk</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NSAIDs + ACE inhibitors/ARBs → ↑ AKI risk ("triple whammy" with diuretics)</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NSAIDs + diuretics → reduced diuretic effect, ↑ renal risk</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NSAIDs + corticosteroids → ↑ GI ulcer risk</a:t>
            </a:r>
            <a:endParaRPr lang="en-US" sz="1400" dirty="0"/>
          </a:p>
        </p:txBody>
      </p:sp>
      <p:sp>
        <p:nvSpPr>
          <p:cNvPr id="16" name="Text 1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17" name="Text 1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CLINICAL CASE</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Is an NSAID the Right First Choice?</a:t>
            </a:r>
            <a:endParaRPr lang="en-US" sz="2800" dirty="0"/>
          </a:p>
        </p:txBody>
      </p:sp>
      <p:sp>
        <p:nvSpPr>
          <p:cNvPr id="4" name="Shape 2"/>
          <p:cNvSpPr/>
          <p:nvPr/>
        </p:nvSpPr>
        <p:spPr>
          <a:xfrm>
            <a:off x="10972526" y="502841"/>
            <a:ext cx="566823" cy="566837"/>
          </a:xfrm>
          <a:prstGeom prst="ellipse">
            <a:avLst/>
          </a:prstGeom>
          <a:solidFill>
            <a:srgbClr val="D1495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10881048" cy="2011660"/>
          </a:xfrm>
          <a:prstGeom prst="roundRect">
            <a:avLst>
              <a:gd name="adj" fmla="val 5454"/>
            </a:avLst>
          </a:prstGeom>
          <a:solidFill>
            <a:srgbClr val="E8F1F0"/>
          </a:solidFill>
          <a:ln/>
        </p:spPr>
        <p:txBody>
          <a:bodyPr/>
          <a:lstStyle/>
          <a:p>
            <a:endParaRPr lang="en-US"/>
          </a:p>
        </p:txBody>
      </p:sp>
      <p:sp>
        <p:nvSpPr>
          <p:cNvPr id="7" name="Text 4"/>
          <p:cNvSpPr/>
          <p:nvPr/>
        </p:nvSpPr>
        <p:spPr>
          <a:xfrm>
            <a:off x="914377" y="1798169"/>
            <a:ext cx="10275234" cy="595709"/>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A1A1A"/>
                </a:solidFill>
                <a:latin typeface="Carlito" pitchFamily="34" charset="0"/>
                <a:ea typeface="Carlito" pitchFamily="34" charset="-122"/>
                <a:cs typeface="Carlito" pitchFamily="34" charset="0"/>
              </a:rPr>
              <a:t>A 72-year-old patient with osteoarthritis also has chronic kidney disease, hypertension, and is taking an anticoagulant.</a:t>
            </a:r>
            <a:endParaRPr lang="en-US" sz="1700" dirty="0"/>
          </a:p>
        </p:txBody>
      </p:sp>
      <p:sp>
        <p:nvSpPr>
          <p:cNvPr id="8" name="Text 5"/>
          <p:cNvSpPr/>
          <p:nvPr/>
        </p:nvSpPr>
        <p:spPr>
          <a:xfrm>
            <a:off x="640044" y="4250313"/>
            <a:ext cx="10881048" cy="274241"/>
          </a:xfrm>
          <a:prstGeom prst="rect">
            <a:avLst/>
          </a:prstGeom>
          <a:noFill/>
          <a:ln/>
        </p:spPr>
        <p:txBody>
          <a:bodyPr wrap="none" lIns="0" tIns="0" rIns="0" bIns="0" rtlCol="0" anchor="t"/>
          <a:lstStyle/>
          <a:p>
            <a:pPr marL="0" indent="0" algn="l">
              <a:lnSpc>
                <a:spcPct val="100000"/>
              </a:lnSpc>
              <a:buNone/>
            </a:pPr>
            <a:r>
              <a:rPr lang="en-US" sz="1800" b="1" dirty="0">
                <a:solidFill>
                  <a:srgbClr val="D1495B"/>
                </a:solidFill>
                <a:latin typeface="Carlito Bold" pitchFamily="34" charset="0"/>
                <a:ea typeface="Carlito Bold" pitchFamily="34" charset="-122"/>
                <a:cs typeface="Carlito Bold" pitchFamily="34" charset="0"/>
              </a:rPr>
              <a:t>Ask yourself:  </a:t>
            </a:r>
            <a:r>
              <a:rPr lang="en-US" sz="1800" b="1" dirty="0">
                <a:solidFill>
                  <a:srgbClr val="123C44"/>
                </a:solidFill>
                <a:latin typeface="Carlito Bold" pitchFamily="34" charset="0"/>
                <a:ea typeface="Carlito Bold" pitchFamily="34" charset="-122"/>
                <a:cs typeface="Carlito Bold" pitchFamily="34" charset="0"/>
              </a:rPr>
              <a:t>Is an NSAID a good first-line choice for this patient’s pain? Why or why not?</a:t>
            </a:r>
            <a:endParaRPr lang="en-US" sz="1800" dirty="0"/>
          </a:p>
        </p:txBody>
      </p:sp>
      <p:sp>
        <p:nvSpPr>
          <p:cNvPr id="9" name="Text 6"/>
          <p:cNvSpPr/>
          <p:nvPr/>
        </p:nvSpPr>
        <p:spPr>
          <a:xfrm>
            <a:off x="640044" y="5061522"/>
            <a:ext cx="10823900" cy="490537"/>
          </a:xfrm>
          <a:prstGeom prst="rect">
            <a:avLst/>
          </a:prstGeom>
          <a:noFill/>
          <a:ln/>
        </p:spPr>
        <p:txBody>
          <a:bodyPr wrap="square" lIns="0" tIns="0" rIns="0" bIns="0" rtlCol="0" anchor="t">
            <a:normAutofit/>
          </a:bodyPr>
          <a:lstStyle/>
          <a:p>
            <a:pPr marL="0" indent="0" algn="l">
              <a:lnSpc>
                <a:spcPct val="115000"/>
              </a:lnSpc>
              <a:buNone/>
            </a:pPr>
            <a:r>
              <a:rPr lang="en-US" sz="1400" b="1" i="1" dirty="0">
                <a:solidFill>
                  <a:srgbClr val="0F7173"/>
                </a:solidFill>
                <a:latin typeface="Carlito Bold" pitchFamily="34" charset="0"/>
                <a:ea typeface="Carlito Bold" pitchFamily="34" charset="-122"/>
                <a:cs typeface="Carlito Bold" pitchFamily="34" charset="0"/>
              </a:rPr>
              <a:t>Clinical pearl:  </a:t>
            </a:r>
            <a:r>
              <a:rPr lang="en-US" sz="1400" i="1" dirty="0">
                <a:solidFill>
                  <a:srgbClr val="5C6B73"/>
                </a:solidFill>
                <a:latin typeface="Carlito" pitchFamily="34" charset="0"/>
                <a:ea typeface="Carlito" pitchFamily="34" charset="-122"/>
                <a:cs typeface="Carlito" pitchFamily="34" charset="0"/>
              </a:rPr>
              <a:t>This patient has three separate NSAID red flags at once (renal disease, anticoagulation, and age-related bleeding risk) — acetaminophen or a non-NSAID strategy is generally safer first-line.</a:t>
            </a:r>
            <a:endParaRPr lang="en-US" sz="1400" dirty="0"/>
          </a:p>
        </p:txBody>
      </p:sp>
      <p:sp>
        <p:nvSpPr>
          <p:cNvPr id="10" name="Text 7"/>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11" name="Text 8"/>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QUICK CHECK · NSAIDS</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Quick Check</a:t>
            </a:r>
            <a:endParaRPr lang="en-US" sz="2800" dirty="0"/>
          </a:p>
        </p:txBody>
      </p:sp>
      <p:sp>
        <p:nvSpPr>
          <p:cNvPr id="4" name="Shape 2"/>
          <p:cNvSpPr/>
          <p:nvPr/>
        </p:nvSpPr>
        <p:spPr>
          <a:xfrm>
            <a:off x="10972526" y="502841"/>
            <a:ext cx="566823" cy="566837"/>
          </a:xfrm>
          <a:prstGeom prst="ellipse">
            <a:avLst/>
          </a:prstGeom>
          <a:solidFill>
            <a:srgbClr val="0F717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640044" y="1403350"/>
            <a:ext cx="10823900" cy="648295"/>
          </a:xfrm>
          <a:prstGeom prst="rect">
            <a:avLst/>
          </a:prstGeom>
          <a:noFill/>
          <a:ln/>
        </p:spPr>
        <p:txBody>
          <a:bodyPr wrap="square" lIns="0" tIns="0" rIns="0" bIns="0" rtlCol="0" anchor="t">
            <a:normAutofit/>
          </a:bodyPr>
          <a:lstStyle/>
          <a:p>
            <a:pPr marL="0" indent="0" algn="l">
              <a:lnSpc>
                <a:spcPct val="115000"/>
              </a:lnSpc>
              <a:buNone/>
            </a:pPr>
            <a:r>
              <a:rPr lang="en-US" sz="1850" b="1" dirty="0">
                <a:solidFill>
                  <a:srgbClr val="123C44"/>
                </a:solidFill>
                <a:latin typeface="Carlito Bold" pitchFamily="34" charset="0"/>
                <a:ea typeface="Carlito Bold" pitchFamily="34" charset="-122"/>
                <a:cs typeface="Carlito Bold" pitchFamily="34" charset="0"/>
              </a:rPr>
              <a:t>A patient with CKD, hypertension, and anticoagulant use needs analgesia for osteoarthritis. Which class carries the highest combined renal and bleeding risk for this patient?</a:t>
            </a:r>
            <a:endParaRPr lang="en-US" sz="1850" dirty="0"/>
          </a:p>
        </p:txBody>
      </p:sp>
      <p:sp>
        <p:nvSpPr>
          <p:cNvPr id="7" name="Shape 4"/>
          <p:cNvSpPr/>
          <p:nvPr/>
        </p:nvSpPr>
        <p:spPr>
          <a:xfrm>
            <a:off x="640044" y="2605980"/>
            <a:ext cx="5257668" cy="1097260"/>
          </a:xfrm>
          <a:prstGeom prst="roundRect">
            <a:avLst>
              <a:gd name="adj" fmla="val 8000"/>
            </a:avLst>
          </a:prstGeom>
          <a:solidFill>
            <a:srgbClr val="E8F1F0"/>
          </a:solidFill>
          <a:ln/>
        </p:spPr>
        <p:txBody>
          <a:bodyPr/>
          <a:lstStyle/>
          <a:p>
            <a:endParaRPr lang="en-US"/>
          </a:p>
        </p:txBody>
      </p:sp>
      <p:sp>
        <p:nvSpPr>
          <p:cNvPr id="8" name="Shape 5"/>
          <p:cNvSpPr/>
          <p:nvPr/>
        </p:nvSpPr>
        <p:spPr>
          <a:xfrm>
            <a:off x="804644" y="2944316"/>
            <a:ext cx="420578" cy="420588"/>
          </a:xfrm>
          <a:prstGeom prst="ellipse">
            <a:avLst/>
          </a:prstGeom>
          <a:solidFill>
            <a:srgbClr val="2A6F97"/>
          </a:solidFill>
          <a:ln/>
        </p:spPr>
        <p:txBody>
          <a:bodyPr/>
          <a:lstStyle/>
          <a:p>
            <a:endParaRPr lang="en-US"/>
          </a:p>
        </p:txBody>
      </p:sp>
      <p:sp>
        <p:nvSpPr>
          <p:cNvPr id="9" name="Text 6"/>
          <p:cNvSpPr/>
          <p:nvPr/>
        </p:nvSpPr>
        <p:spPr>
          <a:xfrm>
            <a:off x="499852"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A</a:t>
            </a:r>
            <a:endParaRPr lang="en-US" sz="1600" dirty="0"/>
          </a:p>
        </p:txBody>
      </p:sp>
      <p:sp>
        <p:nvSpPr>
          <p:cNvPr id="10" name="Text 7"/>
          <p:cNvSpPr/>
          <p:nvPr/>
        </p:nvSpPr>
        <p:spPr>
          <a:xfrm>
            <a:off x="138982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Acetaminophen</a:t>
            </a:r>
            <a:endParaRPr lang="en-US" sz="1350" dirty="0"/>
          </a:p>
        </p:txBody>
      </p:sp>
      <p:sp>
        <p:nvSpPr>
          <p:cNvPr id="11" name="Shape 8"/>
          <p:cNvSpPr/>
          <p:nvPr/>
        </p:nvSpPr>
        <p:spPr>
          <a:xfrm>
            <a:off x="6263424" y="2605980"/>
            <a:ext cx="5257668" cy="1097260"/>
          </a:xfrm>
          <a:prstGeom prst="roundRect">
            <a:avLst>
              <a:gd name="adj" fmla="val 8000"/>
            </a:avLst>
          </a:prstGeom>
          <a:solidFill>
            <a:srgbClr val="E8F1F0"/>
          </a:solidFill>
          <a:ln/>
        </p:spPr>
        <p:txBody>
          <a:bodyPr/>
          <a:lstStyle/>
          <a:p>
            <a:endParaRPr lang="en-US"/>
          </a:p>
        </p:txBody>
      </p:sp>
      <p:sp>
        <p:nvSpPr>
          <p:cNvPr id="12" name="Shape 9"/>
          <p:cNvSpPr/>
          <p:nvPr/>
        </p:nvSpPr>
        <p:spPr>
          <a:xfrm>
            <a:off x="6428024" y="2944316"/>
            <a:ext cx="420578" cy="420588"/>
          </a:xfrm>
          <a:prstGeom prst="ellipse">
            <a:avLst/>
          </a:prstGeom>
          <a:solidFill>
            <a:srgbClr val="2A6F97"/>
          </a:solidFill>
          <a:ln/>
        </p:spPr>
        <p:txBody>
          <a:bodyPr/>
          <a:lstStyle/>
          <a:p>
            <a:endParaRPr lang="en-US"/>
          </a:p>
        </p:txBody>
      </p:sp>
      <p:sp>
        <p:nvSpPr>
          <p:cNvPr id="13" name="Text 10"/>
          <p:cNvSpPr/>
          <p:nvPr/>
        </p:nvSpPr>
        <p:spPr>
          <a:xfrm>
            <a:off x="6123231"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B</a:t>
            </a:r>
            <a:endParaRPr lang="en-US" sz="1600" dirty="0"/>
          </a:p>
        </p:txBody>
      </p:sp>
      <p:sp>
        <p:nvSpPr>
          <p:cNvPr id="14" name="Text 11"/>
          <p:cNvSpPr/>
          <p:nvPr/>
        </p:nvSpPr>
        <p:spPr>
          <a:xfrm>
            <a:off x="701320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Oral NSAIDs</a:t>
            </a:r>
            <a:endParaRPr lang="en-US" sz="1350" dirty="0"/>
          </a:p>
        </p:txBody>
      </p:sp>
      <p:sp>
        <p:nvSpPr>
          <p:cNvPr id="15" name="Shape 12"/>
          <p:cNvSpPr/>
          <p:nvPr/>
        </p:nvSpPr>
        <p:spPr>
          <a:xfrm>
            <a:off x="640044" y="3977580"/>
            <a:ext cx="5257668" cy="1097260"/>
          </a:xfrm>
          <a:prstGeom prst="roundRect">
            <a:avLst>
              <a:gd name="adj" fmla="val 8000"/>
            </a:avLst>
          </a:prstGeom>
          <a:solidFill>
            <a:srgbClr val="E8F1F0"/>
          </a:solidFill>
          <a:ln/>
        </p:spPr>
        <p:txBody>
          <a:bodyPr/>
          <a:lstStyle/>
          <a:p>
            <a:endParaRPr lang="en-US"/>
          </a:p>
        </p:txBody>
      </p:sp>
      <p:sp>
        <p:nvSpPr>
          <p:cNvPr id="16" name="Shape 13"/>
          <p:cNvSpPr/>
          <p:nvPr/>
        </p:nvSpPr>
        <p:spPr>
          <a:xfrm>
            <a:off x="804644" y="4315916"/>
            <a:ext cx="420578" cy="420588"/>
          </a:xfrm>
          <a:prstGeom prst="ellipse">
            <a:avLst/>
          </a:prstGeom>
          <a:solidFill>
            <a:srgbClr val="2A6F97"/>
          </a:solidFill>
          <a:ln/>
        </p:spPr>
        <p:txBody>
          <a:bodyPr/>
          <a:lstStyle/>
          <a:p>
            <a:endParaRPr lang="en-US"/>
          </a:p>
        </p:txBody>
      </p:sp>
      <p:sp>
        <p:nvSpPr>
          <p:cNvPr id="17" name="Text 14"/>
          <p:cNvSpPr/>
          <p:nvPr/>
        </p:nvSpPr>
        <p:spPr>
          <a:xfrm>
            <a:off x="499852"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a:t>
            </a:r>
            <a:endParaRPr lang="en-US" sz="1600" dirty="0"/>
          </a:p>
        </p:txBody>
      </p:sp>
      <p:sp>
        <p:nvSpPr>
          <p:cNvPr id="18" name="Text 15"/>
          <p:cNvSpPr/>
          <p:nvPr/>
        </p:nvSpPr>
        <p:spPr>
          <a:xfrm>
            <a:off x="138982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Topical capsaicin</a:t>
            </a:r>
            <a:endParaRPr lang="en-US" sz="1350" dirty="0"/>
          </a:p>
        </p:txBody>
      </p:sp>
      <p:sp>
        <p:nvSpPr>
          <p:cNvPr id="19" name="Shape 16"/>
          <p:cNvSpPr/>
          <p:nvPr/>
        </p:nvSpPr>
        <p:spPr>
          <a:xfrm>
            <a:off x="6263424" y="3977580"/>
            <a:ext cx="5257668" cy="1097260"/>
          </a:xfrm>
          <a:prstGeom prst="roundRect">
            <a:avLst>
              <a:gd name="adj" fmla="val 8000"/>
            </a:avLst>
          </a:prstGeom>
          <a:solidFill>
            <a:srgbClr val="E8F1F0"/>
          </a:solidFill>
          <a:ln/>
        </p:spPr>
        <p:txBody>
          <a:bodyPr/>
          <a:lstStyle/>
          <a:p>
            <a:endParaRPr lang="en-US"/>
          </a:p>
        </p:txBody>
      </p:sp>
      <p:sp>
        <p:nvSpPr>
          <p:cNvPr id="20" name="Shape 17"/>
          <p:cNvSpPr/>
          <p:nvPr/>
        </p:nvSpPr>
        <p:spPr>
          <a:xfrm>
            <a:off x="6428024" y="4315916"/>
            <a:ext cx="420578" cy="420588"/>
          </a:xfrm>
          <a:prstGeom prst="ellipse">
            <a:avLst/>
          </a:prstGeom>
          <a:solidFill>
            <a:srgbClr val="2A6F97"/>
          </a:solidFill>
          <a:ln/>
        </p:spPr>
        <p:txBody>
          <a:bodyPr/>
          <a:lstStyle/>
          <a:p>
            <a:endParaRPr lang="en-US"/>
          </a:p>
        </p:txBody>
      </p:sp>
      <p:sp>
        <p:nvSpPr>
          <p:cNvPr id="21" name="Text 18"/>
          <p:cNvSpPr/>
          <p:nvPr/>
        </p:nvSpPr>
        <p:spPr>
          <a:xfrm>
            <a:off x="6123231"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D</a:t>
            </a:r>
            <a:endParaRPr lang="en-US" sz="1600" dirty="0"/>
          </a:p>
        </p:txBody>
      </p:sp>
      <p:sp>
        <p:nvSpPr>
          <p:cNvPr id="22" name="Text 19"/>
          <p:cNvSpPr/>
          <p:nvPr/>
        </p:nvSpPr>
        <p:spPr>
          <a:xfrm>
            <a:off x="701320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Physical therapy alone</a:t>
            </a:r>
            <a:endParaRPr lang="en-US" sz="1350" dirty="0"/>
          </a:p>
        </p:txBody>
      </p:sp>
      <p:sp>
        <p:nvSpPr>
          <p:cNvPr id="23" name="Text 20"/>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24" name="Text 21"/>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ANSWER · NSAIDS</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Answer</a:t>
            </a:r>
            <a:endParaRPr lang="en-US" sz="2800" dirty="0"/>
          </a:p>
        </p:txBody>
      </p:sp>
      <p:sp>
        <p:nvSpPr>
          <p:cNvPr id="4" name="Shape 2"/>
          <p:cNvSpPr/>
          <p:nvPr/>
        </p:nvSpPr>
        <p:spPr>
          <a:xfrm>
            <a:off x="10972526" y="502841"/>
            <a:ext cx="566823" cy="566837"/>
          </a:xfrm>
          <a:prstGeom prst="ellipse">
            <a:avLst/>
          </a:prstGeom>
          <a:solidFill>
            <a:srgbClr val="6B9080"/>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10881048" cy="1234380"/>
          </a:xfrm>
          <a:prstGeom prst="roundRect">
            <a:avLst>
              <a:gd name="adj" fmla="val 8889"/>
            </a:avLst>
          </a:prstGeom>
          <a:solidFill>
            <a:srgbClr val="E8F1F0"/>
          </a:solidFill>
          <a:ln/>
        </p:spPr>
        <p:txBody>
          <a:bodyPr/>
          <a:lstStyle/>
          <a:p>
            <a:endParaRPr lang="en-US"/>
          </a:p>
        </p:txBody>
      </p:sp>
      <p:sp>
        <p:nvSpPr>
          <p:cNvPr id="7" name="Shape 4"/>
          <p:cNvSpPr/>
          <p:nvPr/>
        </p:nvSpPr>
        <p:spPr>
          <a:xfrm>
            <a:off x="868638" y="1851620"/>
            <a:ext cx="731422" cy="731441"/>
          </a:xfrm>
          <a:prstGeom prst="ellipse">
            <a:avLst/>
          </a:prstGeom>
          <a:solidFill>
            <a:srgbClr val="6B9080"/>
          </a:solidFill>
          <a:ln/>
        </p:spPr>
        <p:txBody>
          <a:bodyPr/>
          <a:lstStyle/>
          <a:p>
            <a:endParaRPr lang="en-US"/>
          </a:p>
        </p:txBody>
      </p:sp>
      <p:sp>
        <p:nvSpPr>
          <p:cNvPr id="8" name="Text 5"/>
          <p:cNvSpPr/>
          <p:nvPr/>
        </p:nvSpPr>
        <p:spPr>
          <a:xfrm>
            <a:off x="868638" y="2019300"/>
            <a:ext cx="731422" cy="396180"/>
          </a:xfrm>
          <a:prstGeom prst="rect">
            <a:avLst/>
          </a:prstGeom>
          <a:noFill/>
          <a:ln/>
        </p:spPr>
        <p:txBody>
          <a:bodyPr wrap="none" lIns="0" tIns="0" rIns="0" bIns="0" rtlCol="0" anchor="t"/>
          <a:lstStyle/>
          <a:p>
            <a:pPr marL="0" indent="0" algn="ctr">
              <a:lnSpc>
                <a:spcPct val="100000"/>
              </a:lnSpc>
              <a:buNone/>
            </a:pPr>
            <a:r>
              <a:rPr lang="en-US" sz="2600" b="1" kern="100" spc="29" dirty="0">
                <a:solidFill>
                  <a:srgbClr val="FFFFFF"/>
                </a:solidFill>
                <a:latin typeface="Caladea Bold" pitchFamily="34" charset="0"/>
                <a:ea typeface="Caladea Bold" pitchFamily="34" charset="-122"/>
                <a:cs typeface="Caladea Bold" pitchFamily="34" charset="0"/>
              </a:rPr>
              <a:t>B</a:t>
            </a:r>
            <a:endParaRPr lang="en-US" sz="2600" dirty="0"/>
          </a:p>
        </p:txBody>
      </p:sp>
      <p:sp>
        <p:nvSpPr>
          <p:cNvPr id="9" name="Text 6"/>
          <p:cNvSpPr/>
          <p:nvPr/>
        </p:nvSpPr>
        <p:spPr>
          <a:xfrm>
            <a:off x="1828754" y="2081510"/>
            <a:ext cx="10027590" cy="280392"/>
          </a:xfrm>
          <a:prstGeom prst="rect">
            <a:avLst/>
          </a:prstGeom>
          <a:noFill/>
          <a:ln/>
        </p:spPr>
        <p:txBody>
          <a:bodyPr wrap="none" lIns="0" tIns="0" rIns="0" bIns="0" rtlCol="0" anchor="t"/>
          <a:lstStyle/>
          <a:p>
            <a:pPr marL="0" indent="0" algn="l">
              <a:lnSpc>
                <a:spcPct val="115000"/>
              </a:lnSpc>
              <a:buNone/>
            </a:pPr>
            <a:r>
              <a:rPr lang="en-US" sz="1600" b="1" dirty="0">
                <a:solidFill>
                  <a:srgbClr val="123C44"/>
                </a:solidFill>
                <a:latin typeface="Carlito Bold" pitchFamily="34" charset="0"/>
                <a:ea typeface="Carlito Bold" pitchFamily="34" charset="-122"/>
                <a:cs typeface="Carlito Bold" pitchFamily="34" charset="0"/>
              </a:rPr>
              <a:t>Oral NSAIDs.</a:t>
            </a:r>
            <a:endParaRPr lang="en-US" sz="1600" dirty="0"/>
          </a:p>
        </p:txBody>
      </p:sp>
      <p:sp>
        <p:nvSpPr>
          <p:cNvPr id="10" name="Text 7"/>
          <p:cNvSpPr/>
          <p:nvPr/>
        </p:nvSpPr>
        <p:spPr>
          <a:xfrm>
            <a:off x="640044" y="3142357"/>
            <a:ext cx="10823900" cy="571500"/>
          </a:xfrm>
          <a:prstGeom prst="rect">
            <a:avLst/>
          </a:prstGeom>
          <a:noFill/>
          <a:ln/>
        </p:spPr>
        <p:txBody>
          <a:bodyPr wrap="square" lIns="0" tIns="0" rIns="0" bIns="0" rtlCol="0" anchor="t">
            <a:normAutofit/>
          </a:bodyPr>
          <a:lstStyle/>
          <a:p>
            <a:pPr marL="0" indent="0" algn="l">
              <a:lnSpc>
                <a:spcPct val="125000"/>
              </a:lnSpc>
              <a:buNone/>
            </a:pPr>
            <a:r>
              <a:rPr lang="en-US" sz="1500" b="1" dirty="0">
                <a:solidFill>
                  <a:srgbClr val="0F7173"/>
                </a:solidFill>
                <a:latin typeface="Carlito Bold" pitchFamily="34" charset="0"/>
                <a:ea typeface="Carlito Bold" pitchFamily="34" charset="-122"/>
                <a:cs typeface="Carlito Bold" pitchFamily="34" charset="0"/>
              </a:rPr>
              <a:t>Why:  </a:t>
            </a:r>
            <a:r>
              <a:rPr lang="en-US" sz="1500" dirty="0">
                <a:solidFill>
                  <a:srgbClr val="1A1A1A"/>
                </a:solidFill>
                <a:latin typeface="Carlito" pitchFamily="34" charset="0"/>
                <a:ea typeface="Carlito" pitchFamily="34" charset="-122"/>
                <a:cs typeface="Carlito" pitchFamily="34" charset="0"/>
              </a:rPr>
              <a:t>This patient has multiple NSAID red flags at once: CKD (renal risk), anticoagulant use (bleeding risk), and hypertension (cardiovascular risk) — oral NSAIDs carry the highest combined risk here.</a:t>
            </a:r>
            <a:endParaRPr lang="en-US" sz="1500" dirty="0"/>
          </a:p>
        </p:txBody>
      </p:sp>
      <p:sp>
        <p:nvSpPr>
          <p:cNvPr id="11" name="Text 8"/>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12" name="Text 9"/>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F7173"/>
        </a:solidFill>
        <a:effectLst/>
      </p:bgPr>
    </p:bg>
    <p:spTree>
      <p:nvGrpSpPr>
        <p:cNvPr id="1" name=""/>
        <p:cNvGrpSpPr/>
        <p:nvPr/>
      </p:nvGrpSpPr>
      <p:grpSpPr>
        <a:xfrm>
          <a:off x="0" y="0"/>
          <a:ext cx="0" cy="0"/>
          <a:chOff x="0" y="0"/>
          <a:chExt cx="0" cy="0"/>
        </a:xfrm>
      </p:grpSpPr>
      <p:sp>
        <p:nvSpPr>
          <p:cNvPr id="2" name="Text 0"/>
          <p:cNvSpPr/>
          <p:nvPr/>
        </p:nvSpPr>
        <p:spPr>
          <a:xfrm>
            <a:off x="914278" y="2011660"/>
            <a:ext cx="2777460" cy="1036241"/>
          </a:xfrm>
          <a:prstGeom prst="rect">
            <a:avLst/>
          </a:prstGeom>
          <a:noFill/>
          <a:ln/>
        </p:spPr>
        <p:txBody>
          <a:bodyPr wrap="none" lIns="0" tIns="0" rIns="0" bIns="0" rtlCol="0" anchor="t"/>
          <a:lstStyle/>
          <a:p>
            <a:pPr marL="0" indent="0" algn="l">
              <a:lnSpc>
                <a:spcPct val="100000"/>
              </a:lnSpc>
              <a:buNone/>
            </a:pPr>
            <a:r>
              <a:rPr lang="en-US" sz="6800" b="1" kern="100" spc="75" dirty="0">
                <a:solidFill>
                  <a:srgbClr val="E9A23B"/>
                </a:solidFill>
                <a:latin typeface="Caladea Bold" pitchFamily="34" charset="0"/>
                <a:ea typeface="Caladea Bold" pitchFamily="34" charset="-122"/>
                <a:cs typeface="Caladea Bold" pitchFamily="34" charset="0"/>
              </a:rPr>
              <a:t>04</a:t>
            </a:r>
            <a:endParaRPr lang="en-US" sz="6800" dirty="0"/>
          </a:p>
        </p:txBody>
      </p:sp>
      <p:sp>
        <p:nvSpPr>
          <p:cNvPr id="3" name="Text 1"/>
          <p:cNvSpPr/>
          <p:nvPr/>
        </p:nvSpPr>
        <p:spPr>
          <a:xfrm>
            <a:off x="914278" y="3474641"/>
            <a:ext cx="9543811" cy="487660"/>
          </a:xfrm>
          <a:prstGeom prst="rect">
            <a:avLst/>
          </a:prstGeom>
          <a:noFill/>
          <a:ln/>
        </p:spPr>
        <p:txBody>
          <a:bodyPr wrap="none" lIns="0" tIns="0" rIns="0" bIns="0" rtlCol="0" anchor="t"/>
          <a:lstStyle/>
          <a:p>
            <a:pPr marL="0" indent="0" algn="l">
              <a:lnSpc>
                <a:spcPct val="100000"/>
              </a:lnSpc>
              <a:buNone/>
            </a:pPr>
            <a:r>
              <a:rPr lang="en-US" sz="3200" b="1" kern="100" spc="35" dirty="0">
                <a:solidFill>
                  <a:srgbClr val="FFFFFF"/>
                </a:solidFill>
                <a:latin typeface="Caladea Bold" pitchFamily="34" charset="0"/>
                <a:ea typeface="Caladea Bold" pitchFamily="34" charset="-122"/>
                <a:cs typeface="Caladea Bold" pitchFamily="34" charset="0"/>
              </a:rPr>
              <a:t>Osteoarthritis &amp; Rheumatoid Arthritis</a:t>
            </a:r>
            <a:endParaRPr lang="en-US" sz="3200" dirty="0"/>
          </a:p>
        </p:txBody>
      </p:sp>
      <p:sp>
        <p:nvSpPr>
          <p:cNvPr id="4" name="Text 2"/>
          <p:cNvSpPr/>
          <p:nvPr/>
        </p:nvSpPr>
        <p:spPr>
          <a:xfrm>
            <a:off x="841156" y="1555941"/>
            <a:ext cx="4267093" cy="227806"/>
          </a:xfrm>
          <a:prstGeom prst="rect">
            <a:avLst/>
          </a:prstGeom>
          <a:noFill/>
          <a:ln/>
        </p:spPr>
        <p:txBody>
          <a:bodyPr wrap="none" lIns="0" tIns="0" rIns="0" bIns="0" rtlCol="0" anchor="t"/>
          <a:lstStyle/>
          <a:p>
            <a:pPr marL="0" indent="0" algn="l">
              <a:lnSpc>
                <a:spcPct val="115000"/>
              </a:lnSpc>
              <a:buNone/>
            </a:pPr>
            <a:r>
              <a:rPr lang="en-US" sz="1300" b="1" kern="100" spc="200" dirty="0">
                <a:solidFill>
                  <a:srgbClr val="E8F1F0"/>
                </a:solidFill>
                <a:latin typeface="Carlito Bold" pitchFamily="34" charset="0"/>
                <a:ea typeface="Carlito Bold" pitchFamily="34" charset="-122"/>
                <a:cs typeface="Carlito Bold" pitchFamily="34" charset="0"/>
              </a:rPr>
              <a:t>SECTION</a:t>
            </a:r>
            <a:endParaRPr lang="en-US" sz="1300" dirty="0"/>
          </a:p>
        </p:txBody>
      </p:sp>
      <p:sp>
        <p:nvSpPr>
          <p:cNvPr id="5" name="Text 3"/>
          <p:cNvSpPr/>
          <p:nvPr/>
        </p:nvSpPr>
        <p:spPr>
          <a:xfrm>
            <a:off x="822900" y="5450443"/>
            <a:ext cx="10301923" cy="262830"/>
          </a:xfrm>
          <a:prstGeom prst="rect">
            <a:avLst/>
          </a:prstGeom>
          <a:noFill/>
          <a:ln/>
        </p:spPr>
        <p:txBody>
          <a:bodyPr wrap="none" lIns="0" tIns="0" rIns="0" bIns="0" rtlCol="0" anchor="t"/>
          <a:lstStyle/>
          <a:p>
            <a:pPr marL="0" indent="0" algn="l">
              <a:lnSpc>
                <a:spcPct val="115000"/>
              </a:lnSpc>
              <a:buNone/>
            </a:pPr>
            <a:r>
              <a:rPr lang="en-US" sz="1500" i="1" dirty="0">
                <a:solidFill>
                  <a:srgbClr val="E8F1F0"/>
                </a:solidFill>
                <a:latin typeface="Carlito" pitchFamily="34" charset="0"/>
                <a:ea typeface="Carlito" pitchFamily="34" charset="-122"/>
                <a:cs typeface="Carlito" pitchFamily="34" charset="0"/>
              </a:rPr>
              <a:t>Two very different diseases that both affect the joint.</a:t>
            </a:r>
            <a:endParaRPr lang="en-US" sz="1500" dirty="0"/>
          </a:p>
        </p:txBody>
      </p:sp>
      <p:sp>
        <p:nvSpPr>
          <p:cNvPr id="6" name="Shape 4"/>
          <p:cNvSpPr/>
          <p:nvPr/>
        </p:nvSpPr>
        <p:spPr>
          <a:xfrm>
            <a:off x="10058148" y="685800"/>
            <a:ext cx="1051494" cy="1051520"/>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310455" y="938113"/>
            <a:ext cx="546781" cy="54679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44" y="1600200"/>
            <a:ext cx="5211930" cy="4526260"/>
          </a:xfrm>
          <a:prstGeom prst="roundRect">
            <a:avLst>
              <a:gd name="adj" fmla="val 2424"/>
            </a:avLst>
          </a:prstGeom>
          <a:solidFill>
            <a:srgbClr val="E8F1F0"/>
          </a:solidFill>
          <a:ln/>
        </p:spPr>
        <p:txBody>
          <a:bodyPr/>
          <a:lstStyle/>
          <a:p>
            <a:endParaRPr lang="en-US"/>
          </a:p>
        </p:txBody>
      </p:sp>
      <p:sp>
        <p:nvSpPr>
          <p:cNvPr id="3" name="Shape 1"/>
          <p:cNvSpPr/>
          <p:nvPr/>
        </p:nvSpPr>
        <p:spPr>
          <a:xfrm>
            <a:off x="6309162" y="1600200"/>
            <a:ext cx="5211930" cy="4526260"/>
          </a:xfrm>
          <a:prstGeom prst="roundRect">
            <a:avLst>
              <a:gd name="adj" fmla="val 2424"/>
            </a:avLst>
          </a:prstGeom>
          <a:solidFill>
            <a:srgbClr val="E8F1F0"/>
          </a:solidFill>
          <a:ln/>
        </p:spPr>
        <p:txBody>
          <a:bodyPr/>
          <a:lstStyle/>
          <a:p>
            <a:endParaRPr lang="en-US"/>
          </a:p>
        </p:txBody>
      </p:sp>
      <p:sp>
        <p:nvSpPr>
          <p:cNvPr id="4" name="Text 2"/>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TWO DIFFERENT DISEASES</a:t>
            </a:r>
            <a:endParaRPr lang="en-US" sz="1200" dirty="0"/>
          </a:p>
        </p:txBody>
      </p:sp>
      <p:sp>
        <p:nvSpPr>
          <p:cNvPr id="5" name="Text 3"/>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Osteoarthritis vs. Rheumatoid Arthritis</a:t>
            </a:r>
            <a:endParaRPr lang="en-US" sz="2800" dirty="0"/>
          </a:p>
        </p:txBody>
      </p:sp>
      <p:sp>
        <p:nvSpPr>
          <p:cNvPr id="6" name="Shape 4"/>
          <p:cNvSpPr/>
          <p:nvPr/>
        </p:nvSpPr>
        <p:spPr>
          <a:xfrm>
            <a:off x="10972526" y="502841"/>
            <a:ext cx="566823" cy="566837"/>
          </a:xfrm>
          <a:prstGeom prst="ellipse">
            <a:avLst/>
          </a:prstGeom>
          <a:solidFill>
            <a:srgbClr val="E9A2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8" name="Shape 5"/>
          <p:cNvSpPr/>
          <p:nvPr/>
        </p:nvSpPr>
        <p:spPr>
          <a:xfrm>
            <a:off x="640044" y="1600200"/>
            <a:ext cx="5211831" cy="502841"/>
          </a:xfrm>
          <a:prstGeom prst="roundRect">
            <a:avLst>
              <a:gd name="adj" fmla="val 21821"/>
            </a:avLst>
          </a:prstGeom>
          <a:solidFill>
            <a:srgbClr val="0F7173"/>
          </a:solidFill>
          <a:ln/>
        </p:spPr>
        <p:txBody>
          <a:bodyPr/>
          <a:lstStyle/>
          <a:p>
            <a:endParaRPr lang="en-US"/>
          </a:p>
        </p:txBody>
      </p:sp>
      <p:sp>
        <p:nvSpPr>
          <p:cNvPr id="9" name="Shape 6"/>
          <p:cNvSpPr/>
          <p:nvPr/>
        </p:nvSpPr>
        <p:spPr>
          <a:xfrm>
            <a:off x="640044" y="1856184"/>
            <a:ext cx="5211831" cy="255984"/>
          </a:xfrm>
          <a:prstGeom prst="rect">
            <a:avLst/>
          </a:prstGeom>
          <a:solidFill>
            <a:srgbClr val="0F7173"/>
          </a:solidFill>
          <a:ln/>
        </p:spPr>
        <p:txBody>
          <a:bodyPr/>
          <a:lstStyle/>
          <a:p>
            <a:endParaRPr lang="en-US"/>
          </a:p>
        </p:txBody>
      </p:sp>
      <p:sp>
        <p:nvSpPr>
          <p:cNvPr id="10" name="Text 7"/>
          <p:cNvSpPr/>
          <p:nvPr/>
        </p:nvSpPr>
        <p:spPr>
          <a:xfrm>
            <a:off x="841156"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Osteoarthritis (OA)</a:t>
            </a:r>
            <a:endParaRPr lang="en-US" sz="1600" dirty="0"/>
          </a:p>
        </p:txBody>
      </p:sp>
      <p:sp>
        <p:nvSpPr>
          <p:cNvPr id="11" name="Text 8"/>
          <p:cNvSpPr/>
          <p:nvPr/>
        </p:nvSpPr>
        <p:spPr>
          <a:xfrm>
            <a:off x="1046236" y="2272010"/>
            <a:ext cx="4576946" cy="868362"/>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Primarily degenerative joint disease</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Cartilage breakdown with mechanical wear</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Treatment goal: pain control and function</a:t>
            </a:r>
            <a:endParaRPr lang="en-US" sz="1400" dirty="0"/>
          </a:p>
        </p:txBody>
      </p:sp>
      <p:sp>
        <p:nvSpPr>
          <p:cNvPr id="12" name="Shape 9"/>
          <p:cNvSpPr/>
          <p:nvPr/>
        </p:nvSpPr>
        <p:spPr>
          <a:xfrm>
            <a:off x="6309162" y="1600200"/>
            <a:ext cx="5211831" cy="502841"/>
          </a:xfrm>
          <a:prstGeom prst="roundRect">
            <a:avLst>
              <a:gd name="adj" fmla="val 21821"/>
            </a:avLst>
          </a:prstGeom>
          <a:solidFill>
            <a:srgbClr val="D1495B"/>
          </a:solidFill>
          <a:ln/>
        </p:spPr>
        <p:txBody>
          <a:bodyPr/>
          <a:lstStyle/>
          <a:p>
            <a:endParaRPr lang="en-US"/>
          </a:p>
        </p:txBody>
      </p:sp>
      <p:sp>
        <p:nvSpPr>
          <p:cNvPr id="13" name="Shape 10"/>
          <p:cNvSpPr/>
          <p:nvPr/>
        </p:nvSpPr>
        <p:spPr>
          <a:xfrm>
            <a:off x="6309162" y="1856184"/>
            <a:ext cx="5211831" cy="255984"/>
          </a:xfrm>
          <a:prstGeom prst="rect">
            <a:avLst/>
          </a:prstGeom>
          <a:solidFill>
            <a:srgbClr val="D1495B"/>
          </a:solidFill>
          <a:ln/>
        </p:spPr>
        <p:txBody>
          <a:bodyPr/>
          <a:lstStyle/>
          <a:p>
            <a:endParaRPr lang="en-US"/>
          </a:p>
        </p:txBody>
      </p:sp>
      <p:sp>
        <p:nvSpPr>
          <p:cNvPr id="14" name="Text 11"/>
          <p:cNvSpPr/>
          <p:nvPr/>
        </p:nvSpPr>
        <p:spPr>
          <a:xfrm>
            <a:off x="6510274" y="1729680"/>
            <a:ext cx="5010818"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Rheumatoid Arthritis (RA)</a:t>
            </a:r>
            <a:endParaRPr lang="en-US" sz="1600" dirty="0"/>
          </a:p>
        </p:txBody>
      </p:sp>
      <p:sp>
        <p:nvSpPr>
          <p:cNvPr id="15" name="Text 12"/>
          <p:cNvSpPr/>
          <p:nvPr/>
        </p:nvSpPr>
        <p:spPr>
          <a:xfrm>
            <a:off x="6715354" y="2272010"/>
            <a:ext cx="4576946" cy="868362"/>
          </a:xfrm>
          <a:prstGeom prst="rect">
            <a:avLst/>
          </a:prstGeom>
          <a:noFill/>
          <a:ln/>
        </p:spPr>
        <p:txBody>
          <a:bodyPr wrap="square" lIns="0" tIns="0" rIns="0" bIns="0" rtlCol="0" anchor="t"/>
          <a:lstStyle/>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Autoimmune, systemic inflammatory disease</a:t>
            </a:r>
            <a:endParaRPr lang="en-US" sz="1400" dirty="0"/>
          </a:p>
          <a:p>
            <a:pPr marL="0" indent="0" algn="l">
              <a:lnSpc>
                <a:spcPct val="100000"/>
              </a:lnSpc>
              <a:spcAft>
                <a:spcPts val="850"/>
              </a:spcAft>
              <a:buNone/>
            </a:pPr>
            <a:r>
              <a:rPr lang="en-US" sz="1400" dirty="0">
                <a:solidFill>
                  <a:srgbClr val="1A1A1A"/>
                </a:solidFill>
                <a:latin typeface="Carlito" pitchFamily="34" charset="0"/>
                <a:ea typeface="Carlito" pitchFamily="34" charset="-122"/>
                <a:cs typeface="Carlito" pitchFamily="34" charset="0"/>
              </a:rPr>
              <a:t>–   Immune-mediated joint destruction</a:t>
            </a:r>
            <a:endParaRPr lang="en-US" sz="1400" dirty="0"/>
          </a:p>
          <a:p>
            <a:pPr marL="0" indent="0" algn="l">
              <a:lnSpc>
                <a:spcPct val="100000"/>
              </a:lnSpc>
              <a:buNone/>
            </a:pPr>
            <a:r>
              <a:rPr lang="en-US" sz="1400" dirty="0">
                <a:solidFill>
                  <a:srgbClr val="1A1A1A"/>
                </a:solidFill>
                <a:latin typeface="Carlito" pitchFamily="34" charset="0"/>
                <a:ea typeface="Carlito" pitchFamily="34" charset="-122"/>
                <a:cs typeface="Carlito" pitchFamily="34" charset="0"/>
              </a:rPr>
              <a:t>–   Treatment goal: suppress disease activity, not just pain</a:t>
            </a:r>
            <a:endParaRPr lang="en-US" sz="1400" dirty="0"/>
          </a:p>
        </p:txBody>
      </p:sp>
      <p:sp>
        <p:nvSpPr>
          <p:cNvPr id="16" name="Text 1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17" name="Text 1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41</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60866"/>
            <a:ext cx="10972526" cy="422176"/>
          </a:xfrm>
          <a:prstGeom prst="rect">
            <a:avLst/>
          </a:prstGeom>
          <a:noFill/>
          <a:ln/>
        </p:spPr>
        <p:txBody>
          <a:bodyPr wrap="none" lIns="0" tIns="0" rIns="0" bIns="0" rtlCol="0" anchor="t"/>
          <a:lstStyle/>
          <a:p>
            <a:pPr marL="0" indent="0" algn="l">
              <a:lnSpc>
                <a:spcPct val="100000"/>
              </a:lnSpc>
              <a:buNone/>
            </a:pPr>
            <a:r>
              <a:rPr lang="en-US" sz="2750" b="1" dirty="0">
                <a:solidFill>
                  <a:srgbClr val="123C44"/>
                </a:solidFill>
                <a:latin typeface="Caladea Bold" pitchFamily="34" charset="0"/>
                <a:ea typeface="Caladea Bold" pitchFamily="34" charset="-122"/>
                <a:cs typeface="Caladea Bold" pitchFamily="34" charset="0"/>
              </a:rPr>
              <a:t>Osteoarthritis vs. Rheumatoid Arthritis: Pathophysiology</a:t>
            </a:r>
            <a:endParaRPr lang="en-US" sz="2750" dirty="0"/>
          </a:p>
        </p:txBody>
      </p:sp>
      <p:pic>
        <p:nvPicPr>
          <p:cNvPr id="4" name="Image 0" descr="preencoded.png"/>
          <p:cNvPicPr>
            <a:picLocks noChangeAspect="1"/>
          </p:cNvPicPr>
          <p:nvPr/>
        </p:nvPicPr>
        <p:blipFill>
          <a:blip r:embed="rId3"/>
          <a:stretch>
            <a:fillRect/>
          </a:stretch>
        </p:blipFill>
        <p:spPr>
          <a:xfrm>
            <a:off x="838179" y="1831479"/>
            <a:ext cx="5760497" cy="3240286"/>
          </a:xfrm>
          <a:prstGeom prst="rect">
            <a:avLst/>
          </a:prstGeom>
        </p:spPr>
      </p:pic>
      <p:sp>
        <p:nvSpPr>
          <p:cNvPr id="5" name="Text 2"/>
          <p:cNvSpPr/>
          <p:nvPr/>
        </p:nvSpPr>
        <p:spPr>
          <a:xfrm>
            <a:off x="6827270" y="1831479"/>
            <a:ext cx="4754840" cy="1819473"/>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OA:</a:t>
            </a:r>
            <a:r>
              <a:rPr lang="en-US" sz="1600" dirty="0">
                <a:solidFill>
                  <a:srgbClr val="1A1A1A"/>
                </a:solidFill>
                <a:latin typeface="Carlito" pitchFamily="34" charset="0"/>
                <a:ea typeface="Carlito" pitchFamily="34" charset="-122"/>
                <a:cs typeface="Carlito" pitchFamily="34" charset="0"/>
              </a:rPr>
              <a:t> mechanical wear degrades cartilage; bone remodels with osteophytes.</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RA:</a:t>
            </a:r>
            <a:r>
              <a:rPr lang="en-US" sz="1600" dirty="0">
                <a:solidFill>
                  <a:srgbClr val="1A1A1A"/>
                </a:solidFill>
                <a:latin typeface="Carlito" pitchFamily="34" charset="0"/>
                <a:ea typeface="Carlito" pitchFamily="34" charset="-122"/>
                <a:cs typeface="Carlito" pitchFamily="34" charset="0"/>
              </a:rPr>
              <a:t> autoimmune synovitis forms a pannus that erodes cartilage and bone.</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Key RA cytokines:</a:t>
            </a:r>
            <a:r>
              <a:rPr lang="en-US" sz="1600" dirty="0">
                <a:solidFill>
                  <a:srgbClr val="1A1A1A"/>
                </a:solidFill>
                <a:latin typeface="Carlito" pitchFamily="34" charset="0"/>
                <a:ea typeface="Carlito" pitchFamily="34" charset="-122"/>
                <a:cs typeface="Carlito" pitchFamily="34" charset="0"/>
              </a:rPr>
              <a:t> TNF-α and IL-6 drive inflammation and joint damage.</a:t>
            </a:r>
            <a:endParaRPr lang="en-US" sz="1600" dirty="0"/>
          </a:p>
        </p:txBody>
      </p:sp>
      <p:sp>
        <p:nvSpPr>
          <p:cNvPr id="6" name="Text 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7" name="Text 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OA MANAGEMENT</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Pharmacologic Treatment of Osteoarthritis</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2023368"/>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Acetaminophen — reasonable first-line for mild OA pain</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Oral NSAIDs — effective, but carry the systemic risks already discussed</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Topical NSAIDs — effective local relief with much lower systemic exposure</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Intra-articular corticosteroid injections — short-term relief for flares in a single joint</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Other approaches — activity modification, physical therapy, weight management</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60866"/>
            <a:ext cx="10972526" cy="422176"/>
          </a:xfrm>
          <a:prstGeom prst="rect">
            <a:avLst/>
          </a:prstGeom>
          <a:noFill/>
          <a:ln/>
        </p:spPr>
        <p:txBody>
          <a:bodyPr wrap="none" lIns="0" tIns="0" rIns="0" bIns="0" rtlCol="0" anchor="t"/>
          <a:lstStyle/>
          <a:p>
            <a:pPr marL="0" indent="0" algn="l">
              <a:lnSpc>
                <a:spcPct val="100000"/>
              </a:lnSpc>
              <a:buNone/>
            </a:pPr>
            <a:r>
              <a:rPr lang="en-US" sz="2750" b="1" dirty="0">
                <a:solidFill>
                  <a:srgbClr val="123C44"/>
                </a:solidFill>
                <a:latin typeface="Caladea Bold" pitchFamily="34" charset="0"/>
                <a:ea typeface="Caladea Bold" pitchFamily="34" charset="-122"/>
                <a:cs typeface="Caladea Bold" pitchFamily="34" charset="0"/>
              </a:rPr>
              <a:t>Where Each Analgesic Acts in Osteoarthritis</a:t>
            </a:r>
            <a:endParaRPr lang="en-US" sz="2750" dirty="0"/>
          </a:p>
        </p:txBody>
      </p:sp>
      <p:pic>
        <p:nvPicPr>
          <p:cNvPr id="4" name="Image 0" descr="preencoded.png"/>
          <p:cNvPicPr>
            <a:picLocks noChangeAspect="1"/>
          </p:cNvPicPr>
          <p:nvPr/>
        </p:nvPicPr>
        <p:blipFill>
          <a:blip r:embed="rId3"/>
          <a:stretch>
            <a:fillRect/>
          </a:stretch>
        </p:blipFill>
        <p:spPr>
          <a:xfrm>
            <a:off x="838179" y="1831479"/>
            <a:ext cx="5760497" cy="3225899"/>
          </a:xfrm>
          <a:prstGeom prst="rect">
            <a:avLst/>
          </a:prstGeom>
        </p:spPr>
      </p:pic>
      <p:sp>
        <p:nvSpPr>
          <p:cNvPr id="5" name="Text 2"/>
          <p:cNvSpPr/>
          <p:nvPr/>
        </p:nvSpPr>
        <p:spPr>
          <a:xfrm>
            <a:off x="6827270" y="1831479"/>
            <a:ext cx="4754840" cy="1819473"/>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Acetaminophen:</a:t>
            </a:r>
            <a:r>
              <a:rPr lang="en-US" sz="1600" dirty="0">
                <a:solidFill>
                  <a:srgbClr val="1A1A1A"/>
                </a:solidFill>
                <a:latin typeface="Carlito" pitchFamily="34" charset="0"/>
                <a:ea typeface="Carlito" pitchFamily="34" charset="-122"/>
                <a:cs typeface="Carlito" pitchFamily="34" charset="0"/>
              </a:rPr>
              <a:t> acts centrally; little anti-inflammatory effect in the joint.</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Oral or topical NSAIDs:</a:t>
            </a:r>
            <a:r>
              <a:rPr lang="en-US" sz="1600" dirty="0">
                <a:solidFill>
                  <a:srgbClr val="1A1A1A"/>
                </a:solidFill>
                <a:latin typeface="Carlito" pitchFamily="34" charset="0"/>
                <a:ea typeface="Carlito" pitchFamily="34" charset="-122"/>
                <a:cs typeface="Carlito" pitchFamily="34" charset="0"/>
              </a:rPr>
              <a:t> block COX in joint tissue, lowering prostaglandins.</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Intra-articular steroid:</a:t>
            </a:r>
            <a:r>
              <a:rPr lang="en-US" sz="1600" dirty="0">
                <a:solidFill>
                  <a:srgbClr val="1A1A1A"/>
                </a:solidFill>
                <a:latin typeface="Carlito" pitchFamily="34" charset="0"/>
                <a:ea typeface="Carlito" pitchFamily="34" charset="-122"/>
                <a:cs typeface="Carlito" pitchFamily="34" charset="0"/>
              </a:rPr>
              <a:t> calms local inflammation for a short, fast flare relief.</a:t>
            </a:r>
            <a:endParaRPr lang="en-US" sz="1600" dirty="0"/>
          </a:p>
        </p:txBody>
      </p:sp>
      <p:sp>
        <p:nvSpPr>
          <p:cNvPr id="6" name="Text 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7" name="Text 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44</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CONCEPT</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What Makes a Drug "Disease-Modifying"?</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2521" cy="713780"/>
          </a:xfrm>
          <a:prstGeom prst="rect">
            <a:avLst/>
          </a:prstGeom>
          <a:noFill/>
          <a:ln/>
        </p:spPr>
        <p:txBody>
          <a:bodyPr wrap="square" lIns="0" tIns="0" rIns="0" bIns="0" rtlCol="0" anchor="t"/>
          <a:lstStyle/>
          <a:p>
            <a:pPr marL="0" indent="0" algn="l">
              <a:lnSpc>
                <a:spcPct val="100000"/>
              </a:lnSpc>
              <a:spcAft>
                <a:spcPts val="1750"/>
              </a:spcAft>
              <a:buNone/>
            </a:pPr>
            <a:r>
              <a:rPr lang="en-US" sz="1600" b="1" dirty="0">
                <a:solidFill>
                  <a:srgbClr val="123C44"/>
                </a:solidFill>
                <a:latin typeface="Carlito Bold" pitchFamily="34" charset="0"/>
                <a:ea typeface="Carlito Bold" pitchFamily="34" charset="-122"/>
                <a:cs typeface="Carlito Bold" pitchFamily="34" charset="0"/>
              </a:rPr>
              <a:t>●  DMARD: </a:t>
            </a:r>
            <a:r>
              <a:rPr lang="en-US" sz="1600" dirty="0">
                <a:solidFill>
                  <a:srgbClr val="1A1A1A"/>
                </a:solidFill>
                <a:latin typeface="Carlito" pitchFamily="34" charset="0"/>
                <a:ea typeface="Carlito" pitchFamily="34" charset="-122"/>
                <a:cs typeface="Carlito" pitchFamily="34" charset="0"/>
              </a:rPr>
              <a:t>Disease-Modifying Antirheumatic Drug — a drug intended to alter the course of RA, not just mask its symptoms.</a:t>
            </a:r>
            <a:endParaRPr lang="en-US" sz="1600" dirty="0"/>
          </a:p>
          <a:p>
            <a:pPr marL="0" indent="0" algn="l">
              <a:lnSpc>
                <a:spcPct val="100000"/>
              </a:lnSpc>
              <a:buNone/>
            </a:pPr>
            <a:r>
              <a:rPr lang="en-US" sz="1600" b="1" dirty="0">
                <a:solidFill>
                  <a:srgbClr val="123C44"/>
                </a:solidFill>
                <a:latin typeface="Carlito Bold" pitchFamily="34" charset="0"/>
                <a:ea typeface="Carlito Bold" pitchFamily="34" charset="-122"/>
                <a:cs typeface="Carlito Bold" pitchFamily="34" charset="0"/>
              </a:rPr>
              <a:t>●  Goal of therapy: </a:t>
            </a:r>
            <a:r>
              <a:rPr lang="en-US" sz="1600" dirty="0">
                <a:solidFill>
                  <a:srgbClr val="1A1A1A"/>
                </a:solidFill>
                <a:latin typeface="Carlito" pitchFamily="34" charset="0"/>
                <a:ea typeface="Carlito" pitchFamily="34" charset="-122"/>
                <a:cs typeface="Carlito" pitchFamily="34" charset="0"/>
              </a:rPr>
              <a:t>slow or halt joint destruction and systemic inflammation, rather than providing analgesia alone.</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45</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60866"/>
            <a:ext cx="10972526" cy="422176"/>
          </a:xfrm>
          <a:prstGeom prst="rect">
            <a:avLst/>
          </a:prstGeom>
          <a:noFill/>
          <a:ln/>
        </p:spPr>
        <p:txBody>
          <a:bodyPr wrap="none" lIns="0" tIns="0" rIns="0" bIns="0" rtlCol="0" anchor="t"/>
          <a:lstStyle/>
          <a:p>
            <a:pPr marL="0" indent="0" algn="l">
              <a:lnSpc>
                <a:spcPct val="100000"/>
              </a:lnSpc>
              <a:buNone/>
            </a:pPr>
            <a:r>
              <a:rPr lang="en-US" sz="2750" b="1" dirty="0">
                <a:solidFill>
                  <a:srgbClr val="123C44"/>
                </a:solidFill>
                <a:latin typeface="Caladea Bold" pitchFamily="34" charset="0"/>
                <a:ea typeface="Caladea Bold" pitchFamily="34" charset="-122"/>
                <a:cs typeface="Caladea Bold" pitchFamily="34" charset="0"/>
              </a:rPr>
              <a:t>Symptom Relief vs Slowing Joint Destruction</a:t>
            </a:r>
            <a:endParaRPr lang="en-US" sz="2750" dirty="0"/>
          </a:p>
        </p:txBody>
      </p:sp>
      <p:pic>
        <p:nvPicPr>
          <p:cNvPr id="4" name="Image 0" descr="preencoded.png"/>
          <p:cNvPicPr>
            <a:picLocks noChangeAspect="1"/>
          </p:cNvPicPr>
          <p:nvPr/>
        </p:nvPicPr>
        <p:blipFill>
          <a:blip r:embed="rId3"/>
          <a:stretch>
            <a:fillRect/>
          </a:stretch>
        </p:blipFill>
        <p:spPr>
          <a:xfrm>
            <a:off x="838179" y="1831479"/>
            <a:ext cx="5760497" cy="3225899"/>
          </a:xfrm>
          <a:prstGeom prst="rect">
            <a:avLst/>
          </a:prstGeom>
        </p:spPr>
      </p:pic>
      <p:sp>
        <p:nvSpPr>
          <p:cNvPr id="5" name="Text 2"/>
          <p:cNvSpPr/>
          <p:nvPr/>
        </p:nvSpPr>
        <p:spPr>
          <a:xfrm>
            <a:off x="6827270" y="1831479"/>
            <a:ext cx="4754840" cy="2448818"/>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NSAIDs:</a:t>
            </a:r>
            <a:r>
              <a:rPr lang="en-US" sz="1600" dirty="0">
                <a:solidFill>
                  <a:srgbClr val="1A1A1A"/>
                </a:solidFill>
                <a:latin typeface="Carlito" pitchFamily="34" charset="0"/>
                <a:ea typeface="Carlito" pitchFamily="34" charset="-122"/>
                <a:cs typeface="Carlito" pitchFamily="34" charset="0"/>
              </a:rPr>
              <a:t> relieve pain and swelling within days, but do not alter joint damage.</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DMARDs:</a:t>
            </a:r>
            <a:r>
              <a:rPr lang="en-US" sz="1600" dirty="0">
                <a:solidFill>
                  <a:srgbClr val="1A1A1A"/>
                </a:solidFill>
                <a:latin typeface="Carlito" pitchFamily="34" charset="0"/>
                <a:ea typeface="Carlito" pitchFamily="34" charset="-122"/>
                <a:cs typeface="Carlito" pitchFamily="34" charset="0"/>
              </a:rPr>
              <a:t> take weeks to months to act, then slow cartilage and bone destruction.</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Timing:</a:t>
            </a:r>
            <a:r>
              <a:rPr lang="en-US" sz="1600" dirty="0">
                <a:solidFill>
                  <a:srgbClr val="1A1A1A"/>
                </a:solidFill>
                <a:latin typeface="Carlito" pitchFamily="34" charset="0"/>
                <a:ea typeface="Carlito" pitchFamily="34" charset="-122"/>
                <a:cs typeface="Carlito" pitchFamily="34" charset="0"/>
              </a:rPr>
              <a:t> judge a DMARD over months, not after the first visit.</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Goal:</a:t>
            </a:r>
            <a:r>
              <a:rPr lang="en-US" sz="1600" dirty="0">
                <a:solidFill>
                  <a:srgbClr val="1A1A1A"/>
                </a:solidFill>
                <a:latin typeface="Carlito" pitchFamily="34" charset="0"/>
                <a:ea typeface="Carlito" pitchFamily="34" charset="-122"/>
                <a:cs typeface="Carlito" pitchFamily="34" charset="0"/>
              </a:rPr>
              <a:t> relief now with NSAIDs, protection later with DMARDs.</a:t>
            </a:r>
            <a:endParaRPr lang="en-US" sz="1600" dirty="0"/>
          </a:p>
        </p:txBody>
      </p:sp>
      <p:sp>
        <p:nvSpPr>
          <p:cNvPr id="6" name="Text 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7" name="Text 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46</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CONVENTIONAL DMARDS</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Conventional (Non-Biologic) DMARDs</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1578471"/>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Methotrexate — the anchor drug for most RA regimens (next slide)</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Hydroxychloroquine — milder disease; relatively favorable safety profile</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Sulfasalazine — often used in combination regimens</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Leflunomide — alternative when methotrexate is not tolerated</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47</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60866"/>
            <a:ext cx="10972526" cy="422176"/>
          </a:xfrm>
          <a:prstGeom prst="rect">
            <a:avLst/>
          </a:prstGeom>
          <a:noFill/>
          <a:ln/>
        </p:spPr>
        <p:txBody>
          <a:bodyPr wrap="none" lIns="0" tIns="0" rIns="0" bIns="0" rtlCol="0" anchor="t"/>
          <a:lstStyle/>
          <a:p>
            <a:pPr marL="0" indent="0" algn="l">
              <a:lnSpc>
                <a:spcPct val="100000"/>
              </a:lnSpc>
              <a:buNone/>
            </a:pPr>
            <a:r>
              <a:rPr lang="en-US" sz="2750" b="1" dirty="0">
                <a:solidFill>
                  <a:srgbClr val="123C44"/>
                </a:solidFill>
                <a:latin typeface="Caladea Bold" pitchFamily="34" charset="0"/>
                <a:ea typeface="Caladea Bold" pitchFamily="34" charset="-122"/>
                <a:cs typeface="Caladea Bold" pitchFamily="34" charset="0"/>
              </a:rPr>
              <a:t>Conventional DMARDs: Where Each Drug Acts</a:t>
            </a:r>
            <a:endParaRPr lang="en-US" sz="275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609585" y="1602879"/>
          <a:ext cx="6217685" cy="3825321"/>
        </p:xfrm>
        <a:graphic>
          <a:graphicData uri="http://schemas.openxmlformats.org/drawingml/2006/table">
            <a:tbl>
              <a:tblPr/>
              <a:tblGrid>
                <a:gridCol w="2009427">
                  <a:extLst>
                    <a:ext uri="{9D8B030D-6E8A-4147-A177-3AD203B41FA5}">
                      <a16:colId xmlns:a16="http://schemas.microsoft.com/office/drawing/2014/main" val="20000"/>
                    </a:ext>
                  </a:extLst>
                </a:gridCol>
                <a:gridCol w="2202998">
                  <a:extLst>
                    <a:ext uri="{9D8B030D-6E8A-4147-A177-3AD203B41FA5}">
                      <a16:colId xmlns:a16="http://schemas.microsoft.com/office/drawing/2014/main" val="20001"/>
                    </a:ext>
                  </a:extLst>
                </a:gridCol>
                <a:gridCol w="2005260">
                  <a:extLst>
                    <a:ext uri="{9D8B030D-6E8A-4147-A177-3AD203B41FA5}">
                      <a16:colId xmlns:a16="http://schemas.microsoft.com/office/drawing/2014/main" val="20002"/>
                    </a:ext>
                  </a:extLst>
                </a:gridCol>
              </a:tblGrid>
              <a:tr h="455601">
                <a:tc>
                  <a:txBody>
                    <a:bodyPr/>
                    <a:lstStyle/>
                    <a:p>
                      <a:pPr marL="0" indent="0" algn="l">
                        <a:buNone/>
                      </a:pPr>
                      <a:r>
                        <a:rPr lang="en-US" sz="1600" dirty="0">
                          <a:solidFill>
                            <a:srgbClr val="FFFFFF"/>
                          </a:solidFill>
                          <a:latin typeface="Carlito" pitchFamily="34" charset="0"/>
                          <a:ea typeface="Carlito" pitchFamily="34" charset="-122"/>
                          <a:cs typeface="Carlito" pitchFamily="34" charset="0"/>
                        </a:rPr>
                        <a:t>Drug</a:t>
                      </a:r>
                      <a:endParaRPr lang="en-US" sz="1600" dirty="0">
                        <a:latin typeface="Carlito" charset="0"/>
                        <a:ea typeface="Carlito" charset="0"/>
                        <a:cs typeface="Carlito" charset="0"/>
                      </a:endParaRPr>
                    </a:p>
                  </a:txBody>
                  <a:tcPr marL="152396" marR="152396" marT="81278" marB="81278" anchor="ctr">
                    <a:lnL w="12700" cap="flat" cmpd="sng" algn="ctr">
                      <a:solidFill>
                        <a:srgbClr val="0F7173"/>
                      </a:solidFill>
                      <a:prstDash val="solid"/>
                      <a:round/>
                      <a:headEnd type="none" w="med" len="med"/>
                      <a:tailEnd type="none" w="med" len="med"/>
                    </a:lnL>
                    <a:lnR w="12700" cap="flat" cmpd="sng" algn="ctr">
                      <a:solidFill>
                        <a:srgbClr val="0F7173"/>
                      </a:solidFill>
                      <a:prstDash val="solid"/>
                      <a:round/>
                      <a:headEnd type="none" w="med" len="med"/>
                      <a:tailEnd type="none" w="med" len="med"/>
                    </a:lnR>
                    <a:lnT w="12700" cap="flat" cmpd="sng" algn="ctr">
                      <a:solidFill>
                        <a:srgbClr val="0F7173"/>
                      </a:solidFill>
                      <a:prstDash val="solid"/>
                      <a:round/>
                      <a:headEnd type="none" w="med" len="med"/>
                      <a:tailEnd type="none" w="med" len="med"/>
                    </a:lnT>
                    <a:lnB w="12700" cap="flat" cmpd="sng" algn="ctr">
                      <a:solidFill>
                        <a:srgbClr val="B8DEDF"/>
                      </a:solidFill>
                      <a:prstDash val="solid"/>
                      <a:round/>
                      <a:headEnd type="none" w="med" len="med"/>
                      <a:tailEnd type="none" w="med" len="med"/>
                    </a:lnB>
                    <a:solidFill>
                      <a:srgbClr val="0F7173"/>
                    </a:solidFill>
                  </a:tcPr>
                </a:tc>
                <a:tc>
                  <a:txBody>
                    <a:bodyPr/>
                    <a:lstStyle/>
                    <a:p>
                      <a:pPr marL="0" indent="0" algn="l">
                        <a:buNone/>
                      </a:pPr>
                      <a:r>
                        <a:rPr lang="en-US" sz="1600" dirty="0">
                          <a:solidFill>
                            <a:srgbClr val="FFFFFF"/>
                          </a:solidFill>
                          <a:latin typeface="Carlito" pitchFamily="34" charset="0"/>
                          <a:ea typeface="Carlito" pitchFamily="34" charset="-122"/>
                          <a:cs typeface="Carlito" pitchFamily="34" charset="0"/>
                        </a:rPr>
                        <a:t>Target / action</a:t>
                      </a:r>
                      <a:endParaRPr lang="en-US" sz="1600" dirty="0">
                        <a:latin typeface="Carlito" charset="0"/>
                        <a:ea typeface="Carlito" charset="0"/>
                        <a:cs typeface="Carlito" charset="0"/>
                      </a:endParaRPr>
                    </a:p>
                  </a:txBody>
                  <a:tcPr marL="152396" marR="152396" marT="81278" marB="81278" anchor="ctr">
                    <a:lnL w="12700" cap="flat" cmpd="sng" algn="ctr">
                      <a:solidFill>
                        <a:srgbClr val="0F7173"/>
                      </a:solidFill>
                      <a:prstDash val="solid"/>
                      <a:round/>
                      <a:headEnd type="none" w="med" len="med"/>
                      <a:tailEnd type="none" w="med" len="med"/>
                    </a:lnL>
                    <a:lnR w="12700" cap="flat" cmpd="sng" algn="ctr">
                      <a:solidFill>
                        <a:srgbClr val="2563A8"/>
                      </a:solidFill>
                      <a:prstDash val="solid"/>
                      <a:round/>
                      <a:headEnd type="none" w="med" len="med"/>
                      <a:tailEnd type="none" w="med" len="med"/>
                    </a:lnR>
                    <a:lnT w="12700" cap="flat" cmpd="sng" algn="ctr">
                      <a:solidFill>
                        <a:srgbClr val="2563A8"/>
                      </a:solidFill>
                      <a:prstDash val="solid"/>
                      <a:round/>
                      <a:headEnd type="none" w="med" len="med"/>
                      <a:tailEnd type="none" w="med" len="med"/>
                    </a:lnT>
                    <a:lnB w="12700" cap="flat" cmpd="sng" algn="ctr">
                      <a:solidFill>
                        <a:srgbClr val="B8DEDF"/>
                      </a:solidFill>
                      <a:prstDash val="solid"/>
                      <a:round/>
                      <a:headEnd type="none" w="med" len="med"/>
                      <a:tailEnd type="none" w="med" len="med"/>
                    </a:lnB>
                    <a:solidFill>
                      <a:srgbClr val="2563A8"/>
                    </a:solidFill>
                  </a:tcPr>
                </a:tc>
                <a:tc>
                  <a:txBody>
                    <a:bodyPr/>
                    <a:lstStyle/>
                    <a:p>
                      <a:pPr marL="0" indent="0" algn="l">
                        <a:buNone/>
                      </a:pPr>
                      <a:r>
                        <a:rPr lang="en-US" sz="1600" dirty="0">
                          <a:solidFill>
                            <a:srgbClr val="FFFFFF"/>
                          </a:solidFill>
                          <a:latin typeface="Carlito" pitchFamily="34" charset="0"/>
                          <a:ea typeface="Carlito" pitchFamily="34" charset="-122"/>
                          <a:cs typeface="Carlito" pitchFamily="34" charset="0"/>
                        </a:rPr>
                        <a:t>Effect</a:t>
                      </a:r>
                      <a:endParaRPr lang="en-US" sz="1600" dirty="0">
                        <a:latin typeface="Carlito" charset="0"/>
                        <a:ea typeface="Carlito" charset="0"/>
                        <a:cs typeface="Carlito" charset="0"/>
                      </a:endParaRPr>
                    </a:p>
                  </a:txBody>
                  <a:tcPr marL="152396" marR="152396" marT="81278" marB="81278" anchor="ctr">
                    <a:lnL w="12700" cap="flat" cmpd="sng" algn="ctr">
                      <a:solidFill>
                        <a:srgbClr val="2563A8"/>
                      </a:solidFill>
                      <a:prstDash val="solid"/>
                      <a:round/>
                      <a:headEnd type="none" w="med" len="med"/>
                      <a:tailEnd type="none" w="med" len="med"/>
                    </a:lnL>
                    <a:lnR w="12700" cap="flat" cmpd="sng" algn="ctr">
                      <a:solidFill>
                        <a:srgbClr val="2E7D4F"/>
                      </a:solidFill>
                      <a:prstDash val="solid"/>
                      <a:round/>
                      <a:headEnd type="none" w="med" len="med"/>
                      <a:tailEnd type="none" w="med" len="med"/>
                    </a:lnR>
                    <a:lnT w="12700" cap="flat" cmpd="sng" algn="ctr">
                      <a:solidFill>
                        <a:srgbClr val="2E7D4F"/>
                      </a:solidFill>
                      <a:prstDash val="solid"/>
                      <a:round/>
                      <a:headEnd type="none" w="med" len="med"/>
                      <a:tailEnd type="none" w="med" len="med"/>
                    </a:lnT>
                    <a:lnB w="12700" cap="flat" cmpd="sng" algn="ctr">
                      <a:solidFill>
                        <a:srgbClr val="B8DEDF"/>
                      </a:solidFill>
                      <a:prstDash val="solid"/>
                      <a:round/>
                      <a:headEnd type="none" w="med" len="med"/>
                      <a:tailEnd type="none" w="med" len="med"/>
                    </a:lnB>
                    <a:solidFill>
                      <a:srgbClr val="2E7D4F"/>
                    </a:solidFill>
                  </a:tcPr>
                </a:tc>
                <a:extLst>
                  <a:ext uri="{0D108BD9-81ED-4DB2-BD59-A6C34878D82A}">
                    <a16:rowId xmlns:a16="http://schemas.microsoft.com/office/drawing/2014/main" val="10000"/>
                  </a:ext>
                </a:extLst>
              </a:tr>
              <a:tr h="735986">
                <a:tc>
                  <a:txBody>
                    <a:bodyPr/>
                    <a:lstStyle/>
                    <a:p>
                      <a:pPr marL="0" indent="0" algn="l">
                        <a:buNone/>
                      </a:pPr>
                      <a:r>
                        <a:rPr lang="en-US" sz="1600" b="1" dirty="0">
                          <a:solidFill>
                            <a:srgbClr val="1A1A1A"/>
                          </a:solidFill>
                          <a:latin typeface="Carlito" pitchFamily="34" charset="0"/>
                          <a:ea typeface="Carlito" pitchFamily="34" charset="-122"/>
                          <a:cs typeface="Carlito" pitchFamily="34" charset="0"/>
                        </a:rPr>
                        <a:t>Methotrexate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Inhibits DHFR; disrupts folate metabolism</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Slower immune-cell growth</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1"/>
                  </a:ext>
                </a:extLst>
              </a:tr>
              <a:tr h="735986">
                <a:tc>
                  <a:txBody>
                    <a:bodyPr/>
                    <a:lstStyle/>
                    <a:p>
                      <a:pPr marL="0" indent="0" algn="l">
                        <a:buNone/>
                      </a:pPr>
                      <a:r>
                        <a:rPr lang="en-US" sz="1600" b="1" dirty="0">
                          <a:solidFill>
                            <a:srgbClr val="1A1A1A"/>
                          </a:solidFill>
                          <a:latin typeface="Carlito" pitchFamily="34" charset="0"/>
                          <a:ea typeface="Carlito" pitchFamily="34" charset="-122"/>
                          <a:cs typeface="Carlito" pitchFamily="34" charset="0"/>
                        </a:rPr>
                        <a:t>Hydroxychloroquine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Alters lysosomal and TLR signaling</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Less antigen signaling</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2"/>
                  </a:ext>
                </a:extLst>
              </a:tr>
              <a:tr h="1016371">
                <a:tc>
                  <a:txBody>
                    <a:bodyPr/>
                    <a:lstStyle/>
                    <a:p>
                      <a:pPr marL="0" indent="0" algn="l">
                        <a:buNone/>
                      </a:pPr>
                      <a:r>
                        <a:rPr lang="en-US" sz="1600" b="1" dirty="0">
                          <a:solidFill>
                            <a:srgbClr val="1A1A1A"/>
                          </a:solidFill>
                          <a:latin typeface="Carlito" pitchFamily="34" charset="0"/>
                          <a:ea typeface="Carlito" pitchFamily="34" charset="-122"/>
                          <a:cs typeface="Carlito" pitchFamily="34" charset="0"/>
                        </a:rPr>
                        <a:t>Sulfasalazine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Reduces cytokine and prostaglandin production</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Less inflammation</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3"/>
                  </a:ext>
                </a:extLst>
              </a:tr>
              <a:tr h="723287">
                <a:tc>
                  <a:txBody>
                    <a:bodyPr/>
                    <a:lstStyle/>
                    <a:p>
                      <a:pPr marL="0" indent="0" algn="l">
                        <a:buNone/>
                      </a:pPr>
                      <a:r>
                        <a:rPr lang="en-US" sz="1600" b="1" dirty="0">
                          <a:solidFill>
                            <a:srgbClr val="1A1A1A"/>
                          </a:solidFill>
                          <a:latin typeface="Carlito" pitchFamily="34" charset="0"/>
                          <a:ea typeface="Carlito" pitchFamily="34" charset="-122"/>
                          <a:cs typeface="Carlito" pitchFamily="34" charset="0"/>
                        </a:rPr>
                        <a:t>Leflunomide</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Inhibits DHODH; limits pyrimidine synthesis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Slower T-cell growth</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6827270" y="1602879"/>
            <a:ext cx="4754840" cy="2168426"/>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Methotrexate:</a:t>
            </a:r>
            <a:r>
              <a:rPr lang="en-US" sz="1600" dirty="0">
                <a:solidFill>
                  <a:srgbClr val="1A1A1A"/>
                </a:solidFill>
                <a:latin typeface="Carlito" pitchFamily="34" charset="0"/>
                <a:ea typeface="Carlito" pitchFamily="34" charset="-122"/>
                <a:cs typeface="Carlito" pitchFamily="34" charset="0"/>
              </a:rPr>
              <a:t> blocks DHFR and folate metabolism.</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Hydroxychloroquine:</a:t>
            </a:r>
            <a:r>
              <a:rPr lang="en-US" sz="1600" dirty="0">
                <a:solidFill>
                  <a:srgbClr val="1A1A1A"/>
                </a:solidFill>
                <a:latin typeface="Carlito" pitchFamily="34" charset="0"/>
                <a:ea typeface="Carlito" pitchFamily="34" charset="-122"/>
                <a:cs typeface="Carlito" pitchFamily="34" charset="0"/>
              </a:rPr>
              <a:t> alters lysosomal and TLR signaling.</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Sulfasalazine:</a:t>
            </a:r>
            <a:r>
              <a:rPr lang="en-US" sz="1600" dirty="0">
                <a:solidFill>
                  <a:srgbClr val="1A1A1A"/>
                </a:solidFill>
                <a:latin typeface="Carlito" pitchFamily="34" charset="0"/>
                <a:ea typeface="Carlito" pitchFamily="34" charset="-122"/>
                <a:cs typeface="Carlito" pitchFamily="34" charset="0"/>
              </a:rPr>
              <a:t> reduces cytokine and prostaglandin production.</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Leflunomide:</a:t>
            </a:r>
            <a:r>
              <a:rPr lang="en-US" sz="1600" dirty="0">
                <a:solidFill>
                  <a:srgbClr val="1A1A1A"/>
                </a:solidFill>
                <a:latin typeface="Carlito" pitchFamily="34" charset="0"/>
                <a:ea typeface="Carlito" pitchFamily="34" charset="-122"/>
                <a:cs typeface="Carlito" pitchFamily="34" charset="0"/>
              </a:rPr>
              <a:t> inhibits DHODH, blocking pyrimidine synthesis.</a:t>
            </a:r>
            <a:endParaRPr lang="en-US" sz="1600" dirty="0"/>
          </a:p>
        </p:txBody>
      </p:sp>
      <p:sp>
        <p:nvSpPr>
          <p:cNvPr id="6" name="Text 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7" name="Text 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48</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ANCHOR DRUG</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Methotrexate</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2023368"/>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b="1" dirty="0">
                <a:solidFill>
                  <a:srgbClr val="1A1A1A"/>
                </a:solidFill>
                <a:latin typeface="Carlito Bold" pitchFamily="34" charset="0"/>
                <a:ea typeface="Carlito Bold" pitchFamily="34" charset="-122"/>
                <a:cs typeface="Carlito Bold" pitchFamily="34" charset="0"/>
              </a:rPr>
              <a:t>Mechanism: inhibits dihydrofolate reductase, reducing immune cell proliferation at low RA doses.</a:t>
            </a:r>
            <a:endParaRPr lang="en-US" sz="1600" dirty="0"/>
          </a:p>
          <a:p>
            <a:pPr marL="229616" indent="-229616" algn="l">
              <a:lnSpc>
                <a:spcPct val="100000"/>
              </a:lnSpc>
              <a:buSzPct val="100000"/>
              <a:buChar char="●"/>
            </a:pPr>
            <a:r>
              <a:rPr lang="en-US" sz="1600" b="1" dirty="0">
                <a:solidFill>
                  <a:srgbClr val="D1495B"/>
                </a:solidFill>
                <a:latin typeface="Carlito Bold" pitchFamily="34" charset="0"/>
                <a:ea typeface="Carlito Bold" pitchFamily="34" charset="-122"/>
                <a:cs typeface="Carlito Bold" pitchFamily="34" charset="0"/>
              </a:rPr>
              <a:t>Dosed weekly (not daily) — a critical patient-safety point, since daily dosing can be fatal.</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Folate supplementation is routinely co-prescribed to reduce toxicity.</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Key adverse effects: hepatotoxicity, bone marrow suppression, pulmonary toxicity.</a:t>
            </a:r>
            <a:endParaRPr lang="en-US" sz="1600" dirty="0"/>
          </a:p>
          <a:p>
            <a:pPr marL="229616" indent="-229616" algn="l">
              <a:lnSpc>
                <a:spcPct val="100000"/>
              </a:lnSpc>
              <a:buSzPct val="100000"/>
              <a:buChar char="●"/>
            </a:pPr>
            <a:r>
              <a:rPr lang="en-US" sz="1600" dirty="0">
                <a:solidFill>
                  <a:srgbClr val="D1495B"/>
                </a:solidFill>
                <a:latin typeface="Carlito" pitchFamily="34" charset="0"/>
                <a:ea typeface="Carlito" pitchFamily="34" charset="-122"/>
                <a:cs typeface="Carlito" pitchFamily="34" charset="0"/>
              </a:rPr>
              <a:t>Contraindicated in pregnancy (teratogenic).</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49</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60866"/>
            <a:ext cx="10972526" cy="422176"/>
          </a:xfrm>
          <a:prstGeom prst="rect">
            <a:avLst/>
          </a:prstGeom>
          <a:noFill/>
          <a:ln/>
        </p:spPr>
        <p:txBody>
          <a:bodyPr wrap="none" lIns="0" tIns="0" rIns="0" bIns="0" rtlCol="0" anchor="t"/>
          <a:lstStyle/>
          <a:p>
            <a:pPr marL="0" indent="0" algn="l">
              <a:lnSpc>
                <a:spcPct val="100000"/>
              </a:lnSpc>
              <a:buNone/>
            </a:pPr>
            <a:r>
              <a:rPr lang="en-US" sz="2750" b="1" dirty="0">
                <a:solidFill>
                  <a:srgbClr val="123C44"/>
                </a:solidFill>
                <a:latin typeface="Caladea Bold" pitchFamily="34" charset="0"/>
                <a:ea typeface="Caladea Bold" pitchFamily="34" charset="-122"/>
                <a:cs typeface="Caladea Bold" pitchFamily="34" charset="0"/>
              </a:rPr>
              <a:t>Methotrexate: Folate Pathway and Low-Dose Action</a:t>
            </a:r>
            <a:endParaRPr lang="en-US" sz="2750" dirty="0"/>
          </a:p>
        </p:txBody>
      </p:sp>
      <p:sp>
        <p:nvSpPr>
          <p:cNvPr id="4" name="Shape 2"/>
          <p:cNvSpPr/>
          <p:nvPr/>
        </p:nvSpPr>
        <p:spPr>
          <a:xfrm>
            <a:off x="609585" y="1602879"/>
            <a:ext cx="6217685" cy="483592"/>
          </a:xfrm>
          <a:prstGeom prst="rect">
            <a:avLst/>
          </a:prstGeom>
          <a:solidFill>
            <a:srgbClr val="5B6770"/>
          </a:solidFill>
          <a:ln/>
        </p:spPr>
        <p:txBody>
          <a:bodyPr/>
          <a:lstStyle/>
          <a:p>
            <a:endParaRPr lang="en-US"/>
          </a:p>
        </p:txBody>
      </p:sp>
      <p:sp>
        <p:nvSpPr>
          <p:cNvPr id="5" name="Text 3"/>
          <p:cNvSpPr/>
          <p:nvPr/>
        </p:nvSpPr>
        <p:spPr>
          <a:xfrm>
            <a:off x="761981" y="1704479"/>
            <a:ext cx="6065289" cy="280392"/>
          </a:xfrm>
          <a:prstGeom prst="rect">
            <a:avLst/>
          </a:prstGeom>
          <a:noFill/>
          <a:ln/>
        </p:spPr>
        <p:txBody>
          <a:bodyPr wrap="none" lIns="0" tIns="0" rIns="0" bIns="0" rtlCol="0" anchor="t"/>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Dihydrofolate (DHF) ↓</a:t>
            </a:r>
            <a:endParaRPr lang="en-US" sz="1600" dirty="0"/>
          </a:p>
        </p:txBody>
      </p:sp>
      <p:sp>
        <p:nvSpPr>
          <p:cNvPr id="6" name="Shape 4"/>
          <p:cNvSpPr/>
          <p:nvPr/>
        </p:nvSpPr>
        <p:spPr>
          <a:xfrm>
            <a:off x="609585" y="2238871"/>
            <a:ext cx="6217685" cy="483592"/>
          </a:xfrm>
          <a:prstGeom prst="rect">
            <a:avLst/>
          </a:prstGeom>
          <a:solidFill>
            <a:srgbClr val="1F3A4D"/>
          </a:solidFill>
          <a:ln/>
        </p:spPr>
        <p:txBody>
          <a:bodyPr/>
          <a:lstStyle/>
          <a:p>
            <a:endParaRPr lang="en-US"/>
          </a:p>
        </p:txBody>
      </p:sp>
      <p:sp>
        <p:nvSpPr>
          <p:cNvPr id="7" name="Text 5"/>
          <p:cNvSpPr/>
          <p:nvPr/>
        </p:nvSpPr>
        <p:spPr>
          <a:xfrm>
            <a:off x="761981" y="2340471"/>
            <a:ext cx="6065289" cy="280392"/>
          </a:xfrm>
          <a:prstGeom prst="rect">
            <a:avLst/>
          </a:prstGeom>
          <a:noFill/>
          <a:ln/>
        </p:spPr>
        <p:txBody>
          <a:bodyPr wrap="none" lIns="0" tIns="0" rIns="0" bIns="0" rtlCol="0" anchor="t"/>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DHFR enzyme ↓</a:t>
            </a:r>
            <a:endParaRPr lang="en-US" sz="1600" dirty="0"/>
          </a:p>
        </p:txBody>
      </p:sp>
      <p:sp>
        <p:nvSpPr>
          <p:cNvPr id="8" name="Shape 6"/>
          <p:cNvSpPr/>
          <p:nvPr/>
        </p:nvSpPr>
        <p:spPr>
          <a:xfrm>
            <a:off x="609585" y="2874863"/>
            <a:ext cx="6217685" cy="483592"/>
          </a:xfrm>
          <a:prstGeom prst="rect">
            <a:avLst/>
          </a:prstGeom>
          <a:solidFill>
            <a:srgbClr val="2E7D4F"/>
          </a:solidFill>
          <a:ln/>
        </p:spPr>
        <p:txBody>
          <a:bodyPr/>
          <a:lstStyle/>
          <a:p>
            <a:endParaRPr lang="en-US"/>
          </a:p>
        </p:txBody>
      </p:sp>
      <p:sp>
        <p:nvSpPr>
          <p:cNvPr id="9" name="Text 7"/>
          <p:cNvSpPr/>
          <p:nvPr/>
        </p:nvSpPr>
        <p:spPr>
          <a:xfrm>
            <a:off x="761981" y="2976463"/>
            <a:ext cx="6065289" cy="280392"/>
          </a:xfrm>
          <a:prstGeom prst="rect">
            <a:avLst/>
          </a:prstGeom>
          <a:noFill/>
          <a:ln/>
        </p:spPr>
        <p:txBody>
          <a:bodyPr wrap="none" lIns="0" tIns="0" rIns="0" bIns="0" rtlCol="0" anchor="t"/>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THF for DNA synthesis</a:t>
            </a:r>
            <a:endParaRPr lang="en-US" sz="1600" dirty="0"/>
          </a:p>
        </p:txBody>
      </p:sp>
      <p:sp>
        <p:nvSpPr>
          <p:cNvPr id="10" name="Shape 8"/>
          <p:cNvSpPr/>
          <p:nvPr/>
        </p:nvSpPr>
        <p:spPr>
          <a:xfrm>
            <a:off x="609585" y="3510855"/>
            <a:ext cx="6217685" cy="483592"/>
          </a:xfrm>
          <a:prstGeom prst="rect">
            <a:avLst/>
          </a:prstGeom>
          <a:solidFill>
            <a:srgbClr val="C8323C"/>
          </a:solidFill>
          <a:ln/>
        </p:spPr>
        <p:txBody>
          <a:bodyPr/>
          <a:lstStyle/>
          <a:p>
            <a:endParaRPr lang="en-US"/>
          </a:p>
        </p:txBody>
      </p:sp>
      <p:sp>
        <p:nvSpPr>
          <p:cNvPr id="11" name="Text 9"/>
          <p:cNvSpPr/>
          <p:nvPr/>
        </p:nvSpPr>
        <p:spPr>
          <a:xfrm>
            <a:off x="761981" y="3612455"/>
            <a:ext cx="6065289" cy="280392"/>
          </a:xfrm>
          <a:prstGeom prst="rect">
            <a:avLst/>
          </a:prstGeom>
          <a:noFill/>
          <a:ln/>
        </p:spPr>
        <p:txBody>
          <a:bodyPr wrap="none" lIns="0" tIns="0" rIns="0" bIns="0" rtlCol="0" anchor="t"/>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Methotrexate blocks DHFR ↓</a:t>
            </a:r>
            <a:endParaRPr lang="en-US" sz="1600" dirty="0"/>
          </a:p>
        </p:txBody>
      </p:sp>
      <p:sp>
        <p:nvSpPr>
          <p:cNvPr id="12" name="Shape 10"/>
          <p:cNvSpPr/>
          <p:nvPr/>
        </p:nvSpPr>
        <p:spPr>
          <a:xfrm>
            <a:off x="609585" y="4146848"/>
            <a:ext cx="6217685" cy="483592"/>
          </a:xfrm>
          <a:prstGeom prst="rect">
            <a:avLst/>
          </a:prstGeom>
          <a:solidFill>
            <a:srgbClr val="2563A8"/>
          </a:solidFill>
          <a:ln/>
        </p:spPr>
        <p:txBody>
          <a:bodyPr/>
          <a:lstStyle/>
          <a:p>
            <a:endParaRPr lang="en-US"/>
          </a:p>
        </p:txBody>
      </p:sp>
      <p:sp>
        <p:nvSpPr>
          <p:cNvPr id="13" name="Text 11"/>
          <p:cNvSpPr/>
          <p:nvPr/>
        </p:nvSpPr>
        <p:spPr>
          <a:xfrm>
            <a:off x="761981" y="4248448"/>
            <a:ext cx="6065289" cy="280392"/>
          </a:xfrm>
          <a:prstGeom prst="rect">
            <a:avLst/>
          </a:prstGeom>
          <a:noFill/>
          <a:ln/>
        </p:spPr>
        <p:txBody>
          <a:bodyPr wrap="none" lIns="0" tIns="0" rIns="0" bIns="0" rtlCol="0" anchor="t"/>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Low dose: anti-inflammatory ↓</a:t>
            </a:r>
            <a:endParaRPr lang="en-US" sz="1600" dirty="0"/>
          </a:p>
        </p:txBody>
      </p:sp>
      <p:sp>
        <p:nvSpPr>
          <p:cNvPr id="14" name="Shape 12"/>
          <p:cNvSpPr/>
          <p:nvPr/>
        </p:nvSpPr>
        <p:spPr>
          <a:xfrm>
            <a:off x="609585" y="4782840"/>
            <a:ext cx="6217685" cy="483592"/>
          </a:xfrm>
          <a:prstGeom prst="rect">
            <a:avLst/>
          </a:prstGeom>
          <a:solidFill>
            <a:srgbClr val="C8323C"/>
          </a:solidFill>
          <a:ln/>
        </p:spPr>
        <p:txBody>
          <a:bodyPr/>
          <a:lstStyle/>
          <a:p>
            <a:endParaRPr lang="en-US"/>
          </a:p>
        </p:txBody>
      </p:sp>
      <p:sp>
        <p:nvSpPr>
          <p:cNvPr id="15" name="Text 13"/>
          <p:cNvSpPr/>
          <p:nvPr/>
        </p:nvSpPr>
        <p:spPr>
          <a:xfrm>
            <a:off x="761981" y="4884440"/>
            <a:ext cx="6065289" cy="280392"/>
          </a:xfrm>
          <a:prstGeom prst="rect">
            <a:avLst/>
          </a:prstGeom>
          <a:noFill/>
          <a:ln/>
        </p:spPr>
        <p:txBody>
          <a:bodyPr wrap="none" lIns="0" tIns="0" rIns="0" bIns="0" rtlCol="0" anchor="t"/>
          <a:lstStyle/>
          <a:p>
            <a:pPr marL="0" indent="0" algn="l">
              <a:lnSpc>
                <a:spcPct val="115000"/>
              </a:lnSpc>
              <a:buNone/>
            </a:pPr>
            <a:r>
              <a:rPr lang="en-US" sz="1600" b="1" dirty="0">
                <a:solidFill>
                  <a:srgbClr val="FFFFFF"/>
                </a:solidFill>
                <a:latin typeface="Carlito Bold" pitchFamily="34" charset="0"/>
                <a:ea typeface="Carlito Bold" pitchFamily="34" charset="-122"/>
                <a:cs typeface="Carlito Bold" pitchFamily="34" charset="0"/>
              </a:rPr>
              <a:t>Weekly dosing only</a:t>
            </a:r>
            <a:endParaRPr lang="en-US" sz="1600" dirty="0"/>
          </a:p>
        </p:txBody>
      </p:sp>
      <p:sp>
        <p:nvSpPr>
          <p:cNvPr id="16" name="Text 14"/>
          <p:cNvSpPr/>
          <p:nvPr/>
        </p:nvSpPr>
        <p:spPr>
          <a:xfrm>
            <a:off x="6827270" y="1602879"/>
            <a:ext cx="4754840" cy="2729210"/>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Target:</a:t>
            </a:r>
            <a:r>
              <a:rPr lang="en-US" sz="1600" dirty="0">
                <a:solidFill>
                  <a:srgbClr val="1A1A1A"/>
                </a:solidFill>
                <a:latin typeface="Carlito" pitchFamily="34" charset="0"/>
                <a:ea typeface="Carlito" pitchFamily="34" charset="-122"/>
                <a:cs typeface="Carlito" pitchFamily="34" charset="0"/>
              </a:rPr>
              <a:t> inhibits dihydrofolate reductase (DHFR), blocking folate-dependent purine and thymidylate synthesis.</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Low-dose RA effect:</a:t>
            </a:r>
            <a:r>
              <a:rPr lang="en-US" sz="1600" dirty="0">
                <a:solidFill>
                  <a:srgbClr val="1A1A1A"/>
                </a:solidFill>
                <a:latin typeface="Carlito" pitchFamily="34" charset="0"/>
                <a:ea typeface="Carlito" pitchFamily="34" charset="-122"/>
                <a:cs typeface="Carlito" pitchFamily="34" charset="0"/>
              </a:rPr>
              <a:t> likely anti-inflammatory via adenosine release, not cytotoxicity.</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Pearl:</a:t>
            </a:r>
            <a:r>
              <a:rPr lang="en-US" sz="1600" dirty="0">
                <a:solidFill>
                  <a:srgbClr val="1A1A1A"/>
                </a:solidFill>
                <a:latin typeface="Carlito" pitchFamily="34" charset="0"/>
                <a:ea typeface="Carlito" pitchFamily="34" charset="-122"/>
                <a:cs typeface="Carlito" pitchFamily="34" charset="0"/>
              </a:rPr>
              <a:t> weekly dosing only; daily dosing has caused fatal toxicity.</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Toxicity:</a:t>
            </a:r>
            <a:r>
              <a:rPr lang="en-US" sz="1600" dirty="0">
                <a:solidFill>
                  <a:srgbClr val="1A1A1A"/>
                </a:solidFill>
                <a:latin typeface="Carlito" pitchFamily="34" charset="0"/>
                <a:ea typeface="Carlito" pitchFamily="34" charset="-122"/>
                <a:cs typeface="Carlito" pitchFamily="34" charset="0"/>
              </a:rPr>
              <a:t> folic acid co-therapy reduces liver, marrow, lung and GI effects.</a:t>
            </a:r>
            <a:endParaRPr lang="en-US" sz="1600" dirty="0"/>
          </a:p>
        </p:txBody>
      </p:sp>
      <p:sp>
        <p:nvSpPr>
          <p:cNvPr id="17" name="Text 15"/>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18" name="Text 16"/>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50</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TARGETED THERAPY</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Biologic DMARDs</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5257668" cy="2103041"/>
          </a:xfrm>
          <a:prstGeom prst="roundRect">
            <a:avLst>
              <a:gd name="adj" fmla="val 5217"/>
            </a:avLst>
          </a:prstGeom>
          <a:solidFill>
            <a:srgbClr val="E8F1F0"/>
          </a:solidFill>
          <a:ln/>
        </p:spPr>
        <p:txBody>
          <a:bodyPr/>
          <a:lstStyle/>
          <a:p>
            <a:endParaRPr lang="en-US"/>
          </a:p>
        </p:txBody>
      </p:sp>
      <p:sp>
        <p:nvSpPr>
          <p:cNvPr id="7" name="Shape 4"/>
          <p:cNvSpPr/>
          <p:nvPr/>
        </p:nvSpPr>
        <p:spPr>
          <a:xfrm>
            <a:off x="640044" y="1600200"/>
            <a:ext cx="5257668" cy="502841"/>
          </a:xfrm>
          <a:prstGeom prst="roundRect">
            <a:avLst>
              <a:gd name="adj" fmla="val 21821"/>
            </a:avLst>
          </a:prstGeom>
          <a:solidFill>
            <a:srgbClr val="0F7173"/>
          </a:solidFill>
          <a:ln/>
        </p:spPr>
        <p:txBody>
          <a:bodyPr/>
          <a:lstStyle/>
          <a:p>
            <a:endParaRPr lang="en-US"/>
          </a:p>
        </p:txBody>
      </p:sp>
      <p:sp>
        <p:nvSpPr>
          <p:cNvPr id="8" name="Shape 5"/>
          <p:cNvSpPr/>
          <p:nvPr/>
        </p:nvSpPr>
        <p:spPr>
          <a:xfrm>
            <a:off x="640044" y="1856184"/>
            <a:ext cx="5257668" cy="255984"/>
          </a:xfrm>
          <a:prstGeom prst="rect">
            <a:avLst/>
          </a:prstGeom>
          <a:solidFill>
            <a:srgbClr val="0F7173"/>
          </a:solidFill>
          <a:ln/>
        </p:spPr>
        <p:txBody>
          <a:bodyPr/>
          <a:lstStyle/>
          <a:p>
            <a:endParaRPr lang="en-US"/>
          </a:p>
        </p:txBody>
      </p:sp>
      <p:sp>
        <p:nvSpPr>
          <p:cNvPr id="9" name="Text 6"/>
          <p:cNvSpPr/>
          <p:nvPr/>
        </p:nvSpPr>
        <p:spPr>
          <a:xfrm>
            <a:off x="841156" y="172968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TNF Inhibitors</a:t>
            </a:r>
            <a:endParaRPr lang="en-US" sz="1600" dirty="0"/>
          </a:p>
        </p:txBody>
      </p:sp>
      <p:sp>
        <p:nvSpPr>
          <p:cNvPr id="10" name="Text 7"/>
          <p:cNvSpPr/>
          <p:nvPr/>
        </p:nvSpPr>
        <p:spPr>
          <a:xfrm>
            <a:off x="1046930" y="2272010"/>
            <a:ext cx="4622188" cy="519509"/>
          </a:xfrm>
          <a:prstGeom prst="rect">
            <a:avLst/>
          </a:prstGeom>
          <a:noFill/>
          <a:ln/>
        </p:spPr>
        <p:txBody>
          <a:bodyPr wrap="square" lIns="0" tIns="0" rIns="0" bIns="0" rtlCol="0" anchor="t"/>
          <a:lstStyle/>
          <a:p>
            <a:pPr marL="0" indent="0" algn="l">
              <a:lnSpc>
                <a:spcPct val="100000"/>
              </a:lnSpc>
              <a:spcAft>
                <a:spcPts val="950"/>
              </a:spcAft>
              <a:buNone/>
            </a:pPr>
            <a:r>
              <a:rPr lang="en-US" sz="1300" dirty="0">
                <a:solidFill>
                  <a:srgbClr val="1A1A1A"/>
                </a:solidFill>
                <a:latin typeface="Carlito" pitchFamily="34" charset="0"/>
                <a:ea typeface="Carlito" pitchFamily="34" charset="-122"/>
                <a:cs typeface="Carlito" pitchFamily="34" charset="0"/>
              </a:rPr>
              <a:t>–   Block tumor necrosis factor-alpha signaling</a:t>
            </a:r>
            <a:endParaRPr lang="en-US" sz="1300" dirty="0"/>
          </a:p>
          <a:p>
            <a:pPr marL="0" indent="0" algn="l">
              <a:lnSpc>
                <a:spcPct val="100000"/>
              </a:lnSpc>
              <a:buNone/>
            </a:pPr>
            <a:r>
              <a:rPr lang="en-US" sz="1300" dirty="0">
                <a:solidFill>
                  <a:srgbClr val="1A1A1A"/>
                </a:solidFill>
                <a:latin typeface="Carlito" pitchFamily="34" charset="0"/>
                <a:ea typeface="Carlito" pitchFamily="34" charset="-122"/>
                <a:cs typeface="Carlito" pitchFamily="34" charset="0"/>
              </a:rPr>
              <a:t>–   Examples: adalimumab, etanercept, infliximab</a:t>
            </a:r>
            <a:endParaRPr lang="en-US" sz="1300" dirty="0"/>
          </a:p>
        </p:txBody>
      </p:sp>
      <p:sp>
        <p:nvSpPr>
          <p:cNvPr id="11" name="Shape 8"/>
          <p:cNvSpPr/>
          <p:nvPr/>
        </p:nvSpPr>
        <p:spPr>
          <a:xfrm>
            <a:off x="6263424" y="1600200"/>
            <a:ext cx="5257668" cy="2103041"/>
          </a:xfrm>
          <a:prstGeom prst="roundRect">
            <a:avLst>
              <a:gd name="adj" fmla="val 5217"/>
            </a:avLst>
          </a:prstGeom>
          <a:solidFill>
            <a:srgbClr val="E8F1F0"/>
          </a:solidFill>
          <a:ln/>
        </p:spPr>
        <p:txBody>
          <a:bodyPr/>
          <a:lstStyle/>
          <a:p>
            <a:endParaRPr lang="en-US"/>
          </a:p>
        </p:txBody>
      </p:sp>
      <p:sp>
        <p:nvSpPr>
          <p:cNvPr id="12" name="Shape 9"/>
          <p:cNvSpPr/>
          <p:nvPr/>
        </p:nvSpPr>
        <p:spPr>
          <a:xfrm>
            <a:off x="6263424" y="1600200"/>
            <a:ext cx="5257668" cy="502841"/>
          </a:xfrm>
          <a:prstGeom prst="roundRect">
            <a:avLst>
              <a:gd name="adj" fmla="val 21821"/>
            </a:avLst>
          </a:prstGeom>
          <a:solidFill>
            <a:srgbClr val="2A6F97"/>
          </a:solidFill>
          <a:ln/>
        </p:spPr>
        <p:txBody>
          <a:bodyPr/>
          <a:lstStyle/>
          <a:p>
            <a:endParaRPr lang="en-US"/>
          </a:p>
        </p:txBody>
      </p:sp>
      <p:sp>
        <p:nvSpPr>
          <p:cNvPr id="13" name="Shape 10"/>
          <p:cNvSpPr/>
          <p:nvPr/>
        </p:nvSpPr>
        <p:spPr>
          <a:xfrm>
            <a:off x="6263424" y="1856184"/>
            <a:ext cx="5257668" cy="255984"/>
          </a:xfrm>
          <a:prstGeom prst="rect">
            <a:avLst/>
          </a:prstGeom>
          <a:solidFill>
            <a:srgbClr val="2A6F97"/>
          </a:solidFill>
          <a:ln/>
        </p:spPr>
        <p:txBody>
          <a:bodyPr/>
          <a:lstStyle/>
          <a:p>
            <a:endParaRPr lang="en-US"/>
          </a:p>
        </p:txBody>
      </p:sp>
      <p:sp>
        <p:nvSpPr>
          <p:cNvPr id="14" name="Text 11"/>
          <p:cNvSpPr/>
          <p:nvPr/>
        </p:nvSpPr>
        <p:spPr>
          <a:xfrm>
            <a:off x="6464634" y="172968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IL-6 Inhibitors</a:t>
            </a:r>
            <a:endParaRPr lang="en-US" sz="1600" dirty="0"/>
          </a:p>
        </p:txBody>
      </p:sp>
      <p:sp>
        <p:nvSpPr>
          <p:cNvPr id="15" name="Text 12"/>
          <p:cNvSpPr/>
          <p:nvPr/>
        </p:nvSpPr>
        <p:spPr>
          <a:xfrm>
            <a:off x="6670310" y="2272010"/>
            <a:ext cx="4622188" cy="519509"/>
          </a:xfrm>
          <a:prstGeom prst="rect">
            <a:avLst/>
          </a:prstGeom>
          <a:noFill/>
          <a:ln/>
        </p:spPr>
        <p:txBody>
          <a:bodyPr wrap="square" lIns="0" tIns="0" rIns="0" bIns="0" rtlCol="0" anchor="t"/>
          <a:lstStyle/>
          <a:p>
            <a:pPr marL="0" indent="0" algn="l">
              <a:lnSpc>
                <a:spcPct val="100000"/>
              </a:lnSpc>
              <a:spcAft>
                <a:spcPts val="950"/>
              </a:spcAft>
              <a:buNone/>
            </a:pPr>
            <a:r>
              <a:rPr lang="en-US" sz="1300" dirty="0">
                <a:solidFill>
                  <a:srgbClr val="1A1A1A"/>
                </a:solidFill>
                <a:latin typeface="Carlito" pitchFamily="34" charset="0"/>
                <a:ea typeface="Carlito" pitchFamily="34" charset="-122"/>
                <a:cs typeface="Carlito" pitchFamily="34" charset="0"/>
              </a:rPr>
              <a:t>–   Block interleukin-6 receptor signaling</a:t>
            </a:r>
            <a:endParaRPr lang="en-US" sz="1300" dirty="0"/>
          </a:p>
          <a:p>
            <a:pPr marL="0" indent="0" algn="l">
              <a:lnSpc>
                <a:spcPct val="100000"/>
              </a:lnSpc>
              <a:buNone/>
            </a:pPr>
            <a:r>
              <a:rPr lang="en-US" sz="1300" dirty="0">
                <a:solidFill>
                  <a:srgbClr val="1A1A1A"/>
                </a:solidFill>
                <a:latin typeface="Carlito" pitchFamily="34" charset="0"/>
                <a:ea typeface="Carlito" pitchFamily="34" charset="-122"/>
                <a:cs typeface="Carlito" pitchFamily="34" charset="0"/>
              </a:rPr>
              <a:t>–   Example: tocilizumab</a:t>
            </a:r>
            <a:endParaRPr lang="en-US" sz="1300" dirty="0"/>
          </a:p>
        </p:txBody>
      </p:sp>
      <p:sp>
        <p:nvSpPr>
          <p:cNvPr id="16" name="Shape 13"/>
          <p:cNvSpPr/>
          <p:nvPr/>
        </p:nvSpPr>
        <p:spPr>
          <a:xfrm>
            <a:off x="640044" y="4023320"/>
            <a:ext cx="5257668" cy="2103041"/>
          </a:xfrm>
          <a:prstGeom prst="roundRect">
            <a:avLst>
              <a:gd name="adj" fmla="val 5217"/>
            </a:avLst>
          </a:prstGeom>
          <a:solidFill>
            <a:srgbClr val="E8F1F0"/>
          </a:solidFill>
          <a:ln/>
        </p:spPr>
        <p:txBody>
          <a:bodyPr/>
          <a:lstStyle/>
          <a:p>
            <a:endParaRPr lang="en-US"/>
          </a:p>
        </p:txBody>
      </p:sp>
      <p:sp>
        <p:nvSpPr>
          <p:cNvPr id="17" name="Shape 14"/>
          <p:cNvSpPr/>
          <p:nvPr/>
        </p:nvSpPr>
        <p:spPr>
          <a:xfrm>
            <a:off x="640044" y="4023320"/>
            <a:ext cx="5257668" cy="502841"/>
          </a:xfrm>
          <a:prstGeom prst="roundRect">
            <a:avLst>
              <a:gd name="adj" fmla="val 21821"/>
            </a:avLst>
          </a:prstGeom>
          <a:solidFill>
            <a:srgbClr val="6B9080"/>
          </a:solidFill>
          <a:ln/>
        </p:spPr>
        <p:txBody>
          <a:bodyPr/>
          <a:lstStyle/>
          <a:p>
            <a:endParaRPr lang="en-US"/>
          </a:p>
        </p:txBody>
      </p:sp>
      <p:sp>
        <p:nvSpPr>
          <p:cNvPr id="18" name="Shape 15"/>
          <p:cNvSpPr/>
          <p:nvPr/>
        </p:nvSpPr>
        <p:spPr>
          <a:xfrm>
            <a:off x="640044" y="4279305"/>
            <a:ext cx="5257668" cy="255984"/>
          </a:xfrm>
          <a:prstGeom prst="rect">
            <a:avLst/>
          </a:prstGeom>
          <a:solidFill>
            <a:srgbClr val="6B9080"/>
          </a:solidFill>
          <a:ln/>
        </p:spPr>
        <p:txBody>
          <a:bodyPr/>
          <a:lstStyle/>
          <a:p>
            <a:endParaRPr lang="en-US"/>
          </a:p>
        </p:txBody>
      </p:sp>
      <p:sp>
        <p:nvSpPr>
          <p:cNvPr id="19" name="Text 16"/>
          <p:cNvSpPr/>
          <p:nvPr/>
        </p:nvSpPr>
        <p:spPr>
          <a:xfrm>
            <a:off x="841156" y="415290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B-Cell Targeted Therapy</a:t>
            </a:r>
            <a:endParaRPr lang="en-US" sz="1600" dirty="0"/>
          </a:p>
        </p:txBody>
      </p:sp>
      <p:sp>
        <p:nvSpPr>
          <p:cNvPr id="20" name="Text 17"/>
          <p:cNvSpPr/>
          <p:nvPr/>
        </p:nvSpPr>
        <p:spPr>
          <a:xfrm>
            <a:off x="1046930" y="4695130"/>
            <a:ext cx="4622188" cy="519509"/>
          </a:xfrm>
          <a:prstGeom prst="rect">
            <a:avLst/>
          </a:prstGeom>
          <a:noFill/>
          <a:ln/>
        </p:spPr>
        <p:txBody>
          <a:bodyPr wrap="square" lIns="0" tIns="0" rIns="0" bIns="0" rtlCol="0" anchor="t"/>
          <a:lstStyle/>
          <a:p>
            <a:pPr marL="0" indent="0" algn="l">
              <a:lnSpc>
                <a:spcPct val="100000"/>
              </a:lnSpc>
              <a:spcAft>
                <a:spcPts val="950"/>
              </a:spcAft>
              <a:buNone/>
            </a:pPr>
            <a:r>
              <a:rPr lang="en-US" sz="1300" dirty="0">
                <a:solidFill>
                  <a:srgbClr val="1A1A1A"/>
                </a:solidFill>
                <a:latin typeface="Carlito" pitchFamily="34" charset="0"/>
                <a:ea typeface="Carlito" pitchFamily="34" charset="-122"/>
                <a:cs typeface="Carlito" pitchFamily="34" charset="0"/>
              </a:rPr>
              <a:t>–   Depletes or modulates B lymphocytes</a:t>
            </a:r>
            <a:endParaRPr lang="en-US" sz="1300" dirty="0"/>
          </a:p>
          <a:p>
            <a:pPr marL="0" indent="0" algn="l">
              <a:lnSpc>
                <a:spcPct val="100000"/>
              </a:lnSpc>
              <a:buNone/>
            </a:pPr>
            <a:r>
              <a:rPr lang="en-US" sz="1300" dirty="0">
                <a:solidFill>
                  <a:srgbClr val="1A1A1A"/>
                </a:solidFill>
                <a:latin typeface="Carlito" pitchFamily="34" charset="0"/>
                <a:ea typeface="Carlito" pitchFamily="34" charset="-122"/>
                <a:cs typeface="Carlito" pitchFamily="34" charset="0"/>
              </a:rPr>
              <a:t>–   Example: rituximab</a:t>
            </a:r>
            <a:endParaRPr lang="en-US" sz="1300" dirty="0"/>
          </a:p>
        </p:txBody>
      </p:sp>
      <p:sp>
        <p:nvSpPr>
          <p:cNvPr id="21" name="Shape 18"/>
          <p:cNvSpPr/>
          <p:nvPr/>
        </p:nvSpPr>
        <p:spPr>
          <a:xfrm>
            <a:off x="6263424" y="4023320"/>
            <a:ext cx="5257668" cy="2103041"/>
          </a:xfrm>
          <a:prstGeom prst="roundRect">
            <a:avLst>
              <a:gd name="adj" fmla="val 5217"/>
            </a:avLst>
          </a:prstGeom>
          <a:solidFill>
            <a:srgbClr val="E8F1F0"/>
          </a:solidFill>
          <a:ln/>
        </p:spPr>
        <p:txBody>
          <a:bodyPr/>
          <a:lstStyle/>
          <a:p>
            <a:endParaRPr lang="en-US"/>
          </a:p>
        </p:txBody>
      </p:sp>
      <p:sp>
        <p:nvSpPr>
          <p:cNvPr id="22" name="Shape 19"/>
          <p:cNvSpPr/>
          <p:nvPr/>
        </p:nvSpPr>
        <p:spPr>
          <a:xfrm>
            <a:off x="6263424" y="4023320"/>
            <a:ext cx="5257668" cy="502841"/>
          </a:xfrm>
          <a:prstGeom prst="roundRect">
            <a:avLst>
              <a:gd name="adj" fmla="val 21821"/>
            </a:avLst>
          </a:prstGeom>
          <a:solidFill>
            <a:srgbClr val="D1495B"/>
          </a:solidFill>
          <a:ln/>
        </p:spPr>
        <p:txBody>
          <a:bodyPr/>
          <a:lstStyle/>
          <a:p>
            <a:endParaRPr lang="en-US"/>
          </a:p>
        </p:txBody>
      </p:sp>
      <p:sp>
        <p:nvSpPr>
          <p:cNvPr id="23" name="Shape 20"/>
          <p:cNvSpPr/>
          <p:nvPr/>
        </p:nvSpPr>
        <p:spPr>
          <a:xfrm>
            <a:off x="6263424" y="4279305"/>
            <a:ext cx="5257668" cy="255984"/>
          </a:xfrm>
          <a:prstGeom prst="rect">
            <a:avLst/>
          </a:prstGeom>
          <a:solidFill>
            <a:srgbClr val="D1495B"/>
          </a:solidFill>
          <a:ln/>
        </p:spPr>
        <p:txBody>
          <a:bodyPr/>
          <a:lstStyle/>
          <a:p>
            <a:endParaRPr lang="en-US"/>
          </a:p>
        </p:txBody>
      </p:sp>
      <p:sp>
        <p:nvSpPr>
          <p:cNvPr id="24" name="Text 21"/>
          <p:cNvSpPr/>
          <p:nvPr/>
        </p:nvSpPr>
        <p:spPr>
          <a:xfrm>
            <a:off x="6464634" y="4152900"/>
            <a:ext cx="5464832" cy="280392"/>
          </a:xfrm>
          <a:prstGeom prst="rect">
            <a:avLst/>
          </a:prstGeom>
          <a:noFill/>
          <a:ln/>
        </p:spPr>
        <p:txBody>
          <a:bodyPr wrap="none" lIns="0" tIns="0" rIns="0" bIns="0" rtlCol="0" anchor="t"/>
          <a:lstStyle/>
          <a:p>
            <a:pPr marL="0" indent="0" algn="l">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T-Cell Costimulation Modulators</a:t>
            </a:r>
            <a:endParaRPr lang="en-US" sz="1600" dirty="0"/>
          </a:p>
        </p:txBody>
      </p:sp>
      <p:sp>
        <p:nvSpPr>
          <p:cNvPr id="25" name="Text 22"/>
          <p:cNvSpPr/>
          <p:nvPr/>
        </p:nvSpPr>
        <p:spPr>
          <a:xfrm>
            <a:off x="6670310" y="4695130"/>
            <a:ext cx="4622188" cy="519509"/>
          </a:xfrm>
          <a:prstGeom prst="rect">
            <a:avLst/>
          </a:prstGeom>
          <a:noFill/>
          <a:ln/>
        </p:spPr>
        <p:txBody>
          <a:bodyPr wrap="square" lIns="0" tIns="0" rIns="0" bIns="0" rtlCol="0" anchor="t"/>
          <a:lstStyle/>
          <a:p>
            <a:pPr marL="0" indent="0" algn="l">
              <a:lnSpc>
                <a:spcPct val="100000"/>
              </a:lnSpc>
              <a:spcAft>
                <a:spcPts val="950"/>
              </a:spcAft>
              <a:buNone/>
            </a:pPr>
            <a:r>
              <a:rPr lang="en-US" sz="1300" dirty="0">
                <a:solidFill>
                  <a:srgbClr val="1A1A1A"/>
                </a:solidFill>
                <a:latin typeface="Carlito" pitchFamily="34" charset="0"/>
                <a:ea typeface="Carlito" pitchFamily="34" charset="-122"/>
                <a:cs typeface="Carlito" pitchFamily="34" charset="0"/>
              </a:rPr>
              <a:t>–   Block the second signal needed for T-cell activation</a:t>
            </a:r>
            <a:endParaRPr lang="en-US" sz="1300" dirty="0"/>
          </a:p>
          <a:p>
            <a:pPr marL="0" indent="0" algn="l">
              <a:lnSpc>
                <a:spcPct val="100000"/>
              </a:lnSpc>
              <a:buNone/>
            </a:pPr>
            <a:r>
              <a:rPr lang="en-US" sz="1300" dirty="0">
                <a:solidFill>
                  <a:srgbClr val="1A1A1A"/>
                </a:solidFill>
                <a:latin typeface="Carlito" pitchFamily="34" charset="0"/>
                <a:ea typeface="Carlito" pitchFamily="34" charset="-122"/>
                <a:cs typeface="Carlito" pitchFamily="34" charset="0"/>
              </a:rPr>
              <a:t>–   Example: abatacept</a:t>
            </a:r>
            <a:endParaRPr lang="en-US" sz="1300" dirty="0"/>
          </a:p>
        </p:txBody>
      </p:sp>
      <p:sp>
        <p:nvSpPr>
          <p:cNvPr id="26" name="Text 2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27" name="Text 2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51</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60866"/>
            <a:ext cx="10972526" cy="422176"/>
          </a:xfrm>
          <a:prstGeom prst="rect">
            <a:avLst/>
          </a:prstGeom>
          <a:noFill/>
          <a:ln/>
        </p:spPr>
        <p:txBody>
          <a:bodyPr wrap="none" lIns="0" tIns="0" rIns="0" bIns="0" rtlCol="0" anchor="t"/>
          <a:lstStyle/>
          <a:p>
            <a:pPr marL="0" indent="0" algn="l">
              <a:lnSpc>
                <a:spcPct val="100000"/>
              </a:lnSpc>
              <a:buNone/>
            </a:pPr>
            <a:r>
              <a:rPr lang="en-US" sz="2750" b="1" dirty="0">
                <a:solidFill>
                  <a:srgbClr val="123C44"/>
                </a:solidFill>
                <a:latin typeface="Caladea Bold" pitchFamily="34" charset="0"/>
                <a:ea typeface="Caladea Bold" pitchFamily="34" charset="-122"/>
                <a:cs typeface="Caladea Bold" pitchFamily="34" charset="0"/>
              </a:rPr>
              <a:t>Biologic DMARDs: Mechanism by Target</a:t>
            </a:r>
            <a:endParaRPr lang="en-US" sz="275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609585" y="1602879"/>
          <a:ext cx="6217685" cy="3492016"/>
        </p:xfrm>
        <a:graphic>
          <a:graphicData uri="http://schemas.openxmlformats.org/drawingml/2006/table">
            <a:tbl>
              <a:tblPr/>
              <a:tblGrid>
                <a:gridCol w="2114001">
                  <a:extLst>
                    <a:ext uri="{9D8B030D-6E8A-4147-A177-3AD203B41FA5}">
                      <a16:colId xmlns:a16="http://schemas.microsoft.com/office/drawing/2014/main" val="20000"/>
                    </a:ext>
                  </a:extLst>
                </a:gridCol>
                <a:gridCol w="4103684">
                  <a:extLst>
                    <a:ext uri="{9D8B030D-6E8A-4147-A177-3AD203B41FA5}">
                      <a16:colId xmlns:a16="http://schemas.microsoft.com/office/drawing/2014/main" val="20001"/>
                    </a:ext>
                  </a:extLst>
                </a:gridCol>
              </a:tblGrid>
              <a:tr h="1296757">
                <a:tc>
                  <a:txBody>
                    <a:bodyPr/>
                    <a:lstStyle/>
                    <a:p>
                      <a:pPr marL="0" indent="0" algn="l">
                        <a:buNone/>
                      </a:pPr>
                      <a:r>
                        <a:rPr lang="en-US" sz="1600" b="1" dirty="0">
                          <a:solidFill>
                            <a:srgbClr val="1A1A1A"/>
                          </a:solidFill>
                          <a:latin typeface="Carlito" pitchFamily="34" charset="0"/>
                          <a:ea typeface="Carlito" pitchFamily="34" charset="-122"/>
                          <a:cs typeface="Carlito" pitchFamily="34" charset="0"/>
                        </a:rPr>
                        <a:t>TNF inhibitors</a:t>
                      </a:r>
                      <a:endParaRPr lang="en-US" sz="1600" dirty="0">
                        <a:latin typeface="Carlito" charset="0"/>
                        <a:ea typeface="Carlito" charset="0"/>
                        <a:cs typeface="Carlito" charset="0"/>
                      </a:endParaRPr>
                    </a:p>
                    <a:p>
                      <a:pPr marL="0" indent="0" algn="l">
                        <a:buNone/>
                      </a:pPr>
                      <a:r>
                        <a:rPr lang="en-US" sz="1600" b="1" dirty="0">
                          <a:solidFill>
                            <a:srgbClr val="1A1A1A"/>
                          </a:solidFill>
                          <a:latin typeface="Carlito" pitchFamily="34" charset="0"/>
                          <a:ea typeface="Carlito" pitchFamily="34" charset="-122"/>
                          <a:cs typeface="Carlito" pitchFamily="34" charset="0"/>
                        </a:rPr>
                        <a:t>Infliximab, adalimumab, etanercept</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Bind soluble or membrane TNF-α, preventing TNFR activation.</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0"/>
                  </a:ext>
                </a:extLst>
              </a:tr>
              <a:tr h="735986">
                <a:tc>
                  <a:txBody>
                    <a:bodyPr/>
                    <a:lstStyle/>
                    <a:p>
                      <a:pPr marL="0" indent="0" algn="l">
                        <a:buNone/>
                      </a:pPr>
                      <a:r>
                        <a:rPr lang="en-US" sz="1600" b="1" dirty="0">
                          <a:solidFill>
                            <a:srgbClr val="1A1A1A"/>
                          </a:solidFill>
                          <a:latin typeface="Carlito" pitchFamily="34" charset="0"/>
                          <a:ea typeface="Carlito" pitchFamily="34" charset="-122"/>
                          <a:cs typeface="Carlito" pitchFamily="34" charset="0"/>
                        </a:rPr>
                        <a:t>IL-6 inhibitor</a:t>
                      </a:r>
                      <a:endParaRPr lang="en-US" sz="1600" dirty="0">
                        <a:latin typeface="Carlito" charset="0"/>
                        <a:ea typeface="Carlito" charset="0"/>
                        <a:cs typeface="Carlito" charset="0"/>
                      </a:endParaRPr>
                    </a:p>
                    <a:p>
                      <a:pPr marL="0" indent="0" algn="l">
                        <a:buNone/>
                      </a:pPr>
                      <a:r>
                        <a:rPr lang="en-US" sz="1600" b="1" dirty="0">
                          <a:solidFill>
                            <a:srgbClr val="1A1A1A"/>
                          </a:solidFill>
                          <a:latin typeface="Carlito" pitchFamily="34" charset="0"/>
                          <a:ea typeface="Carlito" pitchFamily="34" charset="-122"/>
                          <a:cs typeface="Carlito" pitchFamily="34" charset="0"/>
                        </a:rPr>
                        <a:t>Tocilizumab</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Blocks the IL-6 receptor, reducing inflammatory signaling.</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1"/>
                  </a:ext>
                </a:extLst>
              </a:tr>
              <a:tr h="735986">
                <a:tc>
                  <a:txBody>
                    <a:bodyPr/>
                    <a:lstStyle/>
                    <a:p>
                      <a:pPr marL="0" indent="0" algn="l">
                        <a:buNone/>
                      </a:pPr>
                      <a:r>
                        <a:rPr lang="en-US" sz="1600" b="1" dirty="0">
                          <a:solidFill>
                            <a:srgbClr val="1A1A1A"/>
                          </a:solidFill>
                          <a:latin typeface="Carlito" pitchFamily="34" charset="0"/>
                          <a:ea typeface="Carlito" pitchFamily="34" charset="-122"/>
                          <a:cs typeface="Carlito" pitchFamily="34" charset="0"/>
                        </a:rPr>
                        <a:t>Abatacept</a:t>
                      </a:r>
                      <a:endParaRPr lang="en-US" sz="1600" dirty="0">
                        <a:latin typeface="Carlito" charset="0"/>
                        <a:ea typeface="Carlito" charset="0"/>
                        <a:cs typeface="Carlito" charset="0"/>
                      </a:endParaRPr>
                    </a:p>
                    <a:p>
                      <a:pPr marL="0" indent="0" algn="l">
                        <a:buNone/>
                      </a:pPr>
                      <a:r>
                        <a:rPr lang="en-US" sz="1600" b="1" dirty="0">
                          <a:solidFill>
                            <a:srgbClr val="1A1A1A"/>
                          </a:solidFill>
                          <a:latin typeface="Carlito" pitchFamily="34" charset="0"/>
                          <a:ea typeface="Carlito" pitchFamily="34" charset="-122"/>
                          <a:cs typeface="Carlito" pitchFamily="34" charset="0"/>
                        </a:rPr>
                        <a:t>CTLA-4-Ig</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Binds CD80/86; blocks CD28 costimulation of T cells.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2"/>
                  </a:ext>
                </a:extLst>
              </a:tr>
              <a:tr h="723287">
                <a:tc>
                  <a:txBody>
                    <a:bodyPr/>
                    <a:lstStyle/>
                    <a:p>
                      <a:pPr marL="0" indent="0" algn="l">
                        <a:buNone/>
                      </a:pPr>
                      <a:r>
                        <a:rPr lang="en-US" sz="1600" b="1" dirty="0">
                          <a:solidFill>
                            <a:srgbClr val="1A1A1A"/>
                          </a:solidFill>
                          <a:latin typeface="Carlito" pitchFamily="34" charset="0"/>
                          <a:ea typeface="Carlito" pitchFamily="34" charset="-122"/>
                          <a:cs typeface="Carlito" pitchFamily="34" charset="0"/>
                        </a:rPr>
                        <a:t>Rituximab</a:t>
                      </a:r>
                      <a:endParaRPr lang="en-US" sz="1600" dirty="0">
                        <a:latin typeface="Carlito" charset="0"/>
                        <a:ea typeface="Carlito" charset="0"/>
                        <a:cs typeface="Carlito" charset="0"/>
                      </a:endParaRPr>
                    </a:p>
                    <a:p>
                      <a:pPr marL="0" indent="0" algn="l">
                        <a:buNone/>
                      </a:pPr>
                      <a:r>
                        <a:rPr lang="en-US" sz="1600" b="1" dirty="0">
                          <a:solidFill>
                            <a:srgbClr val="1A1A1A"/>
                          </a:solidFill>
                          <a:latin typeface="Carlito" pitchFamily="34" charset="0"/>
                          <a:ea typeface="Carlito" pitchFamily="34" charset="-122"/>
                          <a:cs typeface="Carlito" pitchFamily="34" charset="0"/>
                        </a:rPr>
                        <a:t>Anti-CD20</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Binds CD20 and depletes B cells.</a:t>
                      </a:r>
                      <a:endParaRPr lang="en-US" sz="1600" dirty="0">
                        <a:latin typeface="Carlito" charset="0"/>
                        <a:ea typeface="Carlito" charset="0"/>
                        <a:cs typeface="Carlito" charset="0"/>
                      </a:endParaRPr>
                    </a:p>
                  </a:txBody>
                  <a:tcPr marL="152396" marR="152396" marT="81278" marB="8127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6827270" y="1602879"/>
            <a:ext cx="4754840" cy="3570387"/>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TNF inhibitors:</a:t>
            </a:r>
            <a:r>
              <a:rPr lang="en-US" sz="1600" dirty="0">
                <a:solidFill>
                  <a:srgbClr val="1A1A1A"/>
                </a:solidFill>
                <a:latin typeface="Carlito" pitchFamily="34" charset="0"/>
                <a:ea typeface="Carlito" pitchFamily="34" charset="-122"/>
                <a:cs typeface="Carlito" pitchFamily="34" charset="0"/>
              </a:rPr>
              <a:t> antibodies and etanercept, a receptor fusion, neutralize soluble and membrane TNF-α. First-line biologic; watch for reactivation of latent TB.</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IL-6 blockers:</a:t>
            </a:r>
            <a:r>
              <a:rPr lang="en-US" sz="1600" dirty="0">
                <a:solidFill>
                  <a:srgbClr val="1A1A1A"/>
                </a:solidFill>
                <a:latin typeface="Carlito" pitchFamily="34" charset="0"/>
                <a:ea typeface="Carlito" pitchFamily="34" charset="-122"/>
                <a:cs typeface="Carlito" pitchFamily="34" charset="0"/>
              </a:rPr>
              <a:t> tocilizumab blocks both membrane and soluble IL-6 receptor, and works as monotherapy. Can raise lipids and liver enzymes.</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Abatacept:</a:t>
            </a:r>
            <a:r>
              <a:rPr lang="en-US" sz="1600" dirty="0">
                <a:solidFill>
                  <a:srgbClr val="1A1A1A"/>
                </a:solidFill>
                <a:latin typeface="Carlito" pitchFamily="34" charset="0"/>
                <a:ea typeface="Carlito" pitchFamily="34" charset="-122"/>
                <a:cs typeface="Carlito" pitchFamily="34" charset="0"/>
              </a:rPr>
              <a:t> selective costimulation modulator that acts early, at T-cell activation. Generally a lower infection signal.</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Rituximab:</a:t>
            </a:r>
            <a:r>
              <a:rPr lang="en-US" sz="1600" dirty="0">
                <a:solidFill>
                  <a:srgbClr val="1A1A1A"/>
                </a:solidFill>
                <a:latin typeface="Carlito" pitchFamily="34" charset="0"/>
                <a:ea typeface="Carlito" pitchFamily="34" charset="-122"/>
                <a:cs typeface="Carlito" pitchFamily="34" charset="0"/>
              </a:rPr>
              <a:t> anti-CD20 depletes B cells for months. Used after TNF-inhibitor failure; check hepatitis B before starting.</a:t>
            </a:r>
            <a:endParaRPr lang="en-US" sz="1600" dirty="0"/>
          </a:p>
        </p:txBody>
      </p:sp>
      <p:sp>
        <p:nvSpPr>
          <p:cNvPr id="6" name="Text 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7" name="Text 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52</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ORIGINAL ILLUSTRATION · FIGURE 3</a:t>
            </a:r>
            <a:endParaRPr lang="en-US" sz="1200" dirty="0"/>
          </a:p>
        </p:txBody>
      </p:sp>
      <p:sp>
        <p:nvSpPr>
          <p:cNvPr id="3" name="Text 1"/>
          <p:cNvSpPr/>
          <p:nvPr/>
        </p:nvSpPr>
        <p:spPr>
          <a:xfrm>
            <a:off x="731422" y="716439"/>
            <a:ext cx="10092477" cy="853281"/>
          </a:xfrm>
          <a:prstGeom prst="rect">
            <a:avLst/>
          </a:prstGeom>
          <a:noFill/>
          <a:ln/>
        </p:spPr>
        <p:txBody>
          <a:bodyPr wrap="square" lIns="0" tIns="0" rIns="0" bIns="0" rtlCol="0" anchor="t">
            <a:normAutofit/>
          </a:bodyPr>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Biologic DMARDs: Where Each Class Intercepts the Immune Cascade</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pic>
        <p:nvPicPr>
          <p:cNvPr id="6" name="Image 1" descr="preencoded.png"/>
          <p:cNvPicPr>
            <a:picLocks noChangeAspect="1"/>
          </p:cNvPicPr>
          <p:nvPr/>
        </p:nvPicPr>
        <p:blipFill>
          <a:blip r:embed="rId4"/>
          <a:stretch>
            <a:fillRect/>
          </a:stretch>
        </p:blipFill>
        <p:spPr>
          <a:xfrm>
            <a:off x="1989485" y="1554460"/>
            <a:ext cx="8182068" cy="4160441"/>
          </a:xfrm>
          <a:prstGeom prst="rect">
            <a:avLst/>
          </a:prstGeom>
        </p:spPr>
      </p:pic>
      <p:sp>
        <p:nvSpPr>
          <p:cNvPr id="7" name="Text 3"/>
          <p:cNvSpPr/>
          <p:nvPr/>
        </p:nvSpPr>
        <p:spPr>
          <a:xfrm>
            <a:off x="640044" y="5819874"/>
            <a:ext cx="10881048" cy="473075"/>
          </a:xfrm>
          <a:prstGeom prst="rect">
            <a:avLst/>
          </a:prstGeom>
          <a:noFill/>
          <a:ln/>
        </p:spPr>
        <p:txBody>
          <a:bodyPr wrap="square" lIns="0" tIns="0" rIns="0" bIns="0" rtlCol="0" anchor="t">
            <a:normAutofit/>
          </a:bodyPr>
          <a:lstStyle/>
          <a:p>
            <a:pPr marL="0" indent="0" algn="ctr">
              <a:lnSpc>
                <a:spcPct val="115000"/>
              </a:lnSpc>
              <a:buNone/>
            </a:pPr>
            <a:r>
              <a:rPr lang="en-US" sz="1350" i="1" dirty="0">
                <a:solidFill>
                  <a:srgbClr val="5C6B73"/>
                </a:solidFill>
                <a:latin typeface="Carlito" pitchFamily="34" charset="0"/>
                <a:ea typeface="Carlito" pitchFamily="34" charset="-122"/>
                <a:cs typeface="Carlito" pitchFamily="34" charset="0"/>
              </a:rPr>
              <a:t>Figure 3. Original illustrative diagram (not from Katzung): abatacept blocks T-cell costimulation, TNF inhibitors (adalimumab, etanercept, infliximab) and tocilizumab block cytokine signaling, and rituximab depletes B cells.</a:t>
            </a:r>
            <a:endParaRPr lang="en-US" sz="1350" dirty="0"/>
          </a:p>
        </p:txBody>
      </p:sp>
      <p:sp>
        <p:nvSpPr>
          <p:cNvPr id="8"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9"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53</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QUICK CHECK · FIGURE 3</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Quick Check</a:t>
            </a:r>
            <a:endParaRPr lang="en-US" sz="2800" dirty="0"/>
          </a:p>
        </p:txBody>
      </p:sp>
      <p:sp>
        <p:nvSpPr>
          <p:cNvPr id="4" name="Shape 2"/>
          <p:cNvSpPr/>
          <p:nvPr/>
        </p:nvSpPr>
        <p:spPr>
          <a:xfrm>
            <a:off x="10972526" y="502841"/>
            <a:ext cx="566823" cy="566837"/>
          </a:xfrm>
          <a:prstGeom prst="ellipse">
            <a:avLst/>
          </a:prstGeom>
          <a:solidFill>
            <a:srgbClr val="0F717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640044" y="1403350"/>
            <a:ext cx="10823900" cy="648295"/>
          </a:xfrm>
          <a:prstGeom prst="rect">
            <a:avLst/>
          </a:prstGeom>
          <a:noFill/>
          <a:ln/>
        </p:spPr>
        <p:txBody>
          <a:bodyPr wrap="square" lIns="0" tIns="0" rIns="0" bIns="0" rtlCol="0" anchor="t">
            <a:normAutofit/>
          </a:bodyPr>
          <a:lstStyle/>
          <a:p>
            <a:pPr marL="0" indent="0" algn="l">
              <a:lnSpc>
                <a:spcPct val="115000"/>
              </a:lnSpc>
              <a:buNone/>
            </a:pPr>
            <a:r>
              <a:rPr lang="en-US" sz="1850" b="1" dirty="0">
                <a:solidFill>
                  <a:srgbClr val="123C44"/>
                </a:solidFill>
                <a:latin typeface="Carlito Bold" pitchFamily="34" charset="0"/>
                <a:ea typeface="Carlito Bold" pitchFamily="34" charset="-122"/>
                <a:cs typeface="Carlito Bold" pitchFamily="34" charset="0"/>
              </a:rPr>
              <a:t>In Figure 3, which biologic DMARD acts earliest in the cascade shown, before cytokines like TNF-α and IL-6 are even released?</a:t>
            </a:r>
            <a:endParaRPr lang="en-US" sz="1850" dirty="0"/>
          </a:p>
        </p:txBody>
      </p:sp>
      <p:sp>
        <p:nvSpPr>
          <p:cNvPr id="7" name="Shape 4"/>
          <p:cNvSpPr/>
          <p:nvPr/>
        </p:nvSpPr>
        <p:spPr>
          <a:xfrm>
            <a:off x="640044" y="2605980"/>
            <a:ext cx="5257668" cy="1097260"/>
          </a:xfrm>
          <a:prstGeom prst="roundRect">
            <a:avLst>
              <a:gd name="adj" fmla="val 8000"/>
            </a:avLst>
          </a:prstGeom>
          <a:solidFill>
            <a:srgbClr val="E8F1F0"/>
          </a:solidFill>
          <a:ln/>
        </p:spPr>
        <p:txBody>
          <a:bodyPr/>
          <a:lstStyle/>
          <a:p>
            <a:endParaRPr lang="en-US"/>
          </a:p>
        </p:txBody>
      </p:sp>
      <p:sp>
        <p:nvSpPr>
          <p:cNvPr id="8" name="Shape 5"/>
          <p:cNvSpPr/>
          <p:nvPr/>
        </p:nvSpPr>
        <p:spPr>
          <a:xfrm>
            <a:off x="804644" y="2944316"/>
            <a:ext cx="420578" cy="420588"/>
          </a:xfrm>
          <a:prstGeom prst="ellipse">
            <a:avLst/>
          </a:prstGeom>
          <a:solidFill>
            <a:srgbClr val="2A6F97"/>
          </a:solidFill>
          <a:ln/>
        </p:spPr>
        <p:txBody>
          <a:bodyPr/>
          <a:lstStyle/>
          <a:p>
            <a:endParaRPr lang="en-US"/>
          </a:p>
        </p:txBody>
      </p:sp>
      <p:sp>
        <p:nvSpPr>
          <p:cNvPr id="9" name="Text 6"/>
          <p:cNvSpPr/>
          <p:nvPr/>
        </p:nvSpPr>
        <p:spPr>
          <a:xfrm>
            <a:off x="499852"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A</a:t>
            </a:r>
            <a:endParaRPr lang="en-US" sz="1600" dirty="0"/>
          </a:p>
        </p:txBody>
      </p:sp>
      <p:sp>
        <p:nvSpPr>
          <p:cNvPr id="10" name="Text 7"/>
          <p:cNvSpPr/>
          <p:nvPr/>
        </p:nvSpPr>
        <p:spPr>
          <a:xfrm>
            <a:off x="138982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Adalimumab</a:t>
            </a:r>
            <a:endParaRPr lang="en-US" sz="1350" dirty="0"/>
          </a:p>
        </p:txBody>
      </p:sp>
      <p:sp>
        <p:nvSpPr>
          <p:cNvPr id="11" name="Shape 8"/>
          <p:cNvSpPr/>
          <p:nvPr/>
        </p:nvSpPr>
        <p:spPr>
          <a:xfrm>
            <a:off x="6263424" y="2605980"/>
            <a:ext cx="5257668" cy="1097260"/>
          </a:xfrm>
          <a:prstGeom prst="roundRect">
            <a:avLst>
              <a:gd name="adj" fmla="val 8000"/>
            </a:avLst>
          </a:prstGeom>
          <a:solidFill>
            <a:srgbClr val="E8F1F0"/>
          </a:solidFill>
          <a:ln/>
        </p:spPr>
        <p:txBody>
          <a:bodyPr/>
          <a:lstStyle/>
          <a:p>
            <a:endParaRPr lang="en-US"/>
          </a:p>
        </p:txBody>
      </p:sp>
      <p:sp>
        <p:nvSpPr>
          <p:cNvPr id="12" name="Shape 9"/>
          <p:cNvSpPr/>
          <p:nvPr/>
        </p:nvSpPr>
        <p:spPr>
          <a:xfrm>
            <a:off x="6428024" y="2944316"/>
            <a:ext cx="420578" cy="420588"/>
          </a:xfrm>
          <a:prstGeom prst="ellipse">
            <a:avLst/>
          </a:prstGeom>
          <a:solidFill>
            <a:srgbClr val="2A6F97"/>
          </a:solidFill>
          <a:ln/>
        </p:spPr>
        <p:txBody>
          <a:bodyPr/>
          <a:lstStyle/>
          <a:p>
            <a:endParaRPr lang="en-US"/>
          </a:p>
        </p:txBody>
      </p:sp>
      <p:sp>
        <p:nvSpPr>
          <p:cNvPr id="13" name="Text 10"/>
          <p:cNvSpPr/>
          <p:nvPr/>
        </p:nvSpPr>
        <p:spPr>
          <a:xfrm>
            <a:off x="6123231"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B</a:t>
            </a:r>
            <a:endParaRPr lang="en-US" sz="1600" dirty="0"/>
          </a:p>
        </p:txBody>
      </p:sp>
      <p:sp>
        <p:nvSpPr>
          <p:cNvPr id="14" name="Text 11"/>
          <p:cNvSpPr/>
          <p:nvPr/>
        </p:nvSpPr>
        <p:spPr>
          <a:xfrm>
            <a:off x="701320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Tocilizumab</a:t>
            </a:r>
            <a:endParaRPr lang="en-US" sz="1350" dirty="0"/>
          </a:p>
        </p:txBody>
      </p:sp>
      <p:sp>
        <p:nvSpPr>
          <p:cNvPr id="15" name="Shape 12"/>
          <p:cNvSpPr/>
          <p:nvPr/>
        </p:nvSpPr>
        <p:spPr>
          <a:xfrm>
            <a:off x="640044" y="3977580"/>
            <a:ext cx="5257668" cy="1097260"/>
          </a:xfrm>
          <a:prstGeom prst="roundRect">
            <a:avLst>
              <a:gd name="adj" fmla="val 8000"/>
            </a:avLst>
          </a:prstGeom>
          <a:solidFill>
            <a:srgbClr val="E8F1F0"/>
          </a:solidFill>
          <a:ln/>
        </p:spPr>
        <p:txBody>
          <a:bodyPr/>
          <a:lstStyle/>
          <a:p>
            <a:endParaRPr lang="en-US"/>
          </a:p>
        </p:txBody>
      </p:sp>
      <p:sp>
        <p:nvSpPr>
          <p:cNvPr id="16" name="Shape 13"/>
          <p:cNvSpPr/>
          <p:nvPr/>
        </p:nvSpPr>
        <p:spPr>
          <a:xfrm>
            <a:off x="804644" y="4315916"/>
            <a:ext cx="420578" cy="420588"/>
          </a:xfrm>
          <a:prstGeom prst="ellipse">
            <a:avLst/>
          </a:prstGeom>
          <a:solidFill>
            <a:srgbClr val="2A6F97"/>
          </a:solidFill>
          <a:ln/>
        </p:spPr>
        <p:txBody>
          <a:bodyPr/>
          <a:lstStyle/>
          <a:p>
            <a:endParaRPr lang="en-US"/>
          </a:p>
        </p:txBody>
      </p:sp>
      <p:sp>
        <p:nvSpPr>
          <p:cNvPr id="17" name="Text 14"/>
          <p:cNvSpPr/>
          <p:nvPr/>
        </p:nvSpPr>
        <p:spPr>
          <a:xfrm>
            <a:off x="499852"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a:t>
            </a:r>
            <a:endParaRPr lang="en-US" sz="1600" dirty="0"/>
          </a:p>
        </p:txBody>
      </p:sp>
      <p:sp>
        <p:nvSpPr>
          <p:cNvPr id="18" name="Text 15"/>
          <p:cNvSpPr/>
          <p:nvPr/>
        </p:nvSpPr>
        <p:spPr>
          <a:xfrm>
            <a:off x="138982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Abatacept</a:t>
            </a:r>
            <a:endParaRPr lang="en-US" sz="1350" dirty="0"/>
          </a:p>
        </p:txBody>
      </p:sp>
      <p:sp>
        <p:nvSpPr>
          <p:cNvPr id="19" name="Shape 16"/>
          <p:cNvSpPr/>
          <p:nvPr/>
        </p:nvSpPr>
        <p:spPr>
          <a:xfrm>
            <a:off x="6263424" y="3977580"/>
            <a:ext cx="5257668" cy="1097260"/>
          </a:xfrm>
          <a:prstGeom prst="roundRect">
            <a:avLst>
              <a:gd name="adj" fmla="val 8000"/>
            </a:avLst>
          </a:prstGeom>
          <a:solidFill>
            <a:srgbClr val="E8F1F0"/>
          </a:solidFill>
          <a:ln/>
        </p:spPr>
        <p:txBody>
          <a:bodyPr/>
          <a:lstStyle/>
          <a:p>
            <a:endParaRPr lang="en-US"/>
          </a:p>
        </p:txBody>
      </p:sp>
      <p:sp>
        <p:nvSpPr>
          <p:cNvPr id="20" name="Shape 17"/>
          <p:cNvSpPr/>
          <p:nvPr/>
        </p:nvSpPr>
        <p:spPr>
          <a:xfrm>
            <a:off x="6428024" y="4315916"/>
            <a:ext cx="420578" cy="420588"/>
          </a:xfrm>
          <a:prstGeom prst="ellipse">
            <a:avLst/>
          </a:prstGeom>
          <a:solidFill>
            <a:srgbClr val="2A6F97"/>
          </a:solidFill>
          <a:ln/>
        </p:spPr>
        <p:txBody>
          <a:bodyPr/>
          <a:lstStyle/>
          <a:p>
            <a:endParaRPr lang="en-US"/>
          </a:p>
        </p:txBody>
      </p:sp>
      <p:sp>
        <p:nvSpPr>
          <p:cNvPr id="21" name="Text 18"/>
          <p:cNvSpPr/>
          <p:nvPr/>
        </p:nvSpPr>
        <p:spPr>
          <a:xfrm>
            <a:off x="6123231"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D</a:t>
            </a:r>
            <a:endParaRPr lang="en-US" sz="1600" dirty="0"/>
          </a:p>
        </p:txBody>
      </p:sp>
      <p:sp>
        <p:nvSpPr>
          <p:cNvPr id="22" name="Text 19"/>
          <p:cNvSpPr/>
          <p:nvPr/>
        </p:nvSpPr>
        <p:spPr>
          <a:xfrm>
            <a:off x="701320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Rituximab</a:t>
            </a:r>
            <a:endParaRPr lang="en-US" sz="1350" dirty="0"/>
          </a:p>
        </p:txBody>
      </p:sp>
      <p:sp>
        <p:nvSpPr>
          <p:cNvPr id="23" name="Text 20"/>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24" name="Text 21"/>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54</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ANSWER · FIGURE 3</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Answer</a:t>
            </a:r>
            <a:endParaRPr lang="en-US" sz="2800" dirty="0"/>
          </a:p>
        </p:txBody>
      </p:sp>
      <p:sp>
        <p:nvSpPr>
          <p:cNvPr id="4" name="Shape 2"/>
          <p:cNvSpPr/>
          <p:nvPr/>
        </p:nvSpPr>
        <p:spPr>
          <a:xfrm>
            <a:off x="10972526" y="502841"/>
            <a:ext cx="566823" cy="566837"/>
          </a:xfrm>
          <a:prstGeom prst="ellipse">
            <a:avLst/>
          </a:prstGeom>
          <a:solidFill>
            <a:srgbClr val="6B9080"/>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10881048" cy="1234380"/>
          </a:xfrm>
          <a:prstGeom prst="roundRect">
            <a:avLst>
              <a:gd name="adj" fmla="val 8889"/>
            </a:avLst>
          </a:prstGeom>
          <a:solidFill>
            <a:srgbClr val="E8F1F0"/>
          </a:solidFill>
          <a:ln/>
        </p:spPr>
        <p:txBody>
          <a:bodyPr/>
          <a:lstStyle/>
          <a:p>
            <a:endParaRPr lang="en-US"/>
          </a:p>
        </p:txBody>
      </p:sp>
      <p:sp>
        <p:nvSpPr>
          <p:cNvPr id="7" name="Shape 4"/>
          <p:cNvSpPr/>
          <p:nvPr/>
        </p:nvSpPr>
        <p:spPr>
          <a:xfrm>
            <a:off x="868638" y="1851620"/>
            <a:ext cx="731422" cy="731441"/>
          </a:xfrm>
          <a:prstGeom prst="ellipse">
            <a:avLst/>
          </a:prstGeom>
          <a:solidFill>
            <a:srgbClr val="6B9080"/>
          </a:solidFill>
          <a:ln/>
        </p:spPr>
        <p:txBody>
          <a:bodyPr/>
          <a:lstStyle/>
          <a:p>
            <a:endParaRPr lang="en-US"/>
          </a:p>
        </p:txBody>
      </p:sp>
      <p:sp>
        <p:nvSpPr>
          <p:cNvPr id="8" name="Text 5"/>
          <p:cNvSpPr/>
          <p:nvPr/>
        </p:nvSpPr>
        <p:spPr>
          <a:xfrm>
            <a:off x="868638" y="2019300"/>
            <a:ext cx="731422" cy="396180"/>
          </a:xfrm>
          <a:prstGeom prst="rect">
            <a:avLst/>
          </a:prstGeom>
          <a:noFill/>
          <a:ln/>
        </p:spPr>
        <p:txBody>
          <a:bodyPr wrap="none" lIns="0" tIns="0" rIns="0" bIns="0" rtlCol="0" anchor="t"/>
          <a:lstStyle/>
          <a:p>
            <a:pPr marL="0" indent="0" algn="ctr">
              <a:lnSpc>
                <a:spcPct val="100000"/>
              </a:lnSpc>
              <a:buNone/>
            </a:pPr>
            <a:r>
              <a:rPr lang="en-US" sz="2600" b="1" kern="100" spc="29" dirty="0">
                <a:solidFill>
                  <a:srgbClr val="FFFFFF"/>
                </a:solidFill>
                <a:latin typeface="Caladea Bold" pitchFamily="34" charset="0"/>
                <a:ea typeface="Caladea Bold" pitchFamily="34" charset="-122"/>
                <a:cs typeface="Caladea Bold" pitchFamily="34" charset="0"/>
              </a:rPr>
              <a:t>C</a:t>
            </a:r>
            <a:endParaRPr lang="en-US" sz="2600" dirty="0"/>
          </a:p>
        </p:txBody>
      </p:sp>
      <p:sp>
        <p:nvSpPr>
          <p:cNvPr id="9" name="Text 6"/>
          <p:cNvSpPr/>
          <p:nvPr/>
        </p:nvSpPr>
        <p:spPr>
          <a:xfrm>
            <a:off x="1828754" y="2081510"/>
            <a:ext cx="10027590" cy="280392"/>
          </a:xfrm>
          <a:prstGeom prst="rect">
            <a:avLst/>
          </a:prstGeom>
          <a:noFill/>
          <a:ln/>
        </p:spPr>
        <p:txBody>
          <a:bodyPr wrap="none" lIns="0" tIns="0" rIns="0" bIns="0" rtlCol="0" anchor="t"/>
          <a:lstStyle/>
          <a:p>
            <a:pPr marL="0" indent="0" algn="l">
              <a:lnSpc>
                <a:spcPct val="115000"/>
              </a:lnSpc>
              <a:buNone/>
            </a:pPr>
            <a:r>
              <a:rPr lang="en-US" sz="1600" b="1" dirty="0">
                <a:solidFill>
                  <a:srgbClr val="123C44"/>
                </a:solidFill>
                <a:latin typeface="Carlito Bold" pitchFamily="34" charset="0"/>
                <a:ea typeface="Carlito Bold" pitchFamily="34" charset="-122"/>
                <a:cs typeface="Carlito Bold" pitchFamily="34" charset="0"/>
              </a:rPr>
              <a:t>Abatacept.</a:t>
            </a:r>
            <a:endParaRPr lang="en-US" sz="1600" dirty="0"/>
          </a:p>
        </p:txBody>
      </p:sp>
      <p:sp>
        <p:nvSpPr>
          <p:cNvPr id="10" name="Text 7"/>
          <p:cNvSpPr/>
          <p:nvPr/>
        </p:nvSpPr>
        <p:spPr>
          <a:xfrm>
            <a:off x="640044" y="3142357"/>
            <a:ext cx="10823900" cy="571500"/>
          </a:xfrm>
          <a:prstGeom prst="rect">
            <a:avLst/>
          </a:prstGeom>
          <a:noFill/>
          <a:ln/>
        </p:spPr>
        <p:txBody>
          <a:bodyPr wrap="square" lIns="0" tIns="0" rIns="0" bIns="0" rtlCol="0" anchor="t">
            <a:normAutofit/>
          </a:bodyPr>
          <a:lstStyle/>
          <a:p>
            <a:pPr marL="0" indent="0" algn="l">
              <a:lnSpc>
                <a:spcPct val="125000"/>
              </a:lnSpc>
              <a:buNone/>
            </a:pPr>
            <a:r>
              <a:rPr lang="en-US" sz="1500" b="1" dirty="0">
                <a:solidFill>
                  <a:srgbClr val="0F7173"/>
                </a:solidFill>
                <a:latin typeface="Carlito Bold" pitchFamily="34" charset="0"/>
                <a:ea typeface="Carlito Bold" pitchFamily="34" charset="-122"/>
                <a:cs typeface="Carlito Bold" pitchFamily="34" charset="0"/>
              </a:rPr>
              <a:t>Why:  </a:t>
            </a:r>
            <a:r>
              <a:rPr lang="en-US" sz="1500" dirty="0">
                <a:solidFill>
                  <a:srgbClr val="1A1A1A"/>
                </a:solidFill>
                <a:latin typeface="Carlito" pitchFamily="34" charset="0"/>
                <a:ea typeface="Carlito" pitchFamily="34" charset="-122"/>
                <a:cs typeface="Carlito" pitchFamily="34" charset="0"/>
              </a:rPr>
              <a:t>Abatacept blocks T-cell costimulation — the step furthest upstream in the diagram, occurring before activated T cells drive cytokine release (blocked downstream by adalimumab/tocilizumab) or B-cell activity (blocked by rituximab).</a:t>
            </a:r>
            <a:endParaRPr lang="en-US" sz="1500" dirty="0"/>
          </a:p>
        </p:txBody>
      </p:sp>
      <p:sp>
        <p:nvSpPr>
          <p:cNvPr id="11" name="Text 8"/>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12" name="Text 9"/>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55</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SHARED RISK</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DMARD Safety: Immunosuppression</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8871" cy="2023368"/>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b="1" dirty="0">
                <a:solidFill>
                  <a:srgbClr val="D1495B"/>
                </a:solidFill>
                <a:latin typeface="Carlito Bold" pitchFamily="34" charset="0"/>
                <a:ea typeface="Carlito Bold" pitchFamily="34" charset="-122"/>
                <a:cs typeface="Carlito Bold" pitchFamily="34" charset="0"/>
              </a:rPr>
              <a:t>The major safety theme across all DMARDs: immunosuppression → increased infection risk.</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Baseline screening — e.g., tuberculosis and hepatitis B/C screening before starting biologics</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Vaccination — update vaccines, especially live vaccines, before starting therapy</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Ongoing monitoring — regular labs to catch cytopenias, hepatotoxicity, or infection early</a:t>
            </a:r>
            <a:endParaRPr lang="en-US" sz="1600" dirty="0"/>
          </a:p>
          <a:p>
            <a:pPr marL="229616" indent="-229616" algn="l">
              <a:lnSpc>
                <a:spcPct val="100000"/>
              </a:lnSpc>
              <a:buSzPct val="100000"/>
              <a:buChar char="●"/>
            </a:pPr>
            <a:r>
              <a:rPr lang="en-US" sz="1600" dirty="0">
                <a:solidFill>
                  <a:srgbClr val="1A1A1A"/>
                </a:solidFill>
                <a:latin typeface="Carlito" pitchFamily="34" charset="0"/>
                <a:ea typeface="Carlito" pitchFamily="34" charset="-122"/>
                <a:cs typeface="Carlito" pitchFamily="34" charset="0"/>
              </a:rPr>
              <a:t>Infection precautions — counsel patients to report fevers or infection symptoms promptly</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56</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60866"/>
            <a:ext cx="10972526" cy="422176"/>
          </a:xfrm>
          <a:prstGeom prst="rect">
            <a:avLst/>
          </a:prstGeom>
          <a:noFill/>
          <a:ln/>
        </p:spPr>
        <p:txBody>
          <a:bodyPr wrap="none" lIns="0" tIns="0" rIns="0" bIns="0" rtlCol="0" anchor="t"/>
          <a:lstStyle/>
          <a:p>
            <a:pPr marL="0" indent="0" algn="l">
              <a:lnSpc>
                <a:spcPct val="100000"/>
              </a:lnSpc>
              <a:buNone/>
            </a:pPr>
            <a:r>
              <a:rPr lang="en-US" sz="2750" b="1" dirty="0">
                <a:solidFill>
                  <a:srgbClr val="123C44"/>
                </a:solidFill>
                <a:latin typeface="Caladea Bold" pitchFamily="34" charset="0"/>
                <a:ea typeface="Caladea Bold" pitchFamily="34" charset="-122"/>
                <a:cs typeface="Caladea Bold" pitchFamily="34" charset="0"/>
              </a:rPr>
              <a:t>Immune Suppression Raises Infection Risk</a:t>
            </a:r>
            <a:endParaRPr lang="en-US" sz="2750" dirty="0"/>
          </a:p>
        </p:txBody>
      </p:sp>
      <p:pic>
        <p:nvPicPr>
          <p:cNvPr id="4" name="Image 0" descr="preencoded.png"/>
          <p:cNvPicPr>
            <a:picLocks noChangeAspect="1"/>
          </p:cNvPicPr>
          <p:nvPr/>
        </p:nvPicPr>
        <p:blipFill>
          <a:blip r:embed="rId3"/>
          <a:stretch>
            <a:fillRect/>
          </a:stretch>
        </p:blipFill>
        <p:spPr>
          <a:xfrm>
            <a:off x="838179" y="1831479"/>
            <a:ext cx="5760497" cy="3225899"/>
          </a:xfrm>
          <a:prstGeom prst="rect">
            <a:avLst/>
          </a:prstGeom>
        </p:spPr>
      </p:pic>
      <p:sp>
        <p:nvSpPr>
          <p:cNvPr id="5" name="Text 2"/>
          <p:cNvSpPr/>
          <p:nvPr/>
        </p:nvSpPr>
        <p:spPr>
          <a:xfrm>
            <a:off x="6827270" y="1831479"/>
            <a:ext cx="4754840" cy="2168426"/>
          </a:xfrm>
          <a:prstGeom prst="rect">
            <a:avLst/>
          </a:prstGeom>
          <a:noFill/>
          <a:ln/>
        </p:spPr>
        <p:txBody>
          <a:bodyPr wrap="square" lIns="0" tIns="0" rIns="0" bIns="0" rtlCol="0" anchor="t">
            <a:normAutofit/>
          </a:bodyPr>
          <a:lstStyle/>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Risk:</a:t>
            </a:r>
            <a:r>
              <a:rPr lang="en-US" sz="1600" dirty="0">
                <a:solidFill>
                  <a:srgbClr val="1A1A1A"/>
                </a:solidFill>
                <a:latin typeface="Carlito" pitchFamily="34" charset="0"/>
                <a:ea typeface="Carlito" pitchFamily="34" charset="-122"/>
                <a:cs typeface="Carlito" pitchFamily="34" charset="0"/>
              </a:rPr>
              <a:t> suppressed immunity lets latent TB and opportunistic infections emerge.</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Screen first:</a:t>
            </a:r>
            <a:r>
              <a:rPr lang="en-US" sz="1600" dirty="0">
                <a:solidFill>
                  <a:srgbClr val="1A1A1A"/>
                </a:solidFill>
                <a:latin typeface="Carlito" pitchFamily="34" charset="0"/>
                <a:ea typeface="Carlito" pitchFamily="34" charset="-122"/>
                <a:cs typeface="Carlito" pitchFamily="34" charset="0"/>
              </a:rPr>
              <a:t> TB test and hepatitis B and C serology before starting.</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Vaccines:</a:t>
            </a:r>
            <a:r>
              <a:rPr lang="en-US" sz="1600" dirty="0">
                <a:solidFill>
                  <a:srgbClr val="1A1A1A"/>
                </a:solidFill>
                <a:latin typeface="Carlito" pitchFamily="34" charset="0"/>
                <a:ea typeface="Carlito" pitchFamily="34" charset="-122"/>
                <a:cs typeface="Carlito" pitchFamily="34" charset="0"/>
              </a:rPr>
              <a:t> update non-live vaccines before treatment.</a:t>
            </a:r>
            <a:endParaRPr lang="en-US" sz="1600" dirty="0"/>
          </a:p>
          <a:p>
            <a:pPr marL="325120" indent="-325120" algn="l">
              <a:lnSpc>
                <a:spcPct val="115000"/>
              </a:lnSpc>
              <a:buSzPct val="100000"/>
              <a:buChar char="•"/>
            </a:pPr>
            <a:r>
              <a:rPr lang="en-US" sz="1600" b="1" dirty="0">
                <a:solidFill>
                  <a:srgbClr val="1A1A1A"/>
                </a:solidFill>
                <a:latin typeface="Carlito Bold" pitchFamily="34" charset="0"/>
                <a:ea typeface="Carlito Bold" pitchFamily="34" charset="-122"/>
                <a:cs typeface="Carlito Bold" pitchFamily="34" charset="0"/>
              </a:rPr>
              <a:t>Monitor:</a:t>
            </a:r>
            <a:r>
              <a:rPr lang="en-US" sz="1600" dirty="0">
                <a:solidFill>
                  <a:srgbClr val="1A1A1A"/>
                </a:solidFill>
                <a:latin typeface="Carlito" pitchFamily="34" charset="0"/>
                <a:ea typeface="Carlito" pitchFamily="34" charset="-122"/>
                <a:cs typeface="Carlito" pitchFamily="34" charset="0"/>
              </a:rPr>
              <a:t> CBC and liver and kidney labs every 1–3 months.</a:t>
            </a:r>
            <a:endParaRPr lang="en-US" sz="1600" dirty="0"/>
          </a:p>
        </p:txBody>
      </p:sp>
      <p:sp>
        <p:nvSpPr>
          <p:cNvPr id="6" name="Text 3"/>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7" name="Text 4"/>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57</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QUICK CHECK · OSTEOARTHRITIS &amp; RHEUMATOID ARTHRITIS</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Quick Check</a:t>
            </a:r>
            <a:endParaRPr lang="en-US" sz="2800" dirty="0"/>
          </a:p>
        </p:txBody>
      </p:sp>
      <p:sp>
        <p:nvSpPr>
          <p:cNvPr id="4" name="Shape 2"/>
          <p:cNvSpPr/>
          <p:nvPr/>
        </p:nvSpPr>
        <p:spPr>
          <a:xfrm>
            <a:off x="10972526" y="502841"/>
            <a:ext cx="566823" cy="566837"/>
          </a:xfrm>
          <a:prstGeom prst="ellipse">
            <a:avLst/>
          </a:prstGeom>
          <a:solidFill>
            <a:srgbClr val="0F7173"/>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640044" y="1403350"/>
            <a:ext cx="10881048" cy="324148"/>
          </a:xfrm>
          <a:prstGeom prst="rect">
            <a:avLst/>
          </a:prstGeom>
          <a:noFill/>
          <a:ln/>
        </p:spPr>
        <p:txBody>
          <a:bodyPr wrap="none" lIns="0" tIns="0" rIns="0" bIns="0" rtlCol="0" anchor="t"/>
          <a:lstStyle/>
          <a:p>
            <a:pPr marL="0" indent="0" algn="l">
              <a:lnSpc>
                <a:spcPct val="115000"/>
              </a:lnSpc>
              <a:buNone/>
            </a:pPr>
            <a:r>
              <a:rPr lang="en-US" sz="1850" b="1" dirty="0">
                <a:solidFill>
                  <a:srgbClr val="123C44"/>
                </a:solidFill>
                <a:latin typeface="Carlito Bold" pitchFamily="34" charset="0"/>
                <a:ea typeface="Carlito Bold" pitchFamily="34" charset="-122"/>
                <a:cs typeface="Carlito Bold" pitchFamily="34" charset="0"/>
              </a:rPr>
              <a:t>Which feature distinguishes a DMARD from an NSAID in the management of rheumatoid arthritis?</a:t>
            </a:r>
            <a:endParaRPr lang="en-US" sz="1850" dirty="0"/>
          </a:p>
        </p:txBody>
      </p:sp>
      <p:sp>
        <p:nvSpPr>
          <p:cNvPr id="7" name="Shape 4"/>
          <p:cNvSpPr/>
          <p:nvPr/>
        </p:nvSpPr>
        <p:spPr>
          <a:xfrm>
            <a:off x="640044" y="2605980"/>
            <a:ext cx="5257668" cy="1097260"/>
          </a:xfrm>
          <a:prstGeom prst="roundRect">
            <a:avLst>
              <a:gd name="adj" fmla="val 8000"/>
            </a:avLst>
          </a:prstGeom>
          <a:solidFill>
            <a:srgbClr val="E8F1F0"/>
          </a:solidFill>
          <a:ln/>
        </p:spPr>
        <p:txBody>
          <a:bodyPr/>
          <a:lstStyle/>
          <a:p>
            <a:endParaRPr lang="en-US"/>
          </a:p>
        </p:txBody>
      </p:sp>
      <p:sp>
        <p:nvSpPr>
          <p:cNvPr id="8" name="Shape 5"/>
          <p:cNvSpPr/>
          <p:nvPr/>
        </p:nvSpPr>
        <p:spPr>
          <a:xfrm>
            <a:off x="804644" y="2944316"/>
            <a:ext cx="420578" cy="420588"/>
          </a:xfrm>
          <a:prstGeom prst="ellipse">
            <a:avLst/>
          </a:prstGeom>
          <a:solidFill>
            <a:srgbClr val="2A6F97"/>
          </a:solidFill>
          <a:ln/>
        </p:spPr>
        <p:txBody>
          <a:bodyPr/>
          <a:lstStyle/>
          <a:p>
            <a:endParaRPr lang="en-US"/>
          </a:p>
        </p:txBody>
      </p:sp>
      <p:sp>
        <p:nvSpPr>
          <p:cNvPr id="9" name="Text 6"/>
          <p:cNvSpPr/>
          <p:nvPr/>
        </p:nvSpPr>
        <p:spPr>
          <a:xfrm>
            <a:off x="499852"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A</a:t>
            </a:r>
            <a:endParaRPr lang="en-US" sz="1600" dirty="0"/>
          </a:p>
        </p:txBody>
      </p:sp>
      <p:sp>
        <p:nvSpPr>
          <p:cNvPr id="10" name="Text 7"/>
          <p:cNvSpPr/>
          <p:nvPr/>
        </p:nvSpPr>
        <p:spPr>
          <a:xfrm>
            <a:off x="1389821" y="30377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DMARDs provide faster pain relief than NSAIDs</a:t>
            </a:r>
            <a:endParaRPr lang="en-US" sz="1350" dirty="0"/>
          </a:p>
        </p:txBody>
      </p:sp>
      <p:sp>
        <p:nvSpPr>
          <p:cNvPr id="11" name="Shape 8"/>
          <p:cNvSpPr/>
          <p:nvPr/>
        </p:nvSpPr>
        <p:spPr>
          <a:xfrm>
            <a:off x="6263424" y="2605980"/>
            <a:ext cx="5257668" cy="1097260"/>
          </a:xfrm>
          <a:prstGeom prst="roundRect">
            <a:avLst>
              <a:gd name="adj" fmla="val 8000"/>
            </a:avLst>
          </a:prstGeom>
          <a:solidFill>
            <a:srgbClr val="E8F1F0"/>
          </a:solidFill>
          <a:ln/>
        </p:spPr>
        <p:txBody>
          <a:bodyPr/>
          <a:lstStyle/>
          <a:p>
            <a:endParaRPr lang="en-US"/>
          </a:p>
        </p:txBody>
      </p:sp>
      <p:sp>
        <p:nvSpPr>
          <p:cNvPr id="12" name="Shape 9"/>
          <p:cNvSpPr/>
          <p:nvPr/>
        </p:nvSpPr>
        <p:spPr>
          <a:xfrm>
            <a:off x="6428024" y="2944316"/>
            <a:ext cx="420578" cy="420588"/>
          </a:xfrm>
          <a:prstGeom prst="ellipse">
            <a:avLst/>
          </a:prstGeom>
          <a:solidFill>
            <a:srgbClr val="2A6F97"/>
          </a:solidFill>
          <a:ln/>
        </p:spPr>
        <p:txBody>
          <a:bodyPr/>
          <a:lstStyle/>
          <a:p>
            <a:endParaRPr lang="en-US"/>
          </a:p>
        </p:txBody>
      </p:sp>
      <p:sp>
        <p:nvSpPr>
          <p:cNvPr id="13" name="Text 10"/>
          <p:cNvSpPr/>
          <p:nvPr/>
        </p:nvSpPr>
        <p:spPr>
          <a:xfrm>
            <a:off x="6123231" y="30327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B</a:t>
            </a:r>
            <a:endParaRPr lang="en-US" sz="1600" dirty="0"/>
          </a:p>
        </p:txBody>
      </p:sp>
      <p:sp>
        <p:nvSpPr>
          <p:cNvPr id="14" name="Text 11"/>
          <p:cNvSpPr/>
          <p:nvPr/>
        </p:nvSpPr>
        <p:spPr>
          <a:xfrm>
            <a:off x="7013201" y="2934891"/>
            <a:ext cx="4286143" cy="473075"/>
          </a:xfrm>
          <a:prstGeom prst="rect">
            <a:avLst/>
          </a:prstGeom>
          <a:noFill/>
          <a:ln/>
        </p:spPr>
        <p:txBody>
          <a:bodyPr wrap="square" lIns="0" tIns="0" rIns="0" bIns="0" rtlCol="0" anchor="t">
            <a:normAutofit/>
          </a:bodyPr>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NSAIDs suppress the immune system more potently than DMARDs</a:t>
            </a:r>
            <a:endParaRPr lang="en-US" sz="1350" dirty="0"/>
          </a:p>
        </p:txBody>
      </p:sp>
      <p:sp>
        <p:nvSpPr>
          <p:cNvPr id="15" name="Shape 12"/>
          <p:cNvSpPr/>
          <p:nvPr/>
        </p:nvSpPr>
        <p:spPr>
          <a:xfrm>
            <a:off x="640044" y="3977580"/>
            <a:ext cx="5257668" cy="1097260"/>
          </a:xfrm>
          <a:prstGeom prst="roundRect">
            <a:avLst>
              <a:gd name="adj" fmla="val 8000"/>
            </a:avLst>
          </a:prstGeom>
          <a:solidFill>
            <a:srgbClr val="E8F1F0"/>
          </a:solidFill>
          <a:ln/>
        </p:spPr>
        <p:txBody>
          <a:bodyPr/>
          <a:lstStyle/>
          <a:p>
            <a:endParaRPr lang="en-US"/>
          </a:p>
        </p:txBody>
      </p:sp>
      <p:sp>
        <p:nvSpPr>
          <p:cNvPr id="16" name="Shape 13"/>
          <p:cNvSpPr/>
          <p:nvPr/>
        </p:nvSpPr>
        <p:spPr>
          <a:xfrm>
            <a:off x="804644" y="4315916"/>
            <a:ext cx="420578" cy="420588"/>
          </a:xfrm>
          <a:prstGeom prst="ellipse">
            <a:avLst/>
          </a:prstGeom>
          <a:solidFill>
            <a:srgbClr val="2A6F97"/>
          </a:solidFill>
          <a:ln/>
        </p:spPr>
        <p:txBody>
          <a:bodyPr/>
          <a:lstStyle/>
          <a:p>
            <a:endParaRPr lang="en-US"/>
          </a:p>
        </p:txBody>
      </p:sp>
      <p:sp>
        <p:nvSpPr>
          <p:cNvPr id="17" name="Text 14"/>
          <p:cNvSpPr/>
          <p:nvPr/>
        </p:nvSpPr>
        <p:spPr>
          <a:xfrm>
            <a:off x="499852"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C</a:t>
            </a:r>
            <a:endParaRPr lang="en-US" sz="1600" dirty="0"/>
          </a:p>
        </p:txBody>
      </p:sp>
      <p:sp>
        <p:nvSpPr>
          <p:cNvPr id="18" name="Text 15"/>
          <p:cNvSpPr/>
          <p:nvPr/>
        </p:nvSpPr>
        <p:spPr>
          <a:xfrm>
            <a:off x="1389821" y="4409380"/>
            <a:ext cx="4952876" cy="236537"/>
          </a:xfrm>
          <a:prstGeom prst="rect">
            <a:avLst/>
          </a:prstGeom>
          <a:noFill/>
          <a:ln/>
        </p:spPr>
        <p:txBody>
          <a:bodyPr wrap="none" lIns="0" tIns="0" rIns="0" bIns="0" rtlCol="0" anchor="t"/>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DMARDs are only available as biologic agents</a:t>
            </a:r>
            <a:endParaRPr lang="en-US" sz="1350" dirty="0"/>
          </a:p>
        </p:txBody>
      </p:sp>
      <p:sp>
        <p:nvSpPr>
          <p:cNvPr id="19" name="Shape 16"/>
          <p:cNvSpPr/>
          <p:nvPr/>
        </p:nvSpPr>
        <p:spPr>
          <a:xfrm>
            <a:off x="6263424" y="3977580"/>
            <a:ext cx="5257668" cy="1097260"/>
          </a:xfrm>
          <a:prstGeom prst="roundRect">
            <a:avLst>
              <a:gd name="adj" fmla="val 8000"/>
            </a:avLst>
          </a:prstGeom>
          <a:solidFill>
            <a:srgbClr val="E8F1F0"/>
          </a:solidFill>
          <a:ln/>
        </p:spPr>
        <p:txBody>
          <a:bodyPr/>
          <a:lstStyle/>
          <a:p>
            <a:endParaRPr lang="en-US"/>
          </a:p>
        </p:txBody>
      </p:sp>
      <p:sp>
        <p:nvSpPr>
          <p:cNvPr id="20" name="Shape 17"/>
          <p:cNvSpPr/>
          <p:nvPr/>
        </p:nvSpPr>
        <p:spPr>
          <a:xfrm>
            <a:off x="6428024" y="4315916"/>
            <a:ext cx="420578" cy="420588"/>
          </a:xfrm>
          <a:prstGeom prst="ellipse">
            <a:avLst/>
          </a:prstGeom>
          <a:solidFill>
            <a:srgbClr val="2A6F97"/>
          </a:solidFill>
          <a:ln/>
        </p:spPr>
        <p:txBody>
          <a:bodyPr/>
          <a:lstStyle/>
          <a:p>
            <a:endParaRPr lang="en-US"/>
          </a:p>
        </p:txBody>
      </p:sp>
      <p:sp>
        <p:nvSpPr>
          <p:cNvPr id="21" name="Text 18"/>
          <p:cNvSpPr/>
          <p:nvPr/>
        </p:nvSpPr>
        <p:spPr>
          <a:xfrm>
            <a:off x="6123231" y="4404320"/>
            <a:ext cx="1030163" cy="280392"/>
          </a:xfrm>
          <a:prstGeom prst="rect">
            <a:avLst/>
          </a:prstGeom>
          <a:noFill/>
          <a:ln/>
        </p:spPr>
        <p:txBody>
          <a:bodyPr wrap="none" lIns="0" tIns="0" rIns="0" bIns="0" rtlCol="0" anchor="t"/>
          <a:lstStyle/>
          <a:p>
            <a:pPr marL="0" indent="0" algn="ctr">
              <a:lnSpc>
                <a:spcPct val="115000"/>
              </a:lnSpc>
              <a:buNone/>
            </a:pPr>
            <a:r>
              <a:rPr lang="en-US" sz="1600" b="1" kern="100" spc="18" dirty="0">
                <a:solidFill>
                  <a:srgbClr val="FFFFFF"/>
                </a:solidFill>
                <a:latin typeface="Caladea Bold" pitchFamily="34" charset="0"/>
                <a:ea typeface="Caladea Bold" pitchFamily="34" charset="-122"/>
                <a:cs typeface="Caladea Bold" pitchFamily="34" charset="0"/>
              </a:rPr>
              <a:t>D</a:t>
            </a:r>
            <a:endParaRPr lang="en-US" sz="1600" dirty="0"/>
          </a:p>
        </p:txBody>
      </p:sp>
      <p:sp>
        <p:nvSpPr>
          <p:cNvPr id="22" name="Text 19"/>
          <p:cNvSpPr/>
          <p:nvPr/>
        </p:nvSpPr>
        <p:spPr>
          <a:xfrm>
            <a:off x="7013201" y="4306491"/>
            <a:ext cx="4286143" cy="473075"/>
          </a:xfrm>
          <a:prstGeom prst="rect">
            <a:avLst/>
          </a:prstGeom>
          <a:noFill/>
          <a:ln/>
        </p:spPr>
        <p:txBody>
          <a:bodyPr wrap="square" lIns="0" tIns="0" rIns="0" bIns="0" rtlCol="0" anchor="t">
            <a:normAutofit/>
          </a:bodyPr>
          <a:lstStyle/>
          <a:p>
            <a:pPr marL="0" indent="0" algn="l">
              <a:lnSpc>
                <a:spcPct val="115000"/>
              </a:lnSpc>
              <a:buNone/>
            </a:pPr>
            <a:r>
              <a:rPr lang="en-US" sz="1350" dirty="0">
                <a:solidFill>
                  <a:srgbClr val="1A1A1A"/>
                </a:solidFill>
                <a:latin typeface="Carlito" pitchFamily="34" charset="0"/>
                <a:ea typeface="Carlito" pitchFamily="34" charset="-122"/>
                <a:cs typeface="Carlito" pitchFamily="34" charset="0"/>
              </a:rPr>
              <a:t>DMARDs modify the underlying disease process rather than only masking symptoms</a:t>
            </a:r>
            <a:endParaRPr lang="en-US" sz="1350" dirty="0"/>
          </a:p>
        </p:txBody>
      </p:sp>
      <p:sp>
        <p:nvSpPr>
          <p:cNvPr id="23" name="Text 20"/>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24" name="Text 21"/>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58</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ANSWER · OSTEOARTHRITIS &amp; RHEUMATOID ARTHRITIS</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Answer</a:t>
            </a:r>
            <a:endParaRPr lang="en-US" sz="2800" dirty="0"/>
          </a:p>
        </p:txBody>
      </p:sp>
      <p:sp>
        <p:nvSpPr>
          <p:cNvPr id="4" name="Shape 2"/>
          <p:cNvSpPr/>
          <p:nvPr/>
        </p:nvSpPr>
        <p:spPr>
          <a:xfrm>
            <a:off x="10972526" y="502841"/>
            <a:ext cx="566823" cy="566837"/>
          </a:xfrm>
          <a:prstGeom prst="ellipse">
            <a:avLst/>
          </a:prstGeom>
          <a:solidFill>
            <a:srgbClr val="6B9080"/>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Shape 3"/>
          <p:cNvSpPr/>
          <p:nvPr/>
        </p:nvSpPr>
        <p:spPr>
          <a:xfrm>
            <a:off x="640044" y="1600200"/>
            <a:ext cx="10881048" cy="1234380"/>
          </a:xfrm>
          <a:prstGeom prst="roundRect">
            <a:avLst>
              <a:gd name="adj" fmla="val 8889"/>
            </a:avLst>
          </a:prstGeom>
          <a:solidFill>
            <a:srgbClr val="E8F1F0"/>
          </a:solidFill>
          <a:ln/>
        </p:spPr>
        <p:txBody>
          <a:bodyPr/>
          <a:lstStyle/>
          <a:p>
            <a:endParaRPr lang="en-US"/>
          </a:p>
        </p:txBody>
      </p:sp>
      <p:sp>
        <p:nvSpPr>
          <p:cNvPr id="7" name="Shape 4"/>
          <p:cNvSpPr/>
          <p:nvPr/>
        </p:nvSpPr>
        <p:spPr>
          <a:xfrm>
            <a:off x="868638" y="1851620"/>
            <a:ext cx="731422" cy="731441"/>
          </a:xfrm>
          <a:prstGeom prst="ellipse">
            <a:avLst/>
          </a:prstGeom>
          <a:solidFill>
            <a:srgbClr val="6B9080"/>
          </a:solidFill>
          <a:ln/>
        </p:spPr>
        <p:txBody>
          <a:bodyPr/>
          <a:lstStyle/>
          <a:p>
            <a:endParaRPr lang="en-US"/>
          </a:p>
        </p:txBody>
      </p:sp>
      <p:sp>
        <p:nvSpPr>
          <p:cNvPr id="8" name="Text 5"/>
          <p:cNvSpPr/>
          <p:nvPr/>
        </p:nvSpPr>
        <p:spPr>
          <a:xfrm>
            <a:off x="868638" y="2019300"/>
            <a:ext cx="731422" cy="396180"/>
          </a:xfrm>
          <a:prstGeom prst="rect">
            <a:avLst/>
          </a:prstGeom>
          <a:noFill/>
          <a:ln/>
        </p:spPr>
        <p:txBody>
          <a:bodyPr wrap="none" lIns="0" tIns="0" rIns="0" bIns="0" rtlCol="0" anchor="t"/>
          <a:lstStyle/>
          <a:p>
            <a:pPr marL="0" indent="0" algn="ctr">
              <a:lnSpc>
                <a:spcPct val="100000"/>
              </a:lnSpc>
              <a:buNone/>
            </a:pPr>
            <a:r>
              <a:rPr lang="en-US" sz="2600" b="1" kern="100" spc="29" dirty="0">
                <a:solidFill>
                  <a:srgbClr val="FFFFFF"/>
                </a:solidFill>
                <a:latin typeface="Caladea Bold" pitchFamily="34" charset="0"/>
                <a:ea typeface="Caladea Bold" pitchFamily="34" charset="-122"/>
                <a:cs typeface="Caladea Bold" pitchFamily="34" charset="0"/>
              </a:rPr>
              <a:t>D</a:t>
            </a:r>
            <a:endParaRPr lang="en-US" sz="2600" dirty="0"/>
          </a:p>
        </p:txBody>
      </p:sp>
      <p:sp>
        <p:nvSpPr>
          <p:cNvPr id="9" name="Text 6"/>
          <p:cNvSpPr/>
          <p:nvPr/>
        </p:nvSpPr>
        <p:spPr>
          <a:xfrm>
            <a:off x="1828754" y="2081510"/>
            <a:ext cx="10027590" cy="280392"/>
          </a:xfrm>
          <a:prstGeom prst="rect">
            <a:avLst/>
          </a:prstGeom>
          <a:noFill/>
          <a:ln/>
        </p:spPr>
        <p:txBody>
          <a:bodyPr wrap="none" lIns="0" tIns="0" rIns="0" bIns="0" rtlCol="0" anchor="t"/>
          <a:lstStyle/>
          <a:p>
            <a:pPr marL="0" indent="0" algn="l">
              <a:lnSpc>
                <a:spcPct val="115000"/>
              </a:lnSpc>
              <a:buNone/>
            </a:pPr>
            <a:r>
              <a:rPr lang="en-US" sz="1600" b="1" dirty="0">
                <a:solidFill>
                  <a:srgbClr val="123C44"/>
                </a:solidFill>
                <a:latin typeface="Carlito Bold" pitchFamily="34" charset="0"/>
                <a:ea typeface="Carlito Bold" pitchFamily="34" charset="-122"/>
                <a:cs typeface="Carlito Bold" pitchFamily="34" charset="0"/>
              </a:rPr>
              <a:t>DMARDs modify the underlying disease process rather than only masking symptoms.</a:t>
            </a:r>
            <a:endParaRPr lang="en-US" sz="1600" dirty="0"/>
          </a:p>
        </p:txBody>
      </p:sp>
      <p:sp>
        <p:nvSpPr>
          <p:cNvPr id="10" name="Text 7"/>
          <p:cNvSpPr/>
          <p:nvPr/>
        </p:nvSpPr>
        <p:spPr>
          <a:xfrm>
            <a:off x="640044" y="3142357"/>
            <a:ext cx="10823900" cy="571500"/>
          </a:xfrm>
          <a:prstGeom prst="rect">
            <a:avLst/>
          </a:prstGeom>
          <a:noFill/>
          <a:ln/>
        </p:spPr>
        <p:txBody>
          <a:bodyPr wrap="square" lIns="0" tIns="0" rIns="0" bIns="0" rtlCol="0" anchor="t">
            <a:normAutofit/>
          </a:bodyPr>
          <a:lstStyle/>
          <a:p>
            <a:pPr marL="0" indent="0" algn="l">
              <a:lnSpc>
                <a:spcPct val="125000"/>
              </a:lnSpc>
              <a:buNone/>
            </a:pPr>
            <a:r>
              <a:rPr lang="en-US" sz="1500" b="1" dirty="0">
                <a:solidFill>
                  <a:srgbClr val="0F7173"/>
                </a:solidFill>
                <a:latin typeface="Carlito Bold" pitchFamily="34" charset="0"/>
                <a:ea typeface="Carlito Bold" pitchFamily="34" charset="-122"/>
                <a:cs typeface="Carlito Bold" pitchFamily="34" charset="0"/>
              </a:rPr>
              <a:t>Why:  </a:t>
            </a:r>
            <a:r>
              <a:rPr lang="en-US" sz="1500" dirty="0">
                <a:solidFill>
                  <a:srgbClr val="1A1A1A"/>
                </a:solidFill>
                <a:latin typeface="Carlito" pitchFamily="34" charset="0"/>
                <a:ea typeface="Carlito" pitchFamily="34" charset="-122"/>
                <a:cs typeface="Carlito" pitchFamily="34" charset="0"/>
              </a:rPr>
              <a:t>An NSAID can make a patient feel better without changing RA’s disease trajectory; a DMARD (conventional or biologic) is intended to slow or halt joint destruction and systemic inflammation itself.</a:t>
            </a:r>
            <a:endParaRPr lang="en-US" sz="1500" dirty="0"/>
          </a:p>
        </p:txBody>
      </p:sp>
      <p:sp>
        <p:nvSpPr>
          <p:cNvPr id="11" name="Text 8"/>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12" name="Text 9"/>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59</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239713"/>
          </a:xfrm>
          <a:prstGeom prst="rect">
            <a:avLst/>
          </a:prstGeom>
          <a:noFill/>
          <a:ln/>
        </p:spPr>
        <p:txBody>
          <a:bodyPr wrap="none" lIns="0" tIns="0" rIns="0" bIns="0" rtlCol="0" anchor="t"/>
          <a:lstStyle/>
          <a:p>
            <a:pPr marL="0" indent="0" algn="l">
              <a:lnSpc>
                <a:spcPct val="115000"/>
              </a:lnSpc>
              <a:buNone/>
            </a:pPr>
            <a:r>
              <a:rPr lang="en-US" sz="1350" b="1" kern="100" spc="82" dirty="0">
                <a:solidFill>
                  <a:srgbClr val="0F7173"/>
                </a:solidFill>
                <a:latin typeface="Carlito Bold" pitchFamily="34" charset="0"/>
                <a:ea typeface="Carlito Bold" pitchFamily="34" charset="-122"/>
                <a:cs typeface="Carlito Bold" pitchFamily="34" charset="0"/>
              </a:rPr>
              <a:t>MECHANISM &amp; DEPTH</a:t>
            </a:r>
            <a:endParaRPr lang="en-US" sz="1350" dirty="0"/>
          </a:p>
        </p:txBody>
      </p:sp>
      <p:sp>
        <p:nvSpPr>
          <p:cNvPr id="3" name="Text 1"/>
          <p:cNvSpPr/>
          <p:nvPr/>
        </p:nvSpPr>
        <p:spPr>
          <a:xfrm>
            <a:off x="609585" y="960866"/>
            <a:ext cx="10972526" cy="422176"/>
          </a:xfrm>
          <a:prstGeom prst="rect">
            <a:avLst/>
          </a:prstGeom>
          <a:noFill/>
          <a:ln/>
        </p:spPr>
        <p:txBody>
          <a:bodyPr wrap="none" lIns="0" tIns="0" rIns="0" bIns="0" rtlCol="0" anchor="t"/>
          <a:lstStyle/>
          <a:p>
            <a:pPr marL="0" indent="0" algn="l">
              <a:lnSpc>
                <a:spcPct val="100000"/>
              </a:lnSpc>
              <a:buNone/>
            </a:pPr>
            <a:r>
              <a:rPr lang="en-US" sz="2750" b="1" dirty="0">
                <a:solidFill>
                  <a:srgbClr val="123C44"/>
                </a:solidFill>
                <a:latin typeface="Caladea Bold" pitchFamily="34" charset="0"/>
                <a:ea typeface="Caladea Bold" pitchFamily="34" charset="-122"/>
                <a:cs typeface="Caladea Bold" pitchFamily="34" charset="0"/>
              </a:rPr>
              <a:t>Drug Names Reveal the Class: Read the Stem</a:t>
            </a:r>
            <a:endParaRPr lang="en-US" sz="275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609585" y="1602879"/>
          <a:ext cx="10972526" cy="4049413"/>
        </p:xfrm>
        <a:graphic>
          <a:graphicData uri="http://schemas.openxmlformats.org/drawingml/2006/table">
            <a:tbl>
              <a:tblPr/>
              <a:tblGrid>
                <a:gridCol w="2413932">
                  <a:extLst>
                    <a:ext uri="{9D8B030D-6E8A-4147-A177-3AD203B41FA5}">
                      <a16:colId xmlns:a16="http://schemas.microsoft.com/office/drawing/2014/main" val="20000"/>
                    </a:ext>
                  </a:extLst>
                </a:gridCol>
                <a:gridCol w="4388931">
                  <a:extLst>
                    <a:ext uri="{9D8B030D-6E8A-4147-A177-3AD203B41FA5}">
                      <a16:colId xmlns:a16="http://schemas.microsoft.com/office/drawing/2014/main" val="20001"/>
                    </a:ext>
                  </a:extLst>
                </a:gridCol>
                <a:gridCol w="4169663">
                  <a:extLst>
                    <a:ext uri="{9D8B030D-6E8A-4147-A177-3AD203B41FA5}">
                      <a16:colId xmlns:a16="http://schemas.microsoft.com/office/drawing/2014/main" val="20002"/>
                    </a:ext>
                  </a:extLst>
                </a:gridCol>
              </a:tblGrid>
              <a:tr h="369283">
                <a:tc>
                  <a:txBody>
                    <a:bodyPr/>
                    <a:lstStyle/>
                    <a:p>
                      <a:pPr marL="0" indent="0" algn="l">
                        <a:buNone/>
                      </a:pPr>
                      <a:r>
                        <a:rPr lang="en-US" sz="1600" dirty="0">
                          <a:solidFill>
                            <a:srgbClr val="123C44"/>
                          </a:solidFill>
                          <a:latin typeface="Carlito" pitchFamily="34" charset="0"/>
                          <a:ea typeface="Carlito" pitchFamily="34" charset="-122"/>
                          <a:cs typeface="Carlito" pitchFamily="34" charset="0"/>
                        </a:rPr>
                        <a:t>Stem</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23C44"/>
                          </a:solidFill>
                          <a:latin typeface="Carlito" pitchFamily="34" charset="0"/>
                          <a:ea typeface="Carlito" pitchFamily="34" charset="-122"/>
                          <a:cs typeface="Carlito" pitchFamily="34" charset="0"/>
                        </a:rPr>
                        <a:t>Meaning</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23C44"/>
                          </a:solidFill>
                          <a:latin typeface="Carlito" pitchFamily="34" charset="0"/>
                          <a:ea typeface="Carlito" pitchFamily="34" charset="-122"/>
                          <a:cs typeface="Carlito" pitchFamily="34" charset="0"/>
                        </a:rPr>
                        <a:t>Example</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0"/>
                  </a:ext>
                </a:extLst>
              </a:tr>
              <a:tr h="369283">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-mab</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Monoclonal antibody</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Rituximab (anti-CD20)</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1"/>
                  </a:ext>
                </a:extLst>
              </a:tr>
              <a:tr h="369283">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-zumab</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Humanized antibody</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Tocilizumab (IL-6R)</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2"/>
                  </a:ext>
                </a:extLst>
              </a:tr>
              <a:tr h="369283">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-ximab</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Chimeric antibody</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Infliximab (TNF-α)</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3"/>
                  </a:ext>
                </a:extLst>
              </a:tr>
              <a:tr h="369283">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-umab</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Fully human antibody</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Adalimumab (TNF-α)</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4"/>
                  </a:ext>
                </a:extLst>
              </a:tr>
              <a:tr h="369283">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-cept</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Receptor fusion protein</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Etanercept, abatacept</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5"/>
                  </a:ext>
                </a:extLst>
              </a:tr>
              <a:tr h="369283">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-nib / -tinib</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Kinase inhibitor</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Tofacitinib (JAK)</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6"/>
                  </a:ext>
                </a:extLst>
              </a:tr>
              <a:tr h="369283">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-coxib</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Selective COX-2 inhibitor</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Celecoxib</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7"/>
                  </a:ext>
                </a:extLst>
              </a:tr>
              <a:tr h="369283">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-profen</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Propionic-acid NSAID</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Ibuprofen, naproxen</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8"/>
                  </a:ext>
                </a:extLst>
              </a:tr>
              <a:tr h="369283">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-fenac</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Acetic-acid NSAID</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Diclofenac</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B8DEDF"/>
                      </a:solidFill>
                      <a:prstDash val="solid"/>
                      <a:round/>
                      <a:headEnd type="none" w="med" len="med"/>
                      <a:tailEnd type="none" w="med" len="med"/>
                    </a:lnB>
                  </a:tcPr>
                </a:tc>
                <a:extLst>
                  <a:ext uri="{0D108BD9-81ED-4DB2-BD59-A6C34878D82A}">
                    <a16:rowId xmlns:a16="http://schemas.microsoft.com/office/drawing/2014/main" val="10009"/>
                  </a:ext>
                </a:extLst>
              </a:tr>
              <a:tr h="356583">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-oxicam</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Oxicam NSAID</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600" dirty="0">
                          <a:solidFill>
                            <a:srgbClr val="1A1A1A"/>
                          </a:solidFill>
                          <a:latin typeface="Carlito" pitchFamily="34" charset="0"/>
                          <a:ea typeface="Carlito" pitchFamily="34" charset="-122"/>
                          <a:cs typeface="Carlito" pitchFamily="34" charset="0"/>
                        </a:rPr>
                        <a:t>Meloxicam</a:t>
                      </a:r>
                      <a:endParaRPr lang="en-US" sz="1600" dirty="0">
                        <a:latin typeface="Carlito" charset="0"/>
                        <a:ea typeface="Carlito" charset="0"/>
                        <a:cs typeface="Carlito" charset="0"/>
                      </a:endParaRPr>
                    </a:p>
                  </a:txBody>
                  <a:tcPr marL="152396" marR="152396" marT="38099" marB="38099"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B8DED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5" name="Text 2"/>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6" name="Text 3"/>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60</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23C44"/>
        </a:solidFill>
        <a:effectLst/>
      </p:bgPr>
    </p:bg>
    <p:spTree>
      <p:nvGrpSpPr>
        <p:cNvPr id="1" name=""/>
        <p:cNvGrpSpPr/>
        <p:nvPr/>
      </p:nvGrpSpPr>
      <p:grpSpPr>
        <a:xfrm>
          <a:off x="0" y="0"/>
          <a:ext cx="0" cy="0"/>
          <a:chOff x="0" y="0"/>
          <a:chExt cx="0" cy="0"/>
        </a:xfrm>
      </p:grpSpPr>
      <p:sp>
        <p:nvSpPr>
          <p:cNvPr id="2" name="Text 0"/>
          <p:cNvSpPr/>
          <p:nvPr/>
        </p:nvSpPr>
        <p:spPr>
          <a:xfrm>
            <a:off x="914278" y="534591"/>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E9A23B"/>
                </a:solidFill>
                <a:latin typeface="Carlito Bold" pitchFamily="34" charset="0"/>
                <a:ea typeface="Carlito Bold" pitchFamily="34" charset="-122"/>
                <a:cs typeface="Carlito Bold" pitchFamily="34" charset="0"/>
              </a:rPr>
              <a:t>BIG PICTURE</a:t>
            </a:r>
            <a:endParaRPr lang="en-US" sz="1200" dirty="0"/>
          </a:p>
        </p:txBody>
      </p:sp>
      <p:sp>
        <p:nvSpPr>
          <p:cNvPr id="3" name="Text 1"/>
          <p:cNvSpPr/>
          <p:nvPr/>
        </p:nvSpPr>
        <p:spPr>
          <a:xfrm>
            <a:off x="914278" y="862687"/>
            <a:ext cx="9909622"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FFFFFF"/>
                </a:solidFill>
                <a:latin typeface="Caladea Bold" pitchFamily="34" charset="0"/>
                <a:ea typeface="Caladea Bold" pitchFamily="34" charset="-122"/>
                <a:cs typeface="Caladea Bold" pitchFamily="34" charset="0"/>
              </a:rPr>
              <a:t>Session 1 Recap — To Be Continued</a:t>
            </a:r>
            <a:endParaRPr lang="en-US" sz="2800" dirty="0"/>
          </a:p>
        </p:txBody>
      </p:sp>
      <p:sp>
        <p:nvSpPr>
          <p:cNvPr id="4" name="Shape 2"/>
          <p:cNvSpPr/>
          <p:nvPr/>
        </p:nvSpPr>
        <p:spPr>
          <a:xfrm>
            <a:off x="822900" y="1956792"/>
            <a:ext cx="566823" cy="566837"/>
          </a:xfrm>
          <a:prstGeom prst="ellipse">
            <a:avLst/>
          </a:prstGeom>
          <a:solidFill>
            <a:srgbClr val="E9A23B"/>
          </a:solidFill>
          <a:ln/>
        </p:spPr>
        <p:txBody>
          <a:bodyPr/>
          <a:lstStyle/>
          <a:p>
            <a:endParaRPr lang="en-US"/>
          </a:p>
        </p:txBody>
      </p:sp>
      <p:sp>
        <p:nvSpPr>
          <p:cNvPr id="5" name="Text 3"/>
          <p:cNvSpPr/>
          <p:nvPr/>
        </p:nvSpPr>
        <p:spPr>
          <a:xfrm>
            <a:off x="822900" y="2087860"/>
            <a:ext cx="566823" cy="304800"/>
          </a:xfrm>
          <a:prstGeom prst="rect">
            <a:avLst/>
          </a:prstGeom>
          <a:noFill/>
          <a:ln/>
        </p:spPr>
        <p:txBody>
          <a:bodyPr wrap="none" lIns="0" tIns="0" rIns="0" bIns="0" rtlCol="0" anchor="t"/>
          <a:lstStyle/>
          <a:p>
            <a:pPr marL="0" indent="0" algn="ctr">
              <a:lnSpc>
                <a:spcPct val="100000"/>
              </a:lnSpc>
              <a:buNone/>
            </a:pPr>
            <a:r>
              <a:rPr lang="en-US" sz="2000" b="1" kern="100" spc="22" dirty="0">
                <a:solidFill>
                  <a:srgbClr val="123C44"/>
                </a:solidFill>
                <a:latin typeface="Caladea Bold" pitchFamily="34" charset="0"/>
                <a:ea typeface="Caladea Bold" pitchFamily="34" charset="-122"/>
                <a:cs typeface="Caladea Bold" pitchFamily="34" charset="0"/>
              </a:rPr>
              <a:t>1</a:t>
            </a:r>
            <a:endParaRPr lang="en-US" sz="2000" dirty="0"/>
          </a:p>
        </p:txBody>
      </p:sp>
      <p:sp>
        <p:nvSpPr>
          <p:cNvPr id="6" name="Text 4"/>
          <p:cNvSpPr/>
          <p:nvPr/>
        </p:nvSpPr>
        <p:spPr>
          <a:xfrm>
            <a:off x="1691538" y="1974850"/>
            <a:ext cx="9635189" cy="578247"/>
          </a:xfrm>
          <a:prstGeom prst="rect">
            <a:avLst/>
          </a:prstGeom>
          <a:noFill/>
          <a:ln/>
        </p:spPr>
        <p:txBody>
          <a:bodyPr wrap="square" lIns="0" tIns="0" rIns="0" bIns="0" rtlCol="0" anchor="t">
            <a:normAutofit/>
          </a:bodyPr>
          <a:lstStyle/>
          <a:p>
            <a:pPr marL="0" indent="0" algn="l">
              <a:lnSpc>
                <a:spcPct val="115000"/>
              </a:lnSpc>
              <a:buNone/>
            </a:pPr>
            <a:r>
              <a:rPr lang="en-US" sz="1650" dirty="0">
                <a:solidFill>
                  <a:srgbClr val="FFFFFF"/>
                </a:solidFill>
                <a:latin typeface="Carlito" pitchFamily="34" charset="0"/>
                <a:ea typeface="Carlito" pitchFamily="34" charset="-122"/>
                <a:cs typeface="Carlito" pitchFamily="34" charset="0"/>
              </a:rPr>
              <a:t>Musculoskeletal pain is driven by inflammatory mediators (prostaglandins, bradykinin, histamine, cytokines) — NSAIDs and corticosteroids intervene at different points along this cascade.</a:t>
            </a:r>
            <a:endParaRPr lang="en-US" sz="1650" dirty="0"/>
          </a:p>
        </p:txBody>
      </p:sp>
      <p:sp>
        <p:nvSpPr>
          <p:cNvPr id="7" name="Shape 5"/>
          <p:cNvSpPr/>
          <p:nvPr/>
        </p:nvSpPr>
        <p:spPr>
          <a:xfrm>
            <a:off x="822900" y="2871192"/>
            <a:ext cx="566823" cy="566837"/>
          </a:xfrm>
          <a:prstGeom prst="ellipse">
            <a:avLst/>
          </a:prstGeom>
          <a:solidFill>
            <a:srgbClr val="E9A23B"/>
          </a:solidFill>
          <a:ln/>
        </p:spPr>
        <p:txBody>
          <a:bodyPr/>
          <a:lstStyle/>
          <a:p>
            <a:endParaRPr lang="en-US"/>
          </a:p>
        </p:txBody>
      </p:sp>
      <p:sp>
        <p:nvSpPr>
          <p:cNvPr id="8" name="Text 6"/>
          <p:cNvSpPr/>
          <p:nvPr/>
        </p:nvSpPr>
        <p:spPr>
          <a:xfrm>
            <a:off x="822900" y="3002260"/>
            <a:ext cx="566823" cy="304800"/>
          </a:xfrm>
          <a:prstGeom prst="rect">
            <a:avLst/>
          </a:prstGeom>
          <a:noFill/>
          <a:ln/>
        </p:spPr>
        <p:txBody>
          <a:bodyPr wrap="none" lIns="0" tIns="0" rIns="0" bIns="0" rtlCol="0" anchor="t"/>
          <a:lstStyle/>
          <a:p>
            <a:pPr marL="0" indent="0" algn="ctr">
              <a:lnSpc>
                <a:spcPct val="100000"/>
              </a:lnSpc>
              <a:buNone/>
            </a:pPr>
            <a:r>
              <a:rPr lang="en-US" sz="2000" b="1" kern="100" spc="22" dirty="0">
                <a:solidFill>
                  <a:srgbClr val="123C44"/>
                </a:solidFill>
                <a:latin typeface="Caladea Bold" pitchFamily="34" charset="0"/>
                <a:ea typeface="Caladea Bold" pitchFamily="34" charset="-122"/>
                <a:cs typeface="Caladea Bold" pitchFamily="34" charset="0"/>
              </a:rPr>
              <a:t>2</a:t>
            </a:r>
            <a:endParaRPr lang="en-US" sz="2000" dirty="0"/>
          </a:p>
        </p:txBody>
      </p:sp>
      <p:sp>
        <p:nvSpPr>
          <p:cNvPr id="9" name="Text 7"/>
          <p:cNvSpPr/>
          <p:nvPr/>
        </p:nvSpPr>
        <p:spPr>
          <a:xfrm>
            <a:off x="1691538" y="2889250"/>
            <a:ext cx="9635189" cy="578247"/>
          </a:xfrm>
          <a:prstGeom prst="rect">
            <a:avLst/>
          </a:prstGeom>
          <a:noFill/>
          <a:ln/>
        </p:spPr>
        <p:txBody>
          <a:bodyPr wrap="square" lIns="0" tIns="0" rIns="0" bIns="0" rtlCol="0" anchor="t">
            <a:normAutofit/>
          </a:bodyPr>
          <a:lstStyle/>
          <a:p>
            <a:pPr marL="0" indent="0" algn="l">
              <a:lnSpc>
                <a:spcPct val="115000"/>
              </a:lnSpc>
              <a:buNone/>
            </a:pPr>
            <a:r>
              <a:rPr lang="en-US" sz="1650" dirty="0">
                <a:solidFill>
                  <a:srgbClr val="FFFFFF"/>
                </a:solidFill>
                <a:latin typeface="Carlito" pitchFamily="34" charset="0"/>
                <a:ea typeface="Carlito" pitchFamily="34" charset="-122"/>
                <a:cs typeface="Carlito" pitchFamily="34" charset="0"/>
              </a:rPr>
              <a:t>Acetaminophen treats pain and fever but is not a reliable anti-inflammatory agent; its overdose toxicity is mediated by NAPQI accumulation.</a:t>
            </a:r>
            <a:endParaRPr lang="en-US" sz="1650" dirty="0"/>
          </a:p>
        </p:txBody>
      </p:sp>
      <p:sp>
        <p:nvSpPr>
          <p:cNvPr id="10" name="Shape 8"/>
          <p:cNvSpPr/>
          <p:nvPr/>
        </p:nvSpPr>
        <p:spPr>
          <a:xfrm>
            <a:off x="822900" y="3785592"/>
            <a:ext cx="566823" cy="566837"/>
          </a:xfrm>
          <a:prstGeom prst="ellipse">
            <a:avLst/>
          </a:prstGeom>
          <a:solidFill>
            <a:srgbClr val="E9A23B"/>
          </a:solidFill>
          <a:ln/>
        </p:spPr>
        <p:txBody>
          <a:bodyPr/>
          <a:lstStyle/>
          <a:p>
            <a:endParaRPr lang="en-US"/>
          </a:p>
        </p:txBody>
      </p:sp>
      <p:sp>
        <p:nvSpPr>
          <p:cNvPr id="11" name="Text 9"/>
          <p:cNvSpPr/>
          <p:nvPr/>
        </p:nvSpPr>
        <p:spPr>
          <a:xfrm>
            <a:off x="822900" y="3916660"/>
            <a:ext cx="566823" cy="304800"/>
          </a:xfrm>
          <a:prstGeom prst="rect">
            <a:avLst/>
          </a:prstGeom>
          <a:noFill/>
          <a:ln/>
        </p:spPr>
        <p:txBody>
          <a:bodyPr wrap="none" lIns="0" tIns="0" rIns="0" bIns="0" rtlCol="0" anchor="t"/>
          <a:lstStyle/>
          <a:p>
            <a:pPr marL="0" indent="0" algn="ctr">
              <a:lnSpc>
                <a:spcPct val="100000"/>
              </a:lnSpc>
              <a:buNone/>
            </a:pPr>
            <a:r>
              <a:rPr lang="en-US" sz="2000" b="1" kern="100" spc="22" dirty="0">
                <a:solidFill>
                  <a:srgbClr val="123C44"/>
                </a:solidFill>
                <a:latin typeface="Caladea Bold" pitchFamily="34" charset="0"/>
                <a:ea typeface="Caladea Bold" pitchFamily="34" charset="-122"/>
                <a:cs typeface="Caladea Bold" pitchFamily="34" charset="0"/>
              </a:rPr>
              <a:t>3</a:t>
            </a:r>
            <a:endParaRPr lang="en-US" sz="2000" dirty="0"/>
          </a:p>
        </p:txBody>
      </p:sp>
      <p:sp>
        <p:nvSpPr>
          <p:cNvPr id="12" name="Text 10"/>
          <p:cNvSpPr/>
          <p:nvPr/>
        </p:nvSpPr>
        <p:spPr>
          <a:xfrm>
            <a:off x="1691538" y="3803650"/>
            <a:ext cx="9635189" cy="578247"/>
          </a:xfrm>
          <a:prstGeom prst="rect">
            <a:avLst/>
          </a:prstGeom>
          <a:noFill/>
          <a:ln/>
        </p:spPr>
        <p:txBody>
          <a:bodyPr wrap="square" lIns="0" tIns="0" rIns="0" bIns="0" rtlCol="0" anchor="t">
            <a:normAutofit/>
          </a:bodyPr>
          <a:lstStyle/>
          <a:p>
            <a:pPr marL="0" indent="0" algn="l">
              <a:lnSpc>
                <a:spcPct val="115000"/>
              </a:lnSpc>
              <a:buNone/>
            </a:pPr>
            <a:r>
              <a:rPr lang="en-US" sz="1650" dirty="0">
                <a:solidFill>
                  <a:srgbClr val="FFFFFF"/>
                </a:solidFill>
                <a:latin typeface="Carlito" pitchFamily="34" charset="0"/>
                <a:ea typeface="Carlito" pitchFamily="34" charset="-122"/>
                <a:cs typeface="Carlito" pitchFamily="34" charset="0"/>
              </a:rPr>
              <a:t>NSAIDs are effective but carry real GI, renal, and cardiovascular risk; celecoxib trades GI risk for cardiovascular risk.</a:t>
            </a:r>
            <a:endParaRPr lang="en-US" sz="1650" dirty="0"/>
          </a:p>
        </p:txBody>
      </p:sp>
      <p:sp>
        <p:nvSpPr>
          <p:cNvPr id="13" name="Shape 11"/>
          <p:cNvSpPr/>
          <p:nvPr/>
        </p:nvSpPr>
        <p:spPr>
          <a:xfrm>
            <a:off x="822900" y="4699992"/>
            <a:ext cx="566823" cy="566837"/>
          </a:xfrm>
          <a:prstGeom prst="ellipse">
            <a:avLst/>
          </a:prstGeom>
          <a:solidFill>
            <a:srgbClr val="E9A23B"/>
          </a:solidFill>
          <a:ln/>
        </p:spPr>
        <p:txBody>
          <a:bodyPr/>
          <a:lstStyle/>
          <a:p>
            <a:endParaRPr lang="en-US"/>
          </a:p>
        </p:txBody>
      </p:sp>
      <p:sp>
        <p:nvSpPr>
          <p:cNvPr id="14" name="Text 12"/>
          <p:cNvSpPr/>
          <p:nvPr/>
        </p:nvSpPr>
        <p:spPr>
          <a:xfrm>
            <a:off x="822900" y="4831060"/>
            <a:ext cx="566823" cy="304800"/>
          </a:xfrm>
          <a:prstGeom prst="rect">
            <a:avLst/>
          </a:prstGeom>
          <a:noFill/>
          <a:ln/>
        </p:spPr>
        <p:txBody>
          <a:bodyPr wrap="none" lIns="0" tIns="0" rIns="0" bIns="0" rtlCol="0" anchor="t"/>
          <a:lstStyle/>
          <a:p>
            <a:pPr marL="0" indent="0" algn="ctr">
              <a:lnSpc>
                <a:spcPct val="100000"/>
              </a:lnSpc>
              <a:buNone/>
            </a:pPr>
            <a:r>
              <a:rPr lang="en-US" sz="2000" b="1" kern="100" spc="22" dirty="0">
                <a:solidFill>
                  <a:srgbClr val="123C44"/>
                </a:solidFill>
                <a:latin typeface="Caladea Bold" pitchFamily="34" charset="0"/>
                <a:ea typeface="Caladea Bold" pitchFamily="34" charset="-122"/>
                <a:cs typeface="Caladea Bold" pitchFamily="34" charset="0"/>
              </a:rPr>
              <a:t>4</a:t>
            </a:r>
            <a:endParaRPr lang="en-US" sz="2000" dirty="0"/>
          </a:p>
        </p:txBody>
      </p:sp>
      <p:sp>
        <p:nvSpPr>
          <p:cNvPr id="15" name="Text 13"/>
          <p:cNvSpPr/>
          <p:nvPr/>
        </p:nvSpPr>
        <p:spPr>
          <a:xfrm>
            <a:off x="1691538" y="4718050"/>
            <a:ext cx="9635189" cy="578247"/>
          </a:xfrm>
          <a:prstGeom prst="rect">
            <a:avLst/>
          </a:prstGeom>
          <a:noFill/>
          <a:ln/>
        </p:spPr>
        <p:txBody>
          <a:bodyPr wrap="square" lIns="0" tIns="0" rIns="0" bIns="0" rtlCol="0" anchor="t">
            <a:normAutofit/>
          </a:bodyPr>
          <a:lstStyle/>
          <a:p>
            <a:pPr marL="0" indent="0" algn="l">
              <a:lnSpc>
                <a:spcPct val="115000"/>
              </a:lnSpc>
              <a:buNone/>
            </a:pPr>
            <a:r>
              <a:rPr lang="en-US" sz="1650" dirty="0">
                <a:solidFill>
                  <a:srgbClr val="FFFFFF"/>
                </a:solidFill>
                <a:latin typeface="Carlito" pitchFamily="34" charset="0"/>
                <a:ea typeface="Carlito" pitchFamily="34" charset="-122"/>
                <a:cs typeface="Carlito" pitchFamily="34" charset="0"/>
              </a:rPr>
              <a:t>DMARDs (conventional and biologic — methotrexate, adalimumab, etanercept, infliximab, tocilizumab, rituximab, abatacept) modify RA’s disease course rather than only masking symptoms.</a:t>
            </a:r>
            <a:endParaRPr lang="en-US" sz="1650" dirty="0"/>
          </a:p>
        </p:txBody>
      </p:sp>
      <p:sp>
        <p:nvSpPr>
          <p:cNvPr id="16" name="Shape 14"/>
          <p:cNvSpPr/>
          <p:nvPr/>
        </p:nvSpPr>
        <p:spPr>
          <a:xfrm>
            <a:off x="822900" y="5614392"/>
            <a:ext cx="566823" cy="566837"/>
          </a:xfrm>
          <a:prstGeom prst="ellipse">
            <a:avLst/>
          </a:prstGeom>
          <a:solidFill>
            <a:srgbClr val="E9A23B"/>
          </a:solidFill>
          <a:ln/>
        </p:spPr>
        <p:txBody>
          <a:bodyPr/>
          <a:lstStyle/>
          <a:p>
            <a:endParaRPr lang="en-US"/>
          </a:p>
        </p:txBody>
      </p:sp>
      <p:sp>
        <p:nvSpPr>
          <p:cNvPr id="17" name="Text 15"/>
          <p:cNvSpPr/>
          <p:nvPr/>
        </p:nvSpPr>
        <p:spPr>
          <a:xfrm>
            <a:off x="822900" y="5745460"/>
            <a:ext cx="566823" cy="304800"/>
          </a:xfrm>
          <a:prstGeom prst="rect">
            <a:avLst/>
          </a:prstGeom>
          <a:noFill/>
          <a:ln/>
        </p:spPr>
        <p:txBody>
          <a:bodyPr wrap="none" lIns="0" tIns="0" rIns="0" bIns="0" rtlCol="0" anchor="t"/>
          <a:lstStyle/>
          <a:p>
            <a:pPr marL="0" indent="0" algn="ctr">
              <a:lnSpc>
                <a:spcPct val="100000"/>
              </a:lnSpc>
              <a:buNone/>
            </a:pPr>
            <a:r>
              <a:rPr lang="en-US" sz="2000" b="1" kern="100" spc="22" dirty="0">
                <a:solidFill>
                  <a:srgbClr val="123C44"/>
                </a:solidFill>
                <a:latin typeface="Caladea Bold" pitchFamily="34" charset="0"/>
                <a:ea typeface="Caladea Bold" pitchFamily="34" charset="-122"/>
                <a:cs typeface="Caladea Bold" pitchFamily="34" charset="0"/>
              </a:rPr>
              <a:t>5</a:t>
            </a:r>
            <a:endParaRPr lang="en-US" sz="2000" dirty="0"/>
          </a:p>
        </p:txBody>
      </p:sp>
      <p:sp>
        <p:nvSpPr>
          <p:cNvPr id="18" name="Text 16"/>
          <p:cNvSpPr/>
          <p:nvPr/>
        </p:nvSpPr>
        <p:spPr>
          <a:xfrm>
            <a:off x="1691538" y="5632450"/>
            <a:ext cx="9635189" cy="578247"/>
          </a:xfrm>
          <a:prstGeom prst="rect">
            <a:avLst/>
          </a:prstGeom>
          <a:noFill/>
          <a:ln/>
        </p:spPr>
        <p:txBody>
          <a:bodyPr wrap="square" lIns="0" tIns="0" rIns="0" bIns="0" rtlCol="0" anchor="t">
            <a:normAutofit/>
          </a:bodyPr>
          <a:lstStyle/>
          <a:p>
            <a:pPr marL="0" indent="0" algn="l">
              <a:lnSpc>
                <a:spcPct val="115000"/>
              </a:lnSpc>
              <a:buNone/>
            </a:pPr>
            <a:r>
              <a:rPr lang="en-US" sz="1650" dirty="0">
                <a:solidFill>
                  <a:srgbClr val="FFFFFF"/>
                </a:solidFill>
                <a:latin typeface="Carlito" pitchFamily="34" charset="0"/>
                <a:ea typeface="Carlito" pitchFamily="34" charset="-122"/>
                <a:cs typeface="Carlito" pitchFamily="34" charset="0"/>
              </a:rPr>
              <a:t>Session 2 (Thursday, October 29) continues with gout, skeletal muscle relaxants, bone pharmacology, and the cumulative Lecture Recall Quiz.</a:t>
            </a:r>
            <a:endParaRPr lang="en-US" sz="1650" dirty="0"/>
          </a:p>
        </p:txBody>
      </p:sp>
      <p:sp>
        <p:nvSpPr>
          <p:cNvPr id="19" name="Text 17"/>
          <p:cNvSpPr/>
          <p:nvPr/>
        </p:nvSpPr>
        <p:spPr>
          <a:xfrm>
            <a:off x="914377"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9FC2BE"/>
                </a:solidFill>
                <a:latin typeface="Carlito" pitchFamily="34" charset="0"/>
                <a:ea typeface="Carlito" pitchFamily="34" charset="-122"/>
                <a:cs typeface="Carlito" pitchFamily="34" charset="0"/>
              </a:rPr>
              <a:t>Musculoskeletal Pharmacology — Session 1 of 2 — PA Program</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422" y="397470"/>
            <a:ext cx="9604829" cy="210245"/>
          </a:xfrm>
          <a:prstGeom prst="rect">
            <a:avLst/>
          </a:prstGeom>
          <a:noFill/>
          <a:ln/>
        </p:spPr>
        <p:txBody>
          <a:bodyPr wrap="none" lIns="0" tIns="0" rIns="0" bIns="0" rtlCol="0" anchor="t"/>
          <a:lstStyle/>
          <a:p>
            <a:pPr marL="0" indent="0" algn="l">
              <a:lnSpc>
                <a:spcPct val="115000"/>
              </a:lnSpc>
              <a:buNone/>
            </a:pPr>
            <a:r>
              <a:rPr lang="en-US" sz="1200" b="1" kern="100" spc="150" dirty="0">
                <a:solidFill>
                  <a:srgbClr val="0F7173"/>
                </a:solidFill>
                <a:latin typeface="Carlito Bold" pitchFamily="34" charset="0"/>
                <a:ea typeface="Carlito Bold" pitchFamily="34" charset="-122"/>
                <a:cs typeface="Carlito Bold" pitchFamily="34" charset="0"/>
              </a:rPr>
              <a:t>APPENDIX</a:t>
            </a:r>
            <a:endParaRPr lang="en-US" sz="1200" dirty="0"/>
          </a:p>
        </p:txBody>
      </p:sp>
      <p:sp>
        <p:nvSpPr>
          <p:cNvPr id="3" name="Text 1"/>
          <p:cNvSpPr/>
          <p:nvPr/>
        </p:nvSpPr>
        <p:spPr>
          <a:xfrm>
            <a:off x="731422" y="716439"/>
            <a:ext cx="10092477" cy="426641"/>
          </a:xfrm>
          <a:prstGeom prst="rect">
            <a:avLst/>
          </a:prstGeom>
          <a:noFill/>
          <a:ln/>
        </p:spPr>
        <p:txBody>
          <a:bodyPr wrap="none" lIns="0" tIns="0" rIns="0" bIns="0" rtlCol="0" anchor="t"/>
          <a:lstStyle/>
          <a:p>
            <a:pPr marL="0" indent="0" algn="l">
              <a:lnSpc>
                <a:spcPct val="100000"/>
              </a:lnSpc>
              <a:buNone/>
            </a:pPr>
            <a:r>
              <a:rPr lang="en-US" sz="2800" b="1" kern="100" spc="31" dirty="0">
                <a:solidFill>
                  <a:srgbClr val="123C44"/>
                </a:solidFill>
                <a:latin typeface="Caladea Bold" pitchFamily="34" charset="0"/>
                <a:ea typeface="Caladea Bold" pitchFamily="34" charset="-122"/>
                <a:cs typeface="Caladea Bold" pitchFamily="34" charset="0"/>
              </a:rPr>
              <a:t>Image Attribution</a:t>
            </a:r>
            <a:endParaRPr lang="en-US" sz="2800" dirty="0"/>
          </a:p>
        </p:txBody>
      </p:sp>
      <p:sp>
        <p:nvSpPr>
          <p:cNvPr id="4" name="Shape 2"/>
          <p:cNvSpPr/>
          <p:nvPr/>
        </p:nvSpPr>
        <p:spPr>
          <a:xfrm>
            <a:off x="10972526" y="502841"/>
            <a:ext cx="566823" cy="566837"/>
          </a:xfrm>
          <a:prstGeom prst="ellipse">
            <a:avLst/>
          </a:prstGeom>
          <a:solidFill>
            <a:srgbClr val="E9A23B"/>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08452" y="638870"/>
            <a:ext cx="294672" cy="294680"/>
          </a:xfrm>
          <a:prstGeom prst="rect">
            <a:avLst/>
          </a:prstGeom>
        </p:spPr>
      </p:pic>
      <p:sp>
        <p:nvSpPr>
          <p:cNvPr id="6" name="Text 3"/>
          <p:cNvSpPr/>
          <p:nvPr/>
        </p:nvSpPr>
        <p:spPr>
          <a:xfrm>
            <a:off x="731422" y="1567855"/>
            <a:ext cx="10732521" cy="2664023"/>
          </a:xfrm>
          <a:prstGeom prst="rect">
            <a:avLst/>
          </a:prstGeom>
          <a:noFill/>
          <a:ln/>
        </p:spPr>
        <p:txBody>
          <a:bodyPr wrap="square" lIns="0" tIns="0" rIns="0" bIns="0" rtlCol="0" anchor="t">
            <a:normAutofit/>
          </a:bodyPr>
          <a:lstStyle/>
          <a:p>
            <a:pPr marL="0" indent="0" algn="l">
              <a:lnSpc>
                <a:spcPct val="100000"/>
              </a:lnSpc>
              <a:spcAft>
                <a:spcPts val="1750"/>
              </a:spcAft>
              <a:buNone/>
            </a:pPr>
            <a:r>
              <a:rPr lang="en-US" sz="1600" b="1" dirty="0">
                <a:solidFill>
                  <a:srgbClr val="123C44"/>
                </a:solidFill>
                <a:latin typeface="Carlito Bold" pitchFamily="34" charset="0"/>
                <a:ea typeface="Carlito Bold" pitchFamily="34" charset="-122"/>
                <a:cs typeface="Carlito Bold" pitchFamily="34" charset="0"/>
              </a:rPr>
              <a:t>●  Original figures in this deck: </a:t>
            </a:r>
            <a:r>
              <a:rPr lang="en-US" sz="1600" dirty="0">
                <a:solidFill>
                  <a:srgbClr val="1A1A1A"/>
                </a:solidFill>
                <a:latin typeface="Carlito" pitchFamily="34" charset="0"/>
                <a:ea typeface="Carlito" pitchFamily="34" charset="-122"/>
                <a:cs typeface="Carlito" pitchFamily="34" charset="0"/>
              </a:rPr>
              <a:t>Figures 1–3 (The Arachidonic Acid Pathway: Where Analgesics Act; Nonselective NSAIDs vs. COX-2 Selective Inhibition; Biologic DMARDs: Where Each Class Intercepts the Immune Cascade) were generated by the course director using the AI tool Claude to illustrate standard, non-copyrighted pharmacologic concepts. The mechanism diagrams added for acetaminophen (including the Rumack-Matthew nomogram schematic), methotrexate and celecoxib, and the NSAID, COX-1 vs. COX-2, conventional DMARD, biologic DMARD and drug-name nomenclature diagrams, are also original illustrative diagrams, created with AI assistance for this course. Companion diagrams for inflammatory mediators, NSAID adverse effects, osteoarthritis vs. rheumatoid arthritis, osteoarthritis pharmacotherapy, disease-modifying drug concepts and DMARD immunosuppression are original illustrative diagrams created with AI assistance for this course as well. They are original diagrams, not reproduced from Katzung’s Basic and Clinical Pharmacology or any other copyrighted source.</a:t>
            </a:r>
            <a:endParaRPr lang="en-US" sz="1600" dirty="0"/>
          </a:p>
          <a:p>
            <a:pPr marL="0" indent="0" algn="l">
              <a:lnSpc>
                <a:spcPct val="100000"/>
              </a:lnSpc>
              <a:buNone/>
            </a:pPr>
            <a:r>
              <a:rPr lang="en-US" sz="1600" b="1" dirty="0">
                <a:solidFill>
                  <a:srgbClr val="123C44"/>
                </a:solidFill>
                <a:latin typeface="Carlito Bold" pitchFamily="34" charset="0"/>
                <a:ea typeface="Carlito Bold" pitchFamily="34" charset="-122"/>
                <a:cs typeface="Carlito Bold" pitchFamily="34" charset="0"/>
              </a:rPr>
              <a:t>●  Reference: </a:t>
            </a:r>
            <a:r>
              <a:rPr lang="en-US" sz="1600" dirty="0">
                <a:solidFill>
                  <a:srgbClr val="1A1A1A"/>
                </a:solidFill>
                <a:latin typeface="Carlito" pitchFamily="34" charset="0"/>
                <a:ea typeface="Carlito" pitchFamily="34" charset="-122"/>
                <a:cs typeface="Carlito" pitchFamily="34" charset="0"/>
              </a:rPr>
              <a:t>Anthropic. (2026). Claude (Sonnet 5) [Large language model]. https://claude.ai</a:t>
            </a:r>
            <a:endParaRPr lang="en-US" sz="1600" dirty="0"/>
          </a:p>
        </p:txBody>
      </p:sp>
      <p:sp>
        <p:nvSpPr>
          <p:cNvPr id="7" name="Text 4"/>
          <p:cNvSpPr/>
          <p:nvPr/>
        </p:nvSpPr>
        <p:spPr>
          <a:xfrm>
            <a:off x="731422" y="6560145"/>
            <a:ext cx="3847706"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Musculoskeletal Pharmacology — Session 1 of 2 — PA Program</a:t>
            </a:r>
            <a:endParaRPr lang="en-US" sz="1000" dirty="0"/>
          </a:p>
        </p:txBody>
      </p:sp>
      <p:sp>
        <p:nvSpPr>
          <p:cNvPr id="8" name="Text 5"/>
          <p:cNvSpPr/>
          <p:nvPr/>
        </p:nvSpPr>
        <p:spPr>
          <a:xfrm>
            <a:off x="11566831" y="6544866"/>
            <a:ext cx="624864" cy="175220"/>
          </a:xfrm>
          <a:prstGeom prst="rect">
            <a:avLst/>
          </a:prstGeom>
          <a:noFill/>
          <a:ln/>
        </p:spPr>
        <p:txBody>
          <a:bodyPr wrap="none" lIns="0" tIns="0" rIns="0" bIns="0" rtlCol="0" anchor="ctr"/>
          <a:lstStyle/>
          <a:p>
            <a:pPr marL="0" indent="0" algn="l">
              <a:lnSpc>
                <a:spcPct val="115000"/>
              </a:lnSpc>
              <a:buNone/>
            </a:pPr>
            <a:r>
              <a:rPr lang="en-US" sz="1000" dirty="0">
                <a:solidFill>
                  <a:srgbClr val="5C6B73"/>
                </a:solidFill>
                <a:latin typeface="Carlito" pitchFamily="34" charset="0"/>
                <a:ea typeface="Carlito" pitchFamily="34" charset="-122"/>
                <a:cs typeface="Carlito" pitchFamily="34" charset="0"/>
              </a:rPr>
              <a:t>62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F7173"/>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966</TotalTime>
  <Words>7600</Words>
  <Application>Microsoft Macintosh PowerPoint</Application>
  <PresentationFormat>Widescreen</PresentationFormat>
  <Paragraphs>796</Paragraphs>
  <Slides>62</Slides>
  <Notes>62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62</vt:i4>
      </vt:variant>
    </vt:vector>
  </HeadingPairs>
  <TitlesOfParts>
    <vt:vector size="67" baseType="lpstr">
      <vt:lpstr>Arial</vt:lpstr>
      <vt:lpstr>Carlito</vt:lpstr>
      <vt:lpstr>Caladea Bold</vt:lpstr>
      <vt:lpstr>Carlito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Diane Allen-Gipson</cp:lastModifiedBy>
  <cp:revision>7</cp:revision>
  <cp:lastPrinted>2026-10-26T22:49:12Z</cp:lastPrinted>
  <dcterms:created xsi:type="dcterms:W3CDTF">2026-10-26T21:55:38Z</dcterms:created>
  <dcterms:modified xsi:type="dcterms:W3CDTF">2026-10-27T14:21:04Z</dcterms:modified>
</cp:coreProperties>
</file>