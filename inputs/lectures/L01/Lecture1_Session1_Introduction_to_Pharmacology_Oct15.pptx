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Language of Pharmacology" id="{454A91F1-8AE2-CC47-A7A1-DDCCB55718A8}">
          <p14:sldIdLst>
            <p14:sldId id="256"/>
            <p14:sldId id="257"/>
            <p14:sldId id="258"/>
            <p14:sldId id="259"/>
          </p14:sldIdLst>
        </p14:section>
        <p14:section name="Default-1" id="{224CD10B-7182-4254-BE72-862A5A9E2336}">
          <p14:sldIdLst>
            <p14:sldId id="260"/>
            <p14:sldId id="261"/>
            <p14:sldId id="262"/>
            <p14:sldId id="263"/>
            <p14:sldId id="264"/>
          </p14:sldIdLst>
        </p14:section>
        <p14:section name="Drug Development &amp; Regulation" id="{A10F0EBA-8525-7BFB-29E0-A6068231C2E2}">
          <p14:sldIdLst>
            <p14:sldId id="265"/>
          </p14:sldIdLst>
        </p14:section>
        <p14:section name="Default-2" id="{E1B770E2-AD87-03F4-9258-FDDE1E3ABE96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Pharmacodynamics" id="{3F10DB09-6677-649D-B8DA-381E21A07C5D}">
          <p14:sldIdLst>
            <p14:sldId id="273"/>
          </p14:sldIdLst>
        </p14:section>
        <p14:section name="Default-3" id="{48BB86A3-9205-8C6A-1477-105D04A0111F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Dose-Response Relationships" id="{866480E0-E2A1-E420-C75B-DADD41E4DE43}">
          <p14:sldIdLst>
            <p14:sldId id="284"/>
          </p14:sldIdLst>
        </p14:section>
        <p14:section name="Default-4" id="{78F31531-C460-3F67-D18E-3072C46B774F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Pharmacokinetics: ADME" id="{3AA25871-FD4E-0A5A-7C22-C96BF47DC33E}">
          <p14:sldIdLst>
            <p14:sldId id="299"/>
          </p14:sldIdLst>
        </p14:section>
        <p14:section name="Default-5" id="{2FB21F29-1352-674E-28E9-2C5AF82FAD22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3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08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students to the arc of this session: definitions, drug development, pharmacodynamics, dose-response, and ADME through distribution. Tell them this is the first of two 2.5-hour sessions on Introduction to Pharmacology — Session 2 picks up with metabolism, excretion, PK math, pharmacogenomics, and the integrated clinical framework on Oct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students to the required and recommended texts for Unit 1 before diving into content. Katzung’s Chapters 1-5 is the required reading for this unit; Pharmacotherapy Principles and Practice is recommended as additional support, not a substitute.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"therapeutic effect" and "pharmacologic effect" are not synonyms — a drug can have pharmacologic effects that are not therapeutic (that is often exactly what an adverse effect 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 map for the whole lecture — PK and PD are the two biggest buckets, and nearly everything else (toxicology, pharmacogenomics, therapeutics) sits on top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if a patient says they take "Tylenol" and separately "acetaminophen," what should you check for? (Accidental double-dosing — this previews the acetaminophen toxicity discussion on Thursday.)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Biologic DMARDs later in the MSK unit are a direct example of the "biotechnology" category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Postmarketing surveillance (Phase IV) is where rare adverse effects are often first detected, because trial populations are too small and too short in duration to catch 1-in-10,000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III is what most people picture as "the" clinical trial, but regulatory decisions already begin shaping the drug long before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Efficacy vs. effectiveness is a favorite exam distinction — efficacy is the trial result, effectiveness is what happens once real patients with real adherence patterns use the drug.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discussion question — push students to ask "compared to what?" rather than judging the number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chain on the board: drug -&gt; target -&gt; signal transduction -&gt; response. Every pharmacodynamics topic for the rest of the course maps onto this chain somewhere.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drugs students will encounter target receptors or enzymes — ion channels and transporters matter especially for cardiac and CNS drugs.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classic exam trap: a competitive antagonist shifts the dose-response curve right (same Emax, more drug needed); a noncompetitive/irreversible antagonist lowers the Emax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curve left to right: agonist alone, then show how the competitive-antagonist curve shifts right (same ceiling), then how the noncompetitive curve lowers the ceiling instead. This is the same distinction from the previous slide, now shown graphically.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bridges introductory pharmacodynamics into the pulmonary pharmacology they will see later in the curriculum, and reinforces the agonist definition from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 sigmoidal dose-response curve on the board: x-axis = log(dose), y-axis = effect. Point out EC50 on the x-axis and Emax as the plateau.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EC50 and Emax directly on the plotted curve — this is the same curve concept described on the previous slide, now shown graphically.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PA-exam framing: a drug can be very potent (tiny dose) but have low efficacy — potency alone never tells you whether a drug "works better."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panel: two drugs with the same Emax but different EC50 (potency differs). Right panel: two drugs with the same EC50 but different Emax (efficacy differs). This is the graphical version of the table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narrow-TI drugs are extremely high-yield — students should be able to name all four without hesitation and know that each requires therapeutic drug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how close ED50 and TD50 sit for the narrow-TI example — this is exactly why warfarin, lithium, digoxin, and phenytoin require blood-level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ADME is the organizing skeleton for the rest of this lecture — each remaining pharmacokinetics section is really just one ADME letter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arrows A-D-M-E with your finger as you narrate — this is the visual skeleton for the rest of the ADME discussion (and for the remaining PK sections in Session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routes bypass first-pass metabolism (IV, sublingual, inhaled, transdermal, topical, SC, IM — essentially everything except oral).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naturally sets up the next slide on first-pass metabolism as the main reason oral bioavailability is less than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liver can inactivate a large fraction of drug before it ever reaches systemic circulation — this is why some drugs are given sublingually or transdermally instead of orally.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Vd is a theoretical volume, not a real anatomic space — a drug with a very high Vd (like digoxin) is telling you it is mostly sequestered in tissue, not floating around in plasma.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think-pair-share — ask students to predict whether a highly polar antibiotic would cross the BBB well (generally no, unless meninges are inflamed, as in meningitis).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Session 1 by previewing Session 2 explicitly — students should leave knowing ADME is half-finished (we stopped after Distribution) and that Metabolism/Excretion pick up first next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documents AI-tool use for original figure generation per university citation requirements. It covers every original diagram in this deck (Figures 1–5); none are reproduced from any textbook.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3C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KICKER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1783080"/>
            <a:ext cx="100584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22960" y="3794760"/>
            <a:ext cx="9692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9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9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7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</a:t>
            </a: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Pharmacology — Session 1 of 2 — PA Program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Pharmacology — Session 1 of 2 — PA Program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C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15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b="1" kern="0" spc="15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804672"/>
            <a:ext cx="10058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Pharmacology — Session 1 of 2 — PA Program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822960" cy="8229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harm_decks/assets/icons/p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700430"/>
            <a:ext cx="427939" cy="427939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PHARMACOLOGY COURSE · LECTURE 1 · SESSION 1 OF 2</a:t>
            </a:r>
            <a:endParaRPr lang="en-US" sz="14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178308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Pharmacology</a:t>
            </a:r>
            <a:endParaRPr lang="en-US" sz="4000" dirty="0"/>
          </a:p>
        </p:txBody>
      </p:sp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822960" y="379476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Foundations — Language, Drug Development, Pharmacodynamics, Dose-Response &amp; ADME  |  Thursday, October 15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" y="5074920"/>
            <a:ext cx="1005840" cy="0"/>
          </a:xfrm>
          <a:prstGeom prst="line">
            <a:avLst/>
          </a:prstGeom>
          <a:noFill/>
          <a:ln w="190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51937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Diane S. Allen-Gipson, Ph.D., M.S., Course Director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LECTURE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 — Session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pharmacology, pharmacodynamics, and pharmacokinetics.</a:t>
            </a:r>
            <a:endParaRPr lang="en-US" sz="16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major stages of drug development and FDA approval.</a:t>
            </a:r>
            <a:endParaRPr lang="en-US" sz="16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drugs interact with receptors to produce an effect.</a:t>
            </a:r>
            <a:endParaRPr lang="en-US" sz="16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 dose-response curve, including potency and efficacy.</a:t>
            </a:r>
            <a:endParaRPr lang="en-US" sz="16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absorption, distribution, metabolism, and excretion (ADME), including bioavailability and the first-pass effect.</a:t>
            </a:r>
            <a:endParaRPr lang="en-US" sz="16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metabolism/excretion detail, PK calculations, pharmacogenomics, and the integrated clinical framework continue in Session 2 (Thursday, October 22).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&amp; Recommended Readings — Unit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r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56232"/>
            <a:ext cx="5212080" cy="256032"/>
          </a:xfrm>
          <a:prstGeom prst="rect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41248" y="16002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Text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8600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Katzung's Basic and Clinical Pharmacology, 16th Edition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Todd W. Vanderah · 2025 · McGraw-Hill Education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1260463303 (eBook)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AccessMedicine: accessmedicine.mhmedical.com/book.aspx?bookid=3382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Introduction to Pharmacology: Chapters 1, 2, 3, 4, and 5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09360" y="160020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09360" y="1856232"/>
            <a:ext cx="5212080" cy="256032"/>
          </a:xfrm>
          <a:prstGeom prst="rect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510528" y="16002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Text (for additional support)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228600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Pharmacotherapy Principles and Practice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Chisholm-Burns, Schwinghammer, Malone, Kolesar, Lee · 2022 · McGraw-Hill Education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ISBN 9781260460278 · eText ISBN 9781260460285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supplemental support alongside Katzung’s Chapters 1–5 for Unit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Language of Pharmacology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vocabulary before we talk mechanisms.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685800"/>
            <a:ext cx="1051560" cy="10515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harm_decks/assets/icons/r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774" y="93817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Pharmacology?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Pharmacology: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study of how drugs interact with living systems — from the molecular level to the whole patient.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Drug (medication):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chemical substance used to diagnose, treat, cure, or prevent disease, or to alter a physiologic process.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Pharmacologic effect: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biological change a drug produces (e.g., lower blood pressure).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Therapeutic effect: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intended, beneficial pharmacologic effect for a given condition.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Adverse drug reaction (ADR):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unintended and harmful response occurring at normal therapeutic doses.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Toxicity: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effects that occur as the dose or exposure exceeds the therapeutic range.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Major Branches of Pharmacology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56232"/>
            <a:ext cx="5257800" cy="256032"/>
          </a:xfrm>
          <a:prstGeom prst="rect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41248" y="160020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Pharmacokinetics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body does to the drug — ADME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63640" y="1856232"/>
            <a:ext cx="5257800" cy="256032"/>
          </a:xfrm>
          <a:prstGeom prst="rect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64808" y="160020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Pharmacodynamics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drug does to the body — receptors &amp; effect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" y="402336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0080" y="4279392"/>
            <a:ext cx="5257800" cy="256032"/>
          </a:xfrm>
          <a:prstGeom prst="rect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41248" y="402336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Pharmacogenomics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genetic variation shapes individual drug response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6364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63640" y="402336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63640" y="4279392"/>
            <a:ext cx="5257800" cy="256032"/>
          </a:xfrm>
          <a:prstGeom prst="rect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464808" y="402336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Pharmacology / Toxicology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PK/PD to real patients, and the study of poisoning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 DRUG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Chemical, Generic, and Brand Names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aps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Chemical name: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exact molecular structure (rarely used in clinical practice).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Generic name: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official, non-proprietary name assigned to the active drug — one generic name per drug, regardless of manufacturer.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Brand (trade) name: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manufacturer’s marketed name; the same generic drug may have several brand names, and brand names change between countries.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acetaminophen (generic) is sold as Tylenol and under many store brands.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students should learn and prescribe by generic name — it is unambiguous, international, and avoids confusing a patient’s multiple brand-name products for different drugs.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THE LANGUAGE OF PHARMACOLOGY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r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says they take no medications, but separately mentions using "Tylenol" for headaches and a combination cold-and-flu product. What does this scenario illustrate?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names can obscure a shared generic ingredient, risking unintentional double-dosing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names are standardized internationally, so this mix-up could not happen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names vary by manufacturer, which caused the confusion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Pharmacologic effect and therapeutic effect are simply two words for the same thing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THE LANGUAGE OF PHARMACOLOGY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names can obscure a shared generic ingredient, risking unintentional double-dosing.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brand-name products (Tylenol, many combination cold/flu products) can share the same active generic ingredient. Prescribing and counseling by generic name avoids hiding duplicate therapy — the reason PAs default to generic names.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Development &amp; Regulation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molecule becomes a prescription.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685800"/>
            <a:ext cx="1051560" cy="10515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harm_decks/assets/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774" y="93817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New Drugs Come From?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56232"/>
            <a:ext cx="5257800" cy="256032"/>
          </a:xfrm>
          <a:prstGeom prst="rect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41248" y="160020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Products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Plants, fungi, microbes, marine organisms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63640" y="1856232"/>
            <a:ext cx="5257800" cy="256032"/>
          </a:xfrm>
          <a:prstGeom prst="rect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64808" y="160020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&amp; Biotech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small molecules; recombinant proteins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" y="402336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0080" y="4279392"/>
            <a:ext cx="5257800" cy="256032"/>
          </a:xfrm>
          <a:prstGeom prst="rect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41248" y="402336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Monoclonal antibodies, gene- and cell-based therapies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6364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63640" y="402336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63640" y="4279392"/>
            <a:ext cx="5257800" cy="256032"/>
          </a:xfrm>
          <a:prstGeom prst="rect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464808" y="402336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Repurposing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approved drug found to treat a new condition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Discovery to Patient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377440"/>
            <a:ext cx="1493520" cy="1600200"/>
          </a:xfrm>
          <a:prstGeom prst="roundRect">
            <a:avLst>
              <a:gd name="adj" fmla="val 4898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13232" y="2377440"/>
            <a:ext cx="1347216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33600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517648" y="2377440"/>
            <a:ext cx="1493520" cy="1600200"/>
          </a:xfrm>
          <a:prstGeom prst="roundRect">
            <a:avLst>
              <a:gd name="adj" fmla="val 4898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590800" y="2377440"/>
            <a:ext cx="1347216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011168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95216" y="2377440"/>
            <a:ext cx="1493520" cy="1600200"/>
          </a:xfrm>
          <a:prstGeom prst="roundRect">
            <a:avLst>
              <a:gd name="adj" fmla="val 4898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468368" y="2377440"/>
            <a:ext cx="1347216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88736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72784" y="2377440"/>
            <a:ext cx="1493520" cy="1600200"/>
          </a:xfrm>
          <a:prstGeom prst="roundRect">
            <a:avLst>
              <a:gd name="adj" fmla="val 4898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345936" y="2377440"/>
            <a:ext cx="1347216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66304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150352" y="2377440"/>
            <a:ext cx="1493520" cy="1600200"/>
          </a:xfrm>
          <a:prstGeom prst="roundRect">
            <a:avLst>
              <a:gd name="adj" fmla="val 4898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223504" y="2377440"/>
            <a:ext cx="1347216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643872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027920" y="2377440"/>
            <a:ext cx="1493520" cy="1600200"/>
          </a:xfrm>
          <a:prstGeom prst="roundRect">
            <a:avLst>
              <a:gd name="adj" fmla="val 4898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0101072" y="2377440"/>
            <a:ext cx="1347216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Postmarket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4343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candidate drugs fail somewhere along this pipeline — approval is the exception, not the rule.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TABLE 1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Trial Phases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micro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1498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Population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Safety, tolerability, dose-finding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small group of healthy volunteers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Preliminary efficacy and side-effect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hundred patients with the target 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III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efficacy and monitor adverse effects at 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Hundreds to thousands of patients, often multi-site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IV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Postmarketing surveillance after approval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general prescribed population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Evidence-Based Drug Approval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Efficacy: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a drug works under ideal, controlled trial conditions.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Effectiveness: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a drug works in everyday clinical practice, with real-world adherence and comorbidities.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Benefit vs. risk: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 regulators and prescribers must weigh for every approval and every prescription.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Adverse-event reporting: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ongoing, voluntary and mandatory reporting systems (e.g., FDA MedWatch) that catch safety signals after approval.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CASE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You Prescribe It?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14400" y="1810512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medication improves symptoms in 70% of patients with a chronic, non-life-threatening condition. In postmarketing data, it causes serious hepatotoxicity in about 1% of patients who take it.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886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r>
              <a:rPr lang="en-US" sz="18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prescribe it — and does your answer depend on what else is available?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pearl:  </a:t>
            </a: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Risk-benefit analysis is always comparative: a 1% serious-toxicity rate reads very differently if it is the only effective option versus if three safer alternatives already exist.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DRUG DEVELOPMENT &amp; REGULATION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micro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which clinical trial phase is a drug first tested in a large patient population specifically to confirm efficacy and monitor for adverse effects at scale, just before approval?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IV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DRUG DEVELOPMENT &amp; REGULATION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trials enroll hundreds to thousands of patients, often at multiple sites, to confirm efficacy and monitor safety at scale before approval. Phase I is small-scale safety/dosing, Phase II is preliminary efficacy, and Phase IV is postmarketing surveillance after approval.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Pharmacodynamics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drug does to the body.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685800"/>
            <a:ext cx="1051560" cy="10515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774" y="93817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Pharmacodynamics in One Pathway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Drug target: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molecule a drug binds to produce its effect.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Receptor: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protein target whose activation (or blockade) triggers a cellular response.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Signal transduction: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of molecular events that converts receptor binding into a cellular effect.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Pharmacologic response: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measurable downstream result — contraction, secretion, gene transcription, and so 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Major Drug Target Classes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56232"/>
            <a:ext cx="5257800" cy="256032"/>
          </a:xfrm>
          <a:prstGeom prst="rect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41248" y="160020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Receptors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G-protein-coupled, ligand-gated ion channel, enzyme-linked, nuclear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63640" y="1856232"/>
            <a:ext cx="5257800" cy="256032"/>
          </a:xfrm>
          <a:prstGeom prst="rect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64808" y="160020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 Channels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gate the flow of ions across a membrane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" y="402336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0080" y="4279392"/>
            <a:ext cx="5257800" cy="256032"/>
          </a:xfrm>
          <a:prstGeom prst="rect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41248" y="402336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Enzymes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can inhibit or, less commonly, activate an enzyme’s activity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6364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63640" y="402336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63640" y="4279392"/>
            <a:ext cx="5257800" cy="256032"/>
          </a:xfrm>
          <a:prstGeom prst="rect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464808" y="402336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Transporters &amp; Nucleic Acids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proteins; or DNA/RNA for some antimicrobials &amp; gene therapies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Receptor Concept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377440"/>
            <a:ext cx="2432304" cy="1600200"/>
          </a:xfrm>
          <a:prstGeom prst="roundRect">
            <a:avLst>
              <a:gd name="adj" fmla="val 4571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13232" y="2377440"/>
            <a:ext cx="22860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072384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56432" y="2377440"/>
            <a:ext cx="2432304" cy="1600200"/>
          </a:xfrm>
          <a:prstGeom prst="roundRect">
            <a:avLst>
              <a:gd name="adj" fmla="val 4571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529584" y="2377440"/>
            <a:ext cx="22860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Receptor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88736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72784" y="2377440"/>
            <a:ext cx="2432304" cy="1600200"/>
          </a:xfrm>
          <a:prstGeom prst="roundRect">
            <a:avLst>
              <a:gd name="adj" fmla="val 4571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345936" y="2377440"/>
            <a:ext cx="22860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Drug-Receptor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705088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089136" y="2377440"/>
            <a:ext cx="2432304" cy="1600200"/>
          </a:xfrm>
          <a:prstGeom prst="roundRect">
            <a:avLst>
              <a:gd name="adj" fmla="val 4571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162288" y="2377440"/>
            <a:ext cx="22860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343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chain underlies agonism, antagonism, potency, and efficacy — all of which describe different features of this interaction.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&amp; ACTIVATION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Agonists vs. Antagonists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56232"/>
            <a:ext cx="5212080" cy="256032"/>
          </a:xfrm>
          <a:prstGeom prst="rect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41248" y="16002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Agonists (activate)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8600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agonist — maximal receptor activation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agonist — submaximal activation, even at full receptor occupancy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agonist — reduces baseline (constitutive) receptor activity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09360" y="160020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09360" y="1856232"/>
            <a:ext cx="5212080" cy="256032"/>
          </a:xfrm>
          <a:prstGeom prst="rect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510528" y="16002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Antagonists (block)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228600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— reversibly competes with agonist at the same site; overcome by more agonist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Noncompetitive — binds elsewhere or irreversibly reduces the maximal effect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— permanently inactivates the receptor until new receptor is synthesized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ILLUSTRATION · FIGURE 1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Agonist &amp; Antagonist Effects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pic>
        <p:nvPicPr>
          <p:cNvPr id="6" name="Image 1" descr="/home/claude/pharm_decks/assets/figures/agonist_antagon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838" y="1554480"/>
            <a:ext cx="7029844" cy="4160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5788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Original illustrative curves (not Katzung data): a competitive antagonist shifts the curve right with the same Emax; a noncompetitive/irreversible antagonist lowers Emax instead.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FIGURE 1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Figure 1 above, the dashed curve (+ Competitive antagonist) is shifted to the right of the agonist-alone curve but reaches the same plateau at the top. What does this pattern show?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agonist is needed to reach the same effect, but the same maximal effect is still achievable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antagonist lowers the drug’s efficacy (Emax)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antagonist increases the drug’s potency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antagonist has no measurable effect on the agonist’s curve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FIGURE 1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agonist is needed to reach the same effect, but the same maximal effect is still achievable.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rightward shift with an unchanged plateau is the graphical signature of competitive antagonism: it takes more drug to reach a given effect (potency falls), but because the antagonism is surmountable, enough agonist can still reach the original Emax. Contrast this with the noncompetitive/irreversible curve in the same figure, which plateaus lower instead of shifting right.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TIE-IN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Agonism in Practice: Albuterol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lu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Albuterol is a selective β2-adrenergic receptor agonist.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activates the β2 receptor → increases intracellular cAMP.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cAMP relaxes bronchial smooth muscle → bronchodilation.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receptor-to-response logic you will reuse for every agonist drug this term.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PHARMACODYNAMICS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drug binds the same receptor as an endogenous agonist and lowers the tissue’s baseline (constitutive) activity below normal, without any agonist present. This drug is best classified as a(n):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agonist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agonist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antagonist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agonist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PHARMACODYNAMICS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agonist.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inverse agonist actively reduces constitutive (baseline) receptor activity below normal — a true antagonist merely blocks the agonist without lowering baseline activity itself.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Dose-Response Relationships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how much drug produces how much effect.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685800"/>
            <a:ext cx="1051560" cy="10515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774" y="93817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Dose-Response Curve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Potency: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drug is required to produce a given effect — a more potent drug needs a lower dose.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Efficacy (Emax):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effect a drug can produce, no matter how high the dose goes.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EC₅₀: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drug concentration producing 50% of the maximal effect — the standard measure of potency.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ILLUSTRATION · FIGURE 2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Sigmoidal Dose-Response Curve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pic>
        <p:nvPicPr>
          <p:cNvPr id="6" name="Image 1" descr="/home/claude/pharm_decks/assets/figures/dose_response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554480"/>
            <a:ext cx="7132320" cy="4160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5788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Original illustrative curve (illustrative values, not from any textbook): EC₅₀ marks 50% of Emax; Emax is the plateau — the ceiling effect.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FIGURE 2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dose-response curve in Figure 2, the point marked EC₅₀ sits exactly halfway up the rising part of the curve. What does this point represent?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dose at which the drug becomes toxic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concentration producing 50% of the drug’s maximal effect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where the drug has zero effect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drug’s bioavailability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FIGURE 2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concentration producing 50% of the drug’s maximal effect.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EC₅₀ is read directly off the curve at the halfway point between baseline and Emax (the plateau) — it is the standard graphical measure of potency, not a measure of toxicity or bioavailability.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DISTINCTION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Potency vs. Efficacy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56232"/>
            <a:ext cx="5212080" cy="256032"/>
          </a:xfrm>
          <a:prstGeom prst="rect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41248" y="16002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8600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drug is needed to get an effect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EC50 = more potent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matters for dosing — not for choosing the "better" drug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09360" y="160020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09360" y="1856232"/>
            <a:ext cx="5212080" cy="256032"/>
          </a:xfrm>
          <a:prstGeom prst="rect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510528" y="16002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Efficacy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228600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effect the drug can produce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Emax = more efficacious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matters much more than potency — a highly potent drug with low efficacy may be clinically useless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ILLUSTRATION · FIGURE 3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Potency vs. Efficacy, Side by Side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pic>
        <p:nvPicPr>
          <p:cNvPr id="6" name="Image 1" descr="/home/claude/pharm_decks/assets/figures/potency_vs_effic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180" y="1554480"/>
            <a:ext cx="9281160" cy="4160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5788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Original illustrative curves: potency (left) and efficacy (right) are independent properties — a drug can differ in one without differing in the other.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FIGURE 3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left panel of Figure 3, Drug A’s curve sits to the left of Drug B’s curve, but both curves plateau at the same height. What does this tell you?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 is more potent than Drug B, and both have equal efficacy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 is more efficacious than Drug B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 and Drug B have different Emax values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B is more potent than Drug 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FIGURE 3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 is more potent than Drug B, and both have equal efficacy.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curve positioned farther left reaches the same effect at a lower dose — that is greater potency. Because both curves reach the same plateau height, their Emax (efficacy) is identical; only potency differs, exactly as the right panel then shows the reverse case (same potency, different efficacy).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MARGIN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Therapeutic Index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Index (TI) = TD₅₀ ÷ ED₅₀ (toxic dose in 50% ÷ effective dose in 50%).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 TI means a large margin between an effective dose and a toxic dose — generally safer to dose.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TI means effective and toxic doses are close together — requires careful dosing and often blood-level monitoring.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narrow-TI drugs: warfarin, lithium, digoxin, phenytoin.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ILLUSTRATION · FIGURE 4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vs. Narrow Therapeutic Index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pic>
        <p:nvPicPr>
          <p:cNvPr id="6" name="Image 1" descr="/home/claude/pharm_decks/assets/figures/therapeutic_ind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1554480"/>
            <a:ext cx="8161020" cy="4160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5788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 Original illustrative number-line comparison: a wide gap between ED₅₀ and TD₅₀ is safer to dose than a narrow one (illustrative values).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FIGURE 4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two number lines in Figure 4, the narrow-TI drug’s ED₅₀ and TD₅₀ markers sit much closer together than the wide-TI drug’s. What is the clinical implication?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narrow-TI drug is safer because it requires a lower dose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narrow-TI drug has a smaller margin between an effective and a toxic dose, requiring closer monitoring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wide-TI drug is more likely to cause toxicity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index has no bearing on dosing safety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FIGURE 4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narrow-TI drug has a smaller margin between an effective and a toxic dose, requiring closer monitoring.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between the ED₅₀ and TD₅₀ markers on the number line is the therapeutic index itself — a narrow gap (as with warfarin, lithium, digoxin, phenytoin) means a small dosing error can move a patient from effective to toxic, which is why these drugs require blood-level monitoring.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DOSE-RESPONSE RELATIONSHIPS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X requires a much lower dose than Drug Y to achieve the same effect, but both drugs achieve the same maximum effect (Emax). Which statement is correct?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X is more efficacious than Drug 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X is more potent than Drug 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X has a narrower therapeutic index than Drug Y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X and Drug Y have different Emax values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DOSE-RESPONSE RELATIONSHIPS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X is more potent than Drug Y.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Needing a lower dose for the same effect is the definition of greater potency. Since both drugs reach the same Emax, their efficacy is equal — potency and efficacy are independent properties.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Pharmacokinetics: ADME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body does to the drug.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685800"/>
            <a:ext cx="1051560" cy="10515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harm_decks/assets/icons/p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774" y="93817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FRAMEWORK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p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56232"/>
            <a:ext cx="5257800" cy="256032"/>
          </a:xfrm>
          <a:prstGeom prst="rect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41248" y="160020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Absorption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of drug from the site of administration into the bloodstream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63640" y="1856232"/>
            <a:ext cx="5257800" cy="256032"/>
          </a:xfrm>
          <a:prstGeom prst="rect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64808" y="160020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Distribution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of drug from blood into tissues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" y="402336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0080" y="4279392"/>
            <a:ext cx="5257800" cy="256032"/>
          </a:xfrm>
          <a:prstGeom prst="rect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41248" y="402336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— Metabolism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transformation of drug, mainly in the liver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6364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63640" y="402336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63640" y="4279392"/>
            <a:ext cx="5257800" cy="256032"/>
          </a:xfrm>
          <a:prstGeom prst="rect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464808" y="402336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— Excretion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of drug/metabolites from the body, mainly via the kidney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ILLUSTRATION · FIGURE 5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ADME Compartment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p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pic>
        <p:nvPicPr>
          <p:cNvPr id="6" name="Image 1" descr="/home/claude/pharm_decks/assets/figures/adme_compart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275" y="1554480"/>
            <a:ext cx="8038971" cy="4160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5788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 Original illustrative compartment diagram: how a dose moves from administration through distribution, metabolism, and excretion.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FIGURE 5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p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Figure 5, two separate arrows leave the Central Compartment box: one labeled "M" pointing to Metabolism (Liver), and one labeled "E" pointing to Excretion (Kidney). Together, these two arrows represent which part of ADME?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and Distribution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only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and Excretion — how the drug is transformed and cleared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Excretion step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FIGURE 5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p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and Excretion — how the drug is transformed and cleared.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drug leaving the Central Compartment by two separate routes: the "M" arrow to the liver (biotransformation) and the "E" arrow to the kidney (elimination). Together these are the back half of ADME — how the body gets rid of the drug, as opposed to Absorption and Distribution, which govern how the drug arrives and spreads.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TABLE 2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 of Administration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aps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26289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(PO)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Convenient; subject to first-pass metabolism and variable absorption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Sublingual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Absorbed directly into systemic circulation; bypasses first-pass metabolism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Intravenous (IV)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bioavailable; immediate onset; no absorption phase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Intramuscular (IM)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than oral; good for depot/long-acting formulations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Subcutaneous (SC)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Slower, steady absorption; common for insulin, heparin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Inhaled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local effect in the lungs; minimizes systemic exposure for some drugs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Transdermal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sustained systemic absorption through the skin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effect at the site of application; minimal systemic absorption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Bioavailability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Bioavailability (F) = the fraction of an administered dose that reaches systemic circulation unchanged.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definition, an IV dose has 100% bioavailability — the entire dose enters the bloodstream directly.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bioavailability is reduced by incomplete absorption and by first-pass hepatic metabolism.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ORAL DOSES DIFFER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First-Pass Effect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l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377440"/>
            <a:ext cx="1869034" cy="1600200"/>
          </a:xfrm>
          <a:prstGeom prst="roundRect">
            <a:avLst>
              <a:gd name="adj" fmla="val 4571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13232" y="2377440"/>
            <a:ext cx="172273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Drug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09114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893162" y="2377440"/>
            <a:ext cx="1869034" cy="1600200"/>
          </a:xfrm>
          <a:prstGeom prst="roundRect">
            <a:avLst>
              <a:gd name="adj" fmla="val 4571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966314" y="2377440"/>
            <a:ext cx="172273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Tract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62195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146243" y="2377440"/>
            <a:ext cx="1869034" cy="1600200"/>
          </a:xfrm>
          <a:prstGeom prst="roundRect">
            <a:avLst>
              <a:gd name="adj" fmla="val 4571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219395" y="2377440"/>
            <a:ext cx="172273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015277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399325" y="2377440"/>
            <a:ext cx="1869034" cy="1600200"/>
          </a:xfrm>
          <a:prstGeom prst="roundRect">
            <a:avLst>
              <a:gd name="adj" fmla="val 4571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472477" y="2377440"/>
            <a:ext cx="172273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268358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652406" y="2377440"/>
            <a:ext cx="1869034" cy="1600200"/>
          </a:xfrm>
          <a:prstGeom prst="roundRect">
            <a:avLst>
              <a:gd name="adj" fmla="val 4571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9725558" y="2377440"/>
            <a:ext cx="172273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343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with a large first-pass effect: nitroglycerin, propranolol, morphine — all require higher oral doses (or a non-oral route) to achieve the same systemic exposure as IV.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DRUG GOES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Plasma protein binding: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unbound ("free") drug is pharmacologically active and able to cross membranes.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Lipid solubility: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lipophilic drugs cross membranes more readily and distribute into fatty tissue.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Tissue perfusion: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perfused organs (brain, heart, kidney) receive drug faster than poorly perfused tissue (fat, bone).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Volume of distribution (Vd):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calculated value relating total drug in the body to plasma concentration — a high Vd suggests extensive tissue distribution.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Blood-Brain Barrier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some drugs readily enter the CNS while others cannot?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junctions between endothelial cells restrict paracellular movement.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lipophilic, non-ionized drugs cross more easily than large, polar, or highly protein-bound drugs.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Efflux transporters (like P-glycoprotein) can actively pump some drugs back out of the CNS.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PHARMACOKINETICS: ADME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l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 of administration bypasses first-pass hepatic metabolism entirely, by entering systemic venous circulation directly?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Sublingual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Oral, taken on an empty stomach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routes undergo first-pass metabolism equally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Oral, taken with food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PHARMACOKINETICS: ADME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Sublingual.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Sublingual absorption enters systemic venous circulation directly, bypassing the portal vein and the liver’s first-pass metabolism — unlike oral dosing, which is absorbed into the portal circulation and passes through the liver first.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80467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 Recap — To Be Continued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56816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83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connects a drug’s chemistry to its clinical effect — precise vocabulary (generic names, therapeutic vs. adverse effects) protects patients.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871216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6974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drug has passed through a structured development and regulatory pipeline (Phases I–IV).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785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6118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Pharmacodynamics explains how drugs bind receptors to produce agonism or antagonism, and dose-response curves describe potency and efficacy.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22960" y="4700016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5262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 determines how much drug reaches its target and for how long — today we covered absorption, distribution, bioavailability, and the first-pass effect.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22960" y="5614416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5614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4406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(Thursday, October 22) continues with metabolism, excretion, PK calculations (half-life, steady state, clearance), pharmacogenomics, and the integrated clinical decision-making framework.</a:t>
            </a:r>
            <a:endParaRPr lang="en-US" sz="16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Attribution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Original figures in this deck: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1–5 (Visualizing Agonist &amp; Antagonist Effects; The Sigmoidal Dose-Response Curve; Potency vs. Efficacy, Side by Side; Wide vs. Narrow Therapeutic Index; The ADME Compartment Model) were generated by the course director using the AI tool Claude to illustrate standard, non-copyrighted pharmacologic concepts. They are original diagrams, not reproduced from Katzung’s Basic and Clinical Pharmacology or any other copyrighted source.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Reference: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 (2026). Claude (Sonnet 5) [Large language model]. https://claude.ai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nicalTealCoral">
  <a:themeElements>
    <a:clrScheme name="ClinicalTealCoral">
      <a:dk1>
        <a:srgbClr val="1A1A1A"/>
      </a:dk1>
      <a:lt1>
        <a:srgbClr val="FFFFFF"/>
      </a:lt1>
      <a:dk2>
        <a:srgbClr val="123C44"/>
      </a:dk2>
      <a:lt2>
        <a:srgbClr val="E8F1F0"/>
      </a:lt2>
      <a:accent1>
        <a:srgbClr val="0F7173"/>
      </a:accent1>
      <a:accent2>
        <a:srgbClr val="D1495B"/>
      </a:accent2>
      <a:accent3>
        <a:srgbClr val="E9A23B"/>
      </a:accent3>
      <a:accent4>
        <a:srgbClr val="2A6F97"/>
      </a:accent4>
      <a:accent5>
        <a:srgbClr val="6B9080"/>
      </a:accent5>
      <a:accent6>
        <a:srgbClr val="5C6B73"/>
      </a:accent6>
      <a:hlink>
        <a:srgbClr val="0F7173"/>
      </a:hlink>
      <a:folHlink>
        <a:srgbClr val="123C44"/>
      </a:folHlink>
    </a:clrScheme>
    <a:fontScheme name="ClinicalTealCor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4795</Words>
  <Application>Microsoft Macintosh PowerPoint</Application>
  <PresentationFormat>Widescreen</PresentationFormat>
  <Paragraphs>568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Arial</vt:lpstr>
      <vt:lpstr>Calibri</vt:lpstr>
      <vt:lpstr>Cambria</vt:lpstr>
      <vt:lpstr>ClinicalTealCoral</vt:lpstr>
      <vt:lpstr>Introduction to Pharmacology</vt:lpstr>
      <vt:lpstr>Learning Objectives — Session 1</vt:lpstr>
      <vt:lpstr>Required &amp; Recommended Readings — Unit 1</vt:lpstr>
      <vt:lpstr>01</vt:lpstr>
      <vt:lpstr>What Is Pharmacology?</vt:lpstr>
      <vt:lpstr>The Major Branches of Pharmacology</vt:lpstr>
      <vt:lpstr>Chemical, Generic, and Brand Names</vt:lpstr>
      <vt:lpstr>Quick Check</vt:lpstr>
      <vt:lpstr>Answer</vt:lpstr>
      <vt:lpstr>02</vt:lpstr>
      <vt:lpstr>Where Do New Drugs Come From?</vt:lpstr>
      <vt:lpstr>From Discovery to Patient</vt:lpstr>
      <vt:lpstr>Clinical Trial Phases</vt:lpstr>
      <vt:lpstr>Evidence-Based Drug Approval</vt:lpstr>
      <vt:lpstr>Would You Prescribe It?</vt:lpstr>
      <vt:lpstr>Quick Check</vt:lpstr>
      <vt:lpstr>Answer</vt:lpstr>
      <vt:lpstr>03</vt:lpstr>
      <vt:lpstr>Pharmacodynamics in One Pathway</vt:lpstr>
      <vt:lpstr>The Five Major Drug Target Classes</vt:lpstr>
      <vt:lpstr>The Receptor Concept</vt:lpstr>
      <vt:lpstr>Agonists vs. Antagonists</vt:lpstr>
      <vt:lpstr>Visualizing Agonist &amp; Antagonist Effects</vt:lpstr>
      <vt:lpstr>Quick Check</vt:lpstr>
      <vt:lpstr>Answer</vt:lpstr>
      <vt:lpstr>Agonism in Practice: Albuterol</vt:lpstr>
      <vt:lpstr>Quick Check</vt:lpstr>
      <vt:lpstr>Answer</vt:lpstr>
      <vt:lpstr>04</vt:lpstr>
      <vt:lpstr>The Dose-Response Curve</vt:lpstr>
      <vt:lpstr>The Sigmoidal Dose-Response Curve</vt:lpstr>
      <vt:lpstr>Quick Check</vt:lpstr>
      <vt:lpstr>Answer</vt:lpstr>
      <vt:lpstr>Potency vs. Efficacy</vt:lpstr>
      <vt:lpstr>Potency vs. Efficacy, Side by Side</vt:lpstr>
      <vt:lpstr>Quick Check</vt:lpstr>
      <vt:lpstr>Answer</vt:lpstr>
      <vt:lpstr>The Therapeutic Index</vt:lpstr>
      <vt:lpstr>Wide vs. Narrow Therapeutic Index</vt:lpstr>
      <vt:lpstr>Quick Check</vt:lpstr>
      <vt:lpstr>Answer</vt:lpstr>
      <vt:lpstr>Quick Check</vt:lpstr>
      <vt:lpstr>Answer</vt:lpstr>
      <vt:lpstr>05</vt:lpstr>
      <vt:lpstr>ADME</vt:lpstr>
      <vt:lpstr>The ADME Compartment Model</vt:lpstr>
      <vt:lpstr>Quick Check</vt:lpstr>
      <vt:lpstr>Answer</vt:lpstr>
      <vt:lpstr>Routes of Administration</vt:lpstr>
      <vt:lpstr>Bioavailability</vt:lpstr>
      <vt:lpstr>The First-Pass Effect</vt:lpstr>
      <vt:lpstr>Distribution</vt:lpstr>
      <vt:lpstr>The Blood-Brain Barrier</vt:lpstr>
      <vt:lpstr>Quick Check</vt:lpstr>
      <vt:lpstr>Answer</vt:lpstr>
      <vt:lpstr>Session 1 Recap — To Be Continued</vt:lpstr>
      <vt:lpstr>Image Attribution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Diane Allen-Gipson</cp:lastModifiedBy>
  <cp:revision>1</cp:revision>
  <dcterms:created xsi:type="dcterms:W3CDTF">2026-10-12T01:30:31Z</dcterms:created>
  <dcterms:modified xsi:type="dcterms:W3CDTF">2026-10-13T14:44:47Z</dcterms:modified>
</cp:coreProperties>
</file>