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rug Metabolism" id="{8EFF3BBB-EA99-C405-E5FD-75EE4E8B3299}">
          <p14:sldIdLst>
            <p14:sldId id="256"/>
            <p14:sldId id="257"/>
            <p14:sldId id="258"/>
          </p14:sldIdLst>
        </p14:section>
        <p14:section name="Default-1" id="{B28F1A5E-6C8A-5248-5DAD-48D769721BD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Drug Excretion" id="{DBF370DF-4114-F4FE-E507-2FFE35754542}">
          <p14:sldIdLst>
            <p14:sldId id="267"/>
          </p14:sldIdLst>
        </p14:section>
        <p14:section name="Default-2" id="{8F0F4A9E-4892-79C5-D1D6-6935E1A9BA16}">
          <p14:sldIdLst>
            <p14:sldId id="268"/>
            <p14:sldId id="269"/>
            <p14:sldId id="270"/>
            <p14:sldId id="271"/>
            <p14:sldId id="272"/>
          </p14:sldIdLst>
        </p14:section>
        <p14:section name="Pharmacokinetic Calculations" id="{A786EA3B-8553-4CDE-53C1-4128FD14B467}">
          <p14:sldIdLst>
            <p14:sldId id="273"/>
          </p14:sldIdLst>
        </p14:section>
        <p14:section name="Default-3" id="{15581A4E-EF6A-E2DD-9494-A79A58E2216E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Pharmacogenomics" id="{29578063-9ACE-D37E-6E04-2ED43BC7D815}">
          <p14:sldIdLst>
            <p14:sldId id="286"/>
          </p14:sldIdLst>
        </p14:section>
        <p14:section name="Default-4" id="{F9F6B82D-2826-FD67-7B77-694CF305308B}">
          <p14:sldIdLst>
            <p14:sldId id="287"/>
            <p14:sldId id="288"/>
            <p14:sldId id="289"/>
            <p14:sldId id="290"/>
            <p14:sldId id="291"/>
          </p14:sldIdLst>
        </p14:section>
        <p14:section name="Putting It All Together" id="{FEEDE4DD-6577-9FD2-5D21-C4B807275F47}">
          <p14:sldIdLst>
            <p14:sldId id="292"/>
          </p14:sldIdLst>
        </p14:section>
        <p14:section name="Default-5" id="{5EAA1A17-BF61-2E03-4635-F8D4F279F6C1}">
          <p14:sldIdLst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Lecture Recall Quiz" id="{DB98696B-59F7-7D54-E830-B8806AAE5D43}">
          <p14:sldIdLst>
            <p14:sldId id="300"/>
          </p14:sldIdLst>
        </p14:section>
        <p14:section name="Default-6" id="{C775B0E1-9106-4041-C3AE-6F3E200A4BC8}">
          <p14:sldIdLst>
            <p14:sldId id="301"/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3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3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72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recap Session 1 (Oct 15) before diving in: language of pharmacology, drug development/regulation, pharmacodynamics, dose-response, and ADME through distribution. Today picks up with metabolism (Section 6) and runs through the integrated clinical framework and recall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Thursday’s acetaminophen toxicity lecture here — NAPQI is the textbook example of a toxic metabolite produced by normal Phase I metabolism.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I often comes before Phase II, but not always — some drugs go straight to conjugation.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highest-yield concepts in all of pharmacology — nearly every major drug class has at least one clinically important CYP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graphical version of the previous slide — point out how far inhibition pushes the level above 100% (toxicity risk) versus how far induction pushes it below 100% (therapeutic failure risk).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Urine pH manipulation (e.g., alkalinizing urine in aspirin overdose) works by trapping ionized drug in the tubule, blocking reabsorption.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pharmacokinetic foundation for the renal-impairment clinical case coming up next, and for the NSAID-in-CKD case on Thursday.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each marked half-life on the curve — this visual is what students should picture whenever a half-life-based elimination question comes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Loading doses are based on Vd; maintenance doses are based on clearance — worth stating explicitly if students have seen the formulas.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graphical version of the previous slide’s three definitions — trace the sawtooth climb for maintenance-only dosing, then show how the loading dose starts at the target level right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logic explicitly: clearance down -&gt; half-life up -&gt; time to steady state up -&gt; accumulation risk up if the regimen is not adjusted.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will see HLA-B*5801 and allopurinol again directly in Thursday’s gout lecture — flag that connection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list previews exactly the checklist students will apply in the Thursday MSK cases (NSAID in CKD, methotrexate in pregnancy, etc.) — tell them explicitly to memorize this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telling students these five ideas are the toolkit they will use for every single drug class for the rest of the course, starting with musculoskeletal pharmacology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revisit this quiz on their own before the exam — it is designed as a standalone recall resource, separate from the in-lecture quick checks, and now spans both Session 1 and Session 2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documents AI-tool use for original figure generation per university citation requirements. It covers every original diagram in this deck (Figures 6–8); none are reproduced from any textbook.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3C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1234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b="1" kern="0" spc="2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b="1" kern="0" spc="2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KICKER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1783080"/>
            <a:ext cx="100584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22960" y="3794760"/>
            <a:ext cx="9692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9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9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</a:t>
            </a: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71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29260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3429000"/>
            <a:ext cx="9692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</a:t>
            </a: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KICKER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Pharmacology — Session 2 of 2 — PA Program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KICKER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64008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Pharmacology — Session 2 of 2 — PA Program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C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50292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15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b="1" kern="0" spc="15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KICKER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804672"/>
            <a:ext cx="100584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82296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Pharmacology — Session 2 of 2 — PA Program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822960" cy="82296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harm_decks/assets/icons/p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700430"/>
            <a:ext cx="427939" cy="427939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1234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PHARMACOLOGY COURSE · LECTURE 1 · SESSION 2 OF 2</a:t>
            </a:r>
            <a:endParaRPr lang="en-US" sz="14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178308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Pharmacology</a:t>
            </a:r>
            <a:endParaRPr lang="en-US" sz="4000" dirty="0"/>
          </a:p>
        </p:txBody>
      </p:sp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822960" y="379476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Metabolism, Excretion, PK Calculations, Pharmacogenomics &amp; Clinical Integration  |  Thursday, October 22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22960" y="5074920"/>
            <a:ext cx="1005840" cy="0"/>
          </a:xfrm>
          <a:prstGeom prst="line">
            <a:avLst/>
          </a:prstGeom>
          <a:noFill/>
          <a:ln w="1905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51937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Diane S. Allen-Gipson, Ph.D., M.S., Course Director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LECTURE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 — Session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Session 1 covered pharmacology vocabulary, drug development, pharmacodynamics, dose-response relationships, and ADME through distribution.</a:t>
            </a:r>
            <a:endParaRPr lang="en-US" sz="16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drug biotransformation (Phase I/II metabolism) and the clinical impact of CYP450 enzyme inhibition and induction.</a:t>
            </a:r>
            <a:endParaRPr lang="en-US" sz="16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mechanisms of drug excretion and how renal function affects dosing.</a:t>
            </a:r>
            <a:endParaRPr lang="en-US" sz="16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and apply basic pharmacokinetic parameters (half-life, steady state, clearance).</a:t>
            </a:r>
            <a:endParaRPr lang="en-US" sz="16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pharmacogenomic variation can alter drug response.</a:t>
            </a:r>
            <a:endParaRPr lang="en-US" sz="16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structured framework to clinical prescribing decisions.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342900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Metabolism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body chemically transforms drugs.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0" y="685800"/>
            <a:ext cx="1051560" cy="105156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harm_decks/assets/icons/li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774" y="938174"/>
            <a:ext cx="546811" cy="5468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Metabolize Drugs?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li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Inactivate an active drug, making it easier to excrete.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a prodrug into its active form.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 active metabolite that contributes to (or extends) the drug effect.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 produce a toxic metabolite — the basis of some drug-induced organ injury.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I vs. Phase II Reactions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12080" cy="502920"/>
          </a:xfrm>
          <a:prstGeom prst="roundRect">
            <a:avLst>
              <a:gd name="adj" fmla="val 18182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856232"/>
            <a:ext cx="5212080" cy="256032"/>
          </a:xfrm>
          <a:prstGeom prst="rect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41248" y="160020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I — Functionalization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28600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Oxidation, reduction, hydrolysis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carried out by cytochrome P450 (CYP450) enzymes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creates or unmasks a reactive functional group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0" y="160020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09360" y="1600200"/>
            <a:ext cx="5212080" cy="502920"/>
          </a:xfrm>
          <a:prstGeom prst="roundRect">
            <a:avLst>
              <a:gd name="adj" fmla="val 18182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09360" y="1856232"/>
            <a:ext cx="5212080" cy="256032"/>
          </a:xfrm>
          <a:prstGeom prst="rect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510528" y="160020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II — Conjugation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228600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Glucuronidation, sulfation, acetylation, methylation, glutathione conjugation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a polar group to the molecule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more water-soluble product for renal/biliary excretion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CRITICAL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CYP450 Drug Interactions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Enzyme inhibition: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drug slows a CYP enzyme, raising the blood level of any drug that CYP normally clears.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Enzyme induction: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drug increases CYP enzyme production, lowering the blood level (and effect) of drugs that CYP clears.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Drug A inhibits CYP3A4 → Drug B (a CYP3A4 substrate) accumulates → toxicity risk rises.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ILLUSTRATION · FIGURE 6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CYP450 Inhibition vs. Induction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pic>
        <p:nvPicPr>
          <p:cNvPr id="6" name="Image 1" descr="/home/claude/pharm_decks/assets/figures/cyp_inhibition_indu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190" y="1554480"/>
            <a:ext cx="6835140" cy="4160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5788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 Original illustrative bar chart (illustrative values): a CYP450 inhibitor raises a substrate drug’s blood level; an inducer lowers it.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FIGURE 6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Figure 6, the "+ Enzyme inhibitor" bar rises to 240% of baseline, while the "+ Enzyme inducer" bar falls to 42%. For a patient on a stable dose of the substrate drug, which condition poses the greatest risk of toxicity?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metabolism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induction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condition changes risk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inhibition — because it raises the substrate drug’s blood level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FIGURE 6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inhibition — because it raises the substrate drug’s blood level.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tallest bar in the chart is the enzyme-inhibitor condition at 240% of baseline — the substrate drug accumulates because it can no longer be cleared normally, raising toxicity risk. The inducer bar shows the opposite problem (42%, risking therapeutic failure), not toxicity.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DRUG METABOLISM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stable on a CYP3A4-substrate medication with a narrow therapeutic index is started on a new drug that is a strong CYP3A4 inhibitor. What is the most likely consequence?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change, since CYP3A4 only affects Phase II metabolism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Decreased substrate drug level and reduced effect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substrate drug level and increased toxicity risk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renal clearance of the substrate drug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DRUG METABOLISM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substrate drug level and increased toxicity risk.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Inhibiting the CYP enzyme responsible for clearing the substrate drug slows its metabolism, raising its blood level — especially dangerous when the substrate has a narrow therapeutic index.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342900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Excretion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drug from the body.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0" y="685800"/>
            <a:ext cx="1051560" cy="105156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harm_decks/assets/icons/kid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774" y="938174"/>
            <a:ext cx="546811" cy="5468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 of Drug Elimination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kid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856232"/>
            <a:ext cx="5257800" cy="256032"/>
          </a:xfrm>
          <a:prstGeom prst="rect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41248" y="160020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Kidney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286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route for most drugs and metabolites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63640" y="1856232"/>
            <a:ext cx="5257800" cy="256032"/>
          </a:xfrm>
          <a:prstGeom prst="rect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64808" y="160020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Bile / Feces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286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for some large or protein-bound drugs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" y="402336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0080" y="4279392"/>
            <a:ext cx="5257800" cy="256032"/>
          </a:xfrm>
          <a:prstGeom prst="rect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41248" y="402336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Lungs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agents (e.g., anesthetic gases)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6364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263640" y="402336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63640" y="4279392"/>
            <a:ext cx="5257800" cy="256032"/>
          </a:xfrm>
          <a:prstGeom prst="rect">
            <a:avLst/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464808" y="402336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Sweat / Breast Milk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routes, but breast milk matters for lactating patients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KIDNEY IN DETAIL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Renal Elimination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kid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Glomerular filtration: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(unbound) drug passes from blood into the renal tubule based on molecular size.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Tubular secretion: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transporters move additional drug from blood into the tubule.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Tubular reabsorption: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lipophilic, un-ionized drug can passively diffuse back into the blood, reducing net elimination.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Renal Disease and Drug Dosing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Decreased renal function → decreased drug clearance → increased drug exposure and accumulation risk.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and creatinine clearance (CrCl) are the standard bedside estimates of renal function used to adjust dosing.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renally-cleared, narrow-therapeutic-index drug (think: many antibiotics, digoxin, lithium) needs a dose or interval adjustment in renal impairment.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DRUG EXCRETION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kid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patient’s eGFR drops significantly due to new chronic kidney disease. For a drug that is primarily renally eliminated, what dosing adjustment is most appropriate?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adjustment is needed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dose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IV administration only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the dose and/or extend the dosing interval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DRUG EXCRETION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the dose and/or extend the dosing interval.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renal clearance raises drug exposure for renally-eliminated drugs; the standard response is a lower dose, a longer interval, or both, guided by eGFR/CrCl.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6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342900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Pharmacokinetic Calculations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PAs actually use at the bedside.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0" y="685800"/>
            <a:ext cx="1051560" cy="105156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774" y="938174"/>
            <a:ext cx="546811" cy="5468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PARAMETER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Half-Life (t½)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 (t½) = the time required for the plasma drug concentration to fall by 50%.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 is determined by clearance and volume of distribution together — it is not a fixed drug "property" independent of physiology.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drug is roughly 97% eliminated after about 5 half-lives.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6BEF7-8903-7567-46F7-5863FAF997B7}"/>
              </a:ext>
            </a:extLst>
          </p:cNvPr>
          <p:cNvSpPr txBox="1"/>
          <p:nvPr/>
        </p:nvSpPr>
        <p:spPr>
          <a:xfrm>
            <a:off x="226423" y="3172598"/>
            <a:ext cx="55038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1: Basic decay: </a:t>
            </a:r>
          </a:p>
          <a:p>
            <a:r>
              <a:rPr lang="en-US" b="1" i="1" dirty="0"/>
              <a:t>Formula: C(t) = C</a:t>
            </a:r>
            <a:r>
              <a:rPr lang="en-US" b="1" i="1" baseline="-25000" dirty="0"/>
              <a:t>o</a:t>
            </a:r>
            <a:r>
              <a:rPr lang="en-US" b="1" i="1" dirty="0"/>
              <a:t> x (1/2)^(t/t</a:t>
            </a:r>
            <a:r>
              <a:rPr lang="en-US" b="1" i="1" baseline="-25000" dirty="0"/>
              <a:t>1/2</a:t>
            </a:r>
            <a:r>
              <a:rPr lang="en-US" b="1" i="1" dirty="0"/>
              <a:t>)</a:t>
            </a:r>
          </a:p>
          <a:p>
            <a:r>
              <a:rPr lang="en-US" dirty="0"/>
              <a:t>A drug has a half-life of 6 hours. A Patient receives an IV dose giving a starting plasma concentration of 100mg/L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 = 6 h (1 half-life): 50mg/L (50% remains)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 = 12 h (2 half-life): 25 mg/L (75% eliminated)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 = 18 h (3 half-life): 12.5 mg/L (87.5% eliminated)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 = 24 h (4 half-life): 6.25 mg/L  (93.75% eliminated)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 = 30 h (5 half-life): 3.125 mg/L (97% eliminated)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07D559-3DCE-2BF4-629F-F9641934D5F9}"/>
              </a:ext>
            </a:extLst>
          </p:cNvPr>
          <p:cNvSpPr txBox="1"/>
          <p:nvPr/>
        </p:nvSpPr>
        <p:spPr>
          <a:xfrm>
            <a:off x="6080760" y="3037378"/>
            <a:ext cx="55038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</a:t>
            </a:r>
            <a:r>
              <a:rPr lang="en-US" b="1" dirty="0"/>
              <a:t>: </a:t>
            </a:r>
            <a:r>
              <a:rPr lang="en-US" dirty="0"/>
              <a:t>Percentage-based half-life: Basic decay</a:t>
            </a:r>
          </a:p>
          <a:p>
            <a:r>
              <a:rPr lang="en-US" b="1" i="1" dirty="0"/>
              <a:t>Formula: % remaining = 100% x (1/2)^(number of half-life)</a:t>
            </a:r>
          </a:p>
          <a:p>
            <a:r>
              <a:rPr lang="en-US" dirty="0"/>
              <a:t> A drug has a half-life of 6 hours. A Patient receives an IV dose giving a starting plasma concentration of 100mg/L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 half-life: 50% remains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half-life: 25% remains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 half-life: 12.5% remains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 half-life:  6.25% remains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 half-life:  3.125% remains (estimated 97% “eliminated”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ILLUSTRATION · FIGURE 7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Exponential Decay Over Half-Lives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pic>
        <p:nvPicPr>
          <p:cNvPr id="6" name="Image 1" descr="/home/claude/pharm_decks/assets/figures/half_life_dec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715" y="1554480"/>
            <a:ext cx="7578090" cy="4160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5788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 Original illustrative decay curve: plasma concentration falls by 50% with each half-life, leaving ~3% remaining after 5 half-lives.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FIGURE 7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Figure 7, approximately what percentage of the original drug concentration remains after 3 half-lives (3 t½)?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FIGURE 7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half-life cuts the remaining concentration in half: 100% → 50% (1 t½) → 25% (2 t½) → 12.5% (3 t½), exactly as marked on the curve. By 5 half-lives the drug is roughly 97% eliminated (about 3% remaining).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DOSING IN PRACTICE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 State, Loading, and Maintenance Dosing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Steady state: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at which drug intake equals drug elimination; reached in about 4–5 half-lives with regular dosing.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Loading dose: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initial dose used to rapidly reach a therapeutic concentration, without waiting for steady state.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Maintenance dose: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regular, ongoing dose that keeps the drug within the therapeutic range once steady state is reached.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ILLUSTRATION · FIGURE 8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Reaching Steady State: With and Without a Loading Dose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pic>
        <p:nvPicPr>
          <p:cNvPr id="6" name="Image 1" descr="/home/claude/pharm_decks/assets/figures/steady_s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25" y="1554480"/>
            <a:ext cx="7875270" cy="4160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5788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8. Original illustrative multi-dose simulation: maintenance dosing alone climbs gradually to steady state; adding a loading dose reaches the target level immediately.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FIGURE 8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Figure 8, the dashed orange line (loading dose + maintenance) starts at the target concentration immediately, while the solid teal line (maintenance only) climbs gradually over several doses. What is the clinical advantage of adding a loading dose?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permanently lowers the maintenance dose needed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eliminates the need for monitoring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 advantage over maintenance dosing alone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reaches the therapeutic target immediately instead of waiting ~4–5 half-lives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FIGURE 8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reaches the therapeutic target immediately instead of waiting ~4–5 half-lives.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dashed loading-dose curve starts at the dotted steady-state line from the very first dose, while the solid maintenance-only curve needs several dosing intervals (~4–5 half-lives) to climb to that same level — exactly as defined on the previous slide. A loading dose does not change the maintenance dose itself or remove the need for monitoring.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OF ELIMINATION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kid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= the volume of plasma from which drug is completely removed per unit time.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determines how efficiently a drug is removed from the body — and, along with Vd, determines half-life.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clearance is usually the sum of hepatic and renal clearance.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CASE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Renal Impairment and Drug Accumulation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14400" y="1810512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significant chronic kidney disease is prescribed a medication that is primarily eliminated unchanged by the kidney.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886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 </a:t>
            </a:r>
            <a:r>
              <a:rPr lang="en-US" sz="18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drug’s concentration and half-life, and would you adjust the dose, the dosing interval, or both?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0749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pearl:  </a:t>
            </a: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clearance raises drug concentration and prolongs half-life; many renally-cleared drugs are managed by extending the dosing interval, reducing the dose, or both, guided by eGFR/CrCl.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PHARMACOKINETIC CALCULATIONS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how many half-lives are required for a drug to reach steady state with regular, repeated dosing?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 is reached immediately after the first dose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PHARMACOKINETIC CALCULATIONS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half-lives.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 — where drug intake equals drug elimination — is reached in roughly 4–5 half-lives, regardless of dose size. This is also why a drug is roughly 97% eliminated about 5 half-lives after stopping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6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342900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Pharmacogenomics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same dose does not work the same way in everyone.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0" y="685800"/>
            <a:ext cx="1051560" cy="105156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774" y="938174"/>
            <a:ext cx="546811" cy="54681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Pharmacogenomics?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Pharmacogenomics studies how genetic variation changes an individual’s response to a drug.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variation can alter:</a:t>
            </a:r>
            <a:endParaRPr lang="en-US" sz="1600" dirty="0"/>
          </a:p>
          <a:p>
            <a:pPr marL="457200" lvl="1" indent="-228600" algn="l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metabolism (e.g., CYP enzyme activity)</a:t>
            </a:r>
            <a:endParaRPr lang="en-US" sz="1600" dirty="0"/>
          </a:p>
          <a:p>
            <a:pPr marL="457200" lvl="1" indent="-228600" algn="l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transport across membranes</a:t>
            </a:r>
            <a:endParaRPr lang="en-US" sz="1600" dirty="0"/>
          </a:p>
          <a:p>
            <a:pPr marL="457200" lvl="1" indent="-228600" algn="l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target structure or expression</a:t>
            </a:r>
            <a:endParaRPr lang="en-US" sz="1600" dirty="0"/>
          </a:p>
          <a:p>
            <a:pPr marL="457200" lvl="1" indent="-228600" algn="l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drug response and risk of adverse reactions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EXAMPLES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Pharmacogenomics in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856232"/>
            <a:ext cx="5257800" cy="256032"/>
          </a:xfrm>
          <a:prstGeom prst="rect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41248" y="160020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CYP2D6 Variation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286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Alters metabolism of many antidepressants, opioids (e.g., codeine activation)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63640" y="1856232"/>
            <a:ext cx="5257800" cy="256032"/>
          </a:xfrm>
          <a:prstGeom prst="rect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64808" y="160020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CYP2C19 Variation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286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clopidogrel activation and some antidepressant/PPI dosing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" y="402336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0080" y="4279392"/>
            <a:ext cx="5257800" cy="256032"/>
          </a:xfrm>
          <a:prstGeom prst="rect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41248" y="402336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TPMT Variation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Deficiency raises toxicity risk with thiopurine drugs (e.g., azathioprine)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63640" y="402336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263640" y="402336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63640" y="4279392"/>
            <a:ext cx="5257800" cy="256032"/>
          </a:xfrm>
          <a:prstGeom prst="rect">
            <a:avLst/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464808" y="4023360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HLA-Associated Reactions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HLA alleles sharply raise risk of severe hypersensitivity to specific drugs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Pharmacotherapy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377440"/>
            <a:ext cx="1869034" cy="1600200"/>
          </a:xfrm>
          <a:prstGeom prst="roundRect">
            <a:avLst>
              <a:gd name="adj" fmla="val 4571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13232" y="2377440"/>
            <a:ext cx="172273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09114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893162" y="2377440"/>
            <a:ext cx="1869034" cy="1600200"/>
          </a:xfrm>
          <a:prstGeom prst="roundRect">
            <a:avLst>
              <a:gd name="adj" fmla="val 4571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966314" y="2377440"/>
            <a:ext cx="172273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62195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146243" y="2377440"/>
            <a:ext cx="1869034" cy="1600200"/>
          </a:xfrm>
          <a:prstGeom prst="roundRect">
            <a:avLst>
              <a:gd name="adj" fmla="val 4571"/>
            </a:avLst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219395" y="2377440"/>
            <a:ext cx="172273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015277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399325" y="2377440"/>
            <a:ext cx="1869034" cy="1600200"/>
          </a:xfrm>
          <a:prstGeom prst="roundRect">
            <a:avLst>
              <a:gd name="adj" fmla="val 4571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472477" y="2377440"/>
            <a:ext cx="172273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268358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652406" y="2377440"/>
            <a:ext cx="1869034" cy="1600200"/>
          </a:xfrm>
          <a:prstGeom prst="roundRect">
            <a:avLst>
              <a:gd name="adj" fmla="val 4571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9725558" y="2377440"/>
            <a:ext cx="172273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Individualized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343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Pharmacogenomics is one input among several — genotype alone never dictates therapy in isolation.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PHARMACOGENOMICS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is found to carry the HLA-B*5801 allele before starting allopurinol. Why does this matter clinically?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identifies a sharply increased risk of a severe hypersensitivity reaction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reduced drug absorption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affects how the drug tastes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 bearing on drug selection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PHARMACOGENOMICS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identifies a sharply increased risk of a severe hypersensitivity reaction.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HLA-B*5801 is associated with severe hypersensitivity reactions to allopurinol — a textbook pharmacogenomic screening consideration you will see again in Thursday’s gout lecture.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342900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concepts to clinical decisions.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0" y="685800"/>
            <a:ext cx="1051560" cy="105156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harm_decks/assets/icons/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774" y="938174"/>
            <a:ext cx="546811" cy="54681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MODEL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Integrated Pharmacology Pathway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377440"/>
            <a:ext cx="1225296" cy="1600200"/>
          </a:xfrm>
          <a:prstGeom prst="roundRect">
            <a:avLst>
              <a:gd name="adj" fmla="val 5970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13232" y="2377440"/>
            <a:ext cx="1078992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865376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49424" y="2377440"/>
            <a:ext cx="1225296" cy="1600200"/>
          </a:xfrm>
          <a:prstGeom prst="roundRect">
            <a:avLst>
              <a:gd name="adj" fmla="val 5970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322576" y="2377440"/>
            <a:ext cx="1078992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74720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858768" y="2377440"/>
            <a:ext cx="1225296" cy="1600200"/>
          </a:xfrm>
          <a:prstGeom prst="roundRect">
            <a:avLst>
              <a:gd name="adj" fmla="val 5970"/>
            </a:avLst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931920" y="2377440"/>
            <a:ext cx="1078992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84064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468112" y="2377440"/>
            <a:ext cx="1225296" cy="1600200"/>
          </a:xfrm>
          <a:prstGeom prst="roundRect">
            <a:avLst>
              <a:gd name="adj" fmla="val 5970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541264" y="2377440"/>
            <a:ext cx="1078992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93408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077456" y="2377440"/>
            <a:ext cx="1225296" cy="1600200"/>
          </a:xfrm>
          <a:prstGeom prst="roundRect">
            <a:avLst>
              <a:gd name="adj" fmla="val 5970"/>
            </a:avLst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150608" y="2377440"/>
            <a:ext cx="1078992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302752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686800" y="2377440"/>
            <a:ext cx="1225296" cy="1600200"/>
          </a:xfrm>
          <a:prstGeom prst="roundRect">
            <a:avLst>
              <a:gd name="adj" fmla="val 5970"/>
            </a:avLst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8759952" y="2377440"/>
            <a:ext cx="1078992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912096" y="2994660"/>
            <a:ext cx="384048" cy="365760"/>
          </a:xfrm>
          <a:prstGeom prst="chevron">
            <a:avLst/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0296144" y="2377440"/>
            <a:ext cx="1225296" cy="1600200"/>
          </a:xfrm>
          <a:prstGeom prst="roundRect">
            <a:avLst>
              <a:gd name="adj" fmla="val 5970"/>
            </a:avLst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10369296" y="2377440"/>
            <a:ext cx="1078992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Excretion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4343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topic in this lecture is a stop somewhere along this pathway — use it as your mental checklist when you evaluate any drug.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PRESCRIBE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Clinical Decision-Making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 — is there a clear reason to treat?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 and allergies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and hepatic function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interactions (including CYP450)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pregnancy, and other patient-specific factors</a:t>
            </a:r>
            <a:endParaRPr lang="en-US" sz="16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dose, route, and monitoring plan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VIGNETTE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CYP Interaction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14400" y="1810512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stable on a CYP3A4-substrate medication is started on a new drug that is a potent CYP3A4 inhibitor.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886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 </a:t>
            </a:r>
            <a:r>
              <a:rPr lang="en-US" sz="18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first drug’s level, and what would you watch for clinically?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0749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pearl:  </a:t>
            </a: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for CYP450 interactions before adding a new drug to an existing regimen — this is one of the most preventable causes of toxicity.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VIGNETTE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Agonist or Antagonist?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14400" y="1810512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is given a drug that binds the same receptor as their home medication, but their home medication’s effect becomes weaker after the new drug is started.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886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 </a:t>
            </a:r>
            <a:r>
              <a:rPr lang="en-US" sz="18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new drug most likely a competitive antagonist, and how could you confirm it pharmacologically?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0749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pearl:  </a:t>
            </a: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competitive antagonist can be overcome by increasing the agonist dose — if raising the home medication’s dose restores the effect, that supports competitive (rather than irreversible) antagonism.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PUTTING IT ALL TOGETHER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0F71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prescribing any new medication, which single check is most directly aimed at preventing a toxic, often-predictable drug-drug interaction?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the drug’s brand name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29443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28232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6791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drug’s chemical name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the drug’s half-life alone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28232" y="4315968"/>
            <a:ext cx="420624" cy="420624"/>
          </a:xfrm>
          <a:prstGeom prst="ellipse">
            <a:avLst/>
          </a:prstGeom>
          <a:solidFill>
            <a:srgbClr val="2A6F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2823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50792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CYP450 interactions with the patient’s current medications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PUTTING IT ALL TOGETHER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F1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6B9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18516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17373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CYP450 interactions with the patient’s current medications.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546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CYP450 interaction screening is one of the single highest-yield steps for preventing predictable, preventable toxicity before adding any new drug to a regimen.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50292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80467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56816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56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83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Pharmacodynamics = what the drug does to the body (receptors, potency, efficacy).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2871216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6974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 = what the body does to the drug (ADME).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3785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6118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 interactions (agonism, antagonism) explain most drug effects.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22960" y="4700016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4700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5262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 together determine how much drug reaches the target, and for how long.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22960" y="5614416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5614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4406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 factors — renal/hepatic function, genetics, interactions — determine the individual response.</a:t>
            </a:r>
            <a:endParaRPr lang="en-US" sz="16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342900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Recall Quiz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cumulative self-test covering both sessions — use this to review before exams.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0" y="685800"/>
            <a:ext cx="1051560" cy="1051560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harm_decks/assets/icons/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774" y="938174"/>
            <a:ext cx="546811" cy="54681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RECALL QUIZ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Recall Quiz (1 of 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drug has high potency but low efficacy compared to an alternative. For a patient needing maximum symptom relief, which factor matters more when choosing between the two?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Efficacy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Potency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Both matter equally</a:t>
            </a:r>
            <a:endParaRPr lang="en-US" sz="1450" dirty="0"/>
          </a:p>
          <a:p>
            <a:pPr marL="0" lvl="1" indent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Neither predicts clinical benefit</a:t>
            </a:r>
            <a:endParaRPr lang="en-US" sz="14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patient with CKD is prescribed a renally-cleared, narrow-TI drug without dose adjustment. Which two consequences would you expect together?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Decreased half-life and decreased concentration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Increased clearance and decreased Vd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Increased half-life and increased concentration</a:t>
            </a:r>
            <a:endParaRPr lang="en-US" sz="1450" dirty="0"/>
          </a:p>
          <a:p>
            <a:pPr marL="0" lvl="1" indent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 change in either parameter</a:t>
            </a:r>
            <a:endParaRPr lang="en-US" sz="14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Which best differentiates a competitive antagonist from a noncompetitive antagonist?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Competitive lowers Emax; noncompetitive does not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Noncompetitive lowers Emax; competitive shifts the curve right without changing Emax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They are pharmacologically identical</a:t>
            </a:r>
            <a:endParaRPr lang="en-US" sz="1450" dirty="0"/>
          </a:p>
          <a:p>
            <a:pPr marL="0" lvl="1" indent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Only competitive antagonists cause adverse effects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RECALL QUIZ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Recall Quiz (2 of 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Drug A, a CYP enzyme inducer, is started in a patient taking Drug B, a substrate of that same CYP enzyme. What happens to Drug B’s level and effect?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Increases, raising toxicity risk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 change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Drug B’s route of elimination changes to biliary</a:t>
            </a:r>
            <a:endParaRPr lang="en-US" sz="1450" dirty="0"/>
          </a:p>
          <a:p>
            <a:pPr marL="0" lvl="1" indent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Decreases, risking therapeutic failure</a:t>
            </a:r>
            <a:endParaRPr lang="en-US" sz="14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 narrow-therapeutic-index medication requires monitoring. Which pharmacokinetic parameter most directly determines how long it takes to reach steady-state concentration?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Half-life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Bioavailability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Route of administration</a:t>
            </a:r>
            <a:endParaRPr lang="en-US" sz="1450" dirty="0"/>
          </a:p>
          <a:p>
            <a:pPr marL="0" lvl="1" indent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Chemical name</a:t>
            </a:r>
            <a:endParaRPr lang="en-US" sz="14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 PA reviews indication, contraindications, renal/hepatic function, interactions, and a monitoring plan before prescribing. This process best reflects: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Pharmacogenomic testing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Receptor pharmacology alone</a:t>
            </a:r>
            <a:endParaRPr lang="en-US" sz="145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clinical decision-making framework</a:t>
            </a:r>
            <a:endParaRPr lang="en-US" sz="1450" dirty="0"/>
          </a:p>
          <a:p>
            <a:pPr marL="0" lvl="1" indent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Phase IV surveillance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50292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80467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Recall Quiz — Answer Key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607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— </a:t>
            </a:r>
            <a:r>
              <a:rPr lang="en-US" sz="135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Efficacy (the maximum achievable effect) matters more than potency for most clinical outcomes.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 — </a:t>
            </a:r>
            <a:r>
              <a:rPr lang="en-US" sz="135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renal clearance raises both drug concentration and half-life.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 — </a:t>
            </a:r>
            <a:r>
              <a:rPr lang="en-US" sz="135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Noncompetitive/irreversible antagonists lower Emax; competitive antagonists shift the curve right without changing Emax.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 — </a:t>
            </a:r>
            <a:r>
              <a:rPr lang="en-US" sz="135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induction speeds substrate clearance, lowering its level and effect — the opposite of inhibition.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 — </a:t>
            </a:r>
            <a:r>
              <a:rPr lang="en-US" sz="135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steady state (about 4–5 half-lives) is governed by half-life.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 — </a:t>
            </a:r>
            <a:r>
              <a:rPr lang="en-US" sz="1350" dirty="0">
                <a:solidFill>
                  <a:srgbClr val="E8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checklist is the clinical decision-making framework from the "Putting It All Together" section.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Attribution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502920"/>
            <a:ext cx="566928" cy="566928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harm_decks/assets/icons/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863" y="638983"/>
            <a:ext cx="294803" cy="294803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1536192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Original figures in this deck: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6–8 (CYP450 Inhibition vs. Induction; Exponential Decay Over Half-Lives; Reaching Steady State: With and Without a Loading Dose) were generated by the course director using the AI tool Claude to illustrate standard, non-copyrighted pharmacologic concepts. They are original diagrams, not reproduced from Katzung’s Basic and Clinical Pharmacology or any other copyrighted source.</a:t>
            </a:r>
            <a:endParaRPr lang="en-US" sz="1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23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Reference: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 (2026). Claude (Sonnet 5) [Large language model]. https://claude.ai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nicalTealCoral">
  <a:themeElements>
    <a:clrScheme name="ClinicalTealCoral">
      <a:dk1>
        <a:srgbClr val="1A1A1A"/>
      </a:dk1>
      <a:lt1>
        <a:srgbClr val="FFFFFF"/>
      </a:lt1>
      <a:dk2>
        <a:srgbClr val="123C44"/>
      </a:dk2>
      <a:lt2>
        <a:srgbClr val="E8F1F0"/>
      </a:lt2>
      <a:accent1>
        <a:srgbClr val="0F7173"/>
      </a:accent1>
      <a:accent2>
        <a:srgbClr val="D1495B"/>
      </a:accent2>
      <a:accent3>
        <a:srgbClr val="E9A23B"/>
      </a:accent3>
      <a:accent4>
        <a:srgbClr val="2A6F97"/>
      </a:accent4>
      <a:accent5>
        <a:srgbClr val="6B9080"/>
      </a:accent5>
      <a:accent6>
        <a:srgbClr val="5C6B73"/>
      </a:accent6>
      <a:hlink>
        <a:srgbClr val="0F7173"/>
      </a:hlink>
      <a:folHlink>
        <a:srgbClr val="123C44"/>
      </a:folHlink>
    </a:clrScheme>
    <a:fontScheme name="ClinicalTealCor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3751</Words>
  <Application>Microsoft Macintosh PowerPoint</Application>
  <PresentationFormat>Widescreen</PresentationFormat>
  <Paragraphs>473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Cambria</vt:lpstr>
      <vt:lpstr>ClinicalTealCoral</vt:lpstr>
      <vt:lpstr>Introduction to Pharmacology</vt:lpstr>
      <vt:lpstr>Learning Objectives — Session 2</vt:lpstr>
      <vt:lpstr>06</vt:lpstr>
      <vt:lpstr>Why Do We Metabolize Drugs?</vt:lpstr>
      <vt:lpstr>Phase I vs. Phase II Reactions</vt:lpstr>
      <vt:lpstr>CYP450 Drug Interactions</vt:lpstr>
      <vt:lpstr>CYP450 Inhibition vs. Induction</vt:lpstr>
      <vt:lpstr>Quick Check</vt:lpstr>
      <vt:lpstr>Answer</vt:lpstr>
      <vt:lpstr>Quick Check</vt:lpstr>
      <vt:lpstr>Answer</vt:lpstr>
      <vt:lpstr>07</vt:lpstr>
      <vt:lpstr>Routes of Drug Elimination</vt:lpstr>
      <vt:lpstr>Renal Elimination</vt:lpstr>
      <vt:lpstr>Renal Disease and Drug Dosing</vt:lpstr>
      <vt:lpstr>Quick Check</vt:lpstr>
      <vt:lpstr>Answer</vt:lpstr>
      <vt:lpstr>08</vt:lpstr>
      <vt:lpstr>Half-Life (t½)</vt:lpstr>
      <vt:lpstr>Exponential Decay Over Half-Lives</vt:lpstr>
      <vt:lpstr>Quick Check</vt:lpstr>
      <vt:lpstr>Answer</vt:lpstr>
      <vt:lpstr>Steady State, Loading, and Maintenance Dosing</vt:lpstr>
      <vt:lpstr>Reaching Steady State: With and Without a Loading Dose</vt:lpstr>
      <vt:lpstr>Quick Check</vt:lpstr>
      <vt:lpstr>Answer</vt:lpstr>
      <vt:lpstr>Clearance</vt:lpstr>
      <vt:lpstr>Renal Impairment and Drug Accumulation</vt:lpstr>
      <vt:lpstr>Quick Check</vt:lpstr>
      <vt:lpstr>Answer</vt:lpstr>
      <vt:lpstr>09</vt:lpstr>
      <vt:lpstr>What Is Pharmacogenomics?</vt:lpstr>
      <vt:lpstr>Pharmacogenomics in Practice</vt:lpstr>
      <vt:lpstr>Personalized Pharmacotherapy</vt:lpstr>
      <vt:lpstr>Quick Check</vt:lpstr>
      <vt:lpstr>Answer</vt:lpstr>
      <vt:lpstr>10</vt:lpstr>
      <vt:lpstr>One Integrated Pharmacology Pathway</vt:lpstr>
      <vt:lpstr>A Clinical Decision-Making Checklist</vt:lpstr>
      <vt:lpstr>CYP Interaction in Action</vt:lpstr>
      <vt:lpstr>Agonist or Antagonist?</vt:lpstr>
      <vt:lpstr>Quick Check</vt:lpstr>
      <vt:lpstr>Answer</vt:lpstr>
      <vt:lpstr>Key Takeaways</vt:lpstr>
      <vt:lpstr>11</vt:lpstr>
      <vt:lpstr>Lecture Recall Quiz (1 of 2)</vt:lpstr>
      <vt:lpstr>Lecture Recall Quiz (2 of 2)</vt:lpstr>
      <vt:lpstr>Lecture Recall Quiz — Answer Key</vt:lpstr>
      <vt:lpstr>Image Attribution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Diane Allen-Gipson</cp:lastModifiedBy>
  <cp:revision>2</cp:revision>
  <cp:lastPrinted>2026-10-22T01:21:37Z</cp:lastPrinted>
  <dcterms:created xsi:type="dcterms:W3CDTF">2026-10-12T01:30:32Z</dcterms:created>
  <dcterms:modified xsi:type="dcterms:W3CDTF">2026-10-22T01:23:07Z</dcterms:modified>
</cp:coreProperties>
</file>