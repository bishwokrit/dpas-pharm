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sldSz cx="12192000" cy="6858000"/>
  <p:notesSz cx="6858000" cy="12192000"/>
  <p:embeddedFontLst>
    <p:embeddedFont>
      <p:font typeface="Caladea Bold" panose="02040803050406030204" pitchFamily="18" charset="77"/>
      <p:regular r:id="rId75"/>
      <p:bold r:id="rId76"/>
    </p:embeddedFont>
    <p:embeddedFont>
      <p:font typeface="Carlito" panose="020F0502020204030204" pitchFamily="34" charset="0"/>
      <p:regular r:id="rId77"/>
    </p:embeddedFont>
    <p:embeddedFont>
      <p:font typeface="Carlito Bold" panose="020F0502020204030204" pitchFamily="34" charset="0"/>
      <p:regular r:id="rId78"/>
      <p:bold r:id="rId7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97" d="100"/>
          <a:sy n="97" d="100"/>
        </p:scale>
        <p:origin x="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1.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4.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346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recap Session 1 (Oct 27) before diving in: musculoskeletal pain, acetaminophen, NSAIDs, and OA/RA pharmacotherapy including DMARDs. Today picks up with gout (Section 5) and runs through bone pharmacology, integration, and the cumulative recall quiz.</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downstream — colchicine, allopurinol, febuxostat, probenecid — targets a specific point along this chain. The next slide builds this out with the specific drugs and their targets.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then top to bottom: each step sets up the next, and the flare is the end of the cascade.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full chain and have students sort the drugs into two buckets: "lowers uric acid" (allopurinol, febuxostat, probenecid) vs. "treats the acute flare" (colchicine, NSAIDs, corticosteroids) — this is the same acute-vs-chronic distinction the next slide makes explicit.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acute-vs-chronic distinction is one of the single most testable concepts in gout pharmacology — starting or changing a urate-lowering drug during an acute flare can actually prolong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Colchicine works on the cell's cytoskeleton, so its effect builds in the early hours of a flare.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HLA-B*5801 is a direct callback to the pharmacogenomics section from Lecture 1 — ask students to make that connection themselves before you state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drugs sit on the same enzyme; the choice turns on safety profile and tolerability.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Probenecid and pegloticase round out the gout toolkit beyond allopurinol/febuxostat — probenecid is an older, second-line oral option, while pegloticase is reserved for the most difficult, refractory cases.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Uricosurics block reabsorption; uricases remove uric acid enzymatically, which is why they suit refractory disease.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tests exactly the acute-vs-chronic distinction from two slides ago — a great checkpoint for whether the concept landed.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suffixes as memory hooks, then confirm each class before prescribing.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highest-yield distinction in this section: "where does the drug act" sorts every agent into one of two buckets, and dantrolene is the only one in the peripheral bucket.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agents round out the "centrally-acting" category beyond the three first-line drugs, and botulinum toxin introduces a third mechanism entirely — neuromuscular junction blockade — distinct from both the CNS-acting and dantrolene’s sarcoplasmic-reticulum mechanisms.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Dantrolene’s role in malignant hyperthermia is a must-know, high-stakes fact — a perioperative emergency where this drug is literally life-saving.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every osteoporosis drug on the following slides works by shifting this balance one way or the other — either slowing osteoclasts or stimulating osteoblasts.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three PTH arrows (bone, kidney, intestine) with your finger as you narrate — this negative feedback loop is the physiologic backdrop for every osteoporosis drug that follows.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Glucocorticoid-induced osteoporosis is especially high-yield since it directly connects to the corticosteroid use already discussed for OA/RA in Session 1.</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set up the adherence discussion on the next slide — dosing frequency is a major real-world driver of which bisphosphonate a patient actually takes consistently.</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 upright" counseling point is extremely high-yield for both exams and real-world safety — esophageal injury is largely preventable with correct administration.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Teriparatide/abaloparatide/romosozumab are the "anabolic" exception to the rule that most osteoporosis drugs just slow resorption — they actively build new bone. The next slide shows all of these (plus bisphosphonates) together on one balance diagram.</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bone-pharmacology figure — every drug from the last three slides lands on one side of this seesaw or the other. Ask students to sort each named drug into "inhibits resorption" vs. "stimulates formation" before revealing the diagram’s labels.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is a direct echo of the clinical decision-making framework from Lecture 1 — point that out explicitly.</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work in pairs: for each patient, name a first-line drug class AND the single biggest safety concern to check before prescribing it.</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back to Lecture 1: every mechanism in this lecture (COX inhibition, CYP interactions, renal dosing, pharmacogenomics) was really just Lecture 1’s toolkit applied to one organ system.</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revisit this quiz on their own before the exam — it is designed as a standalone recall resource, separate from the in-lecture quick checks.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documents AI-tool use for original figure generation per university citation requirements. It covers every original diagram in this deck (Figures 4–8); none are reproduced from any textbook.</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C44"/>
        </a:solidFill>
        <a:effectLst/>
      </p:bgPr>
    </p:bg>
    <p:spTree>
      <p:nvGrpSpPr>
        <p:cNvPr id="1" name=""/>
        <p:cNvGrpSpPr/>
        <p:nvPr/>
      </p:nvGrpSpPr>
      <p:grpSpPr>
        <a:xfrm>
          <a:off x="0" y="0"/>
          <a:ext cx="0" cy="0"/>
          <a:chOff x="0" y="0"/>
          <a:chExt cx="0" cy="0"/>
        </a:xfrm>
      </p:grpSpPr>
      <p:sp>
        <p:nvSpPr>
          <p:cNvPr id="2" name="Shape 0"/>
          <p:cNvSpPr/>
          <p:nvPr/>
        </p:nvSpPr>
        <p:spPr>
          <a:xfrm>
            <a:off x="822900" y="502841"/>
            <a:ext cx="822900" cy="822920"/>
          </a:xfrm>
          <a:prstGeom prst="ellipse">
            <a:avLst/>
          </a:prstGeom>
          <a:solidFill>
            <a:srgbClr val="E9A2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020340" y="700385"/>
            <a:ext cx="427920" cy="427930"/>
          </a:xfrm>
          <a:prstGeom prst="rect">
            <a:avLst/>
          </a:prstGeom>
        </p:spPr>
      </p:pic>
      <p:sp>
        <p:nvSpPr>
          <p:cNvPr id="4" name="Text 1"/>
          <p:cNvSpPr/>
          <p:nvPr/>
        </p:nvSpPr>
        <p:spPr>
          <a:xfrm>
            <a:off x="914278" y="1266702"/>
            <a:ext cx="8690452" cy="245269"/>
          </a:xfrm>
          <a:prstGeom prst="rect">
            <a:avLst/>
          </a:prstGeom>
          <a:noFill/>
          <a:ln/>
        </p:spPr>
        <p:txBody>
          <a:bodyPr wrap="none" lIns="0" tIns="0" rIns="0" bIns="0" rtlCol="0" anchor="t"/>
          <a:lstStyle/>
          <a:p>
            <a:pPr marL="0" indent="0" algn="l">
              <a:lnSpc>
                <a:spcPct val="115000"/>
              </a:lnSpc>
              <a:buNone/>
            </a:pPr>
            <a:r>
              <a:rPr lang="en-US" sz="1400" b="1" kern="100" spc="200" dirty="0">
                <a:solidFill>
                  <a:srgbClr val="E9A23B"/>
                </a:solidFill>
                <a:latin typeface="Carlito Bold" pitchFamily="34" charset="0"/>
                <a:ea typeface="Carlito Bold" pitchFamily="34" charset="-122"/>
                <a:cs typeface="Carlito Bold" pitchFamily="34" charset="0"/>
              </a:rPr>
              <a:t>PA PHARMACOLOGY COURSE · LECTURE 2 · SESSION 2 OF 2</a:t>
            </a:r>
            <a:endParaRPr lang="en-US" sz="1400" dirty="0"/>
          </a:p>
        </p:txBody>
      </p:sp>
      <p:sp>
        <p:nvSpPr>
          <p:cNvPr id="5" name="Text 2"/>
          <p:cNvSpPr/>
          <p:nvPr/>
        </p:nvSpPr>
        <p:spPr>
          <a:xfrm>
            <a:off x="914278" y="1843088"/>
            <a:ext cx="9909622" cy="609600"/>
          </a:xfrm>
          <a:prstGeom prst="rect">
            <a:avLst/>
          </a:prstGeom>
          <a:noFill/>
          <a:ln/>
        </p:spPr>
        <p:txBody>
          <a:bodyPr wrap="none" lIns="0" tIns="0" rIns="0" bIns="0" rtlCol="0" anchor="t"/>
          <a:lstStyle/>
          <a:p>
            <a:pPr marL="0" indent="0" algn="l">
              <a:lnSpc>
                <a:spcPct val="100000"/>
              </a:lnSpc>
              <a:buNone/>
            </a:pPr>
            <a:r>
              <a:rPr lang="en-US" sz="4000" b="1" kern="100" spc="44" dirty="0">
                <a:solidFill>
                  <a:srgbClr val="FFFFFF"/>
                </a:solidFill>
                <a:latin typeface="Caladea Bold" pitchFamily="34" charset="0"/>
                <a:ea typeface="Caladea Bold" pitchFamily="34" charset="-122"/>
                <a:cs typeface="Caladea Bold" pitchFamily="34" charset="0"/>
              </a:rPr>
              <a:t>Musculoskeletal Pharmacology</a:t>
            </a:r>
            <a:endParaRPr lang="en-US" sz="4000" dirty="0"/>
          </a:p>
        </p:txBody>
      </p:sp>
      <p:sp>
        <p:nvSpPr>
          <p:cNvPr id="6" name="Text 3"/>
          <p:cNvSpPr/>
          <p:nvPr/>
        </p:nvSpPr>
        <p:spPr>
          <a:xfrm>
            <a:off x="914278" y="3835043"/>
            <a:ext cx="9543811" cy="289520"/>
          </a:xfrm>
          <a:prstGeom prst="rect">
            <a:avLst/>
          </a:prstGeom>
          <a:noFill/>
          <a:ln/>
        </p:spPr>
        <p:txBody>
          <a:bodyPr wrap="none" lIns="0" tIns="0" rIns="0" bIns="0" rtlCol="0" anchor="t"/>
          <a:lstStyle/>
          <a:p>
            <a:pPr marL="0" indent="0" algn="l">
              <a:lnSpc>
                <a:spcPct val="100000"/>
              </a:lnSpc>
              <a:buNone/>
            </a:pPr>
            <a:r>
              <a:rPr lang="en-US" sz="1900" dirty="0">
                <a:solidFill>
                  <a:srgbClr val="E8F1F0"/>
                </a:solidFill>
                <a:latin typeface="Carlito" pitchFamily="34" charset="0"/>
                <a:ea typeface="Carlito" pitchFamily="34" charset="-122"/>
                <a:cs typeface="Carlito" pitchFamily="34" charset="0"/>
              </a:rPr>
              <a:t>Session 2: Gout, Skeletal Muscle Relaxants, and Bone Pharmacology  |  Thursday, October 29</a:t>
            </a:r>
            <a:endParaRPr lang="en-US" sz="1900" dirty="0"/>
          </a:p>
        </p:txBody>
      </p:sp>
      <p:sp>
        <p:nvSpPr>
          <p:cNvPr id="7" name="Shape 4"/>
          <p:cNvSpPr/>
          <p:nvPr/>
        </p:nvSpPr>
        <p:spPr>
          <a:xfrm>
            <a:off x="822900" y="5065316"/>
            <a:ext cx="1005755" cy="19050"/>
          </a:xfrm>
          <a:prstGeom prst="rect">
            <a:avLst/>
          </a:prstGeom>
          <a:solidFill>
            <a:srgbClr val="E9A23B"/>
          </a:solidFill>
          <a:ln/>
        </p:spPr>
        <p:txBody>
          <a:bodyPr/>
          <a:lstStyle/>
          <a:p>
            <a:endParaRPr lang="en-US"/>
          </a:p>
        </p:txBody>
      </p:sp>
      <p:sp>
        <p:nvSpPr>
          <p:cNvPr id="8" name="Text 5"/>
          <p:cNvSpPr/>
          <p:nvPr/>
        </p:nvSpPr>
        <p:spPr>
          <a:xfrm>
            <a:off x="822900" y="5252145"/>
            <a:ext cx="10301923" cy="254099"/>
          </a:xfrm>
          <a:prstGeom prst="rect">
            <a:avLst/>
          </a:prstGeom>
          <a:noFill/>
          <a:ln/>
        </p:spPr>
        <p:txBody>
          <a:bodyPr wrap="none" lIns="0" tIns="0" rIns="0" bIns="0" rtlCol="0" anchor="t"/>
          <a:lstStyle/>
          <a:p>
            <a:pPr marL="0" indent="0" algn="l">
              <a:lnSpc>
                <a:spcPct val="115000"/>
              </a:lnSpc>
              <a:buNone/>
            </a:pPr>
            <a:r>
              <a:rPr lang="en-US" sz="1450" i="1" dirty="0">
                <a:solidFill>
                  <a:srgbClr val="E8F1F0"/>
                </a:solidFill>
                <a:latin typeface="Carlito" pitchFamily="34" charset="0"/>
                <a:ea typeface="Carlito" pitchFamily="34" charset="-122"/>
                <a:cs typeface="Carlito" pitchFamily="34" charset="0"/>
              </a:rPr>
              <a:t>Diane S. Allen-Gipson, Ph.D., M.S., Course Director</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BY THE END OF THIS LECTURE</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Learning Objectives — Session 2</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40459" cy="2460625"/>
          </a:xfrm>
          <a:prstGeom prst="rect">
            <a:avLst/>
          </a:prstGeom>
          <a:noFill/>
          <a:ln/>
        </p:spPr>
        <p:txBody>
          <a:bodyPr wrap="square" lIns="0" tIns="0" rIns="0" bIns="0" rtlCol="0" anchor="t">
            <a:normAutofit/>
          </a:bodyPr>
          <a:lstStyle/>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Recap: Session 1 covered musculoskeletal pain pathways, acetaminophen, NSAIDs, and osteoarthritis/rheumatoid arthritis pharmacotherapy including DMARDs.</a:t>
            </a: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Explain the pharmacologic treatment of acute and chronic gout, including representative generic agents.</a:t>
            </a: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Classify skeletal muscle relaxants by mechanism and clinical use, including representative generic agents.</a:t>
            </a: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Explain the pharmacologic management of osteoporosis, including representative generic agents.</a:t>
            </a: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Identify key contraindications, adverse effects, and drug interactions throughout.</a:t>
            </a: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Apply the full musculoskeletal pharmacology toolkit to integrated clinical scenarios.</a:t>
            </a:r>
            <a:endParaRPr lang="en-US" sz="155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05</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Gout</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A crystal-driven inflammatory arthritis with two very different treatment phases.</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PATHOPHYSIOLOGY</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How Gout Develops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2377380"/>
            <a:ext cx="2432188" cy="1600200"/>
          </a:xfrm>
          <a:prstGeom prst="roundRect">
            <a:avLst>
              <a:gd name="adj" fmla="val 5486"/>
            </a:avLst>
          </a:prstGeom>
          <a:solidFill>
            <a:srgbClr val="0F7173"/>
          </a:solidFill>
          <a:ln/>
        </p:spPr>
        <p:txBody>
          <a:bodyPr/>
          <a:lstStyle/>
          <a:p>
            <a:endParaRPr lang="en-US"/>
          </a:p>
        </p:txBody>
      </p:sp>
      <p:sp>
        <p:nvSpPr>
          <p:cNvPr id="7" name="Text 4"/>
          <p:cNvSpPr/>
          <p:nvPr/>
        </p:nvSpPr>
        <p:spPr>
          <a:xfrm>
            <a:off x="738566"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Purine</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Metabolism</a:t>
            </a:r>
            <a:endParaRPr lang="en-US" sz="1300" dirty="0"/>
          </a:p>
        </p:txBody>
      </p:sp>
      <p:sp>
        <p:nvSpPr>
          <p:cNvPr id="8" name="Shape 5"/>
          <p:cNvSpPr/>
          <p:nvPr/>
        </p:nvSpPr>
        <p:spPr>
          <a:xfrm>
            <a:off x="3072232"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9" name="Shape 6"/>
          <p:cNvSpPr/>
          <p:nvPr/>
        </p:nvSpPr>
        <p:spPr>
          <a:xfrm>
            <a:off x="3456298" y="2377380"/>
            <a:ext cx="2432188" cy="1600200"/>
          </a:xfrm>
          <a:prstGeom prst="roundRect">
            <a:avLst>
              <a:gd name="adj" fmla="val 5486"/>
            </a:avLst>
          </a:prstGeom>
          <a:solidFill>
            <a:srgbClr val="2A6F97"/>
          </a:solidFill>
          <a:ln/>
        </p:spPr>
        <p:txBody>
          <a:bodyPr/>
          <a:lstStyle/>
          <a:p>
            <a:endParaRPr lang="en-US"/>
          </a:p>
        </p:txBody>
      </p:sp>
      <p:sp>
        <p:nvSpPr>
          <p:cNvPr id="10" name="Text 7"/>
          <p:cNvSpPr/>
          <p:nvPr/>
        </p:nvSpPr>
        <p:spPr>
          <a:xfrm>
            <a:off x="3250027" y="3064661"/>
            <a:ext cx="2844729" cy="227806"/>
          </a:xfrm>
          <a:prstGeom prst="rect">
            <a:avLst/>
          </a:prstGeom>
          <a:noFill/>
          <a:ln/>
        </p:spPr>
        <p:txBody>
          <a:bodyPr wrap="none" lIns="0" tIns="0" rIns="0" bIns="0" rtlCol="0" anchor="t"/>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Uric Acid</a:t>
            </a:r>
            <a:endParaRPr lang="en-US" sz="1300" dirty="0"/>
          </a:p>
        </p:txBody>
      </p:sp>
      <p:sp>
        <p:nvSpPr>
          <p:cNvPr id="11" name="Shape 8"/>
          <p:cNvSpPr/>
          <p:nvPr/>
        </p:nvSpPr>
        <p:spPr>
          <a:xfrm>
            <a:off x="5888585"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12" name="Shape 9"/>
          <p:cNvSpPr/>
          <p:nvPr/>
        </p:nvSpPr>
        <p:spPr>
          <a:xfrm>
            <a:off x="6272552" y="2377380"/>
            <a:ext cx="2432188" cy="1600200"/>
          </a:xfrm>
          <a:prstGeom prst="roundRect">
            <a:avLst>
              <a:gd name="adj" fmla="val 5486"/>
            </a:avLst>
          </a:prstGeom>
          <a:solidFill>
            <a:srgbClr val="6B9080"/>
          </a:solidFill>
          <a:ln/>
        </p:spPr>
        <p:txBody>
          <a:bodyPr/>
          <a:lstStyle/>
          <a:p>
            <a:endParaRPr lang="en-US"/>
          </a:p>
        </p:txBody>
      </p:sp>
      <p:sp>
        <p:nvSpPr>
          <p:cNvPr id="13" name="Text 10"/>
          <p:cNvSpPr/>
          <p:nvPr/>
        </p:nvSpPr>
        <p:spPr>
          <a:xfrm>
            <a:off x="6371173"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Monosodium</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Urate Crystals</a:t>
            </a:r>
            <a:endParaRPr lang="en-US" sz="1300" dirty="0"/>
          </a:p>
        </p:txBody>
      </p:sp>
      <p:sp>
        <p:nvSpPr>
          <p:cNvPr id="14" name="Shape 11"/>
          <p:cNvSpPr/>
          <p:nvPr/>
        </p:nvSpPr>
        <p:spPr>
          <a:xfrm>
            <a:off x="8704838"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15" name="Shape 12"/>
          <p:cNvSpPr/>
          <p:nvPr/>
        </p:nvSpPr>
        <p:spPr>
          <a:xfrm>
            <a:off x="9088905" y="2377380"/>
            <a:ext cx="2432188" cy="1600200"/>
          </a:xfrm>
          <a:prstGeom prst="roundRect">
            <a:avLst>
              <a:gd name="adj" fmla="val 5486"/>
            </a:avLst>
          </a:prstGeom>
          <a:solidFill>
            <a:srgbClr val="0F7173"/>
          </a:solidFill>
          <a:ln/>
        </p:spPr>
        <p:txBody>
          <a:bodyPr/>
          <a:lstStyle/>
          <a:p>
            <a:endParaRPr lang="en-US"/>
          </a:p>
        </p:txBody>
      </p:sp>
      <p:sp>
        <p:nvSpPr>
          <p:cNvPr id="16" name="Text 13"/>
          <p:cNvSpPr/>
          <p:nvPr/>
        </p:nvSpPr>
        <p:spPr>
          <a:xfrm>
            <a:off x="9187426"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Joint</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Inflammation</a:t>
            </a:r>
            <a:endParaRPr lang="en-US" sz="1300" dirty="0"/>
          </a:p>
        </p:txBody>
      </p:sp>
      <p:sp>
        <p:nvSpPr>
          <p:cNvPr id="17"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8"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72" dirty="0">
                <a:solidFill>
                  <a:srgbClr val="0F7173"/>
                </a:solidFill>
                <a:latin typeface="Carlito Bold" pitchFamily="34" charset="0"/>
                <a:ea typeface="Carlito Bold" pitchFamily="34" charset="-122"/>
                <a:cs typeface="Carlito Bold" pitchFamily="34" charset="0"/>
              </a:rPr>
              <a:t>MECHANISM &amp; DEPTH</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Uric Acid Crystals Trigger the Inflammatory Response</a:t>
            </a:r>
            <a:endParaRPr lang="en-US" sz="2800" dirty="0"/>
          </a:p>
        </p:txBody>
      </p:sp>
      <p:sp>
        <p:nvSpPr>
          <p:cNvPr id="4" name="Shape 2"/>
          <p:cNvSpPr/>
          <p:nvPr/>
        </p:nvSpPr>
        <p:spPr>
          <a:xfrm>
            <a:off x="640044" y="1422400"/>
            <a:ext cx="5587860" cy="431800"/>
          </a:xfrm>
          <a:prstGeom prst="roundRect">
            <a:avLst>
              <a:gd name="adj" fmla="val 7941"/>
            </a:avLst>
          </a:prstGeom>
          <a:solidFill>
            <a:srgbClr val="5C6B73"/>
          </a:solidFill>
          <a:ln/>
        </p:spPr>
        <p:txBody>
          <a:bodyPr/>
          <a:lstStyle/>
          <a:p>
            <a:endParaRPr lang="en-US"/>
          </a:p>
        </p:txBody>
      </p:sp>
      <p:sp>
        <p:nvSpPr>
          <p:cNvPr id="5" name="Text 3"/>
          <p:cNvSpPr/>
          <p:nvPr/>
        </p:nvSpPr>
        <p:spPr>
          <a:xfrm>
            <a:off x="392400" y="14981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Purine breakdown</a:t>
            </a:r>
            <a:endParaRPr lang="en-US" sz="1600" dirty="0"/>
          </a:p>
        </p:txBody>
      </p:sp>
      <p:sp>
        <p:nvSpPr>
          <p:cNvPr id="6" name="Shape 4"/>
          <p:cNvSpPr/>
          <p:nvPr/>
        </p:nvSpPr>
        <p:spPr>
          <a:xfrm>
            <a:off x="3332377" y="18669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7" name="Shape 5"/>
          <p:cNvSpPr/>
          <p:nvPr/>
        </p:nvSpPr>
        <p:spPr>
          <a:xfrm>
            <a:off x="640044" y="2032000"/>
            <a:ext cx="5587860" cy="431800"/>
          </a:xfrm>
          <a:prstGeom prst="roundRect">
            <a:avLst>
              <a:gd name="adj" fmla="val 7941"/>
            </a:avLst>
          </a:prstGeom>
          <a:solidFill>
            <a:srgbClr val="0F7173"/>
          </a:solidFill>
          <a:ln/>
        </p:spPr>
        <p:txBody>
          <a:bodyPr/>
          <a:lstStyle/>
          <a:p>
            <a:endParaRPr lang="en-US"/>
          </a:p>
        </p:txBody>
      </p:sp>
      <p:sp>
        <p:nvSpPr>
          <p:cNvPr id="8" name="Text 6"/>
          <p:cNvSpPr/>
          <p:nvPr/>
        </p:nvSpPr>
        <p:spPr>
          <a:xfrm>
            <a:off x="392400" y="21077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Hypoxanthine</a:t>
            </a:r>
            <a:endParaRPr lang="en-US" sz="1600" dirty="0"/>
          </a:p>
        </p:txBody>
      </p:sp>
      <p:sp>
        <p:nvSpPr>
          <p:cNvPr id="9" name="Shape 7"/>
          <p:cNvSpPr/>
          <p:nvPr/>
        </p:nvSpPr>
        <p:spPr>
          <a:xfrm>
            <a:off x="3332377" y="24765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0" name="Shape 8"/>
          <p:cNvSpPr/>
          <p:nvPr/>
        </p:nvSpPr>
        <p:spPr>
          <a:xfrm>
            <a:off x="640044" y="2641600"/>
            <a:ext cx="5587860" cy="431800"/>
          </a:xfrm>
          <a:prstGeom prst="roundRect">
            <a:avLst>
              <a:gd name="adj" fmla="val 7941"/>
            </a:avLst>
          </a:prstGeom>
          <a:solidFill>
            <a:srgbClr val="0F7173"/>
          </a:solidFill>
          <a:ln/>
        </p:spPr>
        <p:txBody>
          <a:bodyPr/>
          <a:lstStyle/>
          <a:p>
            <a:endParaRPr lang="en-US"/>
          </a:p>
        </p:txBody>
      </p:sp>
      <p:sp>
        <p:nvSpPr>
          <p:cNvPr id="11" name="Text 9"/>
          <p:cNvSpPr/>
          <p:nvPr/>
        </p:nvSpPr>
        <p:spPr>
          <a:xfrm>
            <a:off x="392400" y="27173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Xanthine</a:t>
            </a:r>
            <a:endParaRPr lang="en-US" sz="1600" dirty="0"/>
          </a:p>
        </p:txBody>
      </p:sp>
      <p:sp>
        <p:nvSpPr>
          <p:cNvPr id="12" name="Shape 10"/>
          <p:cNvSpPr/>
          <p:nvPr/>
        </p:nvSpPr>
        <p:spPr>
          <a:xfrm>
            <a:off x="3332377" y="30861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3" name="Shape 11"/>
          <p:cNvSpPr/>
          <p:nvPr/>
        </p:nvSpPr>
        <p:spPr>
          <a:xfrm>
            <a:off x="640044" y="3251200"/>
            <a:ext cx="5587860" cy="431800"/>
          </a:xfrm>
          <a:prstGeom prst="roundRect">
            <a:avLst>
              <a:gd name="adj" fmla="val 7941"/>
            </a:avLst>
          </a:prstGeom>
          <a:solidFill>
            <a:srgbClr val="0F7173"/>
          </a:solidFill>
          <a:ln/>
        </p:spPr>
        <p:txBody>
          <a:bodyPr/>
          <a:lstStyle/>
          <a:p>
            <a:endParaRPr lang="en-US"/>
          </a:p>
        </p:txBody>
      </p:sp>
      <p:sp>
        <p:nvSpPr>
          <p:cNvPr id="14" name="Text 12"/>
          <p:cNvSpPr/>
          <p:nvPr/>
        </p:nvSpPr>
        <p:spPr>
          <a:xfrm>
            <a:off x="392400" y="33269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Uric acid (via xanthine oxidase)</a:t>
            </a:r>
            <a:endParaRPr lang="en-US" sz="1600" dirty="0"/>
          </a:p>
        </p:txBody>
      </p:sp>
      <p:sp>
        <p:nvSpPr>
          <p:cNvPr id="15" name="Shape 13"/>
          <p:cNvSpPr/>
          <p:nvPr/>
        </p:nvSpPr>
        <p:spPr>
          <a:xfrm>
            <a:off x="3332377" y="36957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6" name="Shape 14"/>
          <p:cNvSpPr/>
          <p:nvPr/>
        </p:nvSpPr>
        <p:spPr>
          <a:xfrm>
            <a:off x="640044" y="3860800"/>
            <a:ext cx="5587860" cy="431800"/>
          </a:xfrm>
          <a:prstGeom prst="roundRect">
            <a:avLst>
              <a:gd name="adj" fmla="val 7941"/>
            </a:avLst>
          </a:prstGeom>
          <a:solidFill>
            <a:srgbClr val="2A6F97"/>
          </a:solidFill>
          <a:ln/>
        </p:spPr>
        <p:txBody>
          <a:bodyPr/>
          <a:lstStyle/>
          <a:p>
            <a:endParaRPr lang="en-US"/>
          </a:p>
        </p:txBody>
      </p:sp>
      <p:sp>
        <p:nvSpPr>
          <p:cNvPr id="17" name="Text 15"/>
          <p:cNvSpPr/>
          <p:nvPr/>
        </p:nvSpPr>
        <p:spPr>
          <a:xfrm>
            <a:off x="392400" y="39365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Hyperuricemia</a:t>
            </a:r>
            <a:endParaRPr lang="en-US" sz="1600" dirty="0"/>
          </a:p>
        </p:txBody>
      </p:sp>
      <p:sp>
        <p:nvSpPr>
          <p:cNvPr id="18" name="Shape 16"/>
          <p:cNvSpPr/>
          <p:nvPr/>
        </p:nvSpPr>
        <p:spPr>
          <a:xfrm>
            <a:off x="3332377" y="43053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9" name="Shape 17"/>
          <p:cNvSpPr/>
          <p:nvPr/>
        </p:nvSpPr>
        <p:spPr>
          <a:xfrm>
            <a:off x="640044" y="4470400"/>
            <a:ext cx="5587860" cy="431800"/>
          </a:xfrm>
          <a:prstGeom prst="roundRect">
            <a:avLst>
              <a:gd name="adj" fmla="val 7941"/>
            </a:avLst>
          </a:prstGeom>
          <a:solidFill>
            <a:srgbClr val="2A6F97"/>
          </a:solidFill>
          <a:ln/>
        </p:spPr>
        <p:txBody>
          <a:bodyPr/>
          <a:lstStyle/>
          <a:p>
            <a:endParaRPr lang="en-US"/>
          </a:p>
        </p:txBody>
      </p:sp>
      <p:sp>
        <p:nvSpPr>
          <p:cNvPr id="20" name="Text 18"/>
          <p:cNvSpPr/>
          <p:nvPr/>
        </p:nvSpPr>
        <p:spPr>
          <a:xfrm>
            <a:off x="392400" y="45461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Monosodium urate crystals in joint</a:t>
            </a:r>
            <a:endParaRPr lang="en-US" sz="1600" dirty="0"/>
          </a:p>
        </p:txBody>
      </p:sp>
      <p:sp>
        <p:nvSpPr>
          <p:cNvPr id="21" name="Shape 19"/>
          <p:cNvSpPr/>
          <p:nvPr/>
        </p:nvSpPr>
        <p:spPr>
          <a:xfrm>
            <a:off x="3332377" y="49149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22" name="Shape 20"/>
          <p:cNvSpPr/>
          <p:nvPr/>
        </p:nvSpPr>
        <p:spPr>
          <a:xfrm>
            <a:off x="640044" y="5080000"/>
            <a:ext cx="5587860" cy="431800"/>
          </a:xfrm>
          <a:prstGeom prst="roundRect">
            <a:avLst>
              <a:gd name="adj" fmla="val 7941"/>
            </a:avLst>
          </a:prstGeom>
          <a:solidFill>
            <a:srgbClr val="6B9080"/>
          </a:solidFill>
          <a:ln/>
        </p:spPr>
        <p:txBody>
          <a:bodyPr/>
          <a:lstStyle/>
          <a:p>
            <a:endParaRPr lang="en-US"/>
          </a:p>
        </p:txBody>
      </p:sp>
      <p:sp>
        <p:nvSpPr>
          <p:cNvPr id="23" name="Text 21"/>
          <p:cNvSpPr/>
          <p:nvPr/>
        </p:nvSpPr>
        <p:spPr>
          <a:xfrm>
            <a:off x="392400" y="51557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Neutrophil/macrophage activation (NLRP3, IL-1β)</a:t>
            </a:r>
            <a:endParaRPr lang="en-US" sz="1600" dirty="0"/>
          </a:p>
        </p:txBody>
      </p:sp>
      <p:sp>
        <p:nvSpPr>
          <p:cNvPr id="24" name="Shape 22"/>
          <p:cNvSpPr/>
          <p:nvPr/>
        </p:nvSpPr>
        <p:spPr>
          <a:xfrm>
            <a:off x="3332377" y="55245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25" name="Shape 23"/>
          <p:cNvSpPr/>
          <p:nvPr/>
        </p:nvSpPr>
        <p:spPr>
          <a:xfrm>
            <a:off x="640044" y="5689600"/>
            <a:ext cx="5587860" cy="431800"/>
          </a:xfrm>
          <a:prstGeom prst="roundRect">
            <a:avLst>
              <a:gd name="adj" fmla="val 7941"/>
            </a:avLst>
          </a:prstGeom>
          <a:solidFill>
            <a:srgbClr val="D1495B"/>
          </a:solidFill>
          <a:ln/>
        </p:spPr>
        <p:txBody>
          <a:bodyPr/>
          <a:lstStyle/>
          <a:p>
            <a:endParaRPr lang="en-US"/>
          </a:p>
        </p:txBody>
      </p:sp>
      <p:sp>
        <p:nvSpPr>
          <p:cNvPr id="26" name="Text 24"/>
          <p:cNvSpPr/>
          <p:nvPr/>
        </p:nvSpPr>
        <p:spPr>
          <a:xfrm>
            <a:off x="392400" y="57653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Acute flare</a:t>
            </a:r>
            <a:endParaRPr lang="en-US" sz="1600" dirty="0"/>
          </a:p>
        </p:txBody>
      </p:sp>
      <p:sp>
        <p:nvSpPr>
          <p:cNvPr id="27" name="Text 25"/>
          <p:cNvSpPr/>
          <p:nvPr/>
        </p:nvSpPr>
        <p:spPr>
          <a:xfrm>
            <a:off x="6781630" y="1422400"/>
            <a:ext cx="4724282" cy="2433638"/>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Diet rich in purines and fructose raises urate production</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Alcohol, especially beer, raises uric acid and reduces renal excretion</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Diuretics, especially thiazides and loop agents, reduce renal urate clearance</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Chronic kidney disease lowers urate excretion and sustains hyperuricemia</a:t>
            </a:r>
            <a:endParaRPr lang="en-US" sz="1600" dirty="0"/>
          </a:p>
        </p:txBody>
      </p:sp>
      <p:sp>
        <p:nvSpPr>
          <p:cNvPr id="28" name="Text 26"/>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9" name="Text 27"/>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4</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Gout: From Purine Metabolism to Joint Inflammation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1989485" y="1554460"/>
            <a:ext cx="8182068"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4. Original illustrative diagram (not from Katzung): allopurinol and febuxostat reduce uric acid production; probenecid increases renal excretion; colchicine, NSAIDs, and corticosteroids reduce joint inflammation.</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FIGURE 4</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In Figure 4, probenecid and allopurinol both lower serum uric acid, but through different mechanisms. What is the key difference?</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2934891"/>
            <a:ext cx="4286143"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Probenecid increases renal excretion of uric acid; allopurinol decreases uric acid production</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Both drugs block xanthine oxidase</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306491"/>
            <a:ext cx="4286143"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Probenecid decreases uric acid production; allopurinol increases renal excretion</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Neither drug affects serum uric acid levels</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FIGURE 4</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A</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Probenecid increases renal excretion of uric acid; allopurinol decreases uric acid production.</a:t>
            </a:r>
            <a:endParaRPr lang="en-US" sz="1600" dirty="0"/>
          </a:p>
        </p:txBody>
      </p:sp>
      <p:sp>
        <p:nvSpPr>
          <p:cNvPr id="10" name="Text 7"/>
          <p:cNvSpPr/>
          <p:nvPr/>
        </p:nvSpPr>
        <p:spPr>
          <a:xfrm>
            <a:off x="640044" y="3142357"/>
            <a:ext cx="10823900" cy="85725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Figure 4 shows allopurinol (and febuxostat) acting as xanthine oxidase inhibitors that reduce uric acid production, while probenecid acts at the kidney to increase renal excretion of uric acid that has already been produced — two different strategies for the same goal of lowering serum uric acid.</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TWO DIFFERENT GOALS</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Acute Gout vs. Chronic Urate-Lowering Therapy</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D1495B"/>
          </a:solidFill>
          <a:ln/>
        </p:spPr>
        <p:txBody>
          <a:bodyPr/>
          <a:lstStyle/>
          <a:p>
            <a:endParaRPr lang="en-US"/>
          </a:p>
        </p:txBody>
      </p:sp>
      <p:sp>
        <p:nvSpPr>
          <p:cNvPr id="9" name="Shape 6"/>
          <p:cNvSpPr/>
          <p:nvPr/>
        </p:nvSpPr>
        <p:spPr>
          <a:xfrm>
            <a:off x="640044" y="1856184"/>
            <a:ext cx="5211831" cy="255984"/>
          </a:xfrm>
          <a:prstGeom prst="rect">
            <a:avLst/>
          </a:prstGeom>
          <a:solidFill>
            <a:srgbClr val="D1495B"/>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Acute Flare</a:t>
            </a:r>
            <a:endParaRPr lang="en-US" sz="1600" dirty="0"/>
          </a:p>
        </p:txBody>
      </p:sp>
      <p:sp>
        <p:nvSpPr>
          <p:cNvPr id="11" name="Text 8"/>
          <p:cNvSpPr/>
          <p:nvPr/>
        </p:nvSpPr>
        <p:spPr>
          <a:xfrm>
            <a:off x="1046236" y="2272010"/>
            <a:ext cx="4576946" cy="86836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Goal: control pain and inflammation now</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Agents: colchicine, NSAIDs, corticosteroids</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Do NOT start urate-lowering therapy during an acute flare</a:t>
            </a:r>
            <a:endParaRPr lang="en-US" sz="1400" dirty="0"/>
          </a:p>
        </p:txBody>
      </p:sp>
      <p:sp>
        <p:nvSpPr>
          <p:cNvPr id="12" name="Shape 9"/>
          <p:cNvSpPr/>
          <p:nvPr/>
        </p:nvSpPr>
        <p:spPr>
          <a:xfrm>
            <a:off x="6309162" y="1600200"/>
            <a:ext cx="5211831" cy="502841"/>
          </a:xfrm>
          <a:prstGeom prst="roundRect">
            <a:avLst>
              <a:gd name="adj" fmla="val 21821"/>
            </a:avLst>
          </a:prstGeom>
          <a:solidFill>
            <a:srgbClr val="0F7173"/>
          </a:solidFill>
          <a:ln/>
        </p:spPr>
        <p:txBody>
          <a:bodyPr/>
          <a:lstStyle/>
          <a:p>
            <a:endParaRPr lang="en-US"/>
          </a:p>
        </p:txBody>
      </p:sp>
      <p:sp>
        <p:nvSpPr>
          <p:cNvPr id="13" name="Shape 10"/>
          <p:cNvSpPr/>
          <p:nvPr/>
        </p:nvSpPr>
        <p:spPr>
          <a:xfrm>
            <a:off x="6309162" y="1856184"/>
            <a:ext cx="5211831" cy="255984"/>
          </a:xfrm>
          <a:prstGeom prst="rect">
            <a:avLst/>
          </a:prstGeom>
          <a:solidFill>
            <a:srgbClr val="0F7173"/>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Chronic Management</a:t>
            </a:r>
            <a:endParaRPr lang="en-US" sz="1600" dirty="0"/>
          </a:p>
        </p:txBody>
      </p:sp>
      <p:sp>
        <p:nvSpPr>
          <p:cNvPr id="15" name="Text 12"/>
          <p:cNvSpPr/>
          <p:nvPr/>
        </p:nvSpPr>
        <p:spPr>
          <a:xfrm>
            <a:off x="6715354"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Goal: lower serum uric acid to prevent future flares</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Agents: allopurinol, febuxostat (↓ production); probenecid (↑ excretion)</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Started/adjusted only once the acute flare has resolved</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ACUTE TREATMENT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Colchicine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disrupts microtubule formation in neutrophils.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Effect: reduces neutrophil migration and activation, lowering inflammation at the crystal site.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Most effective when started early in a flare.</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Narrow therapeutic window — GI adverse effects are common and dose-limiting.</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72" dirty="0">
                <a:solidFill>
                  <a:srgbClr val="0F7173"/>
                </a:solidFill>
                <a:latin typeface="Carlito Bold" pitchFamily="34" charset="0"/>
                <a:ea typeface="Carlito Bold" pitchFamily="34" charset="-122"/>
                <a:cs typeface="Carlito Bold" pitchFamily="34" charset="0"/>
              </a:rPr>
              <a:t>MECHANISM &amp; DEPTH</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Colchicine: Blocking Neutrophil Response</a:t>
            </a:r>
            <a:endParaRPr lang="en-US" sz="2800" dirty="0"/>
          </a:p>
        </p:txBody>
      </p:sp>
      <p:sp>
        <p:nvSpPr>
          <p:cNvPr id="4" name="Shape 2"/>
          <p:cNvSpPr/>
          <p:nvPr/>
        </p:nvSpPr>
        <p:spPr>
          <a:xfrm>
            <a:off x="640044" y="1651000"/>
            <a:ext cx="5587860" cy="711200"/>
          </a:xfrm>
          <a:prstGeom prst="roundRect">
            <a:avLst>
              <a:gd name="adj" fmla="val 4821"/>
            </a:avLst>
          </a:prstGeom>
          <a:solidFill>
            <a:srgbClr val="0F7173"/>
          </a:solidFill>
          <a:ln/>
        </p:spPr>
        <p:txBody>
          <a:bodyPr/>
          <a:lstStyle/>
          <a:p>
            <a:endParaRPr lang="en-US"/>
          </a:p>
        </p:txBody>
      </p:sp>
      <p:sp>
        <p:nvSpPr>
          <p:cNvPr id="5" name="Text 3"/>
          <p:cNvSpPr/>
          <p:nvPr/>
        </p:nvSpPr>
        <p:spPr>
          <a:xfrm>
            <a:off x="392400" y="18664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Colchicine binds tubulin</a:t>
            </a:r>
            <a:endParaRPr lang="en-US" sz="1600" dirty="0"/>
          </a:p>
        </p:txBody>
      </p:sp>
      <p:sp>
        <p:nvSpPr>
          <p:cNvPr id="6" name="Shape 4"/>
          <p:cNvSpPr/>
          <p:nvPr/>
        </p:nvSpPr>
        <p:spPr>
          <a:xfrm>
            <a:off x="3332377" y="24257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7" name="Shape 5"/>
          <p:cNvSpPr/>
          <p:nvPr/>
        </p:nvSpPr>
        <p:spPr>
          <a:xfrm>
            <a:off x="640044" y="2641600"/>
            <a:ext cx="5587860" cy="711200"/>
          </a:xfrm>
          <a:prstGeom prst="roundRect">
            <a:avLst>
              <a:gd name="adj" fmla="val 4821"/>
            </a:avLst>
          </a:prstGeom>
          <a:solidFill>
            <a:srgbClr val="0F7173"/>
          </a:solidFill>
          <a:ln/>
        </p:spPr>
        <p:txBody>
          <a:bodyPr/>
          <a:lstStyle/>
          <a:p>
            <a:endParaRPr lang="en-US"/>
          </a:p>
        </p:txBody>
      </p:sp>
      <p:sp>
        <p:nvSpPr>
          <p:cNvPr id="8" name="Text 6"/>
          <p:cNvSpPr/>
          <p:nvPr/>
        </p:nvSpPr>
        <p:spPr>
          <a:xfrm>
            <a:off x="392400" y="28570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Blocks microtubule polymerization</a:t>
            </a:r>
            <a:endParaRPr lang="en-US" sz="1600" dirty="0"/>
          </a:p>
        </p:txBody>
      </p:sp>
      <p:sp>
        <p:nvSpPr>
          <p:cNvPr id="9" name="Shape 7"/>
          <p:cNvSpPr/>
          <p:nvPr/>
        </p:nvSpPr>
        <p:spPr>
          <a:xfrm>
            <a:off x="3332377" y="34163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0" name="Shape 8"/>
          <p:cNvSpPr/>
          <p:nvPr/>
        </p:nvSpPr>
        <p:spPr>
          <a:xfrm>
            <a:off x="640044" y="3632200"/>
            <a:ext cx="5587860" cy="711200"/>
          </a:xfrm>
          <a:prstGeom prst="roundRect">
            <a:avLst>
              <a:gd name="adj" fmla="val 4821"/>
            </a:avLst>
          </a:prstGeom>
          <a:solidFill>
            <a:srgbClr val="D1495B"/>
          </a:solidFill>
          <a:ln/>
        </p:spPr>
        <p:txBody>
          <a:bodyPr/>
          <a:lstStyle/>
          <a:p>
            <a:endParaRPr lang="en-US"/>
          </a:p>
        </p:txBody>
      </p:sp>
      <p:sp>
        <p:nvSpPr>
          <p:cNvPr id="11" name="Text 9"/>
          <p:cNvSpPr/>
          <p:nvPr/>
        </p:nvSpPr>
        <p:spPr>
          <a:xfrm>
            <a:off x="392400" y="38476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Reduced neutrophil migration and NLRP3 activation</a:t>
            </a:r>
            <a:endParaRPr lang="en-US" sz="1600" dirty="0"/>
          </a:p>
        </p:txBody>
      </p:sp>
      <p:sp>
        <p:nvSpPr>
          <p:cNvPr id="12" name="Shape 10"/>
          <p:cNvSpPr/>
          <p:nvPr/>
        </p:nvSpPr>
        <p:spPr>
          <a:xfrm>
            <a:off x="3332377" y="44069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3" name="Shape 11"/>
          <p:cNvSpPr/>
          <p:nvPr/>
        </p:nvSpPr>
        <p:spPr>
          <a:xfrm>
            <a:off x="640044" y="4622800"/>
            <a:ext cx="5587860" cy="711200"/>
          </a:xfrm>
          <a:prstGeom prst="roundRect">
            <a:avLst>
              <a:gd name="adj" fmla="val 4821"/>
            </a:avLst>
          </a:prstGeom>
          <a:solidFill>
            <a:srgbClr val="123C44"/>
          </a:solidFill>
          <a:ln/>
        </p:spPr>
        <p:txBody>
          <a:bodyPr/>
          <a:lstStyle/>
          <a:p>
            <a:endParaRPr lang="en-US"/>
          </a:p>
        </p:txBody>
      </p:sp>
      <p:sp>
        <p:nvSpPr>
          <p:cNvPr id="14" name="Text 12"/>
          <p:cNvSpPr/>
          <p:nvPr/>
        </p:nvSpPr>
        <p:spPr>
          <a:xfrm>
            <a:off x="392400" y="48382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Less inflammation at the crystal site</a:t>
            </a:r>
            <a:endParaRPr lang="en-US" sz="1600" dirty="0"/>
          </a:p>
        </p:txBody>
      </p:sp>
      <p:sp>
        <p:nvSpPr>
          <p:cNvPr id="15" name="Text 13"/>
          <p:cNvSpPr/>
          <p:nvPr/>
        </p:nvSpPr>
        <p:spPr>
          <a:xfrm>
            <a:off x="6781630" y="1651000"/>
            <a:ext cx="4724282" cy="159246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Best started within 24 hours of flare onset</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GI diarrhea is the dose-limiting effect</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Adjust the dose for renal or hepatic impairment</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CYP3A4 and P-gp inhibitors (clarithromycin, cyclosporine, strong CYP3A4 inhibitors) raise toxicity</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URATE-LOWERING THERAPY</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Allopurinol vs. Febuxostat</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Allopurinol</a:t>
            </a:r>
            <a:endParaRPr lang="en-US" sz="1600" dirty="0"/>
          </a:p>
        </p:txBody>
      </p:sp>
      <p:sp>
        <p:nvSpPr>
          <p:cNvPr id="11" name="Text 8"/>
          <p:cNvSpPr/>
          <p:nvPr/>
        </p:nvSpPr>
        <p:spPr>
          <a:xfrm>
            <a:off x="1046236"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Xanthine oxidase inhibitor → ↓ uric acid production</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First-line for most patients</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HLA-B*5801 allele raises risk of severe hypersensitivity reaction</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Febuxostat</a:t>
            </a:r>
            <a:endParaRPr lang="en-US" sz="1600" dirty="0"/>
          </a:p>
        </p:txBody>
      </p:sp>
      <p:sp>
        <p:nvSpPr>
          <p:cNvPr id="15" name="Text 12"/>
          <p:cNvSpPr/>
          <p:nvPr/>
        </p:nvSpPr>
        <p:spPr>
          <a:xfrm>
            <a:off x="6715354"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Also a xanthine oxidase inhibitor, different chemical structure</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Alternative when allopurinol is not tolerated or contraindicated</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Carries its own cardiovascular safety considerations</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72" dirty="0">
                <a:solidFill>
                  <a:srgbClr val="0F7173"/>
                </a:solidFill>
                <a:latin typeface="Carlito Bold" pitchFamily="34" charset="0"/>
                <a:ea typeface="Carlito Bold" pitchFamily="34" charset="-122"/>
                <a:cs typeface="Carlito Bold" pitchFamily="34" charset="0"/>
              </a:rPr>
              <a:t>MECHANISM &amp; DEPTH</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Xanthine Oxidase Inhibitors: Where They Act</a:t>
            </a:r>
            <a:endParaRPr lang="en-US" sz="2800" dirty="0"/>
          </a:p>
        </p:txBody>
      </p:sp>
      <p:sp>
        <p:nvSpPr>
          <p:cNvPr id="4" name="Shape 2"/>
          <p:cNvSpPr/>
          <p:nvPr/>
        </p:nvSpPr>
        <p:spPr>
          <a:xfrm>
            <a:off x="640044" y="1651000"/>
            <a:ext cx="5587860" cy="762000"/>
          </a:xfrm>
          <a:prstGeom prst="roundRect">
            <a:avLst>
              <a:gd name="adj" fmla="val 4500"/>
            </a:avLst>
          </a:prstGeom>
          <a:solidFill>
            <a:srgbClr val="5C6B73"/>
          </a:solidFill>
          <a:ln/>
        </p:spPr>
        <p:txBody>
          <a:bodyPr/>
          <a:lstStyle/>
          <a:p>
            <a:endParaRPr lang="en-US"/>
          </a:p>
        </p:txBody>
      </p:sp>
      <p:sp>
        <p:nvSpPr>
          <p:cNvPr id="5" name="Text 3"/>
          <p:cNvSpPr/>
          <p:nvPr/>
        </p:nvSpPr>
        <p:spPr>
          <a:xfrm>
            <a:off x="392400" y="18918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Hypoxanthine</a:t>
            </a:r>
            <a:endParaRPr lang="en-US" sz="1600" dirty="0"/>
          </a:p>
        </p:txBody>
      </p:sp>
      <p:sp>
        <p:nvSpPr>
          <p:cNvPr id="6" name="Shape 4"/>
          <p:cNvSpPr/>
          <p:nvPr/>
        </p:nvSpPr>
        <p:spPr>
          <a:xfrm>
            <a:off x="3332377" y="25019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7" name="Shape 5"/>
          <p:cNvSpPr/>
          <p:nvPr/>
        </p:nvSpPr>
        <p:spPr>
          <a:xfrm>
            <a:off x="640044" y="2921000"/>
            <a:ext cx="5587860" cy="762000"/>
          </a:xfrm>
          <a:prstGeom prst="roundRect">
            <a:avLst>
              <a:gd name="adj" fmla="val 4500"/>
            </a:avLst>
          </a:prstGeom>
          <a:solidFill>
            <a:srgbClr val="0F7173"/>
          </a:solidFill>
          <a:ln/>
        </p:spPr>
        <p:txBody>
          <a:bodyPr/>
          <a:lstStyle/>
          <a:p>
            <a:endParaRPr lang="en-US"/>
          </a:p>
        </p:txBody>
      </p:sp>
      <p:sp>
        <p:nvSpPr>
          <p:cNvPr id="8" name="Text 6"/>
          <p:cNvSpPr/>
          <p:nvPr/>
        </p:nvSpPr>
        <p:spPr>
          <a:xfrm>
            <a:off x="392400" y="31618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Xanthine</a:t>
            </a:r>
            <a:endParaRPr lang="en-US" sz="1600" dirty="0"/>
          </a:p>
        </p:txBody>
      </p:sp>
      <p:sp>
        <p:nvSpPr>
          <p:cNvPr id="9" name="Shape 7"/>
          <p:cNvSpPr/>
          <p:nvPr/>
        </p:nvSpPr>
        <p:spPr>
          <a:xfrm>
            <a:off x="3332377" y="3771900"/>
            <a:ext cx="203195" cy="152400"/>
          </a:xfrm>
          <a:custGeom>
            <a:avLst/>
            <a:gdLst/>
            <a:ahLst/>
            <a:cxnLst/>
            <a:rect l="l" t="t" r="r" b="b"/>
            <a:pathLst>
              <a:path w="203195" h="152400">
                <a:moveTo>
                  <a:pt x="0" y="0"/>
                </a:moveTo>
                <a:lnTo>
                  <a:pt x="203195" y="0"/>
                </a:lnTo>
                <a:lnTo>
                  <a:pt x="101597" y="152400"/>
                </a:lnTo>
                <a:close/>
              </a:path>
            </a:pathLst>
          </a:custGeom>
          <a:solidFill>
            <a:srgbClr val="5C6B73"/>
          </a:solidFill>
          <a:ln/>
        </p:spPr>
        <p:txBody>
          <a:bodyPr/>
          <a:lstStyle/>
          <a:p>
            <a:endParaRPr lang="en-US"/>
          </a:p>
        </p:txBody>
      </p:sp>
      <p:sp>
        <p:nvSpPr>
          <p:cNvPr id="10" name="Shape 8"/>
          <p:cNvSpPr/>
          <p:nvPr/>
        </p:nvSpPr>
        <p:spPr>
          <a:xfrm>
            <a:off x="640044" y="4191000"/>
            <a:ext cx="5587860" cy="762000"/>
          </a:xfrm>
          <a:prstGeom prst="roundRect">
            <a:avLst>
              <a:gd name="adj" fmla="val 4500"/>
            </a:avLst>
          </a:prstGeom>
          <a:solidFill>
            <a:srgbClr val="0F7173"/>
          </a:solidFill>
          <a:ln/>
        </p:spPr>
        <p:txBody>
          <a:bodyPr/>
          <a:lstStyle/>
          <a:p>
            <a:endParaRPr lang="en-US"/>
          </a:p>
        </p:txBody>
      </p:sp>
      <p:sp>
        <p:nvSpPr>
          <p:cNvPr id="11" name="Text 9"/>
          <p:cNvSpPr/>
          <p:nvPr/>
        </p:nvSpPr>
        <p:spPr>
          <a:xfrm>
            <a:off x="392400" y="44318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Uric acid</a:t>
            </a:r>
            <a:endParaRPr lang="en-US" sz="1600" dirty="0"/>
          </a:p>
        </p:txBody>
      </p:sp>
      <p:sp>
        <p:nvSpPr>
          <p:cNvPr id="12" name="Shape 10"/>
          <p:cNvSpPr/>
          <p:nvPr/>
        </p:nvSpPr>
        <p:spPr>
          <a:xfrm>
            <a:off x="640044" y="5334000"/>
            <a:ext cx="5587860" cy="762000"/>
          </a:xfrm>
          <a:prstGeom prst="roundRect">
            <a:avLst>
              <a:gd name="adj" fmla="val 4500"/>
            </a:avLst>
          </a:prstGeom>
          <a:solidFill>
            <a:srgbClr val="D1495B"/>
          </a:solidFill>
          <a:ln/>
        </p:spPr>
        <p:txBody>
          <a:bodyPr/>
          <a:lstStyle/>
          <a:p>
            <a:endParaRPr lang="en-US"/>
          </a:p>
        </p:txBody>
      </p:sp>
      <p:sp>
        <p:nvSpPr>
          <p:cNvPr id="13" name="Text 11"/>
          <p:cNvSpPr/>
          <p:nvPr/>
        </p:nvSpPr>
        <p:spPr>
          <a:xfrm>
            <a:off x="697193" y="5434608"/>
            <a:ext cx="5473563" cy="560784"/>
          </a:xfrm>
          <a:prstGeom prst="rect">
            <a:avLst/>
          </a:prstGeom>
          <a:noFill/>
          <a:ln/>
        </p:spPr>
        <p:txBody>
          <a:bodyPr wrap="square" lIns="0" tIns="0" rIns="0" bIns="0" rtlCol="0" anchor="t">
            <a:normAutofit/>
          </a:bodyPr>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Allopurinol (via oxypurinol) and febuxostat block xanthine oxidase</a:t>
            </a:r>
            <a:endParaRPr lang="en-US" sz="1600" dirty="0"/>
          </a:p>
        </p:txBody>
      </p:sp>
      <p:sp>
        <p:nvSpPr>
          <p:cNvPr id="14" name="Text 12"/>
          <p:cNvSpPr/>
          <p:nvPr/>
        </p:nvSpPr>
        <p:spPr>
          <a:xfrm>
            <a:off x="6781630" y="1498600"/>
            <a:ext cx="4724282" cy="2714030"/>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Start low and titrate upward toward a serum urate target</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Do not start during an acute flare; give colchicine or an NSAID prophylaxis for 3–6 months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Febuxostat carries a boxed warning for cardiovascular death</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Allopurinol: HLA-B*58:01 raises severe cutaneous reaction risk; reduce dose in renal impairment and with azathioprine or mercaptopurine</a:t>
            </a:r>
            <a:endParaRPr lang="en-US" sz="1600" dirty="0"/>
          </a:p>
        </p:txBody>
      </p:sp>
      <p:sp>
        <p:nvSpPr>
          <p:cNvPr id="15"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6"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OTHER OPTIONS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Other Urate-Lowering &amp; Refractory Gout Agents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468265"/>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Probenecid — mechanism: inhibits renal tubular reabsorption of uric acid, increasing its excretion.</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 uricosuric agent, not a xanthine oxidase inhibitor — a different strategy than allopurinol/febuxostat.</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Avoid in patients with a history of uric acid kidney stones or significant renal impairment.</a:t>
            </a:r>
            <a:endParaRPr lang="en-US" sz="1600" dirty="0"/>
          </a:p>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Pegloticase — a recombinant uricase enzyme for severe, refractory gout not controlled by other agents.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Given by IV infusion; converts uric acid to a more water-soluble, easily excreted compound.</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Reserved for refractory cases given its cost, infusion-reaction risk, and need for specialty administration.</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72" dirty="0">
                <a:solidFill>
                  <a:srgbClr val="0F7173"/>
                </a:solidFill>
                <a:latin typeface="Carlito Bold" pitchFamily="34" charset="0"/>
                <a:ea typeface="Carlito Bold" pitchFamily="34" charset="-122"/>
                <a:cs typeface="Carlito Bold" pitchFamily="34" charset="0"/>
              </a:rPr>
              <a:t>MECHANISM &amp; DEPTH</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Uricosurics and Uricases</a:t>
            </a:r>
            <a:endParaRPr lang="en-US" sz="2800" dirty="0"/>
          </a:p>
        </p:txBody>
      </p:sp>
      <p:sp>
        <p:nvSpPr>
          <p:cNvPr id="4" name="Shape 2"/>
          <p:cNvSpPr/>
          <p:nvPr/>
        </p:nvSpPr>
        <p:spPr>
          <a:xfrm>
            <a:off x="640044" y="1498600"/>
            <a:ext cx="5587860" cy="635000"/>
          </a:xfrm>
          <a:prstGeom prst="roundRect">
            <a:avLst>
              <a:gd name="adj" fmla="val 5400"/>
            </a:avLst>
          </a:prstGeom>
          <a:solidFill>
            <a:srgbClr val="2A6F97"/>
          </a:solidFill>
          <a:ln/>
        </p:spPr>
        <p:txBody>
          <a:bodyPr/>
          <a:lstStyle/>
          <a:p>
            <a:endParaRPr lang="en-US"/>
          </a:p>
        </p:txBody>
      </p:sp>
      <p:sp>
        <p:nvSpPr>
          <p:cNvPr id="5" name="Text 3"/>
          <p:cNvSpPr/>
          <p:nvPr/>
        </p:nvSpPr>
        <p:spPr>
          <a:xfrm>
            <a:off x="392400" y="16759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Probenecid</a:t>
            </a:r>
            <a:endParaRPr lang="en-US" sz="1600" dirty="0"/>
          </a:p>
        </p:txBody>
      </p:sp>
      <p:sp>
        <p:nvSpPr>
          <p:cNvPr id="6" name="Shape 4"/>
          <p:cNvSpPr/>
          <p:nvPr/>
        </p:nvSpPr>
        <p:spPr>
          <a:xfrm>
            <a:off x="3332377" y="2171700"/>
            <a:ext cx="203195" cy="127000"/>
          </a:xfrm>
          <a:custGeom>
            <a:avLst/>
            <a:gdLst/>
            <a:ahLst/>
            <a:cxnLst/>
            <a:rect l="l" t="t" r="r" b="b"/>
            <a:pathLst>
              <a:path w="203195" h="127000">
                <a:moveTo>
                  <a:pt x="0" y="0"/>
                </a:moveTo>
                <a:lnTo>
                  <a:pt x="203195" y="0"/>
                </a:lnTo>
                <a:lnTo>
                  <a:pt x="101597" y="127000"/>
                </a:lnTo>
                <a:close/>
              </a:path>
            </a:pathLst>
          </a:custGeom>
          <a:solidFill>
            <a:srgbClr val="5C6B73"/>
          </a:solidFill>
          <a:ln/>
        </p:spPr>
        <p:txBody>
          <a:bodyPr/>
          <a:lstStyle/>
          <a:p>
            <a:endParaRPr lang="en-US"/>
          </a:p>
        </p:txBody>
      </p:sp>
      <p:sp>
        <p:nvSpPr>
          <p:cNvPr id="7" name="Shape 5"/>
          <p:cNvSpPr/>
          <p:nvPr/>
        </p:nvSpPr>
        <p:spPr>
          <a:xfrm>
            <a:off x="640044" y="2336800"/>
            <a:ext cx="5587860" cy="635000"/>
          </a:xfrm>
          <a:prstGeom prst="roundRect">
            <a:avLst>
              <a:gd name="adj" fmla="val 5400"/>
            </a:avLst>
          </a:prstGeom>
          <a:solidFill>
            <a:srgbClr val="2A6F97"/>
          </a:solidFill>
          <a:ln/>
        </p:spPr>
        <p:txBody>
          <a:bodyPr/>
          <a:lstStyle/>
          <a:p>
            <a:endParaRPr lang="en-US"/>
          </a:p>
        </p:txBody>
      </p:sp>
      <p:sp>
        <p:nvSpPr>
          <p:cNvPr id="8" name="Text 6"/>
          <p:cNvSpPr/>
          <p:nvPr/>
        </p:nvSpPr>
        <p:spPr>
          <a:xfrm>
            <a:off x="392400" y="25141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Blocks URAT1 transporter in renal tubule</a:t>
            </a:r>
            <a:endParaRPr lang="en-US" sz="1600" dirty="0"/>
          </a:p>
        </p:txBody>
      </p:sp>
      <p:sp>
        <p:nvSpPr>
          <p:cNvPr id="9" name="Shape 7"/>
          <p:cNvSpPr/>
          <p:nvPr/>
        </p:nvSpPr>
        <p:spPr>
          <a:xfrm>
            <a:off x="3332377" y="3009900"/>
            <a:ext cx="203195" cy="127000"/>
          </a:xfrm>
          <a:custGeom>
            <a:avLst/>
            <a:gdLst/>
            <a:ahLst/>
            <a:cxnLst/>
            <a:rect l="l" t="t" r="r" b="b"/>
            <a:pathLst>
              <a:path w="203195" h="127000">
                <a:moveTo>
                  <a:pt x="0" y="0"/>
                </a:moveTo>
                <a:lnTo>
                  <a:pt x="203195" y="0"/>
                </a:lnTo>
                <a:lnTo>
                  <a:pt x="101597" y="127000"/>
                </a:lnTo>
                <a:close/>
              </a:path>
            </a:pathLst>
          </a:custGeom>
          <a:solidFill>
            <a:srgbClr val="5C6B73"/>
          </a:solidFill>
          <a:ln/>
        </p:spPr>
        <p:txBody>
          <a:bodyPr/>
          <a:lstStyle/>
          <a:p>
            <a:endParaRPr lang="en-US"/>
          </a:p>
        </p:txBody>
      </p:sp>
      <p:sp>
        <p:nvSpPr>
          <p:cNvPr id="10" name="Shape 8"/>
          <p:cNvSpPr/>
          <p:nvPr/>
        </p:nvSpPr>
        <p:spPr>
          <a:xfrm>
            <a:off x="640044" y="3175000"/>
            <a:ext cx="5587860" cy="635000"/>
          </a:xfrm>
          <a:prstGeom prst="roundRect">
            <a:avLst>
              <a:gd name="adj" fmla="val 5400"/>
            </a:avLst>
          </a:prstGeom>
          <a:solidFill>
            <a:srgbClr val="2A6F97"/>
          </a:solidFill>
          <a:ln/>
        </p:spPr>
        <p:txBody>
          <a:bodyPr/>
          <a:lstStyle/>
          <a:p>
            <a:endParaRPr lang="en-US"/>
          </a:p>
        </p:txBody>
      </p:sp>
      <p:sp>
        <p:nvSpPr>
          <p:cNvPr id="11" name="Text 9"/>
          <p:cNvSpPr/>
          <p:nvPr/>
        </p:nvSpPr>
        <p:spPr>
          <a:xfrm>
            <a:off x="392400" y="33523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Renal reabsorption falls, excretion rises</a:t>
            </a:r>
            <a:endParaRPr lang="en-US" sz="1600" dirty="0"/>
          </a:p>
        </p:txBody>
      </p:sp>
      <p:sp>
        <p:nvSpPr>
          <p:cNvPr id="12" name="Shape 10"/>
          <p:cNvSpPr/>
          <p:nvPr/>
        </p:nvSpPr>
        <p:spPr>
          <a:xfrm>
            <a:off x="640044" y="4013200"/>
            <a:ext cx="5587860" cy="635000"/>
          </a:xfrm>
          <a:prstGeom prst="roundRect">
            <a:avLst>
              <a:gd name="adj" fmla="val 5400"/>
            </a:avLst>
          </a:prstGeom>
          <a:solidFill>
            <a:srgbClr val="6B9080"/>
          </a:solidFill>
          <a:ln/>
        </p:spPr>
        <p:txBody>
          <a:bodyPr/>
          <a:lstStyle/>
          <a:p>
            <a:endParaRPr lang="en-US"/>
          </a:p>
        </p:txBody>
      </p:sp>
      <p:sp>
        <p:nvSpPr>
          <p:cNvPr id="13" name="Text 11"/>
          <p:cNvSpPr/>
          <p:nvPr/>
        </p:nvSpPr>
        <p:spPr>
          <a:xfrm>
            <a:off x="392400" y="41905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Pegloticase or rasburicase</a:t>
            </a:r>
            <a:endParaRPr lang="en-US" sz="1600" dirty="0"/>
          </a:p>
        </p:txBody>
      </p:sp>
      <p:sp>
        <p:nvSpPr>
          <p:cNvPr id="14" name="Shape 12"/>
          <p:cNvSpPr/>
          <p:nvPr/>
        </p:nvSpPr>
        <p:spPr>
          <a:xfrm>
            <a:off x="3332377" y="4686300"/>
            <a:ext cx="203195" cy="127000"/>
          </a:xfrm>
          <a:custGeom>
            <a:avLst/>
            <a:gdLst/>
            <a:ahLst/>
            <a:cxnLst/>
            <a:rect l="l" t="t" r="r" b="b"/>
            <a:pathLst>
              <a:path w="203195" h="127000">
                <a:moveTo>
                  <a:pt x="0" y="0"/>
                </a:moveTo>
                <a:lnTo>
                  <a:pt x="203195" y="0"/>
                </a:lnTo>
                <a:lnTo>
                  <a:pt x="101597" y="127000"/>
                </a:lnTo>
                <a:close/>
              </a:path>
            </a:pathLst>
          </a:custGeom>
          <a:solidFill>
            <a:srgbClr val="5C6B73"/>
          </a:solidFill>
          <a:ln/>
        </p:spPr>
        <p:txBody>
          <a:bodyPr/>
          <a:lstStyle/>
          <a:p>
            <a:endParaRPr lang="en-US"/>
          </a:p>
        </p:txBody>
      </p:sp>
      <p:sp>
        <p:nvSpPr>
          <p:cNvPr id="15" name="Shape 13"/>
          <p:cNvSpPr/>
          <p:nvPr/>
        </p:nvSpPr>
        <p:spPr>
          <a:xfrm>
            <a:off x="640044" y="4851400"/>
            <a:ext cx="5587860" cy="635000"/>
          </a:xfrm>
          <a:prstGeom prst="roundRect">
            <a:avLst>
              <a:gd name="adj" fmla="val 5400"/>
            </a:avLst>
          </a:prstGeom>
          <a:solidFill>
            <a:srgbClr val="6B9080"/>
          </a:solidFill>
          <a:ln/>
        </p:spPr>
        <p:txBody>
          <a:bodyPr/>
          <a:lstStyle/>
          <a:p>
            <a:endParaRPr lang="en-US"/>
          </a:p>
        </p:txBody>
      </p:sp>
      <p:sp>
        <p:nvSpPr>
          <p:cNvPr id="16" name="Text 14"/>
          <p:cNvSpPr/>
          <p:nvPr/>
        </p:nvSpPr>
        <p:spPr>
          <a:xfrm>
            <a:off x="392400" y="50287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Uricase converts uric acid to allantoin</a:t>
            </a:r>
            <a:endParaRPr lang="en-US" sz="1600" dirty="0"/>
          </a:p>
        </p:txBody>
      </p:sp>
      <p:sp>
        <p:nvSpPr>
          <p:cNvPr id="17" name="Shape 15"/>
          <p:cNvSpPr/>
          <p:nvPr/>
        </p:nvSpPr>
        <p:spPr>
          <a:xfrm>
            <a:off x="3332377" y="5524500"/>
            <a:ext cx="203195" cy="127000"/>
          </a:xfrm>
          <a:custGeom>
            <a:avLst/>
            <a:gdLst/>
            <a:ahLst/>
            <a:cxnLst/>
            <a:rect l="l" t="t" r="r" b="b"/>
            <a:pathLst>
              <a:path w="203195" h="127000">
                <a:moveTo>
                  <a:pt x="0" y="0"/>
                </a:moveTo>
                <a:lnTo>
                  <a:pt x="203195" y="0"/>
                </a:lnTo>
                <a:lnTo>
                  <a:pt x="101597" y="127000"/>
                </a:lnTo>
                <a:close/>
              </a:path>
            </a:pathLst>
          </a:custGeom>
          <a:solidFill>
            <a:srgbClr val="5C6B73"/>
          </a:solidFill>
          <a:ln/>
        </p:spPr>
        <p:txBody>
          <a:bodyPr/>
          <a:lstStyle/>
          <a:p>
            <a:endParaRPr lang="en-US"/>
          </a:p>
        </p:txBody>
      </p:sp>
      <p:sp>
        <p:nvSpPr>
          <p:cNvPr id="18" name="Shape 16"/>
          <p:cNvSpPr/>
          <p:nvPr/>
        </p:nvSpPr>
        <p:spPr>
          <a:xfrm>
            <a:off x="640044" y="5689600"/>
            <a:ext cx="5587860" cy="635000"/>
          </a:xfrm>
          <a:prstGeom prst="roundRect">
            <a:avLst>
              <a:gd name="adj" fmla="val 5400"/>
            </a:avLst>
          </a:prstGeom>
          <a:solidFill>
            <a:srgbClr val="6B9080"/>
          </a:solidFill>
          <a:ln/>
        </p:spPr>
        <p:txBody>
          <a:bodyPr/>
          <a:lstStyle/>
          <a:p>
            <a:endParaRPr lang="en-US"/>
          </a:p>
        </p:txBody>
      </p:sp>
      <p:sp>
        <p:nvSpPr>
          <p:cNvPr id="19" name="Text 17"/>
          <p:cNvSpPr/>
          <p:nvPr/>
        </p:nvSpPr>
        <p:spPr>
          <a:xfrm>
            <a:off x="392400" y="5866904"/>
            <a:ext cx="6083148"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Allantoin is soluble and excreted</a:t>
            </a:r>
            <a:endParaRPr lang="en-US" sz="1600" dirty="0"/>
          </a:p>
        </p:txBody>
      </p:sp>
      <p:sp>
        <p:nvSpPr>
          <p:cNvPr id="20" name="Text 18"/>
          <p:cNvSpPr/>
          <p:nvPr/>
        </p:nvSpPr>
        <p:spPr>
          <a:xfrm>
            <a:off x="6781630" y="1498600"/>
            <a:ext cx="4724282" cy="2433638"/>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Needs adequate hydration; avoid in patients with uric acid kidney stones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Pegloticase and rasburicase are contraindicated in G6PD deficiency (hemolysis risk)</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Infusion reactions are common; anti-drug antibodies can reduce response</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Probenecid is second-line; uricases are reserved for refractory gout</a:t>
            </a:r>
            <a:endParaRPr lang="en-US" sz="1600" dirty="0"/>
          </a:p>
        </p:txBody>
      </p:sp>
      <p:sp>
        <p:nvSpPr>
          <p:cNvPr id="21" name="Text 19"/>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2" name="Text 20"/>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CLINICAL CASE</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Acute Treatment or Urate-Lowering Therapy?</a:t>
            </a:r>
            <a:endParaRPr lang="en-US" sz="2800" dirty="0"/>
          </a:p>
        </p:txBody>
      </p:sp>
      <p:sp>
        <p:nvSpPr>
          <p:cNvPr id="4" name="Shape 2"/>
          <p:cNvSpPr/>
          <p:nvPr/>
        </p:nvSpPr>
        <p:spPr>
          <a:xfrm>
            <a:off x="10972526" y="502841"/>
            <a:ext cx="566823" cy="566837"/>
          </a:xfrm>
          <a:prstGeom prst="ellipse">
            <a:avLst/>
          </a:prstGeom>
          <a:solidFill>
            <a:srgbClr val="D1495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2011660"/>
          </a:xfrm>
          <a:prstGeom prst="roundRect">
            <a:avLst>
              <a:gd name="adj" fmla="val 5454"/>
            </a:avLst>
          </a:prstGeom>
          <a:solidFill>
            <a:srgbClr val="E8F1F0"/>
          </a:solidFill>
          <a:ln/>
        </p:spPr>
        <p:txBody>
          <a:bodyPr/>
          <a:lstStyle/>
          <a:p>
            <a:endParaRPr lang="en-US"/>
          </a:p>
        </p:txBody>
      </p:sp>
      <p:sp>
        <p:nvSpPr>
          <p:cNvPr id="7" name="Text 4"/>
          <p:cNvSpPr/>
          <p:nvPr/>
        </p:nvSpPr>
        <p:spPr>
          <a:xfrm>
            <a:off x="914377" y="1798169"/>
            <a:ext cx="10275234"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A1A1A"/>
                </a:solidFill>
                <a:latin typeface="Carlito" pitchFamily="34" charset="0"/>
                <a:ea typeface="Carlito" pitchFamily="34" charset="-122"/>
                <a:cs typeface="Carlito" pitchFamily="34" charset="0"/>
              </a:rPr>
              <a:t>A patient presents with sudden, severe pain, redness, and swelling of the first metatarsophalangeal joint, consistent with an acute gout flare.</a:t>
            </a:r>
            <a:endParaRPr lang="en-US" sz="1700" dirty="0"/>
          </a:p>
        </p:txBody>
      </p:sp>
      <p:sp>
        <p:nvSpPr>
          <p:cNvPr id="8" name="Text 5"/>
          <p:cNvSpPr/>
          <p:nvPr/>
        </p:nvSpPr>
        <p:spPr>
          <a:xfrm>
            <a:off x="640044" y="4250313"/>
            <a:ext cx="10881048" cy="274241"/>
          </a:xfrm>
          <a:prstGeom prst="rect">
            <a:avLst/>
          </a:prstGeom>
          <a:noFill/>
          <a:ln/>
        </p:spPr>
        <p:txBody>
          <a:bodyPr wrap="none" lIns="0" tIns="0" rIns="0" bIns="0" rtlCol="0" anchor="t"/>
          <a:lstStyle/>
          <a:p>
            <a:pPr marL="0" indent="0" algn="l">
              <a:lnSpc>
                <a:spcPct val="100000"/>
              </a:lnSpc>
              <a:buNone/>
            </a:pPr>
            <a:r>
              <a:rPr lang="en-US" sz="1800" b="1" dirty="0">
                <a:solidFill>
                  <a:srgbClr val="D1495B"/>
                </a:solidFill>
                <a:latin typeface="Carlito Bold" pitchFamily="34" charset="0"/>
                <a:ea typeface="Carlito Bold" pitchFamily="34" charset="-122"/>
                <a:cs typeface="Carlito Bold" pitchFamily="34" charset="0"/>
              </a:rPr>
              <a:t>Ask yourself:  </a:t>
            </a:r>
            <a:r>
              <a:rPr lang="en-US" sz="1800" b="1" dirty="0">
                <a:solidFill>
                  <a:srgbClr val="123C44"/>
                </a:solidFill>
                <a:latin typeface="Carlito Bold" pitchFamily="34" charset="0"/>
                <a:ea typeface="Carlito Bold" pitchFamily="34" charset="-122"/>
                <a:cs typeface="Carlito Bold" pitchFamily="34" charset="0"/>
              </a:rPr>
              <a:t>Is this the moment to start acute treatment, chronic urate-lowering therapy, or both?</a:t>
            </a:r>
            <a:endParaRPr lang="en-US" sz="1800" dirty="0"/>
          </a:p>
        </p:txBody>
      </p:sp>
      <p:sp>
        <p:nvSpPr>
          <p:cNvPr id="9" name="Text 6"/>
          <p:cNvSpPr/>
          <p:nvPr/>
        </p:nvSpPr>
        <p:spPr>
          <a:xfrm>
            <a:off x="640044" y="5061522"/>
            <a:ext cx="10823900" cy="490537"/>
          </a:xfrm>
          <a:prstGeom prst="rect">
            <a:avLst/>
          </a:prstGeom>
          <a:noFill/>
          <a:ln/>
        </p:spPr>
        <p:txBody>
          <a:bodyPr wrap="square" lIns="0" tIns="0" rIns="0" bIns="0" rtlCol="0" anchor="t">
            <a:normAutofit/>
          </a:bodyPr>
          <a:lstStyle/>
          <a:p>
            <a:pPr marL="0" indent="0" algn="l">
              <a:lnSpc>
                <a:spcPct val="115000"/>
              </a:lnSpc>
              <a:buNone/>
            </a:pPr>
            <a:r>
              <a:rPr lang="en-US" sz="1400" b="1" i="1" dirty="0">
                <a:solidFill>
                  <a:srgbClr val="0F7173"/>
                </a:solidFill>
                <a:latin typeface="Carlito Bold" pitchFamily="34" charset="0"/>
                <a:ea typeface="Carlito Bold" pitchFamily="34" charset="-122"/>
                <a:cs typeface="Carlito Bold" pitchFamily="34" charset="0"/>
              </a:rPr>
              <a:t>Clinical pearl:  </a:t>
            </a:r>
            <a:r>
              <a:rPr lang="en-US" sz="1400" i="1" dirty="0">
                <a:solidFill>
                  <a:srgbClr val="5C6B73"/>
                </a:solidFill>
                <a:latin typeface="Carlito" pitchFamily="34" charset="0"/>
                <a:ea typeface="Carlito" pitchFamily="34" charset="-122"/>
                <a:cs typeface="Carlito" pitchFamily="34" charset="0"/>
              </a:rPr>
              <a:t>Treat the acute flare first (colchicine, NSAID, or corticosteroid); urate-lowering therapy is deferred until the flare resolves, then used for long-term prevention.</a:t>
            </a:r>
            <a:endParaRPr lang="en-US" sz="1400" dirty="0"/>
          </a:p>
        </p:txBody>
      </p:sp>
      <p:sp>
        <p:nvSpPr>
          <p:cNvPr id="10" name="Text 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1" name="Text 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GOUT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81048" cy="324148"/>
          </a:xfrm>
          <a:prstGeom prst="rect">
            <a:avLst/>
          </a:prstGeom>
          <a:noFill/>
          <a:ln/>
        </p:spPr>
        <p:txBody>
          <a:bodyPr wrap="none" lIns="0" tIns="0" rIns="0" bIns="0" rtlCol="0" anchor="t"/>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A patient presents with an acute gout flare. Which action is most appropriate at this visit?</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2934891"/>
            <a:ext cx="4286143"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Treat the acute flare (colchicine, NSAID, or corticosteroid) and defer urate-lowering therapy</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Start allopurinol immediately to lower uric acid</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Start febuxostat and allopurinol together</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No treatment is needed until uric acid is measured</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GOUT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A</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Treat the acute flare and defer urate-lowering therapy.</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Starting or changing urate-lowering therapy during an acute flare can worsen or prolong it. Treat the flare first; urate-lowering therapy is started or adjusted only once it resolves.</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Drug Names Reveal the Class: Gout</a:t>
            </a:r>
            <a:endParaRPr lang="en-US" sz="27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09585" y="1602879"/>
          <a:ext cx="6659693" cy="4298048"/>
        </p:xfrm>
        <a:graphic>
          <a:graphicData uri="http://schemas.openxmlformats.org/drawingml/2006/table">
            <a:tbl>
              <a:tblPr/>
              <a:tblGrid>
                <a:gridCol w="1997819">
                  <a:extLst>
                    <a:ext uri="{9D8B030D-6E8A-4147-A177-3AD203B41FA5}">
                      <a16:colId xmlns:a16="http://schemas.microsoft.com/office/drawing/2014/main" val="20000"/>
                    </a:ext>
                  </a:extLst>
                </a:gridCol>
                <a:gridCol w="2264214">
                  <a:extLst>
                    <a:ext uri="{9D8B030D-6E8A-4147-A177-3AD203B41FA5}">
                      <a16:colId xmlns:a16="http://schemas.microsoft.com/office/drawing/2014/main" val="20001"/>
                    </a:ext>
                  </a:extLst>
                </a:gridCol>
                <a:gridCol w="2397660">
                  <a:extLst>
                    <a:ext uri="{9D8B030D-6E8A-4147-A177-3AD203B41FA5}">
                      <a16:colId xmlns:a16="http://schemas.microsoft.com/office/drawing/2014/main" val="20002"/>
                    </a:ext>
                  </a:extLst>
                </a:gridCol>
              </a:tblGrid>
              <a:tr h="455601">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Name pattern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Drug class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Examples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0"/>
                  </a:ext>
                </a:extLst>
              </a:tr>
              <a:tr h="735986">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-ostat</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Xanthine oxidase inhibitor</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Allopurinol (exception), febuxostat</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1"/>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-ase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Enzyme (uricase)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Pegloticase, rasburicase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2"/>
                  </a:ext>
                </a:extLst>
              </a:tr>
              <a:tr h="735986">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colchicine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Plant-derived alkaloid, no stem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Colchicine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3"/>
                  </a:ext>
                </a:extLst>
              </a:tr>
              <a:tr h="735986">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probenecid, lesinurad-type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Uricosurics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Probenecid</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4"/>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-profen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Propionic-acid NSAIDs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Ibuprofen, naproxen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5"/>
                  </a:ext>
                </a:extLst>
              </a:tr>
              <a:tr h="723287">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-sone, -olone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Corticosteroids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Prednisone, methylprednisolone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7726368" y="1602879"/>
            <a:ext cx="3855743" cy="2448818"/>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Suffixes often reveal the mechanism before you recall the drug</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-ostat marks xanthine oxidase inhibitors; allopurinol is the exception</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-ase names enzymes, so pegloticase and rasburicase are uricases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-sone and -olone mark corticosteroids used to treat flares</a:t>
            </a:r>
            <a:endParaRPr lang="en-US" sz="1600" dirty="0"/>
          </a:p>
        </p:txBody>
      </p:sp>
      <p:sp>
        <p:nvSpPr>
          <p:cNvPr id="6"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7"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06</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Skeletal Muscle Relaxants</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Different mechanisms for spasm, spasticity, and rigidity.</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NOT THE SAME THING</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Spasm vs. Spasticity vs. Rigidity</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Muscle Spasm</a:t>
            </a:r>
            <a:endParaRPr lang="en-US" sz="1600" dirty="0"/>
          </a:p>
        </p:txBody>
      </p:sp>
      <p:sp>
        <p:nvSpPr>
          <p:cNvPr id="11" name="Text 8"/>
          <p:cNvSpPr/>
          <p:nvPr/>
        </p:nvSpPr>
        <p:spPr>
          <a:xfrm>
            <a:off x="1046236" y="2272010"/>
            <a:ext cx="4576946" cy="86836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Sudden, involuntary contraction</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Often from acute musculoskeletal injury</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Typically treated with centrally-acting relaxants</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Spasticity &amp; Rigidity</a:t>
            </a:r>
            <a:endParaRPr lang="en-US" sz="1600" dirty="0"/>
          </a:p>
        </p:txBody>
      </p:sp>
      <p:sp>
        <p:nvSpPr>
          <p:cNvPr id="15" name="Text 12"/>
          <p:cNvSpPr/>
          <p:nvPr/>
        </p:nvSpPr>
        <p:spPr>
          <a:xfrm>
            <a:off x="6715354" y="2272010"/>
            <a:ext cx="4519896" cy="1081683"/>
          </a:xfrm>
          <a:prstGeom prst="rect">
            <a:avLst/>
          </a:prstGeom>
          <a:noFill/>
          <a:ln/>
        </p:spPr>
        <p:txBody>
          <a:bodyPr wrap="square" lIns="0" tIns="0" rIns="0" bIns="0" rtlCol="0" anchor="t">
            <a:normAutofit/>
          </a:bodyPr>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Spasticity: velocity-dependent increased tone from upper motor neuron injury</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Rigidity: constant increased tone, independent of velocity</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Often require distinct pharmacologic approaches</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Where Muscle Tone Is Controlled</a:t>
            </a:r>
            <a:endParaRPr lang="en-US" sz="3000" dirty="0"/>
          </a:p>
        </p:txBody>
      </p:sp>
      <p:sp>
        <p:nvSpPr>
          <p:cNvPr id="4" name="Shape 2"/>
          <p:cNvSpPr/>
          <p:nvPr/>
        </p:nvSpPr>
        <p:spPr>
          <a:xfrm>
            <a:off x="609585" y="1637903"/>
            <a:ext cx="6400640" cy="483592"/>
          </a:xfrm>
          <a:prstGeom prst="rect">
            <a:avLst/>
          </a:prstGeom>
          <a:solidFill>
            <a:srgbClr val="0F7173"/>
          </a:solidFill>
          <a:ln/>
        </p:spPr>
        <p:txBody>
          <a:bodyPr/>
          <a:lstStyle/>
          <a:p>
            <a:endParaRPr lang="en-US"/>
          </a:p>
        </p:txBody>
      </p:sp>
      <p:sp>
        <p:nvSpPr>
          <p:cNvPr id="5" name="Text 3"/>
          <p:cNvSpPr/>
          <p:nvPr/>
        </p:nvSpPr>
        <p:spPr>
          <a:xfrm>
            <a:off x="609585" y="1739503"/>
            <a:ext cx="6400640" cy="280392"/>
          </a:xfrm>
          <a:prstGeom prst="rect">
            <a:avLst/>
          </a:prstGeom>
          <a:noFill/>
          <a:ln/>
        </p:spPr>
        <p:txBody>
          <a:bodyPr wrap="none" lIns="0" tIns="0" rIns="0" bIns="0" rtlCol="0" anchor="t"/>
          <a:lstStyle/>
          <a:p>
            <a:pPr marL="0" indent="0" algn="ctr">
              <a:lnSpc>
                <a:spcPct val="115000"/>
              </a:lnSpc>
              <a:buNone/>
            </a:pPr>
            <a:r>
              <a:rPr lang="en-US" sz="1500" b="1" dirty="0">
                <a:solidFill>
                  <a:srgbClr val="FFFFFF"/>
                </a:solidFill>
                <a:latin typeface="Carlito Bold" pitchFamily="34" charset="0"/>
                <a:ea typeface="Carlito Bold" pitchFamily="34" charset="-122"/>
                <a:cs typeface="Carlito Bold" pitchFamily="34" charset="0"/>
              </a:rPr>
              <a:t>Upper motor neurons: descending inhibitory pathways</a:t>
            </a:r>
            <a:endParaRPr lang="en-US" sz="1600" dirty="0"/>
          </a:p>
        </p:txBody>
      </p:sp>
      <p:sp>
        <p:nvSpPr>
          <p:cNvPr id="6" name="Text 4"/>
          <p:cNvSpPr/>
          <p:nvPr/>
        </p:nvSpPr>
        <p:spPr>
          <a:xfrm>
            <a:off x="609585" y="2121495"/>
            <a:ext cx="6400640" cy="280392"/>
          </a:xfrm>
          <a:prstGeom prst="rect">
            <a:avLst/>
          </a:prstGeom>
          <a:noFill/>
          <a:ln/>
        </p:spPr>
        <p:txBody>
          <a:bodyPr wrap="none" lIns="0" tIns="0" rIns="0" bIns="0" rtlCol="0" anchor="t"/>
          <a:lstStyle/>
          <a:p>
            <a:pPr marL="0" indent="0" algn="ctr">
              <a:lnSpc>
                <a:spcPct val="115000"/>
              </a:lnSpc>
              <a:buNone/>
            </a:pPr>
            <a:r>
              <a:rPr lang="en-US" sz="1200" dirty="0">
                <a:solidFill>
                  <a:srgbClr val="1A1A1A"/>
                </a:solidFill>
                <a:latin typeface="Carlito" pitchFamily="34" charset="0"/>
                <a:ea typeface="Carlito" pitchFamily="34" charset="-122"/>
                <a:cs typeface="Carlito" pitchFamily="34" charset="0"/>
              </a:rPr>
              <a:t>▼</a:t>
            </a:r>
            <a:endParaRPr lang="en-US" sz="1600" dirty="0"/>
          </a:p>
        </p:txBody>
      </p:sp>
      <p:sp>
        <p:nvSpPr>
          <p:cNvPr id="7" name="Shape 5"/>
          <p:cNvSpPr/>
          <p:nvPr/>
        </p:nvSpPr>
        <p:spPr>
          <a:xfrm>
            <a:off x="609585" y="2401888"/>
            <a:ext cx="6400640" cy="483592"/>
          </a:xfrm>
          <a:prstGeom prst="rect">
            <a:avLst/>
          </a:prstGeom>
          <a:solidFill>
            <a:srgbClr val="0F7173"/>
          </a:solidFill>
          <a:ln/>
        </p:spPr>
        <p:txBody>
          <a:bodyPr/>
          <a:lstStyle/>
          <a:p>
            <a:endParaRPr lang="en-US"/>
          </a:p>
        </p:txBody>
      </p:sp>
      <p:sp>
        <p:nvSpPr>
          <p:cNvPr id="8" name="Text 6"/>
          <p:cNvSpPr/>
          <p:nvPr/>
        </p:nvSpPr>
        <p:spPr>
          <a:xfrm>
            <a:off x="609585" y="2503487"/>
            <a:ext cx="6400640" cy="280392"/>
          </a:xfrm>
          <a:prstGeom prst="rect">
            <a:avLst/>
          </a:prstGeom>
          <a:noFill/>
          <a:ln/>
        </p:spPr>
        <p:txBody>
          <a:bodyPr wrap="none" lIns="0" tIns="0" rIns="0" bIns="0" rtlCol="0" anchor="t"/>
          <a:lstStyle/>
          <a:p>
            <a:pPr marL="0" indent="0" algn="ctr">
              <a:lnSpc>
                <a:spcPct val="115000"/>
              </a:lnSpc>
              <a:buNone/>
            </a:pPr>
            <a:r>
              <a:rPr lang="en-US" sz="1500" b="1" dirty="0">
                <a:solidFill>
                  <a:srgbClr val="FFFFFF"/>
                </a:solidFill>
                <a:latin typeface="Carlito Bold" pitchFamily="34" charset="0"/>
                <a:ea typeface="Carlito Bold" pitchFamily="34" charset="-122"/>
                <a:cs typeface="Carlito Bold" pitchFamily="34" charset="0"/>
              </a:rPr>
              <a:t>Spinal interneurons (GABA, glycine, alpha-2)</a:t>
            </a:r>
            <a:endParaRPr lang="en-US" sz="1600" dirty="0"/>
          </a:p>
        </p:txBody>
      </p:sp>
      <p:sp>
        <p:nvSpPr>
          <p:cNvPr id="9" name="Text 7"/>
          <p:cNvSpPr/>
          <p:nvPr/>
        </p:nvSpPr>
        <p:spPr>
          <a:xfrm>
            <a:off x="609585" y="2885480"/>
            <a:ext cx="6400640" cy="280392"/>
          </a:xfrm>
          <a:prstGeom prst="rect">
            <a:avLst/>
          </a:prstGeom>
          <a:noFill/>
          <a:ln/>
        </p:spPr>
        <p:txBody>
          <a:bodyPr wrap="none" lIns="0" tIns="0" rIns="0" bIns="0" rtlCol="0" anchor="t"/>
          <a:lstStyle/>
          <a:p>
            <a:pPr marL="0" indent="0" algn="ctr">
              <a:lnSpc>
                <a:spcPct val="115000"/>
              </a:lnSpc>
              <a:buNone/>
            </a:pPr>
            <a:r>
              <a:rPr lang="en-US" sz="1200" dirty="0">
                <a:solidFill>
                  <a:srgbClr val="1A1A1A"/>
                </a:solidFill>
                <a:latin typeface="Carlito" pitchFamily="34" charset="0"/>
                <a:ea typeface="Carlito" pitchFamily="34" charset="-122"/>
                <a:cs typeface="Carlito" pitchFamily="34" charset="0"/>
              </a:rPr>
              <a:t>▼</a:t>
            </a:r>
            <a:endParaRPr lang="en-US" sz="1600" dirty="0"/>
          </a:p>
        </p:txBody>
      </p:sp>
      <p:sp>
        <p:nvSpPr>
          <p:cNvPr id="10" name="Shape 8"/>
          <p:cNvSpPr/>
          <p:nvPr/>
        </p:nvSpPr>
        <p:spPr>
          <a:xfrm>
            <a:off x="609585" y="3165872"/>
            <a:ext cx="6400640" cy="483592"/>
          </a:xfrm>
          <a:prstGeom prst="rect">
            <a:avLst/>
          </a:prstGeom>
          <a:solidFill>
            <a:srgbClr val="2A6F97"/>
          </a:solidFill>
          <a:ln/>
        </p:spPr>
        <p:txBody>
          <a:bodyPr/>
          <a:lstStyle/>
          <a:p>
            <a:endParaRPr lang="en-US"/>
          </a:p>
        </p:txBody>
      </p:sp>
      <p:sp>
        <p:nvSpPr>
          <p:cNvPr id="11" name="Text 9"/>
          <p:cNvSpPr/>
          <p:nvPr/>
        </p:nvSpPr>
        <p:spPr>
          <a:xfrm>
            <a:off x="609585" y="3267472"/>
            <a:ext cx="6400640" cy="280392"/>
          </a:xfrm>
          <a:prstGeom prst="rect">
            <a:avLst/>
          </a:prstGeom>
          <a:noFill/>
          <a:ln/>
        </p:spPr>
        <p:txBody>
          <a:bodyPr wrap="none" lIns="0" tIns="0" rIns="0" bIns="0" rtlCol="0" anchor="t"/>
          <a:lstStyle/>
          <a:p>
            <a:pPr marL="0" indent="0" algn="ctr">
              <a:lnSpc>
                <a:spcPct val="115000"/>
              </a:lnSpc>
              <a:buNone/>
            </a:pPr>
            <a:r>
              <a:rPr lang="en-US" sz="1500" b="1" dirty="0">
                <a:solidFill>
                  <a:srgbClr val="FFFFFF"/>
                </a:solidFill>
                <a:latin typeface="Carlito Bold" pitchFamily="34" charset="0"/>
                <a:ea typeface="Carlito Bold" pitchFamily="34" charset="-122"/>
                <a:cs typeface="Carlito Bold" pitchFamily="34" charset="0"/>
              </a:rPr>
              <a:t>Alpha motor neuron</a:t>
            </a:r>
            <a:endParaRPr lang="en-US" sz="1600" dirty="0"/>
          </a:p>
        </p:txBody>
      </p:sp>
      <p:sp>
        <p:nvSpPr>
          <p:cNvPr id="12" name="Text 10"/>
          <p:cNvSpPr/>
          <p:nvPr/>
        </p:nvSpPr>
        <p:spPr>
          <a:xfrm>
            <a:off x="609585" y="3649464"/>
            <a:ext cx="6400640" cy="280392"/>
          </a:xfrm>
          <a:prstGeom prst="rect">
            <a:avLst/>
          </a:prstGeom>
          <a:noFill/>
          <a:ln/>
        </p:spPr>
        <p:txBody>
          <a:bodyPr wrap="none" lIns="0" tIns="0" rIns="0" bIns="0" rtlCol="0" anchor="t"/>
          <a:lstStyle/>
          <a:p>
            <a:pPr marL="0" indent="0" algn="ctr">
              <a:lnSpc>
                <a:spcPct val="115000"/>
              </a:lnSpc>
              <a:buNone/>
            </a:pPr>
            <a:r>
              <a:rPr lang="en-US" sz="1200" dirty="0">
                <a:solidFill>
                  <a:srgbClr val="1A1A1A"/>
                </a:solidFill>
                <a:latin typeface="Carlito" pitchFamily="34" charset="0"/>
                <a:ea typeface="Carlito" pitchFamily="34" charset="-122"/>
                <a:cs typeface="Carlito" pitchFamily="34" charset="0"/>
              </a:rPr>
              <a:t>▼</a:t>
            </a:r>
            <a:endParaRPr lang="en-US" sz="1600" dirty="0"/>
          </a:p>
        </p:txBody>
      </p:sp>
      <p:sp>
        <p:nvSpPr>
          <p:cNvPr id="13" name="Shape 11"/>
          <p:cNvSpPr/>
          <p:nvPr/>
        </p:nvSpPr>
        <p:spPr>
          <a:xfrm>
            <a:off x="609585" y="3929856"/>
            <a:ext cx="6400640" cy="483592"/>
          </a:xfrm>
          <a:prstGeom prst="rect">
            <a:avLst/>
          </a:prstGeom>
          <a:solidFill>
            <a:srgbClr val="2A6F97"/>
          </a:solidFill>
          <a:ln/>
        </p:spPr>
        <p:txBody>
          <a:bodyPr/>
          <a:lstStyle/>
          <a:p>
            <a:endParaRPr lang="en-US"/>
          </a:p>
        </p:txBody>
      </p:sp>
      <p:sp>
        <p:nvSpPr>
          <p:cNvPr id="14" name="Text 12"/>
          <p:cNvSpPr/>
          <p:nvPr/>
        </p:nvSpPr>
        <p:spPr>
          <a:xfrm>
            <a:off x="609585" y="4031456"/>
            <a:ext cx="6400640" cy="280392"/>
          </a:xfrm>
          <a:prstGeom prst="rect">
            <a:avLst/>
          </a:prstGeom>
          <a:noFill/>
          <a:ln/>
        </p:spPr>
        <p:txBody>
          <a:bodyPr wrap="none" lIns="0" tIns="0" rIns="0" bIns="0" rtlCol="0" anchor="t"/>
          <a:lstStyle/>
          <a:p>
            <a:pPr marL="0" indent="0" algn="ctr">
              <a:lnSpc>
                <a:spcPct val="115000"/>
              </a:lnSpc>
              <a:buNone/>
            </a:pPr>
            <a:r>
              <a:rPr lang="en-US" sz="1500" b="1" dirty="0">
                <a:solidFill>
                  <a:srgbClr val="FFFFFF"/>
                </a:solidFill>
                <a:latin typeface="Carlito Bold" pitchFamily="34" charset="0"/>
                <a:ea typeface="Carlito Bold" pitchFamily="34" charset="-122"/>
                <a:cs typeface="Carlito Bold" pitchFamily="34" charset="0"/>
              </a:rPr>
              <a:t>Neuromuscular junction (ACh release)</a:t>
            </a:r>
            <a:endParaRPr lang="en-US" sz="1600" dirty="0"/>
          </a:p>
        </p:txBody>
      </p:sp>
      <p:sp>
        <p:nvSpPr>
          <p:cNvPr id="15" name="Text 13"/>
          <p:cNvSpPr/>
          <p:nvPr/>
        </p:nvSpPr>
        <p:spPr>
          <a:xfrm>
            <a:off x="609585" y="4413448"/>
            <a:ext cx="6400640" cy="280392"/>
          </a:xfrm>
          <a:prstGeom prst="rect">
            <a:avLst/>
          </a:prstGeom>
          <a:noFill/>
          <a:ln/>
        </p:spPr>
        <p:txBody>
          <a:bodyPr wrap="none" lIns="0" tIns="0" rIns="0" bIns="0" rtlCol="0" anchor="t"/>
          <a:lstStyle/>
          <a:p>
            <a:pPr marL="0" indent="0" algn="ctr">
              <a:lnSpc>
                <a:spcPct val="115000"/>
              </a:lnSpc>
              <a:buNone/>
            </a:pPr>
            <a:r>
              <a:rPr lang="en-US" sz="1200" dirty="0">
                <a:solidFill>
                  <a:srgbClr val="1A1A1A"/>
                </a:solidFill>
                <a:latin typeface="Carlito" pitchFamily="34" charset="0"/>
                <a:ea typeface="Carlito" pitchFamily="34" charset="-122"/>
                <a:cs typeface="Carlito" pitchFamily="34" charset="0"/>
              </a:rPr>
              <a:t>▼</a:t>
            </a:r>
            <a:endParaRPr lang="en-US" sz="1600" dirty="0"/>
          </a:p>
        </p:txBody>
      </p:sp>
      <p:sp>
        <p:nvSpPr>
          <p:cNvPr id="16" name="Shape 14"/>
          <p:cNvSpPr/>
          <p:nvPr/>
        </p:nvSpPr>
        <p:spPr>
          <a:xfrm>
            <a:off x="609585" y="4693841"/>
            <a:ext cx="6400640" cy="483592"/>
          </a:xfrm>
          <a:prstGeom prst="rect">
            <a:avLst/>
          </a:prstGeom>
          <a:solidFill>
            <a:srgbClr val="2A6F97"/>
          </a:solidFill>
          <a:ln/>
        </p:spPr>
        <p:txBody>
          <a:bodyPr/>
          <a:lstStyle/>
          <a:p>
            <a:endParaRPr lang="en-US"/>
          </a:p>
        </p:txBody>
      </p:sp>
      <p:sp>
        <p:nvSpPr>
          <p:cNvPr id="17" name="Text 15"/>
          <p:cNvSpPr/>
          <p:nvPr/>
        </p:nvSpPr>
        <p:spPr>
          <a:xfrm>
            <a:off x="609585" y="4795441"/>
            <a:ext cx="6400640" cy="280392"/>
          </a:xfrm>
          <a:prstGeom prst="rect">
            <a:avLst/>
          </a:prstGeom>
          <a:noFill/>
          <a:ln/>
        </p:spPr>
        <p:txBody>
          <a:bodyPr wrap="none" lIns="0" tIns="0" rIns="0" bIns="0" rtlCol="0" anchor="t"/>
          <a:lstStyle/>
          <a:p>
            <a:pPr marL="0" indent="0" algn="ctr">
              <a:lnSpc>
                <a:spcPct val="115000"/>
              </a:lnSpc>
              <a:buNone/>
            </a:pPr>
            <a:r>
              <a:rPr lang="en-US" sz="1500" b="1" dirty="0">
                <a:solidFill>
                  <a:srgbClr val="FFFFFF"/>
                </a:solidFill>
                <a:latin typeface="Carlito Bold" pitchFamily="34" charset="0"/>
                <a:ea typeface="Carlito Bold" pitchFamily="34" charset="-122"/>
                <a:cs typeface="Carlito Bold" pitchFamily="34" charset="0"/>
              </a:rPr>
              <a:t>Muscle fiber contraction (SR Ca²⁺ release)</a:t>
            </a:r>
            <a:endParaRPr lang="en-US" sz="1600" dirty="0"/>
          </a:p>
        </p:txBody>
      </p:sp>
      <p:sp>
        <p:nvSpPr>
          <p:cNvPr id="18" name="Text 16"/>
          <p:cNvSpPr/>
          <p:nvPr/>
        </p:nvSpPr>
        <p:spPr>
          <a:xfrm>
            <a:off x="7314918" y="1637903"/>
            <a:ext cx="4267192" cy="1888034"/>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Baclofen and tizanidine act on spinal interneurons and afferents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Cyclobenzaprine acts in the brainstem</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Botulinum toxin blocks ACh release at the junction</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Dantrolene acts inside the fiber on RyR1</a:t>
            </a:r>
            <a:endParaRPr lang="en-US" sz="1600" dirty="0"/>
          </a:p>
        </p:txBody>
      </p:sp>
      <p:sp>
        <p:nvSpPr>
          <p:cNvPr id="19" name="Text 1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0" name="Text 1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CLASSIFICATION</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Centrally vs. Peripherally Acting Agents</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Centrally Acting</a:t>
            </a:r>
            <a:endParaRPr lang="en-US" sz="1600" dirty="0"/>
          </a:p>
        </p:txBody>
      </p:sp>
      <p:sp>
        <p:nvSpPr>
          <p:cNvPr id="11" name="Text 8"/>
          <p:cNvSpPr/>
          <p:nvPr/>
        </p:nvSpPr>
        <p:spPr>
          <a:xfrm>
            <a:off x="1046236"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Cyclobenzaprine, tizanidine, baclofen — first-line agents</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Carisoprodol, methocarbamol, metaxalone, chlorzoxazone — other options</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Act within the CNS to reduce muscle tone</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Peripherally / Locally Acting</a:t>
            </a:r>
            <a:endParaRPr lang="en-US" sz="1600" dirty="0"/>
          </a:p>
        </p:txBody>
      </p:sp>
      <p:sp>
        <p:nvSpPr>
          <p:cNvPr id="15" name="Text 12"/>
          <p:cNvSpPr/>
          <p:nvPr/>
        </p:nvSpPr>
        <p:spPr>
          <a:xfrm>
            <a:off x="6715354" y="2272010"/>
            <a:ext cx="4576946" cy="86836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Dantrolene — acts directly on skeletal muscle itself</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Botulinum toxin — acts at the neuromuscular junction</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Useful when a central mechanism is not desired (or not safe)</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5</a:t>
            </a:r>
            <a:endParaRPr lang="en-US" sz="1200" dirty="0"/>
          </a:p>
        </p:txBody>
      </p:sp>
      <p:sp>
        <p:nvSpPr>
          <p:cNvPr id="3" name="Text 1"/>
          <p:cNvSpPr/>
          <p:nvPr/>
        </p:nvSpPr>
        <p:spPr>
          <a:xfrm>
            <a:off x="731422" y="716439"/>
            <a:ext cx="10092477" cy="853281"/>
          </a:xfrm>
          <a:prstGeom prst="rect">
            <a:avLst/>
          </a:prstGeom>
          <a:noFill/>
          <a:ln/>
        </p:spPr>
        <p:txBody>
          <a:bodyPr wrap="square" lIns="0" tIns="0" rIns="0" bIns="0" rtlCol="0" anchor="t">
            <a:normAutofit/>
          </a:bodyPr>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Skeletal Muscle Relaxants: Central vs. Peripheral Site of Action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1989485" y="1554460"/>
            <a:ext cx="8182068"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5. Original illustrative diagram (not from Katzung): cyclobenzaprine, tizanidine, and baclofen act within the CNS to reduce excitatory output to motor neurons, while dantrolene acts directly on the skeletal muscle fiber itself.</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FIGURE 5</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In Figure 5, which agent is the odd one out, acting directly on the skeletal muscle fiber rather than within the central nervous system?</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Cyclobenzaprine</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Tizanidine</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Baclofen</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Dantrolene</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FIGURE 5</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D</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Dantrolene.</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Dantrolene decreases calcium release from the skeletal muscle sarcoplasmic reticulum, acting directly on the muscle fiber — unlike cyclobenzaprine, tizanidine, and baclofen, which all act within the CNS to reduce excitatory output to motor neurons.</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CENTRALLY ACTING</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Baclofen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GABA-B receptor agonist in the spinal cord.</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Clinical use: spasticity, particularly from spinal cord injury or multiple sclerosis.</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Major concern: CNS depression — sedation, additive risk with other CNS depressants.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Abrupt discontinuation (especially intrathecal) can cause a dangerous withdrawal syndrome.</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Baclofen: GABA-B Agonism in the Spinal Cord</a:t>
            </a:r>
            <a:endParaRPr lang="en-US" sz="3000" dirty="0"/>
          </a:p>
        </p:txBody>
      </p:sp>
      <p:sp>
        <p:nvSpPr>
          <p:cNvPr id="4" name="Shape 2"/>
          <p:cNvSpPr/>
          <p:nvPr/>
        </p:nvSpPr>
        <p:spPr>
          <a:xfrm>
            <a:off x="495288" y="2018903"/>
            <a:ext cx="6819729" cy="448469"/>
          </a:xfrm>
          <a:prstGeom prst="rect">
            <a:avLst/>
          </a:prstGeom>
          <a:solidFill>
            <a:srgbClr val="0F7173"/>
          </a:solidFill>
          <a:ln/>
        </p:spPr>
        <p:txBody>
          <a:bodyPr/>
          <a:lstStyle/>
          <a:p>
            <a:endParaRPr lang="en-US"/>
          </a:p>
        </p:txBody>
      </p:sp>
      <p:sp>
        <p:nvSpPr>
          <p:cNvPr id="5" name="Text 3"/>
          <p:cNvSpPr/>
          <p:nvPr/>
        </p:nvSpPr>
        <p:spPr>
          <a:xfrm>
            <a:off x="495288" y="2121075"/>
            <a:ext cx="6819729"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Baclofen binds GABA-B receptors</a:t>
            </a:r>
            <a:endParaRPr lang="en-US" sz="1400" dirty="0"/>
          </a:p>
        </p:txBody>
      </p:sp>
      <p:sp>
        <p:nvSpPr>
          <p:cNvPr id="6" name="Text 4"/>
          <p:cNvSpPr/>
          <p:nvPr/>
        </p:nvSpPr>
        <p:spPr>
          <a:xfrm>
            <a:off x="495288" y="2467943"/>
            <a:ext cx="6819729"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495288" y="2712641"/>
            <a:ext cx="6819729" cy="448469"/>
          </a:xfrm>
          <a:prstGeom prst="rect">
            <a:avLst/>
          </a:prstGeom>
          <a:solidFill>
            <a:srgbClr val="0F7173"/>
          </a:solidFill>
          <a:ln/>
        </p:spPr>
        <p:txBody>
          <a:bodyPr/>
          <a:lstStyle/>
          <a:p>
            <a:endParaRPr lang="en-US"/>
          </a:p>
        </p:txBody>
      </p:sp>
      <p:sp>
        <p:nvSpPr>
          <p:cNvPr id="8" name="Text 6"/>
          <p:cNvSpPr/>
          <p:nvPr/>
        </p:nvSpPr>
        <p:spPr>
          <a:xfrm>
            <a:off x="495288" y="2814812"/>
            <a:ext cx="6819729"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Opens K⁺ channels, closes Ca²⁺ channels: presynaptic inhibition</a:t>
            </a:r>
            <a:endParaRPr lang="en-US" sz="1400" dirty="0"/>
          </a:p>
        </p:txBody>
      </p:sp>
      <p:sp>
        <p:nvSpPr>
          <p:cNvPr id="9" name="Text 7"/>
          <p:cNvSpPr/>
          <p:nvPr/>
        </p:nvSpPr>
        <p:spPr>
          <a:xfrm>
            <a:off x="495288" y="3161681"/>
            <a:ext cx="6819729"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495288" y="3406378"/>
            <a:ext cx="6819729" cy="448469"/>
          </a:xfrm>
          <a:prstGeom prst="rect">
            <a:avLst/>
          </a:prstGeom>
          <a:solidFill>
            <a:srgbClr val="2A6F97"/>
          </a:solidFill>
          <a:ln/>
        </p:spPr>
        <p:txBody>
          <a:bodyPr/>
          <a:lstStyle/>
          <a:p>
            <a:endParaRPr lang="en-US"/>
          </a:p>
        </p:txBody>
      </p:sp>
      <p:sp>
        <p:nvSpPr>
          <p:cNvPr id="11" name="Text 9"/>
          <p:cNvSpPr/>
          <p:nvPr/>
        </p:nvSpPr>
        <p:spPr>
          <a:xfrm>
            <a:off x="495288" y="3508550"/>
            <a:ext cx="6819729"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Less excitatory neurotransmitter release</a:t>
            </a:r>
            <a:endParaRPr lang="en-US" sz="1400" dirty="0"/>
          </a:p>
        </p:txBody>
      </p:sp>
      <p:sp>
        <p:nvSpPr>
          <p:cNvPr id="12" name="Text 10"/>
          <p:cNvSpPr/>
          <p:nvPr/>
        </p:nvSpPr>
        <p:spPr>
          <a:xfrm>
            <a:off x="495288" y="3855418"/>
            <a:ext cx="6819729"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495288" y="4100116"/>
            <a:ext cx="6819729" cy="448469"/>
          </a:xfrm>
          <a:prstGeom prst="rect">
            <a:avLst/>
          </a:prstGeom>
          <a:solidFill>
            <a:srgbClr val="2A6F97"/>
          </a:solidFill>
          <a:ln/>
        </p:spPr>
        <p:txBody>
          <a:bodyPr/>
          <a:lstStyle/>
          <a:p>
            <a:endParaRPr lang="en-US"/>
          </a:p>
        </p:txBody>
      </p:sp>
      <p:sp>
        <p:nvSpPr>
          <p:cNvPr id="14" name="Text 12"/>
          <p:cNvSpPr/>
          <p:nvPr/>
        </p:nvSpPr>
        <p:spPr>
          <a:xfrm>
            <a:off x="495288" y="4202287"/>
            <a:ext cx="6819729"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Lower motor neuron firing: reduced spasticity</a:t>
            </a:r>
            <a:endParaRPr lang="en-US" sz="1400" dirty="0"/>
          </a:p>
        </p:txBody>
      </p:sp>
      <p:sp>
        <p:nvSpPr>
          <p:cNvPr id="15" name="Text 13"/>
          <p:cNvSpPr/>
          <p:nvPr/>
        </p:nvSpPr>
        <p:spPr>
          <a:xfrm>
            <a:off x="7467413" y="2018903"/>
            <a:ext cx="4571886" cy="160764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Abrupt withdrawal (especially intrathecal) can cause seizures, hyperthermia, rebound spasticity</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Sedation and weakness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Renal dose adjustment</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Intrathecal option for severe spasticity</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CENTRALLY ACTING</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Tizanidine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central α2-adrenergic agonist.</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Reduces excitatory input to motor neurons, lowering muscle tone.</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Adverse effects: sedation, hypotension, dry mouth, hepatotoxicity.</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Requires liver function monitoring with regular use.</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Tizanidine: Central Alpha-2 Agonism</a:t>
            </a:r>
            <a:endParaRPr lang="en-US" sz="3000" dirty="0"/>
          </a:p>
        </p:txBody>
      </p:sp>
      <p:sp>
        <p:nvSpPr>
          <p:cNvPr id="4" name="Shape 2"/>
          <p:cNvSpPr/>
          <p:nvPr/>
        </p:nvSpPr>
        <p:spPr>
          <a:xfrm>
            <a:off x="609585" y="1637903"/>
            <a:ext cx="6400640" cy="448469"/>
          </a:xfrm>
          <a:prstGeom prst="rect">
            <a:avLst/>
          </a:prstGeom>
          <a:solidFill>
            <a:srgbClr val="0F7173"/>
          </a:solidFill>
          <a:ln/>
        </p:spPr>
        <p:txBody>
          <a:bodyPr/>
          <a:lstStyle/>
          <a:p>
            <a:endParaRPr lang="en-US"/>
          </a:p>
        </p:txBody>
      </p:sp>
      <p:sp>
        <p:nvSpPr>
          <p:cNvPr id="5" name="Text 3"/>
          <p:cNvSpPr/>
          <p:nvPr/>
        </p:nvSpPr>
        <p:spPr>
          <a:xfrm>
            <a:off x="609585" y="1740075"/>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Tizanidine activates alpha-2 receptors</a:t>
            </a:r>
            <a:endParaRPr lang="en-US" sz="1400" dirty="0"/>
          </a:p>
        </p:txBody>
      </p:sp>
      <p:sp>
        <p:nvSpPr>
          <p:cNvPr id="6" name="Text 4"/>
          <p:cNvSpPr/>
          <p:nvPr/>
        </p:nvSpPr>
        <p:spPr>
          <a:xfrm>
            <a:off x="609585" y="2086943"/>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331641"/>
            <a:ext cx="6400640" cy="448469"/>
          </a:xfrm>
          <a:prstGeom prst="rect">
            <a:avLst/>
          </a:prstGeom>
          <a:solidFill>
            <a:srgbClr val="0F7173"/>
          </a:solidFill>
          <a:ln/>
        </p:spPr>
        <p:txBody>
          <a:bodyPr/>
          <a:lstStyle/>
          <a:p>
            <a:endParaRPr lang="en-US"/>
          </a:p>
        </p:txBody>
      </p:sp>
      <p:sp>
        <p:nvSpPr>
          <p:cNvPr id="8" name="Text 6"/>
          <p:cNvSpPr/>
          <p:nvPr/>
        </p:nvSpPr>
        <p:spPr>
          <a:xfrm>
            <a:off x="609585" y="2433812"/>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Reduced presynaptic release of excitatory amino acids</a:t>
            </a:r>
            <a:endParaRPr lang="en-US" sz="1400" dirty="0"/>
          </a:p>
        </p:txBody>
      </p:sp>
      <p:sp>
        <p:nvSpPr>
          <p:cNvPr id="9" name="Text 7"/>
          <p:cNvSpPr/>
          <p:nvPr/>
        </p:nvSpPr>
        <p:spPr>
          <a:xfrm>
            <a:off x="609585" y="2780681"/>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025378"/>
            <a:ext cx="6400640" cy="448469"/>
          </a:xfrm>
          <a:prstGeom prst="rect">
            <a:avLst/>
          </a:prstGeom>
          <a:solidFill>
            <a:srgbClr val="2A6F97"/>
          </a:solidFill>
          <a:ln/>
        </p:spPr>
        <p:txBody>
          <a:bodyPr/>
          <a:lstStyle/>
          <a:p>
            <a:endParaRPr lang="en-US"/>
          </a:p>
        </p:txBody>
      </p:sp>
      <p:sp>
        <p:nvSpPr>
          <p:cNvPr id="11" name="Text 9"/>
          <p:cNvSpPr/>
          <p:nvPr/>
        </p:nvSpPr>
        <p:spPr>
          <a:xfrm>
            <a:off x="609585" y="3127550"/>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Lower motor neuron activity</a:t>
            </a:r>
            <a:endParaRPr lang="en-US" sz="1400" dirty="0"/>
          </a:p>
        </p:txBody>
      </p:sp>
      <p:sp>
        <p:nvSpPr>
          <p:cNvPr id="12" name="Text 10"/>
          <p:cNvSpPr/>
          <p:nvPr/>
        </p:nvSpPr>
        <p:spPr>
          <a:xfrm>
            <a:off x="609585" y="3474418"/>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3719116"/>
            <a:ext cx="6400640" cy="448469"/>
          </a:xfrm>
          <a:prstGeom prst="rect">
            <a:avLst/>
          </a:prstGeom>
          <a:solidFill>
            <a:srgbClr val="2A6F97"/>
          </a:solidFill>
          <a:ln/>
        </p:spPr>
        <p:txBody>
          <a:bodyPr/>
          <a:lstStyle/>
          <a:p>
            <a:endParaRPr lang="en-US"/>
          </a:p>
        </p:txBody>
      </p:sp>
      <p:sp>
        <p:nvSpPr>
          <p:cNvPr id="14" name="Text 12"/>
          <p:cNvSpPr/>
          <p:nvPr/>
        </p:nvSpPr>
        <p:spPr>
          <a:xfrm>
            <a:off x="609585" y="3821287"/>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Reduced muscle tone</a:t>
            </a:r>
            <a:endParaRPr lang="en-US" sz="1400" dirty="0"/>
          </a:p>
        </p:txBody>
      </p:sp>
      <p:sp>
        <p:nvSpPr>
          <p:cNvPr id="15" name="Text 13"/>
          <p:cNvSpPr/>
          <p:nvPr/>
        </p:nvSpPr>
        <p:spPr>
          <a:xfrm>
            <a:off x="7314918" y="1637903"/>
            <a:ext cx="4267192" cy="160764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Hypotension and bradycardia; sedation and dry mouth</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Monitor liver enzymes (LFTs) for hepatotoxicity</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CYP1A2 interactions: ciprofloxacin and fluvoxamine strongly raise levels (contraindicated)</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Additive effect with antihypertensives</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CENTRALLY ACTING</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Cyclobenzaprine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Structurally related to tricyclic antidepressants.</a:t>
            </a:r>
            <a:endParaRPr lang="en-US" sz="1600" dirty="0"/>
          </a:p>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Primary use: short-term treatment of acute, localized muscle spasm.</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Prominent sedation — commonly dosed at night.</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Anticholinergic effects: dry mouth, blurred vision, urinary retention — use caution in older adults.</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Cyclobenzaprine: Brainstem Action and Anticholinergic Effects</a:t>
            </a:r>
            <a:endParaRPr lang="en-US" sz="3000" dirty="0"/>
          </a:p>
        </p:txBody>
      </p:sp>
      <p:sp>
        <p:nvSpPr>
          <p:cNvPr id="4" name="Shape 2"/>
          <p:cNvSpPr/>
          <p:nvPr/>
        </p:nvSpPr>
        <p:spPr>
          <a:xfrm>
            <a:off x="609585" y="1637903"/>
            <a:ext cx="6492117" cy="585192"/>
          </a:xfrm>
          <a:prstGeom prst="rect">
            <a:avLst/>
          </a:prstGeom>
          <a:solidFill>
            <a:srgbClr val="0F7173"/>
          </a:solidFill>
          <a:ln/>
        </p:spPr>
        <p:txBody>
          <a:bodyPr/>
          <a:lstStyle/>
          <a:p>
            <a:endParaRPr lang="en-US"/>
          </a:p>
        </p:txBody>
      </p:sp>
      <p:sp>
        <p:nvSpPr>
          <p:cNvPr id="5" name="Text 3"/>
          <p:cNvSpPr/>
          <p:nvPr/>
        </p:nvSpPr>
        <p:spPr>
          <a:xfrm>
            <a:off x="609585" y="1790303"/>
            <a:ext cx="6492117"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Acts in the brainstem</a:t>
            </a:r>
            <a:endParaRPr lang="en-US" sz="1600" dirty="0"/>
          </a:p>
        </p:txBody>
      </p:sp>
      <p:sp>
        <p:nvSpPr>
          <p:cNvPr id="6" name="Text 4"/>
          <p:cNvSpPr/>
          <p:nvPr/>
        </p:nvSpPr>
        <p:spPr>
          <a:xfrm>
            <a:off x="609585" y="2223667"/>
            <a:ext cx="6492117"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468364"/>
            <a:ext cx="6492117" cy="865584"/>
          </a:xfrm>
          <a:prstGeom prst="rect">
            <a:avLst/>
          </a:prstGeom>
          <a:solidFill>
            <a:srgbClr val="0F7173"/>
          </a:solidFill>
          <a:ln/>
        </p:spPr>
        <p:txBody>
          <a:bodyPr/>
          <a:lstStyle/>
          <a:p>
            <a:endParaRPr lang="en-US"/>
          </a:p>
        </p:txBody>
      </p:sp>
      <p:sp>
        <p:nvSpPr>
          <p:cNvPr id="8" name="Text 6"/>
          <p:cNvSpPr/>
          <p:nvPr/>
        </p:nvSpPr>
        <p:spPr>
          <a:xfrm>
            <a:off x="761981" y="2620764"/>
            <a:ext cx="6187325" cy="560784"/>
          </a:xfrm>
          <a:prstGeom prst="rect">
            <a:avLst/>
          </a:prstGeom>
          <a:noFill/>
          <a:ln/>
        </p:spPr>
        <p:txBody>
          <a:bodyPr wrap="square" lIns="0" tIns="0" rIns="0" bIns="0" rtlCol="0" anchor="t">
            <a:normAutofit/>
          </a:bodyPr>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Antagonizes 5-HT2 and descending serotonergic and noradrenergic pathways</a:t>
            </a:r>
            <a:endParaRPr lang="en-US" sz="1600" dirty="0"/>
          </a:p>
        </p:txBody>
      </p:sp>
      <p:sp>
        <p:nvSpPr>
          <p:cNvPr id="9" name="Text 7"/>
          <p:cNvSpPr/>
          <p:nvPr/>
        </p:nvSpPr>
        <p:spPr>
          <a:xfrm>
            <a:off x="609585" y="3334520"/>
            <a:ext cx="6492117"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579217"/>
            <a:ext cx="6492117" cy="585192"/>
          </a:xfrm>
          <a:prstGeom prst="rect">
            <a:avLst/>
          </a:prstGeom>
          <a:solidFill>
            <a:srgbClr val="2A6F97"/>
          </a:solidFill>
          <a:ln/>
        </p:spPr>
        <p:txBody>
          <a:bodyPr/>
          <a:lstStyle/>
          <a:p>
            <a:endParaRPr lang="en-US"/>
          </a:p>
        </p:txBody>
      </p:sp>
      <p:sp>
        <p:nvSpPr>
          <p:cNvPr id="11" name="Text 9"/>
          <p:cNvSpPr/>
          <p:nvPr/>
        </p:nvSpPr>
        <p:spPr>
          <a:xfrm>
            <a:off x="609585" y="3731617"/>
            <a:ext cx="6492117"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Reduced tonic somatic motor activity</a:t>
            </a:r>
            <a:endParaRPr lang="en-US" sz="1600" dirty="0"/>
          </a:p>
        </p:txBody>
      </p:sp>
      <p:sp>
        <p:nvSpPr>
          <p:cNvPr id="12" name="Text 10"/>
          <p:cNvSpPr/>
          <p:nvPr/>
        </p:nvSpPr>
        <p:spPr>
          <a:xfrm>
            <a:off x="609585" y="4164981"/>
            <a:ext cx="6492117"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4409678"/>
            <a:ext cx="6492117" cy="585192"/>
          </a:xfrm>
          <a:prstGeom prst="rect">
            <a:avLst/>
          </a:prstGeom>
          <a:solidFill>
            <a:srgbClr val="2A6F97"/>
          </a:solidFill>
          <a:ln/>
        </p:spPr>
        <p:txBody>
          <a:bodyPr/>
          <a:lstStyle/>
          <a:p>
            <a:endParaRPr lang="en-US"/>
          </a:p>
        </p:txBody>
      </p:sp>
      <p:sp>
        <p:nvSpPr>
          <p:cNvPr id="14" name="Text 12"/>
          <p:cNvSpPr/>
          <p:nvPr/>
        </p:nvSpPr>
        <p:spPr>
          <a:xfrm>
            <a:off x="609585" y="4562078"/>
            <a:ext cx="6492117"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Carlito Bold" pitchFamily="34" charset="0"/>
                <a:ea typeface="Carlito Bold" pitchFamily="34" charset="-122"/>
                <a:cs typeface="Carlito Bold" pitchFamily="34" charset="0"/>
              </a:rPr>
              <a:t>Muscle relaxation</a:t>
            </a:r>
            <a:endParaRPr lang="en-US" sz="1600" dirty="0"/>
          </a:p>
        </p:txBody>
      </p:sp>
      <p:sp>
        <p:nvSpPr>
          <p:cNvPr id="15" name="Text 13"/>
          <p:cNvSpPr/>
          <p:nvPr/>
        </p:nvSpPr>
        <p:spPr>
          <a:xfrm>
            <a:off x="7253999" y="1637903"/>
            <a:ext cx="4328111" cy="1888034"/>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Anticholinergic effects: dry mouth, urinary retention, confusion (Beers list in older adults)</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Sedation</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Serotonin syndrome risk with SSRIs, SNRIs, tramadol; MAOIs contraindicated</a:t>
            </a:r>
            <a:endParaRPr lang="en-US" sz="1600" dirty="0"/>
          </a:p>
          <a:p>
            <a:pPr marL="325120" indent="-325120" algn="l">
              <a:lnSpc>
                <a:spcPct val="115000"/>
              </a:lnSpc>
              <a:buSzPct val="100000"/>
              <a:buChar char="•"/>
            </a:pPr>
            <a:r>
              <a:rPr lang="en-US" sz="1600" dirty="0">
                <a:solidFill>
                  <a:srgbClr val="1A1A1A"/>
                </a:solidFill>
                <a:latin typeface="Carlito" pitchFamily="34" charset="0"/>
                <a:ea typeface="Carlito" pitchFamily="34" charset="-122"/>
                <a:cs typeface="Carlito" pitchFamily="34" charset="0"/>
              </a:rPr>
              <a:t>Short-term use only, 2–3 weeks</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OTHER AGENTS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Other Centrally-Acting Relaxants &amp; Botulinum Toxin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468265"/>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D1495B"/>
                </a:solidFill>
                <a:latin typeface="Carlito Bold" pitchFamily="34" charset="0"/>
                <a:ea typeface="Carlito Bold" pitchFamily="34" charset="-122"/>
                <a:cs typeface="Carlito Bold" pitchFamily="34" charset="0"/>
              </a:rPr>
              <a:t>Carisoprodol — metabolized to meprobamate; Schedule IV controlled substance with dependence/misuse potential.</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Methocarbamol — centrally-acting; generally less sedating than cyclobenzaprine.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Metaxalone — centrally-acting; relatively favorable sedation profile among this group.</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Chlorzoxazone — centrally-acting; carries a rare but notable risk of hepatotoxicity.</a:t>
            </a:r>
            <a:endParaRPr lang="en-US" sz="1600" dirty="0"/>
          </a:p>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Botulinum toxin — blocks presynaptic acetylcholine release at the neuromuscular junction.</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Used for focal spasticity or dystonia; effect is local and temporary, requiring repeat injections.</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PERIPHERALLY ACTING</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Dantrolene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decreases calcium release from the skeletal muscle sarcoplasmic reticulum.</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Acts directly on the muscle fiber, not the CNS — distinct from every centrally-acting agent in this section.</a:t>
            </a:r>
            <a:endParaRPr lang="en-US" sz="1600" dirty="0"/>
          </a:p>
          <a:p>
            <a:pPr marL="229616" indent="-229616" algn="l">
              <a:lnSpc>
                <a:spcPct val="100000"/>
              </a:lnSpc>
              <a:buSzPct val="100000"/>
              <a:buChar char="●"/>
            </a:pPr>
            <a:r>
              <a:rPr lang="en-US" sz="1600" b="1" dirty="0">
                <a:solidFill>
                  <a:srgbClr val="0F7173"/>
                </a:solidFill>
                <a:latin typeface="Carlito Bold" pitchFamily="34" charset="0"/>
                <a:ea typeface="Carlito Bold" pitchFamily="34" charset="-122"/>
                <a:cs typeface="Carlito Bold" pitchFamily="34" charset="0"/>
              </a:rPr>
              <a:t>Clinical use #1: malignant hyperthermia (a true emergency indication).</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Clinical use #2: chronic spasticity, when central agents are not appropriate.</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Dantrolene: Blocking Calcium Release at the Muscle</a:t>
            </a:r>
            <a:endParaRPr lang="en-US" sz="3000" dirty="0"/>
          </a:p>
        </p:txBody>
      </p:sp>
      <p:sp>
        <p:nvSpPr>
          <p:cNvPr id="4" name="Shape 2"/>
          <p:cNvSpPr/>
          <p:nvPr/>
        </p:nvSpPr>
        <p:spPr>
          <a:xfrm>
            <a:off x="609585" y="1637903"/>
            <a:ext cx="6400640" cy="483592"/>
          </a:xfrm>
          <a:prstGeom prst="rect">
            <a:avLst/>
          </a:prstGeom>
          <a:solidFill>
            <a:srgbClr val="0F7173"/>
          </a:solidFill>
          <a:ln/>
        </p:spPr>
        <p:txBody>
          <a:bodyPr/>
          <a:lstStyle/>
          <a:p>
            <a:endParaRPr lang="en-US"/>
          </a:p>
        </p:txBody>
      </p:sp>
      <p:sp>
        <p:nvSpPr>
          <p:cNvPr id="5" name="Text 3"/>
          <p:cNvSpPr/>
          <p:nvPr/>
        </p:nvSpPr>
        <p:spPr>
          <a:xfrm>
            <a:off x="609585" y="1739503"/>
            <a:ext cx="6400640" cy="280392"/>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Nerve impulse: action potential, DHPR activated</a:t>
            </a:r>
            <a:endParaRPr lang="en-US" sz="1600" dirty="0"/>
          </a:p>
        </p:txBody>
      </p:sp>
      <p:sp>
        <p:nvSpPr>
          <p:cNvPr id="6" name="Text 4"/>
          <p:cNvSpPr/>
          <p:nvPr/>
        </p:nvSpPr>
        <p:spPr>
          <a:xfrm>
            <a:off x="609585" y="2121495"/>
            <a:ext cx="6400640" cy="280392"/>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600" dirty="0"/>
          </a:p>
        </p:txBody>
      </p:sp>
      <p:sp>
        <p:nvSpPr>
          <p:cNvPr id="7" name="Shape 5"/>
          <p:cNvSpPr/>
          <p:nvPr/>
        </p:nvSpPr>
        <p:spPr>
          <a:xfrm>
            <a:off x="609585" y="2401888"/>
            <a:ext cx="6400640" cy="483592"/>
          </a:xfrm>
          <a:prstGeom prst="rect">
            <a:avLst/>
          </a:prstGeom>
          <a:solidFill>
            <a:srgbClr val="0F7173"/>
          </a:solidFill>
          <a:ln/>
        </p:spPr>
        <p:txBody>
          <a:bodyPr/>
          <a:lstStyle/>
          <a:p>
            <a:endParaRPr lang="en-US"/>
          </a:p>
        </p:txBody>
      </p:sp>
      <p:sp>
        <p:nvSpPr>
          <p:cNvPr id="8" name="Text 6"/>
          <p:cNvSpPr/>
          <p:nvPr/>
        </p:nvSpPr>
        <p:spPr>
          <a:xfrm>
            <a:off x="609585" y="2503487"/>
            <a:ext cx="6400640" cy="280392"/>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RyR1 opens: Ca²⁺ released from sarcoplasmic reticulum</a:t>
            </a:r>
            <a:endParaRPr lang="en-US" sz="1600" dirty="0"/>
          </a:p>
        </p:txBody>
      </p:sp>
      <p:sp>
        <p:nvSpPr>
          <p:cNvPr id="9" name="Text 7"/>
          <p:cNvSpPr/>
          <p:nvPr/>
        </p:nvSpPr>
        <p:spPr>
          <a:xfrm>
            <a:off x="609585" y="2885480"/>
            <a:ext cx="6400640" cy="280392"/>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600" dirty="0"/>
          </a:p>
        </p:txBody>
      </p:sp>
      <p:sp>
        <p:nvSpPr>
          <p:cNvPr id="10" name="Shape 8"/>
          <p:cNvSpPr/>
          <p:nvPr/>
        </p:nvSpPr>
        <p:spPr>
          <a:xfrm>
            <a:off x="609585" y="3165872"/>
            <a:ext cx="6400640" cy="483592"/>
          </a:xfrm>
          <a:prstGeom prst="rect">
            <a:avLst/>
          </a:prstGeom>
          <a:solidFill>
            <a:srgbClr val="2A6F97"/>
          </a:solidFill>
          <a:ln/>
        </p:spPr>
        <p:txBody>
          <a:bodyPr/>
          <a:lstStyle/>
          <a:p>
            <a:endParaRPr lang="en-US"/>
          </a:p>
        </p:txBody>
      </p:sp>
      <p:sp>
        <p:nvSpPr>
          <p:cNvPr id="11" name="Text 9"/>
          <p:cNvSpPr/>
          <p:nvPr/>
        </p:nvSpPr>
        <p:spPr>
          <a:xfrm>
            <a:off x="609585" y="3267472"/>
            <a:ext cx="6400640" cy="280392"/>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Contraction</a:t>
            </a:r>
            <a:endParaRPr lang="en-US" sz="1600" dirty="0"/>
          </a:p>
        </p:txBody>
      </p:sp>
      <p:sp>
        <p:nvSpPr>
          <p:cNvPr id="12" name="Text 10"/>
          <p:cNvSpPr/>
          <p:nvPr/>
        </p:nvSpPr>
        <p:spPr>
          <a:xfrm>
            <a:off x="609585" y="3649464"/>
            <a:ext cx="6400640" cy="280392"/>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600" dirty="0"/>
          </a:p>
        </p:txBody>
      </p:sp>
      <p:sp>
        <p:nvSpPr>
          <p:cNvPr id="13" name="Shape 11"/>
          <p:cNvSpPr/>
          <p:nvPr/>
        </p:nvSpPr>
        <p:spPr>
          <a:xfrm>
            <a:off x="609585" y="3929856"/>
            <a:ext cx="6400640" cy="483592"/>
          </a:xfrm>
          <a:prstGeom prst="rect">
            <a:avLst/>
          </a:prstGeom>
          <a:solidFill>
            <a:srgbClr val="C0392B"/>
          </a:solidFill>
          <a:ln/>
        </p:spPr>
        <p:txBody>
          <a:bodyPr/>
          <a:lstStyle/>
          <a:p>
            <a:endParaRPr lang="en-US"/>
          </a:p>
        </p:txBody>
      </p:sp>
      <p:sp>
        <p:nvSpPr>
          <p:cNvPr id="14" name="Text 12"/>
          <p:cNvSpPr/>
          <p:nvPr/>
        </p:nvSpPr>
        <p:spPr>
          <a:xfrm>
            <a:off x="609585" y="4031456"/>
            <a:ext cx="6400640" cy="280392"/>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Dantrolene blocks RyR1 → less Ca²⁺ released</a:t>
            </a:r>
            <a:endParaRPr lang="en-US" sz="1600" dirty="0"/>
          </a:p>
        </p:txBody>
      </p:sp>
      <p:sp>
        <p:nvSpPr>
          <p:cNvPr id="15" name="Text 13"/>
          <p:cNvSpPr/>
          <p:nvPr/>
        </p:nvSpPr>
        <p:spPr>
          <a:xfrm>
            <a:off x="609585" y="4413448"/>
            <a:ext cx="6400640" cy="280392"/>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600" dirty="0"/>
          </a:p>
        </p:txBody>
      </p:sp>
      <p:sp>
        <p:nvSpPr>
          <p:cNvPr id="16" name="Shape 14"/>
          <p:cNvSpPr/>
          <p:nvPr/>
        </p:nvSpPr>
        <p:spPr>
          <a:xfrm>
            <a:off x="609585" y="4693841"/>
            <a:ext cx="6400640" cy="483592"/>
          </a:xfrm>
          <a:prstGeom prst="rect">
            <a:avLst/>
          </a:prstGeom>
          <a:solidFill>
            <a:srgbClr val="2A6F97"/>
          </a:solidFill>
          <a:ln/>
        </p:spPr>
        <p:txBody>
          <a:bodyPr/>
          <a:lstStyle/>
          <a:p>
            <a:endParaRPr lang="en-US"/>
          </a:p>
        </p:txBody>
      </p:sp>
      <p:sp>
        <p:nvSpPr>
          <p:cNvPr id="17" name="Text 15"/>
          <p:cNvSpPr/>
          <p:nvPr/>
        </p:nvSpPr>
        <p:spPr>
          <a:xfrm>
            <a:off x="609585" y="4795441"/>
            <a:ext cx="6400640" cy="280392"/>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Relaxation</a:t>
            </a:r>
            <a:endParaRPr lang="en-US" sz="1600" dirty="0"/>
          </a:p>
        </p:txBody>
      </p:sp>
      <p:sp>
        <p:nvSpPr>
          <p:cNvPr id="18" name="Text 16"/>
          <p:cNvSpPr/>
          <p:nvPr/>
        </p:nvSpPr>
        <p:spPr>
          <a:xfrm>
            <a:off x="7314918" y="1637903"/>
            <a:ext cx="4267192" cy="1888034"/>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Malignant hyperthermia (triggered by volatile anesthetics and succinylcholine) is the key indication</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Hepatotoxicity</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Generalized weakness</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IV formulation for acute crisis; also used for neuroleptic malignant syndrome</a:t>
            </a:r>
            <a:endParaRPr lang="en-US" sz="1600" dirty="0"/>
          </a:p>
        </p:txBody>
      </p:sp>
      <p:sp>
        <p:nvSpPr>
          <p:cNvPr id="19" name="Text 1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0" name="Text 1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SKELETAL MUSCLE RELAXANTS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Which skeletal muscle relaxant acts directly on skeletal muscle itself (not the CNS), making it the agent of choice in malignant hyperthermia?</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Baclofen</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Dantrolene</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Tizanidine</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Cyclobenzaprine</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SKELETAL MUSCLE RELAXANTS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B</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Dantrolene.</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Dantrolene’s peripheral mechanism — decreasing calcium release from the skeletal muscle sarcoplasmic reticulum — is unique among these agents and is exactly why it is the emergency treatment for malignant hyperthermia.</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NAMING CLUES</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Drug Names Reveal the Class: Muscle Relaxants</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0" y="2018903"/>
          <a:ext cx="12191694" cy="4087709"/>
        </p:xfrm>
        <a:graphic>
          <a:graphicData uri="http://schemas.openxmlformats.org/drawingml/2006/table">
            <a:tbl>
              <a:tblPr/>
              <a:tblGrid>
                <a:gridCol w="3169761">
                  <a:extLst>
                    <a:ext uri="{9D8B030D-6E8A-4147-A177-3AD203B41FA5}">
                      <a16:colId xmlns:a16="http://schemas.microsoft.com/office/drawing/2014/main" val="20000"/>
                    </a:ext>
                  </a:extLst>
                </a:gridCol>
                <a:gridCol w="4632804">
                  <a:extLst>
                    <a:ext uri="{9D8B030D-6E8A-4147-A177-3AD203B41FA5}">
                      <a16:colId xmlns:a16="http://schemas.microsoft.com/office/drawing/2014/main" val="20001"/>
                    </a:ext>
                  </a:extLst>
                </a:gridCol>
                <a:gridCol w="4389129">
                  <a:extLst>
                    <a:ext uri="{9D8B030D-6E8A-4147-A177-3AD203B41FA5}">
                      <a16:colId xmlns:a16="http://schemas.microsoft.com/office/drawing/2014/main" val="20002"/>
                    </a:ext>
                  </a:extLst>
                </a:gridCol>
              </a:tblGrid>
              <a:tr h="455601">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Name clue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Class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Examples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0"/>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-curonium / -curium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Nondepolarizing neuromuscular blockers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Vecuronium, atracurium, cisatracurium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1"/>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succinylcholine (-choline)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Depolarizing neuromuscular blocker</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Succinylcholine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2"/>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-azepam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Benzodiazepine (GABA-A)</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Diazepam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3"/>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cyclo- (tricyclic ring)</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Tricyclic-like central relaxant</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Cyclobenzaprine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4"/>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-idine (imidazoline)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Central alpha-2 agonist</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Tizanidine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5"/>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No shared stem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GABA-B agonist (GABA analog)</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Baclofen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6"/>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-trolene (hydantoin derivative)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Blocks RyR1 in the muscle fiber</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Dantrolene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7"/>
                  </a:ext>
                </a:extLst>
              </a:tr>
              <a:tr h="4429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-toxin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Blocks presynaptic ACh release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Botulinum toxin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6" name="Text 3"/>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07</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Bone Pharmacology</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Balancing bone formation and bone resorption.</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THE BASICS</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Bone Remodeling</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Osteoblasts</a:t>
            </a:r>
            <a:endParaRPr lang="en-US" sz="1600" dirty="0"/>
          </a:p>
        </p:txBody>
      </p:sp>
      <p:sp>
        <p:nvSpPr>
          <p:cNvPr id="11" name="Text 8"/>
          <p:cNvSpPr/>
          <p:nvPr/>
        </p:nvSpPr>
        <p:spPr>
          <a:xfrm>
            <a:off x="1046236" y="2272010"/>
            <a:ext cx="4576946" cy="540841"/>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Build new bone matrix</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Activity promoted by several osteoporosis therapies</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Osteoclasts</a:t>
            </a:r>
            <a:endParaRPr lang="en-US" sz="1600" dirty="0"/>
          </a:p>
        </p:txBody>
      </p:sp>
      <p:sp>
        <p:nvSpPr>
          <p:cNvPr id="15" name="Text 12"/>
          <p:cNvSpPr/>
          <p:nvPr/>
        </p:nvSpPr>
        <p:spPr>
          <a:xfrm>
            <a:off x="6715354" y="2272010"/>
            <a:ext cx="4576946" cy="540841"/>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Resorb (break down) existing bone</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Activity suppressed by most osteoporosis therapies</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RANKL/OPG Controls Osteoclast Activity</a:t>
            </a:r>
            <a:endParaRPr lang="en-US" sz="3000" dirty="0"/>
          </a:p>
        </p:txBody>
      </p:sp>
      <p:sp>
        <p:nvSpPr>
          <p:cNvPr id="4" name="Shape 2"/>
          <p:cNvSpPr/>
          <p:nvPr/>
        </p:nvSpPr>
        <p:spPr>
          <a:xfrm>
            <a:off x="609585" y="1637903"/>
            <a:ext cx="6400640" cy="448469"/>
          </a:xfrm>
          <a:prstGeom prst="rect">
            <a:avLst/>
          </a:prstGeom>
          <a:solidFill>
            <a:srgbClr val="0F7173"/>
          </a:solidFill>
          <a:ln/>
        </p:spPr>
        <p:txBody>
          <a:bodyPr/>
          <a:lstStyle/>
          <a:p>
            <a:endParaRPr lang="en-US"/>
          </a:p>
        </p:txBody>
      </p:sp>
      <p:sp>
        <p:nvSpPr>
          <p:cNvPr id="5" name="Text 3"/>
          <p:cNvSpPr/>
          <p:nvPr/>
        </p:nvSpPr>
        <p:spPr>
          <a:xfrm>
            <a:off x="609585" y="1740075"/>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Osteoblast or stromal cell expresses RANKL</a:t>
            </a:r>
            <a:endParaRPr lang="en-US" sz="1400" dirty="0"/>
          </a:p>
        </p:txBody>
      </p:sp>
      <p:sp>
        <p:nvSpPr>
          <p:cNvPr id="6" name="Text 4"/>
          <p:cNvSpPr/>
          <p:nvPr/>
        </p:nvSpPr>
        <p:spPr>
          <a:xfrm>
            <a:off x="609585" y="2086943"/>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331641"/>
            <a:ext cx="6400640" cy="448469"/>
          </a:xfrm>
          <a:prstGeom prst="rect">
            <a:avLst/>
          </a:prstGeom>
          <a:solidFill>
            <a:srgbClr val="0F7173"/>
          </a:solidFill>
          <a:ln/>
        </p:spPr>
        <p:txBody>
          <a:bodyPr/>
          <a:lstStyle/>
          <a:p>
            <a:endParaRPr lang="en-US"/>
          </a:p>
        </p:txBody>
      </p:sp>
      <p:sp>
        <p:nvSpPr>
          <p:cNvPr id="8" name="Text 6"/>
          <p:cNvSpPr/>
          <p:nvPr/>
        </p:nvSpPr>
        <p:spPr>
          <a:xfrm>
            <a:off x="609585" y="2433812"/>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RANKL binds RANK on osteoclast precursors</a:t>
            </a:r>
            <a:endParaRPr lang="en-US" sz="1400" dirty="0"/>
          </a:p>
        </p:txBody>
      </p:sp>
      <p:sp>
        <p:nvSpPr>
          <p:cNvPr id="9" name="Text 7"/>
          <p:cNvSpPr/>
          <p:nvPr/>
        </p:nvSpPr>
        <p:spPr>
          <a:xfrm>
            <a:off x="609585" y="2780681"/>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025378"/>
            <a:ext cx="6400640" cy="448469"/>
          </a:xfrm>
          <a:prstGeom prst="rect">
            <a:avLst/>
          </a:prstGeom>
          <a:solidFill>
            <a:srgbClr val="2A6F97"/>
          </a:solidFill>
          <a:ln/>
        </p:spPr>
        <p:txBody>
          <a:bodyPr/>
          <a:lstStyle/>
          <a:p>
            <a:endParaRPr lang="en-US"/>
          </a:p>
        </p:txBody>
      </p:sp>
      <p:sp>
        <p:nvSpPr>
          <p:cNvPr id="11" name="Text 9"/>
          <p:cNvSpPr/>
          <p:nvPr/>
        </p:nvSpPr>
        <p:spPr>
          <a:xfrm>
            <a:off x="609585" y="3127550"/>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Osteoclast differentiation and activation</a:t>
            </a:r>
            <a:endParaRPr lang="en-US" sz="1400" dirty="0"/>
          </a:p>
        </p:txBody>
      </p:sp>
      <p:sp>
        <p:nvSpPr>
          <p:cNvPr id="12" name="Text 10"/>
          <p:cNvSpPr/>
          <p:nvPr/>
        </p:nvSpPr>
        <p:spPr>
          <a:xfrm>
            <a:off x="609585" y="3474418"/>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3719116"/>
            <a:ext cx="6400640" cy="448469"/>
          </a:xfrm>
          <a:prstGeom prst="rect">
            <a:avLst/>
          </a:prstGeom>
          <a:solidFill>
            <a:srgbClr val="2A6F97"/>
          </a:solidFill>
          <a:ln/>
        </p:spPr>
        <p:txBody>
          <a:bodyPr/>
          <a:lstStyle/>
          <a:p>
            <a:endParaRPr lang="en-US"/>
          </a:p>
        </p:txBody>
      </p:sp>
      <p:sp>
        <p:nvSpPr>
          <p:cNvPr id="14" name="Text 12"/>
          <p:cNvSpPr/>
          <p:nvPr/>
        </p:nvSpPr>
        <p:spPr>
          <a:xfrm>
            <a:off x="609585" y="3821287"/>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Bone resorption releases calcium</a:t>
            </a:r>
            <a:endParaRPr lang="en-US" sz="1400" dirty="0"/>
          </a:p>
        </p:txBody>
      </p:sp>
      <p:sp>
        <p:nvSpPr>
          <p:cNvPr id="15" name="Text 13"/>
          <p:cNvSpPr/>
          <p:nvPr/>
        </p:nvSpPr>
        <p:spPr>
          <a:xfrm>
            <a:off x="7314918" y="1637903"/>
            <a:ext cx="4267192" cy="160764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OPG is a decoy receptor that blocks RANKL</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PTH: intermittent dosing favors formation; continuous exposure raises RANKL and resorption</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Estrogen increases OPG; denosumab mimics OPG</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Sclerostin inhibits Wnt signaling in osteoblasts</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REGULATION</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Calcium Homeostasis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5257668" cy="2103041"/>
          </a:xfrm>
          <a:prstGeom prst="roundRect">
            <a:avLst>
              <a:gd name="adj" fmla="val 5217"/>
            </a:avLst>
          </a:prstGeom>
          <a:solidFill>
            <a:srgbClr val="E8F1F0"/>
          </a:solidFill>
          <a:ln/>
        </p:spPr>
        <p:txBody>
          <a:bodyPr/>
          <a:lstStyle/>
          <a:p>
            <a:endParaRPr lang="en-US"/>
          </a:p>
        </p:txBody>
      </p:sp>
      <p:sp>
        <p:nvSpPr>
          <p:cNvPr id="7" name="Shape 4"/>
          <p:cNvSpPr/>
          <p:nvPr/>
        </p:nvSpPr>
        <p:spPr>
          <a:xfrm>
            <a:off x="640044" y="1600200"/>
            <a:ext cx="5257668" cy="502841"/>
          </a:xfrm>
          <a:prstGeom prst="roundRect">
            <a:avLst>
              <a:gd name="adj" fmla="val 21821"/>
            </a:avLst>
          </a:prstGeom>
          <a:solidFill>
            <a:srgbClr val="0F7173"/>
          </a:solidFill>
          <a:ln/>
        </p:spPr>
        <p:txBody>
          <a:bodyPr/>
          <a:lstStyle/>
          <a:p>
            <a:endParaRPr lang="en-US"/>
          </a:p>
        </p:txBody>
      </p:sp>
      <p:sp>
        <p:nvSpPr>
          <p:cNvPr id="8" name="Shape 5"/>
          <p:cNvSpPr/>
          <p:nvPr/>
        </p:nvSpPr>
        <p:spPr>
          <a:xfrm>
            <a:off x="640044" y="1856184"/>
            <a:ext cx="5257668" cy="255984"/>
          </a:xfrm>
          <a:prstGeom prst="rect">
            <a:avLst/>
          </a:prstGeom>
          <a:solidFill>
            <a:srgbClr val="0F7173"/>
          </a:solidFill>
          <a:ln/>
        </p:spPr>
        <p:txBody>
          <a:bodyPr/>
          <a:lstStyle/>
          <a:p>
            <a:endParaRPr lang="en-US"/>
          </a:p>
        </p:txBody>
      </p:sp>
      <p:sp>
        <p:nvSpPr>
          <p:cNvPr id="9" name="Text 6"/>
          <p:cNvSpPr/>
          <p:nvPr/>
        </p:nvSpPr>
        <p:spPr>
          <a:xfrm>
            <a:off x="841156"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Parathyroid Hormone (PTH)</a:t>
            </a:r>
            <a:endParaRPr lang="en-US" sz="1600" dirty="0"/>
          </a:p>
        </p:txBody>
      </p:sp>
      <p:sp>
        <p:nvSpPr>
          <p:cNvPr id="10" name="Text 7"/>
          <p:cNvSpPr/>
          <p:nvPr/>
        </p:nvSpPr>
        <p:spPr>
          <a:xfrm>
            <a:off x="104693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Raises serum calcium; mobilizes bone calcium when levels drop</a:t>
            </a:r>
            <a:endParaRPr lang="en-US" sz="1300" dirty="0"/>
          </a:p>
        </p:txBody>
      </p:sp>
      <p:sp>
        <p:nvSpPr>
          <p:cNvPr id="11" name="Shape 8"/>
          <p:cNvSpPr/>
          <p:nvPr/>
        </p:nvSpPr>
        <p:spPr>
          <a:xfrm>
            <a:off x="6263424" y="1600200"/>
            <a:ext cx="5257668" cy="2103041"/>
          </a:xfrm>
          <a:prstGeom prst="roundRect">
            <a:avLst>
              <a:gd name="adj" fmla="val 5217"/>
            </a:avLst>
          </a:prstGeom>
          <a:solidFill>
            <a:srgbClr val="E8F1F0"/>
          </a:solidFill>
          <a:ln/>
        </p:spPr>
        <p:txBody>
          <a:bodyPr/>
          <a:lstStyle/>
          <a:p>
            <a:endParaRPr lang="en-US"/>
          </a:p>
        </p:txBody>
      </p:sp>
      <p:sp>
        <p:nvSpPr>
          <p:cNvPr id="12" name="Shape 9"/>
          <p:cNvSpPr/>
          <p:nvPr/>
        </p:nvSpPr>
        <p:spPr>
          <a:xfrm>
            <a:off x="6263424" y="1600200"/>
            <a:ext cx="5257668"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263424" y="1856184"/>
            <a:ext cx="5257668" cy="255984"/>
          </a:xfrm>
          <a:prstGeom prst="rect">
            <a:avLst/>
          </a:prstGeom>
          <a:solidFill>
            <a:srgbClr val="2A6F97"/>
          </a:solidFill>
          <a:ln/>
        </p:spPr>
        <p:txBody>
          <a:bodyPr/>
          <a:lstStyle/>
          <a:p>
            <a:endParaRPr lang="en-US"/>
          </a:p>
        </p:txBody>
      </p:sp>
      <p:sp>
        <p:nvSpPr>
          <p:cNvPr id="14" name="Text 11"/>
          <p:cNvSpPr/>
          <p:nvPr/>
        </p:nvSpPr>
        <p:spPr>
          <a:xfrm>
            <a:off x="6464634"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Vitamin D</a:t>
            </a:r>
            <a:endParaRPr lang="en-US" sz="1600" dirty="0"/>
          </a:p>
        </p:txBody>
      </p:sp>
      <p:sp>
        <p:nvSpPr>
          <p:cNvPr id="15" name="Text 12"/>
          <p:cNvSpPr/>
          <p:nvPr/>
        </p:nvSpPr>
        <p:spPr>
          <a:xfrm>
            <a:off x="667031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Increases intestinal calcium absorption</a:t>
            </a:r>
            <a:endParaRPr lang="en-US" sz="1300" dirty="0"/>
          </a:p>
        </p:txBody>
      </p:sp>
      <p:sp>
        <p:nvSpPr>
          <p:cNvPr id="16" name="Shape 13"/>
          <p:cNvSpPr/>
          <p:nvPr/>
        </p:nvSpPr>
        <p:spPr>
          <a:xfrm>
            <a:off x="640044" y="4023320"/>
            <a:ext cx="5257668" cy="2103041"/>
          </a:xfrm>
          <a:prstGeom prst="roundRect">
            <a:avLst>
              <a:gd name="adj" fmla="val 5217"/>
            </a:avLst>
          </a:prstGeom>
          <a:solidFill>
            <a:srgbClr val="E8F1F0"/>
          </a:solidFill>
          <a:ln/>
        </p:spPr>
        <p:txBody>
          <a:bodyPr/>
          <a:lstStyle/>
          <a:p>
            <a:endParaRPr lang="en-US"/>
          </a:p>
        </p:txBody>
      </p:sp>
      <p:sp>
        <p:nvSpPr>
          <p:cNvPr id="17" name="Shape 14"/>
          <p:cNvSpPr/>
          <p:nvPr/>
        </p:nvSpPr>
        <p:spPr>
          <a:xfrm>
            <a:off x="640044" y="4023320"/>
            <a:ext cx="5257668" cy="502841"/>
          </a:xfrm>
          <a:prstGeom prst="roundRect">
            <a:avLst>
              <a:gd name="adj" fmla="val 21821"/>
            </a:avLst>
          </a:prstGeom>
          <a:solidFill>
            <a:srgbClr val="6B9080"/>
          </a:solidFill>
          <a:ln/>
        </p:spPr>
        <p:txBody>
          <a:bodyPr/>
          <a:lstStyle/>
          <a:p>
            <a:endParaRPr lang="en-US"/>
          </a:p>
        </p:txBody>
      </p:sp>
      <p:sp>
        <p:nvSpPr>
          <p:cNvPr id="18" name="Shape 15"/>
          <p:cNvSpPr/>
          <p:nvPr/>
        </p:nvSpPr>
        <p:spPr>
          <a:xfrm>
            <a:off x="640044" y="4279305"/>
            <a:ext cx="5257668" cy="255984"/>
          </a:xfrm>
          <a:prstGeom prst="rect">
            <a:avLst/>
          </a:prstGeom>
          <a:solidFill>
            <a:srgbClr val="6B9080"/>
          </a:solidFill>
          <a:ln/>
        </p:spPr>
        <p:txBody>
          <a:bodyPr/>
          <a:lstStyle/>
          <a:p>
            <a:endParaRPr lang="en-US"/>
          </a:p>
        </p:txBody>
      </p:sp>
      <p:sp>
        <p:nvSpPr>
          <p:cNvPr id="19" name="Text 16"/>
          <p:cNvSpPr/>
          <p:nvPr/>
        </p:nvSpPr>
        <p:spPr>
          <a:xfrm>
            <a:off x="841156"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Calcium</a:t>
            </a:r>
            <a:endParaRPr lang="en-US" sz="1600" dirty="0"/>
          </a:p>
        </p:txBody>
      </p:sp>
      <p:sp>
        <p:nvSpPr>
          <p:cNvPr id="20" name="Text 17"/>
          <p:cNvSpPr/>
          <p:nvPr/>
        </p:nvSpPr>
        <p:spPr>
          <a:xfrm>
            <a:off x="1046930" y="469532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The substrate being regulated — intake, bone storage, excretion</a:t>
            </a:r>
            <a:endParaRPr lang="en-US" sz="1300" dirty="0"/>
          </a:p>
        </p:txBody>
      </p:sp>
      <p:sp>
        <p:nvSpPr>
          <p:cNvPr id="21" name="Shape 18"/>
          <p:cNvSpPr/>
          <p:nvPr/>
        </p:nvSpPr>
        <p:spPr>
          <a:xfrm>
            <a:off x="6263424" y="4023320"/>
            <a:ext cx="5257668" cy="2103041"/>
          </a:xfrm>
          <a:prstGeom prst="roundRect">
            <a:avLst>
              <a:gd name="adj" fmla="val 5217"/>
            </a:avLst>
          </a:prstGeom>
          <a:solidFill>
            <a:srgbClr val="E8F1F0"/>
          </a:solidFill>
          <a:ln/>
        </p:spPr>
        <p:txBody>
          <a:bodyPr/>
          <a:lstStyle/>
          <a:p>
            <a:endParaRPr lang="en-US"/>
          </a:p>
        </p:txBody>
      </p:sp>
      <p:sp>
        <p:nvSpPr>
          <p:cNvPr id="22" name="Shape 19"/>
          <p:cNvSpPr/>
          <p:nvPr/>
        </p:nvSpPr>
        <p:spPr>
          <a:xfrm>
            <a:off x="6263424" y="4023320"/>
            <a:ext cx="5257668" cy="502841"/>
          </a:xfrm>
          <a:prstGeom prst="roundRect">
            <a:avLst>
              <a:gd name="adj" fmla="val 21821"/>
            </a:avLst>
          </a:prstGeom>
          <a:solidFill>
            <a:srgbClr val="D1495B"/>
          </a:solidFill>
          <a:ln/>
        </p:spPr>
        <p:txBody>
          <a:bodyPr/>
          <a:lstStyle/>
          <a:p>
            <a:endParaRPr lang="en-US"/>
          </a:p>
        </p:txBody>
      </p:sp>
      <p:sp>
        <p:nvSpPr>
          <p:cNvPr id="23" name="Shape 20"/>
          <p:cNvSpPr/>
          <p:nvPr/>
        </p:nvSpPr>
        <p:spPr>
          <a:xfrm>
            <a:off x="6263424" y="4279305"/>
            <a:ext cx="5257668" cy="255984"/>
          </a:xfrm>
          <a:prstGeom prst="rect">
            <a:avLst/>
          </a:prstGeom>
          <a:solidFill>
            <a:srgbClr val="D1495B"/>
          </a:solidFill>
          <a:ln/>
        </p:spPr>
        <p:txBody>
          <a:bodyPr/>
          <a:lstStyle/>
          <a:p>
            <a:endParaRPr lang="en-US"/>
          </a:p>
        </p:txBody>
      </p:sp>
      <p:sp>
        <p:nvSpPr>
          <p:cNvPr id="24" name="Text 21"/>
          <p:cNvSpPr/>
          <p:nvPr/>
        </p:nvSpPr>
        <p:spPr>
          <a:xfrm>
            <a:off x="6464634"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Calcitonin</a:t>
            </a:r>
            <a:endParaRPr lang="en-US" sz="1600" dirty="0"/>
          </a:p>
        </p:txBody>
      </p:sp>
      <p:sp>
        <p:nvSpPr>
          <p:cNvPr id="25" name="Text 22"/>
          <p:cNvSpPr/>
          <p:nvPr/>
        </p:nvSpPr>
        <p:spPr>
          <a:xfrm>
            <a:off x="6670310" y="469532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Lowers serum calcium; opposes PTH</a:t>
            </a:r>
            <a:endParaRPr lang="en-US" sz="1300" dirty="0"/>
          </a:p>
        </p:txBody>
      </p:sp>
      <p:sp>
        <p:nvSpPr>
          <p:cNvPr id="26" name="Text 2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7" name="Text 2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6</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Calcium Homeostasis: The PTH Feedback Loop</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2310152" y="1554460"/>
            <a:ext cx="7540635"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6. Original illustrative diagram (not from Katzung): falling serum calcium triggers PTH release, which raises calcium via bone resorption, renal reabsorption, and vitamin D-mediated intestinal absorption; calcitonin opposes this loop.</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FIGURE 6</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In Figure 6, PTH release raises serum calcium through three parallel actions. Which organ system is NOT one of the three direct targets of PTH shown in the diagram?</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Bone</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Kidney</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Intestine (directly)</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Lung</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FIGURE 6</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D</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Lung.</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PTH acts directly on bone (↑ osteoclast resorption) and kidney (↑ calcium reabsorption, activates vitamin D); its effect on the intestine is indirect, mediated through activated vitamin D. The lung is not part of this feedback loop at all.</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RISK ASSESSMENT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Osteoporosis Risk Factors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023368"/>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Aging</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Estrogen deficiency (e.g., postmenopausal status)</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Chronic glucocorticoid use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Low calcium or vitamin D intake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Low physical activity</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FIRST-LINE THERAPY</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Bisphosphonates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023368"/>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inhibit osteoclast-mediated bone resorption.</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Alendronate, risedronate — oral, typically weekly dosing</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Ibandronate — oral, monthly dosing</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Zoledronic acid — intravenous, as infrequently as once yearly</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First-line for most patients with osteoporosis.</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Bisphosphonates: Osteoclast Apoptosis</a:t>
            </a:r>
            <a:endParaRPr lang="en-US" sz="3000" dirty="0"/>
          </a:p>
        </p:txBody>
      </p:sp>
      <p:sp>
        <p:nvSpPr>
          <p:cNvPr id="4" name="Shape 2"/>
          <p:cNvSpPr/>
          <p:nvPr/>
        </p:nvSpPr>
        <p:spPr>
          <a:xfrm>
            <a:off x="609585" y="1637903"/>
            <a:ext cx="6400640" cy="448469"/>
          </a:xfrm>
          <a:prstGeom prst="rect">
            <a:avLst/>
          </a:prstGeom>
          <a:solidFill>
            <a:srgbClr val="0F7173"/>
          </a:solidFill>
          <a:ln/>
        </p:spPr>
        <p:txBody>
          <a:bodyPr/>
          <a:lstStyle/>
          <a:p>
            <a:endParaRPr lang="en-US"/>
          </a:p>
        </p:txBody>
      </p:sp>
      <p:sp>
        <p:nvSpPr>
          <p:cNvPr id="5" name="Text 3"/>
          <p:cNvSpPr/>
          <p:nvPr/>
        </p:nvSpPr>
        <p:spPr>
          <a:xfrm>
            <a:off x="609585" y="1740075"/>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Drug binds hydroxyapatite at resorption sites</a:t>
            </a:r>
            <a:endParaRPr lang="en-US" sz="1400" dirty="0"/>
          </a:p>
        </p:txBody>
      </p:sp>
      <p:sp>
        <p:nvSpPr>
          <p:cNvPr id="6" name="Text 4"/>
          <p:cNvSpPr/>
          <p:nvPr/>
        </p:nvSpPr>
        <p:spPr>
          <a:xfrm>
            <a:off x="609585" y="2086943"/>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331641"/>
            <a:ext cx="6400640" cy="448469"/>
          </a:xfrm>
          <a:prstGeom prst="rect">
            <a:avLst/>
          </a:prstGeom>
          <a:solidFill>
            <a:srgbClr val="0F7173"/>
          </a:solidFill>
          <a:ln/>
        </p:spPr>
        <p:txBody>
          <a:bodyPr/>
          <a:lstStyle/>
          <a:p>
            <a:endParaRPr lang="en-US"/>
          </a:p>
        </p:txBody>
      </p:sp>
      <p:sp>
        <p:nvSpPr>
          <p:cNvPr id="8" name="Text 6"/>
          <p:cNvSpPr/>
          <p:nvPr/>
        </p:nvSpPr>
        <p:spPr>
          <a:xfrm>
            <a:off x="609585" y="2433812"/>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Osteoclast takes it up during resorption</a:t>
            </a:r>
            <a:endParaRPr lang="en-US" sz="1400" dirty="0"/>
          </a:p>
        </p:txBody>
      </p:sp>
      <p:sp>
        <p:nvSpPr>
          <p:cNvPr id="9" name="Text 7"/>
          <p:cNvSpPr/>
          <p:nvPr/>
        </p:nvSpPr>
        <p:spPr>
          <a:xfrm>
            <a:off x="609585" y="2780681"/>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025378"/>
            <a:ext cx="6400640" cy="448469"/>
          </a:xfrm>
          <a:prstGeom prst="rect">
            <a:avLst/>
          </a:prstGeom>
          <a:solidFill>
            <a:srgbClr val="2A6F97"/>
          </a:solidFill>
          <a:ln/>
        </p:spPr>
        <p:txBody>
          <a:bodyPr/>
          <a:lstStyle/>
          <a:p>
            <a:endParaRPr lang="en-US"/>
          </a:p>
        </p:txBody>
      </p:sp>
      <p:sp>
        <p:nvSpPr>
          <p:cNvPr id="11" name="Text 9"/>
          <p:cNvSpPr/>
          <p:nvPr/>
        </p:nvSpPr>
        <p:spPr>
          <a:xfrm>
            <a:off x="609585" y="3127550"/>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Nitrogen-containing bisphosphonates inhibit FPP synthase (mevalonate pathway)</a:t>
            </a:r>
            <a:endParaRPr lang="en-US" sz="1400" dirty="0"/>
          </a:p>
        </p:txBody>
      </p:sp>
      <p:sp>
        <p:nvSpPr>
          <p:cNvPr id="12" name="Text 10"/>
          <p:cNvSpPr/>
          <p:nvPr/>
        </p:nvSpPr>
        <p:spPr>
          <a:xfrm>
            <a:off x="609585" y="3474418"/>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3719116"/>
            <a:ext cx="6400640" cy="448469"/>
          </a:xfrm>
          <a:prstGeom prst="rect">
            <a:avLst/>
          </a:prstGeom>
          <a:solidFill>
            <a:srgbClr val="2A6F97"/>
          </a:solidFill>
          <a:ln/>
        </p:spPr>
        <p:txBody>
          <a:bodyPr/>
          <a:lstStyle/>
          <a:p>
            <a:endParaRPr lang="en-US"/>
          </a:p>
        </p:txBody>
      </p:sp>
      <p:sp>
        <p:nvSpPr>
          <p:cNvPr id="14" name="Text 12"/>
          <p:cNvSpPr/>
          <p:nvPr/>
        </p:nvSpPr>
        <p:spPr>
          <a:xfrm>
            <a:off x="609585" y="3821287"/>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Loss of prenylation of small GTPases</a:t>
            </a:r>
            <a:endParaRPr lang="en-US" sz="1400" dirty="0"/>
          </a:p>
        </p:txBody>
      </p:sp>
      <p:sp>
        <p:nvSpPr>
          <p:cNvPr id="15" name="Text 13"/>
          <p:cNvSpPr/>
          <p:nvPr/>
        </p:nvSpPr>
        <p:spPr>
          <a:xfrm>
            <a:off x="609585" y="4168156"/>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6" name="Shape 14"/>
          <p:cNvSpPr/>
          <p:nvPr/>
        </p:nvSpPr>
        <p:spPr>
          <a:xfrm>
            <a:off x="609585" y="4412853"/>
            <a:ext cx="6400640" cy="448469"/>
          </a:xfrm>
          <a:prstGeom prst="rect">
            <a:avLst/>
          </a:prstGeom>
          <a:solidFill>
            <a:srgbClr val="2A6F97"/>
          </a:solidFill>
          <a:ln/>
        </p:spPr>
        <p:txBody>
          <a:bodyPr/>
          <a:lstStyle/>
          <a:p>
            <a:endParaRPr lang="en-US"/>
          </a:p>
        </p:txBody>
      </p:sp>
      <p:sp>
        <p:nvSpPr>
          <p:cNvPr id="17" name="Text 15"/>
          <p:cNvSpPr/>
          <p:nvPr/>
        </p:nvSpPr>
        <p:spPr>
          <a:xfrm>
            <a:off x="609585" y="4515025"/>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Osteoclast apoptosis, so less resorption</a:t>
            </a:r>
            <a:endParaRPr lang="en-US" sz="1400" dirty="0"/>
          </a:p>
        </p:txBody>
      </p:sp>
      <p:sp>
        <p:nvSpPr>
          <p:cNvPr id="18" name="Text 16"/>
          <p:cNvSpPr/>
          <p:nvPr/>
        </p:nvSpPr>
        <p:spPr>
          <a:xfrm>
            <a:off x="7314918" y="1637903"/>
            <a:ext cx="4267192" cy="2168426"/>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Long skeletal half-life: effect persists after stopping</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Ensure calcium and vitamin D repletion before starting</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Contraindicated with severe renal impairment (CrCl below 30-35 mL/min)</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Osteonecrosis of the jaw and atypical femur fracture with long-term use; consider a drug holiday after 3-5 years of oral therapy</a:t>
            </a:r>
            <a:endParaRPr lang="en-US" sz="1600" dirty="0"/>
          </a:p>
        </p:txBody>
      </p:sp>
      <p:sp>
        <p:nvSpPr>
          <p:cNvPr id="19" name="Text 1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0" name="Text 1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7</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Bisphosphonate Dosing Frequency</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2637466" y="1554460"/>
            <a:ext cx="6886105"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7. Original illustrative comparison (illustrative dosing-frequency values, not from Katzung): oral bisphosphonates range from weekly to monthly dosing, while IV zoledronic acid is given as infrequently as once yearly.</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FIGURE 7</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81048" cy="324148"/>
          </a:xfrm>
          <a:prstGeom prst="rect">
            <a:avLst/>
          </a:prstGeom>
          <a:noFill/>
          <a:ln/>
        </p:spPr>
        <p:txBody>
          <a:bodyPr wrap="none" lIns="0" tIns="0" rIns="0" bIns="0" rtlCol="0" anchor="t"/>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Based on Figure 7, which bisphosphonate requires the fewest doses per year, and by what route is it given?</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Alendronate/risedronate, given orally</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Ibandronate, given orally</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Zoledronic acid, given intravenously</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306491"/>
            <a:ext cx="4286143"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All bisphosphonates require the same number of annual doses</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FIGURE 7</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C</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Zoledronic acid, given intravenously.</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Figure 7 shows zoledronic acid dosed as infrequently as once yearly by IV infusion, versus weekly oral dosing for alendronate/risedronate and monthly oral dosing for ibandronate — an important consideration for patients with adherence challenges.</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SAFE USE</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Bisphosphonate Administration &amp; Adverse Effects</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Patient Counseling (Oral)</a:t>
            </a:r>
            <a:endParaRPr lang="en-US" sz="1600" dirty="0"/>
          </a:p>
        </p:txBody>
      </p:sp>
      <p:sp>
        <p:nvSpPr>
          <p:cNvPr id="11" name="Text 8"/>
          <p:cNvSpPr/>
          <p:nvPr/>
        </p:nvSpPr>
        <p:spPr>
          <a:xfrm>
            <a:off x="1046236"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Take with a full glass of water, first thing in the morning</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Remain upright (sitting or standing) for the specified period after dosing</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Take on an empty stomach, well before food</a:t>
            </a:r>
            <a:endParaRPr lang="en-US" sz="1400" dirty="0"/>
          </a:p>
        </p:txBody>
      </p:sp>
      <p:sp>
        <p:nvSpPr>
          <p:cNvPr id="12" name="Shape 9"/>
          <p:cNvSpPr/>
          <p:nvPr/>
        </p:nvSpPr>
        <p:spPr>
          <a:xfrm>
            <a:off x="6309162" y="1600200"/>
            <a:ext cx="5211831" cy="502841"/>
          </a:xfrm>
          <a:prstGeom prst="roundRect">
            <a:avLst>
              <a:gd name="adj" fmla="val 21821"/>
            </a:avLst>
          </a:prstGeom>
          <a:solidFill>
            <a:srgbClr val="D1495B"/>
          </a:solidFill>
          <a:ln/>
        </p:spPr>
        <p:txBody>
          <a:bodyPr/>
          <a:lstStyle/>
          <a:p>
            <a:endParaRPr lang="en-US"/>
          </a:p>
        </p:txBody>
      </p:sp>
      <p:sp>
        <p:nvSpPr>
          <p:cNvPr id="13" name="Shape 10"/>
          <p:cNvSpPr/>
          <p:nvPr/>
        </p:nvSpPr>
        <p:spPr>
          <a:xfrm>
            <a:off x="6309162" y="1856184"/>
            <a:ext cx="5211831" cy="255984"/>
          </a:xfrm>
          <a:prstGeom prst="rect">
            <a:avLst/>
          </a:prstGeom>
          <a:solidFill>
            <a:srgbClr val="D1495B"/>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Adverse Effects</a:t>
            </a:r>
            <a:endParaRPr lang="en-US" sz="1600" dirty="0"/>
          </a:p>
        </p:txBody>
      </p:sp>
      <p:sp>
        <p:nvSpPr>
          <p:cNvPr id="15" name="Text 12"/>
          <p:cNvSpPr/>
          <p:nvPr/>
        </p:nvSpPr>
        <p:spPr>
          <a:xfrm>
            <a:off x="6715354" y="2272010"/>
            <a:ext cx="4576946" cy="1195884"/>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Esophageal irritation</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Hypocalcemia</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Osteonecrosis of the jaw (rare)</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Atypical femoral fractures (rare, with long-term use)</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Why Oral Bisphosphonates Need Strict Administration Rules</a:t>
            </a:r>
            <a:endParaRPr lang="en-US" sz="3000" dirty="0"/>
          </a:p>
        </p:txBody>
      </p:sp>
      <p:sp>
        <p:nvSpPr>
          <p:cNvPr id="4" name="Shape 2"/>
          <p:cNvSpPr/>
          <p:nvPr/>
        </p:nvSpPr>
        <p:spPr>
          <a:xfrm>
            <a:off x="609585" y="1637903"/>
            <a:ext cx="6400640" cy="448469"/>
          </a:xfrm>
          <a:prstGeom prst="rect">
            <a:avLst/>
          </a:prstGeom>
          <a:solidFill>
            <a:srgbClr val="0F7173"/>
          </a:solidFill>
          <a:ln/>
        </p:spPr>
        <p:txBody>
          <a:bodyPr/>
          <a:lstStyle/>
          <a:p>
            <a:endParaRPr lang="en-US"/>
          </a:p>
        </p:txBody>
      </p:sp>
      <p:sp>
        <p:nvSpPr>
          <p:cNvPr id="5" name="Text 3"/>
          <p:cNvSpPr/>
          <p:nvPr/>
        </p:nvSpPr>
        <p:spPr>
          <a:xfrm>
            <a:off x="609585" y="1740075"/>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Poor oral absorption (under 1%)</a:t>
            </a:r>
            <a:endParaRPr lang="en-US" sz="1400" dirty="0"/>
          </a:p>
        </p:txBody>
      </p:sp>
      <p:sp>
        <p:nvSpPr>
          <p:cNvPr id="6" name="Text 4"/>
          <p:cNvSpPr/>
          <p:nvPr/>
        </p:nvSpPr>
        <p:spPr>
          <a:xfrm>
            <a:off x="609585" y="2086943"/>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331641"/>
            <a:ext cx="6400640" cy="448469"/>
          </a:xfrm>
          <a:prstGeom prst="rect">
            <a:avLst/>
          </a:prstGeom>
          <a:solidFill>
            <a:srgbClr val="0F7173"/>
          </a:solidFill>
          <a:ln/>
        </p:spPr>
        <p:txBody>
          <a:bodyPr/>
          <a:lstStyle/>
          <a:p>
            <a:endParaRPr lang="en-US"/>
          </a:p>
        </p:txBody>
      </p:sp>
      <p:sp>
        <p:nvSpPr>
          <p:cNvPr id="8" name="Text 6"/>
          <p:cNvSpPr/>
          <p:nvPr/>
        </p:nvSpPr>
        <p:spPr>
          <a:xfrm>
            <a:off x="609585" y="2433812"/>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Food, calcium, coffee and antacids reduce it further</a:t>
            </a:r>
            <a:endParaRPr lang="en-US" sz="1400" dirty="0"/>
          </a:p>
        </p:txBody>
      </p:sp>
      <p:sp>
        <p:nvSpPr>
          <p:cNvPr id="9" name="Text 7"/>
          <p:cNvSpPr/>
          <p:nvPr/>
        </p:nvSpPr>
        <p:spPr>
          <a:xfrm>
            <a:off x="609585" y="2780681"/>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025378"/>
            <a:ext cx="6400640" cy="448469"/>
          </a:xfrm>
          <a:prstGeom prst="rect">
            <a:avLst/>
          </a:prstGeom>
          <a:solidFill>
            <a:srgbClr val="2A6F97"/>
          </a:solidFill>
          <a:ln/>
        </p:spPr>
        <p:txBody>
          <a:bodyPr/>
          <a:lstStyle/>
          <a:p>
            <a:endParaRPr lang="en-US"/>
          </a:p>
        </p:txBody>
      </p:sp>
      <p:sp>
        <p:nvSpPr>
          <p:cNvPr id="11" name="Text 9"/>
          <p:cNvSpPr/>
          <p:nvPr/>
        </p:nvSpPr>
        <p:spPr>
          <a:xfrm>
            <a:off x="609585" y="3127550"/>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Take fasting with plain water; stay upright 30 minutes</a:t>
            </a:r>
            <a:endParaRPr lang="en-US" sz="1400" dirty="0"/>
          </a:p>
        </p:txBody>
      </p:sp>
      <p:sp>
        <p:nvSpPr>
          <p:cNvPr id="12" name="Text 10"/>
          <p:cNvSpPr/>
          <p:nvPr/>
        </p:nvSpPr>
        <p:spPr>
          <a:xfrm>
            <a:off x="609585" y="3474418"/>
            <a:ext cx="6400640"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3719116"/>
            <a:ext cx="6400640" cy="448469"/>
          </a:xfrm>
          <a:prstGeom prst="rect">
            <a:avLst/>
          </a:prstGeom>
          <a:solidFill>
            <a:srgbClr val="2A6F97"/>
          </a:solidFill>
          <a:ln/>
        </p:spPr>
        <p:txBody>
          <a:bodyPr/>
          <a:lstStyle/>
          <a:p>
            <a:endParaRPr lang="en-US"/>
          </a:p>
        </p:txBody>
      </p:sp>
      <p:sp>
        <p:nvSpPr>
          <p:cNvPr id="14" name="Text 12"/>
          <p:cNvSpPr/>
          <p:nvPr/>
        </p:nvSpPr>
        <p:spPr>
          <a:xfrm>
            <a:off x="609585" y="3821287"/>
            <a:ext cx="6400640"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Lowers esophageal irritation risk</a:t>
            </a:r>
            <a:endParaRPr lang="en-US" sz="1400" dirty="0"/>
          </a:p>
        </p:txBody>
      </p:sp>
      <p:sp>
        <p:nvSpPr>
          <p:cNvPr id="15" name="Text 13"/>
          <p:cNvSpPr/>
          <p:nvPr/>
        </p:nvSpPr>
        <p:spPr>
          <a:xfrm>
            <a:off x="7314918" y="1637903"/>
            <a:ext cx="4267192" cy="153908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Avoid in esophageal stricture, achalasia, or inability to sit upright</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IV zoledronic acid: acute-phase reaction (flu-like), mitigated with acetaminophen</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Hypocalcemia risk; correct calcium and vitamin D first</a:t>
            </a:r>
            <a:endParaRPr lang="en-US" sz="1600" dirty="0"/>
          </a:p>
        </p:txBody>
      </p:sp>
      <p:sp>
        <p:nvSpPr>
          <p:cNvPr id="16"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7"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BEYOND BISPHOSPHONATES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Other Osteoporosis Therapies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5257668" cy="2103041"/>
          </a:xfrm>
          <a:prstGeom prst="roundRect">
            <a:avLst>
              <a:gd name="adj" fmla="val 5217"/>
            </a:avLst>
          </a:prstGeom>
          <a:solidFill>
            <a:srgbClr val="E8F1F0"/>
          </a:solidFill>
          <a:ln/>
        </p:spPr>
        <p:txBody>
          <a:bodyPr/>
          <a:lstStyle/>
          <a:p>
            <a:endParaRPr lang="en-US"/>
          </a:p>
        </p:txBody>
      </p:sp>
      <p:sp>
        <p:nvSpPr>
          <p:cNvPr id="7" name="Shape 4"/>
          <p:cNvSpPr/>
          <p:nvPr/>
        </p:nvSpPr>
        <p:spPr>
          <a:xfrm>
            <a:off x="640044" y="1600200"/>
            <a:ext cx="5257668" cy="502841"/>
          </a:xfrm>
          <a:prstGeom prst="roundRect">
            <a:avLst>
              <a:gd name="adj" fmla="val 21821"/>
            </a:avLst>
          </a:prstGeom>
          <a:solidFill>
            <a:srgbClr val="0F7173"/>
          </a:solidFill>
          <a:ln/>
        </p:spPr>
        <p:txBody>
          <a:bodyPr/>
          <a:lstStyle/>
          <a:p>
            <a:endParaRPr lang="en-US"/>
          </a:p>
        </p:txBody>
      </p:sp>
      <p:sp>
        <p:nvSpPr>
          <p:cNvPr id="8" name="Shape 5"/>
          <p:cNvSpPr/>
          <p:nvPr/>
        </p:nvSpPr>
        <p:spPr>
          <a:xfrm>
            <a:off x="640044" y="1856184"/>
            <a:ext cx="5257668" cy="255984"/>
          </a:xfrm>
          <a:prstGeom prst="rect">
            <a:avLst/>
          </a:prstGeom>
          <a:solidFill>
            <a:srgbClr val="0F7173"/>
          </a:solidFill>
          <a:ln/>
        </p:spPr>
        <p:txBody>
          <a:bodyPr/>
          <a:lstStyle/>
          <a:p>
            <a:endParaRPr lang="en-US"/>
          </a:p>
        </p:txBody>
      </p:sp>
      <p:sp>
        <p:nvSpPr>
          <p:cNvPr id="9" name="Text 6"/>
          <p:cNvSpPr/>
          <p:nvPr/>
        </p:nvSpPr>
        <p:spPr>
          <a:xfrm>
            <a:off x="841156"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Denosumab</a:t>
            </a:r>
            <a:endParaRPr lang="en-US" sz="1600" dirty="0"/>
          </a:p>
        </p:txBody>
      </p:sp>
      <p:sp>
        <p:nvSpPr>
          <p:cNvPr id="10" name="Text 7"/>
          <p:cNvSpPr/>
          <p:nvPr/>
        </p:nvSpPr>
        <p:spPr>
          <a:xfrm>
            <a:off x="104693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Monoclonal antibody; blocks osteoclast formation (RANKL inhibitor)</a:t>
            </a:r>
            <a:endParaRPr lang="en-US" sz="1300" dirty="0"/>
          </a:p>
        </p:txBody>
      </p:sp>
      <p:sp>
        <p:nvSpPr>
          <p:cNvPr id="11" name="Shape 8"/>
          <p:cNvSpPr/>
          <p:nvPr/>
        </p:nvSpPr>
        <p:spPr>
          <a:xfrm>
            <a:off x="6263424" y="1600200"/>
            <a:ext cx="5257668" cy="2103041"/>
          </a:xfrm>
          <a:prstGeom prst="roundRect">
            <a:avLst>
              <a:gd name="adj" fmla="val 5217"/>
            </a:avLst>
          </a:prstGeom>
          <a:solidFill>
            <a:srgbClr val="E8F1F0"/>
          </a:solidFill>
          <a:ln/>
        </p:spPr>
        <p:txBody>
          <a:bodyPr/>
          <a:lstStyle/>
          <a:p>
            <a:endParaRPr lang="en-US"/>
          </a:p>
        </p:txBody>
      </p:sp>
      <p:sp>
        <p:nvSpPr>
          <p:cNvPr id="12" name="Shape 9"/>
          <p:cNvSpPr/>
          <p:nvPr/>
        </p:nvSpPr>
        <p:spPr>
          <a:xfrm>
            <a:off x="6263424" y="1600200"/>
            <a:ext cx="5257668"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263424" y="1856184"/>
            <a:ext cx="5257668" cy="255984"/>
          </a:xfrm>
          <a:prstGeom prst="rect">
            <a:avLst/>
          </a:prstGeom>
          <a:solidFill>
            <a:srgbClr val="2A6F97"/>
          </a:solidFill>
          <a:ln/>
        </p:spPr>
        <p:txBody>
          <a:bodyPr/>
          <a:lstStyle/>
          <a:p>
            <a:endParaRPr lang="en-US"/>
          </a:p>
        </p:txBody>
      </p:sp>
      <p:sp>
        <p:nvSpPr>
          <p:cNvPr id="14" name="Text 11"/>
          <p:cNvSpPr/>
          <p:nvPr/>
        </p:nvSpPr>
        <p:spPr>
          <a:xfrm>
            <a:off x="6464634"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Teriparatide / Abaloparatide</a:t>
            </a:r>
            <a:endParaRPr lang="en-US" sz="1600" dirty="0"/>
          </a:p>
        </p:txBody>
      </p:sp>
      <p:sp>
        <p:nvSpPr>
          <p:cNvPr id="15" name="Text 12"/>
          <p:cNvSpPr/>
          <p:nvPr/>
        </p:nvSpPr>
        <p:spPr>
          <a:xfrm>
            <a:off x="667031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PTH-analog "anabolic" agents that stimulate new bone formation</a:t>
            </a:r>
            <a:endParaRPr lang="en-US" sz="1300" dirty="0"/>
          </a:p>
        </p:txBody>
      </p:sp>
      <p:sp>
        <p:nvSpPr>
          <p:cNvPr id="16" name="Shape 13"/>
          <p:cNvSpPr/>
          <p:nvPr/>
        </p:nvSpPr>
        <p:spPr>
          <a:xfrm>
            <a:off x="640044" y="4023320"/>
            <a:ext cx="5257668" cy="2103041"/>
          </a:xfrm>
          <a:prstGeom prst="roundRect">
            <a:avLst>
              <a:gd name="adj" fmla="val 5217"/>
            </a:avLst>
          </a:prstGeom>
          <a:solidFill>
            <a:srgbClr val="E8F1F0"/>
          </a:solidFill>
          <a:ln/>
        </p:spPr>
        <p:txBody>
          <a:bodyPr/>
          <a:lstStyle/>
          <a:p>
            <a:endParaRPr lang="en-US"/>
          </a:p>
        </p:txBody>
      </p:sp>
      <p:sp>
        <p:nvSpPr>
          <p:cNvPr id="17" name="Shape 14"/>
          <p:cNvSpPr/>
          <p:nvPr/>
        </p:nvSpPr>
        <p:spPr>
          <a:xfrm>
            <a:off x="640044" y="4023320"/>
            <a:ext cx="5257668" cy="502841"/>
          </a:xfrm>
          <a:prstGeom prst="roundRect">
            <a:avLst>
              <a:gd name="adj" fmla="val 21821"/>
            </a:avLst>
          </a:prstGeom>
          <a:solidFill>
            <a:srgbClr val="6B9080"/>
          </a:solidFill>
          <a:ln/>
        </p:spPr>
        <p:txBody>
          <a:bodyPr/>
          <a:lstStyle/>
          <a:p>
            <a:endParaRPr lang="en-US"/>
          </a:p>
        </p:txBody>
      </p:sp>
      <p:sp>
        <p:nvSpPr>
          <p:cNvPr id="18" name="Shape 15"/>
          <p:cNvSpPr/>
          <p:nvPr/>
        </p:nvSpPr>
        <p:spPr>
          <a:xfrm>
            <a:off x="640044" y="4279305"/>
            <a:ext cx="5257668" cy="255984"/>
          </a:xfrm>
          <a:prstGeom prst="rect">
            <a:avLst/>
          </a:prstGeom>
          <a:solidFill>
            <a:srgbClr val="6B9080"/>
          </a:solidFill>
          <a:ln/>
        </p:spPr>
        <p:txBody>
          <a:bodyPr/>
          <a:lstStyle/>
          <a:p>
            <a:endParaRPr lang="en-US"/>
          </a:p>
        </p:txBody>
      </p:sp>
      <p:sp>
        <p:nvSpPr>
          <p:cNvPr id="19" name="Text 16"/>
          <p:cNvSpPr/>
          <p:nvPr/>
        </p:nvSpPr>
        <p:spPr>
          <a:xfrm>
            <a:off x="841156"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Romosozumab</a:t>
            </a:r>
            <a:endParaRPr lang="en-US" sz="1600" dirty="0"/>
          </a:p>
        </p:txBody>
      </p:sp>
      <p:sp>
        <p:nvSpPr>
          <p:cNvPr id="20" name="Text 17"/>
          <p:cNvSpPr/>
          <p:nvPr/>
        </p:nvSpPr>
        <p:spPr>
          <a:xfrm>
            <a:off x="1046930" y="469532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Monoclonal antibody that both builds bone and limits resorption</a:t>
            </a:r>
            <a:endParaRPr lang="en-US" sz="1300" dirty="0"/>
          </a:p>
        </p:txBody>
      </p:sp>
      <p:sp>
        <p:nvSpPr>
          <p:cNvPr id="21" name="Shape 18"/>
          <p:cNvSpPr/>
          <p:nvPr/>
        </p:nvSpPr>
        <p:spPr>
          <a:xfrm>
            <a:off x="6263424" y="4023320"/>
            <a:ext cx="5257668" cy="2103041"/>
          </a:xfrm>
          <a:prstGeom prst="roundRect">
            <a:avLst>
              <a:gd name="adj" fmla="val 5217"/>
            </a:avLst>
          </a:prstGeom>
          <a:solidFill>
            <a:srgbClr val="E8F1F0"/>
          </a:solidFill>
          <a:ln/>
        </p:spPr>
        <p:txBody>
          <a:bodyPr/>
          <a:lstStyle/>
          <a:p>
            <a:endParaRPr lang="en-US"/>
          </a:p>
        </p:txBody>
      </p:sp>
      <p:sp>
        <p:nvSpPr>
          <p:cNvPr id="22" name="Shape 19"/>
          <p:cNvSpPr/>
          <p:nvPr/>
        </p:nvSpPr>
        <p:spPr>
          <a:xfrm>
            <a:off x="6263424" y="4023320"/>
            <a:ext cx="5257668" cy="502841"/>
          </a:xfrm>
          <a:prstGeom prst="roundRect">
            <a:avLst>
              <a:gd name="adj" fmla="val 21821"/>
            </a:avLst>
          </a:prstGeom>
          <a:solidFill>
            <a:srgbClr val="D1495B"/>
          </a:solidFill>
          <a:ln/>
        </p:spPr>
        <p:txBody>
          <a:bodyPr/>
          <a:lstStyle/>
          <a:p>
            <a:endParaRPr lang="en-US"/>
          </a:p>
        </p:txBody>
      </p:sp>
      <p:sp>
        <p:nvSpPr>
          <p:cNvPr id="23" name="Shape 20"/>
          <p:cNvSpPr/>
          <p:nvPr/>
        </p:nvSpPr>
        <p:spPr>
          <a:xfrm>
            <a:off x="6263424" y="4279305"/>
            <a:ext cx="5257668" cy="255984"/>
          </a:xfrm>
          <a:prstGeom prst="rect">
            <a:avLst/>
          </a:prstGeom>
          <a:solidFill>
            <a:srgbClr val="D1495B"/>
          </a:solidFill>
          <a:ln/>
        </p:spPr>
        <p:txBody>
          <a:bodyPr/>
          <a:lstStyle/>
          <a:p>
            <a:endParaRPr lang="en-US"/>
          </a:p>
        </p:txBody>
      </p:sp>
      <p:sp>
        <p:nvSpPr>
          <p:cNvPr id="24" name="Text 21"/>
          <p:cNvSpPr/>
          <p:nvPr/>
        </p:nvSpPr>
        <p:spPr>
          <a:xfrm>
            <a:off x="6464634"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SERMs</a:t>
            </a:r>
            <a:endParaRPr lang="en-US" sz="1600" dirty="0"/>
          </a:p>
        </p:txBody>
      </p:sp>
      <p:sp>
        <p:nvSpPr>
          <p:cNvPr id="25" name="Text 22"/>
          <p:cNvSpPr/>
          <p:nvPr/>
        </p:nvSpPr>
        <p:spPr>
          <a:xfrm>
            <a:off x="6670310" y="4695130"/>
            <a:ext cx="4565040" cy="717550"/>
          </a:xfrm>
          <a:prstGeom prst="rect">
            <a:avLst/>
          </a:prstGeom>
          <a:noFill/>
          <a:ln/>
        </p:spPr>
        <p:txBody>
          <a:bodyPr wrap="square" lIns="0" tIns="0" rIns="0" bIns="0" rtlCol="0" anchor="t">
            <a:normAutofit/>
          </a:bodyPr>
          <a:lstStyle/>
          <a:p>
            <a:pPr marL="0" indent="0" algn="l">
              <a:lnSpc>
                <a:spcPct val="100000"/>
              </a:lnSpc>
              <a:spcAft>
                <a:spcPts val="950"/>
              </a:spcAft>
              <a:buNone/>
            </a:pPr>
            <a:r>
              <a:rPr lang="en-US" sz="1300" dirty="0">
                <a:solidFill>
                  <a:srgbClr val="1A1A1A"/>
                </a:solidFill>
                <a:latin typeface="Carlito" pitchFamily="34" charset="0"/>
                <a:ea typeface="Carlito" pitchFamily="34" charset="-122"/>
                <a:cs typeface="Carlito" pitchFamily="34" charset="0"/>
              </a:rPr>
              <a:t>–   Selective estrogen receptor modulators — estrogen-like effect on bone</a:t>
            </a:r>
            <a:endParaRPr lang="en-US" sz="1300" dirty="0"/>
          </a:p>
          <a:p>
            <a:pPr marL="0" indent="0" algn="l">
              <a:lnSpc>
                <a:spcPct val="100000"/>
              </a:lnSpc>
              <a:buNone/>
            </a:pPr>
            <a:r>
              <a:rPr lang="en-US" sz="1300" dirty="0">
                <a:solidFill>
                  <a:srgbClr val="1A1A1A"/>
                </a:solidFill>
                <a:latin typeface="Carlito" pitchFamily="34" charset="0"/>
                <a:ea typeface="Carlito" pitchFamily="34" charset="-122"/>
                <a:cs typeface="Carlito" pitchFamily="34" charset="0"/>
              </a:rPr>
              <a:t>–   Example: raloxifene — also reduces breast cancer risk</a:t>
            </a:r>
            <a:endParaRPr lang="en-US" sz="1300" dirty="0"/>
          </a:p>
        </p:txBody>
      </p:sp>
      <p:sp>
        <p:nvSpPr>
          <p:cNvPr id="26" name="Text 2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7" name="Text 2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Anabolic vs Antiresorptive Mechanisms</a:t>
            </a:r>
            <a:endParaRPr lang="en-US" sz="3000" dirty="0"/>
          </a:p>
        </p:txBody>
      </p:sp>
      <p:sp>
        <p:nvSpPr>
          <p:cNvPr id="4" name="Shape 2"/>
          <p:cNvSpPr/>
          <p:nvPr/>
        </p:nvSpPr>
        <p:spPr>
          <a:xfrm>
            <a:off x="609585" y="1637903"/>
            <a:ext cx="3047825" cy="988020"/>
          </a:xfrm>
          <a:prstGeom prst="rect">
            <a:avLst/>
          </a:prstGeom>
          <a:solidFill>
            <a:srgbClr val="0F7173"/>
          </a:solidFill>
          <a:ln/>
        </p:spPr>
        <p:txBody>
          <a:bodyPr/>
          <a:lstStyle/>
          <a:p>
            <a:endParaRPr lang="en-US"/>
          </a:p>
        </p:txBody>
      </p:sp>
      <p:sp>
        <p:nvSpPr>
          <p:cNvPr id="5" name="Text 3"/>
          <p:cNvSpPr/>
          <p:nvPr/>
        </p:nvSpPr>
        <p:spPr>
          <a:xfrm>
            <a:off x="761981" y="1740075"/>
            <a:ext cx="2743032" cy="735806"/>
          </a:xfrm>
          <a:prstGeom prst="rect">
            <a:avLst/>
          </a:prstGeom>
          <a:noFill/>
          <a:ln/>
        </p:spPr>
        <p:txBody>
          <a:bodyPr wrap="square" lIns="0" tIns="0" rIns="0" bIns="0" rtlCol="0" anchor="t">
            <a:normAutofit/>
          </a:bodyPr>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Antiresorptive: denosumab (RANKL antibody), raloxifene (SERM), calcitonin</a:t>
            </a:r>
            <a:endParaRPr lang="en-US" sz="1400" dirty="0"/>
          </a:p>
        </p:txBody>
      </p:sp>
      <p:sp>
        <p:nvSpPr>
          <p:cNvPr id="6" name="Text 4"/>
          <p:cNvSpPr/>
          <p:nvPr/>
        </p:nvSpPr>
        <p:spPr>
          <a:xfrm>
            <a:off x="609585" y="2626495"/>
            <a:ext cx="3047825"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920206"/>
            <a:ext cx="3047825" cy="497483"/>
          </a:xfrm>
          <a:prstGeom prst="rect">
            <a:avLst/>
          </a:prstGeom>
          <a:solidFill>
            <a:srgbClr val="0F7173"/>
          </a:solidFill>
          <a:ln/>
        </p:spPr>
        <p:txBody>
          <a:bodyPr/>
          <a:lstStyle/>
          <a:p>
            <a:endParaRPr lang="en-US"/>
          </a:p>
        </p:txBody>
      </p:sp>
      <p:sp>
        <p:nvSpPr>
          <p:cNvPr id="8" name="Text 6"/>
          <p:cNvSpPr/>
          <p:nvPr/>
        </p:nvSpPr>
        <p:spPr>
          <a:xfrm>
            <a:off x="609585" y="3022378"/>
            <a:ext cx="3047825"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Less osteoclast activity</a:t>
            </a:r>
            <a:endParaRPr lang="en-US" sz="1400" dirty="0"/>
          </a:p>
        </p:txBody>
      </p:sp>
      <p:sp>
        <p:nvSpPr>
          <p:cNvPr id="9" name="Text 7"/>
          <p:cNvSpPr/>
          <p:nvPr/>
        </p:nvSpPr>
        <p:spPr>
          <a:xfrm>
            <a:off x="609585" y="3418261"/>
            <a:ext cx="3047825"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3712071"/>
            <a:ext cx="3047825" cy="497582"/>
          </a:xfrm>
          <a:prstGeom prst="rect">
            <a:avLst/>
          </a:prstGeom>
          <a:solidFill>
            <a:srgbClr val="0F7173"/>
          </a:solidFill>
          <a:ln/>
        </p:spPr>
        <p:txBody>
          <a:bodyPr/>
          <a:lstStyle/>
          <a:p>
            <a:endParaRPr lang="en-US"/>
          </a:p>
        </p:txBody>
      </p:sp>
      <p:sp>
        <p:nvSpPr>
          <p:cNvPr id="11" name="Text 9"/>
          <p:cNvSpPr/>
          <p:nvPr/>
        </p:nvSpPr>
        <p:spPr>
          <a:xfrm>
            <a:off x="609585" y="3814243"/>
            <a:ext cx="3047825" cy="245269"/>
          </a:xfrm>
          <a:prstGeom prst="rect">
            <a:avLst/>
          </a:prstGeom>
          <a:noFill/>
          <a:ln/>
        </p:spPr>
        <p:txBody>
          <a:bodyPr wrap="none" lIns="0" tIns="0" rIns="0" bIns="0" rtlCol="0" anchor="t"/>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BMD up, fracture risk down</a:t>
            </a:r>
            <a:endParaRPr lang="en-US" sz="1400" dirty="0"/>
          </a:p>
        </p:txBody>
      </p:sp>
      <p:sp>
        <p:nvSpPr>
          <p:cNvPr id="12" name="Shape 10"/>
          <p:cNvSpPr/>
          <p:nvPr/>
        </p:nvSpPr>
        <p:spPr>
          <a:xfrm>
            <a:off x="3962202" y="1637903"/>
            <a:ext cx="3047924" cy="693738"/>
          </a:xfrm>
          <a:prstGeom prst="rect">
            <a:avLst/>
          </a:prstGeom>
          <a:solidFill>
            <a:srgbClr val="2A6F97"/>
          </a:solidFill>
          <a:ln/>
        </p:spPr>
        <p:txBody>
          <a:bodyPr/>
          <a:lstStyle/>
          <a:p>
            <a:endParaRPr lang="en-US"/>
          </a:p>
        </p:txBody>
      </p:sp>
      <p:sp>
        <p:nvSpPr>
          <p:cNvPr id="13" name="Text 11"/>
          <p:cNvSpPr/>
          <p:nvPr/>
        </p:nvSpPr>
        <p:spPr>
          <a:xfrm>
            <a:off x="4114598" y="1740075"/>
            <a:ext cx="2743131" cy="490537"/>
          </a:xfrm>
          <a:prstGeom prst="rect">
            <a:avLst/>
          </a:prstGeom>
          <a:noFill/>
          <a:ln/>
        </p:spPr>
        <p:txBody>
          <a:bodyPr wrap="square" lIns="0" tIns="0" rIns="0" bIns="0" rtlCol="0" anchor="t">
            <a:normAutofit/>
          </a:bodyPr>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Anabolic: teriparatide (PTH 1-34, daily injection) and abaloparatide</a:t>
            </a:r>
            <a:endParaRPr lang="en-US" sz="1400" dirty="0"/>
          </a:p>
        </p:txBody>
      </p:sp>
      <p:sp>
        <p:nvSpPr>
          <p:cNvPr id="14" name="Text 12"/>
          <p:cNvSpPr/>
          <p:nvPr/>
        </p:nvSpPr>
        <p:spPr>
          <a:xfrm>
            <a:off x="3962202" y="2332212"/>
            <a:ext cx="3047924"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5" name="Shape 13"/>
          <p:cNvSpPr/>
          <p:nvPr/>
        </p:nvSpPr>
        <p:spPr>
          <a:xfrm>
            <a:off x="3962202" y="2576909"/>
            <a:ext cx="3047924" cy="693738"/>
          </a:xfrm>
          <a:prstGeom prst="rect">
            <a:avLst/>
          </a:prstGeom>
          <a:solidFill>
            <a:srgbClr val="2A6F97"/>
          </a:solidFill>
          <a:ln/>
        </p:spPr>
        <p:txBody>
          <a:bodyPr/>
          <a:lstStyle/>
          <a:p>
            <a:endParaRPr lang="en-US"/>
          </a:p>
        </p:txBody>
      </p:sp>
      <p:sp>
        <p:nvSpPr>
          <p:cNvPr id="16" name="Text 14"/>
          <p:cNvSpPr/>
          <p:nvPr/>
        </p:nvSpPr>
        <p:spPr>
          <a:xfrm>
            <a:off x="4114598" y="2679081"/>
            <a:ext cx="2743131" cy="490537"/>
          </a:xfrm>
          <a:prstGeom prst="rect">
            <a:avLst/>
          </a:prstGeom>
          <a:noFill/>
          <a:ln/>
        </p:spPr>
        <p:txBody>
          <a:bodyPr wrap="square" lIns="0" tIns="0" rIns="0" bIns="0" rtlCol="0" anchor="t">
            <a:normAutofit/>
          </a:bodyPr>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Stimulate osteoblasts; romosozumab (sclerostin antibody)</a:t>
            </a:r>
            <a:endParaRPr lang="en-US" sz="1400" dirty="0"/>
          </a:p>
        </p:txBody>
      </p:sp>
      <p:sp>
        <p:nvSpPr>
          <p:cNvPr id="17" name="Text 15"/>
          <p:cNvSpPr/>
          <p:nvPr/>
        </p:nvSpPr>
        <p:spPr>
          <a:xfrm>
            <a:off x="3962202" y="3271218"/>
            <a:ext cx="3047924" cy="245269"/>
          </a:xfrm>
          <a:prstGeom prst="rect">
            <a:avLst/>
          </a:prstGeom>
          <a:noFill/>
          <a:ln/>
        </p:spPr>
        <p:txBody>
          <a:bodyPr wrap="none" lIns="0" tIns="0" rIns="0" bIns="0" rtlCol="0" anchor="t"/>
          <a:lstStyle/>
          <a:p>
            <a:pPr marL="0" indent="0" algn="ctr">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8" name="Shape 16"/>
          <p:cNvSpPr/>
          <p:nvPr/>
        </p:nvSpPr>
        <p:spPr>
          <a:xfrm>
            <a:off x="3962202" y="3515916"/>
            <a:ext cx="3047924" cy="693738"/>
          </a:xfrm>
          <a:prstGeom prst="rect">
            <a:avLst/>
          </a:prstGeom>
          <a:solidFill>
            <a:srgbClr val="2A6F97"/>
          </a:solidFill>
          <a:ln/>
        </p:spPr>
        <p:txBody>
          <a:bodyPr/>
          <a:lstStyle/>
          <a:p>
            <a:endParaRPr lang="en-US"/>
          </a:p>
        </p:txBody>
      </p:sp>
      <p:sp>
        <p:nvSpPr>
          <p:cNvPr id="19" name="Text 17"/>
          <p:cNvSpPr/>
          <p:nvPr/>
        </p:nvSpPr>
        <p:spPr>
          <a:xfrm>
            <a:off x="4114598" y="3618087"/>
            <a:ext cx="2743131" cy="490537"/>
          </a:xfrm>
          <a:prstGeom prst="rect">
            <a:avLst/>
          </a:prstGeom>
          <a:noFill/>
          <a:ln/>
        </p:spPr>
        <p:txBody>
          <a:bodyPr wrap="square" lIns="0" tIns="0" rIns="0" bIns="0" rtlCol="0" anchor="t">
            <a:normAutofit/>
          </a:bodyPr>
          <a:lstStyle/>
          <a:p>
            <a:pPr marL="0" indent="0" algn="ctr">
              <a:lnSpc>
                <a:spcPct val="115000"/>
              </a:lnSpc>
              <a:buNone/>
            </a:pPr>
            <a:r>
              <a:rPr lang="en-US" sz="1400" b="1" dirty="0">
                <a:solidFill>
                  <a:srgbClr val="FFFFFF"/>
                </a:solidFill>
                <a:latin typeface="Carlito Bold" pitchFamily="34" charset="0"/>
                <a:ea typeface="Carlito Bold" pitchFamily="34" charset="-122"/>
                <a:cs typeface="Carlito Bold" pitchFamily="34" charset="0"/>
              </a:rPr>
              <a:t>Increases formation, decreases resorption</a:t>
            </a:r>
            <a:endParaRPr lang="en-US" sz="1400" dirty="0"/>
          </a:p>
        </p:txBody>
      </p:sp>
      <p:sp>
        <p:nvSpPr>
          <p:cNvPr id="20" name="Text 18"/>
          <p:cNvSpPr/>
          <p:nvPr/>
        </p:nvSpPr>
        <p:spPr>
          <a:xfrm>
            <a:off x="7314918" y="1637903"/>
            <a:ext cx="4267192" cy="2448818"/>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Teriparatide is limited to 2 years lifetime, then follow with an antiresorptive</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Denosumab discontinuation causes rebound vertebral fractures; transition to a bisphosphonate</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Raloxifene raises VTE risk and may reduce breast cancer risk; hot flashes</a:t>
            </a:r>
            <a:endParaRPr lang="en-US" sz="1600" dirty="0"/>
          </a:p>
          <a:p>
            <a:pPr marL="325120" indent="-325120" algn="l">
              <a:lnSpc>
                <a:spcPct val="115000"/>
              </a:lnSpc>
              <a:buSzPct val="100000"/>
              <a:buChar char="•"/>
            </a:pPr>
            <a:r>
              <a:rPr lang="en-US" sz="1400" dirty="0">
                <a:solidFill>
                  <a:srgbClr val="1A1A1A"/>
                </a:solidFill>
                <a:latin typeface="Carlito" pitchFamily="34" charset="0"/>
                <a:ea typeface="Carlito" pitchFamily="34" charset="-122"/>
                <a:cs typeface="Carlito" pitchFamily="34" charset="0"/>
              </a:rPr>
              <a:t>Romosozumab carries a boxed warning for MI, stroke, and CV death</a:t>
            </a:r>
            <a:endParaRPr lang="en-US" sz="1600" dirty="0"/>
          </a:p>
        </p:txBody>
      </p:sp>
      <p:sp>
        <p:nvSpPr>
          <p:cNvPr id="21" name="Text 19"/>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2" name="Text 20"/>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8</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How Osteoporosis Drugs Shift the Remodeling Balance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2405498" y="1554460"/>
            <a:ext cx="7350040"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8. Original illustrative diagram (not from Katzung): bisphosphonates, denosumab, raloxifene (SERM), and calcitonin inhibit bone resorption; teriparatide, abaloparatide, and romosozumab stimulate bone formation.</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FIGURE 8</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In Figure 8, teriparatide and romosozumab sit on the "bone formation" side of the balance, while alendronate and raloxifene sit on the "bone resorption" side. What does this grouping represent?</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2934891"/>
            <a:ext cx="4286143"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Teriparatide and romosozumab stimulate osteoblast activity, while alendronate and raloxifene inhibit osteoclast activity</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All four drugs work through the identical mechanism</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306491"/>
            <a:ext cx="4286143"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Teriparatide and romosozumab inhibit osteoclasts, while alendronate and raloxifene stimulate osteoblasts</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This grouping reflects route of administration, not mechanism</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FIGURE 8</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A</a:t>
            </a:r>
            <a:endParaRPr lang="en-US" sz="2600" dirty="0"/>
          </a:p>
        </p:txBody>
      </p:sp>
      <p:sp>
        <p:nvSpPr>
          <p:cNvPr id="9" name="Text 6"/>
          <p:cNvSpPr/>
          <p:nvPr/>
        </p:nvSpPr>
        <p:spPr>
          <a:xfrm>
            <a:off x="1828754" y="1959570"/>
            <a:ext cx="9360856" cy="560784"/>
          </a:xfrm>
          <a:prstGeom prst="rect">
            <a:avLst/>
          </a:prstGeom>
          <a:noFill/>
          <a:ln/>
        </p:spPr>
        <p:txBody>
          <a:bodyPr wrap="square" lIns="0" tIns="0" rIns="0" bIns="0" rtlCol="0" anchor="t">
            <a:normAutofit/>
          </a:bodyPr>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Teriparatide and romosozumab stimulate osteoblast activity, while alendronate and raloxifene inhibit osteoclast activity.</a:t>
            </a:r>
            <a:endParaRPr lang="en-US" sz="1600" dirty="0"/>
          </a:p>
        </p:txBody>
      </p:sp>
      <p:sp>
        <p:nvSpPr>
          <p:cNvPr id="10" name="Text 7"/>
          <p:cNvSpPr/>
          <p:nvPr/>
        </p:nvSpPr>
        <p:spPr>
          <a:xfrm>
            <a:off x="640044" y="3142357"/>
            <a:ext cx="10823900" cy="85725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The "anabolic" agents (teriparatide, abaloparatide, romosozumab) sit on the bone-formation side because they stimulate osteoblasts, while bisphosphonates (alendronate), denosumab, SERMs (raloxifene), and calcitonin sit on the bone-resorption side because they inhibit osteoclasts — two different strategies for shifting the same remodeling balance.</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INDIVIDUALIZING THERAPY</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Choosing an Osteoporosis Therapy</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468265"/>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Fracture risk — higher-risk patients may need an anabolic agent first</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Renal function — some bisphosphonates are avoided in significant renal impairment</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Previous fracture history</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Glucocorticoid exposure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Adherence — weekly oral vs. yearly IV vs. injectable options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Route of administration preference</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BONE PHARMACOLOGY</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A patient is counseled to take their oral bisphosphonate with a full glass of water and remain upright for a specified period. What complication is this counseling primarily meant to prevent?</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Hypocalcemia</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Atypical femoral fracture</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Esophageal irritation or injury</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Osteonecrosis of the jaw</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BONE PHARMACOLOGY</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C</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Esophageal irritation or injury.</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Taking the tablet with a full glass of water and staying upright reduces the time the pill is in contact with the esophageal mucosa, lowering the risk of esophageal irritation or injury.</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61</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NAMING CLUES</a:t>
            </a:r>
            <a:endParaRPr lang="en-US" sz="1350" dirty="0"/>
          </a:p>
        </p:txBody>
      </p:sp>
      <p:sp>
        <p:nvSpPr>
          <p:cNvPr id="3" name="Text 1"/>
          <p:cNvSpPr/>
          <p:nvPr/>
        </p:nvSpPr>
        <p:spPr>
          <a:xfrm>
            <a:off x="609585" y="952103"/>
            <a:ext cx="10972526" cy="457200"/>
          </a:xfrm>
          <a:prstGeom prst="rect">
            <a:avLst/>
          </a:prstGeom>
          <a:noFill/>
          <a:ln/>
        </p:spPr>
        <p:txBody>
          <a:bodyPr wrap="none" lIns="0" tIns="0" rIns="0" bIns="0" rtlCol="0" anchor="t"/>
          <a:lstStyle/>
          <a:p>
            <a:pPr marL="0" indent="0" algn="l">
              <a:lnSpc>
                <a:spcPct val="100000"/>
              </a:lnSpc>
              <a:buNone/>
            </a:pPr>
            <a:r>
              <a:rPr lang="en-US" sz="3000" b="1" dirty="0">
                <a:solidFill>
                  <a:srgbClr val="123C44"/>
                </a:solidFill>
                <a:latin typeface="Caladea Bold" pitchFamily="34" charset="0"/>
                <a:ea typeface="Caladea Bold" pitchFamily="34" charset="-122"/>
                <a:cs typeface="Caladea Bold" pitchFamily="34" charset="0"/>
              </a:rPr>
              <a:t>Drug Names Reveal the Class: Bone</a:t>
            </a:r>
            <a:endParaRPr lang="en-US" sz="3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609585" y="1637903"/>
          <a:ext cx="10972526" cy="914400"/>
        </p:xfrm>
        <a:graphic>
          <a:graphicData uri="http://schemas.openxmlformats.org/drawingml/2006/table">
            <a:tbl>
              <a:tblPr/>
              <a:tblGrid>
                <a:gridCol w="2633398">
                  <a:extLst>
                    <a:ext uri="{9D8B030D-6E8A-4147-A177-3AD203B41FA5}">
                      <a16:colId xmlns:a16="http://schemas.microsoft.com/office/drawing/2014/main" val="20000"/>
                    </a:ext>
                  </a:extLst>
                </a:gridCol>
                <a:gridCol w="4388931">
                  <a:extLst>
                    <a:ext uri="{9D8B030D-6E8A-4147-A177-3AD203B41FA5}">
                      <a16:colId xmlns:a16="http://schemas.microsoft.com/office/drawing/2014/main" val="20001"/>
                    </a:ext>
                  </a:extLst>
                </a:gridCol>
                <a:gridCol w="3950197">
                  <a:extLst>
                    <a:ext uri="{9D8B030D-6E8A-4147-A177-3AD203B41FA5}">
                      <a16:colId xmlns:a16="http://schemas.microsoft.com/office/drawing/2014/main" val="20002"/>
                    </a:ext>
                  </a:extLst>
                </a:gridCol>
              </a:tblGrid>
              <a:tr h="455601">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Name clue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Class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Examples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0"/>
                  </a:ext>
                </a:extLst>
              </a:tr>
              <a:tr h="735986">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-dronate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Bisphosphonates (inhibit osteoclast resorption)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Alendronate, risedronate, ibandronate; zoledronic acid (zoledronate)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1"/>
                  </a:ext>
                </a:extLst>
              </a:tr>
              <a:tr h="735986">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-sumab</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Monoclonal antibodies (-mab) targeting bone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Denosumab (RANKL), romosozumab (sclerostin)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2"/>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-fene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Selective estrogen receptor modulator (SERM)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Raloxifene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3"/>
                  </a:ext>
                </a:extLst>
              </a:tr>
              <a:tr h="4556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-tide (peptide)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PTH analogs (anabolic)</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Teriparatide, abaloparatide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4"/>
                  </a:ext>
                </a:extLst>
              </a:tr>
              <a:tr h="442901">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No shared stem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Calcitonin (hormone)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Calcitonin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6" name="Text 3"/>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08</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Putting It All Together</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Applying the whole musculoskeletal pharmacology toolkit.</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APPLY IT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Which Drug Would You Choose?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5257668" cy="2103041"/>
          </a:xfrm>
          <a:prstGeom prst="roundRect">
            <a:avLst>
              <a:gd name="adj" fmla="val 5217"/>
            </a:avLst>
          </a:prstGeom>
          <a:solidFill>
            <a:srgbClr val="E8F1F0"/>
          </a:solidFill>
          <a:ln/>
        </p:spPr>
        <p:txBody>
          <a:bodyPr/>
          <a:lstStyle/>
          <a:p>
            <a:endParaRPr lang="en-US"/>
          </a:p>
        </p:txBody>
      </p:sp>
      <p:sp>
        <p:nvSpPr>
          <p:cNvPr id="7" name="Shape 4"/>
          <p:cNvSpPr/>
          <p:nvPr/>
        </p:nvSpPr>
        <p:spPr>
          <a:xfrm>
            <a:off x="640044" y="1600200"/>
            <a:ext cx="5257668" cy="502841"/>
          </a:xfrm>
          <a:prstGeom prst="roundRect">
            <a:avLst>
              <a:gd name="adj" fmla="val 21821"/>
            </a:avLst>
          </a:prstGeom>
          <a:solidFill>
            <a:srgbClr val="0F7173"/>
          </a:solidFill>
          <a:ln/>
        </p:spPr>
        <p:txBody>
          <a:bodyPr/>
          <a:lstStyle/>
          <a:p>
            <a:endParaRPr lang="en-US"/>
          </a:p>
        </p:txBody>
      </p:sp>
      <p:sp>
        <p:nvSpPr>
          <p:cNvPr id="8" name="Shape 5"/>
          <p:cNvSpPr/>
          <p:nvPr/>
        </p:nvSpPr>
        <p:spPr>
          <a:xfrm>
            <a:off x="640044" y="1856184"/>
            <a:ext cx="5257668" cy="255984"/>
          </a:xfrm>
          <a:prstGeom prst="rect">
            <a:avLst/>
          </a:prstGeom>
          <a:solidFill>
            <a:srgbClr val="0F7173"/>
          </a:solidFill>
          <a:ln/>
        </p:spPr>
        <p:txBody>
          <a:bodyPr/>
          <a:lstStyle/>
          <a:p>
            <a:endParaRPr lang="en-US"/>
          </a:p>
        </p:txBody>
      </p:sp>
      <p:sp>
        <p:nvSpPr>
          <p:cNvPr id="9" name="Text 6"/>
          <p:cNvSpPr/>
          <p:nvPr/>
        </p:nvSpPr>
        <p:spPr>
          <a:xfrm>
            <a:off x="841156"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Patient A</a:t>
            </a:r>
            <a:endParaRPr lang="en-US" sz="1600" dirty="0"/>
          </a:p>
        </p:txBody>
      </p:sp>
      <p:sp>
        <p:nvSpPr>
          <p:cNvPr id="10" name="Text 7"/>
          <p:cNvSpPr/>
          <p:nvPr/>
        </p:nvSpPr>
        <p:spPr>
          <a:xfrm>
            <a:off x="104693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Acute gout flare, first presentation</a:t>
            </a:r>
            <a:endParaRPr lang="en-US" sz="1300" dirty="0"/>
          </a:p>
        </p:txBody>
      </p:sp>
      <p:sp>
        <p:nvSpPr>
          <p:cNvPr id="11" name="Shape 8"/>
          <p:cNvSpPr/>
          <p:nvPr/>
        </p:nvSpPr>
        <p:spPr>
          <a:xfrm>
            <a:off x="6263424" y="1600200"/>
            <a:ext cx="5257668" cy="2103041"/>
          </a:xfrm>
          <a:prstGeom prst="roundRect">
            <a:avLst>
              <a:gd name="adj" fmla="val 5217"/>
            </a:avLst>
          </a:prstGeom>
          <a:solidFill>
            <a:srgbClr val="E8F1F0"/>
          </a:solidFill>
          <a:ln/>
        </p:spPr>
        <p:txBody>
          <a:bodyPr/>
          <a:lstStyle/>
          <a:p>
            <a:endParaRPr lang="en-US"/>
          </a:p>
        </p:txBody>
      </p:sp>
      <p:sp>
        <p:nvSpPr>
          <p:cNvPr id="12" name="Shape 9"/>
          <p:cNvSpPr/>
          <p:nvPr/>
        </p:nvSpPr>
        <p:spPr>
          <a:xfrm>
            <a:off x="6263424" y="1600200"/>
            <a:ext cx="5257668"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263424" y="1856184"/>
            <a:ext cx="5257668" cy="255984"/>
          </a:xfrm>
          <a:prstGeom prst="rect">
            <a:avLst/>
          </a:prstGeom>
          <a:solidFill>
            <a:srgbClr val="2A6F97"/>
          </a:solidFill>
          <a:ln/>
        </p:spPr>
        <p:txBody>
          <a:bodyPr/>
          <a:lstStyle/>
          <a:p>
            <a:endParaRPr lang="en-US"/>
          </a:p>
        </p:txBody>
      </p:sp>
      <p:sp>
        <p:nvSpPr>
          <p:cNvPr id="14" name="Text 11"/>
          <p:cNvSpPr/>
          <p:nvPr/>
        </p:nvSpPr>
        <p:spPr>
          <a:xfrm>
            <a:off x="6464634"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Patient B</a:t>
            </a:r>
            <a:endParaRPr lang="en-US" sz="1600" dirty="0"/>
          </a:p>
        </p:txBody>
      </p:sp>
      <p:sp>
        <p:nvSpPr>
          <p:cNvPr id="15" name="Text 12"/>
          <p:cNvSpPr/>
          <p:nvPr/>
        </p:nvSpPr>
        <p:spPr>
          <a:xfrm>
            <a:off x="6670310" y="227220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Chronic rheumatoid arthritis, inadequately controlled</a:t>
            </a:r>
            <a:endParaRPr lang="en-US" sz="1300" dirty="0"/>
          </a:p>
        </p:txBody>
      </p:sp>
      <p:sp>
        <p:nvSpPr>
          <p:cNvPr id="16" name="Shape 13"/>
          <p:cNvSpPr/>
          <p:nvPr/>
        </p:nvSpPr>
        <p:spPr>
          <a:xfrm>
            <a:off x="640044" y="4023320"/>
            <a:ext cx="5257668" cy="2103041"/>
          </a:xfrm>
          <a:prstGeom prst="roundRect">
            <a:avLst>
              <a:gd name="adj" fmla="val 5217"/>
            </a:avLst>
          </a:prstGeom>
          <a:solidFill>
            <a:srgbClr val="E8F1F0"/>
          </a:solidFill>
          <a:ln/>
        </p:spPr>
        <p:txBody>
          <a:bodyPr/>
          <a:lstStyle/>
          <a:p>
            <a:endParaRPr lang="en-US"/>
          </a:p>
        </p:txBody>
      </p:sp>
      <p:sp>
        <p:nvSpPr>
          <p:cNvPr id="17" name="Shape 14"/>
          <p:cNvSpPr/>
          <p:nvPr/>
        </p:nvSpPr>
        <p:spPr>
          <a:xfrm>
            <a:off x="640044" y="4023320"/>
            <a:ext cx="5257668" cy="502841"/>
          </a:xfrm>
          <a:prstGeom prst="roundRect">
            <a:avLst>
              <a:gd name="adj" fmla="val 21821"/>
            </a:avLst>
          </a:prstGeom>
          <a:solidFill>
            <a:srgbClr val="6B9080"/>
          </a:solidFill>
          <a:ln/>
        </p:spPr>
        <p:txBody>
          <a:bodyPr/>
          <a:lstStyle/>
          <a:p>
            <a:endParaRPr lang="en-US"/>
          </a:p>
        </p:txBody>
      </p:sp>
      <p:sp>
        <p:nvSpPr>
          <p:cNvPr id="18" name="Shape 15"/>
          <p:cNvSpPr/>
          <p:nvPr/>
        </p:nvSpPr>
        <p:spPr>
          <a:xfrm>
            <a:off x="640044" y="4279305"/>
            <a:ext cx="5257668" cy="255984"/>
          </a:xfrm>
          <a:prstGeom prst="rect">
            <a:avLst/>
          </a:prstGeom>
          <a:solidFill>
            <a:srgbClr val="6B9080"/>
          </a:solidFill>
          <a:ln/>
        </p:spPr>
        <p:txBody>
          <a:bodyPr/>
          <a:lstStyle/>
          <a:p>
            <a:endParaRPr lang="en-US"/>
          </a:p>
        </p:txBody>
      </p:sp>
      <p:sp>
        <p:nvSpPr>
          <p:cNvPr id="19" name="Text 16"/>
          <p:cNvSpPr/>
          <p:nvPr/>
        </p:nvSpPr>
        <p:spPr>
          <a:xfrm>
            <a:off x="841156"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Patient C</a:t>
            </a:r>
            <a:endParaRPr lang="en-US" sz="1600" dirty="0"/>
          </a:p>
        </p:txBody>
      </p:sp>
      <p:sp>
        <p:nvSpPr>
          <p:cNvPr id="20" name="Text 17"/>
          <p:cNvSpPr/>
          <p:nvPr/>
        </p:nvSpPr>
        <p:spPr>
          <a:xfrm>
            <a:off x="1046930" y="469532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Osteoarthritis + chronic kidney disease</a:t>
            </a:r>
            <a:endParaRPr lang="en-US" sz="1300" dirty="0"/>
          </a:p>
        </p:txBody>
      </p:sp>
      <p:sp>
        <p:nvSpPr>
          <p:cNvPr id="21" name="Shape 18"/>
          <p:cNvSpPr/>
          <p:nvPr/>
        </p:nvSpPr>
        <p:spPr>
          <a:xfrm>
            <a:off x="6263424" y="4023320"/>
            <a:ext cx="5257668" cy="2103041"/>
          </a:xfrm>
          <a:prstGeom prst="roundRect">
            <a:avLst>
              <a:gd name="adj" fmla="val 5217"/>
            </a:avLst>
          </a:prstGeom>
          <a:solidFill>
            <a:srgbClr val="E8F1F0"/>
          </a:solidFill>
          <a:ln/>
        </p:spPr>
        <p:txBody>
          <a:bodyPr/>
          <a:lstStyle/>
          <a:p>
            <a:endParaRPr lang="en-US"/>
          </a:p>
        </p:txBody>
      </p:sp>
      <p:sp>
        <p:nvSpPr>
          <p:cNvPr id="22" name="Shape 19"/>
          <p:cNvSpPr/>
          <p:nvPr/>
        </p:nvSpPr>
        <p:spPr>
          <a:xfrm>
            <a:off x="6263424" y="4023320"/>
            <a:ext cx="5257668" cy="502841"/>
          </a:xfrm>
          <a:prstGeom prst="roundRect">
            <a:avLst>
              <a:gd name="adj" fmla="val 21821"/>
            </a:avLst>
          </a:prstGeom>
          <a:solidFill>
            <a:srgbClr val="D1495B"/>
          </a:solidFill>
          <a:ln/>
        </p:spPr>
        <p:txBody>
          <a:bodyPr/>
          <a:lstStyle/>
          <a:p>
            <a:endParaRPr lang="en-US"/>
          </a:p>
        </p:txBody>
      </p:sp>
      <p:sp>
        <p:nvSpPr>
          <p:cNvPr id="23" name="Shape 20"/>
          <p:cNvSpPr/>
          <p:nvPr/>
        </p:nvSpPr>
        <p:spPr>
          <a:xfrm>
            <a:off x="6263424" y="4279305"/>
            <a:ext cx="5257668" cy="255984"/>
          </a:xfrm>
          <a:prstGeom prst="rect">
            <a:avLst/>
          </a:prstGeom>
          <a:solidFill>
            <a:srgbClr val="D1495B"/>
          </a:solidFill>
          <a:ln/>
        </p:spPr>
        <p:txBody>
          <a:bodyPr/>
          <a:lstStyle/>
          <a:p>
            <a:endParaRPr lang="en-US"/>
          </a:p>
        </p:txBody>
      </p:sp>
      <p:sp>
        <p:nvSpPr>
          <p:cNvPr id="24" name="Text 21"/>
          <p:cNvSpPr/>
          <p:nvPr/>
        </p:nvSpPr>
        <p:spPr>
          <a:xfrm>
            <a:off x="6464634"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Patient D</a:t>
            </a:r>
            <a:endParaRPr lang="en-US" sz="1600" dirty="0"/>
          </a:p>
        </p:txBody>
      </p:sp>
      <p:sp>
        <p:nvSpPr>
          <p:cNvPr id="25" name="Text 22"/>
          <p:cNvSpPr/>
          <p:nvPr/>
        </p:nvSpPr>
        <p:spPr>
          <a:xfrm>
            <a:off x="6670310" y="4695321"/>
            <a:ext cx="5231773" cy="227806"/>
          </a:xfrm>
          <a:prstGeom prst="rect">
            <a:avLst/>
          </a:prstGeom>
          <a:noFill/>
          <a:ln/>
        </p:spPr>
        <p:txBody>
          <a:bodyPr wrap="none" lIns="0" tIns="0" rIns="0" bIns="0" rtlCol="0" anchor="t"/>
          <a:lstStyle/>
          <a:p>
            <a:pPr marL="0" indent="0" algn="l">
              <a:lnSpc>
                <a:spcPct val="115000"/>
              </a:lnSpc>
              <a:buNone/>
            </a:pPr>
            <a:r>
              <a:rPr lang="en-US" sz="1300" dirty="0">
                <a:solidFill>
                  <a:srgbClr val="1A1A1A"/>
                </a:solidFill>
                <a:latin typeface="Carlito" pitchFamily="34" charset="0"/>
                <a:ea typeface="Carlito" pitchFamily="34" charset="-122"/>
                <a:cs typeface="Carlito" pitchFamily="34" charset="0"/>
              </a:rPr>
              <a:t>–   Postmenopausal osteoporosis, high fracture risk</a:t>
            </a:r>
            <a:endParaRPr lang="en-US" sz="1300" dirty="0"/>
          </a:p>
        </p:txBody>
      </p:sp>
      <p:sp>
        <p:nvSpPr>
          <p:cNvPr id="26" name="Text 2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7" name="Text 2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PUTTING IT ALL TOGETHER</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A patient with osteoporosis has significant difficulty swallowing pills. Which administration route among osteoporosis therapies would best fit this patient?</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Weekly oral alendronate</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Daily oral risedronate</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There is no alternative to oral bisphosphonates</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Yearly IV zoledronic acid or a subcutaneous injectable agent</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PUTTING IT ALL TOGETHER</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D</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Yearly IV zoledronic acid or a subcutaneous injectable agent.</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Route of administration and adherence are explicit factors in choosing osteoporosis therapy — IV zoledronic acid or an injectable agent (e.g., denosumab) avoids the swallowing difficulty that limits oral options.</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23C44"/>
        </a:solidFill>
        <a:effectLst/>
      </p:bgPr>
    </p:bg>
    <p:spTree>
      <p:nvGrpSpPr>
        <p:cNvPr id="1" name=""/>
        <p:cNvGrpSpPr/>
        <p:nvPr/>
      </p:nvGrpSpPr>
      <p:grpSpPr>
        <a:xfrm>
          <a:off x="0" y="0"/>
          <a:ext cx="0" cy="0"/>
          <a:chOff x="0" y="0"/>
          <a:chExt cx="0" cy="0"/>
        </a:xfrm>
      </p:grpSpPr>
      <p:sp>
        <p:nvSpPr>
          <p:cNvPr id="2" name="Text 0"/>
          <p:cNvSpPr/>
          <p:nvPr/>
        </p:nvSpPr>
        <p:spPr>
          <a:xfrm>
            <a:off x="914278" y="534591"/>
            <a:ext cx="9662176"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E9A23B"/>
                </a:solidFill>
                <a:latin typeface="Carlito Bold" pitchFamily="34" charset="0"/>
                <a:ea typeface="Carlito Bold" pitchFamily="34" charset="-122"/>
                <a:cs typeface="Carlito Bold" pitchFamily="34" charset="0"/>
              </a:rPr>
              <a:t>BIG PICTURE</a:t>
            </a:r>
            <a:endParaRPr lang="en-US" sz="1200" dirty="0"/>
          </a:p>
        </p:txBody>
      </p:sp>
      <p:sp>
        <p:nvSpPr>
          <p:cNvPr id="3" name="Text 1"/>
          <p:cNvSpPr/>
          <p:nvPr/>
        </p:nvSpPr>
        <p:spPr>
          <a:xfrm>
            <a:off x="914278" y="861893"/>
            <a:ext cx="9966969"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FFFFFF"/>
                </a:solidFill>
                <a:latin typeface="Caladea Bold" pitchFamily="34" charset="0"/>
                <a:ea typeface="Caladea Bold" pitchFamily="34" charset="-122"/>
                <a:cs typeface="Caladea Bold" pitchFamily="34" charset="0"/>
              </a:rPr>
              <a:t>Key Takeaways</a:t>
            </a:r>
            <a:endParaRPr lang="en-US" sz="2800" dirty="0"/>
          </a:p>
        </p:txBody>
      </p:sp>
      <p:sp>
        <p:nvSpPr>
          <p:cNvPr id="4" name="Shape 2"/>
          <p:cNvSpPr/>
          <p:nvPr/>
        </p:nvSpPr>
        <p:spPr>
          <a:xfrm>
            <a:off x="822900" y="1955602"/>
            <a:ext cx="566227" cy="566341"/>
          </a:xfrm>
          <a:prstGeom prst="ellipse">
            <a:avLst/>
          </a:prstGeom>
          <a:solidFill>
            <a:srgbClr val="E9A23B"/>
          </a:solidFill>
          <a:ln/>
        </p:spPr>
        <p:txBody>
          <a:bodyPr/>
          <a:lstStyle/>
          <a:p>
            <a:endParaRPr lang="en-US"/>
          </a:p>
        </p:txBody>
      </p:sp>
      <p:sp>
        <p:nvSpPr>
          <p:cNvPr id="5" name="Text 3"/>
          <p:cNvSpPr/>
          <p:nvPr/>
        </p:nvSpPr>
        <p:spPr>
          <a:xfrm>
            <a:off x="822900" y="2086372"/>
            <a:ext cx="566227"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1</a:t>
            </a:r>
            <a:endParaRPr lang="en-US" sz="2000" dirty="0"/>
          </a:p>
        </p:txBody>
      </p:sp>
      <p:sp>
        <p:nvSpPr>
          <p:cNvPr id="6" name="Shape 4"/>
          <p:cNvSpPr/>
          <p:nvPr/>
        </p:nvSpPr>
        <p:spPr>
          <a:xfrm>
            <a:off x="822900" y="2869902"/>
            <a:ext cx="566227" cy="566341"/>
          </a:xfrm>
          <a:prstGeom prst="ellipse">
            <a:avLst/>
          </a:prstGeom>
          <a:solidFill>
            <a:srgbClr val="E9A23B"/>
          </a:solidFill>
          <a:ln/>
        </p:spPr>
        <p:txBody>
          <a:bodyPr/>
          <a:lstStyle/>
          <a:p>
            <a:endParaRPr lang="en-US"/>
          </a:p>
        </p:txBody>
      </p:sp>
      <p:sp>
        <p:nvSpPr>
          <p:cNvPr id="7" name="Text 5"/>
          <p:cNvSpPr/>
          <p:nvPr/>
        </p:nvSpPr>
        <p:spPr>
          <a:xfrm>
            <a:off x="822900" y="3000673"/>
            <a:ext cx="566227"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2</a:t>
            </a:r>
            <a:endParaRPr lang="en-US" sz="2000" dirty="0"/>
          </a:p>
        </p:txBody>
      </p:sp>
      <p:sp>
        <p:nvSpPr>
          <p:cNvPr id="8" name="Shape 6"/>
          <p:cNvSpPr/>
          <p:nvPr/>
        </p:nvSpPr>
        <p:spPr>
          <a:xfrm>
            <a:off x="822900" y="3784203"/>
            <a:ext cx="566227" cy="566341"/>
          </a:xfrm>
          <a:prstGeom prst="ellipse">
            <a:avLst/>
          </a:prstGeom>
          <a:solidFill>
            <a:srgbClr val="E9A23B"/>
          </a:solidFill>
          <a:ln/>
        </p:spPr>
        <p:txBody>
          <a:bodyPr/>
          <a:lstStyle/>
          <a:p>
            <a:endParaRPr lang="en-US"/>
          </a:p>
        </p:txBody>
      </p:sp>
      <p:sp>
        <p:nvSpPr>
          <p:cNvPr id="9" name="Text 7"/>
          <p:cNvSpPr/>
          <p:nvPr/>
        </p:nvSpPr>
        <p:spPr>
          <a:xfrm>
            <a:off x="822900" y="3914973"/>
            <a:ext cx="566227"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3</a:t>
            </a:r>
            <a:endParaRPr lang="en-US" sz="2000" dirty="0"/>
          </a:p>
        </p:txBody>
      </p:sp>
      <p:sp>
        <p:nvSpPr>
          <p:cNvPr id="10" name="Shape 8"/>
          <p:cNvSpPr/>
          <p:nvPr/>
        </p:nvSpPr>
        <p:spPr>
          <a:xfrm>
            <a:off x="822900" y="4698504"/>
            <a:ext cx="566227" cy="566341"/>
          </a:xfrm>
          <a:prstGeom prst="ellipse">
            <a:avLst/>
          </a:prstGeom>
          <a:solidFill>
            <a:srgbClr val="E9A23B"/>
          </a:solidFill>
          <a:ln/>
        </p:spPr>
        <p:txBody>
          <a:bodyPr/>
          <a:lstStyle/>
          <a:p>
            <a:endParaRPr lang="en-US"/>
          </a:p>
        </p:txBody>
      </p:sp>
      <p:sp>
        <p:nvSpPr>
          <p:cNvPr id="11" name="Text 9"/>
          <p:cNvSpPr/>
          <p:nvPr/>
        </p:nvSpPr>
        <p:spPr>
          <a:xfrm>
            <a:off x="822900" y="4829274"/>
            <a:ext cx="566227"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4</a:t>
            </a:r>
            <a:endParaRPr lang="en-US" sz="2000" dirty="0"/>
          </a:p>
        </p:txBody>
      </p:sp>
      <p:sp>
        <p:nvSpPr>
          <p:cNvPr id="12" name="Shape 10"/>
          <p:cNvSpPr/>
          <p:nvPr/>
        </p:nvSpPr>
        <p:spPr>
          <a:xfrm>
            <a:off x="822900" y="5612805"/>
            <a:ext cx="566227" cy="566341"/>
          </a:xfrm>
          <a:prstGeom prst="ellipse">
            <a:avLst/>
          </a:prstGeom>
          <a:solidFill>
            <a:srgbClr val="E9A23B"/>
          </a:solidFill>
          <a:ln/>
        </p:spPr>
        <p:txBody>
          <a:bodyPr/>
          <a:lstStyle/>
          <a:p>
            <a:endParaRPr lang="en-US"/>
          </a:p>
        </p:txBody>
      </p:sp>
      <p:sp>
        <p:nvSpPr>
          <p:cNvPr id="13" name="Text 11"/>
          <p:cNvSpPr/>
          <p:nvPr/>
        </p:nvSpPr>
        <p:spPr>
          <a:xfrm>
            <a:off x="822900" y="5743575"/>
            <a:ext cx="566227"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5</a:t>
            </a:r>
            <a:endParaRPr lang="en-US" sz="2000" dirty="0"/>
          </a:p>
        </p:txBody>
      </p:sp>
      <p:sp>
        <p:nvSpPr>
          <p:cNvPr id="14" name="Text 12"/>
          <p:cNvSpPr/>
          <p:nvPr/>
        </p:nvSpPr>
        <p:spPr>
          <a:xfrm>
            <a:off x="1691340" y="2100957"/>
            <a:ext cx="9692735" cy="289123"/>
          </a:xfrm>
          <a:prstGeom prst="rect">
            <a:avLst/>
          </a:prstGeom>
          <a:noFill/>
          <a:ln/>
        </p:spPr>
        <p:txBody>
          <a:bodyPr wrap="none" lIns="0" tIns="0" rIns="0" bIns="0" rtlCol="0" anchor="t"/>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Pain and inflammation are related but distinct — treat them accordingly.</a:t>
            </a:r>
            <a:endParaRPr lang="en-US" sz="1650" dirty="0"/>
          </a:p>
        </p:txBody>
      </p:sp>
      <p:sp>
        <p:nvSpPr>
          <p:cNvPr id="15" name="Text 13"/>
          <p:cNvSpPr/>
          <p:nvPr/>
        </p:nvSpPr>
        <p:spPr>
          <a:xfrm>
            <a:off x="1691340" y="3015357"/>
            <a:ext cx="9692735" cy="289123"/>
          </a:xfrm>
          <a:prstGeom prst="rect">
            <a:avLst/>
          </a:prstGeom>
          <a:noFill/>
          <a:ln/>
        </p:spPr>
        <p:txBody>
          <a:bodyPr wrap="none" lIns="0" tIns="0" rIns="0" bIns="0" rtlCol="0" anchor="t"/>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NSAIDs are effective for pain and inflammation, but carry real GI, renal, and cardiovascular risk.</a:t>
            </a:r>
            <a:endParaRPr lang="en-US" sz="1650" dirty="0"/>
          </a:p>
        </p:txBody>
      </p:sp>
      <p:sp>
        <p:nvSpPr>
          <p:cNvPr id="16" name="Text 14"/>
          <p:cNvSpPr/>
          <p:nvPr/>
        </p:nvSpPr>
        <p:spPr>
          <a:xfrm>
            <a:off x="1691340" y="3929757"/>
            <a:ext cx="9692735" cy="289123"/>
          </a:xfrm>
          <a:prstGeom prst="rect">
            <a:avLst/>
          </a:prstGeom>
          <a:noFill/>
          <a:ln/>
        </p:spPr>
        <p:txBody>
          <a:bodyPr wrap="none" lIns="0" tIns="0" rIns="0" bIns="0" rtlCol="0" anchor="t"/>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DMARDs modify the underlying disease process in RA — they do more than mask symptoms.</a:t>
            </a:r>
            <a:endParaRPr lang="en-US" sz="1650" dirty="0"/>
          </a:p>
        </p:txBody>
      </p:sp>
      <p:sp>
        <p:nvSpPr>
          <p:cNvPr id="17" name="Text 15"/>
          <p:cNvSpPr/>
          <p:nvPr/>
        </p:nvSpPr>
        <p:spPr>
          <a:xfrm>
            <a:off x="1691340" y="4844157"/>
            <a:ext cx="9692735" cy="289123"/>
          </a:xfrm>
          <a:prstGeom prst="rect">
            <a:avLst/>
          </a:prstGeom>
          <a:noFill/>
          <a:ln/>
        </p:spPr>
        <p:txBody>
          <a:bodyPr wrap="none" lIns="0" tIns="0" rIns="0" bIns="0" rtlCol="0" anchor="t"/>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Acute gout treatment and chronic urate-lowering therapy are different goals, started at different times.</a:t>
            </a:r>
            <a:endParaRPr lang="en-US" sz="1650" dirty="0"/>
          </a:p>
        </p:txBody>
      </p:sp>
      <p:sp>
        <p:nvSpPr>
          <p:cNvPr id="18" name="Text 16"/>
          <p:cNvSpPr/>
          <p:nvPr/>
        </p:nvSpPr>
        <p:spPr>
          <a:xfrm>
            <a:off x="1691340" y="5758557"/>
            <a:ext cx="9692735" cy="289123"/>
          </a:xfrm>
          <a:prstGeom prst="rect">
            <a:avLst/>
          </a:prstGeom>
          <a:noFill/>
          <a:ln/>
        </p:spPr>
        <p:txBody>
          <a:bodyPr wrap="none" lIns="0" tIns="0" rIns="0" bIns="0" rtlCol="0" anchor="t"/>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Bone pharmacology is fundamentally about the balance between osteoblast and osteoclast activity.</a:t>
            </a:r>
            <a:endParaRPr lang="en-US" sz="1650" dirty="0"/>
          </a:p>
        </p:txBody>
      </p:sp>
      <p:sp>
        <p:nvSpPr>
          <p:cNvPr id="19" name="Text 17"/>
          <p:cNvSpPr/>
          <p:nvPr/>
        </p:nvSpPr>
        <p:spPr>
          <a:xfrm>
            <a:off x="914377"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9FC2BE"/>
                </a:solidFill>
                <a:latin typeface="Carlito" pitchFamily="34" charset="0"/>
                <a:ea typeface="Carlito" pitchFamily="34" charset="-122"/>
                <a:cs typeface="Carlito" pitchFamily="34" charset="0"/>
              </a:rPr>
              <a:t>Musculoskeletal Pharmacology — Session 2 of 2 — PA Program</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09</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Lecture Recall Quiz</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A cumulative self-test — use this to review before exams.</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LECTURE RECALL QUIZ</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Lecture Recall Quiz (1 of 2)</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48991"/>
            <a:ext cx="11433484" cy="254099"/>
          </a:xfrm>
          <a:prstGeom prst="rect">
            <a:avLst/>
          </a:prstGeom>
          <a:noFill/>
          <a:ln/>
        </p:spPr>
        <p:txBody>
          <a:bodyPr wrap="none" lIns="0" tIns="0" rIns="0" bIns="0" rtlCol="0" anchor="t"/>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1.  Why is acetaminophen not a reliable first-line choice for an inflammatory joint flare, despite being a good analgesic/antipyretic?</a:t>
            </a:r>
            <a:endParaRPr lang="en-US" sz="1450" dirty="0"/>
          </a:p>
        </p:txBody>
      </p:sp>
      <p:sp>
        <p:nvSpPr>
          <p:cNvPr id="7" name="Text 4"/>
          <p:cNvSpPr/>
          <p:nvPr/>
        </p:nvSpPr>
        <p:spPr>
          <a:xfrm>
            <a:off x="640044" y="1705471"/>
            <a:ext cx="11433484"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It strongly inhibits COX-2 only</a:t>
            </a:r>
            <a:endParaRPr lang="en-US" sz="1250" dirty="0"/>
          </a:p>
        </p:txBody>
      </p:sp>
      <p:sp>
        <p:nvSpPr>
          <p:cNvPr id="8" name="Text 5"/>
          <p:cNvSpPr/>
          <p:nvPr/>
        </p:nvSpPr>
        <p:spPr>
          <a:xfrm>
            <a:off x="640044" y="1960265"/>
            <a:ext cx="10823900"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It has minimal peripheral anti-inflammatory effect</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It is contraindicated in all patients with joint pain</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It is a DMARD and too strong for mild flares</a:t>
            </a:r>
            <a:endParaRPr lang="en-US" sz="1250" dirty="0"/>
          </a:p>
        </p:txBody>
      </p:sp>
      <p:sp>
        <p:nvSpPr>
          <p:cNvPr id="9" name="Text 6"/>
          <p:cNvSpPr/>
          <p:nvPr/>
        </p:nvSpPr>
        <p:spPr>
          <a:xfrm>
            <a:off x="640044" y="2693690"/>
            <a:ext cx="10823900" cy="686792"/>
          </a:xfrm>
          <a:prstGeom prst="rect">
            <a:avLst/>
          </a:prstGeom>
          <a:noFill/>
          <a:ln/>
        </p:spPr>
        <p:txBody>
          <a:bodyPr wrap="square" lIns="0" tIns="178621" rIns="0" bIns="0" rtlCol="0" anchor="t">
            <a:normAutofit/>
          </a:bodyPr>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2.  A 70-year-old with CKD and heart failure needs osteoarthritis pain control. Considering systemic risk, which is generally the safest starting point?</a:t>
            </a:r>
            <a:endParaRPr lang="en-US" sz="1450" dirty="0"/>
          </a:p>
        </p:txBody>
      </p:sp>
      <p:sp>
        <p:nvSpPr>
          <p:cNvPr id="10" name="Text 7"/>
          <p:cNvSpPr/>
          <p:nvPr/>
        </p:nvSpPr>
        <p:spPr>
          <a:xfrm>
            <a:off x="640044" y="3382863"/>
            <a:ext cx="11433484"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Oral ibuprofen</a:t>
            </a:r>
            <a:endParaRPr lang="en-US" sz="1250" dirty="0"/>
          </a:p>
        </p:txBody>
      </p:sp>
      <p:sp>
        <p:nvSpPr>
          <p:cNvPr id="11" name="Text 8"/>
          <p:cNvSpPr/>
          <p:nvPr/>
        </p:nvSpPr>
        <p:spPr>
          <a:xfrm>
            <a:off x="640044" y="3637657"/>
            <a:ext cx="10823900"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Oral celecoxib</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Acetaminophen or a topical NSAID</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Ketorolac</a:t>
            </a:r>
            <a:endParaRPr lang="en-US" sz="1250" dirty="0"/>
          </a:p>
        </p:txBody>
      </p:sp>
      <p:sp>
        <p:nvSpPr>
          <p:cNvPr id="12" name="Text 9"/>
          <p:cNvSpPr/>
          <p:nvPr/>
        </p:nvSpPr>
        <p:spPr>
          <a:xfrm>
            <a:off x="640044" y="4371082"/>
            <a:ext cx="10823900" cy="432693"/>
          </a:xfrm>
          <a:prstGeom prst="rect">
            <a:avLst/>
          </a:prstGeom>
          <a:noFill/>
          <a:ln/>
        </p:spPr>
        <p:txBody>
          <a:bodyPr wrap="square" lIns="0" tIns="178621" rIns="0" bIns="0" rtlCol="0" anchor="t">
            <a:normAutofit/>
          </a:bodyPr>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3.  Which pairing correctly matches a drug with its primary mechanism?</a:t>
            </a:r>
            <a:endParaRPr lang="en-US" sz="1450" dirty="0"/>
          </a:p>
        </p:txBody>
      </p:sp>
      <p:sp>
        <p:nvSpPr>
          <p:cNvPr id="13" name="Text 10"/>
          <p:cNvSpPr/>
          <p:nvPr/>
        </p:nvSpPr>
        <p:spPr>
          <a:xfrm>
            <a:off x="640044" y="4806156"/>
            <a:ext cx="11433484"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Allopurinol — microtubule disruption</a:t>
            </a:r>
            <a:endParaRPr lang="en-US" sz="1250" dirty="0"/>
          </a:p>
        </p:txBody>
      </p:sp>
      <p:sp>
        <p:nvSpPr>
          <p:cNvPr id="14" name="Text 11"/>
          <p:cNvSpPr/>
          <p:nvPr/>
        </p:nvSpPr>
        <p:spPr>
          <a:xfrm>
            <a:off x="640044" y="5060950"/>
            <a:ext cx="10823900"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Colchicine — xanthine oxidase inhibition</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Baclofen — calcium channel blockade in skeletal muscle</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Methotrexate — dihydrofolate reductase inhibition</a:t>
            </a:r>
            <a:endParaRPr lang="en-US" sz="1250" dirty="0"/>
          </a:p>
        </p:txBody>
      </p:sp>
      <p:sp>
        <p:nvSpPr>
          <p:cNvPr id="15" name="Text 12"/>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6" name="Text 13"/>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LECTURE RECALL QUIZ</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Lecture Recall Quiz (2 of 2)</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48991"/>
            <a:ext cx="11490633" cy="254099"/>
          </a:xfrm>
          <a:prstGeom prst="rect">
            <a:avLst/>
          </a:prstGeom>
          <a:noFill/>
          <a:ln/>
        </p:spPr>
        <p:txBody>
          <a:bodyPr wrap="none" lIns="0" tIns="0" rIns="0" bIns="0" rtlCol="0" anchor="t"/>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4.  A patient on a biologic DMARD develops a fever. What is the most important immediate concern?</a:t>
            </a:r>
            <a:endParaRPr lang="en-US" sz="1450" dirty="0"/>
          </a:p>
        </p:txBody>
      </p:sp>
      <p:sp>
        <p:nvSpPr>
          <p:cNvPr id="7" name="Text 4"/>
          <p:cNvSpPr/>
          <p:nvPr/>
        </p:nvSpPr>
        <p:spPr>
          <a:xfrm>
            <a:off x="640044" y="1705471"/>
            <a:ext cx="11490633"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Infection, given the drug’s immunosuppressive effect</a:t>
            </a:r>
            <a:endParaRPr lang="en-US" sz="1250" dirty="0"/>
          </a:p>
        </p:txBody>
      </p:sp>
      <p:sp>
        <p:nvSpPr>
          <p:cNvPr id="8" name="Text 5"/>
          <p:cNvSpPr/>
          <p:nvPr/>
        </p:nvSpPr>
        <p:spPr>
          <a:xfrm>
            <a:off x="640044" y="1960265"/>
            <a:ext cx="10881048"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A drug allergy only</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Osteonecrosis of the jaw</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Hepatotoxicity from Phase II metabolism</a:t>
            </a:r>
            <a:endParaRPr lang="en-US" sz="1250" dirty="0"/>
          </a:p>
        </p:txBody>
      </p:sp>
      <p:sp>
        <p:nvSpPr>
          <p:cNvPr id="9" name="Text 6"/>
          <p:cNvSpPr/>
          <p:nvPr/>
        </p:nvSpPr>
        <p:spPr>
          <a:xfrm>
            <a:off x="640044" y="2693690"/>
            <a:ext cx="10881048" cy="432693"/>
          </a:xfrm>
          <a:prstGeom prst="rect">
            <a:avLst/>
          </a:prstGeom>
          <a:noFill/>
          <a:ln/>
        </p:spPr>
        <p:txBody>
          <a:bodyPr wrap="square" lIns="0" tIns="178621" rIns="0" bIns="0" rtlCol="0" anchor="t">
            <a:normAutofit/>
          </a:bodyPr>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5.  Which statement about gout pharmacology is correct?</a:t>
            </a:r>
            <a:endParaRPr lang="en-US" sz="1450" dirty="0"/>
          </a:p>
        </p:txBody>
      </p:sp>
      <p:sp>
        <p:nvSpPr>
          <p:cNvPr id="10" name="Text 7"/>
          <p:cNvSpPr/>
          <p:nvPr/>
        </p:nvSpPr>
        <p:spPr>
          <a:xfrm>
            <a:off x="640044" y="3128764"/>
            <a:ext cx="11490633"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Colchicine lowers uric acid production</a:t>
            </a:r>
            <a:endParaRPr lang="en-US" sz="1250" dirty="0"/>
          </a:p>
        </p:txBody>
      </p:sp>
      <p:sp>
        <p:nvSpPr>
          <p:cNvPr id="11" name="Text 8"/>
          <p:cNvSpPr/>
          <p:nvPr/>
        </p:nvSpPr>
        <p:spPr>
          <a:xfrm>
            <a:off x="640044" y="3383558"/>
            <a:ext cx="10881048"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Acute flares should always be treated with urate-lowering therapy first</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Probenecid lowers uric acid by inhibiting renal tubular reabsorption of urate</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Febuxostat and probenecid are both xanthine oxidase inhibitors</a:t>
            </a:r>
            <a:endParaRPr lang="en-US" sz="1250" dirty="0"/>
          </a:p>
        </p:txBody>
      </p:sp>
      <p:sp>
        <p:nvSpPr>
          <p:cNvPr id="12" name="Text 9"/>
          <p:cNvSpPr/>
          <p:nvPr/>
        </p:nvSpPr>
        <p:spPr>
          <a:xfrm>
            <a:off x="640044" y="4116983"/>
            <a:ext cx="10881048" cy="432693"/>
          </a:xfrm>
          <a:prstGeom prst="rect">
            <a:avLst/>
          </a:prstGeom>
          <a:noFill/>
          <a:ln/>
        </p:spPr>
        <p:txBody>
          <a:bodyPr wrap="square" lIns="0" tIns="178621" rIns="0" bIns="0" rtlCol="0" anchor="t">
            <a:normAutofit/>
          </a:bodyPr>
          <a:lstStyle/>
          <a:p>
            <a:pPr marL="0" indent="0" algn="l">
              <a:lnSpc>
                <a:spcPct val="115000"/>
              </a:lnSpc>
              <a:buNone/>
            </a:pPr>
            <a:r>
              <a:rPr lang="en-US" sz="1450" b="1" dirty="0">
                <a:solidFill>
                  <a:srgbClr val="123C44"/>
                </a:solidFill>
                <a:latin typeface="Carlito Bold" pitchFamily="34" charset="0"/>
                <a:ea typeface="Carlito Bold" pitchFamily="34" charset="-122"/>
                <a:cs typeface="Carlito Bold" pitchFamily="34" charset="0"/>
              </a:rPr>
              <a:t>6.  A patient with glucocorticoid-induced osteoporosis risk should be counseled that the risk is primarily related to which mechanism?</a:t>
            </a:r>
            <a:endParaRPr lang="en-US" sz="1450" dirty="0"/>
          </a:p>
        </p:txBody>
      </p:sp>
      <p:sp>
        <p:nvSpPr>
          <p:cNvPr id="13" name="Text 10"/>
          <p:cNvSpPr/>
          <p:nvPr/>
        </p:nvSpPr>
        <p:spPr>
          <a:xfrm>
            <a:off x="640044" y="4552057"/>
            <a:ext cx="11490633" cy="257175"/>
          </a:xfrm>
          <a:prstGeom prst="rect">
            <a:avLst/>
          </a:prstGeom>
          <a:noFill/>
          <a:ln/>
        </p:spPr>
        <p:txBody>
          <a:bodyPr wrap="none" lIns="0" tIns="380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A.  Increased osteoclast-mediated resorption and decreased bone formation</a:t>
            </a:r>
            <a:endParaRPr lang="en-US" sz="1250" dirty="0"/>
          </a:p>
        </p:txBody>
      </p:sp>
      <p:sp>
        <p:nvSpPr>
          <p:cNvPr id="14" name="Text 11"/>
          <p:cNvSpPr/>
          <p:nvPr/>
        </p:nvSpPr>
        <p:spPr>
          <a:xfrm>
            <a:off x="640044" y="4806851"/>
            <a:ext cx="10881048" cy="733425"/>
          </a:xfrm>
          <a:prstGeom prst="rect">
            <a:avLst/>
          </a:prstGeom>
          <a:noFill/>
          <a:ln/>
        </p:spPr>
        <p:txBody>
          <a:bodyPr wrap="square" lIns="0" tIns="25399" rIns="0" bIns="0" rtlCol="0" anchor="t"/>
          <a:lstStyle/>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B.  Increased osteoblast activity</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C.  Excess vitamin D</a:t>
            </a:r>
            <a:endParaRPr lang="en-US" sz="1250" dirty="0"/>
          </a:p>
          <a:p>
            <a:pPr marL="0" indent="0" algn="l">
              <a:lnSpc>
                <a:spcPct val="115000"/>
              </a:lnSpc>
              <a:buNone/>
            </a:pPr>
            <a:r>
              <a:rPr lang="en-US" sz="1250" dirty="0">
                <a:solidFill>
                  <a:srgbClr val="1A1A1A"/>
                </a:solidFill>
                <a:latin typeface="Carlito" pitchFamily="34" charset="0"/>
                <a:ea typeface="Carlito" pitchFamily="34" charset="-122"/>
                <a:cs typeface="Carlito" pitchFamily="34" charset="0"/>
              </a:rPr>
              <a:t>D.  Increased calcitonin secretion</a:t>
            </a:r>
            <a:endParaRPr lang="en-US" sz="1250" dirty="0"/>
          </a:p>
        </p:txBody>
      </p:sp>
      <p:sp>
        <p:nvSpPr>
          <p:cNvPr id="15" name="Text 12"/>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16" name="Text 13"/>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70</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23C44"/>
        </a:solidFill>
        <a:effectLst/>
      </p:bgPr>
    </p:bg>
    <p:spTree>
      <p:nvGrpSpPr>
        <p:cNvPr id="1" name=""/>
        <p:cNvGrpSpPr/>
        <p:nvPr/>
      </p:nvGrpSpPr>
      <p:grpSpPr>
        <a:xfrm>
          <a:off x="0" y="0"/>
          <a:ext cx="0" cy="0"/>
          <a:chOff x="0" y="0"/>
          <a:chExt cx="0" cy="0"/>
        </a:xfrm>
      </p:grpSpPr>
      <p:sp>
        <p:nvSpPr>
          <p:cNvPr id="2" name="Text 0"/>
          <p:cNvSpPr/>
          <p:nvPr/>
        </p:nvSpPr>
        <p:spPr>
          <a:xfrm>
            <a:off x="914278" y="534591"/>
            <a:ext cx="9662077"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E9A23B"/>
                </a:solidFill>
                <a:latin typeface="Carlito Bold" pitchFamily="34" charset="0"/>
                <a:ea typeface="Carlito Bold" pitchFamily="34" charset="-122"/>
                <a:cs typeface="Carlito Bold" pitchFamily="34" charset="0"/>
              </a:rPr>
              <a:t>ANSWER KEY</a:t>
            </a:r>
            <a:endParaRPr lang="en-US" sz="1200" dirty="0"/>
          </a:p>
        </p:txBody>
      </p:sp>
      <p:sp>
        <p:nvSpPr>
          <p:cNvPr id="3" name="Text 1"/>
          <p:cNvSpPr/>
          <p:nvPr/>
        </p:nvSpPr>
        <p:spPr>
          <a:xfrm>
            <a:off x="914278" y="861893"/>
            <a:ext cx="9966869"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FFFFFF"/>
                </a:solidFill>
                <a:latin typeface="Caladea Bold" pitchFamily="34" charset="0"/>
                <a:ea typeface="Caladea Bold" pitchFamily="34" charset="-122"/>
                <a:cs typeface="Caladea Bold" pitchFamily="34" charset="0"/>
              </a:rPr>
              <a:t>Lecture Recall Quiz — Answer Key</a:t>
            </a:r>
            <a:endParaRPr lang="en-US" sz="2800" dirty="0"/>
          </a:p>
        </p:txBody>
      </p:sp>
      <p:sp>
        <p:nvSpPr>
          <p:cNvPr id="4" name="Text 2"/>
          <p:cNvSpPr/>
          <p:nvPr/>
        </p:nvSpPr>
        <p:spPr>
          <a:xfrm>
            <a:off x="822900" y="1727656"/>
            <a:ext cx="10606814" cy="205680"/>
          </a:xfrm>
          <a:prstGeom prst="rect">
            <a:avLst/>
          </a:prstGeom>
          <a:noFill/>
          <a:ln/>
        </p:spPr>
        <p:txBody>
          <a:bodyPr wrap="none" lIns="0" tIns="0" rIns="0" bIns="0" rtlCol="0" anchor="t"/>
          <a:lstStyle/>
          <a:p>
            <a:pPr marL="0" indent="0" algn="l">
              <a:lnSpc>
                <a:spcPct val="100000"/>
              </a:lnSpc>
              <a:buNone/>
            </a:pPr>
            <a:r>
              <a:rPr lang="en-US" sz="1350" b="1" dirty="0">
                <a:solidFill>
                  <a:srgbClr val="E9A23B"/>
                </a:solidFill>
                <a:latin typeface="Carlito Bold" pitchFamily="34" charset="0"/>
                <a:ea typeface="Carlito Bold" pitchFamily="34" charset="-122"/>
                <a:cs typeface="Carlito Bold" pitchFamily="34" charset="0"/>
              </a:rPr>
              <a:t>1.  B — </a:t>
            </a:r>
            <a:r>
              <a:rPr lang="en-US" sz="1350" dirty="0">
                <a:solidFill>
                  <a:srgbClr val="E8F1F0"/>
                </a:solidFill>
                <a:latin typeface="Carlito" pitchFamily="34" charset="0"/>
                <a:ea typeface="Carlito" pitchFamily="34" charset="-122"/>
                <a:cs typeface="Carlito" pitchFamily="34" charset="0"/>
              </a:rPr>
              <a:t>Acetaminophen has minimal peripheral anti-inflammatory effect, unlike NSAIDs — it treats pain and fever, not inflammation itself.</a:t>
            </a:r>
            <a:endParaRPr lang="en-US" sz="1350" dirty="0"/>
          </a:p>
        </p:txBody>
      </p:sp>
      <p:sp>
        <p:nvSpPr>
          <p:cNvPr id="5" name="Text 3"/>
          <p:cNvSpPr/>
          <p:nvPr/>
        </p:nvSpPr>
        <p:spPr>
          <a:xfrm>
            <a:off x="822900" y="2054622"/>
            <a:ext cx="10606814" cy="2153444"/>
          </a:xfrm>
          <a:prstGeom prst="rect">
            <a:avLst/>
          </a:prstGeom>
          <a:noFill/>
          <a:ln/>
        </p:spPr>
        <p:txBody>
          <a:bodyPr wrap="square" lIns="0" tIns="0" rIns="0" bIns="0" rtlCol="0" anchor="t"/>
          <a:lstStyle/>
          <a:p>
            <a:pPr marL="0" indent="0" algn="l">
              <a:lnSpc>
                <a:spcPct val="100000"/>
              </a:lnSpc>
              <a:spcAft>
                <a:spcPts val="950"/>
              </a:spcAft>
              <a:buNone/>
            </a:pPr>
            <a:r>
              <a:rPr lang="en-US" sz="1350" b="1" dirty="0">
                <a:solidFill>
                  <a:srgbClr val="E9A23B"/>
                </a:solidFill>
                <a:latin typeface="Carlito Bold" pitchFamily="34" charset="0"/>
                <a:ea typeface="Carlito Bold" pitchFamily="34" charset="-122"/>
                <a:cs typeface="Carlito Bold" pitchFamily="34" charset="0"/>
              </a:rPr>
              <a:t>2.  C — </a:t>
            </a:r>
            <a:r>
              <a:rPr lang="en-US" sz="1350" dirty="0">
                <a:solidFill>
                  <a:srgbClr val="E8F1F0"/>
                </a:solidFill>
                <a:latin typeface="Carlito" pitchFamily="34" charset="0"/>
                <a:ea typeface="Carlito" pitchFamily="34" charset="-122"/>
                <a:cs typeface="Carlito" pitchFamily="34" charset="0"/>
              </a:rPr>
              <a:t>Acetaminophen or a topical NSAID avoids the systemic renal/CV risk of oral NSAIDs in a patient with CKD and heart failure.</a:t>
            </a:r>
            <a:endParaRPr lang="en-US" sz="1350" dirty="0"/>
          </a:p>
          <a:p>
            <a:pPr marL="0" indent="0" algn="l">
              <a:lnSpc>
                <a:spcPct val="100000"/>
              </a:lnSpc>
              <a:spcAft>
                <a:spcPts val="950"/>
              </a:spcAft>
              <a:buNone/>
            </a:pPr>
            <a:r>
              <a:rPr lang="en-US" sz="1350" b="1" dirty="0">
                <a:solidFill>
                  <a:srgbClr val="E9A23B"/>
                </a:solidFill>
                <a:latin typeface="Carlito Bold" pitchFamily="34" charset="0"/>
                <a:ea typeface="Carlito Bold" pitchFamily="34" charset="-122"/>
                <a:cs typeface="Carlito Bold" pitchFamily="34" charset="0"/>
              </a:rPr>
              <a:t>3.  D — </a:t>
            </a:r>
            <a:r>
              <a:rPr lang="en-US" sz="1350" dirty="0">
                <a:solidFill>
                  <a:srgbClr val="E8F1F0"/>
                </a:solidFill>
                <a:latin typeface="Carlito" pitchFamily="34" charset="0"/>
                <a:ea typeface="Carlito" pitchFamily="34" charset="-122"/>
                <a:cs typeface="Carlito" pitchFamily="34" charset="0"/>
              </a:rPr>
              <a:t>Methotrexate inhibits dihydrofolate reductase. Allopurinol inhibits xanthine oxidase; colchicine disrupts microtubules; baclofen is a GABA-B agonist.</a:t>
            </a:r>
            <a:endParaRPr lang="en-US" sz="1350" dirty="0"/>
          </a:p>
          <a:p>
            <a:pPr marL="0" indent="0" algn="l">
              <a:lnSpc>
                <a:spcPct val="100000"/>
              </a:lnSpc>
              <a:spcAft>
                <a:spcPts val="950"/>
              </a:spcAft>
              <a:buNone/>
            </a:pPr>
            <a:r>
              <a:rPr lang="en-US" sz="1350" b="1" dirty="0">
                <a:solidFill>
                  <a:srgbClr val="E9A23B"/>
                </a:solidFill>
                <a:latin typeface="Carlito Bold" pitchFamily="34" charset="0"/>
                <a:ea typeface="Carlito Bold" pitchFamily="34" charset="-122"/>
                <a:cs typeface="Carlito Bold" pitchFamily="34" charset="0"/>
              </a:rPr>
              <a:t>4.  A — </a:t>
            </a:r>
            <a:r>
              <a:rPr lang="en-US" sz="1350" dirty="0">
                <a:solidFill>
                  <a:srgbClr val="E8F1F0"/>
                </a:solidFill>
                <a:latin typeface="Carlito" pitchFamily="34" charset="0"/>
                <a:ea typeface="Carlito" pitchFamily="34" charset="-122"/>
                <a:cs typeface="Carlito" pitchFamily="34" charset="0"/>
              </a:rPr>
              <a:t>Immunosuppression is the shared major risk across all DMARDs — a fever must be treated as a possible infection until proven otherwise.</a:t>
            </a:r>
            <a:endParaRPr lang="en-US" sz="1350" dirty="0"/>
          </a:p>
          <a:p>
            <a:pPr marL="0" indent="0" algn="l">
              <a:lnSpc>
                <a:spcPct val="100000"/>
              </a:lnSpc>
              <a:spcAft>
                <a:spcPts val="950"/>
              </a:spcAft>
              <a:buNone/>
            </a:pPr>
            <a:r>
              <a:rPr lang="en-US" sz="1350" b="1" dirty="0">
                <a:solidFill>
                  <a:srgbClr val="E9A23B"/>
                </a:solidFill>
                <a:latin typeface="Carlito Bold" pitchFamily="34" charset="0"/>
                <a:ea typeface="Carlito Bold" pitchFamily="34" charset="-122"/>
                <a:cs typeface="Carlito Bold" pitchFamily="34" charset="0"/>
              </a:rPr>
              <a:t>5.  C — </a:t>
            </a:r>
            <a:r>
              <a:rPr lang="en-US" sz="1350" dirty="0">
                <a:solidFill>
                  <a:srgbClr val="E8F1F0"/>
                </a:solidFill>
                <a:latin typeface="Carlito" pitchFamily="34" charset="0"/>
                <a:ea typeface="Carlito" pitchFamily="34" charset="-122"/>
                <a:cs typeface="Carlito" pitchFamily="34" charset="0"/>
              </a:rPr>
              <a:t>Probenecid is a uricosuric agent that inhibits renal tubular reabsorption of uric acid, increasing its excretion. Colchicine does not lower uric acid; febuxostat (not probenecid) is a xanthine oxidase inhibitor; and urate-lowering therapy is deferred during an acute flare.</a:t>
            </a:r>
            <a:endParaRPr lang="en-US" sz="1350" dirty="0"/>
          </a:p>
          <a:p>
            <a:pPr marL="0" indent="0" algn="l">
              <a:lnSpc>
                <a:spcPct val="100000"/>
              </a:lnSpc>
              <a:buNone/>
            </a:pPr>
            <a:r>
              <a:rPr lang="en-US" sz="1350" b="1" dirty="0">
                <a:solidFill>
                  <a:srgbClr val="E9A23B"/>
                </a:solidFill>
                <a:latin typeface="Carlito Bold" pitchFamily="34" charset="0"/>
                <a:ea typeface="Carlito Bold" pitchFamily="34" charset="-122"/>
                <a:cs typeface="Carlito Bold" pitchFamily="34" charset="0"/>
              </a:rPr>
              <a:t>6.  A — </a:t>
            </a:r>
            <a:r>
              <a:rPr lang="en-US" sz="1350" dirty="0">
                <a:solidFill>
                  <a:srgbClr val="E8F1F0"/>
                </a:solidFill>
                <a:latin typeface="Carlito" pitchFamily="34" charset="0"/>
                <a:ea typeface="Carlito" pitchFamily="34" charset="-122"/>
                <a:cs typeface="Carlito" pitchFamily="34" charset="0"/>
              </a:rPr>
              <a:t>Glucocorticoids increase osteoclast-mediated bone resorption and suppress osteoblast-driven bone formation — shifting the remodeling balance toward bone loss.</a:t>
            </a:r>
            <a:endParaRPr lang="en-US" sz="1350" dirty="0"/>
          </a:p>
        </p:txBody>
      </p:sp>
      <p:sp>
        <p:nvSpPr>
          <p:cNvPr id="6" name="Text 4"/>
          <p:cNvSpPr/>
          <p:nvPr/>
        </p:nvSpPr>
        <p:spPr>
          <a:xfrm>
            <a:off x="914377"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9FC2BE"/>
                </a:solidFill>
                <a:latin typeface="Carlito" pitchFamily="34" charset="0"/>
                <a:ea typeface="Carlito" pitchFamily="34" charset="-122"/>
                <a:cs typeface="Carlito" pitchFamily="34" charset="0"/>
              </a:rPr>
              <a:t>Musculoskeletal Pharmacology — Session 2 of 2 — PA Program</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APPENDIX</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Image Attribution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2521" cy="1688902"/>
          </a:xfrm>
          <a:prstGeom prst="rect">
            <a:avLst/>
          </a:prstGeom>
          <a:noFill/>
          <a:ln/>
        </p:spPr>
        <p:txBody>
          <a:bodyPr wrap="square" lIns="0" tIns="0" rIns="0" bIns="0" rtlCol="0" anchor="t">
            <a:normAutofit/>
          </a:bodyPr>
          <a:lstStyle/>
          <a:p>
            <a:pPr marL="0" indent="0" algn="l">
              <a:lnSpc>
                <a:spcPct val="100000"/>
              </a:lnSpc>
              <a:spcAft>
                <a:spcPts val="1750"/>
              </a:spcAft>
              <a:buNone/>
            </a:pPr>
            <a:r>
              <a:rPr lang="en-US" sz="1600" b="1" dirty="0">
                <a:solidFill>
                  <a:srgbClr val="123C44"/>
                </a:solidFill>
                <a:latin typeface="Carlito Bold" pitchFamily="34" charset="0"/>
                <a:ea typeface="Carlito Bold" pitchFamily="34" charset="-122"/>
                <a:cs typeface="Carlito Bold" pitchFamily="34" charset="0"/>
              </a:rPr>
              <a:t>●  Original figures in this deck: </a:t>
            </a:r>
            <a:r>
              <a:rPr lang="en-US" sz="1600" dirty="0">
                <a:solidFill>
                  <a:srgbClr val="1A1A1A"/>
                </a:solidFill>
                <a:latin typeface="Carlito" pitchFamily="34" charset="0"/>
                <a:ea typeface="Carlito" pitchFamily="34" charset="-122"/>
                <a:cs typeface="Carlito" pitchFamily="34" charset="0"/>
              </a:rPr>
              <a:t>Figures 4–8 (Gout: From Purine Metabolism to Joint Inflammation; Skeletal Muscle Relaxants: Central vs. Peripheral Site of Action; Calcium Homeostasis: The PTH Feedback Loop; Bisphosphonate Dosing Frequency; How Osteoporosis Drugs Shift the Remodeling Balance) were generated by the course director using the AI tool Claude to illustrate standard, non-copyrighted pharmacologic concepts. They are original diagrams, not reproduced from Katzung’s Basic and Clinical Pharmacology or any other copyrighted source.</a:t>
            </a:r>
            <a:endParaRPr lang="en-US" sz="1600" dirty="0"/>
          </a:p>
          <a:p>
            <a:pPr marL="0" indent="0" algn="l">
              <a:lnSpc>
                <a:spcPct val="100000"/>
              </a:lnSpc>
              <a:buNone/>
            </a:pPr>
            <a:r>
              <a:rPr lang="en-US" sz="1600" b="1" dirty="0">
                <a:solidFill>
                  <a:srgbClr val="123C44"/>
                </a:solidFill>
                <a:latin typeface="Carlito Bold" pitchFamily="34" charset="0"/>
                <a:ea typeface="Carlito Bold" pitchFamily="34" charset="-122"/>
                <a:cs typeface="Carlito Bold" pitchFamily="34" charset="0"/>
              </a:rPr>
              <a:t>●  Reference: </a:t>
            </a:r>
            <a:r>
              <a:rPr lang="en-US" sz="1600" dirty="0">
                <a:solidFill>
                  <a:srgbClr val="1A1A1A"/>
                </a:solidFill>
                <a:latin typeface="Carlito" pitchFamily="34" charset="0"/>
                <a:ea typeface="Carlito" pitchFamily="34" charset="-122"/>
                <a:cs typeface="Carlito" pitchFamily="34" charset="0"/>
              </a:rPr>
              <a:t>Anthropic. (2026). Claude (Sonnet 5) [Large language model]. https://claude.ai</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2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72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6267</Words>
  <Application>Microsoft Macintosh PowerPoint</Application>
  <PresentationFormat>Widescreen</PresentationFormat>
  <Paragraphs>897</Paragraphs>
  <Slides>72</Slides>
  <Notes>72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Arial</vt:lpstr>
      <vt:lpstr>Carlito</vt:lpstr>
      <vt:lpstr>Caladea Bold</vt:lpstr>
      <vt:lpstr>Carlito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Diane Allen-Gipson</cp:lastModifiedBy>
  <cp:revision>1</cp:revision>
  <dcterms:created xsi:type="dcterms:W3CDTF">2026-10-26T23:01:40Z</dcterms:created>
  <dcterms:modified xsi:type="dcterms:W3CDTF">2026-10-27T15:15:11Z</dcterms:modified>
</cp:coreProperties>
</file>