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slideMasters/slideMaster68.xml" ContentType="application/vnd.openxmlformats-officedocument.presentationml.slideMaster+xml"/>
  <Override PartName="/ppt/slides/slide68.xml" ContentType="application/vnd.openxmlformats-officedocument.presentationml.slide+xml"/>
  <Override PartName="/ppt/slideMasters/slideMaster69.xml" ContentType="application/vnd.openxmlformats-officedocument.presentationml.slideMaster+xml"/>
  <Override PartName="/ppt/slides/slide69.xml" ContentType="application/vnd.openxmlformats-officedocument.presentationml.slide+xml"/>
  <Override PartName="/ppt/slideMasters/slideMaster70.xml" ContentType="application/vnd.openxmlformats-officedocument.presentationml.slideMaster+xml"/>
  <Override PartName="/ppt/slides/slide70.xml" ContentType="application/vnd.openxmlformats-officedocument.presentationml.slide+xml"/>
  <Override PartName="/ppt/slideMasters/slideMaster71.xml" ContentType="application/vnd.openxmlformats-officedocument.presentationml.slideMaster+xml"/>
  <Override PartName="/ppt/slides/slide71.xml" ContentType="application/vnd.openxmlformats-officedocument.presentationml.slide+xml"/>
  <Override PartName="/ppt/slideMasters/slideMaster72.xml" ContentType="application/vnd.openxmlformats-officedocument.presentationml.slideMaster+xml"/>
  <Override PartName="/ppt/slides/slide72.xml" ContentType="application/vnd.openxmlformats-officedocument.presentationml.slide+xml"/>
  <Override PartName="/ppt/slideMasters/slideMaster73.xml" ContentType="application/vnd.openxmlformats-officedocument.presentationml.slideMaster+xml"/>
  <Override PartName="/ppt/slides/slide73.xml" ContentType="application/vnd.openxmlformats-officedocument.presentationml.slide+xml"/>
  <Override PartName="/ppt/slideMasters/slideMaster74.xml" ContentType="application/vnd.openxmlformats-officedocument.presentationml.slideMaster+xml"/>
  <Override PartName="/ppt/slides/slide74.xml" ContentType="application/vnd.openxmlformats-officedocument.presentationml.slide+xml"/>
  <Override PartName="/ppt/slideMasters/slideMaster75.xml" ContentType="application/vnd.openxmlformats-officedocument.presentationml.slideMaster+xml"/>
  <Override PartName="/ppt/slides/slide75.xml" ContentType="application/vnd.openxmlformats-officedocument.presentationml.slide+xml"/>
  <Override PartName="/ppt/slideMasters/slideMaster76.xml" ContentType="application/vnd.openxmlformats-officedocument.presentationml.slideMaster+xml"/>
  <Override PartName="/ppt/slides/slide76.xml" ContentType="application/vnd.openxmlformats-officedocument.presentationml.slide+xml"/>
  <Override PartName="/ppt/slideMasters/slideMaster77.xml" ContentType="application/vnd.openxmlformats-officedocument.presentationml.slideMaster+xml"/>
  <Override PartName="/ppt/slides/slide77.xml" ContentType="application/vnd.openxmlformats-officedocument.presentationml.slide+xml"/>
  <Override PartName="/ppt/slideMasters/slideMaster78.xml" ContentType="application/vnd.openxmlformats-officedocument.presentationml.slideMaster+xml"/>
  <Override PartName="/ppt/slides/slide78.xml" ContentType="application/vnd.openxmlformats-officedocument.presentationml.slide+xml"/>
  <Override PartName="/ppt/slideMasters/slideMaster79.xml" ContentType="application/vnd.openxmlformats-officedocument.presentationml.slideMaster+xml"/>
  <Override PartName="/ppt/slides/slide79.xml" ContentType="application/vnd.openxmlformats-officedocument.presentationml.slide+xml"/>
  <Override PartName="/ppt/slideMasters/slideMaster80.xml" ContentType="application/vnd.openxmlformats-officedocument.presentationml.slideMaster+xml"/>
  <Override PartName="/ppt/slides/slide80.xml" ContentType="application/vnd.openxmlformats-officedocument.presentationml.slide+xml"/>
  <Override PartName="/ppt/slideMasters/slideMaster81.xml" ContentType="application/vnd.openxmlformats-officedocument.presentationml.slideMaster+xml"/>
  <Override PartName="/ppt/slides/slide81.xml" ContentType="application/vnd.openxmlformats-officedocument.presentationml.slide+xml"/>
  <Override PartName="/ppt/slideMasters/slideMaster82.xml" ContentType="application/vnd.openxmlformats-officedocument.presentationml.slideMaster+xml"/>
  <Override PartName="/ppt/slides/slide82.xml" ContentType="application/vnd.openxmlformats-officedocument.presentationml.slide+xml"/>
  <Override PartName="/ppt/slideMasters/slideMaster83.xml" ContentType="application/vnd.openxmlformats-officedocument.presentationml.slideMaster+xml"/>
  <Override PartName="/ppt/slides/slide83.xml" ContentType="application/vnd.openxmlformats-officedocument.presentationml.slide+xml"/>
  <Override PartName="/ppt/slideMasters/slideMaster84.xml" ContentType="application/vnd.openxmlformats-officedocument.presentationml.slideMaster+xml"/>
  <Override PartName="/ppt/slides/slide84.xml" ContentType="application/vnd.openxmlformats-officedocument.presentationml.slide+xml"/>
  <Override PartName="/ppt/slideMasters/slideMaster85.xml" ContentType="application/vnd.openxmlformats-officedocument.presentationml.slideMaster+xml"/>
  <Override PartName="/ppt/slides/slide85.xml" ContentType="application/vnd.openxmlformats-officedocument.presentationml.slide+xml"/>
  <Override PartName="/ppt/slideMasters/slideMaster86.xml" ContentType="application/vnd.openxmlformats-officedocument.presentationml.slideMaster+xml"/>
  <Override PartName="/ppt/slides/slide86.xml" ContentType="application/vnd.openxmlformats-officedocument.presentationml.slide+xml"/>
  <Override PartName="/ppt/slideMasters/slideMaster87.xml" ContentType="application/vnd.openxmlformats-officedocument.presentationml.slideMaster+xml"/>
  <Override PartName="/ppt/slides/slide87.xml" ContentType="application/vnd.openxmlformats-officedocument.presentationml.slide+xml"/>
  <Override PartName="/ppt/slideMasters/slideMaster88.xml" ContentType="application/vnd.openxmlformats-officedocument.presentationml.slideMaster+xml"/>
  <Override PartName="/ppt/slides/slide88.xml" ContentType="application/vnd.openxmlformats-officedocument.presentationml.slide+xml"/>
  <Override PartName="/ppt/slideMasters/slideMaster89.xml" ContentType="application/vnd.openxmlformats-officedocument.presentationml.slideMaster+xml"/>
  <Override PartName="/ppt/slides/slide89.xml" ContentType="application/vnd.openxmlformats-officedocument.presentationml.slide+xml"/>
  <Override PartName="/ppt/slideMasters/slideMaster90.xml" ContentType="application/vnd.openxmlformats-officedocument.presentationml.slideMaster+xml"/>
  <Override PartName="/ppt/slides/slide90.xml" ContentType="application/vnd.openxmlformats-officedocument.presentationml.slide+xml"/>
  <Override PartName="/ppt/slideMasters/slideMaster91.xml" ContentType="application/vnd.openxmlformats-officedocument.presentationml.slideMaster+xml"/>
  <Override PartName="/ppt/slides/slide91.xml" ContentType="application/vnd.openxmlformats-officedocument.presentationml.slide+xml"/>
  <Override PartName="/ppt/slideMasters/slideMaster92.xml" ContentType="application/vnd.openxmlformats-officedocument.presentationml.slideMaster+xml"/>
  <Override PartName="/ppt/slides/slide92.xml" ContentType="application/vnd.openxmlformats-officedocument.presentationml.slide+xml"/>
  <Override PartName="/ppt/slideMasters/slideMaster93.xml" ContentType="application/vnd.openxmlformats-officedocument.presentationml.slideMaster+xml"/>
  <Override PartName="/ppt/slides/slide93.xml" ContentType="application/vnd.openxmlformats-officedocument.presentationml.slide+xml"/>
  <Override PartName="/ppt/slideMasters/slideMaster94.xml" ContentType="application/vnd.openxmlformats-officedocument.presentationml.slideMaster+xml"/>
  <Override PartName="/ppt/slides/slide94.xml" ContentType="application/vnd.openxmlformats-officedocument.presentationml.slide+xml"/>
  <Override PartName="/ppt/slideMasters/slideMaster95.xml" ContentType="application/vnd.openxmlformats-officedocument.presentationml.slideMaster+xml"/>
  <Override PartName="/ppt/slides/slide95.xml" ContentType="application/vnd.openxmlformats-officedocument.presentationml.slide+xml"/>
  <Override PartName="/ppt/slideMasters/slideMaster96.xml" ContentType="application/vnd.openxmlformats-officedocument.presentationml.slideMaster+xml"/>
  <Override PartName="/ppt/slides/slide96.xml" ContentType="application/vnd.openxmlformats-officedocument.presentationml.slide+xml"/>
  <Override PartName="/ppt/slideMasters/slideMaster97.xml" ContentType="application/vnd.openxmlformats-officedocument.presentationml.slideMaster+xml"/>
  <Override PartName="/ppt/slides/slide97.xml" ContentType="application/vnd.openxmlformats-officedocument.presentationml.slide+xml"/>
  <Override PartName="/ppt/slideMasters/slideMaster98.xml" ContentType="application/vnd.openxmlformats-officedocument.presentationml.slideMaster+xml"/>
  <Override PartName="/ppt/slides/slide98.xml" ContentType="application/vnd.openxmlformats-officedocument.presentationml.slide+xml"/>
  <Override PartName="/ppt/slideMasters/slideMaster99.xml" ContentType="application/vnd.openxmlformats-officedocument.presentationml.slideMaster+xml"/>
  <Override PartName="/ppt/slides/slide99.xml" ContentType="application/vnd.openxmlformats-officedocument.presentationml.slide+xml"/>
  <Override PartName="/ppt/slideMasters/slideMaster100.xml" ContentType="application/vnd.openxmlformats-officedocument.presentationml.slideMaster+xml"/>
  <Override PartName="/ppt/slides/slide100.xml" ContentType="application/vnd.openxmlformats-officedocument.presentationml.slide+xml"/>
  <Override PartName="/ppt/slideMasters/slideMaster101.xml" ContentType="application/vnd.openxmlformats-officedocument.presentationml.slideMaster+xml"/>
  <Override PartName="/ppt/slides/slide101.xml" ContentType="application/vnd.openxmlformats-officedocument.presentationml.slide+xml"/>
  <Override PartName="/ppt/slideMasters/slideMaster102.xml" ContentType="application/vnd.openxmlformats-officedocument.presentationml.slideMaster+xml"/>
  <Override PartName="/ppt/slides/slide102.xml" ContentType="application/vnd.openxmlformats-officedocument.presentationml.slide+xml"/>
  <Override PartName="/ppt/slideMasters/slideMaster103.xml" ContentType="application/vnd.openxmlformats-officedocument.presentationml.slideMaster+xml"/>
  <Override PartName="/ppt/slides/slide103.xml" ContentType="application/vnd.openxmlformats-officedocument.presentationml.slide+xml"/>
  <Override PartName="/ppt/slideMasters/slideMaster104.xml" ContentType="application/vnd.openxmlformats-officedocument.presentationml.slideMaster+xml"/>
  <Override PartName="/ppt/slides/slide104.xml" ContentType="application/vnd.openxmlformats-officedocument.presentationml.slide+xml"/>
  <Override PartName="/ppt/slideMasters/slideMaster105.xml" ContentType="application/vnd.openxmlformats-officedocument.presentationml.slideMaster+xml"/>
  <Override PartName="/ppt/slides/slide105.xml" ContentType="application/vnd.openxmlformats-officedocument.presentationml.slide+xml"/>
  <Override PartName="/ppt/slideMasters/slideMaster106.xml" ContentType="application/vnd.openxmlformats-officedocument.presentationml.slideMaster+xml"/>
  <Override PartName="/ppt/slides/slide106.xml" ContentType="application/vnd.openxmlformats-officedocument.presentationml.slide+xml"/>
  <Override PartName="/ppt/slideMasters/slideMaster107.xml" ContentType="application/vnd.openxmlformats-officedocument.presentationml.slideMaster+xml"/>
  <Override PartName="/ppt/slides/slide107.xml" ContentType="application/vnd.openxmlformats-officedocument.presentationml.slide+xml"/>
  <Override PartName="/ppt/slideMasters/slideMaster108.xml" ContentType="application/vnd.openxmlformats-officedocument.presentationml.slideMaster+xml"/>
  <Override PartName="/ppt/slides/slide108.xml" ContentType="application/vnd.openxmlformats-officedocument.presentationml.slide+xml"/>
  <Override PartName="/ppt/slideMasters/slideMaster109.xml" ContentType="application/vnd.openxmlformats-officedocument.presentationml.slideMaster+xml"/>
  <Override PartName="/ppt/slides/slide109.xml" ContentType="application/vnd.openxmlformats-officedocument.presentationml.slide+xml"/>
  <Override PartName="/ppt/slideMasters/slideMaster110.xml" ContentType="application/vnd.openxmlformats-officedocument.presentationml.slideMaster+xml"/>
  <Override PartName="/ppt/slides/slide110.xml" ContentType="application/vnd.openxmlformats-officedocument.presentationml.slide+xml"/>
  <Override PartName="/ppt/slideMasters/slideMaster111.xml" ContentType="application/vnd.openxmlformats-officedocument.presentationml.slideMaster+xml"/>
  <Override PartName="/ppt/slides/slide111.xml" ContentType="application/vnd.openxmlformats-officedocument.presentationml.slide+xml"/>
  <Override PartName="/ppt/slideMasters/slideMaster112.xml" ContentType="application/vnd.openxmlformats-officedocument.presentationml.slideMaster+xml"/>
  <Override PartName="/ppt/slides/slide112.xml" ContentType="application/vnd.openxmlformats-officedocument.presentationml.slide+xml"/>
  <Override PartName="/ppt/slideMasters/slideMaster113.xml" ContentType="application/vnd.openxmlformats-officedocument.presentationml.slideMaster+xml"/>
  <Override PartName="/ppt/slides/slide113.xml" ContentType="application/vnd.openxmlformats-officedocument.presentationml.slide+xml"/>
  <Override PartName="/ppt/slideMasters/slideMaster114.xml" ContentType="application/vnd.openxmlformats-officedocument.presentationml.slideMaster+xml"/>
  <Override PartName="/ppt/slides/slide114.xml" ContentType="application/vnd.openxmlformats-officedocument.presentationml.slide+xml"/>
  <Override PartName="/ppt/slideMasters/slideMaster115.xml" ContentType="application/vnd.openxmlformats-officedocument.presentationml.slideMaster+xml"/>
  <Override PartName="/ppt/slides/slide115.xml" ContentType="application/vnd.openxmlformats-officedocument.presentationml.slide+xml"/>
  <Override PartName="/ppt/slideMasters/slideMaster116.xml" ContentType="application/vnd.openxmlformats-officedocument.presentationml.slideMaster+xml"/>
  <Override PartName="/ppt/slides/slide116.xml" ContentType="application/vnd.openxmlformats-officedocument.presentationml.slide+xml"/>
  <Override PartName="/ppt/slideMasters/slideMaster117.xml" ContentType="application/vnd.openxmlformats-officedocument.presentationml.slideMaster+xml"/>
  <Override PartName="/ppt/slides/slide117.xml" ContentType="application/vnd.openxmlformats-officedocument.presentationml.slide+xml"/>
  <Override PartName="/ppt/slideMasters/slideMaster118.xml" ContentType="application/vnd.openxmlformats-officedocument.presentationml.slideMaster+xml"/>
  <Override PartName="/ppt/slides/slide118.xml" ContentType="application/vnd.openxmlformats-officedocument.presentationml.slide+xml"/>
  <Override PartName="/ppt/slideMasters/slideMaster119.xml" ContentType="application/vnd.openxmlformats-officedocument.presentationml.slideMaster+xml"/>
  <Override PartName="/ppt/slides/slide119.xml" ContentType="application/vnd.openxmlformats-officedocument.presentationml.slide+xml"/>
  <Override PartName="/ppt/slideMasters/slideMaster120.xml" ContentType="application/vnd.openxmlformats-officedocument.presentationml.slideMaster+xml"/>
  <Override PartName="/ppt/slides/slide120.xml" ContentType="application/vnd.openxmlformats-officedocument.presentationml.slide+xml"/>
  <Override PartName="/ppt/slideMasters/slideMaster121.xml" ContentType="application/vnd.openxmlformats-officedocument.presentationml.slideMaster+xml"/>
  <Override PartName="/ppt/slides/slide121.xml" ContentType="application/vnd.openxmlformats-officedocument.presentationml.slide+xml"/>
  <Override PartName="/ppt/slideMasters/slideMaster122.xml" ContentType="application/vnd.openxmlformats-officedocument.presentationml.slideMaster+xml"/>
  <Override PartName="/ppt/slides/slide122.xml" ContentType="application/vnd.openxmlformats-officedocument.presentationml.slide+xml"/>
  <Override PartName="/ppt/slideMasters/slideMaster123.xml" ContentType="application/vnd.openxmlformats-officedocument.presentationml.slideMaster+xml"/>
  <Override PartName="/ppt/slides/slide123.xml" ContentType="application/vnd.openxmlformats-officedocument.presentationml.slide+xml"/>
  <Override PartName="/ppt/slideMasters/slideMaster124.xml" ContentType="application/vnd.openxmlformats-officedocument.presentationml.slideMaster+xml"/>
  <Override PartName="/ppt/slides/slide124.xml" ContentType="application/vnd.openxmlformats-officedocument.presentationml.slide+xml"/>
  <Override PartName="/ppt/slideMasters/slideMaster125.xml" ContentType="application/vnd.openxmlformats-officedocument.presentationml.slideMaster+xml"/>
  <Override PartName="/ppt/slides/slide125.xml" ContentType="application/vnd.openxmlformats-officedocument.presentationml.slide+xml"/>
  <Override PartName="/ppt/slideMasters/slideMaster126.xml" ContentType="application/vnd.openxmlformats-officedocument.presentationml.slideMaster+xml"/>
  <Override PartName="/ppt/slides/slide126.xml" ContentType="application/vnd.openxmlformats-officedocument.presentationml.slide+xml"/>
  <Override PartName="/ppt/slideMasters/slideMaster127.xml" ContentType="application/vnd.openxmlformats-officedocument.presentationml.slideMaster+xml"/>
  <Override PartName="/ppt/slides/slide127.xml" ContentType="application/vnd.openxmlformats-officedocument.presentationml.slide+xml"/>
  <Override PartName="/ppt/slideMasters/slideMaster128.xml" ContentType="application/vnd.openxmlformats-officedocument.presentationml.slideMaster+xml"/>
  <Override PartName="/ppt/slides/slide128.xml" ContentType="application/vnd.openxmlformats-officedocument.presentationml.slide+xml"/>
  <Override PartName="/ppt/slideMasters/slideMaster129.xml" ContentType="application/vnd.openxmlformats-officedocument.presentationml.slideMaster+xml"/>
  <Override PartName="/ppt/slides/slide129.xml" ContentType="application/vnd.openxmlformats-officedocument.presentationml.slide+xml"/>
  <Override PartName="/ppt/slideMasters/slideMaster130.xml" ContentType="application/vnd.openxmlformats-officedocument.presentationml.slideMaster+xml"/>
  <Override PartName="/ppt/slides/slide130.xml" ContentType="application/vnd.openxmlformats-officedocument.presentationml.slide+xml"/>
  <Override PartName="/ppt/slideMasters/slideMaster131.xml" ContentType="application/vnd.openxmlformats-officedocument.presentationml.slideMaster+xml"/>
  <Override PartName="/ppt/slides/slide131.xml" ContentType="application/vnd.openxmlformats-officedocument.presentationml.slide+xml"/>
  <Override PartName="/ppt/slideMasters/slideMaster132.xml" ContentType="application/vnd.openxmlformats-officedocument.presentationml.slideMaster+xml"/>
  <Override PartName="/ppt/slides/slide13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 id="345" r:id="rId91"/>
    <p:sldId id="346" r:id="rId92"/>
    <p:sldId id="347" r:id="rId93"/>
    <p:sldId id="348" r:id="rId94"/>
    <p:sldId id="349" r:id="rId95"/>
    <p:sldId id="350" r:id="rId96"/>
    <p:sldId id="351" r:id="rId97"/>
    <p:sldId id="352" r:id="rId98"/>
    <p:sldId id="353" r:id="rId99"/>
    <p:sldId id="354" r:id="rId100"/>
    <p:sldId id="355" r:id="rId101"/>
    <p:sldId id="356" r:id="rId102"/>
    <p:sldId id="357" r:id="rId103"/>
    <p:sldId id="358" r:id="rId104"/>
    <p:sldId id="359" r:id="rId105"/>
    <p:sldId id="360" r:id="rId106"/>
    <p:sldId id="361" r:id="rId107"/>
    <p:sldId id="362" r:id="rId108"/>
    <p:sldId id="363" r:id="rId109"/>
    <p:sldId id="364" r:id="rId110"/>
    <p:sldId id="365" r:id="rId111"/>
    <p:sldId id="366" r:id="rId112"/>
    <p:sldId id="367" r:id="rId113"/>
    <p:sldId id="368" r:id="rId114"/>
    <p:sldId id="369" r:id="rId115"/>
    <p:sldId id="370" r:id="rId116"/>
    <p:sldId id="371" r:id="rId117"/>
    <p:sldId id="372" r:id="rId118"/>
    <p:sldId id="373" r:id="rId119"/>
    <p:sldId id="374" r:id="rId120"/>
    <p:sldId id="375" r:id="rId121"/>
    <p:sldId id="376" r:id="rId122"/>
    <p:sldId id="377" r:id="rId123"/>
    <p:sldId id="378" r:id="rId124"/>
    <p:sldId id="379" r:id="rId125"/>
    <p:sldId id="380" r:id="rId126"/>
    <p:sldId id="381" r:id="rId127"/>
    <p:sldId id="382" r:id="rId128"/>
    <p:sldId id="383" r:id="rId129"/>
    <p:sldId id="384" r:id="rId130"/>
    <p:sldId id="385" r:id="rId131"/>
    <p:sldId id="386" r:id="rId132"/>
    <p:sldId id="387" r:id="rId133"/>
  </p:sldIdLst>
  <p:notesMasterIdLst>
    <p:notesMasterId r:id="rId13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80" Type="http://schemas.openxmlformats.org/officeDocument/2006/relationships/slide" Target="slides/slide79.xml"/><Relationship Id="rId81" Type="http://schemas.openxmlformats.org/officeDocument/2006/relationships/slide" Target="slides/slide80.xml"/><Relationship Id="rId82" Type="http://schemas.openxmlformats.org/officeDocument/2006/relationships/slide" Target="slides/slide81.xml"/><Relationship Id="rId83" Type="http://schemas.openxmlformats.org/officeDocument/2006/relationships/slide" Target="slides/slide82.xml"/><Relationship Id="rId84" Type="http://schemas.openxmlformats.org/officeDocument/2006/relationships/slide" Target="slides/slide83.xml"/><Relationship Id="rId85" Type="http://schemas.openxmlformats.org/officeDocument/2006/relationships/slide" Target="slides/slide84.xml"/><Relationship Id="rId86" Type="http://schemas.openxmlformats.org/officeDocument/2006/relationships/slide" Target="slides/slide85.xml"/><Relationship Id="rId87" Type="http://schemas.openxmlformats.org/officeDocument/2006/relationships/slide" Target="slides/slide86.xml"/><Relationship Id="rId88" Type="http://schemas.openxmlformats.org/officeDocument/2006/relationships/slide" Target="slides/slide87.xml"/><Relationship Id="rId89" Type="http://schemas.openxmlformats.org/officeDocument/2006/relationships/slide" Target="slides/slide88.xml"/><Relationship Id="rId90" Type="http://schemas.openxmlformats.org/officeDocument/2006/relationships/slide" Target="slides/slide89.xml"/><Relationship Id="rId91" Type="http://schemas.openxmlformats.org/officeDocument/2006/relationships/slide" Target="slides/slide90.xml"/><Relationship Id="rId92" Type="http://schemas.openxmlformats.org/officeDocument/2006/relationships/slide" Target="slides/slide91.xml"/><Relationship Id="rId93" Type="http://schemas.openxmlformats.org/officeDocument/2006/relationships/slide" Target="slides/slide92.xml"/><Relationship Id="rId94" Type="http://schemas.openxmlformats.org/officeDocument/2006/relationships/slide" Target="slides/slide93.xml"/><Relationship Id="rId95" Type="http://schemas.openxmlformats.org/officeDocument/2006/relationships/slide" Target="slides/slide94.xml"/><Relationship Id="rId96" Type="http://schemas.openxmlformats.org/officeDocument/2006/relationships/slide" Target="slides/slide95.xml"/><Relationship Id="rId97" Type="http://schemas.openxmlformats.org/officeDocument/2006/relationships/slide" Target="slides/slide96.xml"/><Relationship Id="rId98" Type="http://schemas.openxmlformats.org/officeDocument/2006/relationships/slide" Target="slides/slide97.xml"/><Relationship Id="rId99" Type="http://schemas.openxmlformats.org/officeDocument/2006/relationships/slide" Target="slides/slide98.xml"/><Relationship Id="rId100" Type="http://schemas.openxmlformats.org/officeDocument/2006/relationships/slide" Target="slides/slide99.xml"/><Relationship Id="rId101" Type="http://schemas.openxmlformats.org/officeDocument/2006/relationships/slide" Target="slides/slide100.xml"/><Relationship Id="rId102" Type="http://schemas.openxmlformats.org/officeDocument/2006/relationships/slide" Target="slides/slide101.xml"/><Relationship Id="rId103" Type="http://schemas.openxmlformats.org/officeDocument/2006/relationships/slide" Target="slides/slide102.xml"/><Relationship Id="rId104" Type="http://schemas.openxmlformats.org/officeDocument/2006/relationships/slide" Target="slides/slide103.xml"/><Relationship Id="rId105" Type="http://schemas.openxmlformats.org/officeDocument/2006/relationships/slide" Target="slides/slide104.xml"/><Relationship Id="rId106" Type="http://schemas.openxmlformats.org/officeDocument/2006/relationships/slide" Target="slides/slide105.xml"/><Relationship Id="rId107" Type="http://schemas.openxmlformats.org/officeDocument/2006/relationships/slide" Target="slides/slide106.xml"/><Relationship Id="rId108" Type="http://schemas.openxmlformats.org/officeDocument/2006/relationships/slide" Target="slides/slide107.xml"/><Relationship Id="rId109" Type="http://schemas.openxmlformats.org/officeDocument/2006/relationships/slide" Target="slides/slide108.xml"/><Relationship Id="rId110" Type="http://schemas.openxmlformats.org/officeDocument/2006/relationships/slide" Target="slides/slide109.xml"/><Relationship Id="rId111" Type="http://schemas.openxmlformats.org/officeDocument/2006/relationships/slide" Target="slides/slide110.xml"/><Relationship Id="rId112" Type="http://schemas.openxmlformats.org/officeDocument/2006/relationships/slide" Target="slides/slide111.xml"/><Relationship Id="rId113" Type="http://schemas.openxmlformats.org/officeDocument/2006/relationships/slide" Target="slides/slide112.xml"/><Relationship Id="rId114" Type="http://schemas.openxmlformats.org/officeDocument/2006/relationships/slide" Target="slides/slide113.xml"/><Relationship Id="rId115" Type="http://schemas.openxmlformats.org/officeDocument/2006/relationships/slide" Target="slides/slide114.xml"/><Relationship Id="rId116" Type="http://schemas.openxmlformats.org/officeDocument/2006/relationships/slide" Target="slides/slide115.xml"/><Relationship Id="rId117" Type="http://schemas.openxmlformats.org/officeDocument/2006/relationships/slide" Target="slides/slide116.xml"/><Relationship Id="rId118" Type="http://schemas.openxmlformats.org/officeDocument/2006/relationships/slide" Target="slides/slide117.xml"/><Relationship Id="rId119" Type="http://schemas.openxmlformats.org/officeDocument/2006/relationships/slide" Target="slides/slide118.xml"/><Relationship Id="rId120" Type="http://schemas.openxmlformats.org/officeDocument/2006/relationships/slide" Target="slides/slide119.xml"/><Relationship Id="rId121" Type="http://schemas.openxmlformats.org/officeDocument/2006/relationships/slide" Target="slides/slide120.xml"/><Relationship Id="rId122" Type="http://schemas.openxmlformats.org/officeDocument/2006/relationships/slide" Target="slides/slide121.xml"/><Relationship Id="rId123" Type="http://schemas.openxmlformats.org/officeDocument/2006/relationships/slide" Target="slides/slide122.xml"/><Relationship Id="rId124" Type="http://schemas.openxmlformats.org/officeDocument/2006/relationships/slide" Target="slides/slide123.xml"/><Relationship Id="rId125" Type="http://schemas.openxmlformats.org/officeDocument/2006/relationships/slide" Target="slides/slide124.xml"/><Relationship Id="rId126" Type="http://schemas.openxmlformats.org/officeDocument/2006/relationships/slide" Target="slides/slide125.xml"/><Relationship Id="rId127" Type="http://schemas.openxmlformats.org/officeDocument/2006/relationships/slide" Target="slides/slide126.xml"/><Relationship Id="rId128" Type="http://schemas.openxmlformats.org/officeDocument/2006/relationships/slide" Target="slides/slide127.xml"/><Relationship Id="rId129" Type="http://schemas.openxmlformats.org/officeDocument/2006/relationships/slide" Target="slides/slide128.xml"/><Relationship Id="rId130" Type="http://schemas.openxmlformats.org/officeDocument/2006/relationships/slide" Target="slides/slide129.xml"/><Relationship Id="rId131" Type="http://schemas.openxmlformats.org/officeDocument/2006/relationships/slide" Target="slides/slide130.xml"/><Relationship Id="rId132" Type="http://schemas.openxmlformats.org/officeDocument/2006/relationships/slide" Target="slides/slide131.xml"/><Relationship Id="rId133" Type="http://schemas.openxmlformats.org/officeDocument/2006/relationships/slide" Target="slides/slide132.xml"/><Relationship Id="rId134" Type="http://schemas.openxmlformats.org/officeDocument/2006/relationships/notesMaster" Target="notesMasters/notesMaster1.xml"/><Relationship Id="rId135" Type="http://schemas.openxmlformats.org/officeDocument/2006/relationships/presProps" Target="presProps.xml"/><Relationship Id="rId136" Type="http://schemas.openxmlformats.org/officeDocument/2006/relationships/viewProps" Target="viewProps.xml"/><Relationship Id="rId137" Type="http://schemas.openxmlformats.org/officeDocument/2006/relationships/theme" Target="theme/theme1.xml"/><Relationship Id="rId13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_rels/notesSlide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1.xml"/>
		</Relationships>
</file>

<file path=ppt/notesSlides/_rels/notesSlide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2.xml"/>
		</Relationships>
</file>

<file path=ppt/notesSlides/_rels/notesSlide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3.xml"/>
		</Relationships>
</file>

<file path=ppt/notesSlides/_rels/notesSlide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4.xml"/>
		</Relationships>
</file>

<file path=ppt/notesSlides/_rels/notesSlide7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5.xml"/>
		</Relationships>
</file>

<file path=ppt/notesSlides/_rels/notesSlide7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6.xml"/>
		</Relationships>
</file>

<file path=ppt/notesSlides/_rels/notesSlide7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7.xml"/>
		</Relationships>
</file>

<file path=ppt/notesSlides/_rels/notesSlide7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8.xml"/>
		</Relationships>
</file>

<file path=ppt/notesSlides/_rels/notesSlide7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9.xml"/>
		</Relationships>
</file>

<file path=ppt/notesSlides/_rels/notesSlide8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0.xml"/>
		</Relationships>
</file>

<file path=ppt/notesSlides/_rels/notesSlide8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1.xml"/>
		</Relationships>
</file>

<file path=ppt/notesSlides/_rels/notesSlide8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2.xml"/>
		</Relationships>
</file>

<file path=ppt/notesSlides/_rels/notesSlide8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3.xml"/>
		</Relationships>
</file>

<file path=ppt/notesSlides/_rels/notesSlide8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4.xml"/>
		</Relationships>
</file>

<file path=ppt/notesSlides/_rels/notesSlide8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5.xml"/>
		</Relationships>
</file>

<file path=ppt/notesSlides/_rels/notesSlide8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6.xml"/>
		</Relationships>
</file>

<file path=ppt/notesSlides/_rels/notesSlide8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7.xml"/>
		</Relationships>
</file>

<file path=ppt/notesSlides/_rels/notesSlide8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8.xml"/>
		</Relationships>
</file>

<file path=ppt/notesSlides/_rels/notesSlide8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9.xml"/>
		</Relationships>
</file>

<file path=ppt/notesSlides/_rels/notesSlide9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0.xml"/>
		</Relationships>
</file>

<file path=ppt/notesSlides/_rels/notesSlide9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1.xml"/>
		</Relationships>
</file>

<file path=ppt/notesSlides/_rels/notesSlide9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2.xml"/>
		</Relationships>
</file>

<file path=ppt/notesSlides/_rels/notesSlide9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3.xml"/>
		</Relationships>
</file>

<file path=ppt/notesSlides/_rels/notesSlide9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4.xml"/>
		</Relationships>
</file>

<file path=ppt/notesSlides/_rels/notesSlide9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5.xml"/>
		</Relationships>
</file>

<file path=ppt/notesSlides/_rels/notesSlide9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6.xml"/>
		</Relationships>
</file>

<file path=ppt/notesSlides/_rels/notesSlide9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7.xml"/>
		</Relationships>
</file>

<file path=ppt/notesSlides/_rels/notesSlide9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8.xml"/>
		</Relationships>
</file>

<file path=ppt/notesSlides/_rels/notesSlide9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9.xml"/>
		</Relationships>
</file>

<file path=ppt/notesSlides/_rels/notesSlide10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0.xml"/>
		</Relationships>
</file>

<file path=ppt/notesSlides/_rels/notesSlide10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1.xml"/>
		</Relationships>
</file>

<file path=ppt/notesSlides/_rels/notesSlide10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2.xml"/>
		</Relationships>
</file>

<file path=ppt/notesSlides/_rels/notesSlide10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3.xml"/>
		</Relationships>
</file>

<file path=ppt/notesSlides/_rels/notesSlide10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4.xml"/>
		</Relationships>
</file>

<file path=ppt/notesSlides/_rels/notesSlide10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5.xml"/>
		</Relationships>
</file>

<file path=ppt/notesSlides/_rels/notesSlide10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6.xml"/>
		</Relationships>
</file>

<file path=ppt/notesSlides/_rels/notesSlide10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7.xml"/>
		</Relationships>
</file>

<file path=ppt/notesSlides/_rels/notesSlide10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8.xml"/>
		</Relationships>
</file>

<file path=ppt/notesSlides/_rels/notesSlide10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9.xml"/>
		</Relationships>
</file>

<file path=ppt/notesSlides/_rels/notesSlide1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0.xml"/>
		</Relationships>
</file>

<file path=ppt/notesSlides/_rels/notesSlide1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1.xml"/>
		</Relationships>
</file>

<file path=ppt/notesSlides/_rels/notesSlide1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2.xml"/>
		</Relationships>
</file>

<file path=ppt/notesSlides/_rels/notesSlide1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3.xml"/>
		</Relationships>
</file>

<file path=ppt/notesSlides/_rels/notesSlide1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4.xml"/>
		</Relationships>
</file>

<file path=ppt/notesSlides/_rels/notesSlide1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5.xml"/>
		</Relationships>
</file>

<file path=ppt/notesSlides/_rels/notesSlide1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6.xml"/>
		</Relationships>
</file>

<file path=ppt/notesSlides/_rels/notesSlide1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7.xml"/>
		</Relationships>
</file>

<file path=ppt/notesSlides/_rels/notesSlide1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8.xml"/>
		</Relationships>
</file>

<file path=ppt/notesSlides/_rels/notesSlide1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9.xml"/>
		</Relationships>
</file>

<file path=ppt/notesSlides/_rels/notesSlide1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0.xml"/>
		</Relationships>
</file>

<file path=ppt/notesSlides/_rels/notesSlide1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1.xml"/>
		</Relationships>
</file>

<file path=ppt/notesSlides/_rels/notesSlide1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2.xml"/>
		</Relationships>
</file>

<file path=ppt/notesSlides/_rels/notesSlide1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3.xml"/>
		</Relationships>
</file>

<file path=ppt/notesSlides/_rels/notesSlide1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4.xml"/>
		</Relationships>
</file>

<file path=ppt/notesSlides/_rels/notesSlide1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5.xml"/>
		</Relationships>
</file>

<file path=ppt/notesSlides/_rels/notesSlide1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6.xml"/>
		</Relationships>
</file>

<file path=ppt/notesSlides/_rels/notesSlide1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7.xml"/>
		</Relationships>
</file>

<file path=ppt/notesSlides/_rels/notesSlide1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8.xml"/>
		</Relationships>
</file>

<file path=ppt/notesSlides/_rels/notesSlide1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9.xml"/>
		</Relationships>
</file>

<file path=ppt/notesSlides/_rels/notesSlide1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0.xml"/>
		</Relationships>
</file>

<file path=ppt/notesSlides/_rels/notesSlide1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1.xml"/>
		</Relationships>
</file>

<file path=ppt/notesSlides/_rels/notesSlide1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on the next slide. Source: S16; SG U2-R10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on the next slide. Source: S9; S18; SG U2-R10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on the next slide. Source: S8; S12; S14; SG U2-R9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on the next slide. Source: S11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on the next slide. Source: S34; S35; SG U2-R11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on the next slide. Source: S34; S37; SG U2-R11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on the next slide. Source: S24; S26; S34; SG U2-R11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on the next slide. Source: S52; S53; SG U2-R13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on the next slide. Source: S43; S45; SG U2-R12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on the next slide. Source: S54; S55; S56; S58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on the next slide. Source: S52; S53; S61; SG U2-R13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on the next slide. Source: S47; S49; S51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on the next slide. Source: S69; S71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on the next slide. Source: S69; S71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on the next slide. Source: S69; S71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on the next slide. Source: S70; S71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on the next slide. Source: S70; S71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on the next slide. Source: S70; S71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on the next slide. Source: SG U2-S; S9; S11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on the next slide. Source: S47; S54; S59; S66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image" Target="../media/image-8-7.png"/><Relationship Id="rId8" Type="http://schemas.openxmlformats.org/officeDocument/2006/relationships/image" Target="../media/image-8-8.png"/><Relationship Id="rId9" Type="http://schemas.openxmlformats.org/officeDocument/2006/relationships/image" Target="../media/image-8-9.png"/><Relationship Id="rId10" Type="http://schemas.openxmlformats.org/officeDocument/2006/relationships/image" Target="../media/image-8-10.png"/><Relationship Id="rId11" Type="http://schemas.openxmlformats.org/officeDocument/2006/relationships/slideLayout" Target="../slideLayouts/slideLayout1.xml"/><Relationship Id="rId1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slideLayout" Target="../slideLayouts/slideLayout1.xml"/><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jp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slideLayout" Target="../slideLayouts/slideLayout1.xml"/><Relationship Id="rId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slideLayout" Target="../slideLayouts/slideLayout1.xml"/><Relationship Id="rId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image" Target="../media/image-30-2.png"/><Relationship Id="rId3" Type="http://schemas.openxmlformats.org/officeDocument/2006/relationships/image" Target="../media/image-30-3.png"/><Relationship Id="rId4" Type="http://schemas.openxmlformats.org/officeDocument/2006/relationships/slideLayout" Target="../slideLayouts/slideLayout1.xml"/><Relationship Id="rId5"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1.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1.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1.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1.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image" Target="../media/image-40-2.png"/><Relationship Id="rId3" Type="http://schemas.openxmlformats.org/officeDocument/2006/relationships/image" Target="../media/image-40-3.png"/><Relationship Id="rId4" Type="http://schemas.openxmlformats.org/officeDocument/2006/relationships/image" Target="../media/image-40-4.png"/><Relationship Id="rId5" Type="http://schemas.openxmlformats.org/officeDocument/2006/relationships/image" Target="../media/image-40-5.png"/><Relationship Id="rId6" Type="http://schemas.openxmlformats.org/officeDocument/2006/relationships/image" Target="../media/image-40-6.png"/><Relationship Id="rId7" Type="http://schemas.openxmlformats.org/officeDocument/2006/relationships/image" Target="../media/image-40-7.png"/><Relationship Id="rId8" Type="http://schemas.openxmlformats.org/officeDocument/2006/relationships/image" Target="../media/image-40-8.png"/><Relationship Id="rId9" Type="http://schemas.openxmlformats.org/officeDocument/2006/relationships/image" Target="../media/image-40-9.png"/><Relationship Id="rId10" Type="http://schemas.openxmlformats.org/officeDocument/2006/relationships/image" Target="../media/image-40-10.png"/><Relationship Id="rId11" Type="http://schemas.openxmlformats.org/officeDocument/2006/relationships/slideLayout" Target="../slideLayouts/slideLayout1.xml"/><Relationship Id="rId1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1.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1.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1.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1.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1.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1.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1.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1.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1.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image" Target="../media/image-50-2.png"/><Relationship Id="rId3" Type="http://schemas.openxmlformats.org/officeDocument/2006/relationships/slideLayout" Target="../slideLayouts/slideLayout1.xml"/><Relationship Id="rId4"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image" Target="../media/image-51-2.png"/><Relationship Id="rId3" Type="http://schemas.openxmlformats.org/officeDocument/2006/relationships/slideLayout" Target="../slideLayouts/slideLayout1.xml"/><Relationship Id="rId4"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slideLayout" Target="../slideLayouts/slideLayout1.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jpg"/><Relationship Id="rId2" Type="http://schemas.openxmlformats.org/officeDocument/2006/relationships/slideLayout" Target="../slideLayouts/slideLayout1.xml"/><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image" Target="../media/image-60-1.png"/><Relationship Id="rId2" Type="http://schemas.openxmlformats.org/officeDocument/2006/relationships/image" Target="../media/image-60-2.png"/><Relationship Id="rId3" Type="http://schemas.openxmlformats.org/officeDocument/2006/relationships/image" Target="../media/image-60-3.png"/><Relationship Id="rId4" Type="http://schemas.openxmlformats.org/officeDocument/2006/relationships/slideLayout" Target="../slideLayouts/slideLayout1.xml"/><Relationship Id="rId5"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image" Target="../media/image-61-1.png"/><Relationship Id="rId2" Type="http://schemas.openxmlformats.org/officeDocument/2006/relationships/slideLayout" Target="../slideLayouts/slideLayout1.xml"/><Relationship Id="rId3"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image" Target="../media/image-63-1.png"/><Relationship Id="rId2" Type="http://schemas.openxmlformats.org/officeDocument/2006/relationships/slideLayout" Target="../slideLayouts/slideLayout1.xml"/><Relationship Id="rId3"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image" Target="../media/image-65-1.png"/><Relationship Id="rId2" Type="http://schemas.openxmlformats.org/officeDocument/2006/relationships/slideLayout" Target="../slideLayouts/slideLayout1.xml"/><Relationship Id="rId3"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image" Target="../media/image-67-1.png"/><Relationship Id="rId2" Type="http://schemas.openxmlformats.org/officeDocument/2006/relationships/slideLayout" Target="../slideLayouts/slideLayout1.xml"/><Relationship Id="rId3"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image" Target="../media/image-68-1.png"/><Relationship Id="rId2" Type="http://schemas.openxmlformats.org/officeDocument/2006/relationships/image" Target="../media/image-68-2.png"/><Relationship Id="rId3" Type="http://schemas.openxmlformats.org/officeDocument/2006/relationships/image" Target="../media/image-68-3.png"/><Relationship Id="rId4" Type="http://schemas.openxmlformats.org/officeDocument/2006/relationships/image" Target="../media/image-68-4.png"/><Relationship Id="rId5" Type="http://schemas.openxmlformats.org/officeDocument/2006/relationships/image" Target="../media/image-68-5.png"/><Relationship Id="rId6" Type="http://schemas.openxmlformats.org/officeDocument/2006/relationships/image" Target="../media/image-68-6.png"/><Relationship Id="rId7" Type="http://schemas.openxmlformats.org/officeDocument/2006/relationships/image" Target="../media/image-68-7.png"/><Relationship Id="rId8" Type="http://schemas.openxmlformats.org/officeDocument/2006/relationships/image" Target="../media/image-68-8.png"/><Relationship Id="rId9" Type="http://schemas.openxmlformats.org/officeDocument/2006/relationships/image" Target="../media/image-68-9.png"/><Relationship Id="rId10" Type="http://schemas.openxmlformats.org/officeDocument/2006/relationships/image" Target="../media/image-68-10.png"/><Relationship Id="rId11" Type="http://schemas.openxmlformats.org/officeDocument/2006/relationships/slideLayout" Target="../slideLayouts/slideLayout1.xml"/><Relationship Id="rId1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image" Target="../media/image-69-1.png"/><Relationship Id="rId2" Type="http://schemas.openxmlformats.org/officeDocument/2006/relationships/slideLayout" Target="../slideLayouts/slideLayout1.xml"/><Relationship Id="rId3"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image" Target="../media/image-70-1.png"/><Relationship Id="rId2" Type="http://schemas.openxmlformats.org/officeDocument/2006/relationships/slideLayout" Target="../slideLayouts/slideLayout1.xml"/><Relationship Id="rId3"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image" Target="../media/image-71-1.png"/><Relationship Id="rId2" Type="http://schemas.openxmlformats.org/officeDocument/2006/relationships/slideLayout" Target="../slideLayouts/slideLayout1.xml"/><Relationship Id="rId3"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image" Target="../media/image-72-1.png"/><Relationship Id="rId2" Type="http://schemas.openxmlformats.org/officeDocument/2006/relationships/slideLayout" Target="../slideLayouts/slideLayout1.xml"/><Relationship Id="rId3"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image" Target="../media/image-73-1.png"/><Relationship Id="rId2" Type="http://schemas.openxmlformats.org/officeDocument/2006/relationships/slideLayout" Target="../slideLayouts/slideLayout1.xml"/><Relationship Id="rId3"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image" Target="../media/image-74-1.png"/><Relationship Id="rId2" Type="http://schemas.openxmlformats.org/officeDocument/2006/relationships/slideLayout" Target="../slideLayouts/slideLayout1.xml"/><Relationship Id="rId3"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image" Target="../media/image-75-1.png"/><Relationship Id="rId2" Type="http://schemas.openxmlformats.org/officeDocument/2006/relationships/slideLayout" Target="../slideLayouts/slideLayout1.xml"/><Relationship Id="rId3"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image" Target="../media/image-76-1.png"/><Relationship Id="rId2" Type="http://schemas.openxmlformats.org/officeDocument/2006/relationships/slideLayout" Target="../slideLayouts/slideLayout1.xml"/><Relationship Id="rId3"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image" Target="../media/image-77-1.png"/><Relationship Id="rId2" Type="http://schemas.openxmlformats.org/officeDocument/2006/relationships/slideLayout" Target="../slideLayouts/slideLayout1.xml"/><Relationship Id="rId3"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image" Target="../media/image-78-1.png"/><Relationship Id="rId2" Type="http://schemas.openxmlformats.org/officeDocument/2006/relationships/image" Target="../media/image-78-2.png"/><Relationship Id="rId3" Type="http://schemas.openxmlformats.org/officeDocument/2006/relationships/slideLayout" Target="../slideLayouts/slideLayout1.xml"/><Relationship Id="rId4"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image" Target="../media/image-79-1.png"/><Relationship Id="rId2" Type="http://schemas.openxmlformats.org/officeDocument/2006/relationships/slideLayout" Target="../slideLayouts/slideLayout1.xml"/><Relationship Id="rId3"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image" Target="../media/image-80-1.png"/><Relationship Id="rId2" Type="http://schemas.openxmlformats.org/officeDocument/2006/relationships/slideLayout" Target="../slideLayouts/slideLayout1.xml"/><Relationship Id="rId3"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image" Target="../media/image-81-1.png"/><Relationship Id="rId2" Type="http://schemas.openxmlformats.org/officeDocument/2006/relationships/slideLayout" Target="../slideLayouts/slideLayout1.xml"/><Relationship Id="rId3"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image" Target="../media/image-82-1.png"/><Relationship Id="rId2" Type="http://schemas.openxmlformats.org/officeDocument/2006/relationships/slideLayout" Target="../slideLayouts/slideLayout1.xml"/><Relationship Id="rId3"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image" Target="../media/image-83-1.jpg"/><Relationship Id="rId2" Type="http://schemas.openxmlformats.org/officeDocument/2006/relationships/slideLayout" Target="../slideLayouts/slideLayout1.xml"/><Relationship Id="rId3"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image" Target="../media/image-84-1.jpg"/><Relationship Id="rId2" Type="http://schemas.openxmlformats.org/officeDocument/2006/relationships/slideLayout" Target="../slideLayouts/slideLayout1.xml"/><Relationship Id="rId3"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image" Target="../media/image-85-1.jpg"/><Relationship Id="rId2" Type="http://schemas.openxmlformats.org/officeDocument/2006/relationships/slideLayout" Target="../slideLayouts/slideLayout1.xml"/><Relationship Id="rId3"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image" Target="../media/image-86-1.png"/><Relationship Id="rId2" Type="http://schemas.openxmlformats.org/officeDocument/2006/relationships/image" Target="../media/image-86-2.png"/><Relationship Id="rId3" Type="http://schemas.openxmlformats.org/officeDocument/2006/relationships/slideLayout" Target="../slideLayouts/slideLayout1.xml"/><Relationship Id="rId4"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image" Target="../media/image-94-1.png"/><Relationship Id="rId2" Type="http://schemas.openxmlformats.org/officeDocument/2006/relationships/image" Target="../media/image-94-2.png"/><Relationship Id="rId3" Type="http://schemas.openxmlformats.org/officeDocument/2006/relationships/image" Target="../media/image-94-3.png"/><Relationship Id="rId4" Type="http://schemas.openxmlformats.org/officeDocument/2006/relationships/slideLayout" Target="../slideLayouts/slideLayout1.xml"/><Relationship Id="rId5"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image" Target="../media/image-95-1.png"/><Relationship Id="rId2" Type="http://schemas.openxmlformats.org/officeDocument/2006/relationships/slideLayout" Target="../slideLayouts/slideLayout1.xml"/><Relationship Id="rId3"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image" Target="../media/image-97-1.png"/><Relationship Id="rId2" Type="http://schemas.openxmlformats.org/officeDocument/2006/relationships/slideLayout" Target="../slideLayouts/slideLayout1.xml"/><Relationship Id="rId3"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image" Target="../media/image-99-1.png"/><Relationship Id="rId2" Type="http://schemas.openxmlformats.org/officeDocument/2006/relationships/slideLayout" Target="../slideLayouts/slideLayout1.xml"/><Relationship Id="rId3"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Id1" Type="http://schemas.openxmlformats.org/officeDocument/2006/relationships/image" Target="../media/image-101-1.png"/><Relationship Id="rId2" Type="http://schemas.openxmlformats.org/officeDocument/2006/relationships/slideLayout" Target="../slideLayouts/slideLayout1.xml"/><Relationship Id="rId3"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2.xml"/></Relationships>
</file>

<file path=ppt/slides/_rels/slide103.xml.rels><?xml version="1.0" encoding="UTF-8" standalone="yes"?>
<Relationships xmlns="http://schemas.openxmlformats.org/package/2006/relationships"><Relationship Id="rId1" Type="http://schemas.openxmlformats.org/officeDocument/2006/relationships/image" Target="../media/image-103-1.png"/><Relationship Id="rId2" Type="http://schemas.openxmlformats.org/officeDocument/2006/relationships/slideLayout" Target="../slideLayouts/slideLayout1.xml"/><Relationship Id="rId3" Type="http://schemas.openxmlformats.org/officeDocument/2006/relationships/notesSlide" Target="../notesSlides/notesSlide103.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4.xml"/></Relationships>
</file>

<file path=ppt/slides/_rels/slide105.xml.rels><?xml version="1.0" encoding="UTF-8" standalone="yes"?>
<Relationships xmlns="http://schemas.openxmlformats.org/package/2006/relationships"><Relationship Id="rId1" Type="http://schemas.openxmlformats.org/officeDocument/2006/relationships/image" Target="../media/image-105-1.png"/><Relationship Id="rId2" Type="http://schemas.openxmlformats.org/officeDocument/2006/relationships/slideLayout" Target="../slideLayouts/slideLayout1.xml"/><Relationship Id="rId3" Type="http://schemas.openxmlformats.org/officeDocument/2006/relationships/notesSlide" Target="../notesSlides/notesSlide105.xml"/></Relationships>
</file>

<file path=ppt/slides/_rels/slide106.xml.rels><?xml version="1.0" encoding="UTF-8" standalone="yes"?>
<Relationships xmlns="http://schemas.openxmlformats.org/package/2006/relationships"><Relationship Id="rId1" Type="http://schemas.openxmlformats.org/officeDocument/2006/relationships/image" Target="../media/image-106-1.png"/><Relationship Id="rId2" Type="http://schemas.openxmlformats.org/officeDocument/2006/relationships/image" Target="../media/image-106-2.png"/><Relationship Id="rId3" Type="http://schemas.openxmlformats.org/officeDocument/2006/relationships/image" Target="../media/image-106-3.png"/><Relationship Id="rId4" Type="http://schemas.openxmlformats.org/officeDocument/2006/relationships/image" Target="../media/image-106-4.png"/><Relationship Id="rId5" Type="http://schemas.openxmlformats.org/officeDocument/2006/relationships/image" Target="../media/image-106-5.png"/><Relationship Id="rId6" Type="http://schemas.openxmlformats.org/officeDocument/2006/relationships/slideLayout" Target="../slideLayouts/slideLayout1.xml"/><Relationship Id="rId7" Type="http://schemas.openxmlformats.org/officeDocument/2006/relationships/notesSlide" Target="../notesSlides/notesSlide106.xml"/></Relationships>
</file>

<file path=ppt/slides/_rels/slide107.xml.rels><?xml version="1.0" encoding="UTF-8" standalone="yes"?>
<Relationships xmlns="http://schemas.openxmlformats.org/package/2006/relationships"><Relationship Id="rId1" Type="http://schemas.openxmlformats.org/officeDocument/2006/relationships/image" Target="../media/image-107-1.png"/><Relationship Id="rId2" Type="http://schemas.openxmlformats.org/officeDocument/2006/relationships/slideLayout" Target="../slideLayouts/slideLayout1.xml"/><Relationship Id="rId3" Type="http://schemas.openxmlformats.org/officeDocument/2006/relationships/notesSlide" Target="../notesSlides/notesSlide107.xml"/></Relationships>
</file>

<file path=ppt/slides/_rels/slide108.xml.rels><?xml version="1.0" encoding="UTF-8" standalone="yes"?>
<Relationships xmlns="http://schemas.openxmlformats.org/package/2006/relationships"><Relationship Id="rId1" Type="http://schemas.openxmlformats.org/officeDocument/2006/relationships/image" Target="../media/image-108-1.png"/><Relationship Id="rId2" Type="http://schemas.openxmlformats.org/officeDocument/2006/relationships/slideLayout" Target="../slideLayouts/slideLayout1.xml"/><Relationship Id="rId3" Type="http://schemas.openxmlformats.org/officeDocument/2006/relationships/notesSlide" Target="../notesSlides/notesSlide108.xml"/></Relationships>
</file>

<file path=ppt/slides/_rels/slide109.xml.rels><?xml version="1.0" encoding="UTF-8" standalone="yes"?>
<Relationships xmlns="http://schemas.openxmlformats.org/package/2006/relationships"><Relationship Id="rId1" Type="http://schemas.openxmlformats.org/officeDocument/2006/relationships/image" Target="../media/image-109-1.png"/><Relationship Id="rId2" Type="http://schemas.openxmlformats.org/officeDocument/2006/relationships/slideLayout" Target="../slideLayouts/slideLayout1.xml"/><Relationship Id="rId3" Type="http://schemas.openxmlformats.org/officeDocument/2006/relationships/notesSlide" Target="../notesSlides/notesSlide109.xml"/></Relationships>
</file>

<file path=ppt/slides/_rels/slide110.xml.rels><?xml version="1.0" encoding="UTF-8" standalone="yes"?>
<Relationships xmlns="http://schemas.openxmlformats.org/package/2006/relationships"><Relationship Id="rId1" Type="http://schemas.openxmlformats.org/officeDocument/2006/relationships/image" Target="../media/image-110-1.png"/><Relationship Id="rId2" Type="http://schemas.openxmlformats.org/officeDocument/2006/relationships/slideLayout" Target="../slideLayouts/slideLayout1.xml"/><Relationship Id="rId3" Type="http://schemas.openxmlformats.org/officeDocument/2006/relationships/notesSlide" Target="../notesSlides/notesSlide110.xml"/></Relationships>
</file>

<file path=ppt/slides/_rels/slide111.xml.rels><?xml version="1.0" encoding="UTF-8" standalone="yes"?>
<Relationships xmlns="http://schemas.openxmlformats.org/package/2006/relationships"><Relationship Id="rId1" Type="http://schemas.openxmlformats.org/officeDocument/2006/relationships/image" Target="../media/image-111-1.png"/><Relationship Id="rId2" Type="http://schemas.openxmlformats.org/officeDocument/2006/relationships/slideLayout" Target="../slideLayouts/slideLayout1.xml"/><Relationship Id="rId3" Type="http://schemas.openxmlformats.org/officeDocument/2006/relationships/notesSlide" Target="../notesSlides/notesSlide111.xml"/></Relationships>
</file>

<file path=ppt/slides/_rels/slide112.xml.rels><?xml version="1.0" encoding="UTF-8" standalone="yes"?>
<Relationships xmlns="http://schemas.openxmlformats.org/package/2006/relationships"><Relationship Id="rId1" Type="http://schemas.openxmlformats.org/officeDocument/2006/relationships/image" Target="../media/image-112-1.png"/><Relationship Id="rId2" Type="http://schemas.openxmlformats.org/officeDocument/2006/relationships/slideLayout" Target="../slideLayouts/slideLayout1.xml"/><Relationship Id="rId3" Type="http://schemas.openxmlformats.org/officeDocument/2006/relationships/notesSlide" Target="../notesSlides/notesSlide11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3.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4.xml"/></Relationships>
</file>

<file path=ppt/slides/_rels/slide115.xml.rels><?xml version="1.0" encoding="UTF-8" standalone="yes"?>
<Relationships xmlns="http://schemas.openxmlformats.org/package/2006/relationships"><Relationship Id="rId1" Type="http://schemas.openxmlformats.org/officeDocument/2006/relationships/image" Target="../media/image-115-1.png"/><Relationship Id="rId2" Type="http://schemas.openxmlformats.org/officeDocument/2006/relationships/slideLayout" Target="../slideLayouts/slideLayout1.xml"/><Relationship Id="rId3" Type="http://schemas.openxmlformats.org/officeDocument/2006/relationships/notesSlide" Target="../notesSlides/notesSlide115.xml"/></Relationships>
</file>

<file path=ppt/slides/_rels/slide116.xml.rels><?xml version="1.0" encoding="UTF-8" standalone="yes"?>
<Relationships xmlns="http://schemas.openxmlformats.org/package/2006/relationships"><Relationship Id="rId1" Type="http://schemas.openxmlformats.org/officeDocument/2006/relationships/image" Target="../media/image-116-1.png"/><Relationship Id="rId2" Type="http://schemas.openxmlformats.org/officeDocument/2006/relationships/slideLayout" Target="../slideLayouts/slideLayout1.xml"/><Relationship Id="rId3" Type="http://schemas.openxmlformats.org/officeDocument/2006/relationships/notesSlide" Target="../notesSlides/notesSlide116.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7.xml"/></Relationships>
</file>

<file path=ppt/slides/_rels/slide118.xml.rels><?xml version="1.0" encoding="UTF-8" standalone="yes"?>
<Relationships xmlns="http://schemas.openxmlformats.org/package/2006/relationships"><Relationship Id="rId1" Type="http://schemas.openxmlformats.org/officeDocument/2006/relationships/image" Target="../media/image-118-1.png"/><Relationship Id="rId2" Type="http://schemas.openxmlformats.org/officeDocument/2006/relationships/slideLayout" Target="../slideLayouts/slideLayout1.xml"/><Relationship Id="rId3" Type="http://schemas.openxmlformats.org/officeDocument/2006/relationships/notesSlide" Target="../notesSlides/notesSlide118.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9.xml"/></Relationships>
</file>

<file path=ppt/slides/_rels/slide120.xml.rels><?xml version="1.0" encoding="UTF-8" standalone="yes"?>
<Relationships xmlns="http://schemas.openxmlformats.org/package/2006/relationships"><Relationship Id="rId1" Type="http://schemas.openxmlformats.org/officeDocument/2006/relationships/image" Target="../media/image-120-1.png"/><Relationship Id="rId2" Type="http://schemas.openxmlformats.org/officeDocument/2006/relationships/slideLayout" Target="../slideLayouts/slideLayout1.xml"/><Relationship Id="rId3" Type="http://schemas.openxmlformats.org/officeDocument/2006/relationships/notesSlide" Target="../notesSlides/notesSlide120.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1.xml"/></Relationships>
</file>

<file path=ppt/slides/_rels/slide122.xml.rels><?xml version="1.0" encoding="UTF-8" standalone="yes"?>
<Relationships xmlns="http://schemas.openxmlformats.org/package/2006/relationships"><Relationship Id="rId1" Type="http://schemas.openxmlformats.org/officeDocument/2006/relationships/image" Target="../media/image-122-1.png"/><Relationship Id="rId2" Type="http://schemas.openxmlformats.org/officeDocument/2006/relationships/slideLayout" Target="../slideLayouts/slideLayout1.xml"/><Relationship Id="rId3" Type="http://schemas.openxmlformats.org/officeDocument/2006/relationships/notesSlide" Target="../notesSlides/notesSlide12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3.xml"/></Relationships>
</file>

<file path=ppt/slides/_rels/slide124.xml.rels><?xml version="1.0" encoding="UTF-8" standalone="yes"?>
<Relationships xmlns="http://schemas.openxmlformats.org/package/2006/relationships"><Relationship Id="rId1" Type="http://schemas.openxmlformats.org/officeDocument/2006/relationships/image" Target="../media/image-124-1.png"/><Relationship Id="rId2" Type="http://schemas.openxmlformats.org/officeDocument/2006/relationships/slideLayout" Target="../slideLayouts/slideLayout1.xml"/><Relationship Id="rId3" Type="http://schemas.openxmlformats.org/officeDocument/2006/relationships/notesSlide" Target="../notesSlides/notesSlide124.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5.xml"/></Relationships>
</file>

<file path=ppt/slides/_rels/slide126.xml.rels><?xml version="1.0" encoding="UTF-8" standalone="yes"?>
<Relationships xmlns="http://schemas.openxmlformats.org/package/2006/relationships"><Relationship Id="rId1" Type="http://schemas.openxmlformats.org/officeDocument/2006/relationships/image" Target="../media/image-126-1.png"/><Relationship Id="rId2" Type="http://schemas.openxmlformats.org/officeDocument/2006/relationships/slideLayout" Target="../slideLayouts/slideLayout1.xml"/><Relationship Id="rId3" Type="http://schemas.openxmlformats.org/officeDocument/2006/relationships/notesSlide" Target="../notesSlides/notesSlide126.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7.xml"/></Relationships>
</file>

<file path=ppt/slides/_rels/slide128.xml.rels><?xml version="1.0" encoding="UTF-8" standalone="yes"?>
<Relationships xmlns="http://schemas.openxmlformats.org/package/2006/relationships"><Relationship Id="rId1" Type="http://schemas.openxmlformats.org/officeDocument/2006/relationships/image" Target="../media/image-128-1.png"/><Relationship Id="rId2" Type="http://schemas.openxmlformats.org/officeDocument/2006/relationships/slideLayout" Target="../slideLayouts/slideLayout1.xml"/><Relationship Id="rId3" Type="http://schemas.openxmlformats.org/officeDocument/2006/relationships/notesSlide" Target="../notesSlides/notesSlide128.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9.xml"/></Relationships>
</file>

<file path=ppt/slides/_rels/slide130.xml.rels><?xml version="1.0" encoding="UTF-8" standalone="yes"?>
<Relationships xmlns="http://schemas.openxmlformats.org/package/2006/relationships"><Relationship Id="rId1" Type="http://schemas.openxmlformats.org/officeDocument/2006/relationships/image" Target="../media/image-130-1.png"/><Relationship Id="rId2" Type="http://schemas.openxmlformats.org/officeDocument/2006/relationships/slideLayout" Target="../slideLayouts/slideLayout1.xml"/><Relationship Id="rId3" Type="http://schemas.openxmlformats.org/officeDocument/2006/relationships/notesSlide" Target="../notesSlides/notesSlide130.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1.xml"/></Relationships>
</file>

<file path=ppt/slides/_rels/slide132.xml.rels><?xml version="1.0" encoding="UTF-8" standalone="yes"?>
<Relationships xmlns="http://schemas.openxmlformats.org/package/2006/relationships"><Relationship Id="rId1" Type="http://schemas.openxmlformats.org/officeDocument/2006/relationships/image" Target="../media/image-132-1.png"/><Relationship Id="rId2" Type="http://schemas.openxmlformats.org/officeDocument/2006/relationships/slideLayout" Target="../slideLayouts/slideLayout1.xml"/><Relationship Id="rId3" Type="http://schemas.openxmlformats.org/officeDocument/2006/relationships/notesSlide" Target="../notesSlides/notesSlide13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1371600"/>
            <a:ext cx="9144000" cy="365760"/>
          </a:xfrm>
          <a:prstGeom prst="rect">
            <a:avLst/>
          </a:prstGeom>
          <a:noFill/>
          <a:ln/>
        </p:spPr>
        <p:txBody>
          <a:bodyPr wrap="square" lIns="0" tIns="0" rIns="0" bIns="0" rtlCol="0" anchor="ctr"/>
          <a:lstStyle/>
          <a:p>
            <a:pPr indent="0" marL="0">
              <a:buNone/>
            </a:pPr>
            <a:r>
              <a:rPr lang="en-US" sz="1600" b="1" dirty="0">
                <a:solidFill>
                  <a:srgbClr val="4472C4"/>
                </a:solidFill>
              </a:rPr>
              <a:t>L04 · Thu, Oct 29, 2026</a:t>
            </a:r>
            <a:endParaRPr lang="en-US" sz="1600" dirty="0"/>
          </a:p>
        </p:txBody>
      </p:sp>
      <p:sp>
        <p:nvSpPr>
          <p:cNvPr id="3" name="Title"/>
          <p:cNvSpPr txBox="1"/>
          <p:nvPr/>
        </p:nvSpPr>
        <p:spPr>
          <a:xfrm>
            <a:off x="548640" y="1783080"/>
            <a:ext cx="11094415" cy="1280160"/>
          </a:xfrm>
          <a:prstGeom prst="rect">
            <a:avLst/>
          </a:prstGeom>
          <a:noFill/>
          <a:ln/>
        </p:spPr>
        <p:txBody>
          <a:bodyPr wrap="square" lIns="0" tIns="0" rIns="0" bIns="0" rtlCol="0" anchor="t"/>
          <a:lstStyle/>
          <a:p>
            <a:pPr indent="0" marL="0">
              <a:buNone/>
            </a:pPr>
            <a:r>
              <a:rPr lang="en-US" sz="4400" b="1" dirty="0">
                <a:solidFill>
                  <a:srgbClr val="1F1F1F"/>
                </a:solidFill>
                <a:latin typeface="Calibri" pitchFamily="34" charset="0"/>
                <a:ea typeface="Calibri" pitchFamily="34" charset="-122"/>
                <a:cs typeface="Calibri" pitchFamily="34" charset="-120"/>
              </a:rPr>
              <a:t>Musculoskeletal Pharmacology — Session 2</a:t>
            </a:r>
            <a:endParaRPr lang="en-US" sz="4400" dirty="0"/>
          </a:p>
        </p:txBody>
      </p:sp>
      <p:sp>
        <p:nvSpPr>
          <p:cNvPr id="4" name="Text 2"/>
          <p:cNvSpPr txBox="1"/>
          <p:nvPr/>
        </p:nvSpPr>
        <p:spPr>
          <a:xfrm>
            <a:off x="548640" y="3063240"/>
            <a:ext cx="9144000" cy="365760"/>
          </a:xfrm>
          <a:prstGeom prst="rect">
            <a:avLst/>
          </a:prstGeom>
          <a:noFill/>
          <a:ln/>
        </p:spPr>
        <p:txBody>
          <a:bodyPr wrap="square" lIns="0" tIns="0" rIns="0" bIns="0" rtlCol="0" anchor="ctr"/>
          <a:lstStyle/>
          <a:p>
            <a:pPr indent="0" marL="0">
              <a:buNone/>
            </a:pPr>
            <a:r>
              <a:rPr lang="en-US" sz="1800" dirty="0">
                <a:solidFill>
                  <a:srgbClr val="666666"/>
                </a:solidFill>
              </a:rPr>
              <a:t>Pharmacology study deck · organized by drug class</a:t>
            </a:r>
            <a:endParaRPr lang="en-US" sz="1800" dirty="0"/>
          </a:p>
        </p:txBody>
      </p:sp>
      <p:sp>
        <p:nvSpPr>
          <p:cNvPr id="5" name="Legend card"/>
          <p:cNvSpPr/>
          <p:nvPr/>
        </p:nvSpPr>
        <p:spPr>
          <a:xfrm>
            <a:off x="548640" y="3840480"/>
            <a:ext cx="11094415" cy="2103120"/>
          </a:xfrm>
          <a:prstGeom prst="roundRect">
            <a:avLst>
              <a:gd name="adj" fmla="val 5217"/>
            </a:avLst>
          </a:prstGeom>
          <a:solidFill>
            <a:srgbClr val="F2F4F7"/>
          </a:solidFill>
          <a:ln w="12700">
            <a:solidFill>
              <a:srgbClr val="F2F4F7"/>
            </a:solidFill>
            <a:prstDash val="solid"/>
          </a:ln>
        </p:spPr>
      </p:sp>
      <p:sp>
        <p:nvSpPr>
          <p:cNvPr id="6" name="Text 4"/>
          <p:cNvSpPr txBox="1"/>
          <p:nvPr/>
        </p:nvSpPr>
        <p:spPr>
          <a:xfrm>
            <a:off x="822960" y="4023360"/>
            <a:ext cx="5486400" cy="365760"/>
          </a:xfrm>
          <a:prstGeom prst="rect">
            <a:avLst/>
          </a:prstGeom>
          <a:noFill/>
          <a:ln/>
        </p:spPr>
        <p:txBody>
          <a:bodyPr wrap="square" lIns="0" tIns="0" rIns="0" bIns="0" rtlCol="0" anchor="ctr"/>
          <a:lstStyle/>
          <a:p>
            <a:pPr indent="0" marL="0">
              <a:buNone/>
            </a:pPr>
            <a:r>
              <a:rPr lang="en-US" sz="1600" b="1" dirty="0">
                <a:solidFill>
                  <a:srgbClr val="1F1F1F"/>
                </a:solidFill>
              </a:rPr>
              <a:t>How to read this deck</a:t>
            </a:r>
            <a:endParaRPr lang="en-US" sz="1600" dirty="0"/>
          </a:p>
        </p:txBody>
      </p:sp>
      <p:sp>
        <p:nvSpPr>
          <p:cNvPr id="7" name="Legend"/>
          <p:cNvSpPr txBox="1"/>
          <p:nvPr/>
        </p:nvSpPr>
        <p:spPr>
          <a:xfrm>
            <a:off x="822960" y="4389120"/>
            <a:ext cx="10545775" cy="1463040"/>
          </a:xfrm>
          <a:prstGeom prst="rect">
            <a:avLst/>
          </a:prstGeom>
          <a:noFill/>
          <a:ln/>
        </p:spPr>
        <p:txBody>
          <a:bodyPr wrap="square" lIns="0" tIns="0" rIns="0" bIns="0" rtlCol="0" anchor="t"/>
          <a:lstStyle/>
          <a:p>
            <a:pPr indent="0" marL="0">
              <a:spcAft>
                <a:spcPts val="400"/>
              </a:spcAft>
              <a:buNone/>
            </a:pPr>
            <a:r>
              <a:rPr lang="en-US" sz="1400" b="1" dirty="0">
                <a:solidFill>
                  <a:srgbClr val="000000"/>
                </a:solidFill>
                <a:highlight>
                  <a:srgbClr val="FFC000"/>
                </a:highlight>
              </a:rPr>
              <a:t> TB </a:t>
            </a:r>
            <a:r>
              <a:rPr lang="en-US" sz="1400" dirty="0">
                <a:solidFill>
                  <a:srgbClr val="1F1F1F"/>
                </a:solidFill>
              </a:rPr>
              <a:t>  = textbook only (not on the lecture slides)</a:t>
            </a:r>
            <a:endParaRPr lang="en-US" sz="1400" dirty="0"/>
          </a:p>
          <a:p>
            <a:pPr indent="0" marL="0">
              <a:spcAft>
                <a:spcPts val="400"/>
              </a:spcAft>
              <a:buNone/>
            </a:pPr>
            <a:r>
              <a:rPr lang="en-US" sz="1400" b="1" dirty="0">
                <a:solidFill>
                  <a:srgbClr val="000000"/>
                </a:solidFill>
                <a:highlight>
                  <a:srgbClr val="9FE0D8"/>
                </a:highlight>
              </a:rPr>
              <a:t> SG </a:t>
            </a:r>
            <a:r>
              <a:rPr lang="en-US" sz="1400" dirty="0">
                <a:solidFill>
                  <a:srgbClr val="1F1F1F"/>
                </a:solidFill>
              </a:rPr>
              <a:t>  = course study guide only (not on the lecture slides)</a:t>
            </a:r>
            <a:endParaRPr lang="en-US" sz="1400" dirty="0"/>
          </a:p>
          <a:p>
            <a:pPr indent="0" marL="0">
              <a:spcAft>
                <a:spcPts val="400"/>
              </a:spcAft>
              <a:buNone/>
            </a:pPr>
            <a:r>
              <a:rPr lang="en-US" sz="1400" b="1" dirty="0">
                <a:solidFill>
                  <a:srgbClr val="1F1F1F"/>
                </a:solidFill>
              </a:rPr>
              <a:t>Bold</a:t>
            </a:r>
            <a:r>
              <a:rPr lang="en-US" sz="1400" dirty="0">
                <a:solidFill>
                  <a:srgbClr val="1F1F1F"/>
                </a:solidFill>
              </a:rPr>
              <a:t> = emphasized on the lecture slides</a:t>
            </a:r>
            <a:endParaRPr lang="en-US" sz="1400" dirty="0"/>
          </a:p>
          <a:p>
            <a:pPr indent="0" marL="0">
              <a:spcAft>
                <a:spcPts val="400"/>
              </a:spcAft>
              <a:buNone/>
            </a:pPr>
            <a:r>
              <a:rPr lang="en-US" sz="1400" dirty="0">
                <a:solidFill>
                  <a:srgbClr val="666666"/>
                </a:solidFill>
              </a:rPr>
              <a:t>S12</a:t>
            </a:r>
            <a:r>
              <a:rPr lang="en-US" sz="1400" dirty="0">
                <a:solidFill>
                  <a:srgbClr val="1F1F1F"/>
                </a:solidFill>
              </a:rPr>
              <a:t> = lecture slide 12   ·   </a:t>
            </a:r>
            <a:r>
              <a:rPr lang="en-US" sz="1400" dirty="0">
                <a:solidFill>
                  <a:srgbClr val="666666"/>
                </a:solidFill>
              </a:rPr>
              <a:t>p. 245</a:t>
            </a:r>
            <a:r>
              <a:rPr lang="en-US" sz="1400" dirty="0">
                <a:solidFill>
                  <a:srgbClr val="1F1F1F"/>
                </a:solidFill>
              </a:rPr>
              <a:t> = textbook page 245   ·   </a:t>
            </a:r>
            <a:r>
              <a:rPr lang="en-US" sz="1400" dirty="0">
                <a:solidFill>
                  <a:srgbClr val="666666"/>
                </a:solidFill>
              </a:rPr>
              <a:t>SG U1-R3</a:t>
            </a:r>
            <a:r>
              <a:rPr lang="en-US" sz="1400" dirty="0">
                <a:solidFill>
                  <a:srgbClr val="1F1F1F"/>
                </a:solidFill>
              </a:rPr>
              <a:t> = study guide item</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Kicker"/>
          <p:cNvSpPr txBox="1"/>
          <p:nvPr/>
        </p:nvSpPr>
        <p:spPr>
          <a:xfrm>
            <a:off x="548640" y="292608"/>
            <a:ext cx="11094415" cy="274320"/>
          </a:xfrm>
          <a:prstGeom prst="rect">
            <a:avLst/>
          </a:prstGeom>
          <a:noFill/>
          <a:ln/>
        </p:spPr>
        <p:txBody>
          <a:bodyPr wrap="square" lIns="0" tIns="0" rIns="0" bIns="0" rtlCol="0" anchor="ctr"/>
          <a:lstStyle/>
          <a:p>
            <a:pPr indent="0" marL="0">
              <a:buNone/>
            </a:pPr>
            <a:r>
              <a:rPr lang="en-US" sz="1200" b="1" spc="100" kern="0" dirty="0">
                <a:solidFill>
                  <a:srgbClr val="4472C4"/>
                </a:solidFill>
              </a:rPr>
              <a:t>START HERE</a:t>
            </a:r>
            <a:endParaRPr lang="en-US" sz="1200" dirty="0"/>
          </a:p>
        </p:txBody>
      </p:sp>
      <p:sp>
        <p:nvSpPr>
          <p:cNvPr id="3" name="Title"/>
          <p:cNvSpPr txBox="1"/>
          <p:nvPr/>
        </p:nvSpPr>
        <p:spPr>
          <a:xfrm>
            <a:off x="548640" y="566928"/>
            <a:ext cx="11094415" cy="713232"/>
          </a:xfrm>
          <a:prstGeom prst="rect">
            <a:avLst/>
          </a:prstGeom>
          <a:noFill/>
          <a:ln/>
        </p:spPr>
        <p:txBody>
          <a:bodyPr wrap="square" lIns="0" tIns="0" rIns="0" bIns="0" rtlCol="0" anchor="t"/>
          <a:lstStyle/>
          <a:p>
            <a:pPr indent="0" marL="0">
              <a:buNone/>
            </a:pPr>
            <a:r>
              <a:rPr lang="en-US" sz="3000" b="1" dirty="0">
                <a:solidFill>
                  <a:srgbClr val="1F1F1F"/>
                </a:solidFill>
                <a:latin typeface="Calibri" pitchFamily="34" charset="0"/>
                <a:ea typeface="Calibri" pitchFamily="34" charset="-122"/>
                <a:cs typeface="Calibri" pitchFamily="34" charset="-120"/>
              </a:rPr>
              <a:t>Learning objectives</a:t>
            </a:r>
            <a:endParaRPr lang="en-US" sz="3000" dirty="0"/>
          </a:p>
        </p:txBody>
      </p:sp>
      <p:sp>
        <p:nvSpPr>
          <p:cNvPr id="4" name="Footer"/>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1000" dirty="0">
                <a:solidFill>
                  <a:srgbClr val="666666"/>
                </a:solidFill>
              </a:rPr>
              <a:t>L04 · Musculoskeletal Pharmacology — Session 2</a:t>
            </a:r>
            <a:endParaRPr lang="en-US" sz="1000" dirty="0"/>
          </a:p>
        </p:txBody>
      </p:sp>
      <p:sp>
        <p:nvSpPr>
          <p:cNvPr id="5" name="Slide number"/>
          <p:cNvSpPr txBox="1"/>
          <p:nvPr/>
        </p:nvSpPr>
        <p:spPr>
          <a:xfrm>
            <a:off x="10728655" y="6419088"/>
            <a:ext cx="914400" cy="274320"/>
          </a:xfrm>
          <a:prstGeom prst="rect">
            <a:avLst/>
          </a:prstGeom>
          <a:noFill/>
          <a:ln/>
        </p:spPr>
        <p:txBody>
          <a:bodyPr wrap="square" lIns="0" tIns="0" rIns="0" bIns="0" rtlCol="0" anchor="ctr"/>
          <a:lstStyle/>
          <a:p>
            <a:pPr algn="r" indent="0" marL="0">
              <a:buNone/>
            </a:pPr>
            <a:r>
              <a:rPr lang="en-US" sz="1000" dirty="0">
                <a:solidFill>
                  <a:srgbClr val="666666"/>
                </a:solidFill>
              </a:rPr>
              <a:t>2</a:t>
            </a:r>
            <a:endParaRPr lang="en-US" sz="1000" dirty="0"/>
          </a:p>
        </p:txBody>
      </p:sp>
      <p:sp>
        <p:nvSpPr>
          <p:cNvPr id="6" name="Objective IO2.1"/>
          <p:cNvSpPr/>
          <p:nvPr/>
        </p:nvSpPr>
        <p:spPr>
          <a:xfrm>
            <a:off x="548640" y="1325880"/>
            <a:ext cx="11094415" cy="770128"/>
          </a:xfrm>
          <a:prstGeom prst="roundRect">
            <a:avLst>
              <a:gd name="adj" fmla="val 11873"/>
            </a:avLst>
          </a:prstGeom>
          <a:solidFill>
            <a:srgbClr val="F2F4F7"/>
          </a:solidFill>
          <a:ln w="12700">
            <a:solidFill>
              <a:srgbClr val="F2F4F7"/>
            </a:solidFill>
            <a:prstDash val="solid"/>
          </a:ln>
        </p:spPr>
      </p:sp>
      <p:sp>
        <p:nvSpPr>
          <p:cNvPr id="7" name="Text 5"/>
          <p:cNvSpPr txBox="1"/>
          <p:nvPr/>
        </p:nvSpPr>
        <p:spPr>
          <a:xfrm>
            <a:off x="731520" y="1325880"/>
            <a:ext cx="731520" cy="770128"/>
          </a:xfrm>
          <a:prstGeom prst="rect">
            <a:avLst/>
          </a:prstGeom>
          <a:noFill/>
          <a:ln/>
        </p:spPr>
        <p:txBody>
          <a:bodyPr wrap="square" lIns="0" tIns="0" rIns="0" bIns="0" rtlCol="0" anchor="ctr"/>
          <a:lstStyle/>
          <a:p>
            <a:pPr indent="0" marL="0">
              <a:buNone/>
            </a:pPr>
            <a:r>
              <a:rPr lang="en-US" sz="1600" b="1" dirty="0">
                <a:solidFill>
                  <a:srgbClr val="4472C4"/>
                </a:solidFill>
              </a:rPr>
              <a:t>IO2.1</a:t>
            </a:r>
            <a:endParaRPr lang="en-US" sz="1600" dirty="0"/>
          </a:p>
        </p:txBody>
      </p:sp>
      <p:sp>
        <p:nvSpPr>
          <p:cNvPr id="8" name="Text 6"/>
          <p:cNvSpPr txBox="1"/>
          <p:nvPr/>
        </p:nvSpPr>
        <p:spPr>
          <a:xfrm>
            <a:off x="1463040" y="1325880"/>
            <a:ext cx="6217920" cy="770128"/>
          </a:xfrm>
          <a:prstGeom prst="rect">
            <a:avLst/>
          </a:prstGeom>
          <a:noFill/>
          <a:ln/>
        </p:spPr>
        <p:txBody>
          <a:bodyPr wrap="square" lIns="0" tIns="0" rIns="0" bIns="0" rtlCol="0" anchor="ctr"/>
          <a:lstStyle/>
          <a:p>
            <a:pPr indent="0" marL="0">
              <a:buNone/>
            </a:pPr>
            <a:r>
              <a:rPr lang="en-US" sz="1600" dirty="0">
                <a:solidFill>
                  <a:srgbClr val="1F1F1F"/>
                </a:solidFill>
              </a:rPr>
              <a:t>Identify major pharmacologic classes used in the management of musculoskeletal conditions and describe their mechanisms of action.</a:t>
            </a:r>
            <a:endParaRPr lang="en-US" sz="1600" dirty="0"/>
          </a:p>
        </p:txBody>
      </p:sp>
      <p:sp>
        <p:nvSpPr>
          <p:cNvPr id="9" name="Text 7"/>
          <p:cNvSpPr txBox="1"/>
          <p:nvPr/>
        </p:nvSpPr>
        <p:spPr>
          <a:xfrm>
            <a:off x="7863840" y="1325880"/>
            <a:ext cx="3596335" cy="770128"/>
          </a:xfrm>
          <a:prstGeom prst="rect">
            <a:avLst/>
          </a:prstGeom>
          <a:noFill/>
          <a:ln/>
        </p:spPr>
        <p:txBody>
          <a:bodyPr wrap="square" lIns="0" tIns="0" rIns="0" bIns="0" rtlCol="0" anchor="ctr"/>
          <a:lstStyle/>
          <a:p>
            <a:pPr indent="0" marL="0">
              <a:buNone/>
            </a:pPr>
            <a:r>
              <a:rPr lang="en-US" sz="1200" dirty="0">
                <a:solidFill>
                  <a:srgbClr val="666666"/>
                </a:solidFill>
              </a:rPr>
              <a:t>Gout: Acute Flares &amp; Urate-Lowering Therapy, Skeletal Muscle Relaxants, Bone Pharmacology &amp; Osteoporosis</a:t>
            </a:r>
            <a:endParaRPr lang="en-US" sz="1200" dirty="0"/>
          </a:p>
        </p:txBody>
      </p:sp>
      <p:sp>
        <p:nvSpPr>
          <p:cNvPr id="10" name="Objective IO2.2"/>
          <p:cNvSpPr/>
          <p:nvPr/>
        </p:nvSpPr>
        <p:spPr>
          <a:xfrm>
            <a:off x="548640" y="2205736"/>
            <a:ext cx="11094415" cy="1018032"/>
          </a:xfrm>
          <a:prstGeom prst="roundRect">
            <a:avLst>
              <a:gd name="adj" fmla="val 8982"/>
            </a:avLst>
          </a:prstGeom>
          <a:solidFill>
            <a:srgbClr val="F2F4F7"/>
          </a:solidFill>
          <a:ln w="12700">
            <a:solidFill>
              <a:srgbClr val="F2F4F7"/>
            </a:solidFill>
            <a:prstDash val="solid"/>
          </a:ln>
        </p:spPr>
      </p:sp>
      <p:sp>
        <p:nvSpPr>
          <p:cNvPr id="11" name="Text 9"/>
          <p:cNvSpPr txBox="1"/>
          <p:nvPr/>
        </p:nvSpPr>
        <p:spPr>
          <a:xfrm>
            <a:off x="731520" y="2205736"/>
            <a:ext cx="731520" cy="1018032"/>
          </a:xfrm>
          <a:prstGeom prst="rect">
            <a:avLst/>
          </a:prstGeom>
          <a:noFill/>
          <a:ln/>
        </p:spPr>
        <p:txBody>
          <a:bodyPr wrap="square" lIns="0" tIns="0" rIns="0" bIns="0" rtlCol="0" anchor="ctr"/>
          <a:lstStyle/>
          <a:p>
            <a:pPr indent="0" marL="0">
              <a:buNone/>
            </a:pPr>
            <a:r>
              <a:rPr lang="en-US" sz="1600" b="1" dirty="0">
                <a:solidFill>
                  <a:srgbClr val="4472C4"/>
                </a:solidFill>
              </a:rPr>
              <a:t>IO2.2</a:t>
            </a:r>
            <a:endParaRPr lang="en-US" sz="1600" dirty="0"/>
          </a:p>
        </p:txBody>
      </p:sp>
      <p:sp>
        <p:nvSpPr>
          <p:cNvPr id="12" name="Text 10"/>
          <p:cNvSpPr txBox="1"/>
          <p:nvPr/>
        </p:nvSpPr>
        <p:spPr>
          <a:xfrm>
            <a:off x="1463040" y="2205736"/>
            <a:ext cx="6217920" cy="1018032"/>
          </a:xfrm>
          <a:prstGeom prst="rect">
            <a:avLst/>
          </a:prstGeom>
          <a:noFill/>
          <a:ln/>
        </p:spPr>
        <p:txBody>
          <a:bodyPr wrap="square" lIns="0" tIns="0" rIns="0" bIns="0" rtlCol="0" anchor="ctr"/>
          <a:lstStyle/>
          <a:p>
            <a:pPr indent="0" marL="0">
              <a:buNone/>
            </a:pPr>
            <a:r>
              <a:rPr lang="en-US" sz="1600" dirty="0">
                <a:solidFill>
                  <a:srgbClr val="1F1F1F"/>
                </a:solidFill>
              </a:rPr>
              <a:t>Describe the indications, contraindications, adverse effects, and clinically significant interactions associated with medications used to treat musculoskeletal conditions.</a:t>
            </a:r>
            <a:endParaRPr lang="en-US" sz="1600" dirty="0"/>
          </a:p>
        </p:txBody>
      </p:sp>
      <p:sp>
        <p:nvSpPr>
          <p:cNvPr id="13" name="Text 11"/>
          <p:cNvSpPr txBox="1"/>
          <p:nvPr/>
        </p:nvSpPr>
        <p:spPr>
          <a:xfrm>
            <a:off x="7863840" y="2205736"/>
            <a:ext cx="3596335" cy="1018032"/>
          </a:xfrm>
          <a:prstGeom prst="rect">
            <a:avLst/>
          </a:prstGeom>
          <a:noFill/>
          <a:ln/>
        </p:spPr>
        <p:txBody>
          <a:bodyPr wrap="square" lIns="0" tIns="0" rIns="0" bIns="0" rtlCol="0" anchor="ctr"/>
          <a:lstStyle/>
          <a:p>
            <a:pPr indent="0" marL="0">
              <a:buNone/>
            </a:pPr>
            <a:r>
              <a:rPr lang="en-US" sz="1200" dirty="0">
                <a:solidFill>
                  <a:srgbClr val="666666"/>
                </a:solidFill>
              </a:rPr>
              <a:t>Gout: Acute Flares &amp; Urate-Lowering Therapy, Skeletal Muscle Relaxants, Bone Pharmacology &amp; Osteoporosis</a:t>
            </a:r>
            <a:endParaRPr lang="en-US" sz="1200" dirty="0"/>
          </a:p>
        </p:txBody>
      </p:sp>
      <p:sp>
        <p:nvSpPr>
          <p:cNvPr id="14" name="Objective IO2.3"/>
          <p:cNvSpPr/>
          <p:nvPr/>
        </p:nvSpPr>
        <p:spPr>
          <a:xfrm>
            <a:off x="548640" y="3333496"/>
            <a:ext cx="11094415" cy="786384"/>
          </a:xfrm>
          <a:prstGeom prst="roundRect">
            <a:avLst>
              <a:gd name="adj" fmla="val 11628"/>
            </a:avLst>
          </a:prstGeom>
          <a:solidFill>
            <a:srgbClr val="F2F4F7"/>
          </a:solidFill>
          <a:ln w="12700">
            <a:solidFill>
              <a:srgbClr val="F2F4F7"/>
            </a:solidFill>
            <a:prstDash val="solid"/>
          </a:ln>
        </p:spPr>
      </p:sp>
      <p:sp>
        <p:nvSpPr>
          <p:cNvPr id="15" name="Text 13"/>
          <p:cNvSpPr txBox="1"/>
          <p:nvPr/>
        </p:nvSpPr>
        <p:spPr>
          <a:xfrm>
            <a:off x="731520" y="3333496"/>
            <a:ext cx="731520" cy="786384"/>
          </a:xfrm>
          <a:prstGeom prst="rect">
            <a:avLst/>
          </a:prstGeom>
          <a:noFill/>
          <a:ln/>
        </p:spPr>
        <p:txBody>
          <a:bodyPr wrap="square" lIns="0" tIns="0" rIns="0" bIns="0" rtlCol="0" anchor="ctr"/>
          <a:lstStyle/>
          <a:p>
            <a:pPr indent="0" marL="0">
              <a:buNone/>
            </a:pPr>
            <a:r>
              <a:rPr lang="en-US" sz="1600" b="1" dirty="0">
                <a:solidFill>
                  <a:srgbClr val="4472C4"/>
                </a:solidFill>
              </a:rPr>
              <a:t>IO2.3</a:t>
            </a:r>
            <a:endParaRPr lang="en-US" sz="1600" dirty="0"/>
          </a:p>
        </p:txBody>
      </p:sp>
      <p:sp>
        <p:nvSpPr>
          <p:cNvPr id="16" name="Text 14"/>
          <p:cNvSpPr txBox="1"/>
          <p:nvPr/>
        </p:nvSpPr>
        <p:spPr>
          <a:xfrm>
            <a:off x="1463040" y="3333496"/>
            <a:ext cx="6217920" cy="786384"/>
          </a:xfrm>
          <a:prstGeom prst="rect">
            <a:avLst/>
          </a:prstGeom>
          <a:noFill/>
          <a:ln/>
        </p:spPr>
        <p:txBody>
          <a:bodyPr wrap="square" lIns="0" tIns="0" rIns="0" bIns="0" rtlCol="0" anchor="ctr"/>
          <a:lstStyle/>
          <a:p>
            <a:pPr indent="0" marL="0">
              <a:buNone/>
            </a:pPr>
            <a:r>
              <a:rPr lang="en-US" sz="1600" dirty="0">
                <a:solidFill>
                  <a:srgbClr val="1F1F1F"/>
                </a:solidFill>
              </a:rPr>
              <a:t>Compare pharmacologic agents within and across therapeutic classes to distinguish clinically relevant differences in efficacy, safety, and use.</a:t>
            </a:r>
            <a:endParaRPr lang="en-US" sz="1600" dirty="0"/>
          </a:p>
        </p:txBody>
      </p:sp>
      <p:sp>
        <p:nvSpPr>
          <p:cNvPr id="17" name="Text 15"/>
          <p:cNvSpPr txBox="1"/>
          <p:nvPr/>
        </p:nvSpPr>
        <p:spPr>
          <a:xfrm>
            <a:off x="7863840" y="3333496"/>
            <a:ext cx="3596335" cy="786384"/>
          </a:xfrm>
          <a:prstGeom prst="rect">
            <a:avLst/>
          </a:prstGeom>
          <a:noFill/>
          <a:ln/>
        </p:spPr>
        <p:txBody>
          <a:bodyPr wrap="square" lIns="0" tIns="0" rIns="0" bIns="0" rtlCol="0" anchor="ctr"/>
          <a:lstStyle/>
          <a:p>
            <a:pPr indent="0" marL="0">
              <a:buNone/>
            </a:pPr>
            <a:r>
              <a:rPr lang="en-US" sz="1200" dirty="0">
                <a:solidFill>
                  <a:srgbClr val="666666"/>
                </a:solidFill>
              </a:rPr>
              <a:t>Gout: Acute Flares &amp; Urate-Lowering Therapy, Skeletal Muscle Relaxants, Bone Pharmacology &amp; Osteoporosis, Putting It All Together: Musculoskeletal Toolkit</a:t>
            </a:r>
            <a:endParaRPr lang="en-US" sz="1200" dirty="0"/>
          </a:p>
        </p:txBody>
      </p:sp>
      <p:sp>
        <p:nvSpPr>
          <p:cNvPr id="18" name="Objective IO2.4"/>
          <p:cNvSpPr/>
          <p:nvPr/>
        </p:nvSpPr>
        <p:spPr>
          <a:xfrm>
            <a:off x="548640" y="4229608"/>
            <a:ext cx="11094415" cy="786384"/>
          </a:xfrm>
          <a:prstGeom prst="roundRect">
            <a:avLst>
              <a:gd name="adj" fmla="val 11628"/>
            </a:avLst>
          </a:prstGeom>
          <a:solidFill>
            <a:srgbClr val="F2F4F7"/>
          </a:solidFill>
          <a:ln w="12700">
            <a:solidFill>
              <a:srgbClr val="F2F4F7"/>
            </a:solidFill>
            <a:prstDash val="solid"/>
          </a:ln>
        </p:spPr>
      </p:sp>
      <p:sp>
        <p:nvSpPr>
          <p:cNvPr id="19" name="Text 17"/>
          <p:cNvSpPr txBox="1"/>
          <p:nvPr/>
        </p:nvSpPr>
        <p:spPr>
          <a:xfrm>
            <a:off x="731520" y="4229608"/>
            <a:ext cx="731520" cy="786384"/>
          </a:xfrm>
          <a:prstGeom prst="rect">
            <a:avLst/>
          </a:prstGeom>
          <a:noFill/>
          <a:ln/>
        </p:spPr>
        <p:txBody>
          <a:bodyPr wrap="square" lIns="0" tIns="0" rIns="0" bIns="0" rtlCol="0" anchor="ctr"/>
          <a:lstStyle/>
          <a:p>
            <a:pPr indent="0" marL="0">
              <a:buNone/>
            </a:pPr>
            <a:r>
              <a:rPr lang="en-US" sz="1600" b="1" dirty="0">
                <a:solidFill>
                  <a:srgbClr val="4472C4"/>
                </a:solidFill>
              </a:rPr>
              <a:t>IO2.4</a:t>
            </a:r>
            <a:endParaRPr lang="en-US" sz="1600" dirty="0"/>
          </a:p>
        </p:txBody>
      </p:sp>
      <p:sp>
        <p:nvSpPr>
          <p:cNvPr id="20" name="Text 18"/>
          <p:cNvSpPr txBox="1"/>
          <p:nvPr/>
        </p:nvSpPr>
        <p:spPr>
          <a:xfrm>
            <a:off x="1463040" y="4229608"/>
            <a:ext cx="6217920" cy="786384"/>
          </a:xfrm>
          <a:prstGeom prst="rect">
            <a:avLst/>
          </a:prstGeom>
          <a:noFill/>
          <a:ln/>
        </p:spPr>
        <p:txBody>
          <a:bodyPr wrap="square" lIns="0" tIns="0" rIns="0" bIns="0" rtlCol="0" anchor="ctr"/>
          <a:lstStyle/>
          <a:p>
            <a:pPr indent="0" marL="0">
              <a:buNone/>
            </a:pPr>
            <a:r>
              <a:rPr lang="en-US" sz="1600" dirty="0">
                <a:solidFill>
                  <a:srgbClr val="1F1F1F"/>
                </a:solidFill>
              </a:rPr>
              <a:t>Select appropriate pharmacologic therapy for common musculoskeletal conditions based on clinical presentation and patient-specific factors.</a:t>
            </a:r>
            <a:endParaRPr lang="en-US" sz="1600" dirty="0"/>
          </a:p>
        </p:txBody>
      </p:sp>
      <p:sp>
        <p:nvSpPr>
          <p:cNvPr id="21" name="Text 19"/>
          <p:cNvSpPr txBox="1"/>
          <p:nvPr/>
        </p:nvSpPr>
        <p:spPr>
          <a:xfrm>
            <a:off x="7863840" y="4229608"/>
            <a:ext cx="3596335" cy="786384"/>
          </a:xfrm>
          <a:prstGeom prst="rect">
            <a:avLst/>
          </a:prstGeom>
          <a:noFill/>
          <a:ln/>
        </p:spPr>
        <p:txBody>
          <a:bodyPr wrap="square" lIns="0" tIns="0" rIns="0" bIns="0" rtlCol="0" anchor="ctr"/>
          <a:lstStyle/>
          <a:p>
            <a:pPr indent="0" marL="0">
              <a:buNone/>
            </a:pPr>
            <a:r>
              <a:rPr lang="en-US" sz="1200" dirty="0">
                <a:solidFill>
                  <a:srgbClr val="666666"/>
                </a:solidFill>
              </a:rPr>
              <a:t>Gout: Acute Flares &amp; Urate-Lowering Therapy, Bone Pharmacology &amp; Osteoporosis, Putting It All Together: Musculoskeletal Toolkit</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Kicker"/>
          <p:cNvSpPr txBox="1"/>
          <p:nvPr/>
        </p:nvSpPr>
        <p:spPr>
          <a:xfrm>
            <a:off x="548640" y="292608"/>
            <a:ext cx="11094415" cy="274320"/>
          </a:xfrm>
          <a:prstGeom prst="rect">
            <a:avLst/>
          </a:prstGeom>
          <a:noFill/>
          <a:ln/>
        </p:spPr>
        <p:txBody>
          <a:bodyPr wrap="square" lIns="0" tIns="0" rIns="0" bIns="0" rtlCol="0" anchor="ctr"/>
          <a:lstStyle/>
          <a:p>
            <a:pPr indent="0" marL="0">
              <a:buNone/>
            </a:pPr>
            <a:r>
              <a:rPr lang="en-US" sz="1200" b="1" spc="100" kern="0" dirty="0">
                <a:solidFill>
                  <a:srgbClr val="4472C4"/>
                </a:solidFill>
              </a:rPr>
              <a:t>START HERE</a:t>
            </a:r>
            <a:endParaRPr lang="en-US" sz="1200" dirty="0"/>
          </a:p>
        </p:txBody>
      </p:sp>
      <p:sp>
        <p:nvSpPr>
          <p:cNvPr id="3" name="Title"/>
          <p:cNvSpPr txBox="1"/>
          <p:nvPr/>
        </p:nvSpPr>
        <p:spPr>
          <a:xfrm>
            <a:off x="548640" y="566928"/>
            <a:ext cx="11094415" cy="713232"/>
          </a:xfrm>
          <a:prstGeom prst="rect">
            <a:avLst/>
          </a:prstGeom>
          <a:noFill/>
          <a:ln/>
        </p:spPr>
        <p:txBody>
          <a:bodyPr wrap="square" lIns="0" tIns="0" rIns="0" bIns="0" rtlCol="0" anchor="t"/>
          <a:lstStyle/>
          <a:p>
            <a:pPr indent="0" marL="0">
              <a:buNone/>
            </a:pPr>
            <a:r>
              <a:rPr lang="en-US" sz="3000" b="1" dirty="0">
                <a:solidFill>
                  <a:srgbClr val="1F1F1F"/>
                </a:solidFill>
                <a:latin typeface="Calibri" pitchFamily="34" charset="0"/>
                <a:ea typeface="Calibri" pitchFamily="34" charset="-122"/>
                <a:cs typeface="Calibri" pitchFamily="34" charset="-120"/>
              </a:rPr>
              <a:t>Learning objectives (cont.)</a:t>
            </a:r>
            <a:endParaRPr lang="en-US" sz="3000" dirty="0"/>
          </a:p>
        </p:txBody>
      </p:sp>
      <p:sp>
        <p:nvSpPr>
          <p:cNvPr id="4" name="Footer"/>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1000" dirty="0">
                <a:solidFill>
                  <a:srgbClr val="666666"/>
                </a:solidFill>
              </a:rPr>
              <a:t>L04 · Musculoskeletal Pharmacology — Session 2</a:t>
            </a:r>
            <a:endParaRPr lang="en-US" sz="1000" dirty="0"/>
          </a:p>
        </p:txBody>
      </p:sp>
      <p:sp>
        <p:nvSpPr>
          <p:cNvPr id="5" name="Slide number"/>
          <p:cNvSpPr txBox="1"/>
          <p:nvPr/>
        </p:nvSpPr>
        <p:spPr>
          <a:xfrm>
            <a:off x="10728655" y="6419088"/>
            <a:ext cx="914400" cy="274320"/>
          </a:xfrm>
          <a:prstGeom prst="rect">
            <a:avLst/>
          </a:prstGeom>
          <a:noFill/>
          <a:ln/>
        </p:spPr>
        <p:txBody>
          <a:bodyPr wrap="square" lIns="0" tIns="0" rIns="0" bIns="0" rtlCol="0" anchor="ctr"/>
          <a:lstStyle/>
          <a:p>
            <a:pPr algn="r" indent="0" marL="0">
              <a:buNone/>
            </a:pPr>
            <a:r>
              <a:rPr lang="en-US" sz="1000" dirty="0">
                <a:solidFill>
                  <a:srgbClr val="666666"/>
                </a:solidFill>
              </a:rPr>
              <a:t>3</a:t>
            </a:r>
            <a:endParaRPr lang="en-US" sz="1000" dirty="0"/>
          </a:p>
        </p:txBody>
      </p:sp>
      <p:sp>
        <p:nvSpPr>
          <p:cNvPr id="6" name="Objective IO2.5"/>
          <p:cNvSpPr/>
          <p:nvPr/>
        </p:nvSpPr>
        <p:spPr>
          <a:xfrm>
            <a:off x="548640" y="1325880"/>
            <a:ext cx="11094415" cy="770128"/>
          </a:xfrm>
          <a:prstGeom prst="roundRect">
            <a:avLst>
              <a:gd name="adj" fmla="val 11873"/>
            </a:avLst>
          </a:prstGeom>
          <a:solidFill>
            <a:srgbClr val="F2F4F7"/>
          </a:solidFill>
          <a:ln w="12700">
            <a:solidFill>
              <a:srgbClr val="F2F4F7"/>
            </a:solidFill>
            <a:prstDash val="solid"/>
          </a:ln>
        </p:spPr>
      </p:sp>
      <p:sp>
        <p:nvSpPr>
          <p:cNvPr id="7" name="Text 5"/>
          <p:cNvSpPr txBox="1"/>
          <p:nvPr/>
        </p:nvSpPr>
        <p:spPr>
          <a:xfrm>
            <a:off x="731520" y="1325880"/>
            <a:ext cx="731520" cy="770128"/>
          </a:xfrm>
          <a:prstGeom prst="rect">
            <a:avLst/>
          </a:prstGeom>
          <a:noFill/>
          <a:ln/>
        </p:spPr>
        <p:txBody>
          <a:bodyPr wrap="square" lIns="0" tIns="0" rIns="0" bIns="0" rtlCol="0" anchor="ctr"/>
          <a:lstStyle/>
          <a:p>
            <a:pPr indent="0" marL="0">
              <a:buNone/>
            </a:pPr>
            <a:r>
              <a:rPr lang="en-US" sz="1600" b="1" dirty="0">
                <a:solidFill>
                  <a:srgbClr val="4472C4"/>
                </a:solidFill>
              </a:rPr>
              <a:t>IO2.5</a:t>
            </a:r>
            <a:endParaRPr lang="en-US" sz="1600" dirty="0"/>
          </a:p>
        </p:txBody>
      </p:sp>
      <p:sp>
        <p:nvSpPr>
          <p:cNvPr id="8" name="Text 6"/>
          <p:cNvSpPr txBox="1"/>
          <p:nvPr/>
        </p:nvSpPr>
        <p:spPr>
          <a:xfrm>
            <a:off x="1463040" y="1325880"/>
            <a:ext cx="6217920" cy="770128"/>
          </a:xfrm>
          <a:prstGeom prst="rect">
            <a:avLst/>
          </a:prstGeom>
          <a:noFill/>
          <a:ln/>
        </p:spPr>
        <p:txBody>
          <a:bodyPr wrap="square" lIns="0" tIns="0" rIns="0" bIns="0" rtlCol="0" anchor="ctr"/>
          <a:lstStyle/>
          <a:p>
            <a:pPr indent="0" marL="0">
              <a:buNone/>
            </a:pPr>
            <a:r>
              <a:rPr lang="en-US" sz="1600" dirty="0">
                <a:solidFill>
                  <a:srgbClr val="1F1F1F"/>
                </a:solidFill>
              </a:rPr>
              <a:t>Identify appropriate dosing, administration, and monitoring considerations for medications used in musculoskeletal conditions.</a:t>
            </a:r>
            <a:endParaRPr lang="en-US" sz="1600" dirty="0"/>
          </a:p>
        </p:txBody>
      </p:sp>
      <p:sp>
        <p:nvSpPr>
          <p:cNvPr id="9" name="Text 7"/>
          <p:cNvSpPr txBox="1"/>
          <p:nvPr/>
        </p:nvSpPr>
        <p:spPr>
          <a:xfrm>
            <a:off x="7863840" y="1325880"/>
            <a:ext cx="3596335" cy="770128"/>
          </a:xfrm>
          <a:prstGeom prst="rect">
            <a:avLst/>
          </a:prstGeom>
          <a:noFill/>
          <a:ln/>
        </p:spPr>
        <p:txBody>
          <a:bodyPr wrap="square" lIns="0" tIns="0" rIns="0" bIns="0" rtlCol="0" anchor="ctr"/>
          <a:lstStyle/>
          <a:p>
            <a:pPr indent="0" marL="0">
              <a:buNone/>
            </a:pPr>
            <a:r>
              <a:rPr lang="en-US" sz="1200" dirty="0">
                <a:solidFill>
                  <a:srgbClr val="666666"/>
                </a:solidFill>
              </a:rPr>
              <a:t>Gout: Acute Flares &amp; Urate-Lowering Therapy, Skeletal Muscle Relaxants, Bone Pharmacology &amp; Osteoporosis</a:t>
            </a:r>
            <a:endParaRPr lang="en-US" sz="1200" dirty="0"/>
          </a:p>
        </p:txBody>
      </p:sp>
      <p:sp>
        <p:nvSpPr>
          <p:cNvPr id="10" name="Objective IO2.6"/>
          <p:cNvSpPr/>
          <p:nvPr/>
        </p:nvSpPr>
        <p:spPr>
          <a:xfrm>
            <a:off x="548640" y="2205736"/>
            <a:ext cx="11094415" cy="770128"/>
          </a:xfrm>
          <a:prstGeom prst="roundRect">
            <a:avLst>
              <a:gd name="adj" fmla="val 11873"/>
            </a:avLst>
          </a:prstGeom>
          <a:solidFill>
            <a:srgbClr val="F2F4F7"/>
          </a:solidFill>
          <a:ln w="12700">
            <a:solidFill>
              <a:srgbClr val="F2F4F7"/>
            </a:solidFill>
            <a:prstDash val="solid"/>
          </a:ln>
        </p:spPr>
      </p:sp>
      <p:sp>
        <p:nvSpPr>
          <p:cNvPr id="11" name="Text 9"/>
          <p:cNvSpPr txBox="1"/>
          <p:nvPr/>
        </p:nvSpPr>
        <p:spPr>
          <a:xfrm>
            <a:off x="731520" y="2205736"/>
            <a:ext cx="731520" cy="770128"/>
          </a:xfrm>
          <a:prstGeom prst="rect">
            <a:avLst/>
          </a:prstGeom>
          <a:noFill/>
          <a:ln/>
        </p:spPr>
        <p:txBody>
          <a:bodyPr wrap="square" lIns="0" tIns="0" rIns="0" bIns="0" rtlCol="0" anchor="ctr"/>
          <a:lstStyle/>
          <a:p>
            <a:pPr indent="0" marL="0">
              <a:buNone/>
            </a:pPr>
            <a:r>
              <a:rPr lang="en-US" sz="1600" b="1" dirty="0">
                <a:solidFill>
                  <a:srgbClr val="4472C4"/>
                </a:solidFill>
              </a:rPr>
              <a:t>IO2.6</a:t>
            </a:r>
            <a:endParaRPr lang="en-US" sz="1600" dirty="0"/>
          </a:p>
        </p:txBody>
      </p:sp>
      <p:sp>
        <p:nvSpPr>
          <p:cNvPr id="12" name="Text 10"/>
          <p:cNvSpPr txBox="1"/>
          <p:nvPr/>
        </p:nvSpPr>
        <p:spPr>
          <a:xfrm>
            <a:off x="1463040" y="2205736"/>
            <a:ext cx="6217920" cy="770128"/>
          </a:xfrm>
          <a:prstGeom prst="rect">
            <a:avLst/>
          </a:prstGeom>
          <a:noFill/>
          <a:ln/>
        </p:spPr>
        <p:txBody>
          <a:bodyPr wrap="square" lIns="0" tIns="0" rIns="0" bIns="0" rtlCol="0" anchor="ctr"/>
          <a:lstStyle/>
          <a:p>
            <a:pPr indent="0" marL="0">
              <a:buNone/>
            </a:pPr>
            <a:r>
              <a:rPr lang="en-US" sz="1600" dirty="0">
                <a:solidFill>
                  <a:srgbClr val="1F1F1F"/>
                </a:solidFill>
              </a:rPr>
              <a:t>Explain important medication-use and safety information to patients receiving pharmacotherapy for musculoskeletal.</a:t>
            </a:r>
            <a:endParaRPr lang="en-US" sz="1600" dirty="0"/>
          </a:p>
        </p:txBody>
      </p:sp>
      <p:sp>
        <p:nvSpPr>
          <p:cNvPr id="13" name="Text 11"/>
          <p:cNvSpPr txBox="1"/>
          <p:nvPr/>
        </p:nvSpPr>
        <p:spPr>
          <a:xfrm>
            <a:off x="7863840" y="2205736"/>
            <a:ext cx="3596335" cy="770128"/>
          </a:xfrm>
          <a:prstGeom prst="rect">
            <a:avLst/>
          </a:prstGeom>
          <a:noFill/>
          <a:ln/>
        </p:spPr>
        <p:txBody>
          <a:bodyPr wrap="square" lIns="0" tIns="0" rIns="0" bIns="0" rtlCol="0" anchor="ctr"/>
          <a:lstStyle/>
          <a:p>
            <a:pPr indent="0" marL="0">
              <a:buNone/>
            </a:pPr>
            <a:r>
              <a:rPr lang="en-US" sz="1200" dirty="0">
                <a:solidFill>
                  <a:srgbClr val="666666"/>
                </a:solidFill>
              </a:rPr>
              <a:t>Skeletal Muscle Relaxants, Bone Pharmacology &amp; Osteoporosis</a:t>
            </a:r>
            <a:endParaRPr lang="en-US" sz="1200" dirty="0"/>
          </a:p>
        </p:txBody>
      </p:sp>
      <p:sp>
        <p:nvSpPr>
          <p:cNvPr id="14" name="Objective SO1"/>
          <p:cNvSpPr/>
          <p:nvPr/>
        </p:nvSpPr>
        <p:spPr>
          <a:xfrm>
            <a:off x="548640" y="3085592"/>
            <a:ext cx="11094415" cy="770128"/>
          </a:xfrm>
          <a:prstGeom prst="roundRect">
            <a:avLst>
              <a:gd name="adj" fmla="val 11873"/>
            </a:avLst>
          </a:prstGeom>
          <a:solidFill>
            <a:srgbClr val="F2F4F7"/>
          </a:solidFill>
          <a:ln w="12700">
            <a:solidFill>
              <a:srgbClr val="F2F4F7"/>
            </a:solidFill>
            <a:prstDash val="solid"/>
          </a:ln>
        </p:spPr>
      </p:sp>
      <p:sp>
        <p:nvSpPr>
          <p:cNvPr id="15" name="Text 13"/>
          <p:cNvSpPr txBox="1"/>
          <p:nvPr/>
        </p:nvSpPr>
        <p:spPr>
          <a:xfrm>
            <a:off x="731520" y="3085592"/>
            <a:ext cx="731520" cy="770128"/>
          </a:xfrm>
          <a:prstGeom prst="rect">
            <a:avLst/>
          </a:prstGeom>
          <a:noFill/>
          <a:ln/>
        </p:spPr>
        <p:txBody>
          <a:bodyPr wrap="square" lIns="0" tIns="0" rIns="0" bIns="0" rtlCol="0" anchor="ctr"/>
          <a:lstStyle/>
          <a:p>
            <a:pPr indent="0" marL="0">
              <a:buNone/>
            </a:pPr>
            <a:r>
              <a:rPr lang="en-US" sz="1600" b="1" dirty="0">
                <a:solidFill>
                  <a:srgbClr val="4472C4"/>
                </a:solidFill>
              </a:rPr>
              <a:t>SO1</a:t>
            </a:r>
            <a:endParaRPr lang="en-US" sz="1600" dirty="0"/>
          </a:p>
        </p:txBody>
      </p:sp>
      <p:sp>
        <p:nvSpPr>
          <p:cNvPr id="16" name="Text 14"/>
          <p:cNvSpPr txBox="1"/>
          <p:nvPr/>
        </p:nvSpPr>
        <p:spPr>
          <a:xfrm>
            <a:off x="1463040" y="3085592"/>
            <a:ext cx="6217920" cy="770128"/>
          </a:xfrm>
          <a:prstGeom prst="rect">
            <a:avLst/>
          </a:prstGeom>
          <a:noFill/>
          <a:ln/>
        </p:spPr>
        <p:txBody>
          <a:bodyPr wrap="square" lIns="0" tIns="0" rIns="0" bIns="0" rtlCol="0" anchor="ctr"/>
          <a:lstStyle/>
          <a:p>
            <a:pPr indent="0" marL="0">
              <a:buNone/>
            </a:pPr>
            <a:r>
              <a:rPr lang="en-US" sz="1600" dirty="0">
                <a:solidFill>
                  <a:srgbClr val="1F1F1F"/>
                </a:solidFill>
              </a:rPr>
              <a:t>Explain the pharmacologic treatment of acute and chronic gout, including representative generic agents.</a:t>
            </a:r>
            <a:endParaRPr lang="en-US" sz="1600" dirty="0"/>
          </a:p>
        </p:txBody>
      </p:sp>
      <p:sp>
        <p:nvSpPr>
          <p:cNvPr id="17" name="Text 15"/>
          <p:cNvSpPr txBox="1"/>
          <p:nvPr/>
        </p:nvSpPr>
        <p:spPr>
          <a:xfrm>
            <a:off x="7863840" y="3085592"/>
            <a:ext cx="3596335" cy="770128"/>
          </a:xfrm>
          <a:prstGeom prst="rect">
            <a:avLst/>
          </a:prstGeom>
          <a:noFill/>
          <a:ln/>
        </p:spPr>
        <p:txBody>
          <a:bodyPr wrap="square" lIns="0" tIns="0" rIns="0" bIns="0" rtlCol="0" anchor="ctr"/>
          <a:lstStyle/>
          <a:p>
            <a:pPr indent="0" marL="0">
              <a:buNone/>
            </a:pPr>
            <a:r>
              <a:rPr lang="en-US" sz="1200" dirty="0">
                <a:solidFill>
                  <a:srgbClr val="666666"/>
                </a:solidFill>
              </a:rPr>
              <a:t>Gout: Acute Flares &amp; Urate-Lowering Therapy</a:t>
            </a:r>
            <a:endParaRPr lang="en-US" sz="1200" dirty="0"/>
          </a:p>
        </p:txBody>
      </p:sp>
      <p:sp>
        <p:nvSpPr>
          <p:cNvPr id="18" name="Objective SO2"/>
          <p:cNvSpPr/>
          <p:nvPr/>
        </p:nvSpPr>
        <p:spPr>
          <a:xfrm>
            <a:off x="548640" y="3965448"/>
            <a:ext cx="11094415" cy="770128"/>
          </a:xfrm>
          <a:prstGeom prst="roundRect">
            <a:avLst>
              <a:gd name="adj" fmla="val 11873"/>
            </a:avLst>
          </a:prstGeom>
          <a:solidFill>
            <a:srgbClr val="F2F4F7"/>
          </a:solidFill>
          <a:ln w="12700">
            <a:solidFill>
              <a:srgbClr val="F2F4F7"/>
            </a:solidFill>
            <a:prstDash val="solid"/>
          </a:ln>
        </p:spPr>
      </p:sp>
      <p:sp>
        <p:nvSpPr>
          <p:cNvPr id="19" name="Text 17"/>
          <p:cNvSpPr txBox="1"/>
          <p:nvPr/>
        </p:nvSpPr>
        <p:spPr>
          <a:xfrm>
            <a:off x="731520" y="3965448"/>
            <a:ext cx="731520" cy="770128"/>
          </a:xfrm>
          <a:prstGeom prst="rect">
            <a:avLst/>
          </a:prstGeom>
          <a:noFill/>
          <a:ln/>
        </p:spPr>
        <p:txBody>
          <a:bodyPr wrap="square" lIns="0" tIns="0" rIns="0" bIns="0" rtlCol="0" anchor="ctr"/>
          <a:lstStyle/>
          <a:p>
            <a:pPr indent="0" marL="0">
              <a:buNone/>
            </a:pPr>
            <a:r>
              <a:rPr lang="en-US" sz="1600" b="1" dirty="0">
                <a:solidFill>
                  <a:srgbClr val="4472C4"/>
                </a:solidFill>
              </a:rPr>
              <a:t>SO2</a:t>
            </a:r>
            <a:endParaRPr lang="en-US" sz="1600" dirty="0"/>
          </a:p>
        </p:txBody>
      </p:sp>
      <p:sp>
        <p:nvSpPr>
          <p:cNvPr id="20" name="Text 18"/>
          <p:cNvSpPr txBox="1"/>
          <p:nvPr/>
        </p:nvSpPr>
        <p:spPr>
          <a:xfrm>
            <a:off x="1463040" y="3965448"/>
            <a:ext cx="6217920" cy="770128"/>
          </a:xfrm>
          <a:prstGeom prst="rect">
            <a:avLst/>
          </a:prstGeom>
          <a:noFill/>
          <a:ln/>
        </p:spPr>
        <p:txBody>
          <a:bodyPr wrap="square" lIns="0" tIns="0" rIns="0" bIns="0" rtlCol="0" anchor="ctr"/>
          <a:lstStyle/>
          <a:p>
            <a:pPr indent="0" marL="0">
              <a:buNone/>
            </a:pPr>
            <a:r>
              <a:rPr lang="en-US" sz="1600" dirty="0">
                <a:solidFill>
                  <a:srgbClr val="1F1F1F"/>
                </a:solidFill>
              </a:rPr>
              <a:t>Classify skeletal muscle relaxants by mechanism and clinical use, including representative generic agents.</a:t>
            </a:r>
            <a:endParaRPr lang="en-US" sz="1600" dirty="0"/>
          </a:p>
        </p:txBody>
      </p:sp>
      <p:sp>
        <p:nvSpPr>
          <p:cNvPr id="21" name="Text 19"/>
          <p:cNvSpPr txBox="1"/>
          <p:nvPr/>
        </p:nvSpPr>
        <p:spPr>
          <a:xfrm>
            <a:off x="7863840" y="3965448"/>
            <a:ext cx="3596335" cy="770128"/>
          </a:xfrm>
          <a:prstGeom prst="rect">
            <a:avLst/>
          </a:prstGeom>
          <a:noFill/>
          <a:ln/>
        </p:spPr>
        <p:txBody>
          <a:bodyPr wrap="square" lIns="0" tIns="0" rIns="0" bIns="0" rtlCol="0" anchor="ctr"/>
          <a:lstStyle/>
          <a:p>
            <a:pPr indent="0" marL="0">
              <a:buNone/>
            </a:pPr>
            <a:r>
              <a:rPr lang="en-US" sz="1200" dirty="0">
                <a:solidFill>
                  <a:srgbClr val="666666"/>
                </a:solidFill>
              </a:rPr>
              <a:t>Skeletal Muscle Relaxants</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Kicker"/>
          <p:cNvSpPr txBox="1"/>
          <p:nvPr/>
        </p:nvSpPr>
        <p:spPr>
          <a:xfrm>
            <a:off x="548640" y="292608"/>
            <a:ext cx="11094415" cy="274320"/>
          </a:xfrm>
          <a:prstGeom prst="rect">
            <a:avLst/>
          </a:prstGeom>
          <a:noFill/>
          <a:ln/>
        </p:spPr>
        <p:txBody>
          <a:bodyPr wrap="square" lIns="0" tIns="0" rIns="0" bIns="0" rtlCol="0" anchor="ctr"/>
          <a:lstStyle/>
          <a:p>
            <a:pPr indent="0" marL="0">
              <a:buNone/>
            </a:pPr>
            <a:r>
              <a:rPr lang="en-US" sz="1200" b="1" spc="100" kern="0" dirty="0">
                <a:solidFill>
                  <a:srgbClr val="4472C4"/>
                </a:solidFill>
              </a:rPr>
              <a:t>START HERE</a:t>
            </a:r>
            <a:endParaRPr lang="en-US" sz="1200" dirty="0"/>
          </a:p>
        </p:txBody>
      </p:sp>
      <p:sp>
        <p:nvSpPr>
          <p:cNvPr id="3" name="Title"/>
          <p:cNvSpPr txBox="1"/>
          <p:nvPr/>
        </p:nvSpPr>
        <p:spPr>
          <a:xfrm>
            <a:off x="548640" y="566928"/>
            <a:ext cx="11094415" cy="713232"/>
          </a:xfrm>
          <a:prstGeom prst="rect">
            <a:avLst/>
          </a:prstGeom>
          <a:noFill/>
          <a:ln/>
        </p:spPr>
        <p:txBody>
          <a:bodyPr wrap="square" lIns="0" tIns="0" rIns="0" bIns="0" rtlCol="0" anchor="t"/>
          <a:lstStyle/>
          <a:p>
            <a:pPr indent="0" marL="0">
              <a:buNone/>
            </a:pPr>
            <a:r>
              <a:rPr lang="en-US" sz="3000" b="1" dirty="0">
                <a:solidFill>
                  <a:srgbClr val="1F1F1F"/>
                </a:solidFill>
                <a:latin typeface="Calibri" pitchFamily="34" charset="0"/>
                <a:ea typeface="Calibri" pitchFamily="34" charset="-122"/>
                <a:cs typeface="Calibri" pitchFamily="34" charset="-120"/>
              </a:rPr>
              <a:t>Learning objectives (cont.)</a:t>
            </a:r>
            <a:endParaRPr lang="en-US" sz="3000" dirty="0"/>
          </a:p>
        </p:txBody>
      </p:sp>
      <p:sp>
        <p:nvSpPr>
          <p:cNvPr id="4" name="Footer"/>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1000" dirty="0">
                <a:solidFill>
                  <a:srgbClr val="666666"/>
                </a:solidFill>
              </a:rPr>
              <a:t>L04 · Musculoskeletal Pharmacology — Session 2</a:t>
            </a:r>
            <a:endParaRPr lang="en-US" sz="1000" dirty="0"/>
          </a:p>
        </p:txBody>
      </p:sp>
      <p:sp>
        <p:nvSpPr>
          <p:cNvPr id="5" name="Slide number"/>
          <p:cNvSpPr txBox="1"/>
          <p:nvPr/>
        </p:nvSpPr>
        <p:spPr>
          <a:xfrm>
            <a:off x="10728655" y="6419088"/>
            <a:ext cx="914400" cy="274320"/>
          </a:xfrm>
          <a:prstGeom prst="rect">
            <a:avLst/>
          </a:prstGeom>
          <a:noFill/>
          <a:ln/>
        </p:spPr>
        <p:txBody>
          <a:bodyPr wrap="square" lIns="0" tIns="0" rIns="0" bIns="0" rtlCol="0" anchor="ctr"/>
          <a:lstStyle/>
          <a:p>
            <a:pPr algn="r" indent="0" marL="0">
              <a:buNone/>
            </a:pPr>
            <a:r>
              <a:rPr lang="en-US" sz="1000" dirty="0">
                <a:solidFill>
                  <a:srgbClr val="666666"/>
                </a:solidFill>
              </a:rPr>
              <a:t>4</a:t>
            </a:r>
            <a:endParaRPr lang="en-US" sz="1000" dirty="0"/>
          </a:p>
        </p:txBody>
      </p:sp>
      <p:sp>
        <p:nvSpPr>
          <p:cNvPr id="6" name="Objective SO3"/>
          <p:cNvSpPr/>
          <p:nvPr/>
        </p:nvSpPr>
        <p:spPr>
          <a:xfrm>
            <a:off x="548640" y="1325880"/>
            <a:ext cx="11094415" cy="770128"/>
          </a:xfrm>
          <a:prstGeom prst="roundRect">
            <a:avLst>
              <a:gd name="adj" fmla="val 11873"/>
            </a:avLst>
          </a:prstGeom>
          <a:solidFill>
            <a:srgbClr val="F2F4F7"/>
          </a:solidFill>
          <a:ln w="12700">
            <a:solidFill>
              <a:srgbClr val="F2F4F7"/>
            </a:solidFill>
            <a:prstDash val="solid"/>
          </a:ln>
        </p:spPr>
      </p:sp>
      <p:sp>
        <p:nvSpPr>
          <p:cNvPr id="7" name="Text 5"/>
          <p:cNvSpPr txBox="1"/>
          <p:nvPr/>
        </p:nvSpPr>
        <p:spPr>
          <a:xfrm>
            <a:off x="731520" y="1325880"/>
            <a:ext cx="731520" cy="770128"/>
          </a:xfrm>
          <a:prstGeom prst="rect">
            <a:avLst/>
          </a:prstGeom>
          <a:noFill/>
          <a:ln/>
        </p:spPr>
        <p:txBody>
          <a:bodyPr wrap="square" lIns="0" tIns="0" rIns="0" bIns="0" rtlCol="0" anchor="ctr"/>
          <a:lstStyle/>
          <a:p>
            <a:pPr indent="0" marL="0">
              <a:buNone/>
            </a:pPr>
            <a:r>
              <a:rPr lang="en-US" sz="1600" b="1" dirty="0">
                <a:solidFill>
                  <a:srgbClr val="4472C4"/>
                </a:solidFill>
              </a:rPr>
              <a:t>SO3</a:t>
            </a:r>
            <a:endParaRPr lang="en-US" sz="1600" dirty="0"/>
          </a:p>
        </p:txBody>
      </p:sp>
      <p:sp>
        <p:nvSpPr>
          <p:cNvPr id="8" name="Text 6"/>
          <p:cNvSpPr txBox="1"/>
          <p:nvPr/>
        </p:nvSpPr>
        <p:spPr>
          <a:xfrm>
            <a:off x="1463040" y="1325880"/>
            <a:ext cx="6217920" cy="770128"/>
          </a:xfrm>
          <a:prstGeom prst="rect">
            <a:avLst/>
          </a:prstGeom>
          <a:noFill/>
          <a:ln/>
        </p:spPr>
        <p:txBody>
          <a:bodyPr wrap="square" lIns="0" tIns="0" rIns="0" bIns="0" rtlCol="0" anchor="ctr"/>
          <a:lstStyle/>
          <a:p>
            <a:pPr indent="0" marL="0">
              <a:buNone/>
            </a:pPr>
            <a:r>
              <a:rPr lang="en-US" sz="1600" dirty="0">
                <a:solidFill>
                  <a:srgbClr val="1F1F1F"/>
                </a:solidFill>
              </a:rPr>
              <a:t>Explain the pharmacologic management of osteoporosis, including representative generic agents.</a:t>
            </a:r>
            <a:endParaRPr lang="en-US" sz="1600" dirty="0"/>
          </a:p>
        </p:txBody>
      </p:sp>
      <p:sp>
        <p:nvSpPr>
          <p:cNvPr id="9" name="Text 7"/>
          <p:cNvSpPr txBox="1"/>
          <p:nvPr/>
        </p:nvSpPr>
        <p:spPr>
          <a:xfrm>
            <a:off x="7863840" y="1325880"/>
            <a:ext cx="3596335" cy="770128"/>
          </a:xfrm>
          <a:prstGeom prst="rect">
            <a:avLst/>
          </a:prstGeom>
          <a:noFill/>
          <a:ln/>
        </p:spPr>
        <p:txBody>
          <a:bodyPr wrap="square" lIns="0" tIns="0" rIns="0" bIns="0" rtlCol="0" anchor="ctr"/>
          <a:lstStyle/>
          <a:p>
            <a:pPr indent="0" marL="0">
              <a:buNone/>
            </a:pPr>
            <a:r>
              <a:rPr lang="en-US" sz="1200" dirty="0">
                <a:solidFill>
                  <a:srgbClr val="666666"/>
                </a:solidFill>
              </a:rPr>
              <a:t>Bone Pharmacology &amp; Osteoporosis</a:t>
            </a:r>
            <a:endParaRPr lang="en-US" sz="1200" dirty="0"/>
          </a:p>
        </p:txBody>
      </p:sp>
      <p:sp>
        <p:nvSpPr>
          <p:cNvPr id="10" name="Objective SO4"/>
          <p:cNvSpPr/>
          <p:nvPr/>
        </p:nvSpPr>
        <p:spPr>
          <a:xfrm>
            <a:off x="548640" y="2205736"/>
            <a:ext cx="11094415" cy="770128"/>
          </a:xfrm>
          <a:prstGeom prst="roundRect">
            <a:avLst>
              <a:gd name="adj" fmla="val 11873"/>
            </a:avLst>
          </a:prstGeom>
          <a:solidFill>
            <a:srgbClr val="F2F4F7"/>
          </a:solidFill>
          <a:ln w="12700">
            <a:solidFill>
              <a:srgbClr val="F2F4F7"/>
            </a:solidFill>
            <a:prstDash val="solid"/>
          </a:ln>
        </p:spPr>
      </p:sp>
      <p:sp>
        <p:nvSpPr>
          <p:cNvPr id="11" name="Text 9"/>
          <p:cNvSpPr txBox="1"/>
          <p:nvPr/>
        </p:nvSpPr>
        <p:spPr>
          <a:xfrm>
            <a:off x="731520" y="2205736"/>
            <a:ext cx="731520" cy="770128"/>
          </a:xfrm>
          <a:prstGeom prst="rect">
            <a:avLst/>
          </a:prstGeom>
          <a:noFill/>
          <a:ln/>
        </p:spPr>
        <p:txBody>
          <a:bodyPr wrap="square" lIns="0" tIns="0" rIns="0" bIns="0" rtlCol="0" anchor="ctr"/>
          <a:lstStyle/>
          <a:p>
            <a:pPr indent="0" marL="0">
              <a:buNone/>
            </a:pPr>
            <a:r>
              <a:rPr lang="en-US" sz="1600" b="1" dirty="0">
                <a:solidFill>
                  <a:srgbClr val="4472C4"/>
                </a:solidFill>
              </a:rPr>
              <a:t>SO4</a:t>
            </a:r>
            <a:endParaRPr lang="en-US" sz="1600" dirty="0"/>
          </a:p>
        </p:txBody>
      </p:sp>
      <p:sp>
        <p:nvSpPr>
          <p:cNvPr id="12" name="Text 10"/>
          <p:cNvSpPr txBox="1"/>
          <p:nvPr/>
        </p:nvSpPr>
        <p:spPr>
          <a:xfrm>
            <a:off x="1463040" y="2205736"/>
            <a:ext cx="6217920" cy="770128"/>
          </a:xfrm>
          <a:prstGeom prst="rect">
            <a:avLst/>
          </a:prstGeom>
          <a:noFill/>
          <a:ln/>
        </p:spPr>
        <p:txBody>
          <a:bodyPr wrap="square" lIns="0" tIns="0" rIns="0" bIns="0" rtlCol="0" anchor="ctr"/>
          <a:lstStyle/>
          <a:p>
            <a:pPr indent="0" marL="0">
              <a:buNone/>
            </a:pPr>
            <a:r>
              <a:rPr lang="en-US" sz="1600" dirty="0">
                <a:solidFill>
                  <a:srgbClr val="1F1F1F"/>
                </a:solidFill>
              </a:rPr>
              <a:t>Identify key contraindications, adverse effects, and drug interactions throughout.</a:t>
            </a:r>
            <a:endParaRPr lang="en-US" sz="1600" dirty="0"/>
          </a:p>
        </p:txBody>
      </p:sp>
      <p:sp>
        <p:nvSpPr>
          <p:cNvPr id="13" name="Text 11"/>
          <p:cNvSpPr txBox="1"/>
          <p:nvPr/>
        </p:nvSpPr>
        <p:spPr>
          <a:xfrm>
            <a:off x="7863840" y="2205736"/>
            <a:ext cx="3596335" cy="770128"/>
          </a:xfrm>
          <a:prstGeom prst="rect">
            <a:avLst/>
          </a:prstGeom>
          <a:noFill/>
          <a:ln/>
        </p:spPr>
        <p:txBody>
          <a:bodyPr wrap="square" lIns="0" tIns="0" rIns="0" bIns="0" rtlCol="0" anchor="ctr"/>
          <a:lstStyle/>
          <a:p>
            <a:pPr indent="0" marL="0">
              <a:buNone/>
            </a:pPr>
            <a:r>
              <a:rPr lang="en-US" sz="1200" dirty="0">
                <a:solidFill>
                  <a:srgbClr val="666666"/>
                </a:solidFill>
              </a:rPr>
              <a:t>Gout: Acute Flares &amp; Urate-Lowering Therapy, Skeletal Muscle Relaxants, Bone Pharmacology &amp; Osteoporosis</a:t>
            </a:r>
            <a:endParaRPr lang="en-US" sz="1200" dirty="0"/>
          </a:p>
        </p:txBody>
      </p:sp>
      <p:sp>
        <p:nvSpPr>
          <p:cNvPr id="14" name="Objective SO5"/>
          <p:cNvSpPr/>
          <p:nvPr/>
        </p:nvSpPr>
        <p:spPr>
          <a:xfrm>
            <a:off x="548640" y="3085592"/>
            <a:ext cx="11094415" cy="770128"/>
          </a:xfrm>
          <a:prstGeom prst="roundRect">
            <a:avLst>
              <a:gd name="adj" fmla="val 11873"/>
            </a:avLst>
          </a:prstGeom>
          <a:solidFill>
            <a:srgbClr val="F2F4F7"/>
          </a:solidFill>
          <a:ln w="12700">
            <a:solidFill>
              <a:srgbClr val="F2F4F7"/>
            </a:solidFill>
            <a:prstDash val="solid"/>
          </a:ln>
        </p:spPr>
      </p:sp>
      <p:sp>
        <p:nvSpPr>
          <p:cNvPr id="15" name="Text 13"/>
          <p:cNvSpPr txBox="1"/>
          <p:nvPr/>
        </p:nvSpPr>
        <p:spPr>
          <a:xfrm>
            <a:off x="731520" y="3085592"/>
            <a:ext cx="731520" cy="770128"/>
          </a:xfrm>
          <a:prstGeom prst="rect">
            <a:avLst/>
          </a:prstGeom>
          <a:noFill/>
          <a:ln/>
        </p:spPr>
        <p:txBody>
          <a:bodyPr wrap="square" lIns="0" tIns="0" rIns="0" bIns="0" rtlCol="0" anchor="ctr"/>
          <a:lstStyle/>
          <a:p>
            <a:pPr indent="0" marL="0">
              <a:buNone/>
            </a:pPr>
            <a:r>
              <a:rPr lang="en-US" sz="1600" b="1" dirty="0">
                <a:solidFill>
                  <a:srgbClr val="4472C4"/>
                </a:solidFill>
              </a:rPr>
              <a:t>SO5</a:t>
            </a:r>
            <a:endParaRPr lang="en-US" sz="1600" dirty="0"/>
          </a:p>
        </p:txBody>
      </p:sp>
      <p:sp>
        <p:nvSpPr>
          <p:cNvPr id="16" name="Text 14"/>
          <p:cNvSpPr txBox="1"/>
          <p:nvPr/>
        </p:nvSpPr>
        <p:spPr>
          <a:xfrm>
            <a:off x="1463040" y="3085592"/>
            <a:ext cx="6217920" cy="770128"/>
          </a:xfrm>
          <a:prstGeom prst="rect">
            <a:avLst/>
          </a:prstGeom>
          <a:noFill/>
          <a:ln/>
        </p:spPr>
        <p:txBody>
          <a:bodyPr wrap="square" lIns="0" tIns="0" rIns="0" bIns="0" rtlCol="0" anchor="ctr"/>
          <a:lstStyle/>
          <a:p>
            <a:pPr indent="0" marL="0">
              <a:buNone/>
            </a:pPr>
            <a:r>
              <a:rPr lang="en-US" sz="1600" dirty="0">
                <a:solidFill>
                  <a:srgbClr val="1F1F1F"/>
                </a:solidFill>
              </a:rPr>
              <a:t>Apply the full musculoskeletal pharmacology toolkit to integrated clinical scenarios.</a:t>
            </a:r>
            <a:endParaRPr lang="en-US" sz="1600" dirty="0"/>
          </a:p>
        </p:txBody>
      </p:sp>
      <p:sp>
        <p:nvSpPr>
          <p:cNvPr id="17" name="Text 15"/>
          <p:cNvSpPr txBox="1"/>
          <p:nvPr/>
        </p:nvSpPr>
        <p:spPr>
          <a:xfrm>
            <a:off x="7863840" y="3085592"/>
            <a:ext cx="3596335" cy="770128"/>
          </a:xfrm>
          <a:prstGeom prst="rect">
            <a:avLst/>
          </a:prstGeom>
          <a:noFill/>
          <a:ln/>
        </p:spPr>
        <p:txBody>
          <a:bodyPr wrap="square" lIns="0" tIns="0" rIns="0" bIns="0" rtlCol="0" anchor="ctr"/>
          <a:lstStyle/>
          <a:p>
            <a:pPr indent="0" marL="0">
              <a:buNone/>
            </a:pPr>
            <a:r>
              <a:rPr lang="en-US" sz="1200" dirty="0">
                <a:solidFill>
                  <a:srgbClr val="666666"/>
                </a:solidFill>
              </a:rPr>
              <a:t>Putting It All Together: Musculoskeletal Toolkit</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Kicker"/>
          <p:cNvSpPr txBox="1"/>
          <p:nvPr/>
        </p:nvSpPr>
        <p:spPr>
          <a:xfrm>
            <a:off x="548640" y="292608"/>
            <a:ext cx="11094415" cy="274320"/>
          </a:xfrm>
          <a:prstGeom prst="rect">
            <a:avLst/>
          </a:prstGeom>
          <a:noFill/>
          <a:ln/>
        </p:spPr>
        <p:txBody>
          <a:bodyPr wrap="square" lIns="0" tIns="0" rIns="0" bIns="0" rtlCol="0" anchor="ctr"/>
          <a:lstStyle/>
          <a:p>
            <a:pPr indent="0" marL="0">
              <a:buNone/>
            </a:pPr>
            <a:r>
              <a:rPr lang="en-US" sz="1200" b="1" spc="100" kern="0" dirty="0">
                <a:solidFill>
                  <a:srgbClr val="4472C4"/>
                </a:solidFill>
              </a:rPr>
              <a:t>START HERE</a:t>
            </a:r>
            <a:endParaRPr lang="en-US" sz="1200" dirty="0"/>
          </a:p>
        </p:txBody>
      </p:sp>
      <p:sp>
        <p:nvSpPr>
          <p:cNvPr id="3" name="Title"/>
          <p:cNvSpPr txBox="1"/>
          <p:nvPr/>
        </p:nvSpPr>
        <p:spPr>
          <a:xfrm>
            <a:off x="548640" y="566928"/>
            <a:ext cx="11094415" cy="713232"/>
          </a:xfrm>
          <a:prstGeom prst="rect">
            <a:avLst/>
          </a:prstGeom>
          <a:noFill/>
          <a:ln/>
        </p:spPr>
        <p:txBody>
          <a:bodyPr wrap="square" lIns="0" tIns="0" rIns="0" bIns="0" rtlCol="0" anchor="t"/>
          <a:lstStyle/>
          <a:p>
            <a:pPr indent="0" marL="0">
              <a:buNone/>
            </a:pPr>
            <a:r>
              <a:rPr lang="en-US" sz="3000" b="1" dirty="0">
                <a:solidFill>
                  <a:srgbClr val="1F1F1F"/>
                </a:solidFill>
                <a:latin typeface="Calibri" pitchFamily="34" charset="0"/>
                <a:ea typeface="Calibri" pitchFamily="34" charset="-122"/>
                <a:cs typeface="Calibri" pitchFamily="34" charset="-120"/>
              </a:rPr>
              <a:t>About this lecture</a:t>
            </a:r>
            <a:endParaRPr lang="en-US" sz="3000" dirty="0"/>
          </a:p>
        </p:txBody>
      </p:sp>
      <p:sp>
        <p:nvSpPr>
          <p:cNvPr id="4" name="Footer"/>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1000" dirty="0">
                <a:solidFill>
                  <a:srgbClr val="666666"/>
                </a:solidFill>
              </a:rPr>
              <a:t>L04 · Musculoskeletal Pharmacology — Session 2</a:t>
            </a:r>
            <a:endParaRPr lang="en-US" sz="1000" dirty="0"/>
          </a:p>
        </p:txBody>
      </p:sp>
      <p:sp>
        <p:nvSpPr>
          <p:cNvPr id="5" name="Slide number"/>
          <p:cNvSpPr txBox="1"/>
          <p:nvPr/>
        </p:nvSpPr>
        <p:spPr>
          <a:xfrm>
            <a:off x="10728655" y="6419088"/>
            <a:ext cx="914400" cy="274320"/>
          </a:xfrm>
          <a:prstGeom prst="rect">
            <a:avLst/>
          </a:prstGeom>
          <a:noFill/>
          <a:ln/>
        </p:spPr>
        <p:txBody>
          <a:bodyPr wrap="square" lIns="0" tIns="0" rIns="0" bIns="0" rtlCol="0" anchor="ctr"/>
          <a:lstStyle/>
          <a:p>
            <a:pPr algn="r" indent="0" marL="0">
              <a:buNone/>
            </a:pPr>
            <a:r>
              <a:rPr lang="en-US" sz="1000" dirty="0">
                <a:solidFill>
                  <a:srgbClr val="666666"/>
                </a:solidFill>
              </a:rPr>
              <a:t>5</a:t>
            </a:r>
            <a:endParaRPr lang="en-US" sz="1000" dirty="0"/>
          </a:p>
        </p:txBody>
      </p:sp>
      <p:sp>
        <p:nvSpPr>
          <p:cNvPr id="6" name="Scope, readings &amp; sources card"/>
          <p:cNvSpPr/>
          <p:nvPr/>
        </p:nvSpPr>
        <p:spPr>
          <a:xfrm>
            <a:off x="548640" y="1325880"/>
            <a:ext cx="11094415" cy="3054096"/>
          </a:xfrm>
          <a:prstGeom prst="roundRect">
            <a:avLst>
              <a:gd name="adj" fmla="val 3593"/>
            </a:avLst>
          </a:prstGeom>
          <a:solidFill>
            <a:srgbClr val="F2F4F7"/>
          </a:solidFill>
          <a:ln w="12700">
            <a:solidFill>
              <a:srgbClr val="F2F4F7"/>
            </a:solidFill>
            <a:prstDash val="solid"/>
          </a:ln>
        </p:spPr>
      </p:sp>
      <p:sp>
        <p:nvSpPr>
          <p:cNvPr id="7" name="Scope, readings &amp; sources icon circle"/>
          <p:cNvSpPr/>
          <p:nvPr/>
        </p:nvSpPr>
        <p:spPr>
          <a:xfrm>
            <a:off x="777240" y="1508760"/>
            <a:ext cx="438912" cy="438912"/>
          </a:xfrm>
          <a:prstGeom prst="ellipse">
            <a:avLst/>
          </a:prstGeom>
          <a:solidFill>
            <a:srgbClr val="4472C4"/>
          </a:solidFill>
          <a:ln w="12700">
            <a:solidFill>
              <a:srgbClr val="4472C4"/>
            </a:solidFill>
            <a:prstDash val="solid"/>
          </a:ln>
        </p:spPr>
      </p:sp>
      <p:pic>
        <p:nvPicPr>
          <p:cNvPr id="8" name="Scope, readings &amp; sources icon" descr="preencoded.png">    </p:cNvPr>
          <p:cNvPicPr>
            <a:picLocks noChangeAspect="1"/>
          </p:cNvPicPr>
          <p:nvPr/>
        </p:nvPicPr>
        <p:blipFill>
          <a:blip r:embed="rId1"/>
          <a:stretch>
            <a:fillRect/>
          </a:stretch>
        </p:blipFill>
        <p:spPr>
          <a:xfrm>
            <a:off x="877824" y="1609344"/>
            <a:ext cx="237744" cy="237744"/>
          </a:xfrm>
          <a:prstGeom prst="rect">
            <a:avLst/>
          </a:prstGeom>
        </p:spPr>
      </p:pic>
      <p:sp>
        <p:nvSpPr>
          <p:cNvPr id="9" name="Scope, readings &amp;amp; sources heading"/>
          <p:cNvSpPr txBox="1"/>
          <p:nvPr/>
        </p:nvSpPr>
        <p:spPr>
          <a:xfrm>
            <a:off x="1353312" y="1508760"/>
            <a:ext cx="10088575" cy="438912"/>
          </a:xfrm>
          <a:prstGeom prst="rect">
            <a:avLst/>
          </a:prstGeom>
          <a:noFill/>
          <a:ln/>
        </p:spPr>
        <p:txBody>
          <a:bodyPr wrap="square" lIns="0" tIns="0" rIns="0" bIns="0" rtlCol="0" anchor="ctr"/>
          <a:lstStyle/>
          <a:p>
            <a:pPr indent="0" marL="0">
              <a:buNone/>
            </a:pPr>
            <a:r>
              <a:rPr lang="en-US" sz="1800" b="1" dirty="0">
                <a:solidFill>
                  <a:srgbClr val="4472C4"/>
                </a:solidFill>
              </a:rPr>
              <a:t>Scope, readings &amp; sources</a:t>
            </a:r>
            <a:endParaRPr lang="en-US" sz="1800" dirty="0"/>
          </a:p>
        </p:txBody>
      </p:sp>
      <p:sp>
        <p:nvSpPr>
          <p:cNvPr id="10" name="Scope, readings &amp; sources body"/>
          <p:cNvSpPr txBox="1"/>
          <p:nvPr/>
        </p:nvSpPr>
        <p:spPr>
          <a:xfrm>
            <a:off x="777240" y="2075688"/>
            <a:ext cx="10637215" cy="2185416"/>
          </a:xfrm>
          <a:prstGeom prst="rect">
            <a:avLst/>
          </a:prstGeom>
          <a:noFill/>
          <a:ln/>
        </p:spPr>
        <p:txBody>
          <a:bodyPr wrap="square" lIns="0" tIns="0" rIns="0" bIns="0" rtlCol="0" anchor="t"/>
          <a:lstStyle/>
          <a:p>
            <a:pPr marL="228600" indent="-228600">
              <a:spcAft>
                <a:spcPts val="800"/>
              </a:spcAft>
              <a:buSzPct val="100000"/>
              <a:buChar char="•"/>
            </a:pPr>
            <a:r>
              <a:rPr lang="en-US" sz="1800" dirty="0">
                <a:solidFill>
                  <a:srgbClr val="1F1F1F"/>
                </a:solidFill>
              </a:rPr>
              <a:t>PA Pharmacology Course · Lecture 2 · Session 2 of 2 — Musculoskeletal Pharmacology (Thursday, October 29): gout, skeletal muscle relaxants, and bone pharmacology.</a:t>
            </a:r>
            <a:r>
              <a:rPr lang="en-US" sz="1300" dirty="0">
                <a:solidFill>
                  <a:srgbClr val="666666"/>
                </a:solidFill>
              </a:rPr>
              <a:t>  S1</a:t>
            </a:r>
            <a:endParaRPr lang="en-US" sz="1800" dirty="0"/>
          </a:p>
          <a:p>
            <a:pPr marL="228600" indent="-228600">
              <a:spcAft>
                <a:spcPts val="800"/>
              </a:spcAft>
              <a:buSzPct val="100000"/>
              <a:buChar char="•"/>
            </a:pPr>
            <a:r>
              <a:rPr lang="en-US" sz="1800" dirty="0">
                <a:solidFill>
                  <a:srgbClr val="1F1F1F"/>
                </a:solidFill>
              </a:rPr>
              <a:t>Recap: Session 1 (Oct 27) covered musculoskeletal pain pathways, acetaminophen, NSAIDs, and osteoarthritis/rheumatoid arthritis pharmacotherapy including DMARDs.</a:t>
            </a:r>
            <a:r>
              <a:rPr lang="en-US" sz="1300" dirty="0">
                <a:solidFill>
                  <a:srgbClr val="666666"/>
                </a:solidFill>
              </a:rPr>
              <a:t>  S2; S2 (notes)</a:t>
            </a:r>
            <a:endParaRPr lang="en-US" sz="1800" dirty="0"/>
          </a:p>
          <a:p>
            <a:pPr marL="228600" indent="-228600">
              <a:spcAft>
                <a:spcPts val="800"/>
              </a:spcAft>
              <a:buSzPct val="100000"/>
              <a:buChar char="•"/>
            </a:pPr>
            <a:r>
              <a:rPr lang="en-US" sz="1800" dirty="0">
                <a:solidFill>
                  <a:srgbClr val="1F1F1F"/>
                </a:solidFill>
              </a:rPr>
              <a:t>Today picks up with gout (Section 5) and runs through skeletal muscle relaxants, bone pharmacology, integration, and the cumulative Lecture Recall Quiz.</a:t>
            </a:r>
            <a:r>
              <a:rPr lang="en-US" sz="1300" dirty="0">
                <a:solidFill>
                  <a:srgbClr val="666666"/>
                </a:solidFill>
              </a:rPr>
              <a:t>  S2 (notes)</a:t>
            </a:r>
            <a:endParaRPr lang="en-US" sz="1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Kicker"/>
          <p:cNvSpPr txBox="1"/>
          <p:nvPr/>
        </p:nvSpPr>
        <p:spPr>
          <a:xfrm>
            <a:off x="548640" y="292608"/>
            <a:ext cx="11094415" cy="274320"/>
          </a:xfrm>
          <a:prstGeom prst="rect">
            <a:avLst/>
          </a:prstGeom>
          <a:noFill/>
          <a:ln/>
        </p:spPr>
        <p:txBody>
          <a:bodyPr wrap="square" lIns="0" tIns="0" rIns="0" bIns="0" rtlCol="0" anchor="ctr"/>
          <a:lstStyle/>
          <a:p>
            <a:pPr indent="0" marL="0">
              <a:buNone/>
            </a:pPr>
            <a:r>
              <a:rPr lang="en-US" sz="1200" b="1" spc="100" kern="0" dirty="0">
                <a:solidFill>
                  <a:srgbClr val="4472C4"/>
                </a:solidFill>
              </a:rPr>
              <a:t>START HERE</a:t>
            </a:r>
            <a:endParaRPr lang="en-US" sz="1200" dirty="0"/>
          </a:p>
        </p:txBody>
      </p:sp>
      <p:sp>
        <p:nvSpPr>
          <p:cNvPr id="3" name="Title"/>
          <p:cNvSpPr txBox="1"/>
          <p:nvPr/>
        </p:nvSpPr>
        <p:spPr>
          <a:xfrm>
            <a:off x="548640" y="566928"/>
            <a:ext cx="11094415" cy="713232"/>
          </a:xfrm>
          <a:prstGeom prst="rect">
            <a:avLst/>
          </a:prstGeom>
          <a:noFill/>
          <a:ln/>
        </p:spPr>
        <p:txBody>
          <a:bodyPr wrap="square" lIns="0" tIns="0" rIns="0" bIns="0" rtlCol="0" anchor="t"/>
          <a:lstStyle/>
          <a:p>
            <a:pPr indent="0" marL="0">
              <a:buNone/>
            </a:pPr>
            <a:r>
              <a:rPr lang="en-US" sz="3000" b="1" dirty="0">
                <a:solidFill>
                  <a:srgbClr val="1F1F1F"/>
                </a:solidFill>
                <a:latin typeface="Calibri" pitchFamily="34" charset="0"/>
                <a:ea typeface="Calibri" pitchFamily="34" charset="-122"/>
                <a:cs typeface="Calibri" pitchFamily="34" charset="-120"/>
              </a:rPr>
              <a:t>About this lecture (cont.)</a:t>
            </a:r>
            <a:endParaRPr lang="en-US" sz="3000" dirty="0"/>
          </a:p>
        </p:txBody>
      </p:sp>
      <p:sp>
        <p:nvSpPr>
          <p:cNvPr id="4" name="Footer"/>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1000" dirty="0">
                <a:solidFill>
                  <a:srgbClr val="666666"/>
                </a:solidFill>
              </a:rPr>
              <a:t>L04 · Musculoskeletal Pharmacology — Session 2</a:t>
            </a:r>
            <a:endParaRPr lang="en-US" sz="1000" dirty="0"/>
          </a:p>
        </p:txBody>
      </p:sp>
      <p:sp>
        <p:nvSpPr>
          <p:cNvPr id="5" name="Slide number"/>
          <p:cNvSpPr txBox="1"/>
          <p:nvPr/>
        </p:nvSpPr>
        <p:spPr>
          <a:xfrm>
            <a:off x="10728655" y="6419088"/>
            <a:ext cx="914400" cy="274320"/>
          </a:xfrm>
          <a:prstGeom prst="rect">
            <a:avLst/>
          </a:prstGeom>
          <a:noFill/>
          <a:ln/>
        </p:spPr>
        <p:txBody>
          <a:bodyPr wrap="square" lIns="0" tIns="0" rIns="0" bIns="0" rtlCol="0" anchor="ctr"/>
          <a:lstStyle/>
          <a:p>
            <a:pPr algn="r" indent="0" marL="0">
              <a:buNone/>
            </a:pPr>
            <a:r>
              <a:rPr lang="en-US" sz="1000" dirty="0">
                <a:solidFill>
                  <a:srgbClr val="666666"/>
                </a:solidFill>
              </a:rPr>
              <a:t>6</a:t>
            </a:r>
            <a:endParaRPr lang="en-US" sz="1000" dirty="0"/>
          </a:p>
        </p:txBody>
      </p:sp>
      <p:sp>
        <p:nvSpPr>
          <p:cNvPr id="6" name="Scope, readings &amp; sources card"/>
          <p:cNvSpPr/>
          <p:nvPr/>
        </p:nvSpPr>
        <p:spPr>
          <a:xfrm>
            <a:off x="548640" y="1325880"/>
            <a:ext cx="11094415" cy="3781044"/>
          </a:xfrm>
          <a:prstGeom prst="roundRect">
            <a:avLst>
              <a:gd name="adj" fmla="val 2902"/>
            </a:avLst>
          </a:prstGeom>
          <a:solidFill>
            <a:srgbClr val="F2F4F7"/>
          </a:solidFill>
          <a:ln w="12700">
            <a:solidFill>
              <a:srgbClr val="F2F4F7"/>
            </a:solidFill>
            <a:prstDash val="solid"/>
          </a:ln>
        </p:spPr>
      </p:sp>
      <p:sp>
        <p:nvSpPr>
          <p:cNvPr id="7" name="Scope, readings &amp; sources icon circle"/>
          <p:cNvSpPr/>
          <p:nvPr/>
        </p:nvSpPr>
        <p:spPr>
          <a:xfrm>
            <a:off x="777240" y="1508760"/>
            <a:ext cx="438912" cy="438912"/>
          </a:xfrm>
          <a:prstGeom prst="ellipse">
            <a:avLst/>
          </a:prstGeom>
          <a:solidFill>
            <a:srgbClr val="4472C4"/>
          </a:solidFill>
          <a:ln w="12700">
            <a:solidFill>
              <a:srgbClr val="4472C4"/>
            </a:solidFill>
            <a:prstDash val="solid"/>
          </a:ln>
        </p:spPr>
      </p:sp>
      <p:pic>
        <p:nvPicPr>
          <p:cNvPr id="8" name="Scope, readings &amp; sources icon" descr="preencoded.png">    </p:cNvPr>
          <p:cNvPicPr>
            <a:picLocks noChangeAspect="1"/>
          </p:cNvPicPr>
          <p:nvPr/>
        </p:nvPicPr>
        <p:blipFill>
          <a:blip r:embed="rId1"/>
          <a:stretch>
            <a:fillRect/>
          </a:stretch>
        </p:blipFill>
        <p:spPr>
          <a:xfrm>
            <a:off x="877824" y="1609344"/>
            <a:ext cx="237744" cy="237744"/>
          </a:xfrm>
          <a:prstGeom prst="rect">
            <a:avLst/>
          </a:prstGeom>
        </p:spPr>
      </p:pic>
      <p:sp>
        <p:nvSpPr>
          <p:cNvPr id="9" name="Scope, readings &amp;amp; sources heading"/>
          <p:cNvSpPr txBox="1"/>
          <p:nvPr/>
        </p:nvSpPr>
        <p:spPr>
          <a:xfrm>
            <a:off x="1353312" y="1508760"/>
            <a:ext cx="10088575" cy="438912"/>
          </a:xfrm>
          <a:prstGeom prst="rect">
            <a:avLst/>
          </a:prstGeom>
          <a:noFill/>
          <a:ln/>
        </p:spPr>
        <p:txBody>
          <a:bodyPr wrap="square" lIns="0" tIns="0" rIns="0" bIns="0" rtlCol="0" anchor="ctr"/>
          <a:lstStyle/>
          <a:p>
            <a:pPr indent="0" marL="0">
              <a:buNone/>
            </a:pPr>
            <a:r>
              <a:rPr lang="en-US" sz="1800" b="1" dirty="0">
                <a:solidFill>
                  <a:srgbClr val="4472C4"/>
                </a:solidFill>
              </a:rPr>
              <a:t>Scope, readings &amp; sources</a:t>
            </a:r>
            <a:endParaRPr lang="en-US" sz="1800" dirty="0"/>
          </a:p>
        </p:txBody>
      </p:sp>
      <p:sp>
        <p:nvSpPr>
          <p:cNvPr id="10" name="Scope, readings &amp; sources body"/>
          <p:cNvSpPr txBox="1"/>
          <p:nvPr/>
        </p:nvSpPr>
        <p:spPr>
          <a:xfrm>
            <a:off x="777240" y="2075688"/>
            <a:ext cx="10637215" cy="2912364"/>
          </a:xfrm>
          <a:prstGeom prst="rect">
            <a:avLst/>
          </a:prstGeom>
          <a:noFill/>
          <a:ln/>
        </p:spPr>
        <p:txBody>
          <a:bodyPr wrap="square" lIns="0" tIns="0" rIns="0" bIns="0" rtlCol="0" anchor="t"/>
          <a:lstStyle/>
          <a:p>
            <a:pPr marL="228600" indent="-228600">
              <a:spcAft>
                <a:spcPts val="800"/>
              </a:spcAft>
              <a:buSzPct val="100000"/>
              <a:buChar char="•"/>
            </a:pPr>
            <a:r>
              <a:rPr lang="en-US" sz="1800" dirty="0">
                <a:solidFill>
                  <a:srgbClr val="1F1F1F"/>
                </a:solidFill>
              </a:rPr>
              <a:t>Required reading: Katzung 16e — Ch. 27 (skeletal muscle relaxants), the gout part of Ch. 36, and Ch. 42 (bone mineral homeostasis).</a:t>
            </a:r>
            <a:r>
              <a:rPr lang="en-US" sz="1300" dirty="0">
                <a:solidFill>
                  <a:srgbClr val="666666"/>
                </a:solidFill>
              </a:rPr>
              <a:t>  Syllabus</a:t>
            </a:r>
            <a:endParaRPr lang="en-US" sz="1800" dirty="0"/>
          </a:p>
          <a:p>
            <a:pPr marL="228600" indent="-228600">
              <a:spcAft>
                <a:spcPts val="800"/>
              </a:spcAft>
              <a:buSzPct val="100000"/>
              <a:buChar char="•"/>
            </a:pPr>
            <a:r>
              <a:rPr lang="en-US" sz="1800" b="1" dirty="0">
                <a:solidFill>
                  <a:srgbClr val="1F1F1F"/>
                </a:solidFill>
              </a:rPr>
              <a:t>Original figures in this deck:</a:t>
            </a:r>
            <a:r>
              <a:rPr lang="en-US" sz="1800" dirty="0">
                <a:solidFill>
                  <a:srgbClr val="1F1F1F"/>
                </a:solidFill>
              </a:rPr>
              <a:t> Figures 4–8 (Gout: From Purine Metabolism to Joint Inflammation; Skeletal Muscle Relaxants: Central vs. Peripheral Site of Action; Calcium Homeostasis: The PTH Feedback Loop; Bisphosphonate Dosing Frequency; How Osteoporosis Drugs Shift the Remodeling Balance) were generated by the course director using the AI tool Claude to illustrate standard, non-copyrighted pharmacologic concepts. They are original diagrams, not reproduced from Katzung’s Basic and Clinical Pharmacology or any other copyrighted source. </a:t>
            </a:r>
            <a:r>
              <a:rPr lang="en-US" sz="1800" b="1" dirty="0">
                <a:solidFill>
                  <a:srgbClr val="1F1F1F"/>
                </a:solidFill>
              </a:rPr>
              <a:t>Reference:</a:t>
            </a:r>
            <a:r>
              <a:rPr lang="en-US" sz="1800" dirty="0">
                <a:solidFill>
                  <a:srgbClr val="1F1F1F"/>
                </a:solidFill>
              </a:rPr>
              <a:t> Anthropic. (2026). Claude (Sonnet 5) [Large language model]. https://claude.ai</a:t>
            </a:r>
            <a:r>
              <a:rPr lang="en-US" sz="1300" dirty="0">
                <a:solidFill>
                  <a:srgbClr val="666666"/>
                </a:solidFill>
              </a:rPr>
              <a:t>  S72</a:t>
            </a:r>
            <a:endParaRPr lang="en-US" sz="1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Kicker"/>
          <p:cNvSpPr txBox="1"/>
          <p:nvPr/>
        </p:nvSpPr>
        <p:spPr>
          <a:xfrm>
            <a:off x="548640" y="292608"/>
            <a:ext cx="11094415" cy="274320"/>
          </a:xfrm>
          <a:prstGeom prst="rect">
            <a:avLst/>
          </a:prstGeom>
          <a:noFill/>
          <a:ln/>
        </p:spPr>
        <p:txBody>
          <a:bodyPr wrap="square" lIns="0" tIns="0" rIns="0" bIns="0" rtlCol="0" anchor="ctr"/>
          <a:lstStyle/>
          <a:p>
            <a:pPr indent="0" marL="0">
              <a:buNone/>
            </a:pPr>
            <a:r>
              <a:rPr lang="en-US" sz="1200" b="1" spc="100" kern="0" dirty="0">
                <a:solidFill>
                  <a:srgbClr val="4472C4"/>
                </a:solidFill>
              </a:rPr>
              <a:t>ROADMAP</a:t>
            </a:r>
            <a:endParaRPr lang="en-US" sz="1200" dirty="0"/>
          </a:p>
        </p:txBody>
      </p:sp>
      <p:sp>
        <p:nvSpPr>
          <p:cNvPr id="3" name="Title"/>
          <p:cNvSpPr txBox="1"/>
          <p:nvPr/>
        </p:nvSpPr>
        <p:spPr>
          <a:xfrm>
            <a:off x="548640" y="566928"/>
            <a:ext cx="11094415" cy="713232"/>
          </a:xfrm>
          <a:prstGeom prst="rect">
            <a:avLst/>
          </a:prstGeom>
          <a:noFill/>
          <a:ln/>
        </p:spPr>
        <p:txBody>
          <a:bodyPr wrap="square" lIns="0" tIns="0" rIns="0" bIns="0" rtlCol="0" anchor="t"/>
          <a:lstStyle/>
          <a:p>
            <a:pPr indent="0" marL="0">
              <a:buNone/>
            </a:pPr>
            <a:r>
              <a:rPr lang="en-US" sz="3000" b="1" dirty="0">
                <a:solidFill>
                  <a:srgbClr val="1F1F1F"/>
                </a:solidFill>
                <a:latin typeface="Calibri" pitchFamily="34" charset="0"/>
                <a:ea typeface="Calibri" pitchFamily="34" charset="-122"/>
                <a:cs typeface="Calibri" pitchFamily="34" charset="-120"/>
              </a:rPr>
              <a:t>Drug classes in this lecture</a:t>
            </a:r>
            <a:endParaRPr lang="en-US" sz="3000" dirty="0"/>
          </a:p>
        </p:txBody>
      </p:sp>
      <p:sp>
        <p:nvSpPr>
          <p:cNvPr id="4" name="Footer"/>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1000" dirty="0">
                <a:solidFill>
                  <a:srgbClr val="666666"/>
                </a:solidFill>
              </a:rPr>
              <a:t>L04 · Musculoskeletal Pharmacology — Session 2</a:t>
            </a:r>
            <a:endParaRPr lang="en-US" sz="1000" dirty="0"/>
          </a:p>
        </p:txBody>
      </p:sp>
      <p:sp>
        <p:nvSpPr>
          <p:cNvPr id="5" name="Slide number"/>
          <p:cNvSpPr txBox="1"/>
          <p:nvPr/>
        </p:nvSpPr>
        <p:spPr>
          <a:xfrm>
            <a:off x="10728655" y="6419088"/>
            <a:ext cx="914400" cy="274320"/>
          </a:xfrm>
          <a:prstGeom prst="rect">
            <a:avLst/>
          </a:prstGeom>
          <a:noFill/>
          <a:ln/>
        </p:spPr>
        <p:txBody>
          <a:bodyPr wrap="square" lIns="0" tIns="0" rIns="0" bIns="0" rtlCol="0" anchor="ctr"/>
          <a:lstStyle/>
          <a:p>
            <a:pPr algn="r" indent="0" marL="0">
              <a:buNone/>
            </a:pPr>
            <a:r>
              <a:rPr lang="en-US" sz="1000" dirty="0">
                <a:solidFill>
                  <a:srgbClr val="666666"/>
                </a:solidFill>
              </a:rPr>
              <a:t>7</a:t>
            </a:r>
            <a:endParaRPr lang="en-US" sz="1000" dirty="0"/>
          </a:p>
        </p:txBody>
      </p:sp>
      <p:sp>
        <p:nvSpPr>
          <p:cNvPr id="6" name="Shape 4"/>
          <p:cNvSpPr/>
          <p:nvPr/>
        </p:nvSpPr>
        <p:spPr>
          <a:xfrm>
            <a:off x="548640" y="1325880"/>
            <a:ext cx="11094415" cy="914400"/>
          </a:xfrm>
          <a:prstGeom prst="roundRect">
            <a:avLst>
              <a:gd name="adj" fmla="val 10000"/>
            </a:avLst>
          </a:prstGeom>
          <a:solidFill>
            <a:srgbClr val="F2F4F7"/>
          </a:solidFill>
          <a:ln w="12700">
            <a:solidFill>
              <a:srgbClr val="F2F4F7"/>
            </a:solidFill>
            <a:prstDash val="solid"/>
          </a:ln>
        </p:spPr>
      </p:sp>
      <p:sp>
        <p:nvSpPr>
          <p:cNvPr id="7" name="Shape 5"/>
          <p:cNvSpPr/>
          <p:nvPr/>
        </p:nvSpPr>
        <p:spPr>
          <a:xfrm>
            <a:off x="731520" y="1554480"/>
            <a:ext cx="457200" cy="457200"/>
          </a:xfrm>
          <a:prstGeom prst="ellipse">
            <a:avLst/>
          </a:prstGeom>
          <a:solidFill>
            <a:srgbClr val="4472C4"/>
          </a:solidFill>
          <a:ln w="12700">
            <a:solidFill>
              <a:srgbClr val="4472C4"/>
            </a:solidFill>
            <a:prstDash val="solid"/>
          </a:ln>
        </p:spPr>
      </p:sp>
      <p:sp>
        <p:nvSpPr>
          <p:cNvPr id="8" name="Text 6"/>
          <p:cNvSpPr txBox="1"/>
          <p:nvPr/>
        </p:nvSpPr>
        <p:spPr>
          <a:xfrm>
            <a:off x="731520" y="155448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rPr>
              <a:t>1</a:t>
            </a:r>
            <a:endParaRPr lang="en-US" sz="1600" dirty="0"/>
          </a:p>
        </p:txBody>
      </p:sp>
      <p:sp>
        <p:nvSpPr>
          <p:cNvPr id="9" name="Text 7"/>
          <p:cNvSpPr txBox="1"/>
          <p:nvPr/>
        </p:nvSpPr>
        <p:spPr>
          <a:xfrm>
            <a:off x="1371600" y="1325880"/>
            <a:ext cx="10088575" cy="914400"/>
          </a:xfrm>
          <a:prstGeom prst="rect">
            <a:avLst/>
          </a:prstGeom>
          <a:noFill/>
          <a:ln/>
        </p:spPr>
        <p:txBody>
          <a:bodyPr wrap="square" lIns="0" tIns="0" rIns="0" bIns="0" rtlCol="0" anchor="ctr"/>
          <a:lstStyle/>
          <a:p>
            <a:pPr indent="0" marL="0">
              <a:buNone/>
            </a:pPr>
            <a:r>
              <a:rPr lang="en-US" sz="1800" b="1" dirty="0">
                <a:solidFill>
                  <a:srgbClr val="1F1F1F"/>
                </a:solidFill>
              </a:rPr>
              <a:t>Gout: Acute Flares &amp; Urate-Lowering Therapy</a:t>
            </a:r>
            <a:endParaRPr lang="en-US" sz="1800" dirty="0"/>
          </a:p>
          <a:p>
            <a:pPr indent="0" marL="0">
              <a:buNone/>
            </a:pPr>
            <a:r>
              <a:rPr lang="en-US" sz="1200" dirty="0">
                <a:solidFill>
                  <a:srgbClr val="666666"/>
                </a:solidFill>
              </a:rPr>
              <a:t>Objectives: SO1, SO4, IO2.1, IO2.2, IO2.3, IO2.4, IO2.5</a:t>
            </a:r>
            <a:endParaRPr lang="en-US" sz="1800" dirty="0"/>
          </a:p>
        </p:txBody>
      </p:sp>
      <p:sp>
        <p:nvSpPr>
          <p:cNvPr id="10" name="Shape 8"/>
          <p:cNvSpPr/>
          <p:nvPr/>
        </p:nvSpPr>
        <p:spPr>
          <a:xfrm>
            <a:off x="548640" y="2377440"/>
            <a:ext cx="11094415" cy="914400"/>
          </a:xfrm>
          <a:prstGeom prst="roundRect">
            <a:avLst>
              <a:gd name="adj" fmla="val 10000"/>
            </a:avLst>
          </a:prstGeom>
          <a:solidFill>
            <a:srgbClr val="F2F4F7"/>
          </a:solidFill>
          <a:ln w="12700">
            <a:solidFill>
              <a:srgbClr val="F2F4F7"/>
            </a:solidFill>
            <a:prstDash val="solid"/>
          </a:ln>
        </p:spPr>
      </p:sp>
      <p:sp>
        <p:nvSpPr>
          <p:cNvPr id="11" name="Shape 9"/>
          <p:cNvSpPr/>
          <p:nvPr/>
        </p:nvSpPr>
        <p:spPr>
          <a:xfrm>
            <a:off x="731520" y="2606040"/>
            <a:ext cx="457200" cy="457200"/>
          </a:xfrm>
          <a:prstGeom prst="ellipse">
            <a:avLst/>
          </a:prstGeom>
          <a:solidFill>
            <a:srgbClr val="4472C4"/>
          </a:solidFill>
          <a:ln w="12700">
            <a:solidFill>
              <a:srgbClr val="4472C4"/>
            </a:solidFill>
            <a:prstDash val="solid"/>
          </a:ln>
        </p:spPr>
      </p:sp>
      <p:sp>
        <p:nvSpPr>
          <p:cNvPr id="12" name="Text 10"/>
          <p:cNvSpPr txBox="1"/>
          <p:nvPr/>
        </p:nvSpPr>
        <p:spPr>
          <a:xfrm>
            <a:off x="731520" y="260604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rPr>
              <a:t>2</a:t>
            </a:r>
            <a:endParaRPr lang="en-US" sz="1600" dirty="0"/>
          </a:p>
        </p:txBody>
      </p:sp>
      <p:sp>
        <p:nvSpPr>
          <p:cNvPr id="13" name="Text 11"/>
          <p:cNvSpPr txBox="1"/>
          <p:nvPr/>
        </p:nvSpPr>
        <p:spPr>
          <a:xfrm>
            <a:off x="1371600" y="2377440"/>
            <a:ext cx="10088575" cy="914400"/>
          </a:xfrm>
          <a:prstGeom prst="rect">
            <a:avLst/>
          </a:prstGeom>
          <a:noFill/>
          <a:ln/>
        </p:spPr>
        <p:txBody>
          <a:bodyPr wrap="square" lIns="0" tIns="0" rIns="0" bIns="0" rtlCol="0" anchor="ctr"/>
          <a:lstStyle/>
          <a:p>
            <a:pPr indent="0" marL="0">
              <a:buNone/>
            </a:pPr>
            <a:r>
              <a:rPr lang="en-US" sz="1800" b="1" dirty="0">
                <a:solidFill>
                  <a:srgbClr val="1F1F1F"/>
                </a:solidFill>
              </a:rPr>
              <a:t>Skeletal Muscle Relaxants</a:t>
            </a:r>
            <a:endParaRPr lang="en-US" sz="1800" dirty="0"/>
          </a:p>
          <a:p>
            <a:pPr indent="0" marL="0">
              <a:buNone/>
            </a:pPr>
            <a:r>
              <a:rPr lang="en-US" sz="1200" dirty="0">
                <a:solidFill>
                  <a:srgbClr val="666666"/>
                </a:solidFill>
              </a:rPr>
              <a:t>Objectives: SO2, SO4, IO2.1, IO2.2, IO2.3, IO2.5, IO2.6</a:t>
            </a:r>
            <a:endParaRPr lang="en-US" sz="1800" dirty="0"/>
          </a:p>
        </p:txBody>
      </p:sp>
      <p:sp>
        <p:nvSpPr>
          <p:cNvPr id="14" name="Shape 12"/>
          <p:cNvSpPr/>
          <p:nvPr/>
        </p:nvSpPr>
        <p:spPr>
          <a:xfrm>
            <a:off x="548640" y="3429000"/>
            <a:ext cx="11094415" cy="914400"/>
          </a:xfrm>
          <a:prstGeom prst="roundRect">
            <a:avLst>
              <a:gd name="adj" fmla="val 10000"/>
            </a:avLst>
          </a:prstGeom>
          <a:solidFill>
            <a:srgbClr val="F2F4F7"/>
          </a:solidFill>
          <a:ln w="12700">
            <a:solidFill>
              <a:srgbClr val="F2F4F7"/>
            </a:solidFill>
            <a:prstDash val="solid"/>
          </a:ln>
        </p:spPr>
      </p:sp>
      <p:sp>
        <p:nvSpPr>
          <p:cNvPr id="15" name="Shape 13"/>
          <p:cNvSpPr/>
          <p:nvPr/>
        </p:nvSpPr>
        <p:spPr>
          <a:xfrm>
            <a:off x="731520" y="3657600"/>
            <a:ext cx="457200" cy="457200"/>
          </a:xfrm>
          <a:prstGeom prst="ellipse">
            <a:avLst/>
          </a:prstGeom>
          <a:solidFill>
            <a:srgbClr val="4472C4"/>
          </a:solidFill>
          <a:ln w="12700">
            <a:solidFill>
              <a:srgbClr val="4472C4"/>
            </a:solidFill>
            <a:prstDash val="solid"/>
          </a:ln>
        </p:spPr>
      </p:sp>
      <p:sp>
        <p:nvSpPr>
          <p:cNvPr id="16" name="Text 14"/>
          <p:cNvSpPr txBox="1"/>
          <p:nvPr/>
        </p:nvSpPr>
        <p:spPr>
          <a:xfrm>
            <a:off x="731520" y="365760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rPr>
              <a:t>3</a:t>
            </a:r>
            <a:endParaRPr lang="en-US" sz="1600" dirty="0"/>
          </a:p>
        </p:txBody>
      </p:sp>
      <p:sp>
        <p:nvSpPr>
          <p:cNvPr id="17" name="Text 15"/>
          <p:cNvSpPr txBox="1"/>
          <p:nvPr/>
        </p:nvSpPr>
        <p:spPr>
          <a:xfrm>
            <a:off x="1371600" y="3429000"/>
            <a:ext cx="10088575" cy="914400"/>
          </a:xfrm>
          <a:prstGeom prst="rect">
            <a:avLst/>
          </a:prstGeom>
          <a:noFill/>
          <a:ln/>
        </p:spPr>
        <p:txBody>
          <a:bodyPr wrap="square" lIns="0" tIns="0" rIns="0" bIns="0" rtlCol="0" anchor="ctr"/>
          <a:lstStyle/>
          <a:p>
            <a:pPr indent="0" marL="0">
              <a:buNone/>
            </a:pPr>
            <a:r>
              <a:rPr lang="en-US" sz="1800" b="1" dirty="0">
                <a:solidFill>
                  <a:srgbClr val="1F1F1F"/>
                </a:solidFill>
              </a:rPr>
              <a:t>Bone Pharmacology &amp; Osteoporosis</a:t>
            </a:r>
            <a:endParaRPr lang="en-US" sz="1800" dirty="0"/>
          </a:p>
          <a:p>
            <a:pPr indent="0" marL="0">
              <a:buNone/>
            </a:pPr>
            <a:r>
              <a:rPr lang="en-US" sz="1200" dirty="0">
                <a:solidFill>
                  <a:srgbClr val="666666"/>
                </a:solidFill>
              </a:rPr>
              <a:t>Objectives: SO3, SO4, IO2.1, IO2.2, IO2.3, IO2.4, IO2.5, IO2.6</a:t>
            </a:r>
            <a:endParaRPr lang="en-US" sz="1800" dirty="0"/>
          </a:p>
        </p:txBody>
      </p:sp>
      <p:sp>
        <p:nvSpPr>
          <p:cNvPr id="18" name="Shape 16"/>
          <p:cNvSpPr/>
          <p:nvPr/>
        </p:nvSpPr>
        <p:spPr>
          <a:xfrm>
            <a:off x="548640" y="4480560"/>
            <a:ext cx="11094415" cy="914400"/>
          </a:xfrm>
          <a:prstGeom prst="roundRect">
            <a:avLst>
              <a:gd name="adj" fmla="val 10000"/>
            </a:avLst>
          </a:prstGeom>
          <a:solidFill>
            <a:srgbClr val="F2F4F7"/>
          </a:solidFill>
          <a:ln w="12700">
            <a:solidFill>
              <a:srgbClr val="F2F4F7"/>
            </a:solidFill>
            <a:prstDash val="solid"/>
          </a:ln>
        </p:spPr>
      </p:sp>
      <p:sp>
        <p:nvSpPr>
          <p:cNvPr id="19" name="Shape 17"/>
          <p:cNvSpPr/>
          <p:nvPr/>
        </p:nvSpPr>
        <p:spPr>
          <a:xfrm>
            <a:off x="731520" y="4709160"/>
            <a:ext cx="457200" cy="457200"/>
          </a:xfrm>
          <a:prstGeom prst="ellipse">
            <a:avLst/>
          </a:prstGeom>
          <a:solidFill>
            <a:srgbClr val="4472C4"/>
          </a:solidFill>
          <a:ln w="12700">
            <a:solidFill>
              <a:srgbClr val="4472C4"/>
            </a:solidFill>
            <a:prstDash val="solid"/>
          </a:ln>
        </p:spPr>
      </p:sp>
      <p:sp>
        <p:nvSpPr>
          <p:cNvPr id="20" name="Text 18"/>
          <p:cNvSpPr txBox="1"/>
          <p:nvPr/>
        </p:nvSpPr>
        <p:spPr>
          <a:xfrm>
            <a:off x="731520" y="470916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rPr>
              <a:t>4</a:t>
            </a:r>
            <a:endParaRPr lang="en-US" sz="1600" dirty="0"/>
          </a:p>
        </p:txBody>
      </p:sp>
      <p:sp>
        <p:nvSpPr>
          <p:cNvPr id="21" name="Text 19"/>
          <p:cNvSpPr txBox="1"/>
          <p:nvPr/>
        </p:nvSpPr>
        <p:spPr>
          <a:xfrm>
            <a:off x="1371600" y="4480560"/>
            <a:ext cx="10088575" cy="914400"/>
          </a:xfrm>
          <a:prstGeom prst="rect">
            <a:avLst/>
          </a:prstGeom>
          <a:noFill/>
          <a:ln/>
        </p:spPr>
        <p:txBody>
          <a:bodyPr wrap="square" lIns="0" tIns="0" rIns="0" bIns="0" rtlCol="0" anchor="ctr"/>
          <a:lstStyle/>
          <a:p>
            <a:pPr indent="0" marL="0">
              <a:buNone/>
            </a:pPr>
            <a:r>
              <a:rPr lang="en-US" sz="1800" b="1" dirty="0">
                <a:solidFill>
                  <a:srgbClr val="1F1F1F"/>
                </a:solidFill>
              </a:rPr>
              <a:t>Putting It All Together: Musculoskeletal Toolkit</a:t>
            </a:r>
            <a:endParaRPr lang="en-US" sz="1800" dirty="0"/>
          </a:p>
          <a:p>
            <a:pPr indent="0" marL="0">
              <a:buNone/>
            </a:pPr>
            <a:r>
              <a:rPr lang="en-US" sz="1200" dirty="0">
                <a:solidFill>
                  <a:srgbClr val="666666"/>
                </a:solidFill>
              </a:rPr>
              <a:t>Objectives: SO5, IO2.3, IO2.4</a:t>
            </a:r>
            <a:endParaRPr lang="en-US" sz="1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2F4F8A"/>
        </a:solidFill>
      </p:bgPr>
    </p:bg>
    <p:spTree>
      <p:nvGrpSpPr>
        <p:cNvPr id="1" name=""/>
        <p:cNvGrpSpPr/>
        <p:nvPr/>
      </p:nvGrpSpPr>
      <p:grpSpPr>
        <a:xfrm>
          <a:off x="0" y="0"/>
          <a:ext cx="0" cy="0"/>
          <a:chOff x="0" y="0"/>
          <a:chExt cx="0" cy="0"/>
        </a:xfrm>
      </p:grpSpPr>
      <p:sp>
        <p:nvSpPr>
          <p:cNvPr id="2" name="Text 0"/>
          <p:cNvSpPr txBox="1"/>
          <p:nvPr/>
        </p:nvSpPr>
        <p:spPr>
          <a:xfrm>
            <a:off x="548640" y="1463040"/>
            <a:ext cx="7315200" cy="365760"/>
          </a:xfrm>
          <a:prstGeom prst="rect">
            <a:avLst/>
          </a:prstGeom>
          <a:noFill/>
          <a:ln/>
        </p:spPr>
        <p:txBody>
          <a:bodyPr wrap="square" lIns="0" tIns="0" rIns="0" bIns="0" rtlCol="0" anchor="ctr"/>
          <a:lstStyle/>
          <a:p>
            <a:pPr indent="0" marL="0">
              <a:buNone/>
            </a:pPr>
            <a:r>
              <a:rPr lang="en-US" sz="1600" b="1" dirty="0">
                <a:solidFill>
                  <a:srgbClr val="D6E0F5"/>
                </a:solidFill>
              </a:rPr>
              <a:t>Drug class 1 of 4</a:t>
            </a:r>
            <a:endParaRPr lang="en-US" sz="1600" dirty="0"/>
          </a:p>
        </p:txBody>
      </p:sp>
      <p:sp>
        <p:nvSpPr>
          <p:cNvPr id="3" name="Title"/>
          <p:cNvSpPr txBox="1"/>
          <p:nvPr/>
        </p:nvSpPr>
        <p:spPr>
          <a:xfrm>
            <a:off x="548640" y="1874520"/>
            <a:ext cx="11094415" cy="1188720"/>
          </a:xfrm>
          <a:prstGeom prst="rect">
            <a:avLst/>
          </a:prstGeom>
          <a:noFill/>
          <a:ln/>
        </p:spPr>
        <p:txBody>
          <a:bodyPr wrap="square" lIns="0" tIns="0" rIns="0" bIns="0" rtlCol="0" anchor="t"/>
          <a:lstStyle/>
          <a:p>
            <a:pPr indent="0" marL="0">
              <a:buNone/>
            </a:pPr>
            <a:r>
              <a:rPr lang="en-US" sz="4400" b="1" dirty="0">
                <a:solidFill>
                  <a:srgbClr val="FFFFFF"/>
                </a:solidFill>
                <a:latin typeface="Calibri" pitchFamily="34" charset="0"/>
                <a:ea typeface="Calibri" pitchFamily="34" charset="-122"/>
                <a:cs typeface="Calibri" pitchFamily="34" charset="-120"/>
              </a:rPr>
              <a:t>Gout: Acute Flares &amp; Urate-Lowering Therapy</a:t>
            </a:r>
            <a:endParaRPr lang="en-US" sz="4400" dirty="0"/>
          </a:p>
        </p:txBody>
      </p:sp>
      <p:sp>
        <p:nvSpPr>
          <p:cNvPr id="4" name="Text 2"/>
          <p:cNvSpPr txBox="1"/>
          <p:nvPr/>
        </p:nvSpPr>
        <p:spPr>
          <a:xfrm>
            <a:off x="548640" y="3108960"/>
            <a:ext cx="9144000" cy="365760"/>
          </a:xfrm>
          <a:prstGeom prst="rect">
            <a:avLst/>
          </a:prstGeom>
          <a:noFill/>
          <a:ln/>
        </p:spPr>
        <p:txBody>
          <a:bodyPr wrap="square" lIns="0" tIns="0" rIns="0" bIns="0" rtlCol="0" anchor="ctr"/>
          <a:lstStyle/>
          <a:p>
            <a:pPr indent="0" marL="0">
              <a:buNone/>
            </a:pPr>
            <a:r>
              <a:rPr lang="en-US" sz="1800" dirty="0">
                <a:solidFill>
                  <a:srgbClr val="D6E0F5"/>
                </a:solidFill>
              </a:rPr>
              <a:t>Covers objectives: SO1 · SO4 · IO2.1 · IO2.2 · IO2.3 · IO2.4 · IO2.5</a:t>
            </a:r>
            <a:endParaRPr lang="en-US" sz="1800" dirty="0"/>
          </a:p>
        </p:txBody>
      </p:sp>
      <p:sp>
        <p:nvSpPr>
          <p:cNvPr id="5" name="Shape 3"/>
          <p:cNvSpPr/>
          <p:nvPr/>
        </p:nvSpPr>
        <p:spPr>
          <a:xfrm>
            <a:off x="783321" y="4297680"/>
            <a:ext cx="640080" cy="640080"/>
          </a:xfrm>
          <a:prstGeom prst="ellipse">
            <a:avLst/>
          </a:prstGeom>
          <a:solidFill>
            <a:srgbClr val="44546A"/>
          </a:solidFill>
          <a:ln w="19050">
            <a:solidFill>
              <a:srgbClr val="FFFFFF"/>
            </a:solidFill>
            <a:prstDash val="solid"/>
          </a:ln>
        </p:spPr>
      </p:sp>
      <p:pic>
        <p:nvPicPr>
          <p:cNvPr id="6" name="Image 0" descr="preencoded.png">    </p:cNvPr>
          <p:cNvPicPr>
            <a:picLocks noChangeAspect="1"/>
          </p:cNvPicPr>
          <p:nvPr/>
        </p:nvPicPr>
        <p:blipFill>
          <a:blip r:embed="rId1"/>
          <a:stretch>
            <a:fillRect/>
          </a:stretch>
        </p:blipFill>
        <p:spPr>
          <a:xfrm>
            <a:off x="938769" y="4453128"/>
            <a:ext cx="329184" cy="329184"/>
          </a:xfrm>
          <a:prstGeom prst="rect">
            <a:avLst/>
          </a:prstGeom>
        </p:spPr>
      </p:pic>
      <p:sp>
        <p:nvSpPr>
          <p:cNvPr id="7" name="Text 4"/>
          <p:cNvSpPr txBox="1"/>
          <p:nvPr/>
        </p:nvSpPr>
        <p:spPr>
          <a:xfrm>
            <a:off x="594360" y="5029200"/>
            <a:ext cx="1018002" cy="640080"/>
          </a:xfrm>
          <a:prstGeom prst="rect">
            <a:avLst/>
          </a:prstGeom>
          <a:noFill/>
          <a:ln/>
        </p:spPr>
        <p:txBody>
          <a:bodyPr wrap="square" lIns="0" tIns="0" rIns="0" bIns="0" rtlCol="0" anchor="t"/>
          <a:lstStyle/>
          <a:p>
            <a:pPr algn="ctr" indent="0" marL="0">
              <a:buNone/>
            </a:pPr>
            <a:r>
              <a:rPr lang="en-US" sz="1000" dirty="0">
                <a:solidFill>
                  <a:srgbClr val="FFFFFF"/>
                </a:solidFill>
              </a:rPr>
              <a:t>Class</a:t>
            </a:r>
            <a:endParaRPr lang="en-US" sz="1000" dirty="0"/>
          </a:p>
        </p:txBody>
      </p:sp>
      <p:sp>
        <p:nvSpPr>
          <p:cNvPr id="8" name="Shape 5"/>
          <p:cNvSpPr/>
          <p:nvPr/>
        </p:nvSpPr>
        <p:spPr>
          <a:xfrm>
            <a:off x="1892762" y="4297680"/>
            <a:ext cx="640080" cy="640080"/>
          </a:xfrm>
          <a:prstGeom prst="ellipse">
            <a:avLst/>
          </a:prstGeom>
          <a:solidFill>
            <a:srgbClr val="4472C4"/>
          </a:solidFill>
          <a:ln w="19050">
            <a:solidFill>
              <a:srgbClr val="FFFFFF"/>
            </a:solidFill>
            <a:prstDash val="solid"/>
          </a:ln>
        </p:spPr>
      </p:sp>
      <p:pic>
        <p:nvPicPr>
          <p:cNvPr id="9" name="Image 1" descr="preencoded.png">    </p:cNvPr>
          <p:cNvPicPr>
            <a:picLocks noChangeAspect="1"/>
          </p:cNvPicPr>
          <p:nvPr/>
        </p:nvPicPr>
        <p:blipFill>
          <a:blip r:embed="rId2"/>
          <a:stretch>
            <a:fillRect/>
          </a:stretch>
        </p:blipFill>
        <p:spPr>
          <a:xfrm>
            <a:off x="2048210" y="4453128"/>
            <a:ext cx="329184" cy="329184"/>
          </a:xfrm>
          <a:prstGeom prst="rect">
            <a:avLst/>
          </a:prstGeom>
        </p:spPr>
      </p:pic>
      <p:sp>
        <p:nvSpPr>
          <p:cNvPr id="10" name="Text 6"/>
          <p:cNvSpPr txBox="1"/>
          <p:nvPr/>
        </p:nvSpPr>
        <p:spPr>
          <a:xfrm>
            <a:off x="1703802" y="5029200"/>
            <a:ext cx="1018002" cy="640080"/>
          </a:xfrm>
          <a:prstGeom prst="rect">
            <a:avLst/>
          </a:prstGeom>
          <a:noFill/>
          <a:ln/>
        </p:spPr>
        <p:txBody>
          <a:bodyPr wrap="square" lIns="0" tIns="0" rIns="0" bIns="0" rtlCol="0" anchor="t"/>
          <a:lstStyle/>
          <a:p>
            <a:pPr algn="ctr" indent="0" marL="0">
              <a:buNone/>
            </a:pPr>
            <a:r>
              <a:rPr lang="en-US" sz="1000" dirty="0">
                <a:solidFill>
                  <a:srgbClr val="FFFFFF"/>
                </a:solidFill>
              </a:rPr>
              <a:t>Prototype</a:t>
            </a:r>
            <a:endParaRPr lang="en-US" sz="1000" dirty="0"/>
          </a:p>
        </p:txBody>
      </p:sp>
      <p:sp>
        <p:nvSpPr>
          <p:cNvPr id="11" name="Shape 7"/>
          <p:cNvSpPr/>
          <p:nvPr/>
        </p:nvSpPr>
        <p:spPr>
          <a:xfrm>
            <a:off x="3002204" y="4297680"/>
            <a:ext cx="640080" cy="640080"/>
          </a:xfrm>
          <a:prstGeom prst="ellipse">
            <a:avLst/>
          </a:prstGeom>
          <a:solidFill>
            <a:srgbClr val="7030A0"/>
          </a:solidFill>
          <a:ln w="19050">
            <a:solidFill>
              <a:srgbClr val="FFFFFF"/>
            </a:solidFill>
            <a:prstDash val="solid"/>
          </a:ln>
        </p:spPr>
      </p:sp>
      <p:pic>
        <p:nvPicPr>
          <p:cNvPr id="12" name="Image 2" descr="preencoded.png">    </p:cNvPr>
          <p:cNvPicPr>
            <a:picLocks noChangeAspect="1"/>
          </p:cNvPicPr>
          <p:nvPr/>
        </p:nvPicPr>
        <p:blipFill>
          <a:blip r:embed="rId3"/>
          <a:stretch>
            <a:fillRect/>
          </a:stretch>
        </p:blipFill>
        <p:spPr>
          <a:xfrm>
            <a:off x="3157652" y="4453128"/>
            <a:ext cx="329184" cy="329184"/>
          </a:xfrm>
          <a:prstGeom prst="rect">
            <a:avLst/>
          </a:prstGeom>
        </p:spPr>
      </p:pic>
      <p:sp>
        <p:nvSpPr>
          <p:cNvPr id="13" name="Text 8"/>
          <p:cNvSpPr txBox="1"/>
          <p:nvPr/>
        </p:nvSpPr>
        <p:spPr>
          <a:xfrm>
            <a:off x="2813243" y="5029200"/>
            <a:ext cx="1018002" cy="640080"/>
          </a:xfrm>
          <a:prstGeom prst="rect">
            <a:avLst/>
          </a:prstGeom>
          <a:noFill/>
          <a:ln/>
        </p:spPr>
        <p:txBody>
          <a:bodyPr wrap="square" lIns="0" tIns="0" rIns="0" bIns="0" rtlCol="0" anchor="t"/>
          <a:lstStyle/>
          <a:p>
            <a:pPr algn="ctr" indent="0" marL="0">
              <a:buNone/>
            </a:pPr>
            <a:r>
              <a:rPr lang="en-US" sz="1000" dirty="0">
                <a:solidFill>
                  <a:srgbClr val="FFFFFF"/>
                </a:solidFill>
              </a:rPr>
              <a:t>Mechanism of action</a:t>
            </a:r>
            <a:endParaRPr lang="en-US" sz="1000" dirty="0"/>
          </a:p>
        </p:txBody>
      </p:sp>
      <p:sp>
        <p:nvSpPr>
          <p:cNvPr id="14" name="Shape 9"/>
          <p:cNvSpPr/>
          <p:nvPr/>
        </p:nvSpPr>
        <p:spPr>
          <a:xfrm>
            <a:off x="4111645" y="4297680"/>
            <a:ext cx="640080" cy="640080"/>
          </a:xfrm>
          <a:prstGeom prst="ellipse">
            <a:avLst/>
          </a:prstGeom>
          <a:solidFill>
            <a:srgbClr val="548235"/>
          </a:solidFill>
          <a:ln w="19050">
            <a:solidFill>
              <a:srgbClr val="FFFFFF"/>
            </a:solidFill>
            <a:prstDash val="solid"/>
          </a:ln>
        </p:spPr>
      </p:sp>
      <p:pic>
        <p:nvPicPr>
          <p:cNvPr id="15" name="Image 3" descr="preencoded.png">    </p:cNvPr>
          <p:cNvPicPr>
            <a:picLocks noChangeAspect="1"/>
          </p:cNvPicPr>
          <p:nvPr/>
        </p:nvPicPr>
        <p:blipFill>
          <a:blip r:embed="rId4"/>
          <a:stretch>
            <a:fillRect/>
          </a:stretch>
        </p:blipFill>
        <p:spPr>
          <a:xfrm>
            <a:off x="4267093" y="4453128"/>
            <a:ext cx="329184" cy="329184"/>
          </a:xfrm>
          <a:prstGeom prst="rect">
            <a:avLst/>
          </a:prstGeom>
        </p:spPr>
      </p:pic>
      <p:sp>
        <p:nvSpPr>
          <p:cNvPr id="16" name="Text 10"/>
          <p:cNvSpPr txBox="1"/>
          <p:nvPr/>
        </p:nvSpPr>
        <p:spPr>
          <a:xfrm>
            <a:off x="3922685" y="5029200"/>
            <a:ext cx="1018002" cy="640080"/>
          </a:xfrm>
          <a:prstGeom prst="rect">
            <a:avLst/>
          </a:prstGeom>
          <a:noFill/>
          <a:ln/>
        </p:spPr>
        <p:txBody>
          <a:bodyPr wrap="square" lIns="0" tIns="0" rIns="0" bIns="0" rtlCol="0" anchor="t"/>
          <a:lstStyle/>
          <a:p>
            <a:pPr algn="ctr" indent="0" marL="0">
              <a:buNone/>
            </a:pPr>
            <a:r>
              <a:rPr lang="en-US" sz="1000" dirty="0">
                <a:solidFill>
                  <a:srgbClr val="FFFFFF"/>
                </a:solidFill>
              </a:rPr>
              <a:t>Indications</a:t>
            </a:r>
            <a:endParaRPr lang="en-US" sz="1000" dirty="0"/>
          </a:p>
        </p:txBody>
      </p:sp>
      <p:sp>
        <p:nvSpPr>
          <p:cNvPr id="17" name="Shape 11"/>
          <p:cNvSpPr/>
          <p:nvPr/>
        </p:nvSpPr>
        <p:spPr>
          <a:xfrm>
            <a:off x="5221087" y="4297680"/>
            <a:ext cx="640080" cy="640080"/>
          </a:xfrm>
          <a:prstGeom prst="ellipse">
            <a:avLst/>
          </a:prstGeom>
          <a:solidFill>
            <a:srgbClr val="C55A11"/>
          </a:solidFill>
          <a:ln w="19050">
            <a:solidFill>
              <a:srgbClr val="FFFFFF"/>
            </a:solidFill>
            <a:prstDash val="solid"/>
          </a:ln>
        </p:spPr>
      </p:sp>
      <p:pic>
        <p:nvPicPr>
          <p:cNvPr id="18" name="Image 4" descr="preencoded.png">    </p:cNvPr>
          <p:cNvPicPr>
            <a:picLocks noChangeAspect="1"/>
          </p:cNvPicPr>
          <p:nvPr/>
        </p:nvPicPr>
        <p:blipFill>
          <a:blip r:embed="rId5"/>
          <a:stretch>
            <a:fillRect/>
          </a:stretch>
        </p:blipFill>
        <p:spPr>
          <a:xfrm>
            <a:off x="5376535" y="4453128"/>
            <a:ext cx="329184" cy="329184"/>
          </a:xfrm>
          <a:prstGeom prst="rect">
            <a:avLst/>
          </a:prstGeom>
        </p:spPr>
      </p:pic>
      <p:sp>
        <p:nvSpPr>
          <p:cNvPr id="19" name="Text 12"/>
          <p:cNvSpPr txBox="1"/>
          <p:nvPr/>
        </p:nvSpPr>
        <p:spPr>
          <a:xfrm>
            <a:off x="5032126" y="5029200"/>
            <a:ext cx="1018002" cy="640080"/>
          </a:xfrm>
          <a:prstGeom prst="rect">
            <a:avLst/>
          </a:prstGeom>
          <a:noFill/>
          <a:ln/>
        </p:spPr>
        <p:txBody>
          <a:bodyPr wrap="square" lIns="0" tIns="0" rIns="0" bIns="0" rtlCol="0" anchor="t"/>
          <a:lstStyle/>
          <a:p>
            <a:pPr algn="ctr" indent="0" marL="0">
              <a:buNone/>
            </a:pPr>
            <a:r>
              <a:rPr lang="en-US" sz="1000" dirty="0">
                <a:solidFill>
                  <a:srgbClr val="FFFFFF"/>
                </a:solidFill>
              </a:rPr>
              <a:t>Adverse effects</a:t>
            </a:r>
            <a:endParaRPr lang="en-US" sz="1000" dirty="0"/>
          </a:p>
        </p:txBody>
      </p:sp>
      <p:sp>
        <p:nvSpPr>
          <p:cNvPr id="20" name="Shape 13"/>
          <p:cNvSpPr/>
          <p:nvPr/>
        </p:nvSpPr>
        <p:spPr>
          <a:xfrm>
            <a:off x="6330528" y="4297680"/>
            <a:ext cx="640080" cy="640080"/>
          </a:xfrm>
          <a:prstGeom prst="ellipse">
            <a:avLst/>
          </a:prstGeom>
          <a:solidFill>
            <a:srgbClr val="C00000"/>
          </a:solidFill>
          <a:ln w="19050">
            <a:solidFill>
              <a:srgbClr val="FFFFFF"/>
            </a:solidFill>
            <a:prstDash val="solid"/>
          </a:ln>
        </p:spPr>
      </p:sp>
      <p:pic>
        <p:nvPicPr>
          <p:cNvPr id="21" name="Image 5" descr="preencoded.png">    </p:cNvPr>
          <p:cNvPicPr>
            <a:picLocks noChangeAspect="1"/>
          </p:cNvPicPr>
          <p:nvPr/>
        </p:nvPicPr>
        <p:blipFill>
          <a:blip r:embed="rId6"/>
          <a:stretch>
            <a:fillRect/>
          </a:stretch>
        </p:blipFill>
        <p:spPr>
          <a:xfrm>
            <a:off x="6485976" y="4453128"/>
            <a:ext cx="329184" cy="329184"/>
          </a:xfrm>
          <a:prstGeom prst="rect">
            <a:avLst/>
          </a:prstGeom>
        </p:spPr>
      </p:pic>
      <p:sp>
        <p:nvSpPr>
          <p:cNvPr id="22" name="Text 14"/>
          <p:cNvSpPr txBox="1"/>
          <p:nvPr/>
        </p:nvSpPr>
        <p:spPr>
          <a:xfrm>
            <a:off x="6141568" y="5029200"/>
            <a:ext cx="1018002" cy="640080"/>
          </a:xfrm>
          <a:prstGeom prst="rect">
            <a:avLst/>
          </a:prstGeom>
          <a:noFill/>
          <a:ln/>
        </p:spPr>
        <p:txBody>
          <a:bodyPr wrap="square" lIns="0" tIns="0" rIns="0" bIns="0" rtlCol="0" anchor="t"/>
          <a:lstStyle/>
          <a:p>
            <a:pPr algn="ctr" indent="0" marL="0">
              <a:buNone/>
            </a:pPr>
            <a:r>
              <a:rPr lang="en-US" sz="1000" dirty="0">
                <a:solidFill>
                  <a:srgbClr val="FFFFFF"/>
                </a:solidFill>
              </a:rPr>
              <a:t>Contraindications</a:t>
            </a:r>
            <a:endParaRPr lang="en-US" sz="1000" dirty="0"/>
          </a:p>
        </p:txBody>
      </p:sp>
      <p:sp>
        <p:nvSpPr>
          <p:cNvPr id="23" name="Shape 15"/>
          <p:cNvSpPr/>
          <p:nvPr/>
        </p:nvSpPr>
        <p:spPr>
          <a:xfrm>
            <a:off x="7439970" y="4297680"/>
            <a:ext cx="640080" cy="640080"/>
          </a:xfrm>
          <a:prstGeom prst="ellipse">
            <a:avLst/>
          </a:prstGeom>
          <a:solidFill>
            <a:srgbClr val="7F6000"/>
          </a:solidFill>
          <a:ln w="19050">
            <a:solidFill>
              <a:srgbClr val="FFFFFF"/>
            </a:solidFill>
            <a:prstDash val="solid"/>
          </a:ln>
        </p:spPr>
      </p:sp>
      <p:pic>
        <p:nvPicPr>
          <p:cNvPr id="24" name="Image 6" descr="preencoded.png">    </p:cNvPr>
          <p:cNvPicPr>
            <a:picLocks noChangeAspect="1"/>
          </p:cNvPicPr>
          <p:nvPr/>
        </p:nvPicPr>
        <p:blipFill>
          <a:blip r:embed="rId7"/>
          <a:stretch>
            <a:fillRect/>
          </a:stretch>
        </p:blipFill>
        <p:spPr>
          <a:xfrm>
            <a:off x="7595418" y="4453128"/>
            <a:ext cx="329184" cy="329184"/>
          </a:xfrm>
          <a:prstGeom prst="rect">
            <a:avLst/>
          </a:prstGeom>
        </p:spPr>
      </p:pic>
      <p:sp>
        <p:nvSpPr>
          <p:cNvPr id="25" name="Text 16"/>
          <p:cNvSpPr txBox="1"/>
          <p:nvPr/>
        </p:nvSpPr>
        <p:spPr>
          <a:xfrm>
            <a:off x="7251009" y="5029200"/>
            <a:ext cx="1018002" cy="640080"/>
          </a:xfrm>
          <a:prstGeom prst="rect">
            <a:avLst/>
          </a:prstGeom>
          <a:noFill/>
          <a:ln/>
        </p:spPr>
        <p:txBody>
          <a:bodyPr wrap="square" lIns="0" tIns="0" rIns="0" bIns="0" rtlCol="0" anchor="t"/>
          <a:lstStyle/>
          <a:p>
            <a:pPr algn="ctr" indent="0" marL="0">
              <a:buNone/>
            </a:pPr>
            <a:r>
              <a:rPr lang="en-US" sz="1000" dirty="0">
                <a:solidFill>
                  <a:srgbClr val="FFFFFF"/>
                </a:solidFill>
              </a:rPr>
              <a:t>Drug interactions</a:t>
            </a:r>
            <a:endParaRPr lang="en-US" sz="1000" dirty="0"/>
          </a:p>
        </p:txBody>
      </p:sp>
      <p:sp>
        <p:nvSpPr>
          <p:cNvPr id="26" name="Shape 17"/>
          <p:cNvSpPr/>
          <p:nvPr/>
        </p:nvSpPr>
        <p:spPr>
          <a:xfrm>
            <a:off x="8549411" y="4297680"/>
            <a:ext cx="640080" cy="640080"/>
          </a:xfrm>
          <a:prstGeom prst="ellipse">
            <a:avLst/>
          </a:prstGeom>
          <a:solidFill>
            <a:srgbClr val="2E75B6"/>
          </a:solidFill>
          <a:ln w="19050">
            <a:solidFill>
              <a:srgbClr val="FFFFFF"/>
            </a:solidFill>
            <a:prstDash val="solid"/>
          </a:ln>
        </p:spPr>
      </p:sp>
      <p:pic>
        <p:nvPicPr>
          <p:cNvPr id="27" name="Image 7" descr="preencoded.png">    </p:cNvPr>
          <p:cNvPicPr>
            <a:picLocks noChangeAspect="1"/>
          </p:cNvPicPr>
          <p:nvPr/>
        </p:nvPicPr>
        <p:blipFill>
          <a:blip r:embed="rId8"/>
          <a:stretch>
            <a:fillRect/>
          </a:stretch>
        </p:blipFill>
        <p:spPr>
          <a:xfrm>
            <a:off x="8704859" y="4453128"/>
            <a:ext cx="329184" cy="329184"/>
          </a:xfrm>
          <a:prstGeom prst="rect">
            <a:avLst/>
          </a:prstGeom>
        </p:spPr>
      </p:pic>
      <p:sp>
        <p:nvSpPr>
          <p:cNvPr id="28" name="Text 18"/>
          <p:cNvSpPr txBox="1"/>
          <p:nvPr/>
        </p:nvSpPr>
        <p:spPr>
          <a:xfrm>
            <a:off x="8360451" y="5029200"/>
            <a:ext cx="1018002" cy="640080"/>
          </a:xfrm>
          <a:prstGeom prst="rect">
            <a:avLst/>
          </a:prstGeom>
          <a:noFill/>
          <a:ln/>
        </p:spPr>
        <p:txBody>
          <a:bodyPr wrap="square" lIns="0" tIns="0" rIns="0" bIns="0" rtlCol="0" anchor="t"/>
          <a:lstStyle/>
          <a:p>
            <a:pPr algn="ctr" indent="0" marL="0">
              <a:buNone/>
            </a:pPr>
            <a:r>
              <a:rPr lang="en-US" sz="1000" dirty="0">
                <a:solidFill>
                  <a:srgbClr val="FFFFFF"/>
                </a:solidFill>
              </a:rPr>
              <a:t>Pharmacokinetics</a:t>
            </a:r>
            <a:endParaRPr lang="en-US" sz="1000" dirty="0"/>
          </a:p>
        </p:txBody>
      </p:sp>
      <p:sp>
        <p:nvSpPr>
          <p:cNvPr id="29" name="Shape 19"/>
          <p:cNvSpPr/>
          <p:nvPr/>
        </p:nvSpPr>
        <p:spPr>
          <a:xfrm>
            <a:off x="9658853" y="4297680"/>
            <a:ext cx="640080" cy="640080"/>
          </a:xfrm>
          <a:prstGeom prst="ellipse">
            <a:avLst/>
          </a:prstGeom>
          <a:solidFill>
            <a:srgbClr val="1F7A7A"/>
          </a:solidFill>
          <a:ln w="19050">
            <a:solidFill>
              <a:srgbClr val="FFFFFF"/>
            </a:solidFill>
            <a:prstDash val="solid"/>
          </a:ln>
        </p:spPr>
      </p:sp>
      <p:pic>
        <p:nvPicPr>
          <p:cNvPr id="30" name="Image 8" descr="preencoded.png">    </p:cNvPr>
          <p:cNvPicPr>
            <a:picLocks noChangeAspect="1"/>
          </p:cNvPicPr>
          <p:nvPr/>
        </p:nvPicPr>
        <p:blipFill>
          <a:blip r:embed="rId9"/>
          <a:stretch>
            <a:fillRect/>
          </a:stretch>
        </p:blipFill>
        <p:spPr>
          <a:xfrm>
            <a:off x="9814301" y="4453128"/>
            <a:ext cx="329184" cy="329184"/>
          </a:xfrm>
          <a:prstGeom prst="rect">
            <a:avLst/>
          </a:prstGeom>
        </p:spPr>
      </p:pic>
      <p:sp>
        <p:nvSpPr>
          <p:cNvPr id="31" name="Text 20"/>
          <p:cNvSpPr txBox="1"/>
          <p:nvPr/>
        </p:nvSpPr>
        <p:spPr>
          <a:xfrm>
            <a:off x="9469892" y="5029200"/>
            <a:ext cx="1018002" cy="640080"/>
          </a:xfrm>
          <a:prstGeom prst="rect">
            <a:avLst/>
          </a:prstGeom>
          <a:noFill/>
          <a:ln/>
        </p:spPr>
        <p:txBody>
          <a:bodyPr wrap="square" lIns="0" tIns="0" rIns="0" bIns="0" rtlCol="0" anchor="t"/>
          <a:lstStyle/>
          <a:p>
            <a:pPr algn="ctr" indent="0" marL="0">
              <a:buNone/>
            </a:pPr>
            <a:r>
              <a:rPr lang="en-US" sz="1000" dirty="0">
                <a:solidFill>
                  <a:srgbClr val="FFFFFF"/>
                </a:solidFill>
              </a:rPr>
              <a:t>Monitoring</a:t>
            </a:r>
            <a:endParaRPr lang="en-US" sz="1000" dirty="0"/>
          </a:p>
        </p:txBody>
      </p:sp>
      <p:sp>
        <p:nvSpPr>
          <p:cNvPr id="32" name="Shape 21"/>
          <p:cNvSpPr/>
          <p:nvPr/>
        </p:nvSpPr>
        <p:spPr>
          <a:xfrm>
            <a:off x="10768294" y="4297680"/>
            <a:ext cx="640080" cy="640080"/>
          </a:xfrm>
          <a:prstGeom prst="ellipse">
            <a:avLst/>
          </a:prstGeom>
          <a:solidFill>
            <a:srgbClr val="2E75B6"/>
          </a:solidFill>
          <a:ln w="19050">
            <a:solidFill>
              <a:srgbClr val="FFFFFF"/>
            </a:solidFill>
            <a:prstDash val="solid"/>
          </a:ln>
        </p:spPr>
      </p:sp>
      <p:pic>
        <p:nvPicPr>
          <p:cNvPr id="33" name="Image 9" descr="preencoded.png">    </p:cNvPr>
          <p:cNvPicPr>
            <a:picLocks noChangeAspect="1"/>
          </p:cNvPicPr>
          <p:nvPr/>
        </p:nvPicPr>
        <p:blipFill>
          <a:blip r:embed="rId10"/>
          <a:stretch>
            <a:fillRect/>
          </a:stretch>
        </p:blipFill>
        <p:spPr>
          <a:xfrm>
            <a:off x="10923742" y="4453128"/>
            <a:ext cx="329184" cy="329184"/>
          </a:xfrm>
          <a:prstGeom prst="rect">
            <a:avLst/>
          </a:prstGeom>
        </p:spPr>
      </p:pic>
      <p:sp>
        <p:nvSpPr>
          <p:cNvPr id="34" name="Text 22"/>
          <p:cNvSpPr txBox="1"/>
          <p:nvPr/>
        </p:nvSpPr>
        <p:spPr>
          <a:xfrm>
            <a:off x="10579334" y="5029200"/>
            <a:ext cx="1018002" cy="640080"/>
          </a:xfrm>
          <a:prstGeom prst="rect">
            <a:avLst/>
          </a:prstGeom>
          <a:noFill/>
          <a:ln/>
        </p:spPr>
        <p:txBody>
          <a:bodyPr wrap="square" lIns="0" tIns="0" rIns="0" bIns="0" rtlCol="0" anchor="t"/>
          <a:lstStyle/>
          <a:p>
            <a:pPr algn="ctr" indent="0" marL="0">
              <a:buNone/>
            </a:pPr>
            <a:r>
              <a:rPr lang="en-US" sz="1000" dirty="0">
                <a:solidFill>
                  <a:srgbClr val="FFFFFF"/>
                </a:solidFill>
              </a:rPr>
              <a:t>Clinical pearls</a:t>
            </a:r>
            <a:endParaRPr lang="en-US" sz="1000" dirty="0"/>
          </a:p>
        </p:txBody>
      </p:sp>
      <p:sp>
        <p:nvSpPr>
          <p:cNvPr id="35" name="Text 23"/>
          <p:cNvSpPr txBox="1"/>
          <p:nvPr/>
        </p:nvSpPr>
        <p:spPr>
          <a:xfrm>
            <a:off x="10728655" y="6419088"/>
            <a:ext cx="914400" cy="274320"/>
          </a:xfrm>
          <a:prstGeom prst="rect">
            <a:avLst/>
          </a:prstGeom>
          <a:noFill/>
          <a:ln/>
        </p:spPr>
        <p:txBody>
          <a:bodyPr wrap="square" lIns="0" tIns="0" rIns="0" bIns="0" rtlCol="0" anchor="ctr"/>
          <a:lstStyle/>
          <a:p>
            <a:pPr algn="r" indent="0" marL="0">
              <a:buNone/>
            </a:pPr>
            <a:r>
              <a:rPr lang="en-US" sz="1000" dirty="0">
                <a:solidFill>
                  <a:srgbClr val="D6E0F5"/>
                </a:solidFill>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Kicker"/>
          <p:cNvSpPr txBox="1"/>
          <p:nvPr/>
        </p:nvSpPr>
        <p:spPr>
          <a:xfrm>
            <a:off x="548640" y="292608"/>
            <a:ext cx="8076895" cy="274320"/>
          </a:xfrm>
          <a:prstGeom prst="rect">
            <a:avLst/>
          </a:prstGeom>
          <a:noFill/>
          <a:ln/>
        </p:spPr>
        <p:txBody>
          <a:bodyPr wrap="square" lIns="0" tIns="0" rIns="0" bIns="0" rtlCol="0" anchor="ctr"/>
          <a:lstStyle/>
          <a:p>
            <a:pPr indent="0" marL="0">
              <a:buNone/>
            </a:pPr>
            <a:r>
              <a:rPr lang="en-US" sz="1200" b="1" spc="100" kern="0" dirty="0">
                <a:solidFill>
                  <a:srgbClr val="4472C4"/>
                </a:solidFill>
              </a:rPr>
              <a:t>GOUT: ACUTE FLARES &amp; URATE-LOWERING THERAPY</a:t>
            </a:r>
            <a:endParaRPr lang="en-US" sz="1200" dirty="0"/>
          </a:p>
        </p:txBody>
      </p:sp>
      <p:sp>
        <p:nvSpPr>
          <p:cNvPr id="3" name="Title"/>
          <p:cNvSpPr txBox="1"/>
          <p:nvPr/>
        </p:nvSpPr>
        <p:spPr>
          <a:xfrm>
            <a:off x="548640" y="566928"/>
            <a:ext cx="8076895" cy="713232"/>
          </a:xfrm>
          <a:prstGeom prst="rect">
            <a:avLst/>
          </a:prstGeom>
          <a:noFill/>
          <a:ln/>
        </p:spPr>
        <p:txBody>
          <a:bodyPr wrap="square" lIns="0" tIns="0" rIns="0" bIns="0" rtlCol="0" anchor="t"/>
          <a:lstStyle/>
          <a:p>
            <a:pPr indent="0" marL="0">
              <a:buNone/>
            </a:pPr>
            <a:r>
              <a:rPr lang="en-US" sz="3000" b="1" dirty="0">
                <a:solidFill>
                  <a:srgbClr val="1F1F1F"/>
                </a:solidFill>
                <a:latin typeface="Calibri" pitchFamily="34" charset="0"/>
                <a:ea typeface="Calibri" pitchFamily="34" charset="-122"/>
                <a:cs typeface="Calibri" pitchFamily="34" charset="-120"/>
              </a:rPr>
              <a:t>Class</a:t>
            </a:r>
            <a:endParaRPr lang="en-US" sz="3000" dirty="0"/>
          </a:p>
        </p:txBody>
      </p:sp>
      <p:sp>
        <p:nvSpPr>
          <p:cNvPr id="4" name="Objective chip"/>
          <p:cNvSpPr/>
          <p:nvPr/>
        </p:nvSpPr>
        <p:spPr>
          <a:xfrm>
            <a:off x="8899855" y="365760"/>
            <a:ext cx="2743200" cy="384048"/>
          </a:xfrm>
          <a:prstGeom prst="roundRect">
            <a:avLst>
              <a:gd name="adj" fmla="val 35714"/>
            </a:avLst>
          </a:prstGeom>
          <a:solidFill>
            <a:srgbClr val="E3EBF8"/>
          </a:solidFill>
          <a:ln/>
        </p:spPr>
        <p:txBody>
          <a:bodyPr wrap="square" lIns="25400" tIns="25400" rIns="25400" bIns="25400" rtlCol="0" anchor="ctr"/>
          <a:lstStyle/>
          <a:p>
            <a:pPr algn="ctr" indent="0" marL="0">
              <a:buNone/>
            </a:pPr>
            <a:r>
              <a:rPr lang="en-US" sz="800" b="1" dirty="0">
                <a:solidFill>
                  <a:srgbClr val="2F4F8A"/>
                </a:solidFill>
              </a:rPr>
              <a:t>Objectives: SO1 · SO4 · IO2.1 · IO2.2 · IO2.3 · IO2.4 · IO2.5</a:t>
            </a:r>
            <a:endParaRPr lang="en-US" sz="800" dirty="0"/>
          </a:p>
        </p:txBody>
      </p:sp>
      <p:sp>
        <p:nvSpPr>
          <p:cNvPr id="5" name="Footer"/>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1000" dirty="0">
                <a:solidFill>
                  <a:srgbClr val="666666"/>
                </a:solidFill>
              </a:rPr>
              <a:t>L04 · Musculoskeletal Pharmacology — Session 2</a:t>
            </a:r>
            <a:endParaRPr lang="en-US" sz="1000" dirty="0"/>
          </a:p>
        </p:txBody>
      </p:sp>
      <p:sp>
        <p:nvSpPr>
          <p:cNvPr id="6" name="Slide number"/>
          <p:cNvSpPr txBox="1"/>
          <p:nvPr/>
        </p:nvSpPr>
        <p:spPr>
          <a:xfrm>
            <a:off x="10728655" y="6419088"/>
            <a:ext cx="914400" cy="274320"/>
          </a:xfrm>
          <a:prstGeom prst="rect">
            <a:avLst/>
          </a:prstGeom>
          <a:noFill/>
          <a:ln/>
        </p:spPr>
        <p:txBody>
          <a:bodyPr wrap="square" lIns="0" tIns="0" rIns="0" bIns="0" rtlCol="0" anchor="ctr"/>
          <a:lstStyle/>
          <a:p>
            <a:pPr algn="r" indent="0" marL="0">
              <a:buNone/>
            </a:pPr>
            <a:r>
              <a:rPr lang="en-US" sz="1000" dirty="0">
                <a:solidFill>
                  <a:srgbClr val="666666"/>
                </a:solidFill>
              </a:rPr>
              <a:t>9</a:t>
            </a:r>
            <a:endParaRPr lang="en-US" sz="1000" dirty="0"/>
          </a:p>
        </p:txBody>
      </p:sp>
      <p:sp>
        <p:nvSpPr>
          <p:cNvPr id="7" name="Class (1/2) card"/>
          <p:cNvSpPr/>
          <p:nvPr/>
        </p:nvSpPr>
        <p:spPr>
          <a:xfrm>
            <a:off x="548640" y="1325880"/>
            <a:ext cx="11094415" cy="4777740"/>
          </a:xfrm>
          <a:prstGeom prst="roundRect">
            <a:avLst>
              <a:gd name="adj" fmla="val 2297"/>
            </a:avLst>
          </a:prstGeom>
          <a:solidFill>
            <a:srgbClr val="F2F4F7"/>
          </a:solidFill>
          <a:ln w="12700">
            <a:solidFill>
              <a:srgbClr val="F2F4F7"/>
            </a:solidFill>
            <a:prstDash val="solid"/>
          </a:ln>
        </p:spPr>
      </p:sp>
      <p:sp>
        <p:nvSpPr>
          <p:cNvPr id="8" name="Class (1/2) icon circle"/>
          <p:cNvSpPr/>
          <p:nvPr/>
        </p:nvSpPr>
        <p:spPr>
          <a:xfrm>
            <a:off x="777240" y="1508760"/>
            <a:ext cx="438912" cy="438912"/>
          </a:xfrm>
          <a:prstGeom prst="ellipse">
            <a:avLst/>
          </a:prstGeom>
          <a:solidFill>
            <a:srgbClr val="44546A"/>
          </a:solidFill>
          <a:ln w="12700">
            <a:solidFill>
              <a:srgbClr val="44546A"/>
            </a:solidFill>
            <a:prstDash val="solid"/>
          </a:ln>
        </p:spPr>
      </p:sp>
      <p:pic>
        <p:nvPicPr>
          <p:cNvPr id="9" name="Class (1/2) icon" descr="preencoded.png">    </p:cNvPr>
          <p:cNvPicPr>
            <a:picLocks noChangeAspect="1"/>
          </p:cNvPicPr>
          <p:nvPr/>
        </p:nvPicPr>
        <p:blipFill>
          <a:blip r:embed="rId1"/>
          <a:stretch>
            <a:fillRect/>
          </a:stretch>
        </p:blipFill>
        <p:spPr>
          <a:xfrm>
            <a:off x="877824" y="1609344"/>
            <a:ext cx="237744" cy="237744"/>
          </a:xfrm>
          <a:prstGeom prst="rect">
            <a:avLst/>
          </a:prstGeom>
        </p:spPr>
      </p:pic>
      <p:sp>
        <p:nvSpPr>
          <p:cNvPr id="10" name="Class (1/2) heading"/>
          <p:cNvSpPr txBox="1"/>
          <p:nvPr/>
        </p:nvSpPr>
        <p:spPr>
          <a:xfrm>
            <a:off x="1353312" y="1508760"/>
            <a:ext cx="10088575" cy="438912"/>
          </a:xfrm>
          <a:prstGeom prst="rect">
            <a:avLst/>
          </a:prstGeom>
          <a:noFill/>
          <a:ln/>
        </p:spPr>
        <p:txBody>
          <a:bodyPr wrap="square" lIns="0" tIns="0" rIns="0" bIns="0" rtlCol="0" anchor="ctr"/>
          <a:lstStyle/>
          <a:p>
            <a:pPr indent="0" marL="0">
              <a:buNone/>
            </a:pPr>
            <a:r>
              <a:rPr lang="en-US" sz="1800" b="1" dirty="0">
                <a:solidFill>
                  <a:srgbClr val="44546A"/>
                </a:solidFill>
              </a:rPr>
              <a:t>Class (1/2)</a:t>
            </a:r>
            <a:endParaRPr lang="en-US" sz="1800" dirty="0"/>
          </a:p>
        </p:txBody>
      </p:sp>
      <p:sp>
        <p:nvSpPr>
          <p:cNvPr id="11" name="Class (1/2) body"/>
          <p:cNvSpPr txBox="1"/>
          <p:nvPr/>
        </p:nvSpPr>
        <p:spPr>
          <a:xfrm>
            <a:off x="777240" y="2075688"/>
            <a:ext cx="10637215" cy="3909060"/>
          </a:xfrm>
          <a:prstGeom prst="rect">
            <a:avLst/>
          </a:prstGeom>
          <a:noFill/>
          <a:ln/>
        </p:spPr>
        <p:txBody>
          <a:bodyPr wrap="square" lIns="0" tIns="0" rIns="0" bIns="0" rtlCol="0" anchor="t"/>
          <a:lstStyle/>
          <a:p>
            <a:pPr marL="228600" indent="-228600">
              <a:spcAft>
                <a:spcPts val="800"/>
              </a:spcAft>
              <a:buSzPct val="100000"/>
              <a:buChar char="•"/>
            </a:pPr>
            <a:r>
              <a:rPr lang="en-US" sz="1800" dirty="0">
                <a:solidFill>
                  <a:srgbClr val="1F1F1F"/>
                </a:solidFill>
              </a:rPr>
              <a:t>Gout is a crystal-driven inflammatory arthritis with </a:t>
            </a:r>
            <a:r>
              <a:rPr lang="en-US" sz="1800" b="1" dirty="0">
                <a:solidFill>
                  <a:srgbClr val="1F1F1F"/>
                </a:solidFill>
              </a:rPr>
              <a:t>two very different treatment phases</a:t>
            </a:r>
            <a:r>
              <a:rPr lang="en-US" sz="1800" dirty="0">
                <a:solidFill>
                  <a:srgbClr val="1F1F1F"/>
                </a:solidFill>
              </a:rPr>
              <a:t>.</a:t>
            </a:r>
            <a:r>
              <a:rPr lang="en-US" sz="1300" dirty="0">
                <a:solidFill>
                  <a:srgbClr val="666666"/>
                </a:solidFill>
              </a:rPr>
              <a:t>  S3</a:t>
            </a:r>
            <a:endParaRPr lang="en-US" sz="1800" dirty="0"/>
          </a:p>
          <a:p>
            <a:pPr marL="228600" indent="-228600">
              <a:spcAft>
                <a:spcPts val="800"/>
              </a:spcAft>
              <a:buSzPct val="100000"/>
              <a:buChar char="•"/>
            </a:pPr>
            <a:r>
              <a:rPr lang="en-US" sz="1800" b="1" dirty="0">
                <a:solidFill>
                  <a:srgbClr val="1F1F1F"/>
                </a:solidFill>
              </a:rPr>
              <a:t>The chain:</a:t>
            </a:r>
            <a:r>
              <a:rPr lang="en-US" sz="1800" dirty="0">
                <a:solidFill>
                  <a:srgbClr val="1F1F1F"/>
                </a:solidFill>
              </a:rPr>
              <a:t> purine metabolism → uric acid → monosodium urate crystals → joint inflammation. Everything downstream — colchicine, allopurinol, febuxostat, probenecid — targets a specific point along this chain.</a:t>
            </a:r>
            <a:r>
              <a:rPr lang="en-US" sz="1300" dirty="0">
                <a:solidFill>
                  <a:srgbClr val="666666"/>
                </a:solidFill>
              </a:rPr>
              <a:t>  S4; S4 (notes)</a:t>
            </a:r>
            <a:endParaRPr lang="en-US" sz="1800" dirty="0"/>
          </a:p>
          <a:p>
            <a:pPr marL="228600" indent="-228600">
              <a:spcAft>
                <a:spcPts val="800"/>
              </a:spcAft>
              <a:buSzPct val="100000"/>
              <a:buChar char="•"/>
            </a:pPr>
            <a:r>
              <a:rPr lang="en-US" sz="1800" b="1" dirty="0">
                <a:solidFill>
                  <a:srgbClr val="1F1F1F"/>
                </a:solidFill>
              </a:rPr>
              <a:t>Purine breakdown:</a:t>
            </a:r>
            <a:r>
              <a:rPr lang="en-US" sz="1800" dirty="0">
                <a:solidFill>
                  <a:srgbClr val="1F1F1F"/>
                </a:solidFill>
              </a:rPr>
              <a:t> hypoxanthine → xanthine → uric acid (via </a:t>
            </a:r>
            <a:r>
              <a:rPr lang="en-US" sz="1800" b="1" dirty="0">
                <a:solidFill>
                  <a:srgbClr val="1F1F1F"/>
                </a:solidFill>
              </a:rPr>
              <a:t>xanthine oxidase</a:t>
            </a:r>
            <a:r>
              <a:rPr lang="en-US" sz="1800" dirty="0">
                <a:solidFill>
                  <a:srgbClr val="1F1F1F"/>
                </a:solidFill>
              </a:rPr>
              <a:t>) → hyperuricemia → urate crystals in the joint.</a:t>
            </a:r>
            <a:r>
              <a:rPr lang="en-US" sz="1300" dirty="0">
                <a:solidFill>
                  <a:srgbClr val="666666"/>
                </a:solidFill>
              </a:rPr>
              <a:t>  S5</a:t>
            </a:r>
            <a:endParaRPr lang="en-US" sz="1800" dirty="0"/>
          </a:p>
          <a:p>
            <a:pPr marL="228600" indent="-228600">
              <a:spcAft>
                <a:spcPts val="800"/>
              </a:spcAft>
              <a:buSzPct val="100000"/>
              <a:buChar char="•"/>
            </a:pPr>
            <a:r>
              <a:rPr lang="en-US" sz="1800" dirty="0">
                <a:solidFill>
                  <a:srgbClr val="1F1F1F"/>
                </a:solidFill>
              </a:rPr>
              <a:t>Crystals activate neutrophils and macrophages (</a:t>
            </a:r>
            <a:r>
              <a:rPr lang="en-US" sz="1800" b="1" dirty="0">
                <a:solidFill>
                  <a:srgbClr val="1F1F1F"/>
                </a:solidFill>
              </a:rPr>
              <a:t>NLRP3, IL-1β</a:t>
            </a:r>
            <a:r>
              <a:rPr lang="en-US" sz="1800" dirty="0">
                <a:solidFill>
                  <a:srgbClr val="1F1F1F"/>
                </a:solidFill>
              </a:rPr>
              <a:t>) → the acute flare, the end of the cascade.</a:t>
            </a:r>
            <a:r>
              <a:rPr lang="en-US" sz="1300" dirty="0">
                <a:solidFill>
                  <a:srgbClr val="666666"/>
                </a:solidFill>
              </a:rPr>
              <a:t>  S5</a:t>
            </a:r>
            <a:endParaRPr lang="en-US" sz="1800" dirty="0"/>
          </a:p>
          <a:p>
            <a:pPr marL="228600" indent="-228600">
              <a:spcAft>
                <a:spcPts val="800"/>
              </a:spcAft>
              <a:buSzPct val="100000"/>
              <a:buChar char="•"/>
            </a:pPr>
            <a:r>
              <a:rPr lang="en-US" sz="1800" b="1" dirty="0">
                <a:solidFill>
                  <a:srgbClr val="1F1F1F"/>
                </a:solidFill>
              </a:rPr>
              <a:t>Raise urate:</a:t>
            </a:r>
            <a:r>
              <a:rPr lang="en-US" sz="1800" dirty="0">
                <a:solidFill>
                  <a:srgbClr val="1F1F1F"/>
                </a:solidFill>
              </a:rPr>
              <a:t> diets rich in purines and fructose; alcohol, especially beer (more production, less renal excretion).</a:t>
            </a:r>
            <a:r>
              <a:rPr lang="en-US" sz="1300" dirty="0">
                <a:solidFill>
                  <a:srgbClr val="666666"/>
                </a:solidFill>
              </a:rPr>
              <a:t>  S5</a:t>
            </a:r>
            <a:endParaRPr lang="en-US" sz="1800" dirty="0"/>
          </a:p>
          <a:p>
            <a:pPr marL="228600" indent="-228600">
              <a:spcAft>
                <a:spcPts val="800"/>
              </a:spcAft>
              <a:buSzPct val="100000"/>
              <a:buChar char="•"/>
            </a:pPr>
            <a:r>
              <a:rPr lang="en-US" sz="1800" b="1" dirty="0">
                <a:solidFill>
                  <a:srgbClr val="1F1F1F"/>
                </a:solidFill>
              </a:rPr>
              <a:t>Lower urate excretion:</a:t>
            </a:r>
            <a:r>
              <a:rPr lang="en-US" sz="1800" dirty="0">
                <a:solidFill>
                  <a:srgbClr val="1F1F1F"/>
                </a:solidFill>
              </a:rPr>
              <a:t> diuretics, especially thiazides and loop agents; chronic kidney disease sustains hyperuricemia.</a:t>
            </a:r>
            <a:r>
              <a:rPr lang="en-US" sz="1300" dirty="0">
                <a:solidFill>
                  <a:srgbClr val="666666"/>
                </a:solidFill>
              </a:rPr>
              <a:t>  S5</a:t>
            </a:r>
            <a:endParaRPr lang="en-US" sz="1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Kicker"/>
          <p:cNvSpPr txBox="1"/>
          <p:nvPr/>
        </p:nvSpPr>
        <p:spPr>
          <a:xfrm>
            <a:off x="548640" y="292608"/>
            <a:ext cx="8076895" cy="274320"/>
          </a:xfrm>
          <a:prstGeom prst="rect">
            <a:avLst/>
          </a:prstGeom>
          <a:noFill/>
          <a:ln/>
        </p:spPr>
        <p:txBody>
          <a:bodyPr wrap="square" lIns="0" tIns="0" rIns="0" bIns="0" rtlCol="0" anchor="ctr"/>
          <a:lstStyle/>
          <a:p>
            <a:pPr indent="0" marL="0">
              <a:buNone/>
            </a:pPr>
            <a:r>
              <a:rPr lang="en-US" sz="1200" b="1" spc="100" kern="0" dirty="0">
                <a:solidFill>
                  <a:srgbClr val="4472C4"/>
                </a:solidFill>
              </a:rPr>
              <a:t>GOUT: ACUTE FLARES &amp; URATE-LOWERING THERAPY</a:t>
            </a:r>
            <a:endParaRPr lang="en-US" sz="1200" dirty="0"/>
          </a:p>
        </p:txBody>
      </p:sp>
      <p:sp>
        <p:nvSpPr>
          <p:cNvPr id="3" name="Title"/>
          <p:cNvSpPr txBox="1"/>
          <p:nvPr/>
        </p:nvSpPr>
        <p:spPr>
          <a:xfrm>
            <a:off x="548640" y="566928"/>
            <a:ext cx="8076895" cy="713232"/>
          </a:xfrm>
          <a:prstGeom prst="rect">
            <a:avLst/>
          </a:prstGeom>
          <a:noFill/>
          <a:ln/>
        </p:spPr>
        <p:txBody>
          <a:bodyPr wrap="square" lIns="0" tIns="0" rIns="0" bIns="0" rtlCol="0" anchor="t"/>
          <a:lstStyle/>
          <a:p>
            <a:pPr indent="0" marL="0">
              <a:buNone/>
            </a:pPr>
            <a:r>
              <a:rPr lang="en-US" sz="3000" b="1" dirty="0">
                <a:solidFill>
                  <a:srgbClr val="1F1F1F"/>
                </a:solidFill>
                <a:latin typeface="Calibri" pitchFamily="34" charset="0"/>
                <a:ea typeface="Calibri" pitchFamily="34" charset="-122"/>
                <a:cs typeface="Calibri" pitchFamily="34" charset="-120"/>
              </a:rPr>
              <a:t>Class (cont.)</a:t>
            </a:r>
            <a:endParaRPr lang="en-US" sz="3000" dirty="0"/>
          </a:p>
        </p:txBody>
      </p:sp>
      <p:sp>
        <p:nvSpPr>
          <p:cNvPr id="4" name="Objective chip"/>
          <p:cNvSpPr/>
          <p:nvPr/>
        </p:nvSpPr>
        <p:spPr>
          <a:xfrm>
            <a:off x="8899855" y="365760"/>
            <a:ext cx="2743200" cy="384048"/>
          </a:xfrm>
          <a:prstGeom prst="roundRect">
            <a:avLst>
              <a:gd name="adj" fmla="val 35714"/>
            </a:avLst>
          </a:prstGeom>
          <a:solidFill>
            <a:srgbClr val="E3EBF8"/>
          </a:solidFill>
          <a:ln/>
        </p:spPr>
        <p:txBody>
          <a:bodyPr wrap="square" lIns="25400" tIns="25400" rIns="25400" bIns="25400" rtlCol="0" anchor="ctr"/>
          <a:lstStyle/>
          <a:p>
            <a:pPr algn="ctr" indent="0" marL="0">
              <a:buNone/>
            </a:pPr>
            <a:r>
              <a:rPr lang="en-US" sz="800" b="1" dirty="0">
                <a:solidFill>
                  <a:srgbClr val="2F4F8A"/>
                </a:solidFill>
              </a:rPr>
              <a:t>Objectives: SO1 · SO4 · IO2.1 · IO2.2 · IO2.3 · IO2.4 · IO2.5</a:t>
            </a:r>
            <a:endParaRPr lang="en-US" sz="800" dirty="0"/>
          </a:p>
        </p:txBody>
      </p:sp>
      <p:sp>
        <p:nvSpPr>
          <p:cNvPr id="5" name="Footer"/>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1000" dirty="0">
                <a:solidFill>
                  <a:srgbClr val="666666"/>
                </a:solidFill>
              </a:rPr>
              <a:t>L04 · Musculoskeletal Pharmacology — Session 2</a:t>
            </a:r>
            <a:endParaRPr lang="en-US" sz="1000" dirty="0"/>
          </a:p>
        </p:txBody>
      </p:sp>
      <p:sp>
        <p:nvSpPr>
          <p:cNvPr id="6" name="Slide number"/>
          <p:cNvSpPr txBox="1"/>
          <p:nvPr/>
        </p:nvSpPr>
        <p:spPr>
          <a:xfrm>
            <a:off x="10728655" y="6419088"/>
            <a:ext cx="914400" cy="274320"/>
          </a:xfrm>
          <a:prstGeom prst="rect">
            <a:avLst/>
          </a:prstGeom>
          <a:noFill/>
          <a:ln/>
        </p:spPr>
        <p:txBody>
          <a:bodyPr wrap="square" lIns="0" tIns="0" rIns="0" bIns="0" rtlCol="0" anchor="ctr"/>
          <a:lstStyle/>
          <a:p>
            <a:pPr algn="r" indent="0" marL="0">
              <a:buNone/>
            </a:pPr>
            <a:r>
              <a:rPr lang="en-US" sz="1000" dirty="0">
                <a:solidFill>
                  <a:srgbClr val="666666"/>
                </a:solidFill>
              </a:rPr>
              <a:t>10</a:t>
            </a:r>
            <a:endParaRPr lang="en-US" sz="1000" dirty="0"/>
          </a:p>
        </p:txBody>
      </p:sp>
      <p:sp>
        <p:nvSpPr>
          <p:cNvPr id="7" name="Class (2/2) card"/>
          <p:cNvSpPr/>
          <p:nvPr/>
        </p:nvSpPr>
        <p:spPr>
          <a:xfrm>
            <a:off x="548640" y="1325880"/>
            <a:ext cx="11094415" cy="4389120"/>
          </a:xfrm>
          <a:prstGeom prst="roundRect">
            <a:avLst>
              <a:gd name="adj" fmla="val 2500"/>
            </a:avLst>
          </a:prstGeom>
          <a:solidFill>
            <a:srgbClr val="F2F4F7"/>
          </a:solidFill>
          <a:ln w="12700">
            <a:solidFill>
              <a:srgbClr val="F2F4F7"/>
            </a:solidFill>
            <a:prstDash val="solid"/>
          </a:ln>
        </p:spPr>
      </p:sp>
      <p:sp>
        <p:nvSpPr>
          <p:cNvPr id="8" name="Class (2/2) icon circle"/>
          <p:cNvSpPr/>
          <p:nvPr/>
        </p:nvSpPr>
        <p:spPr>
          <a:xfrm>
            <a:off x="777240" y="1508760"/>
            <a:ext cx="438912" cy="438912"/>
          </a:xfrm>
          <a:prstGeom prst="ellipse">
            <a:avLst/>
          </a:prstGeom>
          <a:solidFill>
            <a:srgbClr val="44546A"/>
          </a:solidFill>
          <a:ln w="12700">
            <a:solidFill>
              <a:srgbClr val="44546A"/>
            </a:solidFill>
            <a:prstDash val="solid"/>
          </a:ln>
        </p:spPr>
      </p:sp>
      <p:pic>
        <p:nvPicPr>
          <p:cNvPr id="9" name="Class (2/2) icon" descr="preencoded.png">    </p:cNvPr>
          <p:cNvPicPr>
            <a:picLocks noChangeAspect="1"/>
          </p:cNvPicPr>
          <p:nvPr/>
        </p:nvPicPr>
        <p:blipFill>
          <a:blip r:embed="rId1"/>
          <a:stretch>
            <a:fillRect/>
          </a:stretch>
        </p:blipFill>
        <p:spPr>
          <a:xfrm>
            <a:off x="877824" y="1609344"/>
            <a:ext cx="237744" cy="237744"/>
          </a:xfrm>
          <a:prstGeom prst="rect">
            <a:avLst/>
          </a:prstGeom>
        </p:spPr>
      </p:pic>
      <p:sp>
        <p:nvSpPr>
          <p:cNvPr id="10" name="Class (2/2) heading"/>
          <p:cNvSpPr txBox="1"/>
          <p:nvPr/>
        </p:nvSpPr>
        <p:spPr>
          <a:xfrm>
            <a:off x="1353312" y="1508760"/>
            <a:ext cx="10088575" cy="438912"/>
          </a:xfrm>
          <a:prstGeom prst="rect">
            <a:avLst/>
          </a:prstGeom>
          <a:noFill/>
          <a:ln/>
        </p:spPr>
        <p:txBody>
          <a:bodyPr wrap="square" lIns="0" tIns="0" rIns="0" bIns="0" rtlCol="0" anchor="ctr"/>
          <a:lstStyle/>
          <a:p>
            <a:pPr indent="0" marL="0">
              <a:buNone/>
            </a:pPr>
            <a:r>
              <a:rPr lang="en-US" sz="1800" b="1" dirty="0">
                <a:solidFill>
                  <a:srgbClr val="44546A"/>
                </a:solidFill>
              </a:rPr>
              <a:t>Class (2/2)</a:t>
            </a:r>
            <a:endParaRPr lang="en-US" sz="1800" dirty="0"/>
          </a:p>
        </p:txBody>
      </p:sp>
      <p:sp>
        <p:nvSpPr>
          <p:cNvPr id="11" name="Class (2/2) body"/>
          <p:cNvSpPr txBox="1"/>
          <p:nvPr/>
        </p:nvSpPr>
        <p:spPr>
          <a:xfrm>
            <a:off x="777240" y="2075688"/>
            <a:ext cx="10637215" cy="3520440"/>
          </a:xfrm>
          <a:prstGeom prst="rect">
            <a:avLst/>
          </a:prstGeom>
          <a:noFill/>
          <a:ln/>
        </p:spPr>
        <p:txBody>
          <a:bodyPr wrap="square" lIns="0" tIns="0" rIns="0" bIns="0" rtlCol="0" anchor="t"/>
          <a:lstStyle/>
          <a:p>
            <a:pPr marL="228600" indent="-228600">
              <a:spcAft>
                <a:spcPts val="800"/>
              </a:spcAft>
              <a:buSzPct val="100000"/>
              <a:buChar char="•"/>
            </a:pPr>
            <a:r>
              <a:rPr lang="en-US" sz="1800" dirty="0">
                <a:solidFill>
                  <a:srgbClr val="1F1F1F"/>
                </a:solidFill>
              </a:rPr>
              <a:t>Walk the full chain and sort the drugs into </a:t>
            </a:r>
            <a:r>
              <a:rPr lang="en-US" sz="1800" b="1" dirty="0">
                <a:solidFill>
                  <a:srgbClr val="1F1F1F"/>
                </a:solidFill>
              </a:rPr>
              <a:t>two buckets:</a:t>
            </a:r>
            <a:r>
              <a:rPr lang="en-US" sz="1800" dirty="0">
                <a:solidFill>
                  <a:srgbClr val="1F1F1F"/>
                </a:solidFill>
              </a:rPr>
              <a:t> “lowers uric acid” (allopurinol, febuxostat, probenecid) vs. “treats the acute flare” (colchicine, NSAIDs, corticosteroids) — the same acute-vs-chronic distinction made explicit next.</a:t>
            </a:r>
            <a:r>
              <a:rPr lang="en-US" sz="1300" dirty="0">
                <a:solidFill>
                  <a:srgbClr val="666666"/>
                </a:solidFill>
              </a:rPr>
              <a:t>  S6; S6 (notes)</a:t>
            </a:r>
            <a:endParaRPr lang="en-US" sz="1800" dirty="0"/>
          </a:p>
          <a:p>
            <a:pPr marL="228600" indent="-228600">
              <a:spcAft>
                <a:spcPts val="800"/>
              </a:spcAft>
              <a:buSzPct val="100000"/>
              <a:buChar char="•"/>
            </a:pPr>
            <a:r>
              <a:rPr lang="en-US" sz="1800" b="1" dirty="0">
                <a:solidFill>
                  <a:srgbClr val="1F1F1F"/>
                </a:solidFill>
              </a:rPr>
              <a:t>Acute flare</a:t>
            </a:r>
            <a:r>
              <a:rPr lang="en-US" sz="1800" dirty="0">
                <a:solidFill>
                  <a:srgbClr val="1F1F1F"/>
                </a:solidFill>
              </a:rPr>
              <a:t> — goal: control pain and inflammation now. Agents: colchicine, NSAIDs, corticosteroids.</a:t>
            </a:r>
            <a:r>
              <a:rPr lang="en-US" sz="1300" dirty="0">
                <a:solidFill>
                  <a:srgbClr val="666666"/>
                </a:solidFill>
              </a:rPr>
              <a:t>  S9</a:t>
            </a:r>
            <a:endParaRPr lang="en-US" sz="1800" dirty="0"/>
          </a:p>
          <a:p>
            <a:pPr marL="228600" indent="-228600">
              <a:spcAft>
                <a:spcPts val="800"/>
              </a:spcAft>
              <a:buSzPct val="100000"/>
              <a:buChar char="•"/>
            </a:pPr>
            <a:r>
              <a:rPr lang="en-US" sz="1800" b="1" dirty="0">
                <a:solidFill>
                  <a:srgbClr val="1F1F1F"/>
                </a:solidFill>
              </a:rPr>
              <a:t>Chronic management</a:t>
            </a:r>
            <a:r>
              <a:rPr lang="en-US" sz="1800" dirty="0">
                <a:solidFill>
                  <a:srgbClr val="1F1F1F"/>
                </a:solidFill>
              </a:rPr>
              <a:t> — goal: lower serum uric acid to prevent future flares. Agents: allopurinol, febuxostat (↓ production); probenecid (↑ excretion).</a:t>
            </a:r>
            <a:r>
              <a:rPr lang="en-US" sz="1300" dirty="0">
                <a:solidFill>
                  <a:srgbClr val="666666"/>
                </a:solidFill>
              </a:rPr>
              <a:t>  S9</a:t>
            </a:r>
            <a:endParaRPr lang="en-US" sz="1800" dirty="0"/>
          </a:p>
          <a:p>
            <a:pPr marL="228600" indent="-228600">
              <a:spcAft>
                <a:spcPts val="800"/>
              </a:spcAft>
              <a:buSzPct val="100000"/>
              <a:buChar char="•"/>
            </a:pPr>
            <a:r>
              <a:rPr lang="en-US" sz="1400" b="1" dirty="0">
                <a:solidFill>
                  <a:srgbClr val="000000"/>
                </a:solidFill>
                <a:highlight>
                  <a:srgbClr val="FFC000"/>
                </a:highlight>
              </a:rPr>
              <a:t> TB </a:t>
            </a:r>
            <a:r>
              <a:rPr lang="en-US" sz="1800" dirty="0">
                <a:solidFill>
                  <a:srgbClr val="000000"/>
                </a:solidFill>
              </a:rPr>
              <a:t> </a:t>
            </a:r>
            <a:r>
              <a:rPr lang="en-US" sz="1800" dirty="0">
                <a:solidFill>
                  <a:srgbClr val="1F1F1F"/>
                </a:solidFill>
              </a:rPr>
              <a:t>Humans lack uricase, the enzyme other mammals use to turn uric acid into soluble allantoin; most people with hyperuricemia never have a gout attack.</a:t>
            </a:r>
            <a:r>
              <a:rPr lang="en-US" sz="1300" dirty="0">
                <a:solidFill>
                  <a:srgbClr val="666666"/>
                </a:solidFill>
              </a:rPr>
              <a:t>  p. 695</a:t>
            </a:r>
            <a:endParaRPr lang="en-US" sz="1800" dirty="0"/>
          </a:p>
          <a:p>
            <a:pPr marL="228600" indent="-228600">
              <a:spcAft>
                <a:spcPts val="800"/>
              </a:spcAft>
              <a:buSzPct val="100000"/>
              <a:buChar char="•"/>
            </a:pPr>
            <a:r>
              <a:rPr lang="en-US" sz="1400" b="1" dirty="0">
                <a:solidFill>
                  <a:srgbClr val="000000"/>
                </a:solidFill>
                <a:highlight>
                  <a:srgbClr val="FFC000"/>
                </a:highlight>
              </a:rPr>
              <a:t> TB </a:t>
            </a:r>
            <a:r>
              <a:rPr lang="en-US" sz="1800" dirty="0">
                <a:solidFill>
                  <a:srgbClr val="000000"/>
                </a:solidFill>
              </a:rPr>
              <a:t> </a:t>
            </a:r>
            <a:r>
              <a:rPr lang="en-US" sz="1800" dirty="0">
                <a:solidFill>
                  <a:srgbClr val="1F1F1F"/>
                </a:solidFill>
              </a:rPr>
              <a:t>Treat gout, not a number: long-term drug treatment of asymptomatic hyperuricemia is unproven. Adherence is poor (18–26% in younger patients).</a:t>
            </a:r>
            <a:r>
              <a:rPr lang="en-US" sz="1300" dirty="0">
                <a:solidFill>
                  <a:srgbClr val="666666"/>
                </a:solidFill>
              </a:rPr>
              <a:t>  p. 695</a:t>
            </a:r>
            <a:endParaRPr lang="en-US" sz="1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Kicker"/>
          <p:cNvSpPr txBox="1"/>
          <p:nvPr/>
        </p:nvSpPr>
        <p:spPr>
          <a:xfrm>
            <a:off x="548640" y="292608"/>
            <a:ext cx="8076895" cy="274320"/>
          </a:xfrm>
          <a:prstGeom prst="rect">
            <a:avLst/>
          </a:prstGeom>
          <a:noFill/>
          <a:ln/>
        </p:spPr>
        <p:txBody>
          <a:bodyPr wrap="square" lIns="0" tIns="0" rIns="0" bIns="0" rtlCol="0" anchor="ctr"/>
          <a:lstStyle/>
          <a:p>
            <a:pPr indent="0" marL="0">
              <a:buNone/>
            </a:pPr>
            <a:r>
              <a:rPr lang="en-US" sz="1200" b="1" spc="100" kern="0" dirty="0">
                <a:solidFill>
                  <a:srgbClr val="4472C4"/>
                </a:solidFill>
              </a:rPr>
              <a:t>GOUT: ACUTE FLARES &amp; URATE-LOWERING THERAPY</a:t>
            </a:r>
            <a:endParaRPr lang="en-US" sz="1200" dirty="0"/>
          </a:p>
        </p:txBody>
      </p:sp>
      <p:sp>
        <p:nvSpPr>
          <p:cNvPr id="3" name="Title"/>
          <p:cNvSpPr txBox="1"/>
          <p:nvPr/>
        </p:nvSpPr>
        <p:spPr>
          <a:xfrm>
            <a:off x="548640" y="566928"/>
            <a:ext cx="8076895" cy="713232"/>
          </a:xfrm>
          <a:prstGeom prst="rect">
            <a:avLst/>
          </a:prstGeom>
          <a:noFill/>
          <a:ln/>
        </p:spPr>
        <p:txBody>
          <a:bodyPr wrap="square" lIns="0" tIns="0" rIns="0" bIns="0" rtlCol="0" anchor="t"/>
          <a:lstStyle/>
          <a:p>
            <a:pPr indent="0" marL="0">
              <a:buNone/>
            </a:pPr>
            <a:r>
              <a:rPr lang="en-US" sz="3000" b="1" dirty="0">
                <a:solidFill>
                  <a:srgbClr val="1F1F1F"/>
                </a:solidFill>
                <a:latin typeface="Calibri" pitchFamily="34" charset="0"/>
                <a:ea typeface="Calibri" pitchFamily="34" charset="-122"/>
                <a:cs typeface="Calibri" pitchFamily="34" charset="-120"/>
              </a:rPr>
              <a:t>Prototype + other drugs named</a:t>
            </a:r>
            <a:endParaRPr lang="en-US" sz="3000" dirty="0"/>
          </a:p>
        </p:txBody>
      </p:sp>
      <p:sp>
        <p:nvSpPr>
          <p:cNvPr id="4" name="Objective chip"/>
          <p:cNvSpPr/>
          <p:nvPr/>
        </p:nvSpPr>
        <p:spPr>
          <a:xfrm>
            <a:off x="8899855" y="365760"/>
            <a:ext cx="2743200" cy="384048"/>
          </a:xfrm>
          <a:prstGeom prst="roundRect">
            <a:avLst>
              <a:gd name="adj" fmla="val 35714"/>
            </a:avLst>
          </a:prstGeom>
          <a:solidFill>
            <a:srgbClr val="E3EBF8"/>
          </a:solidFill>
          <a:ln/>
        </p:spPr>
        <p:txBody>
          <a:bodyPr wrap="square" lIns="25400" tIns="25400" rIns="25400" bIns="25400" rtlCol="0" anchor="ctr"/>
          <a:lstStyle/>
          <a:p>
            <a:pPr algn="ctr" indent="0" marL="0">
              <a:buNone/>
            </a:pPr>
            <a:r>
              <a:rPr lang="en-US" sz="800" b="1" dirty="0">
                <a:solidFill>
                  <a:srgbClr val="2F4F8A"/>
                </a:solidFill>
              </a:rPr>
              <a:t>Objectives: SO1 · SO4 · IO2.1 · IO2.2 · IO2.3 · IO2.4 · IO2.5</a:t>
            </a:r>
            <a:endParaRPr lang="en-US" sz="800" dirty="0"/>
          </a:p>
        </p:txBody>
      </p:sp>
      <p:sp>
        <p:nvSpPr>
          <p:cNvPr id="5" name="Footer"/>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1000" dirty="0">
                <a:solidFill>
                  <a:srgbClr val="666666"/>
                </a:solidFill>
              </a:rPr>
              <a:t>L04 · Musculoskeletal Pharmacology — Session 2</a:t>
            </a:r>
            <a:endParaRPr lang="en-US" sz="1000" dirty="0"/>
          </a:p>
        </p:txBody>
      </p:sp>
      <p:sp>
        <p:nvSpPr>
          <p:cNvPr id="6" name="Slide number"/>
          <p:cNvSpPr txBox="1"/>
          <p:nvPr/>
        </p:nvSpPr>
        <p:spPr>
          <a:xfrm>
            <a:off x="10728655" y="6419088"/>
            <a:ext cx="914400" cy="274320"/>
          </a:xfrm>
          <a:prstGeom prst="rect">
            <a:avLst/>
          </a:prstGeom>
          <a:noFill/>
          <a:ln/>
        </p:spPr>
        <p:txBody>
          <a:bodyPr wrap="square" lIns="0" tIns="0" rIns="0" bIns="0" rtlCol="0" anchor="ctr"/>
          <a:lstStyle/>
          <a:p>
            <a:pPr algn="r" indent="0" marL="0">
              <a:buNone/>
            </a:pPr>
            <a:r>
              <a:rPr lang="en-US" sz="1000" dirty="0">
                <a:solidFill>
                  <a:srgbClr val="666666"/>
                </a:solidFill>
              </a:rPr>
              <a:t>11</a:t>
            </a:r>
            <a:endParaRPr lang="en-US" sz="1000" dirty="0"/>
          </a:p>
        </p:txBody>
      </p:sp>
      <p:sp>
        <p:nvSpPr>
          <p:cNvPr id="7" name="Prototype + other drugs named card"/>
          <p:cNvSpPr/>
          <p:nvPr/>
        </p:nvSpPr>
        <p:spPr>
          <a:xfrm>
            <a:off x="548640" y="1325880"/>
            <a:ext cx="11094415" cy="2606040"/>
          </a:xfrm>
          <a:prstGeom prst="roundRect">
            <a:avLst>
              <a:gd name="adj" fmla="val 4211"/>
            </a:avLst>
          </a:prstGeom>
          <a:solidFill>
            <a:srgbClr val="F2F4F7"/>
          </a:solidFill>
          <a:ln w="12700">
            <a:solidFill>
              <a:srgbClr val="F2F4F7"/>
            </a:solidFill>
            <a:prstDash val="solid"/>
          </a:ln>
        </p:spPr>
      </p:sp>
      <p:sp>
        <p:nvSpPr>
          <p:cNvPr id="8" name="Prototype + other drugs named icon circle"/>
          <p:cNvSpPr/>
          <p:nvPr/>
        </p:nvSpPr>
        <p:spPr>
          <a:xfrm>
            <a:off x="777240" y="1508760"/>
            <a:ext cx="438912" cy="438912"/>
          </a:xfrm>
          <a:prstGeom prst="ellipse">
            <a:avLst/>
          </a:prstGeom>
          <a:solidFill>
            <a:srgbClr val="4472C4"/>
          </a:solidFill>
          <a:ln w="12700">
            <a:solidFill>
              <a:srgbClr val="4472C4"/>
            </a:solidFill>
            <a:prstDash val="solid"/>
          </a:ln>
        </p:spPr>
      </p:sp>
      <p:pic>
        <p:nvPicPr>
          <p:cNvPr id="9" name="Prototype + other drugs named icon" descr="preencoded.png">    </p:cNvPr>
          <p:cNvPicPr>
            <a:picLocks noChangeAspect="1"/>
          </p:cNvPicPr>
          <p:nvPr/>
        </p:nvPicPr>
        <p:blipFill>
          <a:blip r:embed="rId1"/>
          <a:stretch>
            <a:fillRect/>
          </a:stretch>
        </p:blipFill>
        <p:spPr>
          <a:xfrm>
            <a:off x="877824" y="1609344"/>
            <a:ext cx="237744" cy="237744"/>
          </a:xfrm>
          <a:prstGeom prst="rect">
            <a:avLst/>
          </a:prstGeom>
        </p:spPr>
      </p:pic>
      <p:sp>
        <p:nvSpPr>
          <p:cNvPr id="10" name="Prototype + other drugs named heading"/>
          <p:cNvSpPr txBox="1"/>
          <p:nvPr/>
        </p:nvSpPr>
        <p:spPr>
          <a:xfrm>
            <a:off x="1353312" y="1508760"/>
            <a:ext cx="10088575" cy="438912"/>
          </a:xfrm>
          <a:prstGeom prst="rect">
            <a:avLst/>
          </a:prstGeom>
          <a:noFill/>
          <a:ln/>
        </p:spPr>
        <p:txBody>
          <a:bodyPr wrap="square" lIns="0" tIns="0" rIns="0" bIns="0" rtlCol="0" anchor="ctr"/>
          <a:lstStyle/>
          <a:p>
            <a:pPr indent="0" marL="0">
              <a:buNone/>
            </a:pPr>
            <a:r>
              <a:rPr lang="en-US" sz="1800" b="1" dirty="0">
                <a:solidFill>
                  <a:srgbClr val="4472C4"/>
                </a:solidFill>
              </a:rPr>
              <a:t>Prototype + other drugs named</a:t>
            </a:r>
            <a:endParaRPr lang="en-US" sz="1800" dirty="0"/>
          </a:p>
        </p:txBody>
      </p:sp>
      <p:sp>
        <p:nvSpPr>
          <p:cNvPr id="11" name="Prototype + other drugs named body"/>
          <p:cNvSpPr txBox="1"/>
          <p:nvPr/>
        </p:nvSpPr>
        <p:spPr>
          <a:xfrm>
            <a:off x="777240" y="2075688"/>
            <a:ext cx="10637215" cy="1737360"/>
          </a:xfrm>
          <a:prstGeom prst="rect">
            <a:avLst/>
          </a:prstGeom>
          <a:noFill/>
          <a:ln/>
        </p:spPr>
        <p:txBody>
          <a:bodyPr wrap="square" lIns="0" tIns="0" rIns="0" bIns="0" rtlCol="0" anchor="t"/>
          <a:lstStyle/>
          <a:p>
            <a:pPr marL="228600" indent="-228600">
              <a:spcAft>
                <a:spcPts val="800"/>
              </a:spcAft>
              <a:buSzPct val="100000"/>
              <a:buChar char="•"/>
            </a:pPr>
            <a:r>
              <a:rPr lang="en-US" sz="1800" dirty="0">
                <a:solidFill>
                  <a:srgbClr val="1F1F1F"/>
                </a:solidFill>
              </a:rPr>
              <a:t>Colchicine — acute treatment (plant-derived alkaloid, no stem).</a:t>
            </a:r>
            <a:r>
              <a:rPr lang="en-US" sz="1300" dirty="0">
                <a:solidFill>
                  <a:srgbClr val="666666"/>
                </a:solidFill>
              </a:rPr>
              <a:t>  S10; S19</a:t>
            </a:r>
            <a:endParaRPr lang="en-US" sz="1800" dirty="0"/>
          </a:p>
          <a:p>
            <a:pPr marL="228600" indent="-228600">
              <a:spcAft>
                <a:spcPts val="800"/>
              </a:spcAft>
              <a:buSzPct val="100000"/>
              <a:buChar char="•"/>
            </a:pPr>
            <a:r>
              <a:rPr lang="en-US" sz="1800" dirty="0">
                <a:solidFill>
                  <a:srgbClr val="1F1F1F"/>
                </a:solidFill>
              </a:rPr>
              <a:t>Allopurinol — first-line urate-lowering therapy for most patients.</a:t>
            </a:r>
            <a:r>
              <a:rPr lang="en-US" sz="1300" dirty="0">
                <a:solidFill>
                  <a:srgbClr val="666666"/>
                </a:solidFill>
              </a:rPr>
              <a:t>  S12</a:t>
            </a:r>
            <a:endParaRPr lang="en-US" sz="1800" dirty="0"/>
          </a:p>
          <a:p>
            <a:pPr marL="228600" indent="-228600">
              <a:spcAft>
                <a:spcPts val="800"/>
              </a:spcAft>
              <a:buSzPct val="100000"/>
              <a:buChar char="•"/>
            </a:pPr>
            <a:r>
              <a:rPr lang="en-US" sz="1800" dirty="0">
                <a:solidFill>
                  <a:srgbClr val="1F1F1F"/>
                </a:solidFill>
              </a:rPr>
              <a:t>Febuxostat — alternative xanthine oxidase inhibitor.</a:t>
            </a:r>
            <a:r>
              <a:rPr lang="en-US" sz="1300" dirty="0">
                <a:solidFill>
                  <a:srgbClr val="666666"/>
                </a:solidFill>
              </a:rPr>
              <a:t>  S12</a:t>
            </a:r>
            <a:endParaRPr lang="en-US" sz="1800" dirty="0"/>
          </a:p>
          <a:p>
            <a:pPr marL="228600" indent="-228600">
              <a:spcAft>
                <a:spcPts val="800"/>
              </a:spcAft>
              <a:buSzPct val="100000"/>
              <a:buChar char="•"/>
            </a:pPr>
            <a:r>
              <a:rPr lang="en-US" sz="1800" dirty="0">
                <a:solidFill>
                  <a:srgbClr val="1F1F1F"/>
                </a:solidFill>
              </a:rPr>
              <a:t>Probenecid — uricosuric (second-line oral). Pegloticase, rasburicase — uricases (refractory).</a:t>
            </a:r>
            <a:r>
              <a:rPr lang="en-US" sz="1300" dirty="0">
                <a:solidFill>
                  <a:srgbClr val="666666"/>
                </a:solidFill>
              </a:rPr>
              <a:t>  S14; S15</a:t>
            </a:r>
            <a:endParaRPr lang="en-US" sz="1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Kicker"/>
          <p:cNvSpPr txBox="1"/>
          <p:nvPr/>
        </p:nvSpPr>
        <p:spPr>
          <a:xfrm>
            <a:off x="548640" y="292608"/>
            <a:ext cx="8076895" cy="274320"/>
          </a:xfrm>
          <a:prstGeom prst="rect">
            <a:avLst/>
          </a:prstGeom>
          <a:noFill/>
          <a:ln/>
        </p:spPr>
        <p:txBody>
          <a:bodyPr wrap="square" lIns="0" tIns="0" rIns="0" bIns="0" rtlCol="0" anchor="ctr"/>
          <a:lstStyle/>
          <a:p>
            <a:pPr indent="0" marL="0">
              <a:buNone/>
            </a:pPr>
            <a:r>
              <a:rPr lang="en-US" sz="1200" b="1" spc="100" kern="0" dirty="0">
                <a:solidFill>
                  <a:srgbClr val="4472C4"/>
                </a:solidFill>
              </a:rPr>
              <a:t>GOUT: ACUTE FLARES &amp; URATE-LOWERING THERAPY</a:t>
            </a:r>
            <a:endParaRPr lang="en-US" sz="1200" dirty="0"/>
          </a:p>
        </p:txBody>
      </p:sp>
      <p:sp>
        <p:nvSpPr>
          <p:cNvPr id="3" name="Title"/>
          <p:cNvSpPr txBox="1"/>
          <p:nvPr/>
        </p:nvSpPr>
        <p:spPr>
          <a:xfrm>
            <a:off x="548640" y="566928"/>
            <a:ext cx="8076895" cy="713232"/>
          </a:xfrm>
          <a:prstGeom prst="rect">
            <a:avLst/>
          </a:prstGeom>
          <a:noFill/>
          <a:ln/>
        </p:spPr>
        <p:txBody>
          <a:bodyPr wrap="square" lIns="0" tIns="0" rIns="0" bIns="0" rtlCol="0" anchor="t"/>
          <a:lstStyle/>
          <a:p>
            <a:pPr indent="0" marL="0">
              <a:buNone/>
            </a:pPr>
            <a:r>
              <a:rPr lang="en-US" sz="3000" b="1" dirty="0">
                <a:solidFill>
                  <a:srgbClr val="1F1F1F"/>
                </a:solidFill>
                <a:latin typeface="Calibri" pitchFamily="34" charset="0"/>
                <a:ea typeface="Calibri" pitchFamily="34" charset="-122"/>
                <a:cs typeface="Calibri" pitchFamily="34" charset="-120"/>
              </a:rPr>
              <a:t>Mechanism of action</a:t>
            </a:r>
            <a:endParaRPr lang="en-US" sz="3000" dirty="0"/>
          </a:p>
        </p:txBody>
      </p:sp>
      <p:sp>
        <p:nvSpPr>
          <p:cNvPr id="4" name="Objective chip"/>
          <p:cNvSpPr/>
          <p:nvPr/>
        </p:nvSpPr>
        <p:spPr>
          <a:xfrm>
            <a:off x="8899855" y="365760"/>
            <a:ext cx="2743200" cy="384048"/>
          </a:xfrm>
          <a:prstGeom prst="roundRect">
            <a:avLst>
              <a:gd name="adj" fmla="val 35714"/>
            </a:avLst>
          </a:prstGeom>
          <a:solidFill>
            <a:srgbClr val="E3EBF8"/>
          </a:solidFill>
          <a:ln/>
        </p:spPr>
        <p:txBody>
          <a:bodyPr wrap="square" lIns="25400" tIns="25400" rIns="25400" bIns="25400" rtlCol="0" anchor="ctr"/>
          <a:lstStyle/>
          <a:p>
            <a:pPr algn="ctr" indent="0" marL="0">
              <a:buNone/>
            </a:pPr>
            <a:r>
              <a:rPr lang="en-US" sz="800" b="1" dirty="0">
                <a:solidFill>
                  <a:srgbClr val="2F4F8A"/>
                </a:solidFill>
              </a:rPr>
              <a:t>Objectives: SO1 · SO4 · IO2.1 · IO2.2 · IO2.3 · IO2.4 · IO2.5</a:t>
            </a:r>
            <a:endParaRPr lang="en-US" sz="800" dirty="0"/>
          </a:p>
        </p:txBody>
      </p:sp>
      <p:sp>
        <p:nvSpPr>
          <p:cNvPr id="5" name="Footer"/>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1000" dirty="0">
                <a:solidFill>
                  <a:srgbClr val="666666"/>
                </a:solidFill>
              </a:rPr>
              <a:t>L04 · Musculoskeletal Pharmacology — Session 2</a:t>
            </a:r>
            <a:endParaRPr lang="en-US" sz="1000" dirty="0"/>
          </a:p>
        </p:txBody>
      </p:sp>
      <p:sp>
        <p:nvSpPr>
          <p:cNvPr id="6" name="Slide number"/>
          <p:cNvSpPr txBox="1"/>
          <p:nvPr/>
        </p:nvSpPr>
        <p:spPr>
          <a:xfrm>
            <a:off x="10728655" y="6419088"/>
            <a:ext cx="914400" cy="274320"/>
          </a:xfrm>
          <a:prstGeom prst="rect">
            <a:avLst/>
          </a:prstGeom>
          <a:noFill/>
          <a:ln/>
        </p:spPr>
        <p:txBody>
          <a:bodyPr wrap="square" lIns="0" tIns="0" rIns="0" bIns="0" rtlCol="0" anchor="ctr"/>
          <a:lstStyle/>
          <a:p>
            <a:pPr algn="r" indent="0" marL="0">
              <a:buNone/>
            </a:pPr>
            <a:r>
              <a:rPr lang="en-US" sz="1000" dirty="0">
                <a:solidFill>
                  <a:srgbClr val="666666"/>
                </a:solidFill>
              </a:rPr>
              <a:t>12</a:t>
            </a:r>
            <a:endParaRPr lang="en-US" sz="1000" dirty="0"/>
          </a:p>
        </p:txBody>
      </p:sp>
      <p:sp>
        <p:nvSpPr>
          <p:cNvPr id="7" name="Mechanism of action (1/2) card"/>
          <p:cNvSpPr/>
          <p:nvPr/>
        </p:nvSpPr>
        <p:spPr>
          <a:xfrm>
            <a:off x="548640" y="1325880"/>
            <a:ext cx="11094415" cy="4498848"/>
          </a:xfrm>
          <a:prstGeom prst="roundRect">
            <a:avLst>
              <a:gd name="adj" fmla="val 2439"/>
            </a:avLst>
          </a:prstGeom>
          <a:solidFill>
            <a:srgbClr val="F2F4F7"/>
          </a:solidFill>
          <a:ln w="12700">
            <a:solidFill>
              <a:srgbClr val="F2F4F7"/>
            </a:solidFill>
            <a:prstDash val="solid"/>
          </a:ln>
        </p:spPr>
      </p:sp>
      <p:sp>
        <p:nvSpPr>
          <p:cNvPr id="8" name="Mechanism of action (1/2) icon circle"/>
          <p:cNvSpPr/>
          <p:nvPr/>
        </p:nvSpPr>
        <p:spPr>
          <a:xfrm>
            <a:off x="777240" y="1508760"/>
            <a:ext cx="438912" cy="438912"/>
          </a:xfrm>
          <a:prstGeom prst="ellipse">
            <a:avLst/>
          </a:prstGeom>
          <a:solidFill>
            <a:srgbClr val="7030A0"/>
          </a:solidFill>
          <a:ln w="12700">
            <a:solidFill>
              <a:srgbClr val="7030A0"/>
            </a:solidFill>
            <a:prstDash val="solid"/>
          </a:ln>
        </p:spPr>
      </p:sp>
      <p:pic>
        <p:nvPicPr>
          <p:cNvPr id="9" name="Mechanism of action (1/2) icon" descr="preencoded.png">    </p:cNvPr>
          <p:cNvPicPr>
            <a:picLocks noChangeAspect="1"/>
          </p:cNvPicPr>
          <p:nvPr/>
        </p:nvPicPr>
        <p:blipFill>
          <a:blip r:embed="rId1"/>
          <a:stretch>
            <a:fillRect/>
          </a:stretch>
        </p:blipFill>
        <p:spPr>
          <a:xfrm>
            <a:off x="877824" y="1609344"/>
            <a:ext cx="237744" cy="237744"/>
          </a:xfrm>
          <a:prstGeom prst="rect">
            <a:avLst/>
          </a:prstGeom>
        </p:spPr>
      </p:pic>
      <p:sp>
        <p:nvSpPr>
          <p:cNvPr id="10" name="Mechanism of action (1/2) heading"/>
          <p:cNvSpPr txBox="1"/>
          <p:nvPr/>
        </p:nvSpPr>
        <p:spPr>
          <a:xfrm>
            <a:off x="1353312" y="1508760"/>
            <a:ext cx="10088575" cy="438912"/>
          </a:xfrm>
          <a:prstGeom prst="rect">
            <a:avLst/>
          </a:prstGeom>
          <a:noFill/>
          <a:ln/>
        </p:spPr>
        <p:txBody>
          <a:bodyPr wrap="square" lIns="0" tIns="0" rIns="0" bIns="0" rtlCol="0" anchor="ctr"/>
          <a:lstStyle/>
          <a:p>
            <a:pPr indent="0" marL="0">
              <a:buNone/>
            </a:pPr>
            <a:r>
              <a:rPr lang="en-US" sz="1800" b="1" dirty="0">
                <a:solidFill>
                  <a:srgbClr val="7030A0"/>
                </a:solidFill>
              </a:rPr>
              <a:t>Mechanism of action (1/2)</a:t>
            </a:r>
            <a:endParaRPr lang="en-US" sz="1800" dirty="0"/>
          </a:p>
        </p:txBody>
      </p:sp>
      <p:sp>
        <p:nvSpPr>
          <p:cNvPr id="11" name="Mechanism of action (1/2) body"/>
          <p:cNvSpPr txBox="1"/>
          <p:nvPr/>
        </p:nvSpPr>
        <p:spPr>
          <a:xfrm>
            <a:off x="777240" y="2075688"/>
            <a:ext cx="10637215" cy="3630168"/>
          </a:xfrm>
          <a:prstGeom prst="rect">
            <a:avLst/>
          </a:prstGeom>
          <a:noFill/>
          <a:ln/>
        </p:spPr>
        <p:txBody>
          <a:bodyPr wrap="square" lIns="0" tIns="0" rIns="0" bIns="0" rtlCol="0" anchor="t"/>
          <a:lstStyle/>
          <a:p>
            <a:pPr marL="228600" indent="-228600">
              <a:spcAft>
                <a:spcPts val="800"/>
              </a:spcAft>
              <a:buSzPct val="100000"/>
              <a:buChar char="•"/>
            </a:pPr>
            <a:r>
              <a:rPr lang="en-US" sz="1800" b="1" dirty="0">
                <a:solidFill>
                  <a:srgbClr val="1F1F1F"/>
                </a:solidFill>
              </a:rPr>
              <a:t>Mechanism: disrupts microtubule formation in neutrophils.</a:t>
            </a:r>
            <a:r>
              <a:rPr lang="en-US" sz="1800" dirty="0">
                <a:solidFill>
                  <a:srgbClr val="1F1F1F"/>
                </a:solidFill>
              </a:rPr>
              <a:t> Colchicine binds tubulin → less neutrophil migration and NLRP3 activation → less inflammation at the crystal site.</a:t>
            </a:r>
            <a:r>
              <a:rPr lang="en-US" sz="1300" dirty="0">
                <a:solidFill>
                  <a:srgbClr val="666666"/>
                </a:solidFill>
              </a:rPr>
              <a:t>  S10; S11; SG U2-M</a:t>
            </a:r>
            <a:endParaRPr lang="en-US" sz="1800" dirty="0"/>
          </a:p>
          <a:p>
            <a:pPr marL="228600" indent="-228600">
              <a:spcAft>
                <a:spcPts val="800"/>
              </a:spcAft>
              <a:buSzPct val="100000"/>
              <a:buChar char="•"/>
            </a:pPr>
            <a:r>
              <a:rPr lang="en-US" sz="1800" dirty="0">
                <a:solidFill>
                  <a:srgbClr val="1F1F1F"/>
                </a:solidFill>
              </a:rPr>
              <a:t>Colchicine works on the cell’s cytoskeleton, so its effect builds in the early hours of a flare.</a:t>
            </a:r>
            <a:r>
              <a:rPr lang="en-US" sz="1300" dirty="0">
                <a:solidFill>
                  <a:srgbClr val="666666"/>
                </a:solidFill>
              </a:rPr>
              <a:t>  S11 (notes)</a:t>
            </a:r>
            <a:endParaRPr lang="en-US" sz="1800" dirty="0"/>
          </a:p>
          <a:p>
            <a:pPr marL="228600" indent="-228600">
              <a:spcAft>
                <a:spcPts val="800"/>
              </a:spcAft>
              <a:buSzPct val="100000"/>
              <a:buChar char="•"/>
            </a:pPr>
            <a:r>
              <a:rPr lang="en-US" sz="1800" b="1" dirty="0">
                <a:solidFill>
                  <a:srgbClr val="1F1F1F"/>
                </a:solidFill>
              </a:rPr>
              <a:t>Allopurinol</a:t>
            </a:r>
            <a:r>
              <a:rPr lang="en-US" sz="1800" dirty="0">
                <a:solidFill>
                  <a:srgbClr val="1F1F1F"/>
                </a:solidFill>
              </a:rPr>
              <a:t> (via its metabolite oxypurinol) and </a:t>
            </a:r>
            <a:r>
              <a:rPr lang="en-US" sz="1800" b="1" dirty="0">
                <a:solidFill>
                  <a:srgbClr val="1F1F1F"/>
                </a:solidFill>
              </a:rPr>
              <a:t>febuxostat</a:t>
            </a:r>
            <a:r>
              <a:rPr lang="en-US" sz="1800" dirty="0">
                <a:solidFill>
                  <a:srgbClr val="1F1F1F"/>
                </a:solidFill>
              </a:rPr>
              <a:t> block </a:t>
            </a:r>
            <a:r>
              <a:rPr lang="en-US" sz="1800" b="1" dirty="0">
                <a:solidFill>
                  <a:srgbClr val="1F1F1F"/>
                </a:solidFill>
              </a:rPr>
              <a:t>xanthine oxidase</a:t>
            </a:r>
            <a:r>
              <a:rPr lang="en-US" sz="1800" dirty="0">
                <a:solidFill>
                  <a:srgbClr val="1F1F1F"/>
                </a:solidFill>
              </a:rPr>
              <a:t> → ↓ uric acid </a:t>
            </a:r>
            <a:r>
              <a:rPr lang="en-US" sz="1800" b="1" dirty="0">
                <a:solidFill>
                  <a:srgbClr val="1F1F1F"/>
                </a:solidFill>
              </a:rPr>
              <a:t>production</a:t>
            </a:r>
            <a:r>
              <a:rPr lang="en-US" sz="1800" dirty="0">
                <a:solidFill>
                  <a:srgbClr val="1F1F1F"/>
                </a:solidFill>
              </a:rPr>
              <a:t>.</a:t>
            </a:r>
            <a:r>
              <a:rPr lang="en-US" sz="1300" dirty="0">
                <a:solidFill>
                  <a:srgbClr val="666666"/>
                </a:solidFill>
              </a:rPr>
              <a:t>  S12; S13; SG U2-R9</a:t>
            </a:r>
            <a:endParaRPr lang="en-US" sz="1800" dirty="0"/>
          </a:p>
          <a:p>
            <a:pPr marL="228600" indent="-228600">
              <a:spcAft>
                <a:spcPts val="800"/>
              </a:spcAft>
              <a:buSzPct val="100000"/>
              <a:buChar char="•"/>
            </a:pPr>
            <a:r>
              <a:rPr lang="en-US" sz="1800" dirty="0">
                <a:solidFill>
                  <a:srgbClr val="1F1F1F"/>
                </a:solidFill>
              </a:rPr>
              <a:t>Febuxostat is also a xanthine oxidase inhibitor, with a different chemical structure.</a:t>
            </a:r>
            <a:r>
              <a:rPr lang="en-US" sz="1300" dirty="0">
                <a:solidFill>
                  <a:srgbClr val="666666"/>
                </a:solidFill>
              </a:rPr>
              <a:t>  S12</a:t>
            </a:r>
            <a:endParaRPr lang="en-US" sz="1800" dirty="0"/>
          </a:p>
          <a:p>
            <a:pPr marL="228600" indent="-228600">
              <a:spcAft>
                <a:spcPts val="800"/>
              </a:spcAft>
              <a:buSzPct val="100000"/>
              <a:buChar char="•"/>
            </a:pPr>
            <a:r>
              <a:rPr lang="en-US" sz="1800" b="1" dirty="0">
                <a:solidFill>
                  <a:srgbClr val="1F1F1F"/>
                </a:solidFill>
              </a:rPr>
              <a:t>Probenecid — mechanism: inhibits renal tubular reabsorption of uric acid, increasing its excretion</a:t>
            </a:r>
            <a:r>
              <a:rPr lang="en-US" sz="1800" dirty="0">
                <a:solidFill>
                  <a:srgbClr val="1F1F1F"/>
                </a:solidFill>
              </a:rPr>
              <a:t> (blocks URAT1). A uricosuric, not a xanthine oxidase inhibitor — a different strategy.</a:t>
            </a:r>
            <a:r>
              <a:rPr lang="en-US" sz="1300" dirty="0">
                <a:solidFill>
                  <a:srgbClr val="666666"/>
                </a:solidFill>
              </a:rPr>
              <a:t>  S14; S15; SG U2-R9</a:t>
            </a:r>
            <a:endParaRPr lang="en-US" sz="1800" dirty="0"/>
          </a:p>
          <a:p>
            <a:pPr marL="228600" indent="-228600">
              <a:spcAft>
                <a:spcPts val="800"/>
              </a:spcAft>
              <a:buSzPct val="100000"/>
              <a:buChar char="•"/>
            </a:pPr>
            <a:r>
              <a:rPr lang="en-US" sz="1800" b="1" dirty="0">
                <a:solidFill>
                  <a:srgbClr val="1F1F1F"/>
                </a:solidFill>
              </a:rPr>
              <a:t>Pegloticase, rasburicase:</a:t>
            </a:r>
            <a:r>
              <a:rPr lang="en-US" sz="1800" dirty="0">
                <a:solidFill>
                  <a:srgbClr val="1F1F1F"/>
                </a:solidFill>
              </a:rPr>
              <a:t> recombinant </a:t>
            </a:r>
            <a:r>
              <a:rPr lang="en-US" sz="1800" b="1" dirty="0">
                <a:solidFill>
                  <a:srgbClr val="1F1F1F"/>
                </a:solidFill>
              </a:rPr>
              <a:t>uricase</a:t>
            </a:r>
            <a:r>
              <a:rPr lang="en-US" sz="1800" dirty="0">
                <a:solidFill>
                  <a:srgbClr val="1F1F1F"/>
                </a:solidFill>
              </a:rPr>
              <a:t> converts uric acid to </a:t>
            </a:r>
            <a:r>
              <a:rPr lang="en-US" sz="1800" b="1" dirty="0">
                <a:solidFill>
                  <a:srgbClr val="1F1F1F"/>
                </a:solidFill>
              </a:rPr>
              <a:t>allantoin</a:t>
            </a:r>
            <a:r>
              <a:rPr lang="en-US" sz="1800" dirty="0">
                <a:solidFill>
                  <a:srgbClr val="1F1F1F"/>
                </a:solidFill>
              </a:rPr>
              <a:t>, which is soluble and excreted.</a:t>
            </a:r>
            <a:r>
              <a:rPr lang="en-US" sz="1300" dirty="0">
                <a:solidFill>
                  <a:srgbClr val="666666"/>
                </a:solidFill>
              </a:rPr>
              <a:t>  S14; S15</a:t>
            </a:r>
            <a:endParaRPr lang="en-US" sz="1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Kicker"/>
          <p:cNvSpPr txBox="1"/>
          <p:nvPr/>
        </p:nvSpPr>
        <p:spPr>
          <a:xfrm>
            <a:off x="548640" y="292608"/>
            <a:ext cx="8076895" cy="274320"/>
          </a:xfrm>
          <a:prstGeom prst="rect">
            <a:avLst/>
          </a:prstGeom>
          <a:noFill/>
          <a:ln/>
        </p:spPr>
        <p:txBody>
          <a:bodyPr wrap="square" lIns="0" tIns="0" rIns="0" bIns="0" rtlCol="0" anchor="ctr"/>
          <a:lstStyle/>
          <a:p>
            <a:pPr indent="0" marL="0">
              <a:buNone/>
            </a:pPr>
            <a:r>
              <a:rPr lang="en-US" sz="1200" b="1" spc="100" kern="0" dirty="0">
                <a:solidFill>
                  <a:srgbClr val="4472C4"/>
                </a:solidFill>
              </a:rPr>
              <a:t>GOUT: ACUTE FLARES &amp; URATE-LOWERING THERAPY</a:t>
            </a:r>
            <a:endParaRPr lang="en-US" sz="1200" dirty="0"/>
          </a:p>
        </p:txBody>
      </p:sp>
      <p:sp>
        <p:nvSpPr>
          <p:cNvPr id="3" name="Title"/>
          <p:cNvSpPr txBox="1"/>
          <p:nvPr/>
        </p:nvSpPr>
        <p:spPr>
          <a:xfrm>
            <a:off x="548640" y="566928"/>
            <a:ext cx="8076895" cy="713232"/>
          </a:xfrm>
          <a:prstGeom prst="rect">
            <a:avLst/>
          </a:prstGeom>
          <a:noFill/>
          <a:ln/>
        </p:spPr>
        <p:txBody>
          <a:bodyPr wrap="square" lIns="0" tIns="0" rIns="0" bIns="0" rtlCol="0" anchor="t"/>
          <a:lstStyle/>
          <a:p>
            <a:pPr indent="0" marL="0">
              <a:buNone/>
            </a:pPr>
            <a:r>
              <a:rPr lang="en-US" sz="3000" b="1" dirty="0">
                <a:solidFill>
                  <a:srgbClr val="1F1F1F"/>
                </a:solidFill>
                <a:latin typeface="Calibri" pitchFamily="34" charset="0"/>
                <a:ea typeface="Calibri" pitchFamily="34" charset="-122"/>
                <a:cs typeface="Calibri" pitchFamily="34" charset="-120"/>
              </a:rPr>
              <a:t>Mechanism of action (cont.)</a:t>
            </a:r>
            <a:endParaRPr lang="en-US" sz="3000" dirty="0"/>
          </a:p>
        </p:txBody>
      </p:sp>
      <p:sp>
        <p:nvSpPr>
          <p:cNvPr id="4" name="Objective chip"/>
          <p:cNvSpPr/>
          <p:nvPr/>
        </p:nvSpPr>
        <p:spPr>
          <a:xfrm>
            <a:off x="8899855" y="365760"/>
            <a:ext cx="2743200" cy="384048"/>
          </a:xfrm>
          <a:prstGeom prst="roundRect">
            <a:avLst>
              <a:gd name="adj" fmla="val 35714"/>
            </a:avLst>
          </a:prstGeom>
          <a:solidFill>
            <a:srgbClr val="E3EBF8"/>
          </a:solidFill>
          <a:ln/>
        </p:spPr>
        <p:txBody>
          <a:bodyPr wrap="square" lIns="25400" tIns="25400" rIns="25400" bIns="25400" rtlCol="0" anchor="ctr"/>
          <a:lstStyle/>
          <a:p>
            <a:pPr algn="ctr" indent="0" marL="0">
              <a:buNone/>
            </a:pPr>
            <a:r>
              <a:rPr lang="en-US" sz="800" b="1" dirty="0">
                <a:solidFill>
                  <a:srgbClr val="2F4F8A"/>
                </a:solidFill>
              </a:rPr>
              <a:t>Objectives: SO1 · SO4 · IO2.1 · IO2.2 · IO2.3 · IO2.4 · IO2.5</a:t>
            </a:r>
            <a:endParaRPr lang="en-US" sz="800" dirty="0"/>
          </a:p>
        </p:txBody>
      </p:sp>
      <p:sp>
        <p:nvSpPr>
          <p:cNvPr id="5" name="Footer"/>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1000" dirty="0">
                <a:solidFill>
                  <a:srgbClr val="666666"/>
                </a:solidFill>
              </a:rPr>
              <a:t>L04 · Musculoskeletal Pharmacology — Session 2</a:t>
            </a:r>
            <a:endParaRPr lang="en-US" sz="1000" dirty="0"/>
          </a:p>
        </p:txBody>
      </p:sp>
      <p:sp>
        <p:nvSpPr>
          <p:cNvPr id="6" name="Slide number"/>
          <p:cNvSpPr txBox="1"/>
          <p:nvPr/>
        </p:nvSpPr>
        <p:spPr>
          <a:xfrm>
            <a:off x="10728655" y="6419088"/>
            <a:ext cx="914400" cy="274320"/>
          </a:xfrm>
          <a:prstGeom prst="rect">
            <a:avLst/>
          </a:prstGeom>
          <a:noFill/>
          <a:ln/>
        </p:spPr>
        <p:txBody>
          <a:bodyPr wrap="square" lIns="0" tIns="0" rIns="0" bIns="0" rtlCol="0" anchor="ctr"/>
          <a:lstStyle/>
          <a:p>
            <a:pPr algn="r" indent="0" marL="0">
              <a:buNone/>
            </a:pPr>
            <a:r>
              <a:rPr lang="en-US" sz="1000" dirty="0">
                <a:solidFill>
                  <a:srgbClr val="666666"/>
                </a:solidFill>
              </a:rPr>
              <a:t>13</a:t>
            </a:r>
            <a:endParaRPr lang="en-US" sz="1000" dirty="0"/>
          </a:p>
        </p:txBody>
      </p:sp>
      <p:sp>
        <p:nvSpPr>
          <p:cNvPr id="7" name="Mechanism of action (2/2) card"/>
          <p:cNvSpPr/>
          <p:nvPr/>
        </p:nvSpPr>
        <p:spPr>
          <a:xfrm>
            <a:off x="548640" y="1325880"/>
            <a:ext cx="11094415" cy="3831336"/>
          </a:xfrm>
          <a:prstGeom prst="roundRect">
            <a:avLst>
              <a:gd name="adj" fmla="val 2864"/>
            </a:avLst>
          </a:prstGeom>
          <a:solidFill>
            <a:srgbClr val="F2F4F7"/>
          </a:solidFill>
          <a:ln w="12700">
            <a:solidFill>
              <a:srgbClr val="F2F4F7"/>
            </a:solidFill>
            <a:prstDash val="solid"/>
          </a:ln>
        </p:spPr>
      </p:sp>
      <p:sp>
        <p:nvSpPr>
          <p:cNvPr id="8" name="Mechanism of action (2/2) icon circle"/>
          <p:cNvSpPr/>
          <p:nvPr/>
        </p:nvSpPr>
        <p:spPr>
          <a:xfrm>
            <a:off x="777240" y="1508760"/>
            <a:ext cx="438912" cy="438912"/>
          </a:xfrm>
          <a:prstGeom prst="ellipse">
            <a:avLst/>
          </a:prstGeom>
          <a:solidFill>
            <a:srgbClr val="7030A0"/>
          </a:solidFill>
          <a:ln w="12700">
            <a:solidFill>
              <a:srgbClr val="7030A0"/>
            </a:solidFill>
            <a:prstDash val="solid"/>
          </a:ln>
        </p:spPr>
      </p:sp>
      <p:pic>
        <p:nvPicPr>
          <p:cNvPr id="9" name="Mechanism of action (2/2) icon" descr="preencoded.png">    </p:cNvPr>
          <p:cNvPicPr>
            <a:picLocks noChangeAspect="1"/>
          </p:cNvPicPr>
          <p:nvPr/>
        </p:nvPicPr>
        <p:blipFill>
          <a:blip r:embed="rId1"/>
          <a:stretch>
            <a:fillRect/>
          </a:stretch>
        </p:blipFill>
        <p:spPr>
          <a:xfrm>
            <a:off x="877824" y="1609344"/>
            <a:ext cx="237744" cy="237744"/>
          </a:xfrm>
          <a:prstGeom prst="rect">
            <a:avLst/>
          </a:prstGeom>
        </p:spPr>
      </p:pic>
      <p:sp>
        <p:nvSpPr>
          <p:cNvPr id="10" name="Mechanism of action (2/2) heading"/>
          <p:cNvSpPr txBox="1"/>
          <p:nvPr/>
        </p:nvSpPr>
        <p:spPr>
          <a:xfrm>
            <a:off x="1353312" y="1508760"/>
            <a:ext cx="10088575" cy="438912"/>
          </a:xfrm>
          <a:prstGeom prst="rect">
            <a:avLst/>
          </a:prstGeom>
          <a:noFill/>
          <a:ln/>
        </p:spPr>
        <p:txBody>
          <a:bodyPr wrap="square" lIns="0" tIns="0" rIns="0" bIns="0" rtlCol="0" anchor="ctr"/>
          <a:lstStyle/>
          <a:p>
            <a:pPr indent="0" marL="0">
              <a:buNone/>
            </a:pPr>
            <a:r>
              <a:rPr lang="en-US" sz="1800" b="1" dirty="0">
                <a:solidFill>
                  <a:srgbClr val="7030A0"/>
                </a:solidFill>
              </a:rPr>
              <a:t>Mechanism of action (2/2)</a:t>
            </a:r>
            <a:endParaRPr lang="en-US" sz="1800" dirty="0"/>
          </a:p>
        </p:txBody>
      </p:sp>
      <p:sp>
        <p:nvSpPr>
          <p:cNvPr id="11" name="Mechanism of action (2/2) body"/>
          <p:cNvSpPr txBox="1"/>
          <p:nvPr/>
        </p:nvSpPr>
        <p:spPr>
          <a:xfrm>
            <a:off x="777240" y="2075688"/>
            <a:ext cx="10637215" cy="2962656"/>
          </a:xfrm>
          <a:prstGeom prst="rect">
            <a:avLst/>
          </a:prstGeom>
          <a:noFill/>
          <a:ln/>
        </p:spPr>
        <p:txBody>
          <a:bodyPr wrap="square" lIns="0" tIns="0" rIns="0" bIns="0" rtlCol="0" anchor="t"/>
          <a:lstStyle/>
          <a:p>
            <a:pPr marL="228600" indent="-228600">
              <a:spcAft>
                <a:spcPts val="800"/>
              </a:spcAft>
              <a:buSzPct val="100000"/>
              <a:buChar char="•"/>
            </a:pPr>
            <a:r>
              <a:rPr lang="en-US" sz="1800" dirty="0">
                <a:solidFill>
                  <a:srgbClr val="1F1F1F"/>
                </a:solidFill>
              </a:rPr>
              <a:t>Uricosurics block reabsorption; uricases remove uric acid enzymatically, which is why they suit refractory disease.</a:t>
            </a:r>
            <a:r>
              <a:rPr lang="en-US" sz="1300" dirty="0">
                <a:solidFill>
                  <a:srgbClr val="666666"/>
                </a:solidFill>
              </a:rPr>
              <a:t>  S15 (notes)</a:t>
            </a:r>
            <a:endParaRPr lang="en-US" sz="1800" dirty="0"/>
          </a:p>
          <a:p>
            <a:pPr marL="228600" indent="-228600">
              <a:spcAft>
                <a:spcPts val="800"/>
              </a:spcAft>
              <a:buSzPct val="100000"/>
              <a:buChar char="•"/>
            </a:pPr>
            <a:r>
              <a:rPr lang="en-US" sz="1800" dirty="0">
                <a:solidFill>
                  <a:srgbClr val="1F1F1F"/>
                </a:solidFill>
              </a:rPr>
              <a:t>NSAIDs and corticosteroids reduce joint inflammation in a flare.</a:t>
            </a:r>
            <a:r>
              <a:rPr lang="en-US" sz="1300" dirty="0">
                <a:solidFill>
                  <a:srgbClr val="666666"/>
                </a:solidFill>
              </a:rPr>
              <a:t>  S6</a:t>
            </a:r>
            <a:endParaRPr lang="en-US" sz="1800" dirty="0"/>
          </a:p>
          <a:p>
            <a:pPr marL="228600" indent="-228600">
              <a:spcAft>
                <a:spcPts val="800"/>
              </a:spcAft>
              <a:buSzPct val="100000"/>
              <a:buChar char="•"/>
            </a:pPr>
            <a:r>
              <a:rPr lang="en-US" sz="1400" b="1" dirty="0">
                <a:solidFill>
                  <a:srgbClr val="000000"/>
                </a:solidFill>
                <a:highlight>
                  <a:srgbClr val="FFC000"/>
                </a:highlight>
              </a:rPr>
              <a:t> TB </a:t>
            </a:r>
            <a:r>
              <a:rPr lang="en-US" sz="1800" dirty="0">
                <a:solidFill>
                  <a:srgbClr val="000000"/>
                </a:solidFill>
              </a:rPr>
              <a:t> </a:t>
            </a:r>
            <a:r>
              <a:rPr lang="en-US" sz="1800" dirty="0">
                <a:solidFill>
                  <a:srgbClr val="1F1F1F"/>
                </a:solidFill>
              </a:rPr>
              <a:t>Allopurinol is a purine analog; its metabolite oxypurinol (half-life 15 hours) also inhibits xanthine oxidase, so it is dosed once daily.</a:t>
            </a:r>
            <a:r>
              <a:rPr lang="en-US" sz="1300" dirty="0">
                <a:solidFill>
                  <a:srgbClr val="666666"/>
                </a:solidFill>
              </a:rPr>
              <a:t>  p. 695</a:t>
            </a:r>
            <a:endParaRPr lang="en-US" sz="1800" dirty="0"/>
          </a:p>
          <a:p>
            <a:pPr marL="228600" indent="-228600">
              <a:spcAft>
                <a:spcPts val="800"/>
              </a:spcAft>
              <a:buSzPct val="100000"/>
              <a:buChar char="•"/>
            </a:pPr>
            <a:r>
              <a:rPr lang="en-US" sz="1400" b="1" dirty="0">
                <a:solidFill>
                  <a:srgbClr val="000000"/>
                </a:solidFill>
                <a:highlight>
                  <a:srgbClr val="FFC000"/>
                </a:highlight>
              </a:rPr>
              <a:t> TB </a:t>
            </a:r>
            <a:r>
              <a:rPr lang="en-US" sz="1800" dirty="0">
                <a:solidFill>
                  <a:srgbClr val="000000"/>
                </a:solidFill>
              </a:rPr>
              <a:t> </a:t>
            </a:r>
            <a:r>
              <a:rPr lang="en-US" sz="1800" dirty="0">
                <a:solidFill>
                  <a:srgbClr val="1F1F1F"/>
                </a:solidFill>
              </a:rPr>
              <a:t>Colchicine relieves gout pain and inflammation in 12–24 hours without changing urate metabolism or excretion.</a:t>
            </a:r>
            <a:r>
              <a:rPr lang="en-US" sz="1300" dirty="0">
                <a:solidFill>
                  <a:srgbClr val="666666"/>
                </a:solidFill>
              </a:rPr>
              <a:t>  p. 696</a:t>
            </a:r>
            <a:endParaRPr lang="en-US" sz="1800" dirty="0"/>
          </a:p>
          <a:p>
            <a:pPr marL="228600" indent="-228600">
              <a:spcAft>
                <a:spcPts val="800"/>
              </a:spcAft>
              <a:buSzPct val="100000"/>
              <a:buChar char="•"/>
            </a:pPr>
            <a:r>
              <a:rPr lang="en-US" sz="1400" b="1" dirty="0">
                <a:solidFill>
                  <a:srgbClr val="000000"/>
                </a:solidFill>
                <a:highlight>
                  <a:srgbClr val="FFC000"/>
                </a:highlight>
              </a:rPr>
              <a:t> TB </a:t>
            </a:r>
            <a:r>
              <a:rPr lang="en-US" sz="1800" dirty="0">
                <a:solidFill>
                  <a:srgbClr val="000000"/>
                </a:solidFill>
              </a:rPr>
              <a:t> </a:t>
            </a:r>
            <a:r>
              <a:rPr lang="en-US" sz="1800" dirty="0">
                <a:solidFill>
                  <a:srgbClr val="1F1F1F"/>
                </a:solidFill>
              </a:rPr>
              <a:t>Glucocorticoids in gout: reduce neutrophil migration, prostaglandins, and IL-1β.</a:t>
            </a:r>
            <a:r>
              <a:rPr lang="en-US" sz="1300" dirty="0">
                <a:solidFill>
                  <a:srgbClr val="666666"/>
                </a:solidFill>
              </a:rPr>
              <a:t>  p. 698</a:t>
            </a:r>
            <a:endParaRPr lang="en-US" sz="1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Kicker"/>
          <p:cNvSpPr txBox="1"/>
          <p:nvPr/>
        </p:nvSpPr>
        <p:spPr>
          <a:xfrm>
            <a:off x="548640" y="292608"/>
            <a:ext cx="8076895" cy="274320"/>
          </a:xfrm>
          <a:prstGeom prst="rect">
            <a:avLst/>
          </a:prstGeom>
          <a:noFill/>
          <a:ln/>
        </p:spPr>
        <p:txBody>
          <a:bodyPr wrap="square" lIns="0" tIns="0" rIns="0" bIns="0" rtlCol="0" anchor="ctr"/>
          <a:lstStyle/>
          <a:p>
            <a:pPr indent="0" marL="0">
              <a:buNone/>
            </a:pPr>
            <a:r>
              <a:rPr lang="en-US" sz="1200" b="1" spc="100" kern="0" dirty="0">
                <a:solidFill>
                  <a:srgbClr val="4472C4"/>
                </a:solidFill>
              </a:rPr>
              <a:t>GOUT: ACUTE FLARES &amp; URATE-LOWERING THERAPY</a:t>
            </a:r>
            <a:endParaRPr lang="en-US" sz="1200" dirty="0"/>
          </a:p>
        </p:txBody>
      </p:sp>
      <p:sp>
        <p:nvSpPr>
          <p:cNvPr id="3" name="Title"/>
          <p:cNvSpPr txBox="1"/>
          <p:nvPr/>
        </p:nvSpPr>
        <p:spPr>
          <a:xfrm>
            <a:off x="548640" y="566928"/>
            <a:ext cx="8076895" cy="713232"/>
          </a:xfrm>
          <a:prstGeom prst="rect">
            <a:avLst/>
          </a:prstGeom>
          <a:noFill/>
          <a:ln/>
        </p:spPr>
        <p:txBody>
          <a:bodyPr wrap="square" lIns="0" tIns="0" rIns="0" bIns="0" rtlCol="0" anchor="t"/>
          <a:lstStyle/>
          <a:p>
            <a:pPr indent="0" marL="0">
              <a:buNone/>
            </a:pPr>
            <a:r>
              <a:rPr lang="en-US" sz="3000" b="1" dirty="0">
                <a:solidFill>
                  <a:srgbClr val="1F1F1F"/>
                </a:solidFill>
                <a:latin typeface="Calibri" pitchFamily="34" charset="0"/>
                <a:ea typeface="Calibri" pitchFamily="34" charset="-122"/>
                <a:cs typeface="Calibri" pitchFamily="34" charset="-120"/>
              </a:rPr>
              <a:t>Indications</a:t>
            </a:r>
            <a:endParaRPr lang="en-US" sz="3000" dirty="0"/>
          </a:p>
        </p:txBody>
      </p:sp>
      <p:sp>
        <p:nvSpPr>
          <p:cNvPr id="4" name="Objective chip"/>
          <p:cNvSpPr/>
          <p:nvPr/>
        </p:nvSpPr>
        <p:spPr>
          <a:xfrm>
            <a:off x="8899855" y="365760"/>
            <a:ext cx="2743200" cy="384048"/>
          </a:xfrm>
          <a:prstGeom prst="roundRect">
            <a:avLst>
              <a:gd name="adj" fmla="val 35714"/>
            </a:avLst>
          </a:prstGeom>
          <a:solidFill>
            <a:srgbClr val="E3EBF8"/>
          </a:solidFill>
          <a:ln/>
        </p:spPr>
        <p:txBody>
          <a:bodyPr wrap="square" lIns="25400" tIns="25400" rIns="25400" bIns="25400" rtlCol="0" anchor="ctr"/>
          <a:lstStyle/>
          <a:p>
            <a:pPr algn="ctr" indent="0" marL="0">
              <a:buNone/>
            </a:pPr>
            <a:r>
              <a:rPr lang="en-US" sz="800" b="1" dirty="0">
                <a:solidFill>
                  <a:srgbClr val="2F4F8A"/>
                </a:solidFill>
              </a:rPr>
              <a:t>Objectives: SO1 · SO4 · IO2.1 · IO2.2 · IO2.3 · IO2.4 · IO2.5</a:t>
            </a:r>
            <a:endParaRPr lang="en-US" sz="800" dirty="0"/>
          </a:p>
        </p:txBody>
      </p:sp>
      <p:sp>
        <p:nvSpPr>
          <p:cNvPr id="5" name="Footer"/>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1000" dirty="0">
                <a:solidFill>
                  <a:srgbClr val="666666"/>
                </a:solidFill>
              </a:rPr>
              <a:t>L04 · Musculoskeletal Pharmacology — Session 2</a:t>
            </a:r>
            <a:endParaRPr lang="en-US" sz="1000" dirty="0"/>
          </a:p>
        </p:txBody>
      </p:sp>
      <p:sp>
        <p:nvSpPr>
          <p:cNvPr id="6" name="Slide number"/>
          <p:cNvSpPr txBox="1"/>
          <p:nvPr/>
        </p:nvSpPr>
        <p:spPr>
          <a:xfrm>
            <a:off x="10728655" y="6419088"/>
            <a:ext cx="914400" cy="274320"/>
          </a:xfrm>
          <a:prstGeom prst="rect">
            <a:avLst/>
          </a:prstGeom>
          <a:noFill/>
          <a:ln/>
        </p:spPr>
        <p:txBody>
          <a:bodyPr wrap="square" lIns="0" tIns="0" rIns="0" bIns="0" rtlCol="0" anchor="ctr"/>
          <a:lstStyle/>
          <a:p>
            <a:pPr algn="r" indent="0" marL="0">
              <a:buNone/>
            </a:pPr>
            <a:r>
              <a:rPr lang="en-US" sz="1000" dirty="0">
                <a:solidFill>
                  <a:srgbClr val="666666"/>
                </a:solidFill>
              </a:rPr>
              <a:t>14</a:t>
            </a:r>
            <a:endParaRPr lang="en-US" sz="1000" dirty="0"/>
          </a:p>
        </p:txBody>
      </p:sp>
      <p:sp>
        <p:nvSpPr>
          <p:cNvPr id="7" name="Indications (1/2) card"/>
          <p:cNvSpPr/>
          <p:nvPr/>
        </p:nvSpPr>
        <p:spPr>
          <a:xfrm>
            <a:off x="548640" y="1325880"/>
            <a:ext cx="11094415" cy="3442716"/>
          </a:xfrm>
          <a:prstGeom prst="roundRect">
            <a:avLst>
              <a:gd name="adj" fmla="val 3187"/>
            </a:avLst>
          </a:prstGeom>
          <a:solidFill>
            <a:srgbClr val="F2F4F7"/>
          </a:solidFill>
          <a:ln w="12700">
            <a:solidFill>
              <a:srgbClr val="F2F4F7"/>
            </a:solidFill>
            <a:prstDash val="solid"/>
          </a:ln>
        </p:spPr>
      </p:sp>
      <p:sp>
        <p:nvSpPr>
          <p:cNvPr id="8" name="Indications (1/2) icon circle"/>
          <p:cNvSpPr/>
          <p:nvPr/>
        </p:nvSpPr>
        <p:spPr>
          <a:xfrm>
            <a:off x="777240" y="1508760"/>
            <a:ext cx="438912" cy="438912"/>
          </a:xfrm>
          <a:prstGeom prst="ellipse">
            <a:avLst/>
          </a:prstGeom>
          <a:solidFill>
            <a:srgbClr val="548235"/>
          </a:solidFill>
          <a:ln w="12700">
            <a:solidFill>
              <a:srgbClr val="548235"/>
            </a:solidFill>
            <a:prstDash val="solid"/>
          </a:ln>
        </p:spPr>
      </p:sp>
      <p:pic>
        <p:nvPicPr>
          <p:cNvPr id="9" name="Indications (1/2) icon" descr="preencoded.png">    </p:cNvPr>
          <p:cNvPicPr>
            <a:picLocks noChangeAspect="1"/>
          </p:cNvPicPr>
          <p:nvPr/>
        </p:nvPicPr>
        <p:blipFill>
          <a:blip r:embed="rId1"/>
          <a:stretch>
            <a:fillRect/>
          </a:stretch>
        </p:blipFill>
        <p:spPr>
          <a:xfrm>
            <a:off x="877824" y="1609344"/>
            <a:ext cx="237744" cy="237744"/>
          </a:xfrm>
          <a:prstGeom prst="rect">
            <a:avLst/>
          </a:prstGeom>
        </p:spPr>
      </p:pic>
      <p:sp>
        <p:nvSpPr>
          <p:cNvPr id="10" name="Indications (1/2) heading"/>
          <p:cNvSpPr txBox="1"/>
          <p:nvPr/>
        </p:nvSpPr>
        <p:spPr>
          <a:xfrm>
            <a:off x="1353312" y="1508760"/>
            <a:ext cx="10088575" cy="438912"/>
          </a:xfrm>
          <a:prstGeom prst="rect">
            <a:avLst/>
          </a:prstGeom>
          <a:noFill/>
          <a:ln/>
        </p:spPr>
        <p:txBody>
          <a:bodyPr wrap="square" lIns="0" tIns="0" rIns="0" bIns="0" rtlCol="0" anchor="ctr"/>
          <a:lstStyle/>
          <a:p>
            <a:pPr indent="0" marL="0">
              <a:buNone/>
            </a:pPr>
            <a:r>
              <a:rPr lang="en-US" sz="1800" b="1" dirty="0">
                <a:solidFill>
                  <a:srgbClr val="548235"/>
                </a:solidFill>
              </a:rPr>
              <a:t>Indications (1/2)</a:t>
            </a:r>
            <a:endParaRPr lang="en-US" sz="1800" dirty="0"/>
          </a:p>
        </p:txBody>
      </p:sp>
      <p:sp>
        <p:nvSpPr>
          <p:cNvPr id="11" name="Indications (1/2) body"/>
          <p:cNvSpPr txBox="1"/>
          <p:nvPr/>
        </p:nvSpPr>
        <p:spPr>
          <a:xfrm>
            <a:off x="777240" y="2075688"/>
            <a:ext cx="10637215" cy="2574036"/>
          </a:xfrm>
          <a:prstGeom prst="rect">
            <a:avLst/>
          </a:prstGeom>
          <a:noFill/>
          <a:ln/>
        </p:spPr>
        <p:txBody>
          <a:bodyPr wrap="square" lIns="0" tIns="0" rIns="0" bIns="0" rtlCol="0" anchor="t"/>
          <a:lstStyle/>
          <a:p>
            <a:pPr marL="228600" indent="-228600">
              <a:spcAft>
                <a:spcPts val="800"/>
              </a:spcAft>
              <a:buSzPct val="100000"/>
              <a:buChar char="•"/>
            </a:pPr>
            <a:r>
              <a:rPr lang="en-US" sz="1800" b="1" dirty="0">
                <a:solidFill>
                  <a:srgbClr val="1F1F1F"/>
                </a:solidFill>
              </a:rPr>
              <a:t>Treat the acute flare first</a:t>
            </a:r>
            <a:r>
              <a:rPr lang="en-US" sz="1800" dirty="0">
                <a:solidFill>
                  <a:srgbClr val="1F1F1F"/>
                </a:solidFill>
              </a:rPr>
              <a:t> (colchicine, NSAID, or corticosteroid); urate-lowering therapy is deferred until the flare resolves, then used for long-term prevention.</a:t>
            </a:r>
            <a:r>
              <a:rPr lang="en-US" sz="1300" dirty="0">
                <a:solidFill>
                  <a:srgbClr val="666666"/>
                </a:solidFill>
              </a:rPr>
              <a:t>  S16; SG U2-R10</a:t>
            </a:r>
            <a:endParaRPr lang="en-US" sz="1800" dirty="0"/>
          </a:p>
          <a:p>
            <a:pPr marL="228600" indent="-228600">
              <a:spcAft>
                <a:spcPts val="800"/>
              </a:spcAft>
              <a:buSzPct val="100000"/>
              <a:buChar char="•"/>
            </a:pPr>
            <a:r>
              <a:rPr lang="en-US" sz="1800" dirty="0">
                <a:solidFill>
                  <a:srgbClr val="1F1F1F"/>
                </a:solidFill>
              </a:rPr>
              <a:t>Colchicine is most effective when started early in a flare — </a:t>
            </a:r>
            <a:r>
              <a:rPr lang="en-US" sz="1800" b="1" dirty="0">
                <a:solidFill>
                  <a:srgbClr val="1F1F1F"/>
                </a:solidFill>
              </a:rPr>
              <a:t>best within 24 hours of onset</a:t>
            </a:r>
            <a:r>
              <a:rPr lang="en-US" sz="1800" dirty="0">
                <a:solidFill>
                  <a:srgbClr val="1F1F1F"/>
                </a:solidFill>
              </a:rPr>
              <a:t>.</a:t>
            </a:r>
            <a:r>
              <a:rPr lang="en-US" sz="1300" dirty="0">
                <a:solidFill>
                  <a:srgbClr val="666666"/>
                </a:solidFill>
              </a:rPr>
              <a:t>  S10; S11</a:t>
            </a:r>
            <a:endParaRPr lang="en-US" sz="1800" dirty="0"/>
          </a:p>
          <a:p>
            <a:pPr marL="228600" indent="-228600">
              <a:spcAft>
                <a:spcPts val="800"/>
              </a:spcAft>
              <a:buSzPct val="100000"/>
              <a:buChar char="•"/>
            </a:pPr>
            <a:r>
              <a:rPr lang="en-US" sz="1800" dirty="0">
                <a:solidFill>
                  <a:srgbClr val="1F1F1F"/>
                </a:solidFill>
              </a:rPr>
              <a:t>Allopurinol is first-line for most patients; febuxostat is the alternative when allopurinol is not tolerated or contraindicated.</a:t>
            </a:r>
            <a:r>
              <a:rPr lang="en-US" sz="1300" dirty="0">
                <a:solidFill>
                  <a:srgbClr val="666666"/>
                </a:solidFill>
              </a:rPr>
              <a:t>  S12</a:t>
            </a:r>
            <a:endParaRPr lang="en-US" sz="1800" dirty="0"/>
          </a:p>
          <a:p>
            <a:pPr marL="228600" indent="-228600">
              <a:spcAft>
                <a:spcPts val="800"/>
              </a:spcAft>
              <a:buSzPct val="100000"/>
              <a:buChar char="•"/>
            </a:pPr>
            <a:r>
              <a:rPr lang="en-US" sz="1800" dirty="0">
                <a:solidFill>
                  <a:srgbClr val="1F1F1F"/>
                </a:solidFill>
              </a:rPr>
              <a:t>Probenecid is an older, second-line oral option. </a:t>
            </a:r>
            <a:r>
              <a:rPr lang="en-US" sz="1800" b="1" dirty="0">
                <a:solidFill>
                  <a:srgbClr val="1F1F1F"/>
                </a:solidFill>
              </a:rPr>
              <a:t>Pegloticase — a recombinant uricase enzyme for severe, refractory gout not controlled by other agents.</a:t>
            </a:r>
            <a:r>
              <a:rPr lang="en-US" sz="1300" dirty="0">
                <a:solidFill>
                  <a:srgbClr val="666666"/>
                </a:solidFill>
              </a:rPr>
              <a:t>  S14; S14 (notes); S15</a:t>
            </a:r>
            <a:endParaRPr lang="en-US" sz="1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Kicker"/>
          <p:cNvSpPr txBox="1"/>
          <p:nvPr/>
        </p:nvSpPr>
        <p:spPr>
          <a:xfrm>
            <a:off x="548640" y="292608"/>
            <a:ext cx="8076895" cy="274320"/>
          </a:xfrm>
          <a:prstGeom prst="rect">
            <a:avLst/>
          </a:prstGeom>
          <a:noFill/>
          <a:ln/>
        </p:spPr>
        <p:txBody>
          <a:bodyPr wrap="square" lIns="0" tIns="0" rIns="0" bIns="0" rtlCol="0" anchor="ctr"/>
          <a:lstStyle/>
          <a:p>
            <a:pPr indent="0" marL="0">
              <a:buNone/>
            </a:pPr>
            <a:r>
              <a:rPr lang="en-US" sz="1200" b="1" spc="100" kern="0" dirty="0">
                <a:solidFill>
                  <a:srgbClr val="4472C4"/>
                </a:solidFill>
              </a:rPr>
              <a:t>GOUT: ACUTE FLARES &amp; URATE-LOWERING THERAPY</a:t>
            </a:r>
            <a:endParaRPr lang="en-US" sz="1200" dirty="0"/>
          </a:p>
        </p:txBody>
      </p:sp>
      <p:sp>
        <p:nvSpPr>
          <p:cNvPr id="3" name="Title"/>
          <p:cNvSpPr txBox="1"/>
          <p:nvPr/>
        </p:nvSpPr>
        <p:spPr>
          <a:xfrm>
            <a:off x="548640" y="566928"/>
            <a:ext cx="8076895" cy="713232"/>
          </a:xfrm>
          <a:prstGeom prst="rect">
            <a:avLst/>
          </a:prstGeom>
          <a:noFill/>
          <a:ln/>
        </p:spPr>
        <p:txBody>
          <a:bodyPr wrap="square" lIns="0" tIns="0" rIns="0" bIns="0" rtlCol="0" anchor="t"/>
          <a:lstStyle/>
          <a:p>
            <a:pPr indent="0" marL="0">
              <a:buNone/>
            </a:pPr>
            <a:r>
              <a:rPr lang="en-US" sz="3000" b="1" dirty="0">
                <a:solidFill>
                  <a:srgbClr val="1F1F1F"/>
                </a:solidFill>
                <a:latin typeface="Calibri" pitchFamily="34" charset="0"/>
                <a:ea typeface="Calibri" pitchFamily="34" charset="-122"/>
                <a:cs typeface="Calibri" pitchFamily="34" charset="-120"/>
              </a:rPr>
              <a:t>Indications (cont.)</a:t>
            </a:r>
            <a:endParaRPr lang="en-US" sz="3000" dirty="0"/>
          </a:p>
        </p:txBody>
      </p:sp>
      <p:sp>
        <p:nvSpPr>
          <p:cNvPr id="4" name="Objective chip"/>
          <p:cNvSpPr/>
          <p:nvPr/>
        </p:nvSpPr>
        <p:spPr>
          <a:xfrm>
            <a:off x="8899855" y="365760"/>
            <a:ext cx="2743200" cy="384048"/>
          </a:xfrm>
          <a:prstGeom prst="roundRect">
            <a:avLst>
              <a:gd name="adj" fmla="val 35714"/>
            </a:avLst>
          </a:prstGeom>
          <a:solidFill>
            <a:srgbClr val="E3EBF8"/>
          </a:solidFill>
          <a:ln/>
        </p:spPr>
        <p:txBody>
          <a:bodyPr wrap="square" lIns="25400" tIns="25400" rIns="25400" bIns="25400" rtlCol="0" anchor="ctr"/>
          <a:lstStyle/>
          <a:p>
            <a:pPr algn="ctr" indent="0" marL="0">
              <a:buNone/>
            </a:pPr>
            <a:r>
              <a:rPr lang="en-US" sz="800" b="1" dirty="0">
                <a:solidFill>
                  <a:srgbClr val="2F4F8A"/>
                </a:solidFill>
              </a:rPr>
              <a:t>Objectives: SO1 · SO4 · IO2.1 · IO2.2 · IO2.3 · IO2.4 · IO2.5</a:t>
            </a:r>
            <a:endParaRPr lang="en-US" sz="800" dirty="0"/>
          </a:p>
        </p:txBody>
      </p:sp>
      <p:sp>
        <p:nvSpPr>
          <p:cNvPr id="5" name="Footer"/>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1000" dirty="0">
                <a:solidFill>
                  <a:srgbClr val="666666"/>
                </a:solidFill>
              </a:rPr>
              <a:t>L04 · Musculoskeletal Pharmacology — Session 2</a:t>
            </a:r>
            <a:endParaRPr lang="en-US" sz="1000" dirty="0"/>
          </a:p>
        </p:txBody>
      </p:sp>
      <p:sp>
        <p:nvSpPr>
          <p:cNvPr id="6" name="Slide number"/>
          <p:cNvSpPr txBox="1"/>
          <p:nvPr/>
        </p:nvSpPr>
        <p:spPr>
          <a:xfrm>
            <a:off x="10728655" y="6419088"/>
            <a:ext cx="914400" cy="274320"/>
          </a:xfrm>
          <a:prstGeom prst="rect">
            <a:avLst/>
          </a:prstGeom>
          <a:noFill/>
          <a:ln/>
        </p:spPr>
        <p:txBody>
          <a:bodyPr wrap="square" lIns="0" tIns="0" rIns="0" bIns="0" rtlCol="0" anchor="ctr"/>
          <a:lstStyle/>
          <a:p>
            <a:pPr algn="r" indent="0" marL="0">
              <a:buNone/>
            </a:pPr>
            <a:r>
              <a:rPr lang="en-US" sz="1000" dirty="0">
                <a:solidFill>
                  <a:srgbClr val="666666"/>
                </a:solidFill>
              </a:rPr>
              <a:t>15</a:t>
            </a:r>
            <a:endParaRPr lang="en-US" sz="1000" dirty="0"/>
          </a:p>
        </p:txBody>
      </p:sp>
      <p:sp>
        <p:nvSpPr>
          <p:cNvPr id="7" name="Indications (2/2) card"/>
          <p:cNvSpPr/>
          <p:nvPr/>
        </p:nvSpPr>
        <p:spPr>
          <a:xfrm>
            <a:off x="548640" y="1325880"/>
            <a:ext cx="11094415" cy="3442716"/>
          </a:xfrm>
          <a:prstGeom prst="roundRect">
            <a:avLst>
              <a:gd name="adj" fmla="val 3187"/>
            </a:avLst>
          </a:prstGeom>
          <a:solidFill>
            <a:srgbClr val="F2F4F7"/>
          </a:solidFill>
          <a:ln w="12700">
            <a:solidFill>
              <a:srgbClr val="F2F4F7"/>
            </a:solidFill>
            <a:prstDash val="solid"/>
          </a:ln>
        </p:spPr>
      </p:sp>
      <p:sp>
        <p:nvSpPr>
          <p:cNvPr id="8" name="Indications (2/2) icon circle"/>
          <p:cNvSpPr/>
          <p:nvPr/>
        </p:nvSpPr>
        <p:spPr>
          <a:xfrm>
            <a:off x="777240" y="1508760"/>
            <a:ext cx="438912" cy="438912"/>
          </a:xfrm>
          <a:prstGeom prst="ellipse">
            <a:avLst/>
          </a:prstGeom>
          <a:solidFill>
            <a:srgbClr val="548235"/>
          </a:solidFill>
          <a:ln w="12700">
            <a:solidFill>
              <a:srgbClr val="548235"/>
            </a:solidFill>
            <a:prstDash val="solid"/>
          </a:ln>
        </p:spPr>
      </p:sp>
      <p:pic>
        <p:nvPicPr>
          <p:cNvPr id="9" name="Indications (2/2) icon" descr="preencoded.png">    </p:cNvPr>
          <p:cNvPicPr>
            <a:picLocks noChangeAspect="1"/>
          </p:cNvPicPr>
          <p:nvPr/>
        </p:nvPicPr>
        <p:blipFill>
          <a:blip r:embed="rId1"/>
          <a:stretch>
            <a:fillRect/>
          </a:stretch>
        </p:blipFill>
        <p:spPr>
          <a:xfrm>
            <a:off x="877824" y="1609344"/>
            <a:ext cx="237744" cy="237744"/>
          </a:xfrm>
          <a:prstGeom prst="rect">
            <a:avLst/>
          </a:prstGeom>
        </p:spPr>
      </p:pic>
      <p:sp>
        <p:nvSpPr>
          <p:cNvPr id="10" name="Indications (2/2) heading"/>
          <p:cNvSpPr txBox="1"/>
          <p:nvPr/>
        </p:nvSpPr>
        <p:spPr>
          <a:xfrm>
            <a:off x="1353312" y="1508760"/>
            <a:ext cx="10088575" cy="438912"/>
          </a:xfrm>
          <a:prstGeom prst="rect">
            <a:avLst/>
          </a:prstGeom>
          <a:noFill/>
          <a:ln/>
        </p:spPr>
        <p:txBody>
          <a:bodyPr wrap="square" lIns="0" tIns="0" rIns="0" bIns="0" rtlCol="0" anchor="ctr"/>
          <a:lstStyle/>
          <a:p>
            <a:pPr indent="0" marL="0">
              <a:buNone/>
            </a:pPr>
            <a:r>
              <a:rPr lang="en-US" sz="1800" b="1" dirty="0">
                <a:solidFill>
                  <a:srgbClr val="548235"/>
                </a:solidFill>
              </a:rPr>
              <a:t>Indications (2/2)</a:t>
            </a:r>
            <a:endParaRPr lang="en-US" sz="1800" dirty="0"/>
          </a:p>
        </p:txBody>
      </p:sp>
      <p:sp>
        <p:nvSpPr>
          <p:cNvPr id="11" name="Indications (2/2) body"/>
          <p:cNvSpPr txBox="1"/>
          <p:nvPr/>
        </p:nvSpPr>
        <p:spPr>
          <a:xfrm>
            <a:off x="777240" y="2075688"/>
            <a:ext cx="10637215" cy="2574036"/>
          </a:xfrm>
          <a:prstGeom prst="rect">
            <a:avLst/>
          </a:prstGeom>
          <a:noFill/>
          <a:ln/>
        </p:spPr>
        <p:txBody>
          <a:bodyPr wrap="square" lIns="0" tIns="0" rIns="0" bIns="0" rtlCol="0" anchor="t"/>
          <a:lstStyle/>
          <a:p>
            <a:pPr marL="228600" indent="-228600">
              <a:spcAft>
                <a:spcPts val="800"/>
              </a:spcAft>
              <a:buSzPct val="100000"/>
              <a:buChar char="•"/>
            </a:pPr>
            <a:r>
              <a:rPr lang="en-US" sz="1400" b="1" dirty="0">
                <a:solidFill>
                  <a:srgbClr val="000000"/>
                </a:solidFill>
                <a:highlight>
                  <a:srgbClr val="FFC000"/>
                </a:highlight>
              </a:rPr>
              <a:t> TB </a:t>
            </a:r>
            <a:r>
              <a:rPr lang="en-US" sz="1800" dirty="0">
                <a:solidFill>
                  <a:srgbClr val="000000"/>
                </a:solidFill>
              </a:rPr>
              <a:t> </a:t>
            </a:r>
            <a:r>
              <a:rPr lang="en-US" sz="1800" dirty="0">
                <a:solidFill>
                  <a:srgbClr val="1F1F1F"/>
                </a:solidFill>
              </a:rPr>
              <a:t>Colchicine flare regimen: 1.2 mg, then 0.6 mg an hour later; prophylaxis 0.6 mg once or twice daily during urate-lowering therapy initiation.</a:t>
            </a:r>
            <a:r>
              <a:rPr lang="en-US" sz="1300" dirty="0">
                <a:solidFill>
                  <a:srgbClr val="666666"/>
                </a:solidFill>
              </a:rPr>
              <a:t>  p. 696</a:t>
            </a:r>
            <a:endParaRPr lang="en-US" sz="1400" dirty="0"/>
          </a:p>
          <a:p>
            <a:pPr marL="228600" indent="-228600">
              <a:spcAft>
                <a:spcPts val="800"/>
              </a:spcAft>
              <a:buSzPct val="100000"/>
              <a:buChar char="•"/>
            </a:pPr>
            <a:r>
              <a:rPr lang="en-US" sz="1400" b="1" dirty="0">
                <a:solidFill>
                  <a:srgbClr val="000000"/>
                </a:solidFill>
                <a:highlight>
                  <a:srgbClr val="FFC000"/>
                </a:highlight>
              </a:rPr>
              <a:t> TB </a:t>
            </a:r>
            <a:r>
              <a:rPr lang="en-US" sz="1800" dirty="0">
                <a:solidFill>
                  <a:srgbClr val="000000"/>
                </a:solidFill>
              </a:rPr>
              <a:t> </a:t>
            </a:r>
            <a:r>
              <a:rPr lang="en-US" sz="1800" dirty="0">
                <a:solidFill>
                  <a:srgbClr val="1F1F1F"/>
                </a:solidFill>
              </a:rPr>
              <a:t>Corticosteroids are a good alternative when NSAIDs or colchicine are contraindicated, including CKD: prednisone 30–50 mg/d for 1–2 days, tapered over 7–10 days, or intra-articular.</a:t>
            </a:r>
            <a:r>
              <a:rPr lang="en-US" sz="1300" dirty="0">
                <a:solidFill>
                  <a:srgbClr val="666666"/>
                </a:solidFill>
              </a:rPr>
              <a:t>  p. 698</a:t>
            </a:r>
            <a:endParaRPr lang="en-US" sz="1400" dirty="0"/>
          </a:p>
          <a:p>
            <a:pPr marL="228600" indent="-228600">
              <a:spcAft>
                <a:spcPts val="800"/>
              </a:spcAft>
              <a:buSzPct val="100000"/>
              <a:buChar char="•"/>
            </a:pPr>
            <a:r>
              <a:rPr lang="en-US" sz="1400" b="1" dirty="0">
                <a:solidFill>
                  <a:srgbClr val="000000"/>
                </a:solidFill>
                <a:highlight>
                  <a:srgbClr val="FFC000"/>
                </a:highlight>
              </a:rPr>
              <a:t> TB </a:t>
            </a:r>
            <a:r>
              <a:rPr lang="en-US" sz="1800" dirty="0">
                <a:solidFill>
                  <a:srgbClr val="000000"/>
                </a:solidFill>
              </a:rPr>
              <a:t> </a:t>
            </a:r>
            <a:r>
              <a:rPr lang="en-US" sz="1800" dirty="0">
                <a:solidFill>
                  <a:srgbClr val="1F1F1F"/>
                </a:solidFill>
              </a:rPr>
              <a:t>All NSAIDs except aspirin, salicylates, and tolmetin treat gout flares.</a:t>
            </a:r>
            <a:r>
              <a:rPr lang="en-US" sz="1300" dirty="0">
                <a:solidFill>
                  <a:srgbClr val="666666"/>
                </a:solidFill>
              </a:rPr>
              <a:t>  p. 697</a:t>
            </a:r>
            <a:endParaRPr lang="en-US" sz="1400" dirty="0"/>
          </a:p>
          <a:p>
            <a:pPr marL="228600" indent="-228600">
              <a:spcAft>
                <a:spcPts val="800"/>
              </a:spcAft>
              <a:buSzPct val="100000"/>
              <a:buChar char="•"/>
            </a:pPr>
            <a:r>
              <a:rPr lang="en-US" sz="1400" b="1" dirty="0">
                <a:solidFill>
                  <a:srgbClr val="000000"/>
                </a:solidFill>
                <a:highlight>
                  <a:srgbClr val="FFC000"/>
                </a:highlight>
              </a:rPr>
              <a:t> TB </a:t>
            </a:r>
            <a:r>
              <a:rPr lang="en-US" sz="1800" dirty="0">
                <a:solidFill>
                  <a:srgbClr val="000000"/>
                </a:solidFill>
              </a:rPr>
              <a:t> </a:t>
            </a:r>
            <a:r>
              <a:rPr lang="en-US" sz="1800" dirty="0">
                <a:solidFill>
                  <a:srgbClr val="1F1F1F"/>
                </a:solidFill>
              </a:rPr>
              <a:t>Febuxostat appears safe in moderate CKD; it can be tried after allopurinol hypersensitivity, though a reaction may still occur.</a:t>
            </a:r>
            <a:r>
              <a:rPr lang="en-US" sz="1300" dirty="0">
                <a:solidFill>
                  <a:srgbClr val="666666"/>
                </a:solidFill>
              </a:rPr>
              <a:t>  p. 697</a:t>
            </a:r>
            <a:endParaRPr lang="en-US" sz="1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Kicker"/>
          <p:cNvSpPr txBox="1"/>
          <p:nvPr/>
        </p:nvSpPr>
        <p:spPr>
          <a:xfrm>
            <a:off x="548640" y="292608"/>
            <a:ext cx="8076895" cy="274320"/>
          </a:xfrm>
          <a:prstGeom prst="rect">
            <a:avLst/>
          </a:prstGeom>
          <a:noFill/>
          <a:ln/>
        </p:spPr>
        <p:txBody>
          <a:bodyPr wrap="square" lIns="0" tIns="0" rIns="0" bIns="0" rtlCol="0" anchor="ctr"/>
          <a:lstStyle/>
          <a:p>
            <a:pPr indent="0" marL="0">
              <a:buNone/>
            </a:pPr>
            <a:r>
              <a:rPr lang="en-US" sz="1200" b="1" spc="100" kern="0" dirty="0">
                <a:solidFill>
                  <a:srgbClr val="4472C4"/>
                </a:solidFill>
              </a:rPr>
              <a:t>GOUT: ACUTE FLARES &amp; URATE-LOWERING THERAPY</a:t>
            </a:r>
            <a:endParaRPr lang="en-US" sz="1200" dirty="0"/>
          </a:p>
        </p:txBody>
      </p:sp>
      <p:sp>
        <p:nvSpPr>
          <p:cNvPr id="3" name="Title"/>
          <p:cNvSpPr txBox="1"/>
          <p:nvPr/>
        </p:nvSpPr>
        <p:spPr>
          <a:xfrm>
            <a:off x="548640" y="566928"/>
            <a:ext cx="8076895" cy="713232"/>
          </a:xfrm>
          <a:prstGeom prst="rect">
            <a:avLst/>
          </a:prstGeom>
          <a:noFill/>
          <a:ln/>
        </p:spPr>
        <p:txBody>
          <a:bodyPr wrap="square" lIns="0" tIns="0" rIns="0" bIns="0" rtlCol="0" anchor="t"/>
          <a:lstStyle/>
          <a:p>
            <a:pPr indent="0" marL="0">
              <a:buNone/>
            </a:pPr>
            <a:r>
              <a:rPr lang="en-US" sz="3000" b="1" dirty="0">
                <a:solidFill>
                  <a:srgbClr val="1F1F1F"/>
                </a:solidFill>
                <a:latin typeface="Calibri" pitchFamily="34" charset="0"/>
                <a:ea typeface="Calibri" pitchFamily="34" charset="-122"/>
                <a:cs typeface="Calibri" pitchFamily="34" charset="-120"/>
              </a:rPr>
              <a:t>Adverse effects (boxed warnings first)</a:t>
            </a:r>
            <a:endParaRPr lang="en-US" sz="3000" dirty="0"/>
          </a:p>
        </p:txBody>
      </p:sp>
      <p:sp>
        <p:nvSpPr>
          <p:cNvPr id="4" name="Objective chip"/>
          <p:cNvSpPr/>
          <p:nvPr/>
        </p:nvSpPr>
        <p:spPr>
          <a:xfrm>
            <a:off x="8899855" y="365760"/>
            <a:ext cx="2743200" cy="384048"/>
          </a:xfrm>
          <a:prstGeom prst="roundRect">
            <a:avLst>
              <a:gd name="adj" fmla="val 35714"/>
            </a:avLst>
          </a:prstGeom>
          <a:solidFill>
            <a:srgbClr val="E3EBF8"/>
          </a:solidFill>
          <a:ln/>
        </p:spPr>
        <p:txBody>
          <a:bodyPr wrap="square" lIns="25400" tIns="25400" rIns="25400" bIns="25400" rtlCol="0" anchor="ctr"/>
          <a:lstStyle/>
          <a:p>
            <a:pPr algn="ctr" indent="0" marL="0">
              <a:buNone/>
            </a:pPr>
            <a:r>
              <a:rPr lang="en-US" sz="800" b="1" dirty="0">
                <a:solidFill>
                  <a:srgbClr val="2F4F8A"/>
                </a:solidFill>
              </a:rPr>
              <a:t>Objectives: SO1 · SO4 · IO2.1 · IO2.2 · IO2.3 · IO2.4 · IO2.5</a:t>
            </a:r>
            <a:endParaRPr lang="en-US" sz="800" dirty="0"/>
          </a:p>
        </p:txBody>
      </p:sp>
      <p:sp>
        <p:nvSpPr>
          <p:cNvPr id="5" name="Footer"/>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1000" dirty="0">
                <a:solidFill>
                  <a:srgbClr val="666666"/>
                </a:solidFill>
              </a:rPr>
              <a:t>L04 · Musculoskeletal Pharmacology — Session 2</a:t>
            </a:r>
            <a:endParaRPr lang="en-US" sz="1000" dirty="0"/>
          </a:p>
        </p:txBody>
      </p:sp>
      <p:sp>
        <p:nvSpPr>
          <p:cNvPr id="6" name="Slide number"/>
          <p:cNvSpPr txBox="1"/>
          <p:nvPr/>
        </p:nvSpPr>
        <p:spPr>
          <a:xfrm>
            <a:off x="10728655" y="6419088"/>
            <a:ext cx="914400" cy="274320"/>
          </a:xfrm>
          <a:prstGeom prst="rect">
            <a:avLst/>
          </a:prstGeom>
          <a:noFill/>
          <a:ln/>
        </p:spPr>
        <p:txBody>
          <a:bodyPr wrap="square" lIns="0" tIns="0" rIns="0" bIns="0" rtlCol="0" anchor="ctr"/>
          <a:lstStyle/>
          <a:p>
            <a:pPr algn="r" indent="0" marL="0">
              <a:buNone/>
            </a:pPr>
            <a:r>
              <a:rPr lang="en-US" sz="1000" dirty="0">
                <a:solidFill>
                  <a:srgbClr val="666666"/>
                </a:solidFill>
              </a:rPr>
              <a:t>16</a:t>
            </a:r>
            <a:endParaRPr lang="en-US" sz="1000" dirty="0"/>
          </a:p>
        </p:txBody>
      </p:sp>
      <p:sp>
        <p:nvSpPr>
          <p:cNvPr id="7" name="Adverse effects (boxed warnings first) (1/2) card"/>
          <p:cNvSpPr/>
          <p:nvPr/>
        </p:nvSpPr>
        <p:spPr>
          <a:xfrm>
            <a:off x="548640" y="1325880"/>
            <a:ext cx="11094415" cy="3442716"/>
          </a:xfrm>
          <a:prstGeom prst="roundRect">
            <a:avLst>
              <a:gd name="adj" fmla="val 3187"/>
            </a:avLst>
          </a:prstGeom>
          <a:solidFill>
            <a:srgbClr val="F2F4F7"/>
          </a:solidFill>
          <a:ln w="12700">
            <a:solidFill>
              <a:srgbClr val="F2F4F7"/>
            </a:solidFill>
            <a:prstDash val="solid"/>
          </a:ln>
        </p:spPr>
      </p:sp>
      <p:sp>
        <p:nvSpPr>
          <p:cNvPr id="8" name="Adverse effects (boxed warnings first) (1/2) icon circle"/>
          <p:cNvSpPr/>
          <p:nvPr/>
        </p:nvSpPr>
        <p:spPr>
          <a:xfrm>
            <a:off x="777240" y="1508760"/>
            <a:ext cx="438912" cy="438912"/>
          </a:xfrm>
          <a:prstGeom prst="ellipse">
            <a:avLst/>
          </a:prstGeom>
          <a:solidFill>
            <a:srgbClr val="C55A11"/>
          </a:solidFill>
          <a:ln w="12700">
            <a:solidFill>
              <a:srgbClr val="C55A11"/>
            </a:solidFill>
            <a:prstDash val="solid"/>
          </a:ln>
        </p:spPr>
      </p:sp>
      <p:pic>
        <p:nvPicPr>
          <p:cNvPr id="9" name="Adverse effects (boxed warnings first) (1/2) icon" descr="preencoded.png">    </p:cNvPr>
          <p:cNvPicPr>
            <a:picLocks noChangeAspect="1"/>
          </p:cNvPicPr>
          <p:nvPr/>
        </p:nvPicPr>
        <p:blipFill>
          <a:blip r:embed="rId1"/>
          <a:stretch>
            <a:fillRect/>
          </a:stretch>
        </p:blipFill>
        <p:spPr>
          <a:xfrm>
            <a:off x="877824" y="1609344"/>
            <a:ext cx="237744" cy="237744"/>
          </a:xfrm>
          <a:prstGeom prst="rect">
            <a:avLst/>
          </a:prstGeom>
        </p:spPr>
      </p:pic>
      <p:sp>
        <p:nvSpPr>
          <p:cNvPr id="10" name="Adverse effects (boxed warnings first) (1/2) heading"/>
          <p:cNvSpPr txBox="1"/>
          <p:nvPr/>
        </p:nvSpPr>
        <p:spPr>
          <a:xfrm>
            <a:off x="1353312" y="1508760"/>
            <a:ext cx="10088575" cy="438912"/>
          </a:xfrm>
          <a:prstGeom prst="rect">
            <a:avLst/>
          </a:prstGeom>
          <a:noFill/>
          <a:ln/>
        </p:spPr>
        <p:txBody>
          <a:bodyPr wrap="square" lIns="0" tIns="0" rIns="0" bIns="0" rtlCol="0" anchor="ctr"/>
          <a:lstStyle/>
          <a:p>
            <a:pPr indent="0" marL="0">
              <a:buNone/>
            </a:pPr>
            <a:r>
              <a:rPr lang="en-US" sz="1800" b="1" dirty="0">
                <a:solidFill>
                  <a:srgbClr val="C55A11"/>
                </a:solidFill>
              </a:rPr>
              <a:t>Adverse effects (boxed warnings first) (1/2)</a:t>
            </a:r>
            <a:endParaRPr lang="en-US" sz="1800" dirty="0"/>
          </a:p>
        </p:txBody>
      </p:sp>
      <p:sp>
        <p:nvSpPr>
          <p:cNvPr id="11" name="Adverse effects (boxed warnings first) (1/2) body"/>
          <p:cNvSpPr txBox="1"/>
          <p:nvPr/>
        </p:nvSpPr>
        <p:spPr>
          <a:xfrm>
            <a:off x="777240" y="2075688"/>
            <a:ext cx="10637215" cy="2574036"/>
          </a:xfrm>
          <a:prstGeom prst="rect">
            <a:avLst/>
          </a:prstGeom>
          <a:noFill/>
          <a:ln/>
        </p:spPr>
        <p:txBody>
          <a:bodyPr wrap="square" lIns="0" tIns="0" rIns="0" bIns="0" rtlCol="0" anchor="t"/>
          <a:lstStyle/>
          <a:p>
            <a:pPr marL="228600" indent="-228600">
              <a:spcAft>
                <a:spcPts val="800"/>
              </a:spcAft>
              <a:buSzPct val="100000"/>
              <a:buChar char="•"/>
            </a:pPr>
            <a:r>
              <a:rPr lang="en-US" sz="1800" b="1" dirty="0">
                <a:solidFill>
                  <a:srgbClr val="1F1F1F"/>
                </a:solidFill>
              </a:rPr>
              <a:t>Febuxostat: boxed warning for cardiovascular death</a:t>
            </a:r>
            <a:r>
              <a:rPr lang="en-US" sz="1800" dirty="0">
                <a:solidFill>
                  <a:srgbClr val="1F1F1F"/>
                </a:solidFill>
              </a:rPr>
              <a:t> — it carries its own cardiovascular safety considerations.</a:t>
            </a:r>
            <a:r>
              <a:rPr lang="en-US" sz="1300" dirty="0">
                <a:solidFill>
                  <a:srgbClr val="666666"/>
                </a:solidFill>
              </a:rPr>
              <a:t>  S12; S13</a:t>
            </a:r>
            <a:endParaRPr lang="en-US" sz="1800" dirty="0"/>
          </a:p>
          <a:p>
            <a:pPr marL="228600" indent="-228600">
              <a:spcAft>
                <a:spcPts val="800"/>
              </a:spcAft>
              <a:buSzPct val="100000"/>
              <a:buChar char="•"/>
            </a:pPr>
            <a:r>
              <a:rPr lang="en-US" sz="1800" b="1" dirty="0">
                <a:solidFill>
                  <a:srgbClr val="1F1F1F"/>
                </a:solidFill>
              </a:rPr>
              <a:t>Colchicine: narrow therapeutic window</a:t>
            </a:r>
            <a:r>
              <a:rPr lang="en-US" sz="1800" dirty="0">
                <a:solidFill>
                  <a:srgbClr val="1F1F1F"/>
                </a:solidFill>
              </a:rPr>
              <a:t> — GI adverse effects (diarrhea) are common and dose-limiting.</a:t>
            </a:r>
            <a:r>
              <a:rPr lang="en-US" sz="1300" dirty="0">
                <a:solidFill>
                  <a:srgbClr val="666666"/>
                </a:solidFill>
              </a:rPr>
              <a:t>  S10; S11</a:t>
            </a:r>
            <a:endParaRPr lang="en-US" sz="1800" dirty="0"/>
          </a:p>
          <a:p>
            <a:pPr marL="228600" indent="-228600">
              <a:spcAft>
                <a:spcPts val="800"/>
              </a:spcAft>
              <a:buSzPct val="100000"/>
              <a:buChar char="•"/>
            </a:pPr>
            <a:r>
              <a:rPr lang="en-US" sz="1800" b="1" dirty="0">
                <a:solidFill>
                  <a:srgbClr val="1F1F1F"/>
                </a:solidFill>
              </a:rPr>
              <a:t>Allopurinol:</a:t>
            </a:r>
            <a:r>
              <a:rPr lang="en-US" sz="1800" dirty="0">
                <a:solidFill>
                  <a:srgbClr val="1F1F1F"/>
                </a:solidFill>
              </a:rPr>
              <a:t> the **HLA-B*58:01** allele raises the risk of severe hypersensitivity / severe cutaneous reactions.</a:t>
            </a:r>
            <a:r>
              <a:rPr lang="en-US" sz="1300" dirty="0">
                <a:solidFill>
                  <a:srgbClr val="666666"/>
                </a:solidFill>
              </a:rPr>
              <a:t>  S12; S13</a:t>
            </a:r>
            <a:endParaRPr lang="en-US" sz="1800" dirty="0"/>
          </a:p>
          <a:p>
            <a:pPr marL="228600" indent="-228600">
              <a:spcAft>
                <a:spcPts val="800"/>
              </a:spcAft>
              <a:buSzPct val="100000"/>
              <a:buChar char="•"/>
            </a:pPr>
            <a:r>
              <a:rPr lang="en-US" sz="1800" dirty="0">
                <a:solidFill>
                  <a:srgbClr val="1F1F1F"/>
                </a:solidFill>
              </a:rPr>
              <a:t>Pegloticase: infusion reactions are common; anti-drug antibodies can reduce response.</a:t>
            </a:r>
            <a:r>
              <a:rPr lang="en-US" sz="1300" dirty="0">
                <a:solidFill>
                  <a:srgbClr val="666666"/>
                </a:solidFill>
              </a:rPr>
              <a:t>  S15</a:t>
            </a:r>
            <a:endParaRPr lang="en-US" sz="18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Kicker"/>
          <p:cNvSpPr txBox="1"/>
          <p:nvPr/>
        </p:nvSpPr>
        <p:spPr>
          <a:xfrm>
            <a:off x="548640" y="292608"/>
            <a:ext cx="8076895" cy="274320"/>
          </a:xfrm>
          <a:prstGeom prst="rect">
            <a:avLst/>
          </a:prstGeom>
          <a:noFill/>
          <a:ln/>
        </p:spPr>
        <p:txBody>
          <a:bodyPr wrap="square" lIns="0" tIns="0" rIns="0" bIns="0" rtlCol="0" anchor="ctr"/>
          <a:lstStyle/>
          <a:p>
            <a:pPr indent="0" marL="0">
              <a:buNone/>
            </a:pPr>
            <a:r>
              <a:rPr lang="en-US" sz="1200" b="1" spc="100" kern="0" dirty="0">
                <a:solidFill>
                  <a:srgbClr val="4472C4"/>
                </a:solidFill>
              </a:rPr>
              <a:t>GOUT: ACUTE FLARES &amp; URATE-LOWERING THERAPY</a:t>
            </a:r>
            <a:endParaRPr lang="en-US" sz="1200" dirty="0"/>
          </a:p>
        </p:txBody>
      </p:sp>
      <p:sp>
        <p:nvSpPr>
          <p:cNvPr id="3" name="Title"/>
          <p:cNvSpPr txBox="1"/>
          <p:nvPr/>
        </p:nvSpPr>
        <p:spPr>
          <a:xfrm>
            <a:off x="548640" y="566928"/>
            <a:ext cx="8076895" cy="713232"/>
          </a:xfrm>
          <a:prstGeom prst="rect">
            <a:avLst/>
          </a:prstGeom>
          <a:noFill/>
          <a:ln/>
        </p:spPr>
        <p:txBody>
          <a:bodyPr wrap="square" lIns="0" tIns="0" rIns="0" bIns="0" rtlCol="0" anchor="t"/>
          <a:lstStyle/>
          <a:p>
            <a:pPr indent="0" marL="0">
              <a:buNone/>
            </a:pPr>
            <a:r>
              <a:rPr lang="en-US" sz="3000" b="1" dirty="0">
                <a:solidFill>
                  <a:srgbClr val="1F1F1F"/>
                </a:solidFill>
                <a:latin typeface="Calibri" pitchFamily="34" charset="0"/>
                <a:ea typeface="Calibri" pitchFamily="34" charset="-122"/>
                <a:cs typeface="Calibri" pitchFamily="34" charset="-120"/>
              </a:rPr>
              <a:t>Adverse effects (boxed warnings first) (cont.)</a:t>
            </a:r>
            <a:endParaRPr lang="en-US" sz="3000" dirty="0"/>
          </a:p>
        </p:txBody>
      </p:sp>
      <p:sp>
        <p:nvSpPr>
          <p:cNvPr id="4" name="Objective chip"/>
          <p:cNvSpPr/>
          <p:nvPr/>
        </p:nvSpPr>
        <p:spPr>
          <a:xfrm>
            <a:off x="8899855" y="365760"/>
            <a:ext cx="2743200" cy="384048"/>
          </a:xfrm>
          <a:prstGeom prst="roundRect">
            <a:avLst>
              <a:gd name="adj" fmla="val 35714"/>
            </a:avLst>
          </a:prstGeom>
          <a:solidFill>
            <a:srgbClr val="E3EBF8"/>
          </a:solidFill>
          <a:ln/>
        </p:spPr>
        <p:txBody>
          <a:bodyPr wrap="square" lIns="25400" tIns="25400" rIns="25400" bIns="25400" rtlCol="0" anchor="ctr"/>
          <a:lstStyle/>
          <a:p>
            <a:pPr algn="ctr" indent="0" marL="0">
              <a:buNone/>
            </a:pPr>
            <a:r>
              <a:rPr lang="en-US" sz="800" b="1" dirty="0">
                <a:solidFill>
                  <a:srgbClr val="2F4F8A"/>
                </a:solidFill>
              </a:rPr>
              <a:t>Objectives: SO1 · SO4 · IO2.1 · IO2.2 · IO2.3 · IO2.4 · IO2.5</a:t>
            </a:r>
            <a:endParaRPr lang="en-US" sz="800" dirty="0"/>
          </a:p>
        </p:txBody>
      </p:sp>
      <p:sp>
        <p:nvSpPr>
          <p:cNvPr id="5" name="Footer"/>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1000" dirty="0">
                <a:solidFill>
                  <a:srgbClr val="666666"/>
                </a:solidFill>
              </a:rPr>
              <a:t>L04 · Musculoskeletal Pharmacology — Session 2</a:t>
            </a:r>
            <a:endParaRPr lang="en-US" sz="1000" dirty="0"/>
          </a:p>
        </p:txBody>
      </p:sp>
      <p:sp>
        <p:nvSpPr>
          <p:cNvPr id="6" name="Slide number"/>
          <p:cNvSpPr txBox="1"/>
          <p:nvPr/>
        </p:nvSpPr>
        <p:spPr>
          <a:xfrm>
            <a:off x="10728655" y="6419088"/>
            <a:ext cx="914400" cy="274320"/>
          </a:xfrm>
          <a:prstGeom prst="rect">
            <a:avLst/>
          </a:prstGeom>
          <a:noFill/>
          <a:ln/>
        </p:spPr>
        <p:txBody>
          <a:bodyPr wrap="square" lIns="0" tIns="0" rIns="0" bIns="0" rtlCol="0" anchor="ctr"/>
          <a:lstStyle/>
          <a:p>
            <a:pPr algn="r" indent="0" marL="0">
              <a:buNone/>
            </a:pPr>
            <a:r>
              <a:rPr lang="en-US" sz="1000" dirty="0">
                <a:solidFill>
                  <a:srgbClr val="666666"/>
                </a:solidFill>
              </a:rPr>
              <a:t>17</a:t>
            </a:r>
            <a:endParaRPr lang="en-US" sz="1000" dirty="0"/>
          </a:p>
        </p:txBody>
      </p:sp>
      <p:sp>
        <p:nvSpPr>
          <p:cNvPr id="7" name="Adverse effects (boxed warnings first) (2/2) card"/>
          <p:cNvSpPr/>
          <p:nvPr/>
        </p:nvSpPr>
        <p:spPr>
          <a:xfrm>
            <a:off x="548640" y="1325880"/>
            <a:ext cx="11094415" cy="2775204"/>
          </a:xfrm>
          <a:prstGeom prst="roundRect">
            <a:avLst>
              <a:gd name="adj" fmla="val 3954"/>
            </a:avLst>
          </a:prstGeom>
          <a:solidFill>
            <a:srgbClr val="F2F4F7"/>
          </a:solidFill>
          <a:ln w="12700">
            <a:solidFill>
              <a:srgbClr val="F2F4F7"/>
            </a:solidFill>
            <a:prstDash val="solid"/>
          </a:ln>
        </p:spPr>
      </p:sp>
      <p:sp>
        <p:nvSpPr>
          <p:cNvPr id="8" name="Adverse effects (boxed warnings first) (2/2) icon circle"/>
          <p:cNvSpPr/>
          <p:nvPr/>
        </p:nvSpPr>
        <p:spPr>
          <a:xfrm>
            <a:off x="777240" y="1508760"/>
            <a:ext cx="438912" cy="438912"/>
          </a:xfrm>
          <a:prstGeom prst="ellipse">
            <a:avLst/>
          </a:prstGeom>
          <a:solidFill>
            <a:srgbClr val="C55A11"/>
          </a:solidFill>
          <a:ln w="12700">
            <a:solidFill>
              <a:srgbClr val="C55A11"/>
            </a:solidFill>
            <a:prstDash val="solid"/>
          </a:ln>
        </p:spPr>
      </p:sp>
      <p:pic>
        <p:nvPicPr>
          <p:cNvPr id="9" name="Adverse effects (boxed warnings first) (2/2) icon" descr="preencoded.png">    </p:cNvPr>
          <p:cNvPicPr>
            <a:picLocks noChangeAspect="1"/>
          </p:cNvPicPr>
          <p:nvPr/>
        </p:nvPicPr>
        <p:blipFill>
          <a:blip r:embed="rId1"/>
          <a:stretch>
            <a:fillRect/>
          </a:stretch>
        </p:blipFill>
        <p:spPr>
          <a:xfrm>
            <a:off x="877824" y="1609344"/>
            <a:ext cx="237744" cy="237744"/>
          </a:xfrm>
          <a:prstGeom prst="rect">
            <a:avLst/>
          </a:prstGeom>
        </p:spPr>
      </p:pic>
      <p:sp>
        <p:nvSpPr>
          <p:cNvPr id="10" name="Adverse effects (boxed warnings first) (2/2) heading"/>
          <p:cNvSpPr txBox="1"/>
          <p:nvPr/>
        </p:nvSpPr>
        <p:spPr>
          <a:xfrm>
            <a:off x="1353312" y="1508760"/>
            <a:ext cx="10088575" cy="438912"/>
          </a:xfrm>
          <a:prstGeom prst="rect">
            <a:avLst/>
          </a:prstGeom>
          <a:noFill/>
          <a:ln/>
        </p:spPr>
        <p:txBody>
          <a:bodyPr wrap="square" lIns="0" tIns="0" rIns="0" bIns="0" rtlCol="0" anchor="ctr"/>
          <a:lstStyle/>
          <a:p>
            <a:pPr indent="0" marL="0">
              <a:buNone/>
            </a:pPr>
            <a:r>
              <a:rPr lang="en-US" sz="1800" b="1" dirty="0">
                <a:solidFill>
                  <a:srgbClr val="C55A11"/>
                </a:solidFill>
              </a:rPr>
              <a:t>Adverse effects (boxed warnings first) (2/2)</a:t>
            </a:r>
            <a:endParaRPr lang="en-US" sz="1800" dirty="0"/>
          </a:p>
        </p:txBody>
      </p:sp>
      <p:sp>
        <p:nvSpPr>
          <p:cNvPr id="11" name="Adverse effects (boxed warnings first) (2/2) body"/>
          <p:cNvSpPr txBox="1"/>
          <p:nvPr/>
        </p:nvSpPr>
        <p:spPr>
          <a:xfrm>
            <a:off x="777240" y="2075688"/>
            <a:ext cx="10637215" cy="1906524"/>
          </a:xfrm>
          <a:prstGeom prst="rect">
            <a:avLst/>
          </a:prstGeom>
          <a:noFill/>
          <a:ln/>
        </p:spPr>
        <p:txBody>
          <a:bodyPr wrap="square" lIns="0" tIns="0" rIns="0" bIns="0" rtlCol="0" anchor="t"/>
          <a:lstStyle/>
          <a:p>
            <a:pPr marL="228600" indent="-228600">
              <a:spcAft>
                <a:spcPts val="800"/>
              </a:spcAft>
              <a:buSzPct val="100000"/>
              <a:buChar char="•"/>
            </a:pPr>
            <a:r>
              <a:rPr lang="en-US" sz="1400" b="1" dirty="0">
                <a:solidFill>
                  <a:srgbClr val="000000"/>
                </a:solidFill>
                <a:highlight>
                  <a:srgbClr val="FFC000"/>
                </a:highlight>
              </a:rPr>
              <a:t> TB </a:t>
            </a:r>
            <a:r>
              <a:rPr lang="en-US" sz="1800" dirty="0">
                <a:solidFill>
                  <a:srgbClr val="000000"/>
                </a:solidFill>
              </a:rPr>
              <a:t> </a:t>
            </a:r>
            <a:r>
              <a:rPr lang="en-US" sz="1800" dirty="0">
                <a:solidFill>
                  <a:srgbClr val="1F1F1F"/>
                </a:solidFill>
              </a:rPr>
              <a:t>Allopurinol hypersensitivity syndrome (SJS/TEN, fever, eosinophilia, hepatitis, renal failure) usually appears 2–4 weeks after starting — stop at the first rash.</a:t>
            </a:r>
            <a:r>
              <a:rPr lang="en-US" sz="1300" dirty="0">
                <a:solidFill>
                  <a:srgbClr val="666666"/>
                </a:solidFill>
              </a:rPr>
              <a:t>  p. 696</a:t>
            </a:r>
            <a:endParaRPr lang="en-US" sz="1400" dirty="0"/>
          </a:p>
          <a:p>
            <a:pPr marL="228600" indent="-228600">
              <a:spcAft>
                <a:spcPts val="800"/>
              </a:spcAft>
              <a:buSzPct val="100000"/>
              <a:buChar char="•"/>
            </a:pPr>
            <a:r>
              <a:rPr lang="en-US" sz="1400" b="1" dirty="0">
                <a:solidFill>
                  <a:srgbClr val="000000"/>
                </a:solidFill>
                <a:highlight>
                  <a:srgbClr val="FFC000"/>
                </a:highlight>
              </a:rPr>
              <a:t> TB </a:t>
            </a:r>
            <a:r>
              <a:rPr lang="en-US" sz="1800" dirty="0">
                <a:solidFill>
                  <a:srgbClr val="000000"/>
                </a:solidFill>
              </a:rPr>
              <a:t> </a:t>
            </a:r>
            <a:r>
              <a:rPr lang="en-US" sz="1800" dirty="0">
                <a:solidFill>
                  <a:srgbClr val="1F1F1F"/>
                </a:solidFill>
              </a:rPr>
              <a:t>Colchicine can also cause marrow suppression, myopathy, rhabdomyolysis, and neuritis; it is not removed by dialysis.</a:t>
            </a:r>
            <a:r>
              <a:rPr lang="en-US" sz="1300" dirty="0">
                <a:solidFill>
                  <a:srgbClr val="666666"/>
                </a:solidFill>
              </a:rPr>
              <a:t>  p. 696</a:t>
            </a:r>
            <a:endParaRPr lang="en-US" sz="1400" dirty="0"/>
          </a:p>
          <a:p>
            <a:pPr marL="228600" indent="-228600">
              <a:spcAft>
                <a:spcPts val="800"/>
              </a:spcAft>
              <a:buSzPct val="100000"/>
              <a:buChar char="•"/>
            </a:pPr>
            <a:r>
              <a:rPr lang="en-US" sz="1400" b="1" dirty="0">
                <a:solidFill>
                  <a:srgbClr val="000000"/>
                </a:solidFill>
                <a:highlight>
                  <a:srgbClr val="FFC000"/>
                </a:highlight>
              </a:rPr>
              <a:t> TB </a:t>
            </a:r>
            <a:r>
              <a:rPr lang="en-US" sz="1800" dirty="0">
                <a:solidFill>
                  <a:srgbClr val="000000"/>
                </a:solidFill>
              </a:rPr>
              <a:t> </a:t>
            </a:r>
            <a:r>
              <a:rPr lang="en-US" sz="1800" dirty="0">
                <a:solidFill>
                  <a:srgbClr val="1F1F1F"/>
                </a:solidFill>
              </a:rPr>
              <a:t>Febuxostat: liver function abnormalities, diarrhea, headache, nausea.</a:t>
            </a:r>
            <a:r>
              <a:rPr lang="en-US" sz="1300" dirty="0">
                <a:solidFill>
                  <a:srgbClr val="666666"/>
                </a:solidFill>
              </a:rPr>
              <a:t>  p. 697</a:t>
            </a:r>
            <a:endParaRPr lang="en-US" sz="1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Kicker"/>
          <p:cNvSpPr txBox="1"/>
          <p:nvPr/>
        </p:nvSpPr>
        <p:spPr>
          <a:xfrm>
            <a:off x="548640" y="292608"/>
            <a:ext cx="8076895" cy="274320"/>
          </a:xfrm>
          <a:prstGeom prst="rect">
            <a:avLst/>
          </a:prstGeom>
          <a:noFill/>
          <a:ln/>
        </p:spPr>
        <p:txBody>
          <a:bodyPr wrap="square" lIns="0" tIns="0" rIns="0" bIns="0" rtlCol="0" anchor="ctr"/>
          <a:lstStyle/>
          <a:p>
            <a:pPr indent="0" marL="0">
              <a:buNone/>
            </a:pPr>
            <a:r>
              <a:rPr lang="en-US" sz="1200" b="1" spc="100" kern="0" dirty="0">
                <a:solidFill>
                  <a:srgbClr val="4472C4"/>
                </a:solidFill>
              </a:rPr>
              <a:t>GOUT: ACUTE FLARES &amp; URATE-LOWERING THERAPY</a:t>
            </a:r>
            <a:endParaRPr lang="en-US" sz="1200" dirty="0"/>
          </a:p>
        </p:txBody>
      </p:sp>
      <p:sp>
        <p:nvSpPr>
          <p:cNvPr id="3" name="Title"/>
          <p:cNvSpPr txBox="1"/>
          <p:nvPr/>
        </p:nvSpPr>
        <p:spPr>
          <a:xfrm>
            <a:off x="548640" y="566928"/>
            <a:ext cx="8076895" cy="713232"/>
          </a:xfrm>
          <a:prstGeom prst="rect">
            <a:avLst/>
          </a:prstGeom>
          <a:noFill/>
          <a:ln/>
        </p:spPr>
        <p:txBody>
          <a:bodyPr wrap="square" lIns="0" tIns="0" rIns="0" bIns="0" rtlCol="0" anchor="t"/>
          <a:lstStyle/>
          <a:p>
            <a:pPr indent="0" marL="0">
              <a:buNone/>
            </a:pPr>
            <a:r>
              <a:rPr lang="en-US" sz="3000" b="1" dirty="0">
                <a:solidFill>
                  <a:srgbClr val="1F1F1F"/>
                </a:solidFill>
                <a:latin typeface="Calibri" pitchFamily="34" charset="0"/>
                <a:ea typeface="Calibri" pitchFamily="34" charset="-122"/>
                <a:cs typeface="Calibri" pitchFamily="34" charset="-120"/>
              </a:rPr>
              <a:t>Contraindications</a:t>
            </a:r>
            <a:endParaRPr lang="en-US" sz="3000" dirty="0"/>
          </a:p>
        </p:txBody>
      </p:sp>
      <p:sp>
        <p:nvSpPr>
          <p:cNvPr id="4" name="Objective chip"/>
          <p:cNvSpPr/>
          <p:nvPr/>
        </p:nvSpPr>
        <p:spPr>
          <a:xfrm>
            <a:off x="8899855" y="365760"/>
            <a:ext cx="2743200" cy="384048"/>
          </a:xfrm>
          <a:prstGeom prst="roundRect">
            <a:avLst>
              <a:gd name="adj" fmla="val 35714"/>
            </a:avLst>
          </a:prstGeom>
          <a:solidFill>
            <a:srgbClr val="E3EBF8"/>
          </a:solidFill>
          <a:ln/>
        </p:spPr>
        <p:txBody>
          <a:bodyPr wrap="square" lIns="25400" tIns="25400" rIns="25400" bIns="25400" rtlCol="0" anchor="ctr"/>
          <a:lstStyle/>
          <a:p>
            <a:pPr algn="ctr" indent="0" marL="0">
              <a:buNone/>
            </a:pPr>
            <a:r>
              <a:rPr lang="en-US" sz="800" b="1" dirty="0">
                <a:solidFill>
                  <a:srgbClr val="2F4F8A"/>
                </a:solidFill>
              </a:rPr>
              <a:t>Objectives: SO1 · SO4 · IO2.1 · IO2.2 · IO2.3 · IO2.4 · IO2.5</a:t>
            </a:r>
            <a:endParaRPr lang="en-US" sz="800" dirty="0"/>
          </a:p>
        </p:txBody>
      </p:sp>
      <p:sp>
        <p:nvSpPr>
          <p:cNvPr id="5" name="Footer"/>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1000" dirty="0">
                <a:solidFill>
                  <a:srgbClr val="666666"/>
                </a:solidFill>
              </a:rPr>
              <a:t>L04 · Musculoskeletal Pharmacology — Session 2</a:t>
            </a:r>
            <a:endParaRPr lang="en-US" sz="1000" dirty="0"/>
          </a:p>
        </p:txBody>
      </p:sp>
      <p:sp>
        <p:nvSpPr>
          <p:cNvPr id="6" name="Slide number"/>
          <p:cNvSpPr txBox="1"/>
          <p:nvPr/>
        </p:nvSpPr>
        <p:spPr>
          <a:xfrm>
            <a:off x="10728655" y="6419088"/>
            <a:ext cx="914400" cy="274320"/>
          </a:xfrm>
          <a:prstGeom prst="rect">
            <a:avLst/>
          </a:prstGeom>
          <a:noFill/>
          <a:ln/>
        </p:spPr>
        <p:txBody>
          <a:bodyPr wrap="square" lIns="0" tIns="0" rIns="0" bIns="0" rtlCol="0" anchor="ctr"/>
          <a:lstStyle/>
          <a:p>
            <a:pPr algn="r" indent="0" marL="0">
              <a:buNone/>
            </a:pPr>
            <a:r>
              <a:rPr lang="en-US" sz="1000" dirty="0">
                <a:solidFill>
                  <a:srgbClr val="666666"/>
                </a:solidFill>
              </a:rPr>
              <a:t>18</a:t>
            </a:r>
            <a:endParaRPr lang="en-US" sz="1000" dirty="0"/>
          </a:p>
        </p:txBody>
      </p:sp>
      <p:sp>
        <p:nvSpPr>
          <p:cNvPr id="7" name="Contraindications card"/>
          <p:cNvSpPr/>
          <p:nvPr/>
        </p:nvSpPr>
        <p:spPr>
          <a:xfrm>
            <a:off x="548640" y="1325880"/>
            <a:ext cx="11094415" cy="3552444"/>
          </a:xfrm>
          <a:prstGeom prst="roundRect">
            <a:avLst>
              <a:gd name="adj" fmla="val 3089"/>
            </a:avLst>
          </a:prstGeom>
          <a:solidFill>
            <a:srgbClr val="F2F4F7"/>
          </a:solidFill>
          <a:ln w="12700">
            <a:solidFill>
              <a:srgbClr val="F2F4F7"/>
            </a:solidFill>
            <a:prstDash val="solid"/>
          </a:ln>
        </p:spPr>
      </p:sp>
      <p:sp>
        <p:nvSpPr>
          <p:cNvPr id="8" name="Contraindications icon circle"/>
          <p:cNvSpPr/>
          <p:nvPr/>
        </p:nvSpPr>
        <p:spPr>
          <a:xfrm>
            <a:off x="777240" y="1508760"/>
            <a:ext cx="438912" cy="438912"/>
          </a:xfrm>
          <a:prstGeom prst="ellipse">
            <a:avLst/>
          </a:prstGeom>
          <a:solidFill>
            <a:srgbClr val="C00000"/>
          </a:solidFill>
          <a:ln w="12700">
            <a:solidFill>
              <a:srgbClr val="C00000"/>
            </a:solidFill>
            <a:prstDash val="solid"/>
          </a:ln>
        </p:spPr>
      </p:sp>
      <p:pic>
        <p:nvPicPr>
          <p:cNvPr id="9" name="Contraindications icon" descr="preencoded.png">    </p:cNvPr>
          <p:cNvPicPr>
            <a:picLocks noChangeAspect="1"/>
          </p:cNvPicPr>
          <p:nvPr/>
        </p:nvPicPr>
        <p:blipFill>
          <a:blip r:embed="rId1"/>
          <a:stretch>
            <a:fillRect/>
          </a:stretch>
        </p:blipFill>
        <p:spPr>
          <a:xfrm>
            <a:off x="877824" y="1609344"/>
            <a:ext cx="237744" cy="237744"/>
          </a:xfrm>
          <a:prstGeom prst="rect">
            <a:avLst/>
          </a:prstGeom>
        </p:spPr>
      </p:pic>
      <p:sp>
        <p:nvSpPr>
          <p:cNvPr id="10" name="Contraindications heading"/>
          <p:cNvSpPr txBox="1"/>
          <p:nvPr/>
        </p:nvSpPr>
        <p:spPr>
          <a:xfrm>
            <a:off x="1353312" y="1508760"/>
            <a:ext cx="10088575" cy="438912"/>
          </a:xfrm>
          <a:prstGeom prst="rect">
            <a:avLst/>
          </a:prstGeom>
          <a:noFill/>
          <a:ln/>
        </p:spPr>
        <p:txBody>
          <a:bodyPr wrap="square" lIns="0" tIns="0" rIns="0" bIns="0" rtlCol="0" anchor="ctr"/>
          <a:lstStyle/>
          <a:p>
            <a:pPr indent="0" marL="0">
              <a:buNone/>
            </a:pPr>
            <a:r>
              <a:rPr lang="en-US" sz="1800" b="1" dirty="0">
                <a:solidFill>
                  <a:srgbClr val="C00000"/>
                </a:solidFill>
              </a:rPr>
              <a:t>Contraindications</a:t>
            </a:r>
            <a:endParaRPr lang="en-US" sz="1800" dirty="0"/>
          </a:p>
        </p:txBody>
      </p:sp>
      <p:sp>
        <p:nvSpPr>
          <p:cNvPr id="11" name="Contraindications body"/>
          <p:cNvSpPr txBox="1"/>
          <p:nvPr/>
        </p:nvSpPr>
        <p:spPr>
          <a:xfrm>
            <a:off x="777240" y="2075688"/>
            <a:ext cx="10637215" cy="2683764"/>
          </a:xfrm>
          <a:prstGeom prst="rect">
            <a:avLst/>
          </a:prstGeom>
          <a:noFill/>
          <a:ln/>
        </p:spPr>
        <p:txBody>
          <a:bodyPr wrap="square" lIns="0" tIns="0" rIns="0" bIns="0" rtlCol="0" anchor="t"/>
          <a:lstStyle/>
          <a:p>
            <a:pPr marL="228600" indent="-228600">
              <a:spcAft>
                <a:spcPts val="800"/>
              </a:spcAft>
              <a:buSzPct val="100000"/>
              <a:buChar char="•"/>
            </a:pPr>
            <a:r>
              <a:rPr lang="en-US" sz="1800" b="1" dirty="0">
                <a:solidFill>
                  <a:srgbClr val="1F1F1F"/>
                </a:solidFill>
              </a:rPr>
              <a:t>Do NOT start urate-lowering therapy during an acute flare</a:t>
            </a:r>
            <a:r>
              <a:rPr lang="en-US" sz="1800" dirty="0">
                <a:solidFill>
                  <a:srgbClr val="1F1F1F"/>
                </a:solidFill>
              </a:rPr>
              <a:t> — starting or changing it then can actually prolong the flare. Start or adjust only once the flare has resolved.</a:t>
            </a:r>
            <a:r>
              <a:rPr lang="en-US" sz="1300" dirty="0">
                <a:solidFill>
                  <a:srgbClr val="666666"/>
                </a:solidFill>
              </a:rPr>
              <a:t>  S9; S9 (notes); SG U2-R10</a:t>
            </a:r>
            <a:endParaRPr lang="en-US" sz="1800" dirty="0"/>
          </a:p>
          <a:p>
            <a:pPr marL="228600" indent="-228600">
              <a:spcAft>
                <a:spcPts val="800"/>
              </a:spcAft>
              <a:buSzPct val="100000"/>
              <a:buChar char="•"/>
            </a:pPr>
            <a:r>
              <a:rPr lang="en-US" sz="1800" b="1" dirty="0">
                <a:solidFill>
                  <a:srgbClr val="1F1F1F"/>
                </a:solidFill>
              </a:rPr>
              <a:t>Probenecid:</a:t>
            </a:r>
            <a:r>
              <a:rPr lang="en-US" sz="1800" dirty="0">
                <a:solidFill>
                  <a:srgbClr val="1F1F1F"/>
                </a:solidFill>
              </a:rPr>
              <a:t> avoid with a history of uric acid kidney stones or significant renal impairment; needs adequate hydration.</a:t>
            </a:r>
            <a:r>
              <a:rPr lang="en-US" sz="1300" dirty="0">
                <a:solidFill>
                  <a:srgbClr val="666666"/>
                </a:solidFill>
              </a:rPr>
              <a:t>  S14; S15</a:t>
            </a:r>
            <a:endParaRPr lang="en-US" sz="1800" dirty="0"/>
          </a:p>
          <a:p>
            <a:pPr marL="228600" indent="-228600">
              <a:spcAft>
                <a:spcPts val="800"/>
              </a:spcAft>
              <a:buSzPct val="100000"/>
              <a:buChar char="•"/>
            </a:pPr>
            <a:r>
              <a:rPr lang="en-US" sz="1800" b="1" dirty="0">
                <a:solidFill>
                  <a:srgbClr val="1F1F1F"/>
                </a:solidFill>
              </a:rPr>
              <a:t>Pegloticase and rasburicase:</a:t>
            </a:r>
            <a:r>
              <a:rPr lang="en-US" sz="1800" dirty="0">
                <a:solidFill>
                  <a:srgbClr val="1F1F1F"/>
                </a:solidFill>
              </a:rPr>
              <a:t> contraindicated in </a:t>
            </a:r>
            <a:r>
              <a:rPr lang="en-US" sz="1800" b="1" dirty="0">
                <a:solidFill>
                  <a:srgbClr val="1F1F1F"/>
                </a:solidFill>
              </a:rPr>
              <a:t>G6PD deficiency</a:t>
            </a:r>
            <a:r>
              <a:rPr lang="en-US" sz="1800" dirty="0">
                <a:solidFill>
                  <a:srgbClr val="1F1F1F"/>
                </a:solidFill>
              </a:rPr>
              <a:t> (hemolysis risk).</a:t>
            </a:r>
            <a:r>
              <a:rPr lang="en-US" sz="1300" dirty="0">
                <a:solidFill>
                  <a:srgbClr val="666666"/>
                </a:solidFill>
              </a:rPr>
              <a:t>  S15</a:t>
            </a:r>
            <a:endParaRPr lang="en-US" sz="1800" dirty="0"/>
          </a:p>
          <a:p>
            <a:pPr marL="228600" indent="-228600">
              <a:spcAft>
                <a:spcPts val="800"/>
              </a:spcAft>
              <a:buSzPct val="100000"/>
              <a:buChar char="•"/>
            </a:pPr>
            <a:r>
              <a:rPr lang="en-US" sz="1400" b="1" dirty="0">
                <a:solidFill>
                  <a:srgbClr val="000000"/>
                </a:solidFill>
                <a:highlight>
                  <a:srgbClr val="FFC000"/>
                </a:highlight>
              </a:rPr>
              <a:t> TB </a:t>
            </a:r>
            <a:r>
              <a:rPr lang="en-US" sz="1800" dirty="0">
                <a:solidFill>
                  <a:srgbClr val="000000"/>
                </a:solidFill>
              </a:rPr>
              <a:t> </a:t>
            </a:r>
            <a:r>
              <a:rPr lang="en-US" sz="1800" dirty="0">
                <a:solidFill>
                  <a:srgbClr val="1F1F1F"/>
                </a:solidFill>
              </a:rPr>
              <a:t>Aspirin is avoided in gout: at low doses (≤2.6 g/d) it causes renal retention of uric acid.</a:t>
            </a:r>
            <a:r>
              <a:rPr lang="en-US" sz="1300" dirty="0">
                <a:solidFill>
                  <a:srgbClr val="666666"/>
                </a:solidFill>
              </a:rPr>
              <a:t>  p. 697</a:t>
            </a:r>
            <a:endParaRPr lang="en-US" sz="1800" dirty="0"/>
          </a:p>
          <a:p>
            <a:pPr marL="228600" indent="-228600">
              <a:spcAft>
                <a:spcPts val="800"/>
              </a:spcAft>
              <a:buSzPct val="100000"/>
              <a:buChar char="•"/>
            </a:pPr>
            <a:r>
              <a:rPr lang="en-US" sz="1400" b="1" dirty="0">
                <a:solidFill>
                  <a:srgbClr val="000000"/>
                </a:solidFill>
                <a:highlight>
                  <a:srgbClr val="FFC000"/>
                </a:highlight>
              </a:rPr>
              <a:t> TB </a:t>
            </a:r>
            <a:r>
              <a:rPr lang="en-US" sz="1800" dirty="0">
                <a:solidFill>
                  <a:srgbClr val="000000"/>
                </a:solidFill>
              </a:rPr>
              <a:t> </a:t>
            </a:r>
            <a:r>
              <a:rPr lang="en-US" sz="1800" dirty="0">
                <a:solidFill>
                  <a:srgbClr val="1F1F1F"/>
                </a:solidFill>
              </a:rPr>
              <a:t>Uricosurics should not be used in patients who already excrete large amounts of uric acid.</a:t>
            </a:r>
            <a:r>
              <a:rPr lang="en-US" sz="1300" dirty="0">
                <a:solidFill>
                  <a:srgbClr val="666666"/>
                </a:solidFill>
              </a:rPr>
              <a:t>  p. 698</a:t>
            </a:r>
            <a:endParaRPr lang="en-US" sz="18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Kicker"/>
          <p:cNvSpPr txBox="1"/>
          <p:nvPr/>
        </p:nvSpPr>
        <p:spPr>
          <a:xfrm>
            <a:off x="548640" y="292608"/>
            <a:ext cx="8076895" cy="274320"/>
          </a:xfrm>
          <a:prstGeom prst="rect">
            <a:avLst/>
          </a:prstGeom>
          <a:noFill/>
          <a:ln/>
        </p:spPr>
        <p:txBody>
          <a:bodyPr wrap="square" lIns="0" tIns="0" rIns="0" bIns="0" rtlCol="0" anchor="ctr"/>
          <a:lstStyle/>
          <a:p>
            <a:pPr indent="0" marL="0">
              <a:buNone/>
            </a:pPr>
            <a:r>
              <a:rPr lang="en-US" sz="1200" b="1" spc="100" kern="0" dirty="0">
                <a:solidFill>
                  <a:srgbClr val="4472C4"/>
                </a:solidFill>
              </a:rPr>
              <a:t>GOUT: ACUTE FLARES &amp; URATE-LOWERING THERAPY</a:t>
            </a:r>
            <a:endParaRPr lang="en-US" sz="1200" dirty="0"/>
          </a:p>
        </p:txBody>
      </p:sp>
      <p:sp>
        <p:nvSpPr>
          <p:cNvPr id="3" name="Title"/>
          <p:cNvSpPr txBox="1"/>
          <p:nvPr/>
        </p:nvSpPr>
        <p:spPr>
          <a:xfrm>
            <a:off x="548640" y="566928"/>
            <a:ext cx="8076895" cy="713232"/>
          </a:xfrm>
          <a:prstGeom prst="rect">
            <a:avLst/>
          </a:prstGeom>
          <a:noFill/>
          <a:ln/>
        </p:spPr>
        <p:txBody>
          <a:bodyPr wrap="square" lIns="0" tIns="0" rIns="0" bIns="0" rtlCol="0" anchor="t"/>
          <a:lstStyle/>
          <a:p>
            <a:pPr indent="0" marL="0">
              <a:buNone/>
            </a:pPr>
            <a:r>
              <a:rPr lang="en-US" sz="3000" b="1" dirty="0">
                <a:solidFill>
                  <a:srgbClr val="1F1F1F"/>
                </a:solidFill>
                <a:latin typeface="Calibri" pitchFamily="34" charset="0"/>
                <a:ea typeface="Calibri" pitchFamily="34" charset="-122"/>
                <a:cs typeface="Calibri" pitchFamily="34" charset="-120"/>
              </a:rPr>
              <a:t>Drug interactions · Pharmacokinetics</a:t>
            </a:r>
            <a:endParaRPr lang="en-US" sz="3000" dirty="0"/>
          </a:p>
        </p:txBody>
      </p:sp>
      <p:sp>
        <p:nvSpPr>
          <p:cNvPr id="4" name="Objective chip"/>
          <p:cNvSpPr/>
          <p:nvPr/>
        </p:nvSpPr>
        <p:spPr>
          <a:xfrm>
            <a:off x="8899855" y="365760"/>
            <a:ext cx="2743200" cy="384048"/>
          </a:xfrm>
          <a:prstGeom prst="roundRect">
            <a:avLst>
              <a:gd name="adj" fmla="val 35714"/>
            </a:avLst>
          </a:prstGeom>
          <a:solidFill>
            <a:srgbClr val="E3EBF8"/>
          </a:solidFill>
          <a:ln/>
        </p:spPr>
        <p:txBody>
          <a:bodyPr wrap="square" lIns="25400" tIns="25400" rIns="25400" bIns="25400" rtlCol="0" anchor="ctr"/>
          <a:lstStyle/>
          <a:p>
            <a:pPr algn="ctr" indent="0" marL="0">
              <a:buNone/>
            </a:pPr>
            <a:r>
              <a:rPr lang="en-US" sz="800" b="1" dirty="0">
                <a:solidFill>
                  <a:srgbClr val="2F4F8A"/>
                </a:solidFill>
              </a:rPr>
              <a:t>Objectives: SO1 · SO4 · IO2.1 · IO2.2 · IO2.3 · IO2.4 · IO2.5</a:t>
            </a:r>
            <a:endParaRPr lang="en-US" sz="800" dirty="0"/>
          </a:p>
        </p:txBody>
      </p:sp>
      <p:sp>
        <p:nvSpPr>
          <p:cNvPr id="5" name="Footer"/>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1000" dirty="0">
                <a:solidFill>
                  <a:srgbClr val="666666"/>
                </a:solidFill>
              </a:rPr>
              <a:t>L04 · Musculoskeletal Pharmacology — Session 2</a:t>
            </a:r>
            <a:endParaRPr lang="en-US" sz="1000" dirty="0"/>
          </a:p>
        </p:txBody>
      </p:sp>
      <p:sp>
        <p:nvSpPr>
          <p:cNvPr id="6" name="Slide number"/>
          <p:cNvSpPr txBox="1"/>
          <p:nvPr/>
        </p:nvSpPr>
        <p:spPr>
          <a:xfrm>
            <a:off x="10728655" y="6419088"/>
            <a:ext cx="914400" cy="274320"/>
          </a:xfrm>
          <a:prstGeom prst="rect">
            <a:avLst/>
          </a:prstGeom>
          <a:noFill/>
          <a:ln/>
        </p:spPr>
        <p:txBody>
          <a:bodyPr wrap="square" lIns="0" tIns="0" rIns="0" bIns="0" rtlCol="0" anchor="ctr"/>
          <a:lstStyle/>
          <a:p>
            <a:pPr algn="r" indent="0" marL="0">
              <a:buNone/>
            </a:pPr>
            <a:r>
              <a:rPr lang="en-US" sz="1000" dirty="0">
                <a:solidFill>
                  <a:srgbClr val="666666"/>
                </a:solidFill>
              </a:rPr>
              <a:t>19</a:t>
            </a:r>
            <a:endParaRPr lang="en-US" sz="1000" dirty="0"/>
          </a:p>
        </p:txBody>
      </p:sp>
      <p:sp>
        <p:nvSpPr>
          <p:cNvPr id="7" name="Drug interactions card"/>
          <p:cNvSpPr/>
          <p:nvPr/>
        </p:nvSpPr>
        <p:spPr>
          <a:xfrm>
            <a:off x="548640" y="1325880"/>
            <a:ext cx="5410048" cy="4279392"/>
          </a:xfrm>
          <a:prstGeom prst="roundRect">
            <a:avLst>
              <a:gd name="adj" fmla="val 2564"/>
            </a:avLst>
          </a:prstGeom>
          <a:solidFill>
            <a:srgbClr val="F2F4F7"/>
          </a:solidFill>
          <a:ln w="12700">
            <a:solidFill>
              <a:srgbClr val="F2F4F7"/>
            </a:solidFill>
            <a:prstDash val="solid"/>
          </a:ln>
        </p:spPr>
      </p:sp>
      <p:sp>
        <p:nvSpPr>
          <p:cNvPr id="8" name="Drug interactions icon circle"/>
          <p:cNvSpPr/>
          <p:nvPr/>
        </p:nvSpPr>
        <p:spPr>
          <a:xfrm>
            <a:off x="777240" y="1508760"/>
            <a:ext cx="438912" cy="438912"/>
          </a:xfrm>
          <a:prstGeom prst="ellipse">
            <a:avLst/>
          </a:prstGeom>
          <a:solidFill>
            <a:srgbClr val="7F6000"/>
          </a:solidFill>
          <a:ln w="12700">
            <a:solidFill>
              <a:srgbClr val="7F6000"/>
            </a:solidFill>
            <a:prstDash val="solid"/>
          </a:ln>
        </p:spPr>
      </p:sp>
      <p:pic>
        <p:nvPicPr>
          <p:cNvPr id="9" name="Drug interactions icon" descr="preencoded.png">    </p:cNvPr>
          <p:cNvPicPr>
            <a:picLocks noChangeAspect="1"/>
          </p:cNvPicPr>
          <p:nvPr/>
        </p:nvPicPr>
        <p:blipFill>
          <a:blip r:embed="rId1"/>
          <a:stretch>
            <a:fillRect/>
          </a:stretch>
        </p:blipFill>
        <p:spPr>
          <a:xfrm>
            <a:off x="877824" y="1609344"/>
            <a:ext cx="237744" cy="237744"/>
          </a:xfrm>
          <a:prstGeom prst="rect">
            <a:avLst/>
          </a:prstGeom>
        </p:spPr>
      </p:pic>
      <p:sp>
        <p:nvSpPr>
          <p:cNvPr id="10" name="Drug interactions heading"/>
          <p:cNvSpPr txBox="1"/>
          <p:nvPr/>
        </p:nvSpPr>
        <p:spPr>
          <a:xfrm>
            <a:off x="1353312" y="1508760"/>
            <a:ext cx="4404208" cy="438912"/>
          </a:xfrm>
          <a:prstGeom prst="rect">
            <a:avLst/>
          </a:prstGeom>
          <a:noFill/>
          <a:ln/>
        </p:spPr>
        <p:txBody>
          <a:bodyPr wrap="square" lIns="0" tIns="0" rIns="0" bIns="0" rtlCol="0" anchor="ctr"/>
          <a:lstStyle/>
          <a:p>
            <a:pPr indent="0" marL="0">
              <a:buNone/>
            </a:pPr>
            <a:r>
              <a:rPr lang="en-US" sz="1800" b="1" dirty="0">
                <a:solidFill>
                  <a:srgbClr val="7F6000"/>
                </a:solidFill>
              </a:rPr>
              <a:t>Drug interactions</a:t>
            </a:r>
            <a:endParaRPr lang="en-US" sz="1800" dirty="0"/>
          </a:p>
        </p:txBody>
      </p:sp>
      <p:sp>
        <p:nvSpPr>
          <p:cNvPr id="11" name="Drug interactions body"/>
          <p:cNvSpPr txBox="1"/>
          <p:nvPr/>
        </p:nvSpPr>
        <p:spPr>
          <a:xfrm>
            <a:off x="777240" y="2075688"/>
            <a:ext cx="4952848" cy="3410712"/>
          </a:xfrm>
          <a:prstGeom prst="rect">
            <a:avLst/>
          </a:prstGeom>
          <a:noFill/>
          <a:ln/>
        </p:spPr>
        <p:txBody>
          <a:bodyPr wrap="square" lIns="0" tIns="0" rIns="0" bIns="0" rtlCol="0" anchor="t"/>
          <a:lstStyle/>
          <a:p>
            <a:pPr marL="228600" indent="-228600">
              <a:spcAft>
                <a:spcPts val="800"/>
              </a:spcAft>
              <a:buSzPct val="100000"/>
              <a:buChar char="•"/>
            </a:pPr>
            <a:r>
              <a:rPr lang="en-US" sz="1800" b="1" dirty="0">
                <a:solidFill>
                  <a:srgbClr val="1F1F1F"/>
                </a:solidFill>
              </a:rPr>
              <a:t>Colchicine + CYP3A4 / P-gp inhibitors</a:t>
            </a:r>
            <a:r>
              <a:rPr lang="en-US" sz="1800" dirty="0">
                <a:solidFill>
                  <a:srgbClr val="1F1F1F"/>
                </a:solidFill>
              </a:rPr>
              <a:t> (clarithromycin, cyclosporine, strong CYP3A4 inhibitors) → raised levels and toxicity.</a:t>
            </a:r>
            <a:r>
              <a:rPr lang="en-US" sz="1300" dirty="0">
                <a:solidFill>
                  <a:srgbClr val="666666"/>
                </a:solidFill>
              </a:rPr>
              <a:t>  S11</a:t>
            </a:r>
            <a:endParaRPr lang="en-US" sz="1800" dirty="0"/>
          </a:p>
          <a:p>
            <a:pPr marL="228600" indent="-228600">
              <a:spcAft>
                <a:spcPts val="800"/>
              </a:spcAft>
              <a:buSzPct val="100000"/>
              <a:buChar char="•"/>
            </a:pPr>
            <a:r>
              <a:rPr lang="en-US" sz="1800" b="1" dirty="0">
                <a:solidFill>
                  <a:srgbClr val="1F1F1F"/>
                </a:solidFill>
              </a:rPr>
              <a:t>Allopurinol + azathioprine or mercaptopurine:</a:t>
            </a:r>
            <a:r>
              <a:rPr lang="en-US" sz="1800" dirty="0">
                <a:solidFill>
                  <a:srgbClr val="1F1F1F"/>
                </a:solidFill>
              </a:rPr>
              <a:t> reduce the dose (xanthine oxidase also clears these drugs).</a:t>
            </a:r>
            <a:r>
              <a:rPr lang="en-US" sz="1300" dirty="0">
                <a:solidFill>
                  <a:srgbClr val="666666"/>
                </a:solidFill>
              </a:rPr>
              <a:t>  S13</a:t>
            </a:r>
            <a:endParaRPr lang="en-US" sz="1800" dirty="0"/>
          </a:p>
          <a:p>
            <a:pPr marL="228600" indent="-228600">
              <a:spcAft>
                <a:spcPts val="800"/>
              </a:spcAft>
              <a:buSzPct val="100000"/>
              <a:buChar char="•"/>
            </a:pPr>
            <a:r>
              <a:rPr lang="en-US" sz="1400" b="1" dirty="0">
                <a:solidFill>
                  <a:srgbClr val="000000"/>
                </a:solidFill>
                <a:highlight>
                  <a:srgbClr val="FFC000"/>
                </a:highlight>
              </a:rPr>
              <a:t> TB </a:t>
            </a:r>
            <a:r>
              <a:rPr lang="en-US" sz="1800" dirty="0">
                <a:solidFill>
                  <a:srgbClr val="000000"/>
                </a:solidFill>
              </a:rPr>
              <a:t> </a:t>
            </a:r>
            <a:r>
              <a:rPr lang="en-US" sz="1800" dirty="0">
                <a:solidFill>
                  <a:srgbClr val="1F1F1F"/>
                </a:solidFill>
              </a:rPr>
              <a:t>Allopurinol with azathioprine: cut the azathioprine dose by 75%.</a:t>
            </a:r>
            <a:r>
              <a:rPr lang="en-US" sz="1300" dirty="0">
                <a:solidFill>
                  <a:srgbClr val="666666"/>
                </a:solidFill>
              </a:rPr>
              <a:t>  p. 696</a:t>
            </a:r>
            <a:endParaRPr lang="en-US" sz="1800" dirty="0"/>
          </a:p>
          <a:p>
            <a:pPr marL="228600" indent="-228600">
              <a:spcAft>
                <a:spcPts val="800"/>
              </a:spcAft>
              <a:buSzPct val="100000"/>
              <a:buChar char="•"/>
            </a:pPr>
            <a:r>
              <a:rPr lang="en-US" sz="1400" b="1" dirty="0">
                <a:solidFill>
                  <a:srgbClr val="000000"/>
                </a:solidFill>
                <a:highlight>
                  <a:srgbClr val="FFC000"/>
                </a:highlight>
              </a:rPr>
              <a:t> TB </a:t>
            </a:r>
            <a:r>
              <a:rPr lang="en-US" sz="1800" dirty="0">
                <a:solidFill>
                  <a:srgbClr val="000000"/>
                </a:solidFill>
              </a:rPr>
              <a:t> </a:t>
            </a:r>
            <a:r>
              <a:rPr lang="en-US" sz="1800" dirty="0">
                <a:solidFill>
                  <a:srgbClr val="1F1F1F"/>
                </a:solidFill>
              </a:rPr>
              <a:t>Probenecid also reduces renal secretion of other weak acids, such as penicillin.</a:t>
            </a:r>
            <a:r>
              <a:rPr lang="en-US" sz="1300" dirty="0">
                <a:solidFill>
                  <a:srgbClr val="666666"/>
                </a:solidFill>
              </a:rPr>
              <a:t>  p. 698</a:t>
            </a:r>
            <a:endParaRPr lang="en-US" sz="1800" dirty="0"/>
          </a:p>
        </p:txBody>
      </p:sp>
      <p:sp>
        <p:nvSpPr>
          <p:cNvPr id="12" name="Pharmacokinetics card"/>
          <p:cNvSpPr/>
          <p:nvPr/>
        </p:nvSpPr>
        <p:spPr>
          <a:xfrm>
            <a:off x="6233008" y="1325880"/>
            <a:ext cx="5410048" cy="4279392"/>
          </a:xfrm>
          <a:prstGeom prst="roundRect">
            <a:avLst>
              <a:gd name="adj" fmla="val 2564"/>
            </a:avLst>
          </a:prstGeom>
          <a:solidFill>
            <a:srgbClr val="F2F4F7"/>
          </a:solidFill>
          <a:ln w="12700">
            <a:solidFill>
              <a:srgbClr val="F2F4F7"/>
            </a:solidFill>
            <a:prstDash val="solid"/>
          </a:ln>
        </p:spPr>
      </p:sp>
      <p:sp>
        <p:nvSpPr>
          <p:cNvPr id="13" name="Pharmacokinetics icon circle"/>
          <p:cNvSpPr/>
          <p:nvPr/>
        </p:nvSpPr>
        <p:spPr>
          <a:xfrm>
            <a:off x="6461608" y="1508760"/>
            <a:ext cx="438912" cy="438912"/>
          </a:xfrm>
          <a:prstGeom prst="ellipse">
            <a:avLst/>
          </a:prstGeom>
          <a:solidFill>
            <a:srgbClr val="2E75B6"/>
          </a:solidFill>
          <a:ln w="12700">
            <a:solidFill>
              <a:srgbClr val="2E75B6"/>
            </a:solidFill>
            <a:prstDash val="solid"/>
          </a:ln>
        </p:spPr>
      </p:sp>
      <p:pic>
        <p:nvPicPr>
          <p:cNvPr id="14" name="Pharmacokinetics icon" descr="preencoded.png">    </p:cNvPr>
          <p:cNvPicPr>
            <a:picLocks noChangeAspect="1"/>
          </p:cNvPicPr>
          <p:nvPr/>
        </p:nvPicPr>
        <p:blipFill>
          <a:blip r:embed="rId2"/>
          <a:stretch>
            <a:fillRect/>
          </a:stretch>
        </p:blipFill>
        <p:spPr>
          <a:xfrm>
            <a:off x="6562192" y="1609344"/>
            <a:ext cx="237744" cy="237744"/>
          </a:xfrm>
          <a:prstGeom prst="rect">
            <a:avLst/>
          </a:prstGeom>
        </p:spPr>
      </p:pic>
      <p:sp>
        <p:nvSpPr>
          <p:cNvPr id="15" name="Pharmacokinetics heading"/>
          <p:cNvSpPr txBox="1"/>
          <p:nvPr/>
        </p:nvSpPr>
        <p:spPr>
          <a:xfrm>
            <a:off x="7037680" y="1508760"/>
            <a:ext cx="4404208" cy="438912"/>
          </a:xfrm>
          <a:prstGeom prst="rect">
            <a:avLst/>
          </a:prstGeom>
          <a:noFill/>
          <a:ln/>
        </p:spPr>
        <p:txBody>
          <a:bodyPr wrap="square" lIns="0" tIns="0" rIns="0" bIns="0" rtlCol="0" anchor="ctr"/>
          <a:lstStyle/>
          <a:p>
            <a:pPr indent="0" marL="0">
              <a:buNone/>
            </a:pPr>
            <a:r>
              <a:rPr lang="en-US" sz="1800" b="1" dirty="0">
                <a:solidFill>
                  <a:srgbClr val="2E75B6"/>
                </a:solidFill>
              </a:rPr>
              <a:t>Pharmacokinetics</a:t>
            </a:r>
            <a:endParaRPr lang="en-US" sz="1800" dirty="0"/>
          </a:p>
        </p:txBody>
      </p:sp>
      <p:sp>
        <p:nvSpPr>
          <p:cNvPr id="16" name="Pharmacokinetics body"/>
          <p:cNvSpPr txBox="1"/>
          <p:nvPr/>
        </p:nvSpPr>
        <p:spPr>
          <a:xfrm>
            <a:off x="6461608" y="2075688"/>
            <a:ext cx="4952848" cy="3410712"/>
          </a:xfrm>
          <a:prstGeom prst="rect">
            <a:avLst/>
          </a:prstGeom>
          <a:noFill/>
          <a:ln/>
        </p:spPr>
        <p:txBody>
          <a:bodyPr wrap="square" lIns="0" tIns="0" rIns="0" bIns="0" rtlCol="0" anchor="t"/>
          <a:lstStyle/>
          <a:p>
            <a:pPr marL="228600" indent="-228600">
              <a:spcAft>
                <a:spcPts val="800"/>
              </a:spcAft>
              <a:buSzPct val="100000"/>
              <a:buChar char="•"/>
            </a:pPr>
            <a:r>
              <a:rPr lang="en-US" sz="1800" dirty="0">
                <a:solidFill>
                  <a:srgbClr val="1F1F1F"/>
                </a:solidFill>
              </a:rPr>
              <a:t>Colchicine: adjust the dose for renal or hepatic impairment.</a:t>
            </a:r>
            <a:r>
              <a:rPr lang="en-US" sz="1300" dirty="0">
                <a:solidFill>
                  <a:srgbClr val="666666"/>
                </a:solidFill>
              </a:rPr>
              <a:t>  S11</a:t>
            </a:r>
            <a:endParaRPr lang="en-US" sz="1800" dirty="0"/>
          </a:p>
          <a:p>
            <a:pPr marL="228600" indent="-228600">
              <a:spcAft>
                <a:spcPts val="800"/>
              </a:spcAft>
              <a:buSzPct val="100000"/>
              <a:buChar char="•"/>
            </a:pPr>
            <a:r>
              <a:rPr lang="en-US" sz="1800" dirty="0">
                <a:solidFill>
                  <a:srgbClr val="1F1F1F"/>
                </a:solidFill>
              </a:rPr>
              <a:t>Allopurinol: reduce the dose in renal impairment.</a:t>
            </a:r>
            <a:r>
              <a:rPr lang="en-US" sz="1300" dirty="0">
                <a:solidFill>
                  <a:srgbClr val="666666"/>
                </a:solidFill>
              </a:rPr>
              <a:t>  S13</a:t>
            </a:r>
            <a:endParaRPr lang="en-US" sz="1800" dirty="0"/>
          </a:p>
          <a:p>
            <a:pPr marL="228600" indent="-228600">
              <a:spcAft>
                <a:spcPts val="800"/>
              </a:spcAft>
              <a:buSzPct val="100000"/>
              <a:buChar char="•"/>
            </a:pPr>
            <a:r>
              <a:rPr lang="en-US" sz="1800" dirty="0">
                <a:solidFill>
                  <a:srgbClr val="1F1F1F"/>
                </a:solidFill>
              </a:rPr>
              <a:t>Pegloticase is given by IV infusion.</a:t>
            </a:r>
            <a:r>
              <a:rPr lang="en-US" sz="1300" dirty="0">
                <a:solidFill>
                  <a:srgbClr val="666666"/>
                </a:solidFill>
              </a:rPr>
              <a:t>  S14</a:t>
            </a:r>
            <a:endParaRPr lang="en-US" sz="1800" dirty="0"/>
          </a:p>
          <a:p>
            <a:pPr marL="228600" indent="-228600">
              <a:spcAft>
                <a:spcPts val="800"/>
              </a:spcAft>
              <a:buSzPct val="100000"/>
              <a:buChar char="•"/>
            </a:pPr>
            <a:r>
              <a:rPr lang="en-US" sz="1400" b="1" dirty="0">
                <a:solidFill>
                  <a:srgbClr val="000000"/>
                </a:solidFill>
                <a:highlight>
                  <a:srgbClr val="FFC000"/>
                </a:highlight>
              </a:rPr>
              <a:t> TB </a:t>
            </a:r>
            <a:r>
              <a:rPr lang="en-US" sz="1800" dirty="0">
                <a:solidFill>
                  <a:srgbClr val="000000"/>
                </a:solidFill>
              </a:rPr>
              <a:t> </a:t>
            </a:r>
            <a:r>
              <a:rPr lang="en-US" sz="1800" dirty="0">
                <a:solidFill>
                  <a:srgbClr val="1F1F1F"/>
                </a:solidFill>
              </a:rPr>
              <a:t>Allopurinol: start 100 mg/d (≤50 mg/d in CKD), titrate every 2–5 weeks to uric acid &lt;6 mg/dL (max 800 mg/d).</a:t>
            </a:r>
            <a:r>
              <a:rPr lang="en-US" sz="1300" dirty="0">
                <a:solidFill>
                  <a:srgbClr val="666666"/>
                </a:solidFill>
              </a:rPr>
              <a:t>  p. 695</a:t>
            </a:r>
            <a:endParaRPr lang="en-US" sz="18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Kicker"/>
          <p:cNvSpPr txBox="1"/>
          <p:nvPr/>
        </p:nvSpPr>
        <p:spPr>
          <a:xfrm>
            <a:off x="548640" y="292608"/>
            <a:ext cx="8076895" cy="274320"/>
          </a:xfrm>
          <a:prstGeom prst="rect">
            <a:avLst/>
          </a:prstGeom>
          <a:noFill/>
          <a:ln/>
        </p:spPr>
        <p:txBody>
          <a:bodyPr wrap="square" lIns="0" tIns="0" rIns="0" bIns="0" rtlCol="0" anchor="ctr"/>
          <a:lstStyle/>
          <a:p>
            <a:pPr indent="0" marL="0">
              <a:buNone/>
            </a:pPr>
            <a:r>
              <a:rPr lang="en-US" sz="1200" b="1" spc="100" kern="0" dirty="0">
                <a:solidFill>
                  <a:srgbClr val="4472C4"/>
                </a:solidFill>
              </a:rPr>
              <a:t>GOUT: ACUTE FLARES &amp; URATE-LOWERING THERAPY</a:t>
            </a:r>
            <a:endParaRPr lang="en-US" sz="1200" dirty="0"/>
          </a:p>
        </p:txBody>
      </p:sp>
      <p:sp>
        <p:nvSpPr>
          <p:cNvPr id="3" name="Title"/>
          <p:cNvSpPr txBox="1"/>
          <p:nvPr/>
        </p:nvSpPr>
        <p:spPr>
          <a:xfrm>
            <a:off x="548640" y="566928"/>
            <a:ext cx="8076895" cy="713232"/>
          </a:xfrm>
          <a:prstGeom prst="rect">
            <a:avLst/>
          </a:prstGeom>
          <a:noFill/>
          <a:ln/>
        </p:spPr>
        <p:txBody>
          <a:bodyPr wrap="square" lIns="0" tIns="0" rIns="0" bIns="0" rtlCol="0" anchor="t"/>
          <a:lstStyle/>
          <a:p>
            <a:pPr indent="0" marL="0">
              <a:buNone/>
            </a:pPr>
            <a:r>
              <a:rPr lang="en-US" sz="3000" b="1" dirty="0">
                <a:solidFill>
                  <a:srgbClr val="1F1F1F"/>
                </a:solidFill>
                <a:latin typeface="Calibri" pitchFamily="34" charset="0"/>
                <a:ea typeface="Calibri" pitchFamily="34" charset="-122"/>
                <a:cs typeface="Calibri" pitchFamily="34" charset="-120"/>
              </a:rPr>
              <a:t>Monitoring</a:t>
            </a:r>
            <a:endParaRPr lang="en-US" sz="3000" dirty="0"/>
          </a:p>
        </p:txBody>
      </p:sp>
      <p:sp>
        <p:nvSpPr>
          <p:cNvPr id="4" name="Objective chip"/>
          <p:cNvSpPr/>
          <p:nvPr/>
        </p:nvSpPr>
        <p:spPr>
          <a:xfrm>
            <a:off x="8899855" y="365760"/>
            <a:ext cx="2743200" cy="384048"/>
          </a:xfrm>
          <a:prstGeom prst="roundRect">
            <a:avLst>
              <a:gd name="adj" fmla="val 35714"/>
            </a:avLst>
          </a:prstGeom>
          <a:solidFill>
            <a:srgbClr val="E3EBF8"/>
          </a:solidFill>
          <a:ln/>
        </p:spPr>
        <p:txBody>
          <a:bodyPr wrap="square" lIns="25400" tIns="25400" rIns="25400" bIns="25400" rtlCol="0" anchor="ctr"/>
          <a:lstStyle/>
          <a:p>
            <a:pPr algn="ctr" indent="0" marL="0">
              <a:buNone/>
            </a:pPr>
            <a:r>
              <a:rPr lang="en-US" sz="800" b="1" dirty="0">
                <a:solidFill>
                  <a:srgbClr val="2F4F8A"/>
                </a:solidFill>
              </a:rPr>
              <a:t>Objectives: SO1 · SO4 · IO2.1 · IO2.2 · IO2.3 · IO2.4 · IO2.5</a:t>
            </a:r>
            <a:endParaRPr lang="en-US" sz="800" dirty="0"/>
          </a:p>
        </p:txBody>
      </p:sp>
      <p:sp>
        <p:nvSpPr>
          <p:cNvPr id="5" name="Footer"/>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1000" dirty="0">
                <a:solidFill>
                  <a:srgbClr val="666666"/>
                </a:solidFill>
              </a:rPr>
              <a:t>L04 · Musculoskeletal Pharmacology — Session 2</a:t>
            </a:r>
            <a:endParaRPr lang="en-US" sz="1000" dirty="0"/>
          </a:p>
        </p:txBody>
      </p:sp>
      <p:sp>
        <p:nvSpPr>
          <p:cNvPr id="6" name="Slide number"/>
          <p:cNvSpPr txBox="1"/>
          <p:nvPr/>
        </p:nvSpPr>
        <p:spPr>
          <a:xfrm>
            <a:off x="10728655" y="6419088"/>
            <a:ext cx="914400" cy="274320"/>
          </a:xfrm>
          <a:prstGeom prst="rect">
            <a:avLst/>
          </a:prstGeom>
          <a:noFill/>
          <a:ln/>
        </p:spPr>
        <p:txBody>
          <a:bodyPr wrap="square" lIns="0" tIns="0" rIns="0" bIns="0" rtlCol="0" anchor="ctr"/>
          <a:lstStyle/>
          <a:p>
            <a:pPr algn="r" indent="0" marL="0">
              <a:buNone/>
            </a:pPr>
            <a:r>
              <a:rPr lang="en-US" sz="1000" dirty="0">
                <a:solidFill>
                  <a:srgbClr val="666666"/>
                </a:solidFill>
              </a:rPr>
              <a:t>20</a:t>
            </a:r>
            <a:endParaRPr lang="en-US" sz="1000" dirty="0"/>
          </a:p>
        </p:txBody>
      </p:sp>
      <p:sp>
        <p:nvSpPr>
          <p:cNvPr id="7" name="Monitoring card"/>
          <p:cNvSpPr/>
          <p:nvPr/>
        </p:nvSpPr>
        <p:spPr>
          <a:xfrm>
            <a:off x="548640" y="1325880"/>
            <a:ext cx="11094415" cy="3163824"/>
          </a:xfrm>
          <a:prstGeom prst="roundRect">
            <a:avLst>
              <a:gd name="adj" fmla="val 3468"/>
            </a:avLst>
          </a:prstGeom>
          <a:solidFill>
            <a:srgbClr val="F2F4F7"/>
          </a:solidFill>
          <a:ln w="12700">
            <a:solidFill>
              <a:srgbClr val="F2F4F7"/>
            </a:solidFill>
            <a:prstDash val="solid"/>
          </a:ln>
        </p:spPr>
      </p:sp>
      <p:sp>
        <p:nvSpPr>
          <p:cNvPr id="8" name="Monitoring icon circle"/>
          <p:cNvSpPr/>
          <p:nvPr/>
        </p:nvSpPr>
        <p:spPr>
          <a:xfrm>
            <a:off x="777240" y="1508760"/>
            <a:ext cx="438912" cy="438912"/>
          </a:xfrm>
          <a:prstGeom prst="ellipse">
            <a:avLst/>
          </a:prstGeom>
          <a:solidFill>
            <a:srgbClr val="1F7A7A"/>
          </a:solidFill>
          <a:ln w="12700">
            <a:solidFill>
              <a:srgbClr val="1F7A7A"/>
            </a:solidFill>
            <a:prstDash val="solid"/>
          </a:ln>
        </p:spPr>
      </p:sp>
      <p:pic>
        <p:nvPicPr>
          <p:cNvPr id="9" name="Monitoring icon" descr="preencoded.png">    </p:cNvPr>
          <p:cNvPicPr>
            <a:picLocks noChangeAspect="1"/>
          </p:cNvPicPr>
          <p:nvPr/>
        </p:nvPicPr>
        <p:blipFill>
          <a:blip r:embed="rId1"/>
          <a:stretch>
            <a:fillRect/>
          </a:stretch>
        </p:blipFill>
        <p:spPr>
          <a:xfrm>
            <a:off x="877824" y="1609344"/>
            <a:ext cx="237744" cy="237744"/>
          </a:xfrm>
          <a:prstGeom prst="rect">
            <a:avLst/>
          </a:prstGeom>
        </p:spPr>
      </p:pic>
      <p:sp>
        <p:nvSpPr>
          <p:cNvPr id="10" name="Monitoring heading"/>
          <p:cNvSpPr txBox="1"/>
          <p:nvPr/>
        </p:nvSpPr>
        <p:spPr>
          <a:xfrm>
            <a:off x="1353312" y="1508760"/>
            <a:ext cx="10088575" cy="438912"/>
          </a:xfrm>
          <a:prstGeom prst="rect">
            <a:avLst/>
          </a:prstGeom>
          <a:noFill/>
          <a:ln/>
        </p:spPr>
        <p:txBody>
          <a:bodyPr wrap="square" lIns="0" tIns="0" rIns="0" bIns="0" rtlCol="0" anchor="ctr"/>
          <a:lstStyle/>
          <a:p>
            <a:pPr indent="0" marL="0">
              <a:buNone/>
            </a:pPr>
            <a:r>
              <a:rPr lang="en-US" sz="1800" b="1" dirty="0">
                <a:solidFill>
                  <a:srgbClr val="1F7A7A"/>
                </a:solidFill>
              </a:rPr>
              <a:t>Monitoring</a:t>
            </a:r>
            <a:endParaRPr lang="en-US" sz="1800" dirty="0"/>
          </a:p>
        </p:txBody>
      </p:sp>
      <p:sp>
        <p:nvSpPr>
          <p:cNvPr id="11" name="Monitoring body"/>
          <p:cNvSpPr txBox="1"/>
          <p:nvPr/>
        </p:nvSpPr>
        <p:spPr>
          <a:xfrm>
            <a:off x="777240" y="2075688"/>
            <a:ext cx="10637215" cy="2295144"/>
          </a:xfrm>
          <a:prstGeom prst="rect">
            <a:avLst/>
          </a:prstGeom>
          <a:noFill/>
          <a:ln/>
        </p:spPr>
        <p:txBody>
          <a:bodyPr wrap="square" lIns="0" tIns="0" rIns="0" bIns="0" rtlCol="0" anchor="t"/>
          <a:lstStyle/>
          <a:p>
            <a:pPr marL="228600" indent="-228600">
              <a:spcAft>
                <a:spcPts val="800"/>
              </a:spcAft>
              <a:buSzPct val="100000"/>
              <a:buChar char="•"/>
            </a:pPr>
            <a:r>
              <a:rPr lang="en-US" sz="1800" dirty="0">
                <a:solidFill>
                  <a:srgbClr val="1F1F1F"/>
                </a:solidFill>
              </a:rPr>
              <a:t>Xanthine oxidase inhibitors: </a:t>
            </a:r>
            <a:r>
              <a:rPr lang="en-US" sz="1800" b="1" dirty="0">
                <a:solidFill>
                  <a:srgbClr val="1F1F1F"/>
                </a:solidFill>
              </a:rPr>
              <a:t>start low and titrate upward toward a serum urate target</a:t>
            </a:r>
            <a:r>
              <a:rPr lang="en-US" sz="1800" dirty="0">
                <a:solidFill>
                  <a:srgbClr val="1F1F1F"/>
                </a:solidFill>
              </a:rPr>
              <a:t>.</a:t>
            </a:r>
            <a:r>
              <a:rPr lang="en-US" sz="1300" dirty="0">
                <a:solidFill>
                  <a:srgbClr val="666666"/>
                </a:solidFill>
              </a:rPr>
              <a:t>  S13</a:t>
            </a:r>
            <a:endParaRPr lang="en-US" sz="1800" dirty="0"/>
          </a:p>
          <a:p>
            <a:pPr marL="228600" indent="-228600">
              <a:spcAft>
                <a:spcPts val="800"/>
              </a:spcAft>
              <a:buSzPct val="100000"/>
              <a:buChar char="•"/>
            </a:pPr>
            <a:r>
              <a:rPr lang="en-US" sz="1800" dirty="0">
                <a:solidFill>
                  <a:srgbClr val="1F1F1F"/>
                </a:solidFill>
              </a:rPr>
              <a:t>When starting urate-lowering therapy, give </a:t>
            </a:r>
            <a:r>
              <a:rPr lang="en-US" sz="1800" b="1" dirty="0">
                <a:solidFill>
                  <a:srgbClr val="1F1F1F"/>
                </a:solidFill>
              </a:rPr>
              <a:t>colchicine or an NSAID as prophylaxis for 3–6 months</a:t>
            </a:r>
            <a:r>
              <a:rPr lang="en-US" sz="1800" dirty="0">
                <a:solidFill>
                  <a:srgbClr val="1F1F1F"/>
                </a:solidFill>
              </a:rPr>
              <a:t>.</a:t>
            </a:r>
            <a:r>
              <a:rPr lang="en-US" sz="1300" dirty="0">
                <a:solidFill>
                  <a:srgbClr val="666666"/>
                </a:solidFill>
              </a:rPr>
              <a:t>  S13</a:t>
            </a:r>
            <a:endParaRPr lang="en-US" sz="1800" dirty="0"/>
          </a:p>
          <a:p>
            <a:pPr marL="228600" indent="-228600">
              <a:spcAft>
                <a:spcPts val="800"/>
              </a:spcAft>
              <a:buSzPct val="100000"/>
              <a:buChar char="•"/>
            </a:pPr>
            <a:r>
              <a:rPr lang="en-US" sz="1400" b="1" dirty="0">
                <a:solidFill>
                  <a:srgbClr val="000000"/>
                </a:solidFill>
                <a:highlight>
                  <a:srgbClr val="FFC000"/>
                </a:highlight>
              </a:rPr>
              <a:t> TB </a:t>
            </a:r>
            <a:r>
              <a:rPr lang="en-US" sz="1800" dirty="0">
                <a:solidFill>
                  <a:srgbClr val="000000"/>
                </a:solidFill>
              </a:rPr>
              <a:t> </a:t>
            </a:r>
            <a:r>
              <a:rPr lang="en-US" sz="1800" dirty="0">
                <a:solidFill>
                  <a:srgbClr val="1F1F1F"/>
                </a:solidFill>
              </a:rPr>
              <a:t>Probenecid: keep urine volume high and urine pH above 6.0 early on to prevent stones; start 2–3 weeks after an attack.</a:t>
            </a:r>
            <a:r>
              <a:rPr lang="en-US" sz="1300" dirty="0">
                <a:solidFill>
                  <a:srgbClr val="666666"/>
                </a:solidFill>
              </a:rPr>
              <a:t>  p. 698</a:t>
            </a:r>
            <a:endParaRPr lang="en-US" sz="1800" dirty="0"/>
          </a:p>
          <a:p>
            <a:pPr marL="228600" indent="-228600">
              <a:spcAft>
                <a:spcPts val="800"/>
              </a:spcAft>
              <a:buSzPct val="100000"/>
              <a:buChar char="•"/>
            </a:pPr>
            <a:r>
              <a:rPr lang="en-US" sz="1400" b="1" dirty="0">
                <a:solidFill>
                  <a:srgbClr val="000000"/>
                </a:solidFill>
                <a:highlight>
                  <a:srgbClr val="FFC000"/>
                </a:highlight>
              </a:rPr>
              <a:t> TB </a:t>
            </a:r>
            <a:r>
              <a:rPr lang="en-US" sz="1800" dirty="0">
                <a:solidFill>
                  <a:srgbClr val="000000"/>
                </a:solidFill>
              </a:rPr>
              <a:t> </a:t>
            </a:r>
            <a:r>
              <a:rPr lang="en-US" sz="1800" dirty="0">
                <a:solidFill>
                  <a:srgbClr val="1F1F1F"/>
                </a:solidFill>
              </a:rPr>
              <a:t>Pegloticase: premedicate with a corticosteroid and antihistamine; flares are common in the first 3–6 months.</a:t>
            </a:r>
            <a:r>
              <a:rPr lang="en-US" sz="1300" dirty="0">
                <a:solidFill>
                  <a:srgbClr val="666666"/>
                </a:solidFill>
              </a:rPr>
              <a:t>  p. 698</a:t>
            </a:r>
            <a:endParaRPr lang="en-US" sz="18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Kicker"/>
          <p:cNvSpPr txBox="1"/>
          <p:nvPr/>
        </p:nvSpPr>
        <p:spPr>
          <a:xfrm>
            <a:off x="548640" y="292608"/>
            <a:ext cx="8076895" cy="274320"/>
          </a:xfrm>
          <a:prstGeom prst="rect">
            <a:avLst/>
          </a:prstGeom>
          <a:noFill/>
          <a:ln/>
        </p:spPr>
        <p:txBody>
          <a:bodyPr wrap="square" lIns="0" tIns="0" rIns="0" bIns="0" rtlCol="0" anchor="ctr"/>
          <a:lstStyle/>
          <a:p>
            <a:pPr indent="0" marL="0">
              <a:buNone/>
            </a:pPr>
            <a:r>
              <a:rPr lang="en-US" sz="1200" b="1" spc="100" kern="0" dirty="0">
                <a:solidFill>
                  <a:srgbClr val="4472C4"/>
                </a:solidFill>
              </a:rPr>
              <a:t>GOUT: ACUTE FLARES &amp; URATE-LOWERING THERAPY</a:t>
            </a:r>
            <a:endParaRPr lang="en-US" sz="1200" dirty="0"/>
          </a:p>
        </p:txBody>
      </p:sp>
      <p:sp>
        <p:nvSpPr>
          <p:cNvPr id="3" name="Title"/>
          <p:cNvSpPr txBox="1"/>
          <p:nvPr/>
        </p:nvSpPr>
        <p:spPr>
          <a:xfrm>
            <a:off x="548640" y="566928"/>
            <a:ext cx="8076895" cy="713232"/>
          </a:xfrm>
          <a:prstGeom prst="rect">
            <a:avLst/>
          </a:prstGeom>
          <a:noFill/>
          <a:ln/>
        </p:spPr>
        <p:txBody>
          <a:bodyPr wrap="square" lIns="0" tIns="0" rIns="0" bIns="0" rtlCol="0" anchor="t"/>
          <a:lstStyle/>
          <a:p>
            <a:pPr indent="0" marL="0">
              <a:buNone/>
            </a:pPr>
            <a:r>
              <a:rPr lang="en-US" sz="3000" b="1" dirty="0">
                <a:solidFill>
                  <a:srgbClr val="1F1F1F"/>
                </a:solidFill>
                <a:latin typeface="Calibri" pitchFamily="34" charset="0"/>
                <a:ea typeface="Calibri" pitchFamily="34" charset="-122"/>
                <a:cs typeface="Calibri" pitchFamily="34" charset="-120"/>
              </a:rPr>
              <a:t>Clinical pearls / "why" hook</a:t>
            </a:r>
            <a:endParaRPr lang="en-US" sz="3000" dirty="0"/>
          </a:p>
        </p:txBody>
      </p:sp>
      <p:sp>
        <p:nvSpPr>
          <p:cNvPr id="4" name="Objective chip"/>
          <p:cNvSpPr/>
          <p:nvPr/>
        </p:nvSpPr>
        <p:spPr>
          <a:xfrm>
            <a:off x="8899855" y="365760"/>
            <a:ext cx="2743200" cy="384048"/>
          </a:xfrm>
          <a:prstGeom prst="roundRect">
            <a:avLst>
              <a:gd name="adj" fmla="val 35714"/>
            </a:avLst>
          </a:prstGeom>
          <a:solidFill>
            <a:srgbClr val="E3EBF8"/>
          </a:solidFill>
          <a:ln/>
        </p:spPr>
        <p:txBody>
          <a:bodyPr wrap="square" lIns="25400" tIns="25400" rIns="25400" bIns="25400" rtlCol="0" anchor="ctr"/>
          <a:lstStyle/>
          <a:p>
            <a:pPr algn="ctr" indent="0" marL="0">
              <a:buNone/>
            </a:pPr>
            <a:r>
              <a:rPr lang="en-US" sz="800" b="1" dirty="0">
                <a:solidFill>
                  <a:srgbClr val="2F4F8A"/>
                </a:solidFill>
              </a:rPr>
              <a:t>Objectives: SO1 · SO4 · IO2.1 · IO2.2 · IO2.3 · IO2.4 · IO2.5</a:t>
            </a:r>
            <a:endParaRPr lang="en-US" sz="800" dirty="0"/>
          </a:p>
        </p:txBody>
      </p:sp>
      <p:sp>
        <p:nvSpPr>
          <p:cNvPr id="5" name="Footer"/>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1000" dirty="0">
                <a:solidFill>
                  <a:srgbClr val="666666"/>
                </a:solidFill>
              </a:rPr>
              <a:t>L04 · Musculoskeletal Pharmacology — Session 2</a:t>
            </a:r>
            <a:endParaRPr lang="en-US" sz="1000" dirty="0"/>
          </a:p>
        </p:txBody>
      </p:sp>
      <p:sp>
        <p:nvSpPr>
          <p:cNvPr id="6" name="Slide number"/>
          <p:cNvSpPr txBox="1"/>
          <p:nvPr/>
        </p:nvSpPr>
        <p:spPr>
          <a:xfrm>
            <a:off x="10728655" y="6419088"/>
            <a:ext cx="914400" cy="274320"/>
          </a:xfrm>
          <a:prstGeom prst="rect">
            <a:avLst/>
          </a:prstGeom>
          <a:noFill/>
          <a:ln/>
        </p:spPr>
        <p:txBody>
          <a:bodyPr wrap="square" lIns="0" tIns="0" rIns="0" bIns="0" rtlCol="0" anchor="ctr"/>
          <a:lstStyle/>
          <a:p>
            <a:pPr algn="r" indent="0" marL="0">
              <a:buNone/>
            </a:pPr>
            <a:r>
              <a:rPr lang="en-US" sz="1000" dirty="0">
                <a:solidFill>
                  <a:srgbClr val="666666"/>
                </a:solidFill>
              </a:rPr>
              <a:t>21</a:t>
            </a:r>
            <a:endParaRPr lang="en-US" sz="1000" dirty="0"/>
          </a:p>
        </p:txBody>
      </p:sp>
      <p:sp>
        <p:nvSpPr>
          <p:cNvPr id="7" name="Clinical pearls / &quot;why&quot; hook (1/2) card"/>
          <p:cNvSpPr/>
          <p:nvPr/>
        </p:nvSpPr>
        <p:spPr>
          <a:xfrm>
            <a:off x="548640" y="1325880"/>
            <a:ext cx="11094415" cy="3163824"/>
          </a:xfrm>
          <a:prstGeom prst="roundRect">
            <a:avLst>
              <a:gd name="adj" fmla="val 3468"/>
            </a:avLst>
          </a:prstGeom>
          <a:solidFill>
            <a:srgbClr val="F2F4F7"/>
          </a:solidFill>
          <a:ln w="12700">
            <a:solidFill>
              <a:srgbClr val="F2F4F7"/>
            </a:solidFill>
            <a:prstDash val="solid"/>
          </a:ln>
        </p:spPr>
      </p:sp>
      <p:sp>
        <p:nvSpPr>
          <p:cNvPr id="8" name="Clinical pearls / &quot;why&quot; hook (1/2) icon circle"/>
          <p:cNvSpPr/>
          <p:nvPr/>
        </p:nvSpPr>
        <p:spPr>
          <a:xfrm>
            <a:off x="777240" y="1508760"/>
            <a:ext cx="438912" cy="438912"/>
          </a:xfrm>
          <a:prstGeom prst="ellipse">
            <a:avLst/>
          </a:prstGeom>
          <a:solidFill>
            <a:srgbClr val="2E75B6"/>
          </a:solidFill>
          <a:ln w="12700">
            <a:solidFill>
              <a:srgbClr val="2E75B6"/>
            </a:solidFill>
            <a:prstDash val="solid"/>
          </a:ln>
        </p:spPr>
      </p:sp>
      <p:pic>
        <p:nvPicPr>
          <p:cNvPr id="9" name="Clinical pearls / &quot;why&quot; hook (1/2) icon" descr="preencoded.png">    </p:cNvPr>
          <p:cNvPicPr>
            <a:picLocks noChangeAspect="1"/>
          </p:cNvPicPr>
          <p:nvPr/>
        </p:nvPicPr>
        <p:blipFill>
          <a:blip r:embed="rId1"/>
          <a:stretch>
            <a:fillRect/>
          </a:stretch>
        </p:blipFill>
        <p:spPr>
          <a:xfrm>
            <a:off x="877824" y="1609344"/>
            <a:ext cx="237744" cy="237744"/>
          </a:xfrm>
          <a:prstGeom prst="rect">
            <a:avLst/>
          </a:prstGeom>
        </p:spPr>
      </p:pic>
      <p:sp>
        <p:nvSpPr>
          <p:cNvPr id="10" name="Clinical pearls / &amp;quot;why&amp;quot; hook (1/2) heading"/>
          <p:cNvSpPr txBox="1"/>
          <p:nvPr/>
        </p:nvSpPr>
        <p:spPr>
          <a:xfrm>
            <a:off x="1353312" y="1508760"/>
            <a:ext cx="10088575" cy="438912"/>
          </a:xfrm>
          <a:prstGeom prst="rect">
            <a:avLst/>
          </a:prstGeom>
          <a:noFill/>
          <a:ln/>
        </p:spPr>
        <p:txBody>
          <a:bodyPr wrap="square" lIns="0" tIns="0" rIns="0" bIns="0" rtlCol="0" anchor="ctr"/>
          <a:lstStyle/>
          <a:p>
            <a:pPr indent="0" marL="0">
              <a:buNone/>
            </a:pPr>
            <a:r>
              <a:rPr lang="en-US" sz="1800" b="1" dirty="0">
                <a:solidFill>
                  <a:srgbClr val="2E75B6"/>
                </a:solidFill>
              </a:rPr>
              <a:t>Clinical pearls / "why" hook (1/2)</a:t>
            </a:r>
            <a:endParaRPr lang="en-US" sz="1800" dirty="0"/>
          </a:p>
        </p:txBody>
      </p:sp>
      <p:sp>
        <p:nvSpPr>
          <p:cNvPr id="11" name="Clinical pearls / &quot;why&quot; hook (1/2) body"/>
          <p:cNvSpPr txBox="1"/>
          <p:nvPr/>
        </p:nvSpPr>
        <p:spPr>
          <a:xfrm>
            <a:off x="777240" y="2075688"/>
            <a:ext cx="10637215" cy="2295144"/>
          </a:xfrm>
          <a:prstGeom prst="rect">
            <a:avLst/>
          </a:prstGeom>
          <a:noFill/>
          <a:ln/>
        </p:spPr>
        <p:txBody>
          <a:bodyPr wrap="square" lIns="0" tIns="0" rIns="0" bIns="0" rtlCol="0" anchor="t"/>
          <a:lstStyle/>
          <a:p>
            <a:pPr marL="228600" indent="-228600">
              <a:spcAft>
                <a:spcPts val="800"/>
              </a:spcAft>
              <a:buSzPct val="100000"/>
              <a:buChar char="•"/>
            </a:pPr>
            <a:r>
              <a:rPr lang="en-US" sz="1800" dirty="0">
                <a:solidFill>
                  <a:srgbClr val="1F1F1F"/>
                </a:solidFill>
              </a:rPr>
              <a:t>This acute-vs-chronic distinction is one of the single most testable concepts in gout pharmacology.</a:t>
            </a:r>
            <a:r>
              <a:rPr lang="en-US" sz="1300" dirty="0">
                <a:solidFill>
                  <a:srgbClr val="666666"/>
                </a:solidFill>
              </a:rPr>
              <a:t>  S9 (notes)</a:t>
            </a:r>
            <a:endParaRPr lang="en-US" sz="1800" dirty="0"/>
          </a:p>
          <a:p>
            <a:pPr marL="228600" indent="-228600">
              <a:spcAft>
                <a:spcPts val="800"/>
              </a:spcAft>
              <a:buSzPct val="100000"/>
              <a:buChar char="•"/>
            </a:pPr>
            <a:r>
              <a:rPr lang="en-US" sz="1800" dirty="0">
                <a:solidFill>
                  <a:srgbClr val="1F1F1F"/>
                </a:solidFill>
              </a:rPr>
              <a:t>Allopurinol vs. febuxostat: both sit on the same enzyme; the choice turns on safety profile and tolerability.</a:t>
            </a:r>
            <a:r>
              <a:rPr lang="en-US" sz="1300" dirty="0">
                <a:solidFill>
                  <a:srgbClr val="666666"/>
                </a:solidFill>
              </a:rPr>
              <a:t>  S13 (notes)</a:t>
            </a:r>
            <a:endParaRPr lang="en-US" sz="1800" dirty="0"/>
          </a:p>
          <a:p>
            <a:pPr marL="228600" indent="-228600">
              <a:spcAft>
                <a:spcPts val="800"/>
              </a:spcAft>
              <a:buSzPct val="100000"/>
              <a:buChar char="•"/>
            </a:pPr>
            <a:r>
              <a:rPr lang="en-US" sz="1800" dirty="0">
                <a:solidFill>
                  <a:srgbClr val="1F1F1F"/>
                </a:solidFill>
              </a:rPr>
              <a:t>**HLA-B*5801** is a direct callback to Lecture 1’s pharmacogenomics section.</a:t>
            </a:r>
            <a:r>
              <a:rPr lang="en-US" sz="1300" dirty="0">
                <a:solidFill>
                  <a:srgbClr val="666666"/>
                </a:solidFill>
              </a:rPr>
              <a:t>  S12 (notes)</a:t>
            </a:r>
            <a:endParaRPr lang="en-US" sz="1800" dirty="0"/>
          </a:p>
          <a:p>
            <a:pPr marL="228600" indent="-228600">
              <a:spcAft>
                <a:spcPts val="800"/>
              </a:spcAft>
              <a:buSzPct val="100000"/>
              <a:buChar char="•"/>
            </a:pPr>
            <a:r>
              <a:rPr lang="en-US" sz="1800" dirty="0">
                <a:solidFill>
                  <a:srgbClr val="1F1F1F"/>
                </a:solidFill>
              </a:rPr>
              <a:t>Pegloticase is reserved for refractory cases given its cost, infusion-reaction risk, and need for specialty administration.</a:t>
            </a:r>
            <a:r>
              <a:rPr lang="en-US" sz="1300" dirty="0">
                <a:solidFill>
                  <a:srgbClr val="666666"/>
                </a:solidFill>
              </a:rPr>
              <a:t>  S14</a:t>
            </a:r>
            <a:endParaRPr lang="en-US" sz="18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Kicker"/>
          <p:cNvSpPr txBox="1"/>
          <p:nvPr/>
        </p:nvSpPr>
        <p:spPr>
          <a:xfrm>
            <a:off x="548640" y="292608"/>
            <a:ext cx="8076895" cy="274320"/>
          </a:xfrm>
          <a:prstGeom prst="rect">
            <a:avLst/>
          </a:prstGeom>
          <a:noFill/>
          <a:ln/>
        </p:spPr>
        <p:txBody>
          <a:bodyPr wrap="square" lIns="0" tIns="0" rIns="0" bIns="0" rtlCol="0" anchor="ctr"/>
          <a:lstStyle/>
          <a:p>
            <a:pPr indent="0" marL="0">
              <a:buNone/>
            </a:pPr>
            <a:r>
              <a:rPr lang="en-US" sz="1200" b="1" spc="100" kern="0" dirty="0">
                <a:solidFill>
                  <a:srgbClr val="4472C4"/>
                </a:solidFill>
              </a:rPr>
              <a:t>GOUT: ACUTE FLARES &amp; URATE-LOWERING THERAPY</a:t>
            </a:r>
            <a:endParaRPr lang="en-US" sz="1200" dirty="0"/>
          </a:p>
        </p:txBody>
      </p:sp>
      <p:sp>
        <p:nvSpPr>
          <p:cNvPr id="3" name="Title"/>
          <p:cNvSpPr txBox="1"/>
          <p:nvPr/>
        </p:nvSpPr>
        <p:spPr>
          <a:xfrm>
            <a:off x="548640" y="566928"/>
            <a:ext cx="8076895" cy="713232"/>
          </a:xfrm>
          <a:prstGeom prst="rect">
            <a:avLst/>
          </a:prstGeom>
          <a:noFill/>
          <a:ln/>
        </p:spPr>
        <p:txBody>
          <a:bodyPr wrap="square" lIns="0" tIns="0" rIns="0" bIns="0" rtlCol="0" anchor="t"/>
          <a:lstStyle/>
          <a:p>
            <a:pPr indent="0" marL="0">
              <a:buNone/>
            </a:pPr>
            <a:r>
              <a:rPr lang="en-US" sz="3000" b="1" dirty="0">
                <a:solidFill>
                  <a:srgbClr val="1F1F1F"/>
                </a:solidFill>
                <a:latin typeface="Calibri" pitchFamily="34" charset="0"/>
                <a:ea typeface="Calibri" pitchFamily="34" charset="-122"/>
                <a:cs typeface="Calibri" pitchFamily="34" charset="-120"/>
              </a:rPr>
              <a:t>Clinical pearls / "why" hook (cont.)</a:t>
            </a:r>
            <a:endParaRPr lang="en-US" sz="3000" dirty="0"/>
          </a:p>
        </p:txBody>
      </p:sp>
      <p:sp>
        <p:nvSpPr>
          <p:cNvPr id="4" name="Objective chip"/>
          <p:cNvSpPr/>
          <p:nvPr/>
        </p:nvSpPr>
        <p:spPr>
          <a:xfrm>
            <a:off x="8899855" y="365760"/>
            <a:ext cx="2743200" cy="384048"/>
          </a:xfrm>
          <a:prstGeom prst="roundRect">
            <a:avLst>
              <a:gd name="adj" fmla="val 35714"/>
            </a:avLst>
          </a:prstGeom>
          <a:solidFill>
            <a:srgbClr val="E3EBF8"/>
          </a:solidFill>
          <a:ln/>
        </p:spPr>
        <p:txBody>
          <a:bodyPr wrap="square" lIns="25400" tIns="25400" rIns="25400" bIns="25400" rtlCol="0" anchor="ctr"/>
          <a:lstStyle/>
          <a:p>
            <a:pPr algn="ctr" indent="0" marL="0">
              <a:buNone/>
            </a:pPr>
            <a:r>
              <a:rPr lang="en-US" sz="800" b="1" dirty="0">
                <a:solidFill>
                  <a:srgbClr val="2F4F8A"/>
                </a:solidFill>
              </a:rPr>
              <a:t>Objectives: SO1 · SO4 · IO2.1 · IO2.2 · IO2.3 · IO2.4 · IO2.5</a:t>
            </a:r>
            <a:endParaRPr lang="en-US" sz="800" dirty="0"/>
          </a:p>
        </p:txBody>
      </p:sp>
      <p:sp>
        <p:nvSpPr>
          <p:cNvPr id="5" name="Footer"/>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1000" dirty="0">
                <a:solidFill>
                  <a:srgbClr val="666666"/>
                </a:solidFill>
              </a:rPr>
              <a:t>L04 · Musculoskeletal Pharmacology — Session 2</a:t>
            </a:r>
            <a:endParaRPr lang="en-US" sz="1000" dirty="0"/>
          </a:p>
        </p:txBody>
      </p:sp>
      <p:sp>
        <p:nvSpPr>
          <p:cNvPr id="6" name="Slide number"/>
          <p:cNvSpPr txBox="1"/>
          <p:nvPr/>
        </p:nvSpPr>
        <p:spPr>
          <a:xfrm>
            <a:off x="10728655" y="6419088"/>
            <a:ext cx="914400" cy="274320"/>
          </a:xfrm>
          <a:prstGeom prst="rect">
            <a:avLst/>
          </a:prstGeom>
          <a:noFill/>
          <a:ln/>
        </p:spPr>
        <p:txBody>
          <a:bodyPr wrap="square" lIns="0" tIns="0" rIns="0" bIns="0" rtlCol="0" anchor="ctr"/>
          <a:lstStyle/>
          <a:p>
            <a:pPr algn="r" indent="0" marL="0">
              <a:buNone/>
            </a:pPr>
            <a:r>
              <a:rPr lang="en-US" sz="1000" dirty="0">
                <a:solidFill>
                  <a:srgbClr val="666666"/>
                </a:solidFill>
              </a:rPr>
              <a:t>22</a:t>
            </a:r>
            <a:endParaRPr lang="en-US" sz="1000" dirty="0"/>
          </a:p>
        </p:txBody>
      </p:sp>
      <p:sp>
        <p:nvSpPr>
          <p:cNvPr id="7" name="Clinical pearls / &quot;why&quot; hook (2/2) card"/>
          <p:cNvSpPr/>
          <p:nvPr/>
        </p:nvSpPr>
        <p:spPr>
          <a:xfrm>
            <a:off x="548640" y="1325880"/>
            <a:ext cx="11094415" cy="4000500"/>
          </a:xfrm>
          <a:prstGeom prst="roundRect">
            <a:avLst>
              <a:gd name="adj" fmla="val 2743"/>
            </a:avLst>
          </a:prstGeom>
          <a:solidFill>
            <a:srgbClr val="F2F4F7"/>
          </a:solidFill>
          <a:ln w="12700">
            <a:solidFill>
              <a:srgbClr val="F2F4F7"/>
            </a:solidFill>
            <a:prstDash val="solid"/>
          </a:ln>
        </p:spPr>
      </p:sp>
      <p:sp>
        <p:nvSpPr>
          <p:cNvPr id="8" name="Clinical pearls / &quot;why&quot; hook (2/2) icon circle"/>
          <p:cNvSpPr/>
          <p:nvPr/>
        </p:nvSpPr>
        <p:spPr>
          <a:xfrm>
            <a:off x="777240" y="1508760"/>
            <a:ext cx="438912" cy="438912"/>
          </a:xfrm>
          <a:prstGeom prst="ellipse">
            <a:avLst/>
          </a:prstGeom>
          <a:solidFill>
            <a:srgbClr val="2E75B6"/>
          </a:solidFill>
          <a:ln w="12700">
            <a:solidFill>
              <a:srgbClr val="2E75B6"/>
            </a:solidFill>
            <a:prstDash val="solid"/>
          </a:ln>
        </p:spPr>
      </p:sp>
      <p:pic>
        <p:nvPicPr>
          <p:cNvPr id="9" name="Clinical pearls / &quot;why&quot; hook (2/2) icon" descr="preencoded.png">    </p:cNvPr>
          <p:cNvPicPr>
            <a:picLocks noChangeAspect="1"/>
          </p:cNvPicPr>
          <p:nvPr/>
        </p:nvPicPr>
        <p:blipFill>
          <a:blip r:embed="rId1"/>
          <a:stretch>
            <a:fillRect/>
          </a:stretch>
        </p:blipFill>
        <p:spPr>
          <a:xfrm>
            <a:off x="877824" y="1609344"/>
            <a:ext cx="237744" cy="237744"/>
          </a:xfrm>
          <a:prstGeom prst="rect">
            <a:avLst/>
          </a:prstGeom>
        </p:spPr>
      </p:pic>
      <p:sp>
        <p:nvSpPr>
          <p:cNvPr id="10" name="Clinical pearls / &amp;quot;why&amp;quot; hook (2/2) heading"/>
          <p:cNvSpPr txBox="1"/>
          <p:nvPr/>
        </p:nvSpPr>
        <p:spPr>
          <a:xfrm>
            <a:off x="1353312" y="1508760"/>
            <a:ext cx="10088575" cy="438912"/>
          </a:xfrm>
          <a:prstGeom prst="rect">
            <a:avLst/>
          </a:prstGeom>
          <a:noFill/>
          <a:ln/>
        </p:spPr>
        <p:txBody>
          <a:bodyPr wrap="square" lIns="0" tIns="0" rIns="0" bIns="0" rtlCol="0" anchor="ctr"/>
          <a:lstStyle/>
          <a:p>
            <a:pPr indent="0" marL="0">
              <a:buNone/>
            </a:pPr>
            <a:r>
              <a:rPr lang="en-US" sz="1800" b="1" dirty="0">
                <a:solidFill>
                  <a:srgbClr val="2E75B6"/>
                </a:solidFill>
              </a:rPr>
              <a:t>Clinical pearls / "why" hook (2/2)</a:t>
            </a:r>
            <a:endParaRPr lang="en-US" sz="1800" dirty="0"/>
          </a:p>
        </p:txBody>
      </p:sp>
      <p:sp>
        <p:nvSpPr>
          <p:cNvPr id="11" name="Clinical pearls / &quot;why&quot; hook (2/2) body"/>
          <p:cNvSpPr txBox="1"/>
          <p:nvPr/>
        </p:nvSpPr>
        <p:spPr>
          <a:xfrm>
            <a:off x="777240" y="2075688"/>
            <a:ext cx="10637215" cy="3131820"/>
          </a:xfrm>
          <a:prstGeom prst="rect">
            <a:avLst/>
          </a:prstGeom>
          <a:noFill/>
          <a:ln/>
        </p:spPr>
        <p:txBody>
          <a:bodyPr wrap="square" lIns="0" tIns="0" rIns="0" bIns="0" rtlCol="0" anchor="t"/>
          <a:lstStyle/>
          <a:p>
            <a:pPr marL="228600" indent="-228600">
              <a:spcAft>
                <a:spcPts val="800"/>
              </a:spcAft>
              <a:buSzPct val="100000"/>
              <a:buChar char="•"/>
            </a:pPr>
            <a:r>
              <a:rPr lang="en-US" sz="1800" dirty="0">
                <a:solidFill>
                  <a:srgbClr val="1F1F1F"/>
                </a:solidFill>
              </a:rPr>
              <a:t>Case: sudden, severe pain, redness, and swelling of the first metatarsophalangeal joint — an acute gout flare. </a:t>
            </a:r>
            <a:r>
              <a:rPr lang="en-US" sz="1800" b="1" dirty="0">
                <a:solidFill>
                  <a:srgbClr val="1F1F1F"/>
                </a:solidFill>
              </a:rPr>
              <a:t>Is this the moment to start acute treatment, chronic urate-lowering therapy, or both?</a:t>
            </a:r>
            <a:r>
              <a:rPr lang="en-US" sz="1800" dirty="0">
                <a:solidFill>
                  <a:srgbClr val="1F1F1F"/>
                </a:solidFill>
              </a:rPr>
              <a:t> Acute treatment now; ULT later.</a:t>
            </a:r>
            <a:r>
              <a:rPr lang="en-US" sz="1300" dirty="0">
                <a:solidFill>
                  <a:srgbClr val="666666"/>
                </a:solidFill>
              </a:rPr>
              <a:t>  S16</a:t>
            </a:r>
            <a:endParaRPr lang="en-US" sz="1800" dirty="0"/>
          </a:p>
          <a:p>
            <a:pPr marL="228600" indent="-228600">
              <a:spcAft>
                <a:spcPts val="800"/>
              </a:spcAft>
              <a:buSzPct val="100000"/>
              <a:buChar char="•"/>
            </a:pPr>
            <a:r>
              <a:rPr lang="en-US" sz="1800" b="1" dirty="0">
                <a:solidFill>
                  <a:srgbClr val="1F1F1F"/>
                </a:solidFill>
              </a:rPr>
              <a:t>Name clues:</a:t>
            </a:r>
            <a:r>
              <a:rPr lang="en-US" sz="1800" dirty="0">
                <a:solidFill>
                  <a:srgbClr val="1F1F1F"/>
                </a:solidFill>
              </a:rPr>
              <a:t> suffixes often reveal the mechanism before you recall the drug — use them as memory hooks, then confirm each class before prescribing.</a:t>
            </a:r>
            <a:r>
              <a:rPr lang="en-US" sz="1300" dirty="0">
                <a:solidFill>
                  <a:srgbClr val="666666"/>
                </a:solidFill>
              </a:rPr>
              <a:t>  S19; S19 (notes)</a:t>
            </a:r>
            <a:endParaRPr lang="en-US" sz="1800" dirty="0"/>
          </a:p>
          <a:p>
            <a:pPr marL="228600" indent="-228600">
              <a:spcAft>
                <a:spcPts val="800"/>
              </a:spcAft>
              <a:buSzPct val="100000"/>
              <a:buChar char="•"/>
            </a:pPr>
            <a:r>
              <a:rPr lang="en-US" sz="1800" b="1" dirty="0">
                <a:solidFill>
                  <a:srgbClr val="1F1F1F"/>
                </a:solidFill>
              </a:rPr>
              <a:t>-ostat</a:t>
            </a:r>
            <a:r>
              <a:rPr lang="en-US" sz="1800" dirty="0">
                <a:solidFill>
                  <a:srgbClr val="1F1F1F"/>
                </a:solidFill>
              </a:rPr>
              <a:t> marks xanthine oxidase inhibitors (allopurinol is the exception); </a:t>
            </a:r>
            <a:r>
              <a:rPr lang="en-US" sz="1800" b="1" dirty="0">
                <a:solidFill>
                  <a:srgbClr val="1F1F1F"/>
                </a:solidFill>
              </a:rPr>
              <a:t>-ase</a:t>
            </a:r>
            <a:r>
              <a:rPr lang="en-US" sz="1800" dirty="0">
                <a:solidFill>
                  <a:srgbClr val="1F1F1F"/>
                </a:solidFill>
              </a:rPr>
              <a:t> names enzymes, so pegloticase and rasburicase are uricases; </a:t>
            </a:r>
            <a:r>
              <a:rPr lang="en-US" sz="1800" b="1" dirty="0">
                <a:solidFill>
                  <a:srgbClr val="1F1F1F"/>
                </a:solidFill>
              </a:rPr>
              <a:t>-sone, -olone</a:t>
            </a:r>
            <a:r>
              <a:rPr lang="en-US" sz="1800" dirty="0">
                <a:solidFill>
                  <a:srgbClr val="1F1F1F"/>
                </a:solidFill>
              </a:rPr>
              <a:t> mark corticosteroids used to treat flares.</a:t>
            </a:r>
            <a:r>
              <a:rPr lang="en-US" sz="1300" dirty="0">
                <a:solidFill>
                  <a:srgbClr val="666666"/>
                </a:solidFill>
              </a:rPr>
              <a:t>  S19</a:t>
            </a:r>
            <a:endParaRPr lang="en-US" sz="1800" dirty="0"/>
          </a:p>
          <a:p>
            <a:pPr marL="228600" indent="-228600">
              <a:spcAft>
                <a:spcPts val="800"/>
              </a:spcAft>
              <a:buSzPct val="100000"/>
              <a:buChar char="•"/>
            </a:pPr>
            <a:r>
              <a:rPr lang="en-US" sz="1400" b="1" dirty="0">
                <a:solidFill>
                  <a:srgbClr val="000000"/>
                </a:solidFill>
                <a:highlight>
                  <a:srgbClr val="FFC000"/>
                </a:highlight>
              </a:rPr>
              <a:t> TB </a:t>
            </a:r>
            <a:r>
              <a:rPr lang="en-US" sz="1800" dirty="0">
                <a:solidFill>
                  <a:srgbClr val="000000"/>
                </a:solidFill>
              </a:rPr>
              <a:t> </a:t>
            </a:r>
            <a:r>
              <a:rPr lang="en-US" sz="1800" dirty="0">
                <a:solidFill>
                  <a:srgbClr val="1F1F1F"/>
                </a:solidFill>
              </a:rPr>
              <a:t>Allopurinol already running when a flare hits? Don’t stop it — stopping can worsen and lengthen the attack.</a:t>
            </a:r>
            <a:r>
              <a:rPr lang="en-US" sz="1300" dirty="0">
                <a:solidFill>
                  <a:srgbClr val="666666"/>
                </a:solidFill>
              </a:rPr>
              <a:t>  p. 696</a:t>
            </a:r>
            <a:endParaRPr lang="en-US" sz="18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Kicker"/>
          <p:cNvSpPr txBox="1"/>
          <p:nvPr/>
        </p:nvSpPr>
        <p:spPr>
          <a:xfrm>
            <a:off x="548640" y="292608"/>
            <a:ext cx="8076895" cy="274320"/>
          </a:xfrm>
          <a:prstGeom prst="rect">
            <a:avLst/>
          </a:prstGeom>
          <a:noFill/>
          <a:ln/>
        </p:spPr>
        <p:txBody>
          <a:bodyPr wrap="square" lIns="0" tIns="0" rIns="0" bIns="0" rtlCol="0" anchor="ctr"/>
          <a:lstStyle/>
          <a:p>
            <a:pPr indent="0" marL="0">
              <a:buNone/>
            </a:pPr>
            <a:r>
              <a:rPr lang="en-US" sz="1200" b="1" spc="100" kern="0" dirty="0">
                <a:solidFill>
                  <a:srgbClr val="4472C4"/>
                </a:solidFill>
              </a:rPr>
              <a:t>GOUT: ACUTE FLARES &amp; URATE-LOWERING THERAPY</a:t>
            </a:r>
            <a:endParaRPr lang="en-US" sz="1200" dirty="0"/>
          </a:p>
        </p:txBody>
      </p:sp>
      <p:sp>
        <p:nvSpPr>
          <p:cNvPr id="3" name="Title"/>
          <p:cNvSpPr txBox="1"/>
          <p:nvPr/>
        </p:nvSpPr>
        <p:spPr>
          <a:xfrm>
            <a:off x="548640" y="566928"/>
            <a:ext cx="8076895" cy="713232"/>
          </a:xfrm>
          <a:prstGeom prst="rect">
            <a:avLst/>
          </a:prstGeom>
          <a:noFill/>
          <a:ln/>
        </p:spPr>
        <p:txBody>
          <a:bodyPr wrap="square" lIns="0" tIns="0" rIns="0" bIns="0" rtlCol="0" anchor="t"/>
          <a:lstStyle/>
          <a:p>
            <a:pPr indent="0" marL="0">
              <a:buNone/>
            </a:pPr>
            <a:r>
              <a:rPr lang="en-US" sz="2400" b="1" dirty="0">
                <a:solidFill>
                  <a:srgbClr val="1F1F1F"/>
                </a:solidFill>
                <a:latin typeface="Calibri" pitchFamily="34" charset="0"/>
                <a:ea typeface="Calibri" pitchFamily="34" charset="-122"/>
                <a:cs typeface="Calibri" pitchFamily="34" charset="-120"/>
              </a:rPr>
              <a:t>Figure 4 · Gout: from purine metabolism to joint inflammation</a:t>
            </a:r>
            <a:endParaRPr lang="en-US" sz="2400" dirty="0"/>
          </a:p>
        </p:txBody>
      </p:sp>
      <p:sp>
        <p:nvSpPr>
          <p:cNvPr id="4" name="Objective chip"/>
          <p:cNvSpPr/>
          <p:nvPr/>
        </p:nvSpPr>
        <p:spPr>
          <a:xfrm>
            <a:off x="8899855" y="365760"/>
            <a:ext cx="2743200" cy="384048"/>
          </a:xfrm>
          <a:prstGeom prst="roundRect">
            <a:avLst>
              <a:gd name="adj" fmla="val 35714"/>
            </a:avLst>
          </a:prstGeom>
          <a:solidFill>
            <a:srgbClr val="E3EBF8"/>
          </a:solidFill>
          <a:ln/>
        </p:spPr>
        <p:txBody>
          <a:bodyPr wrap="square" lIns="25400" tIns="25400" rIns="25400" bIns="25400" rtlCol="0" anchor="ctr"/>
          <a:lstStyle/>
          <a:p>
            <a:pPr algn="ctr" indent="0" marL="0">
              <a:buNone/>
            </a:pPr>
            <a:r>
              <a:rPr lang="en-US" sz="800" b="1" dirty="0">
                <a:solidFill>
                  <a:srgbClr val="2F4F8A"/>
                </a:solidFill>
              </a:rPr>
              <a:t>Objectives: SO1 · SO4 · IO2.1 · IO2.2 · IO2.3 · IO2.4 · IO2.5</a:t>
            </a:r>
            <a:endParaRPr lang="en-US" sz="800" dirty="0"/>
          </a:p>
        </p:txBody>
      </p:sp>
      <p:sp>
        <p:nvSpPr>
          <p:cNvPr id="5" name="Footer"/>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1000" dirty="0">
                <a:solidFill>
                  <a:srgbClr val="666666"/>
                </a:solidFill>
              </a:rPr>
              <a:t>L04 · Musculoskeletal Pharmacology — Session 2</a:t>
            </a:r>
            <a:endParaRPr lang="en-US" sz="1000" dirty="0"/>
          </a:p>
        </p:txBody>
      </p:sp>
      <p:sp>
        <p:nvSpPr>
          <p:cNvPr id="6" name="Slide number"/>
          <p:cNvSpPr txBox="1"/>
          <p:nvPr/>
        </p:nvSpPr>
        <p:spPr>
          <a:xfrm>
            <a:off x="10728655" y="6419088"/>
            <a:ext cx="914400" cy="274320"/>
          </a:xfrm>
          <a:prstGeom prst="rect">
            <a:avLst/>
          </a:prstGeom>
          <a:noFill/>
          <a:ln/>
        </p:spPr>
        <p:txBody>
          <a:bodyPr wrap="square" lIns="0" tIns="0" rIns="0" bIns="0" rtlCol="0" anchor="ctr"/>
          <a:lstStyle/>
          <a:p>
            <a:pPr algn="r" indent="0" marL="0">
              <a:buNone/>
            </a:pPr>
            <a:r>
              <a:rPr lang="en-US" sz="1000" dirty="0">
                <a:solidFill>
                  <a:srgbClr val="666666"/>
                </a:solidFill>
              </a:rPr>
              <a:t>23</a:t>
            </a:r>
            <a:endParaRPr lang="en-US" sz="1000" dirty="0"/>
          </a:p>
        </p:txBody>
      </p:sp>
      <p:pic>
        <p:nvPicPr>
          <p:cNvPr id="7" name="Figure S6_1.jpg" descr="/home/user/dpas-pharm/work/L04/figures/S6_1.jpg">    </p:cNvPr>
          <p:cNvPicPr>
            <a:picLocks noChangeAspect="1"/>
          </p:cNvPicPr>
          <p:nvPr/>
        </p:nvPicPr>
        <p:blipFill>
          <a:blip r:embed="rId1"/>
          <a:stretch>
            <a:fillRect/>
          </a:stretch>
        </p:blipFill>
        <p:spPr>
          <a:xfrm>
            <a:off x="2238907" y="1325880"/>
            <a:ext cx="7713881" cy="3919728"/>
          </a:xfrm>
          <a:prstGeom prst="rect">
            <a:avLst/>
          </a:prstGeom>
        </p:spPr>
      </p:pic>
      <p:sp>
        <p:nvSpPr>
          <p:cNvPr id="8" name="Figure caption"/>
          <p:cNvSpPr txBox="1"/>
          <p:nvPr/>
        </p:nvSpPr>
        <p:spPr>
          <a:xfrm>
            <a:off x="548640" y="5428488"/>
            <a:ext cx="11094415" cy="835152"/>
          </a:xfrm>
          <a:prstGeom prst="rect">
            <a:avLst/>
          </a:prstGeom>
          <a:noFill/>
          <a:ln/>
        </p:spPr>
        <p:txBody>
          <a:bodyPr wrap="square" lIns="0" tIns="0" rIns="0" bIns="0" rtlCol="0" anchor="t"/>
          <a:lstStyle/>
          <a:p>
            <a:pPr indent="0" marL="0">
              <a:buNone/>
            </a:pPr>
            <a:r>
              <a:rPr lang="en-US" sz="1600" dirty="0">
                <a:solidFill>
                  <a:srgbClr val="1F1F1F"/>
                </a:solidFill>
              </a:rPr>
              <a:t>Original illustrative diagram (not from Katzung): purine metabolism → xanthine → uric acid → monosodium urate (MSU) crystals in the joint → neutrophil-driven joint inflammation. Allopurinol and febuxostat (xanthine oxidase inhibitors) reduce uric acid production; probenecid increases renal excretion of uric acid; colchicine, NSAIDs, and corticosteroids reduce joint inflammation.</a:t>
            </a:r>
            <a:r>
              <a:rPr lang="en-US" sz="1100" dirty="0">
                <a:solidFill>
                  <a:srgbClr val="666666"/>
                </a:solidFill>
              </a:rPr>
              <a:t>  S6; S6 (notes)</a:t>
            </a:r>
            <a:endParaRPr lang="en-US" sz="16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Kicker"/>
          <p:cNvSpPr txBox="1"/>
          <p:nvPr/>
        </p:nvSpPr>
        <p:spPr>
          <a:xfrm>
            <a:off x="548640" y="292608"/>
            <a:ext cx="8076895" cy="274320"/>
          </a:xfrm>
          <a:prstGeom prst="rect">
            <a:avLst/>
          </a:prstGeom>
          <a:noFill/>
          <a:ln/>
        </p:spPr>
        <p:txBody>
          <a:bodyPr wrap="square" lIns="0" tIns="0" rIns="0" bIns="0" rtlCol="0" anchor="ctr"/>
          <a:lstStyle/>
          <a:p>
            <a:pPr indent="0" marL="0">
              <a:buNone/>
            </a:pPr>
            <a:r>
              <a:rPr lang="en-US" sz="1200" b="1" spc="100" kern="0" dirty="0">
                <a:solidFill>
                  <a:srgbClr val="4472C4"/>
                </a:solidFill>
              </a:rPr>
              <a:t>GOUT: ACUTE FLARES &amp; URATE-LOWERING THERAPY</a:t>
            </a:r>
            <a:endParaRPr lang="en-US" sz="1200" dirty="0"/>
          </a:p>
        </p:txBody>
      </p:sp>
      <p:sp>
        <p:nvSpPr>
          <p:cNvPr id="3" name="Title"/>
          <p:cNvSpPr txBox="1"/>
          <p:nvPr/>
        </p:nvSpPr>
        <p:spPr>
          <a:xfrm>
            <a:off x="548640" y="566928"/>
            <a:ext cx="8076895" cy="713232"/>
          </a:xfrm>
          <a:prstGeom prst="rect">
            <a:avLst/>
          </a:prstGeom>
          <a:noFill/>
          <a:ln/>
        </p:spPr>
        <p:txBody>
          <a:bodyPr wrap="square" lIns="0" tIns="0" rIns="0" bIns="0" rtlCol="0" anchor="t"/>
          <a:lstStyle/>
          <a:p>
            <a:pPr indent="0" marL="0">
              <a:buNone/>
            </a:pPr>
            <a:r>
              <a:rPr lang="en-US" sz="3000" b="1" dirty="0">
                <a:solidFill>
                  <a:srgbClr val="1F1F1F"/>
                </a:solidFill>
                <a:latin typeface="Calibri" pitchFamily="34" charset="0"/>
                <a:ea typeface="Calibri" pitchFamily="34" charset="-122"/>
                <a:cs typeface="Calibri" pitchFamily="34" charset="-120"/>
              </a:rPr>
              <a:t>⚠ Sources disagree: Febuxostat cardiovascular risk</a:t>
            </a:r>
            <a:endParaRPr lang="en-US" sz="3000" dirty="0"/>
          </a:p>
        </p:txBody>
      </p:sp>
      <p:sp>
        <p:nvSpPr>
          <p:cNvPr id="4" name="Objective chip"/>
          <p:cNvSpPr/>
          <p:nvPr/>
        </p:nvSpPr>
        <p:spPr>
          <a:xfrm>
            <a:off x="8899855" y="365760"/>
            <a:ext cx="2743200" cy="384048"/>
          </a:xfrm>
          <a:prstGeom prst="roundRect">
            <a:avLst>
              <a:gd name="adj" fmla="val 35714"/>
            </a:avLst>
          </a:prstGeom>
          <a:solidFill>
            <a:srgbClr val="E3EBF8"/>
          </a:solidFill>
          <a:ln/>
        </p:spPr>
        <p:txBody>
          <a:bodyPr wrap="square" lIns="25400" tIns="25400" rIns="25400" bIns="25400" rtlCol="0" anchor="ctr"/>
          <a:lstStyle/>
          <a:p>
            <a:pPr algn="ctr" indent="0" marL="0">
              <a:buNone/>
            </a:pPr>
            <a:r>
              <a:rPr lang="en-US" sz="800" b="1" dirty="0">
                <a:solidFill>
                  <a:srgbClr val="2F4F8A"/>
                </a:solidFill>
              </a:rPr>
              <a:t>Objectives: SO1 · SO4 · IO2.1 · IO2.2 · IO2.3 · IO2.4 · IO2.5</a:t>
            </a:r>
            <a:endParaRPr lang="en-US" sz="800" dirty="0"/>
          </a:p>
        </p:txBody>
      </p:sp>
      <p:sp>
        <p:nvSpPr>
          <p:cNvPr id="5" name="Footer"/>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1000" dirty="0">
                <a:solidFill>
                  <a:srgbClr val="666666"/>
                </a:solidFill>
              </a:rPr>
              <a:t>L04 · Musculoskeletal Pharmacology — Session 2</a:t>
            </a:r>
            <a:endParaRPr lang="en-US" sz="1000" dirty="0"/>
          </a:p>
        </p:txBody>
      </p:sp>
      <p:sp>
        <p:nvSpPr>
          <p:cNvPr id="6" name="Slide number"/>
          <p:cNvSpPr txBox="1"/>
          <p:nvPr/>
        </p:nvSpPr>
        <p:spPr>
          <a:xfrm>
            <a:off x="10728655" y="6419088"/>
            <a:ext cx="914400" cy="274320"/>
          </a:xfrm>
          <a:prstGeom prst="rect">
            <a:avLst/>
          </a:prstGeom>
          <a:noFill/>
          <a:ln/>
        </p:spPr>
        <p:txBody>
          <a:bodyPr wrap="square" lIns="0" tIns="0" rIns="0" bIns="0" rtlCol="0" anchor="ctr"/>
          <a:lstStyle/>
          <a:p>
            <a:pPr algn="r" indent="0" marL="0">
              <a:buNone/>
            </a:pPr>
            <a:r>
              <a:rPr lang="en-US" sz="1000" dirty="0">
                <a:solidFill>
                  <a:srgbClr val="666666"/>
                </a:solidFill>
              </a:rPr>
              <a:t>24</a:t>
            </a:r>
            <a:endParaRPr lang="en-US" sz="1000" dirty="0"/>
          </a:p>
        </p:txBody>
      </p:sp>
      <p:sp>
        <p:nvSpPr>
          <p:cNvPr id="7" name="Lecture slides say card"/>
          <p:cNvSpPr/>
          <p:nvPr/>
        </p:nvSpPr>
        <p:spPr>
          <a:xfrm>
            <a:off x="548640" y="1325880"/>
            <a:ext cx="5364328" cy="2011680"/>
          </a:xfrm>
          <a:prstGeom prst="roundRect">
            <a:avLst>
              <a:gd name="adj" fmla="val 5455"/>
            </a:avLst>
          </a:prstGeom>
          <a:solidFill>
            <a:srgbClr val="F2F4F7"/>
          </a:solidFill>
          <a:ln w="12700">
            <a:solidFill>
              <a:srgbClr val="F2F4F7"/>
            </a:solidFill>
            <a:prstDash val="solid"/>
          </a:ln>
        </p:spPr>
      </p:sp>
      <p:sp>
        <p:nvSpPr>
          <p:cNvPr id="8" name="Lecture slides say icon circle"/>
          <p:cNvSpPr/>
          <p:nvPr/>
        </p:nvSpPr>
        <p:spPr>
          <a:xfrm>
            <a:off x="777240" y="1508760"/>
            <a:ext cx="438912" cy="438912"/>
          </a:xfrm>
          <a:prstGeom prst="ellipse">
            <a:avLst/>
          </a:prstGeom>
          <a:solidFill>
            <a:srgbClr val="4472C4"/>
          </a:solidFill>
          <a:ln w="12700">
            <a:solidFill>
              <a:srgbClr val="4472C4"/>
            </a:solidFill>
            <a:prstDash val="solid"/>
          </a:ln>
        </p:spPr>
      </p:sp>
      <p:pic>
        <p:nvPicPr>
          <p:cNvPr id="9" name="Lecture slides say icon" descr="preencoded.png">    </p:cNvPr>
          <p:cNvPicPr>
            <a:picLocks noChangeAspect="1"/>
          </p:cNvPicPr>
          <p:nvPr/>
        </p:nvPicPr>
        <p:blipFill>
          <a:blip r:embed="rId1"/>
          <a:stretch>
            <a:fillRect/>
          </a:stretch>
        </p:blipFill>
        <p:spPr>
          <a:xfrm>
            <a:off x="877824" y="1609344"/>
            <a:ext cx="237744" cy="237744"/>
          </a:xfrm>
          <a:prstGeom prst="rect">
            <a:avLst/>
          </a:prstGeom>
        </p:spPr>
      </p:pic>
      <p:sp>
        <p:nvSpPr>
          <p:cNvPr id="10" name="Lecture slides say heading"/>
          <p:cNvSpPr txBox="1"/>
          <p:nvPr/>
        </p:nvSpPr>
        <p:spPr>
          <a:xfrm>
            <a:off x="1353312" y="1508760"/>
            <a:ext cx="4358488" cy="438912"/>
          </a:xfrm>
          <a:prstGeom prst="rect">
            <a:avLst/>
          </a:prstGeom>
          <a:noFill/>
          <a:ln/>
        </p:spPr>
        <p:txBody>
          <a:bodyPr wrap="square" lIns="0" tIns="0" rIns="0" bIns="0" rtlCol="0" anchor="ctr"/>
          <a:lstStyle/>
          <a:p>
            <a:pPr indent="0" marL="0">
              <a:buNone/>
            </a:pPr>
            <a:r>
              <a:rPr lang="en-US" sz="1800" b="1" dirty="0">
                <a:solidFill>
                  <a:srgbClr val="4472C4"/>
                </a:solidFill>
              </a:rPr>
              <a:t>Lecture slides say</a:t>
            </a:r>
            <a:endParaRPr lang="en-US" sz="1800" dirty="0"/>
          </a:p>
        </p:txBody>
      </p:sp>
      <p:sp>
        <p:nvSpPr>
          <p:cNvPr id="11" name="Lecture slides say body"/>
          <p:cNvSpPr txBox="1"/>
          <p:nvPr/>
        </p:nvSpPr>
        <p:spPr>
          <a:xfrm>
            <a:off x="777240" y="2075688"/>
            <a:ext cx="4907128" cy="1143000"/>
          </a:xfrm>
          <a:prstGeom prst="rect">
            <a:avLst/>
          </a:prstGeom>
          <a:noFill/>
          <a:ln/>
        </p:spPr>
        <p:txBody>
          <a:bodyPr wrap="square" lIns="0" tIns="0" rIns="0" bIns="0" rtlCol="0" anchor="t"/>
          <a:lstStyle/>
          <a:p>
            <a:pPr marL="228600" indent="-228600">
              <a:spcAft>
                <a:spcPts val="800"/>
              </a:spcAft>
              <a:buSzPct val="100000"/>
              <a:buChar char="•"/>
            </a:pPr>
            <a:r>
              <a:rPr lang="en-US" sz="1800" dirty="0">
                <a:solidFill>
                  <a:srgbClr val="1F1F1F"/>
                </a:solidFill>
              </a:rPr>
              <a:t>Febuxostat carries a boxed warning for cardiovascular death.</a:t>
            </a:r>
            <a:r>
              <a:rPr lang="en-US" sz="1300" dirty="0">
                <a:solidFill>
                  <a:srgbClr val="666666"/>
                </a:solidFill>
              </a:rPr>
              <a:t>  S13</a:t>
            </a:r>
            <a:endParaRPr lang="en-US" sz="1800" dirty="0"/>
          </a:p>
        </p:txBody>
      </p:sp>
      <p:sp>
        <p:nvSpPr>
          <p:cNvPr id="12" name="Textbook says card"/>
          <p:cNvSpPr/>
          <p:nvPr/>
        </p:nvSpPr>
        <p:spPr>
          <a:xfrm>
            <a:off x="6278728" y="1325880"/>
            <a:ext cx="5364328" cy="2011680"/>
          </a:xfrm>
          <a:prstGeom prst="roundRect">
            <a:avLst>
              <a:gd name="adj" fmla="val 5455"/>
            </a:avLst>
          </a:prstGeom>
          <a:solidFill>
            <a:srgbClr val="F2F4F7"/>
          </a:solidFill>
          <a:ln w="12700">
            <a:solidFill>
              <a:srgbClr val="F2F4F7"/>
            </a:solidFill>
            <a:prstDash val="solid"/>
          </a:ln>
        </p:spPr>
      </p:sp>
      <p:sp>
        <p:nvSpPr>
          <p:cNvPr id="13" name="Textbook says icon circle"/>
          <p:cNvSpPr/>
          <p:nvPr/>
        </p:nvSpPr>
        <p:spPr>
          <a:xfrm>
            <a:off x="6507328" y="1508760"/>
            <a:ext cx="438912" cy="438912"/>
          </a:xfrm>
          <a:prstGeom prst="ellipse">
            <a:avLst/>
          </a:prstGeom>
          <a:solidFill>
            <a:srgbClr val="B07D00"/>
          </a:solidFill>
          <a:ln w="12700">
            <a:solidFill>
              <a:srgbClr val="B07D00"/>
            </a:solidFill>
            <a:prstDash val="solid"/>
          </a:ln>
        </p:spPr>
      </p:sp>
      <p:pic>
        <p:nvPicPr>
          <p:cNvPr id="14" name="Textbook says icon" descr="preencoded.png">    </p:cNvPr>
          <p:cNvPicPr>
            <a:picLocks noChangeAspect="1"/>
          </p:cNvPicPr>
          <p:nvPr/>
        </p:nvPicPr>
        <p:blipFill>
          <a:blip r:embed="rId2"/>
          <a:stretch>
            <a:fillRect/>
          </a:stretch>
        </p:blipFill>
        <p:spPr>
          <a:xfrm>
            <a:off x="6607912" y="1609344"/>
            <a:ext cx="237744" cy="237744"/>
          </a:xfrm>
          <a:prstGeom prst="rect">
            <a:avLst/>
          </a:prstGeom>
        </p:spPr>
      </p:pic>
      <p:sp>
        <p:nvSpPr>
          <p:cNvPr id="15" name="Textbook says heading"/>
          <p:cNvSpPr txBox="1"/>
          <p:nvPr/>
        </p:nvSpPr>
        <p:spPr>
          <a:xfrm>
            <a:off x="7083400" y="1508760"/>
            <a:ext cx="4358488" cy="438912"/>
          </a:xfrm>
          <a:prstGeom prst="rect">
            <a:avLst/>
          </a:prstGeom>
          <a:noFill/>
          <a:ln/>
        </p:spPr>
        <p:txBody>
          <a:bodyPr wrap="square" lIns="0" tIns="0" rIns="0" bIns="0" rtlCol="0" anchor="ctr"/>
          <a:lstStyle/>
          <a:p>
            <a:pPr indent="0" marL="0">
              <a:buNone/>
            </a:pPr>
            <a:r>
              <a:rPr lang="en-US" sz="1800" b="1" dirty="0">
                <a:solidFill>
                  <a:srgbClr val="B07D00"/>
                </a:solidFill>
              </a:rPr>
              <a:t>Textbook says</a:t>
            </a:r>
            <a:endParaRPr lang="en-US" sz="1800" dirty="0"/>
          </a:p>
        </p:txBody>
      </p:sp>
      <p:sp>
        <p:nvSpPr>
          <p:cNvPr id="16" name="Textbook says body"/>
          <p:cNvSpPr txBox="1"/>
          <p:nvPr/>
        </p:nvSpPr>
        <p:spPr>
          <a:xfrm>
            <a:off x="6507328" y="2075688"/>
            <a:ext cx="4907128" cy="1143000"/>
          </a:xfrm>
          <a:prstGeom prst="rect">
            <a:avLst/>
          </a:prstGeom>
          <a:noFill/>
          <a:ln/>
        </p:spPr>
        <p:txBody>
          <a:bodyPr wrap="square" lIns="0" tIns="0" rIns="0" bIns="0" rtlCol="0" anchor="t"/>
          <a:lstStyle/>
          <a:p>
            <a:pPr marL="228600" indent="-228600">
              <a:spcAft>
                <a:spcPts val="800"/>
              </a:spcAft>
              <a:buSzPct val="100000"/>
              <a:buChar char="•"/>
            </a:pPr>
            <a:r>
              <a:rPr lang="en-US" sz="1400" b="1" dirty="0">
                <a:solidFill>
                  <a:srgbClr val="000000"/>
                </a:solidFill>
                <a:highlight>
                  <a:srgbClr val="FFC000"/>
                </a:highlight>
              </a:rPr>
              <a:t> TB </a:t>
            </a:r>
            <a:r>
              <a:rPr lang="en-US" sz="1800" dirty="0">
                <a:solidFill>
                  <a:srgbClr val="000000"/>
                </a:solidFill>
              </a:rPr>
              <a:t> </a:t>
            </a:r>
            <a:r>
              <a:rPr lang="en-US" sz="1800" dirty="0">
                <a:solidFill>
                  <a:srgbClr val="1F1F1F"/>
                </a:solidFill>
              </a:rPr>
              <a:t>Initial concerns about increased MACE with febuxostat have not been borne out; the FDA approved only the 40- and 80-mg doses.</a:t>
            </a:r>
            <a:r>
              <a:rPr lang="en-US" sz="1300" dirty="0">
                <a:solidFill>
                  <a:srgbClr val="666666"/>
                </a:solidFill>
              </a:rPr>
              <a:t>  p. 697</a:t>
            </a:r>
            <a:endParaRPr lang="en-US" sz="14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Kicker"/>
          <p:cNvSpPr txBox="1"/>
          <p:nvPr/>
        </p:nvSpPr>
        <p:spPr>
          <a:xfrm>
            <a:off x="548640" y="292608"/>
            <a:ext cx="8076895" cy="274320"/>
          </a:xfrm>
          <a:prstGeom prst="rect">
            <a:avLst/>
          </a:prstGeom>
          <a:noFill/>
          <a:ln/>
        </p:spPr>
        <p:txBody>
          <a:bodyPr wrap="square" lIns="0" tIns="0" rIns="0" bIns="0" rtlCol="0" anchor="ctr"/>
          <a:lstStyle/>
          <a:p>
            <a:pPr indent="0" marL="0">
              <a:buNone/>
            </a:pPr>
            <a:r>
              <a:rPr lang="en-US" sz="1200" b="1" spc="100" kern="0" dirty="0">
                <a:solidFill>
                  <a:srgbClr val="4472C4"/>
                </a:solidFill>
              </a:rPr>
              <a:t>GOUT: ACUTE FLARES &amp; URATE-LOWERING THERAPY</a:t>
            </a:r>
            <a:endParaRPr lang="en-US" sz="1200" dirty="0"/>
          </a:p>
        </p:txBody>
      </p:sp>
      <p:sp>
        <p:nvSpPr>
          <p:cNvPr id="3" name="Title"/>
          <p:cNvSpPr txBox="1"/>
          <p:nvPr/>
        </p:nvSpPr>
        <p:spPr>
          <a:xfrm>
            <a:off x="548640" y="566928"/>
            <a:ext cx="8076895" cy="713232"/>
          </a:xfrm>
          <a:prstGeom prst="rect">
            <a:avLst/>
          </a:prstGeom>
          <a:noFill/>
          <a:ln/>
        </p:spPr>
        <p:txBody>
          <a:bodyPr wrap="square" lIns="0" tIns="0" rIns="0" bIns="0" rtlCol="0" anchor="t"/>
          <a:lstStyle/>
          <a:p>
            <a:pPr indent="0" marL="0">
              <a:buNone/>
            </a:pPr>
            <a:r>
              <a:rPr lang="en-US" sz="3000" b="1" dirty="0">
                <a:solidFill>
                  <a:srgbClr val="1F1F1F"/>
                </a:solidFill>
                <a:latin typeface="Calibri" pitchFamily="34" charset="0"/>
                <a:ea typeface="Calibri" pitchFamily="34" charset="-122"/>
                <a:cs typeface="Calibri" pitchFamily="34" charset="-120"/>
              </a:rPr>
              <a:t>⚠ Sources disagree: Colchicine timing</a:t>
            </a:r>
            <a:endParaRPr lang="en-US" sz="3000" dirty="0"/>
          </a:p>
        </p:txBody>
      </p:sp>
      <p:sp>
        <p:nvSpPr>
          <p:cNvPr id="4" name="Objective chip"/>
          <p:cNvSpPr/>
          <p:nvPr/>
        </p:nvSpPr>
        <p:spPr>
          <a:xfrm>
            <a:off x="8899855" y="365760"/>
            <a:ext cx="2743200" cy="384048"/>
          </a:xfrm>
          <a:prstGeom prst="roundRect">
            <a:avLst>
              <a:gd name="adj" fmla="val 35714"/>
            </a:avLst>
          </a:prstGeom>
          <a:solidFill>
            <a:srgbClr val="E3EBF8"/>
          </a:solidFill>
          <a:ln/>
        </p:spPr>
        <p:txBody>
          <a:bodyPr wrap="square" lIns="25400" tIns="25400" rIns="25400" bIns="25400" rtlCol="0" anchor="ctr"/>
          <a:lstStyle/>
          <a:p>
            <a:pPr algn="ctr" indent="0" marL="0">
              <a:buNone/>
            </a:pPr>
            <a:r>
              <a:rPr lang="en-US" sz="800" b="1" dirty="0">
                <a:solidFill>
                  <a:srgbClr val="2F4F8A"/>
                </a:solidFill>
              </a:rPr>
              <a:t>Objectives: SO1 · SO4 · IO2.1 · IO2.2 · IO2.3 · IO2.4 · IO2.5</a:t>
            </a:r>
            <a:endParaRPr lang="en-US" sz="800" dirty="0"/>
          </a:p>
        </p:txBody>
      </p:sp>
      <p:sp>
        <p:nvSpPr>
          <p:cNvPr id="5" name="Footer"/>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1000" dirty="0">
                <a:solidFill>
                  <a:srgbClr val="666666"/>
                </a:solidFill>
              </a:rPr>
              <a:t>L04 · Musculoskeletal Pharmacology — Session 2</a:t>
            </a:r>
            <a:endParaRPr lang="en-US" sz="1000" dirty="0"/>
          </a:p>
        </p:txBody>
      </p:sp>
      <p:sp>
        <p:nvSpPr>
          <p:cNvPr id="6" name="Slide number"/>
          <p:cNvSpPr txBox="1"/>
          <p:nvPr/>
        </p:nvSpPr>
        <p:spPr>
          <a:xfrm>
            <a:off x="10728655" y="6419088"/>
            <a:ext cx="914400" cy="274320"/>
          </a:xfrm>
          <a:prstGeom prst="rect">
            <a:avLst/>
          </a:prstGeom>
          <a:noFill/>
          <a:ln/>
        </p:spPr>
        <p:txBody>
          <a:bodyPr wrap="square" lIns="0" tIns="0" rIns="0" bIns="0" rtlCol="0" anchor="ctr"/>
          <a:lstStyle/>
          <a:p>
            <a:pPr algn="r" indent="0" marL="0">
              <a:buNone/>
            </a:pPr>
            <a:r>
              <a:rPr lang="en-US" sz="1000" dirty="0">
                <a:solidFill>
                  <a:srgbClr val="666666"/>
                </a:solidFill>
              </a:rPr>
              <a:t>25</a:t>
            </a:r>
            <a:endParaRPr lang="en-US" sz="1000" dirty="0"/>
          </a:p>
        </p:txBody>
      </p:sp>
      <p:sp>
        <p:nvSpPr>
          <p:cNvPr id="7" name="Lecture slides say card"/>
          <p:cNvSpPr/>
          <p:nvPr/>
        </p:nvSpPr>
        <p:spPr>
          <a:xfrm>
            <a:off x="548640" y="1325880"/>
            <a:ext cx="5364328" cy="2011680"/>
          </a:xfrm>
          <a:prstGeom prst="roundRect">
            <a:avLst>
              <a:gd name="adj" fmla="val 5455"/>
            </a:avLst>
          </a:prstGeom>
          <a:solidFill>
            <a:srgbClr val="F2F4F7"/>
          </a:solidFill>
          <a:ln w="12700">
            <a:solidFill>
              <a:srgbClr val="F2F4F7"/>
            </a:solidFill>
            <a:prstDash val="solid"/>
          </a:ln>
        </p:spPr>
      </p:sp>
      <p:sp>
        <p:nvSpPr>
          <p:cNvPr id="8" name="Lecture slides say icon circle"/>
          <p:cNvSpPr/>
          <p:nvPr/>
        </p:nvSpPr>
        <p:spPr>
          <a:xfrm>
            <a:off x="777240" y="1508760"/>
            <a:ext cx="438912" cy="438912"/>
          </a:xfrm>
          <a:prstGeom prst="ellipse">
            <a:avLst/>
          </a:prstGeom>
          <a:solidFill>
            <a:srgbClr val="4472C4"/>
          </a:solidFill>
          <a:ln w="12700">
            <a:solidFill>
              <a:srgbClr val="4472C4"/>
            </a:solidFill>
            <a:prstDash val="solid"/>
          </a:ln>
        </p:spPr>
      </p:sp>
      <p:pic>
        <p:nvPicPr>
          <p:cNvPr id="9" name="Lecture slides say icon" descr="preencoded.png">    </p:cNvPr>
          <p:cNvPicPr>
            <a:picLocks noChangeAspect="1"/>
          </p:cNvPicPr>
          <p:nvPr/>
        </p:nvPicPr>
        <p:blipFill>
          <a:blip r:embed="rId1"/>
          <a:stretch>
            <a:fillRect/>
          </a:stretch>
        </p:blipFill>
        <p:spPr>
          <a:xfrm>
            <a:off x="877824" y="1609344"/>
            <a:ext cx="237744" cy="237744"/>
          </a:xfrm>
          <a:prstGeom prst="rect">
            <a:avLst/>
          </a:prstGeom>
        </p:spPr>
      </p:pic>
      <p:sp>
        <p:nvSpPr>
          <p:cNvPr id="10" name="Lecture slides say heading"/>
          <p:cNvSpPr txBox="1"/>
          <p:nvPr/>
        </p:nvSpPr>
        <p:spPr>
          <a:xfrm>
            <a:off x="1353312" y="1508760"/>
            <a:ext cx="4358488" cy="438912"/>
          </a:xfrm>
          <a:prstGeom prst="rect">
            <a:avLst/>
          </a:prstGeom>
          <a:noFill/>
          <a:ln/>
        </p:spPr>
        <p:txBody>
          <a:bodyPr wrap="square" lIns="0" tIns="0" rIns="0" bIns="0" rtlCol="0" anchor="ctr"/>
          <a:lstStyle/>
          <a:p>
            <a:pPr indent="0" marL="0">
              <a:buNone/>
            </a:pPr>
            <a:r>
              <a:rPr lang="en-US" sz="1800" b="1" dirty="0">
                <a:solidFill>
                  <a:srgbClr val="4472C4"/>
                </a:solidFill>
              </a:rPr>
              <a:t>Lecture slides say</a:t>
            </a:r>
            <a:endParaRPr lang="en-US" sz="1800" dirty="0"/>
          </a:p>
        </p:txBody>
      </p:sp>
      <p:sp>
        <p:nvSpPr>
          <p:cNvPr id="11" name="Lecture slides say body"/>
          <p:cNvSpPr txBox="1"/>
          <p:nvPr/>
        </p:nvSpPr>
        <p:spPr>
          <a:xfrm>
            <a:off x="777240" y="2075688"/>
            <a:ext cx="4907128" cy="1143000"/>
          </a:xfrm>
          <a:prstGeom prst="rect">
            <a:avLst/>
          </a:prstGeom>
          <a:noFill/>
          <a:ln/>
        </p:spPr>
        <p:txBody>
          <a:bodyPr wrap="square" lIns="0" tIns="0" rIns="0" bIns="0" rtlCol="0" anchor="t"/>
          <a:lstStyle/>
          <a:p>
            <a:pPr marL="228600" indent="-228600">
              <a:spcAft>
                <a:spcPts val="800"/>
              </a:spcAft>
              <a:buSzPct val="100000"/>
              <a:buChar char="•"/>
            </a:pPr>
            <a:r>
              <a:rPr lang="en-US" sz="1800" dirty="0">
                <a:solidFill>
                  <a:srgbClr val="1F1F1F"/>
                </a:solidFill>
              </a:rPr>
              <a:t>Best started within 24 hours of flare onset.</a:t>
            </a:r>
            <a:r>
              <a:rPr lang="en-US" sz="1300" dirty="0">
                <a:solidFill>
                  <a:srgbClr val="666666"/>
                </a:solidFill>
              </a:rPr>
              <a:t>  S11</a:t>
            </a:r>
            <a:endParaRPr lang="en-US" sz="1800" dirty="0"/>
          </a:p>
        </p:txBody>
      </p:sp>
      <p:sp>
        <p:nvSpPr>
          <p:cNvPr id="12" name="Textbook says card"/>
          <p:cNvSpPr/>
          <p:nvPr/>
        </p:nvSpPr>
        <p:spPr>
          <a:xfrm>
            <a:off x="6278728" y="1325880"/>
            <a:ext cx="5364328" cy="2011680"/>
          </a:xfrm>
          <a:prstGeom prst="roundRect">
            <a:avLst>
              <a:gd name="adj" fmla="val 5455"/>
            </a:avLst>
          </a:prstGeom>
          <a:solidFill>
            <a:srgbClr val="F2F4F7"/>
          </a:solidFill>
          <a:ln w="12700">
            <a:solidFill>
              <a:srgbClr val="F2F4F7"/>
            </a:solidFill>
            <a:prstDash val="solid"/>
          </a:ln>
        </p:spPr>
      </p:sp>
      <p:sp>
        <p:nvSpPr>
          <p:cNvPr id="13" name="Textbook says icon circle"/>
          <p:cNvSpPr/>
          <p:nvPr/>
        </p:nvSpPr>
        <p:spPr>
          <a:xfrm>
            <a:off x="6507328" y="1508760"/>
            <a:ext cx="438912" cy="438912"/>
          </a:xfrm>
          <a:prstGeom prst="ellipse">
            <a:avLst/>
          </a:prstGeom>
          <a:solidFill>
            <a:srgbClr val="B07D00"/>
          </a:solidFill>
          <a:ln w="12700">
            <a:solidFill>
              <a:srgbClr val="B07D00"/>
            </a:solidFill>
            <a:prstDash val="solid"/>
          </a:ln>
        </p:spPr>
      </p:sp>
      <p:pic>
        <p:nvPicPr>
          <p:cNvPr id="14" name="Textbook says icon" descr="preencoded.png">    </p:cNvPr>
          <p:cNvPicPr>
            <a:picLocks noChangeAspect="1"/>
          </p:cNvPicPr>
          <p:nvPr/>
        </p:nvPicPr>
        <p:blipFill>
          <a:blip r:embed="rId2"/>
          <a:stretch>
            <a:fillRect/>
          </a:stretch>
        </p:blipFill>
        <p:spPr>
          <a:xfrm>
            <a:off x="6607912" y="1609344"/>
            <a:ext cx="237744" cy="237744"/>
          </a:xfrm>
          <a:prstGeom prst="rect">
            <a:avLst/>
          </a:prstGeom>
        </p:spPr>
      </p:pic>
      <p:sp>
        <p:nvSpPr>
          <p:cNvPr id="15" name="Textbook says heading"/>
          <p:cNvSpPr txBox="1"/>
          <p:nvPr/>
        </p:nvSpPr>
        <p:spPr>
          <a:xfrm>
            <a:off x="7083400" y="1508760"/>
            <a:ext cx="4358488" cy="438912"/>
          </a:xfrm>
          <a:prstGeom prst="rect">
            <a:avLst/>
          </a:prstGeom>
          <a:noFill/>
          <a:ln/>
        </p:spPr>
        <p:txBody>
          <a:bodyPr wrap="square" lIns="0" tIns="0" rIns="0" bIns="0" rtlCol="0" anchor="ctr"/>
          <a:lstStyle/>
          <a:p>
            <a:pPr indent="0" marL="0">
              <a:buNone/>
            </a:pPr>
            <a:r>
              <a:rPr lang="en-US" sz="1800" b="1" dirty="0">
                <a:solidFill>
                  <a:srgbClr val="B07D00"/>
                </a:solidFill>
              </a:rPr>
              <a:t>Textbook says</a:t>
            </a:r>
            <a:endParaRPr lang="en-US" sz="1800" dirty="0"/>
          </a:p>
        </p:txBody>
      </p:sp>
      <p:sp>
        <p:nvSpPr>
          <p:cNvPr id="16" name="Textbook says body"/>
          <p:cNvSpPr txBox="1"/>
          <p:nvPr/>
        </p:nvSpPr>
        <p:spPr>
          <a:xfrm>
            <a:off x="6507328" y="2075688"/>
            <a:ext cx="4907128" cy="1143000"/>
          </a:xfrm>
          <a:prstGeom prst="rect">
            <a:avLst/>
          </a:prstGeom>
          <a:noFill/>
          <a:ln/>
        </p:spPr>
        <p:txBody>
          <a:bodyPr wrap="square" lIns="0" tIns="0" rIns="0" bIns="0" rtlCol="0" anchor="t"/>
          <a:lstStyle/>
          <a:p>
            <a:pPr marL="228600" indent="-228600">
              <a:spcAft>
                <a:spcPts val="800"/>
              </a:spcAft>
              <a:buSzPct val="100000"/>
              <a:buChar char="•"/>
            </a:pPr>
            <a:r>
              <a:rPr lang="en-US" sz="1400" b="1" dirty="0">
                <a:solidFill>
                  <a:srgbClr val="000000"/>
                </a:solidFill>
                <a:highlight>
                  <a:srgbClr val="FFC000"/>
                </a:highlight>
              </a:rPr>
              <a:t> TB </a:t>
            </a:r>
            <a:r>
              <a:rPr lang="en-US" sz="1800" dirty="0">
                <a:solidFill>
                  <a:srgbClr val="000000"/>
                </a:solidFill>
              </a:rPr>
              <a:t> </a:t>
            </a:r>
            <a:r>
              <a:rPr lang="en-US" sz="1800" dirty="0">
                <a:solidFill>
                  <a:srgbClr val="1F1F1F"/>
                </a:solidFill>
              </a:rPr>
              <a:t>Guidelines suggest giving colchicine within 36 hours of an attack; efficacy falls after that.</a:t>
            </a:r>
            <a:r>
              <a:rPr lang="en-US" sz="1300" dirty="0">
                <a:solidFill>
                  <a:srgbClr val="666666"/>
                </a:solidFill>
              </a:rPr>
              <a:t>  p. 696</a:t>
            </a:r>
            <a:endParaRPr lang="en-US" sz="14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Kicker"/>
          <p:cNvSpPr txBox="1"/>
          <p:nvPr/>
        </p:nvSpPr>
        <p:spPr>
          <a:xfrm>
            <a:off x="548640" y="292608"/>
            <a:ext cx="8076895" cy="274320"/>
          </a:xfrm>
          <a:prstGeom prst="rect">
            <a:avLst/>
          </a:prstGeom>
          <a:noFill/>
          <a:ln/>
        </p:spPr>
        <p:txBody>
          <a:bodyPr wrap="square" lIns="0" tIns="0" rIns="0" bIns="0" rtlCol="0" anchor="ctr"/>
          <a:lstStyle/>
          <a:p>
            <a:pPr indent="0" marL="0">
              <a:buNone/>
            </a:pPr>
            <a:r>
              <a:rPr lang="en-US" sz="1200" b="1" spc="100" kern="0" dirty="0">
                <a:solidFill>
                  <a:srgbClr val="4472C4"/>
                </a:solidFill>
              </a:rPr>
              <a:t>GOUT: ACUTE FLARES &amp; URATE-LOWERING THERAPY</a:t>
            </a:r>
            <a:endParaRPr lang="en-US" sz="1200" dirty="0"/>
          </a:p>
        </p:txBody>
      </p:sp>
      <p:sp>
        <p:nvSpPr>
          <p:cNvPr id="3" name="Title"/>
          <p:cNvSpPr txBox="1"/>
          <p:nvPr/>
        </p:nvSpPr>
        <p:spPr>
          <a:xfrm>
            <a:off x="548640" y="566928"/>
            <a:ext cx="8076895" cy="713232"/>
          </a:xfrm>
          <a:prstGeom prst="rect">
            <a:avLst/>
          </a:prstGeom>
          <a:noFill/>
          <a:ln/>
        </p:spPr>
        <p:txBody>
          <a:bodyPr wrap="square" lIns="0" tIns="0" rIns="0" bIns="0" rtlCol="0" anchor="t"/>
          <a:lstStyle/>
          <a:p>
            <a:pPr indent="0" marL="0">
              <a:buNone/>
            </a:pPr>
            <a:r>
              <a:rPr lang="en-US" sz="2700" b="1" dirty="0">
                <a:solidFill>
                  <a:srgbClr val="1F1F1F"/>
                </a:solidFill>
                <a:latin typeface="Calibri" pitchFamily="34" charset="0"/>
                <a:ea typeface="Calibri" pitchFamily="34" charset="-122"/>
                <a:cs typeface="Calibri" pitchFamily="34" charset="-120"/>
              </a:rPr>
              <a:t>Compare: Acute flare vs. chronic urate-lowering therapy</a:t>
            </a:r>
            <a:endParaRPr lang="en-US" sz="2700" dirty="0"/>
          </a:p>
        </p:txBody>
      </p:sp>
      <p:sp>
        <p:nvSpPr>
          <p:cNvPr id="4" name="Objective chip"/>
          <p:cNvSpPr/>
          <p:nvPr/>
        </p:nvSpPr>
        <p:spPr>
          <a:xfrm>
            <a:off x="8899855" y="365760"/>
            <a:ext cx="2743200" cy="384048"/>
          </a:xfrm>
          <a:prstGeom prst="roundRect">
            <a:avLst>
              <a:gd name="adj" fmla="val 35714"/>
            </a:avLst>
          </a:prstGeom>
          <a:solidFill>
            <a:srgbClr val="E3EBF8"/>
          </a:solidFill>
          <a:ln/>
        </p:spPr>
        <p:txBody>
          <a:bodyPr wrap="square" lIns="25400" tIns="25400" rIns="25400" bIns="25400" rtlCol="0" anchor="ctr"/>
          <a:lstStyle/>
          <a:p>
            <a:pPr algn="ctr" indent="0" marL="0">
              <a:buNone/>
            </a:pPr>
            <a:r>
              <a:rPr lang="en-US" sz="800" b="1" dirty="0">
                <a:solidFill>
                  <a:srgbClr val="2F4F8A"/>
                </a:solidFill>
              </a:rPr>
              <a:t>Objectives: SO1 · SO4 · IO2.1 · IO2.2 · IO2.3 · IO2.4 · IO2.5</a:t>
            </a:r>
            <a:endParaRPr lang="en-US" sz="800" dirty="0"/>
          </a:p>
        </p:txBody>
      </p:sp>
      <p:sp>
        <p:nvSpPr>
          <p:cNvPr id="5" name="Footer"/>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1000" dirty="0">
                <a:solidFill>
                  <a:srgbClr val="666666"/>
                </a:solidFill>
              </a:rPr>
              <a:t>L04 · Musculoskeletal Pharmacology — Session 2</a:t>
            </a:r>
            <a:endParaRPr lang="en-US" sz="1000" dirty="0"/>
          </a:p>
        </p:txBody>
      </p:sp>
      <p:sp>
        <p:nvSpPr>
          <p:cNvPr id="6" name="Slide number"/>
          <p:cNvSpPr txBox="1"/>
          <p:nvPr/>
        </p:nvSpPr>
        <p:spPr>
          <a:xfrm>
            <a:off x="10728655" y="6419088"/>
            <a:ext cx="914400" cy="274320"/>
          </a:xfrm>
          <a:prstGeom prst="rect">
            <a:avLst/>
          </a:prstGeom>
          <a:noFill/>
          <a:ln/>
        </p:spPr>
        <p:txBody>
          <a:bodyPr wrap="square" lIns="0" tIns="0" rIns="0" bIns="0" rtlCol="0" anchor="ctr"/>
          <a:lstStyle/>
          <a:p>
            <a:pPr algn="r" indent="0" marL="0">
              <a:buNone/>
            </a:pPr>
            <a:r>
              <a:rPr lang="en-US" sz="1000" dirty="0">
                <a:solidFill>
                  <a:srgbClr val="666666"/>
                </a:solidFill>
              </a:rPr>
              <a:t>26</a:t>
            </a:r>
            <a:endParaRPr lang="en-US" sz="1000" dirty="0"/>
          </a:p>
        </p:txBody>
      </p:sp>
      <p:graphicFrame>
        <p:nvGraphicFramePr>
          <p:cNvPr id="27" name="Comparison table"/>
          <p:cNvGraphicFramePr>
            <a:graphicFrameLocks noGrp="1"/>
          </p:cNvGraphicFramePr>
          <p:nvPr>
            <p:extLst>
              <p:ext uri="{D42A27DB-BD31-4B8C-83A1-F6EECF244321}">
                <p14:modId xmlns:p14="http://schemas.microsoft.com/office/powerpoint/2010/main" val="1579011935"/>
              </p:ext>
            </p:extLst>
          </p:nvPr>
        </p:nvGraphicFramePr>
        <p:xfrm>
          <a:off x="548640" y="1325880"/>
          <a:ext cx="11094415" cy="914400"/>
        </p:xfrm>
        <a:graphic>
          <a:graphicData uri="http://schemas.openxmlformats.org/drawingml/2006/table">
            <a:tbl>
              <a:tblPr/>
              <a:tblGrid>
                <a:gridCol w="2377440"/>
                <a:gridCol w="4358488"/>
                <a:gridCol w="4358488"/>
              </a:tblGrid>
              <a:tr h="0">
                <a:tc>
                  <a:txBody>
                    <a:bodyPr/>
                    <a:lstStyle/>
                    <a:p>
                      <a:pPr indent="0" marL="0">
                        <a:buNone/>
                      </a:pPr>
                      <a:endParaRPr lang="en-US" sz="16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4472C4"/>
                    </a:solidFill>
                  </a:tcPr>
                </a:tc>
                <a:tc>
                  <a:txBody>
                    <a:bodyPr/>
                    <a:lstStyle/>
                    <a:p>
                      <a:pPr indent="0" marL="0">
                        <a:buNone/>
                      </a:pPr>
                      <a:r>
                        <a:rPr lang="en-US" sz="1600" b="1" dirty="0">
                          <a:solidFill>
                            <a:srgbClr val="FFFFFF"/>
                          </a:solidFill>
                        </a:rPr>
                        <a:t>Acute flare</a:t>
                      </a:r>
                      <a:endParaRPr lang="en-US" sz="16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4472C4"/>
                    </a:solidFill>
                  </a:tcPr>
                </a:tc>
                <a:tc>
                  <a:txBody>
                    <a:bodyPr/>
                    <a:lstStyle/>
                    <a:p>
                      <a:pPr indent="0" marL="0">
                        <a:buNone/>
                      </a:pPr>
                      <a:r>
                        <a:rPr lang="en-US" sz="1600" b="1" dirty="0">
                          <a:solidFill>
                            <a:srgbClr val="FFFFFF"/>
                          </a:solidFill>
                        </a:rPr>
                        <a:t>Chronic management</a:t>
                      </a:r>
                      <a:endParaRPr lang="en-US" sz="16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4472C4"/>
                    </a:solidFill>
                  </a:tcPr>
                </a:tc>
              </a:tr>
              <a:tr h="0">
                <a:tc>
                  <a:txBody>
                    <a:bodyPr/>
                    <a:lstStyle/>
                    <a:p>
                      <a:pPr indent="0" marL="0">
                        <a:buNone/>
                      </a:pPr>
                      <a:r>
                        <a:rPr lang="en-US" sz="1600" b="1" dirty="0">
                          <a:solidFill>
                            <a:srgbClr val="1F1F1F"/>
                          </a:solidFill>
                        </a:rPr>
                        <a:t>Goal</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2F4F7"/>
                    </a:solidFill>
                  </a:tcPr>
                </a:tc>
                <a:tc>
                  <a:txBody>
                    <a:bodyPr/>
                    <a:lstStyle/>
                    <a:p>
                      <a:pPr indent="0" marL="0">
                        <a:buNone/>
                      </a:pPr>
                      <a:r>
                        <a:rPr lang="en-US" sz="1600" dirty="0">
                          <a:solidFill>
                            <a:srgbClr val="1F1F1F"/>
                          </a:solidFill>
                        </a:rPr>
                        <a:t>Control pain and inflammation </a:t>
                      </a:r>
                      <a:r>
                        <a:rPr lang="en-US" sz="1600" b="1" dirty="0">
                          <a:solidFill>
                            <a:srgbClr val="1F1F1F"/>
                          </a:solidFill>
                        </a:rPr>
                        <a:t>now</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2F4F7"/>
                    </a:solidFill>
                  </a:tcPr>
                </a:tc>
                <a:tc>
                  <a:txBody>
                    <a:bodyPr/>
                    <a:lstStyle/>
                    <a:p>
                      <a:pPr indent="0" marL="0">
                        <a:buNone/>
                      </a:pPr>
                      <a:r>
                        <a:rPr lang="en-US" sz="1600" dirty="0">
                          <a:solidFill>
                            <a:srgbClr val="1F1F1F"/>
                          </a:solidFill>
                        </a:rPr>
                        <a:t>Lower serum uric acid to </a:t>
                      </a:r>
                      <a:r>
                        <a:rPr lang="en-US" sz="1600" b="1" dirty="0">
                          <a:solidFill>
                            <a:srgbClr val="1F1F1F"/>
                          </a:solidFill>
                        </a:rPr>
                        <a:t>prevent</a:t>
                      </a:r>
                      <a:r>
                        <a:rPr lang="en-US" sz="1600" dirty="0">
                          <a:solidFill>
                            <a:srgbClr val="1F1F1F"/>
                          </a:solidFill>
                        </a:rPr>
                        <a:t> future flares</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2F4F7"/>
                    </a:solidFill>
                  </a:tcPr>
                </a:tc>
              </a:tr>
              <a:tr h="0">
                <a:tc>
                  <a:txBody>
                    <a:bodyPr/>
                    <a:lstStyle/>
                    <a:p>
                      <a:pPr indent="0" marL="0">
                        <a:buNone/>
                      </a:pPr>
                      <a:r>
                        <a:rPr lang="en-US" sz="1600" b="1" dirty="0">
                          <a:solidFill>
                            <a:srgbClr val="1F1F1F"/>
                          </a:solidFill>
                        </a:rPr>
                        <a:t>Agents</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FFFFF"/>
                    </a:solidFill>
                  </a:tcPr>
                </a:tc>
                <a:tc>
                  <a:txBody>
                    <a:bodyPr/>
                    <a:lstStyle/>
                    <a:p>
                      <a:pPr indent="0" marL="0">
                        <a:buNone/>
                      </a:pPr>
                      <a:r>
                        <a:rPr lang="en-US" sz="1600" dirty="0">
                          <a:solidFill>
                            <a:srgbClr val="1F1F1F"/>
                          </a:solidFill>
                        </a:rPr>
                        <a:t>Colchicine, NSAIDs, corticosteroids</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FFFFF"/>
                    </a:solidFill>
                  </a:tcPr>
                </a:tc>
                <a:tc>
                  <a:txBody>
                    <a:bodyPr/>
                    <a:lstStyle/>
                    <a:p>
                      <a:pPr indent="0" marL="0">
                        <a:buNone/>
                      </a:pPr>
                      <a:r>
                        <a:rPr lang="en-US" sz="1600" dirty="0">
                          <a:solidFill>
                            <a:srgbClr val="1F1F1F"/>
                          </a:solidFill>
                        </a:rPr>
                        <a:t>Allopurinol, febuxostat (↓ production); probenecid (↑ excretion)</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FFFFF"/>
                    </a:solidFill>
                  </a:tcPr>
                </a:tc>
              </a:tr>
              <a:tr h="0">
                <a:tc>
                  <a:txBody>
                    <a:bodyPr/>
                    <a:lstStyle/>
                    <a:p>
                      <a:pPr indent="0" marL="0">
                        <a:buNone/>
                      </a:pPr>
                      <a:r>
                        <a:rPr lang="en-US" sz="1600" b="1" dirty="0">
                          <a:solidFill>
                            <a:srgbClr val="1F1F1F"/>
                          </a:solidFill>
                        </a:rPr>
                        <a:t>When</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2F4F7"/>
                    </a:solidFill>
                  </a:tcPr>
                </a:tc>
                <a:tc>
                  <a:txBody>
                    <a:bodyPr/>
                    <a:lstStyle/>
                    <a:p>
                      <a:pPr indent="0" marL="0">
                        <a:buNone/>
                      </a:pPr>
                      <a:r>
                        <a:rPr lang="en-US" sz="1600" dirty="0">
                          <a:solidFill>
                            <a:srgbClr val="1F1F1F"/>
                          </a:solidFill>
                        </a:rPr>
                        <a:t>At once — colchicine best within 24 h</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2F4F7"/>
                    </a:solidFill>
                  </a:tcPr>
                </a:tc>
                <a:tc>
                  <a:txBody>
                    <a:bodyPr/>
                    <a:lstStyle/>
                    <a:p>
                      <a:pPr indent="0" marL="0">
                        <a:buNone/>
                      </a:pPr>
                      <a:r>
                        <a:rPr lang="en-US" sz="1600" dirty="0">
                          <a:solidFill>
                            <a:srgbClr val="1F1F1F"/>
                          </a:solidFill>
                        </a:rPr>
                        <a:t>Only after the flare resolves; start low, titrate to a urate target</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2F4F7"/>
                    </a:solidFill>
                  </a:tcPr>
                </a:tc>
              </a:tr>
              <a:tr h="0">
                <a:tc>
                  <a:txBody>
                    <a:bodyPr/>
                    <a:lstStyle/>
                    <a:p>
                      <a:pPr indent="0" marL="0">
                        <a:buNone/>
                      </a:pPr>
                      <a:r>
                        <a:rPr lang="en-US" sz="1600" b="1" dirty="0">
                          <a:solidFill>
                            <a:srgbClr val="1F1F1F"/>
                          </a:solidFill>
                        </a:rPr>
                        <a:t>Trap</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FFFFF"/>
                    </a:solidFill>
                  </a:tcPr>
                </a:tc>
                <a:tc>
                  <a:txBody>
                    <a:bodyPr/>
                    <a:lstStyle/>
                    <a:p>
                      <a:pPr indent="0" marL="0">
                        <a:buNone/>
                      </a:pPr>
                      <a:r>
                        <a:rPr lang="en-US" sz="1600" dirty="0">
                          <a:solidFill>
                            <a:srgbClr val="1F1F1F"/>
                          </a:solidFill>
                        </a:rPr>
                        <a:t>ULT is not a flare treatment</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FFFFF"/>
                    </a:solidFill>
                  </a:tcPr>
                </a:tc>
                <a:tc>
                  <a:txBody>
                    <a:bodyPr/>
                    <a:lstStyle/>
                    <a:p>
                      <a:pPr indent="0" marL="0">
                        <a:buNone/>
                      </a:pPr>
                      <a:r>
                        <a:rPr lang="en-US" sz="1600" dirty="0">
                          <a:solidFill>
                            <a:srgbClr val="1F1F1F"/>
                          </a:solidFill>
                        </a:rPr>
                        <a:t>Starting/changing ULT in a flare can prolong it; cover with prophylaxis 3–6 months</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FFFFF"/>
                    </a:solidFill>
                  </a:tcPr>
                </a:tc>
              </a:tr>
            </a:tbl>
          </a:graphicData>
        </a:graphic>
      </p:graphicFrame>
      <p:sp>
        <p:nvSpPr>
          <p:cNvPr id="8" name="Table sources"/>
          <p:cNvSpPr txBox="1"/>
          <p:nvPr/>
        </p:nvSpPr>
        <p:spPr>
          <a:xfrm>
            <a:off x="548640" y="4086352"/>
            <a:ext cx="11094415" cy="274320"/>
          </a:xfrm>
          <a:prstGeom prst="rect">
            <a:avLst/>
          </a:prstGeom>
          <a:noFill/>
          <a:ln/>
        </p:spPr>
        <p:txBody>
          <a:bodyPr wrap="square" lIns="0" tIns="0" rIns="0" bIns="0" rtlCol="0" anchor="ctr"/>
          <a:lstStyle/>
          <a:p>
            <a:pPr indent="0" marL="0">
              <a:buNone/>
            </a:pPr>
            <a:r>
              <a:rPr lang="en-US" sz="1100" dirty="0">
                <a:solidFill>
                  <a:srgbClr val="666666"/>
                </a:solidFill>
              </a:rPr>
              <a:t>Focus: what tells these apart.  Sources: S9; S11; S13; SG U2-R10</a:t>
            </a:r>
            <a:endParaRPr lang="en-US" sz="11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Kicker"/>
          <p:cNvSpPr txBox="1"/>
          <p:nvPr/>
        </p:nvSpPr>
        <p:spPr>
          <a:xfrm>
            <a:off x="548640" y="292608"/>
            <a:ext cx="8076895" cy="274320"/>
          </a:xfrm>
          <a:prstGeom prst="rect">
            <a:avLst/>
          </a:prstGeom>
          <a:noFill/>
          <a:ln/>
        </p:spPr>
        <p:txBody>
          <a:bodyPr wrap="square" lIns="0" tIns="0" rIns="0" bIns="0" rtlCol="0" anchor="ctr"/>
          <a:lstStyle/>
          <a:p>
            <a:pPr indent="0" marL="0">
              <a:buNone/>
            </a:pPr>
            <a:r>
              <a:rPr lang="en-US" sz="1200" b="1" spc="100" kern="0" dirty="0">
                <a:solidFill>
                  <a:srgbClr val="4472C4"/>
                </a:solidFill>
              </a:rPr>
              <a:t>GOUT: ACUTE FLARES &amp; URATE-LOWERING THERAPY</a:t>
            </a:r>
            <a:endParaRPr lang="en-US" sz="1200" dirty="0"/>
          </a:p>
        </p:txBody>
      </p:sp>
      <p:sp>
        <p:nvSpPr>
          <p:cNvPr id="3" name="Title"/>
          <p:cNvSpPr txBox="1"/>
          <p:nvPr/>
        </p:nvSpPr>
        <p:spPr>
          <a:xfrm>
            <a:off x="548640" y="566928"/>
            <a:ext cx="8076895" cy="713232"/>
          </a:xfrm>
          <a:prstGeom prst="rect">
            <a:avLst/>
          </a:prstGeom>
          <a:noFill/>
          <a:ln/>
        </p:spPr>
        <p:txBody>
          <a:bodyPr wrap="square" lIns="0" tIns="0" rIns="0" bIns="0" rtlCol="0" anchor="t"/>
          <a:lstStyle/>
          <a:p>
            <a:pPr indent="0" marL="0">
              <a:buNone/>
            </a:pPr>
            <a:r>
              <a:rPr lang="en-US" sz="3000" b="1" dirty="0">
                <a:solidFill>
                  <a:srgbClr val="1F1F1F"/>
                </a:solidFill>
                <a:latin typeface="Calibri" pitchFamily="34" charset="0"/>
                <a:ea typeface="Calibri" pitchFamily="34" charset="-122"/>
                <a:cs typeface="Calibri" pitchFamily="34" charset="-120"/>
              </a:rPr>
              <a:t>Compare: The gout drugs side by side</a:t>
            </a:r>
            <a:endParaRPr lang="en-US" sz="3000" dirty="0"/>
          </a:p>
        </p:txBody>
      </p:sp>
      <p:sp>
        <p:nvSpPr>
          <p:cNvPr id="4" name="Objective chip"/>
          <p:cNvSpPr/>
          <p:nvPr/>
        </p:nvSpPr>
        <p:spPr>
          <a:xfrm>
            <a:off x="8899855" y="365760"/>
            <a:ext cx="2743200" cy="384048"/>
          </a:xfrm>
          <a:prstGeom prst="roundRect">
            <a:avLst>
              <a:gd name="adj" fmla="val 35714"/>
            </a:avLst>
          </a:prstGeom>
          <a:solidFill>
            <a:srgbClr val="E3EBF8"/>
          </a:solidFill>
          <a:ln/>
        </p:spPr>
        <p:txBody>
          <a:bodyPr wrap="square" lIns="25400" tIns="25400" rIns="25400" bIns="25400" rtlCol="0" anchor="ctr"/>
          <a:lstStyle/>
          <a:p>
            <a:pPr algn="ctr" indent="0" marL="0">
              <a:buNone/>
            </a:pPr>
            <a:r>
              <a:rPr lang="en-US" sz="800" b="1" dirty="0">
                <a:solidFill>
                  <a:srgbClr val="2F4F8A"/>
                </a:solidFill>
              </a:rPr>
              <a:t>Objectives: SO1 · SO4 · IO2.1 · IO2.2 · IO2.3 · IO2.4 · IO2.5</a:t>
            </a:r>
            <a:endParaRPr lang="en-US" sz="800" dirty="0"/>
          </a:p>
        </p:txBody>
      </p:sp>
      <p:sp>
        <p:nvSpPr>
          <p:cNvPr id="5" name="Footer"/>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1000" dirty="0">
                <a:solidFill>
                  <a:srgbClr val="666666"/>
                </a:solidFill>
              </a:rPr>
              <a:t>L04 · Musculoskeletal Pharmacology — Session 2</a:t>
            </a:r>
            <a:endParaRPr lang="en-US" sz="1000" dirty="0"/>
          </a:p>
        </p:txBody>
      </p:sp>
      <p:sp>
        <p:nvSpPr>
          <p:cNvPr id="6" name="Slide number"/>
          <p:cNvSpPr txBox="1"/>
          <p:nvPr/>
        </p:nvSpPr>
        <p:spPr>
          <a:xfrm>
            <a:off x="10728655" y="6419088"/>
            <a:ext cx="914400" cy="274320"/>
          </a:xfrm>
          <a:prstGeom prst="rect">
            <a:avLst/>
          </a:prstGeom>
          <a:noFill/>
          <a:ln/>
        </p:spPr>
        <p:txBody>
          <a:bodyPr wrap="square" lIns="0" tIns="0" rIns="0" bIns="0" rtlCol="0" anchor="ctr"/>
          <a:lstStyle/>
          <a:p>
            <a:pPr algn="r" indent="0" marL="0">
              <a:buNone/>
            </a:pPr>
            <a:r>
              <a:rPr lang="en-US" sz="1000" dirty="0">
                <a:solidFill>
                  <a:srgbClr val="666666"/>
                </a:solidFill>
              </a:rPr>
              <a:t>27</a:t>
            </a:r>
            <a:endParaRPr lang="en-US" sz="1000" dirty="0"/>
          </a:p>
        </p:txBody>
      </p:sp>
      <p:graphicFrame>
        <p:nvGraphicFramePr>
          <p:cNvPr id="28" name="Comparison table"/>
          <p:cNvGraphicFramePr>
            <a:graphicFrameLocks noGrp="1"/>
          </p:cNvGraphicFramePr>
          <p:nvPr>
            <p:extLst>
              <p:ext uri="{D42A27DB-BD31-4B8C-83A1-F6EECF244321}">
                <p14:modId xmlns:p14="http://schemas.microsoft.com/office/powerpoint/2010/main" val="1579011935"/>
              </p:ext>
            </p:extLst>
          </p:nvPr>
        </p:nvGraphicFramePr>
        <p:xfrm>
          <a:off x="548640" y="1325880"/>
          <a:ext cx="11094415" cy="914400"/>
        </p:xfrm>
        <a:graphic>
          <a:graphicData uri="http://schemas.openxmlformats.org/drawingml/2006/table">
            <a:tbl>
              <a:tblPr/>
              <a:tblGrid>
                <a:gridCol w="2377440"/>
                <a:gridCol w="4358488"/>
                <a:gridCol w="4358488"/>
              </a:tblGrid>
              <a:tr h="0">
                <a:tc>
                  <a:txBody>
                    <a:bodyPr/>
                    <a:lstStyle/>
                    <a:p>
                      <a:pPr indent="0" marL="0">
                        <a:buNone/>
                      </a:pPr>
                      <a:r>
                        <a:rPr lang="en-US" sz="1600" b="1" dirty="0">
                          <a:solidFill>
                            <a:srgbClr val="FFFFFF"/>
                          </a:solidFill>
                        </a:rPr>
                        <a:t>Drug</a:t>
                      </a:r>
                      <a:endParaRPr lang="en-US" sz="16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4472C4"/>
                    </a:solidFill>
                  </a:tcPr>
                </a:tc>
                <a:tc>
                  <a:txBody>
                    <a:bodyPr/>
                    <a:lstStyle/>
                    <a:p>
                      <a:pPr indent="0" marL="0">
                        <a:buNone/>
                      </a:pPr>
                      <a:r>
                        <a:rPr lang="en-US" sz="1600" b="1" dirty="0">
                          <a:solidFill>
                            <a:srgbClr val="FFFFFF"/>
                          </a:solidFill>
                        </a:rPr>
                        <a:t>Mechanism</a:t>
                      </a:r>
                      <a:endParaRPr lang="en-US" sz="16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4472C4"/>
                    </a:solidFill>
                  </a:tcPr>
                </a:tc>
                <a:tc>
                  <a:txBody>
                    <a:bodyPr/>
                    <a:lstStyle/>
                    <a:p>
                      <a:pPr indent="0" marL="0">
                        <a:buNone/>
                      </a:pPr>
                      <a:r>
                        <a:rPr lang="en-US" sz="1600" b="1" dirty="0">
                          <a:solidFill>
                            <a:srgbClr val="FFFFFF"/>
                          </a:solidFill>
                        </a:rPr>
                        <a:t>Key safety point</a:t>
                      </a:r>
                      <a:endParaRPr lang="en-US" sz="16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4472C4"/>
                    </a:solidFill>
                  </a:tcPr>
                </a:tc>
              </a:tr>
              <a:tr h="0">
                <a:tc>
                  <a:txBody>
                    <a:bodyPr/>
                    <a:lstStyle/>
                    <a:p>
                      <a:pPr indent="0" marL="0">
                        <a:buNone/>
                      </a:pPr>
                      <a:r>
                        <a:rPr lang="en-US" sz="1600" b="1" dirty="0">
                          <a:solidFill>
                            <a:srgbClr val="1F1F1F"/>
                          </a:solidFill>
                        </a:rPr>
                        <a:t>Colchicine</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2F4F7"/>
                    </a:solidFill>
                  </a:tcPr>
                </a:tc>
                <a:tc>
                  <a:txBody>
                    <a:bodyPr/>
                    <a:lstStyle/>
                    <a:p>
                      <a:pPr indent="0" marL="0">
                        <a:buNone/>
                      </a:pPr>
                      <a:r>
                        <a:rPr lang="en-US" sz="1600" dirty="0">
                          <a:solidFill>
                            <a:srgbClr val="1F1F1F"/>
                          </a:solidFill>
                        </a:rPr>
                        <a:t>Disrupts neutrophil microtubules</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2F4F7"/>
                    </a:solidFill>
                  </a:tcPr>
                </a:tc>
                <a:tc>
                  <a:txBody>
                    <a:bodyPr/>
                    <a:lstStyle/>
                    <a:p>
                      <a:pPr indent="0" marL="0">
                        <a:buNone/>
                      </a:pPr>
                      <a:r>
                        <a:rPr lang="en-US" sz="1600" dirty="0">
                          <a:solidFill>
                            <a:srgbClr val="1F1F1F"/>
                          </a:solidFill>
                        </a:rPr>
                        <a:t>Narrow window; diarrhea dose-limiting; CYP3A4/P-gp inhibitors; renal/hepatic dosing</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2F4F7"/>
                    </a:solidFill>
                  </a:tcPr>
                </a:tc>
              </a:tr>
              <a:tr h="0">
                <a:tc>
                  <a:txBody>
                    <a:bodyPr/>
                    <a:lstStyle/>
                    <a:p>
                      <a:pPr indent="0" marL="0">
                        <a:buNone/>
                      </a:pPr>
                      <a:r>
                        <a:rPr lang="en-US" sz="1600" b="1" dirty="0">
                          <a:solidFill>
                            <a:srgbClr val="1F1F1F"/>
                          </a:solidFill>
                        </a:rPr>
                        <a:t>Allopurinol</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FFFFF"/>
                    </a:solidFill>
                  </a:tcPr>
                </a:tc>
                <a:tc>
                  <a:txBody>
                    <a:bodyPr/>
                    <a:lstStyle/>
                    <a:p>
                      <a:pPr indent="0" marL="0">
                        <a:buNone/>
                      </a:pPr>
                      <a:r>
                        <a:rPr lang="en-US" sz="1600" dirty="0">
                          <a:solidFill>
                            <a:srgbClr val="1F1F1F"/>
                          </a:solidFill>
                        </a:rPr>
                        <a:t>Xanthine oxidase inhibitor (via oxypurinol)</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FFFFF"/>
                    </a:solidFill>
                  </a:tcPr>
                </a:tc>
                <a:tc>
                  <a:txBody>
                    <a:bodyPr/>
                    <a:lstStyle/>
                    <a:p>
                      <a:pPr indent="0" marL="0">
                        <a:buNone/>
                      </a:pPr>
                      <a:r>
                        <a:rPr lang="en-US" sz="1600" dirty="0">
                          <a:solidFill>
                            <a:srgbClr val="1F1F1F"/>
                          </a:solidFill>
                        </a:rPr>
                        <a:t>HLA-B*58:01 hypersensitivity; renal dosing; ↓ dose with azathioprine/mercaptopurine</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FFFFF"/>
                    </a:solidFill>
                  </a:tcPr>
                </a:tc>
              </a:tr>
              <a:tr h="0">
                <a:tc>
                  <a:txBody>
                    <a:bodyPr/>
                    <a:lstStyle/>
                    <a:p>
                      <a:pPr indent="0" marL="0">
                        <a:buNone/>
                      </a:pPr>
                      <a:r>
                        <a:rPr lang="en-US" sz="1600" b="1" dirty="0">
                          <a:solidFill>
                            <a:srgbClr val="1F1F1F"/>
                          </a:solidFill>
                        </a:rPr>
                        <a:t>Febuxostat</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2F4F7"/>
                    </a:solidFill>
                  </a:tcPr>
                </a:tc>
                <a:tc>
                  <a:txBody>
                    <a:bodyPr/>
                    <a:lstStyle/>
                    <a:p>
                      <a:pPr indent="0" marL="0">
                        <a:buNone/>
                      </a:pPr>
                      <a:r>
                        <a:rPr lang="en-US" sz="1600" dirty="0">
                          <a:solidFill>
                            <a:srgbClr val="1F1F1F"/>
                          </a:solidFill>
                        </a:rPr>
                        <a:t>Xanthine oxidase inhibitor (different structure)</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2F4F7"/>
                    </a:solidFill>
                  </a:tcPr>
                </a:tc>
                <a:tc>
                  <a:txBody>
                    <a:bodyPr/>
                    <a:lstStyle/>
                    <a:p>
                      <a:pPr indent="0" marL="0">
                        <a:buNone/>
                      </a:pPr>
                      <a:r>
                        <a:rPr lang="en-US" sz="1600" dirty="0">
                          <a:solidFill>
                            <a:srgbClr val="1F1F1F"/>
                          </a:solidFill>
                        </a:rPr>
                        <a:t>Boxed warning: cardiovascular death</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2F4F7"/>
                    </a:solidFill>
                  </a:tcPr>
                </a:tc>
              </a:tr>
              <a:tr h="0">
                <a:tc>
                  <a:txBody>
                    <a:bodyPr/>
                    <a:lstStyle/>
                    <a:p>
                      <a:pPr indent="0" marL="0">
                        <a:buNone/>
                      </a:pPr>
                      <a:r>
                        <a:rPr lang="en-US" sz="1600" b="1" dirty="0">
                          <a:solidFill>
                            <a:srgbClr val="1F1F1F"/>
                          </a:solidFill>
                        </a:rPr>
                        <a:t>Probenecid</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FFFFF"/>
                    </a:solidFill>
                  </a:tcPr>
                </a:tc>
                <a:tc>
                  <a:txBody>
                    <a:bodyPr/>
                    <a:lstStyle/>
                    <a:p>
                      <a:pPr indent="0" marL="0">
                        <a:buNone/>
                      </a:pPr>
                      <a:r>
                        <a:rPr lang="en-US" sz="1600" dirty="0">
                          <a:solidFill>
                            <a:srgbClr val="1F1F1F"/>
                          </a:solidFill>
                        </a:rPr>
                        <a:t>Uricosuric: blocks URAT1 reabsorption</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FFFFF"/>
                    </a:solidFill>
                  </a:tcPr>
                </a:tc>
                <a:tc>
                  <a:txBody>
                    <a:bodyPr/>
                    <a:lstStyle/>
                    <a:p>
                      <a:pPr indent="0" marL="0">
                        <a:buNone/>
                      </a:pPr>
                      <a:r>
                        <a:rPr lang="en-US" sz="1600" dirty="0">
                          <a:solidFill>
                            <a:srgbClr val="1F1F1F"/>
                          </a:solidFill>
                        </a:rPr>
                        <a:t>Hydrate; avoid with uric acid stones or significant renal impairment</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FFFFF"/>
                    </a:solidFill>
                  </a:tcPr>
                </a:tc>
              </a:tr>
              <a:tr h="0">
                <a:tc>
                  <a:txBody>
                    <a:bodyPr/>
                    <a:lstStyle/>
                    <a:p>
                      <a:pPr indent="0" marL="0">
                        <a:buNone/>
                      </a:pPr>
                      <a:r>
                        <a:rPr lang="en-US" sz="1600" b="1" dirty="0">
                          <a:solidFill>
                            <a:srgbClr val="1F1F1F"/>
                          </a:solidFill>
                        </a:rPr>
                        <a:t>Pegloticase</a:t>
                      </a:r>
                      <a:r>
                        <a:rPr lang="en-US" sz="1600" b="1" dirty="0">
                          <a:solidFill>
                            <a:srgbClr val="1F1F1F"/>
                          </a:solidFill>
                        </a:rPr>
                        <a:t>, rasburicase</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2F4F7"/>
                    </a:solidFill>
                  </a:tcPr>
                </a:tc>
                <a:tc>
                  <a:txBody>
                    <a:bodyPr/>
                    <a:lstStyle/>
                    <a:p>
                      <a:pPr indent="0" marL="0">
                        <a:buNone/>
                      </a:pPr>
                      <a:r>
                        <a:rPr lang="en-US" sz="1600" dirty="0">
                          <a:solidFill>
                            <a:srgbClr val="1F1F1F"/>
                          </a:solidFill>
                        </a:rPr>
                        <a:t>Uricase: uric acid → allantoin</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2F4F7"/>
                    </a:solidFill>
                  </a:tcPr>
                </a:tc>
                <a:tc>
                  <a:txBody>
                    <a:bodyPr/>
                    <a:lstStyle/>
                    <a:p>
                      <a:pPr indent="0" marL="0">
                        <a:buNone/>
                      </a:pPr>
                      <a:r>
                        <a:rPr lang="en-US" sz="1600" dirty="0">
                          <a:solidFill>
                            <a:srgbClr val="1F1F1F"/>
                          </a:solidFill>
                        </a:rPr>
                        <a:t>G6PD deficiency (hemolysis); infusion reactions; antibodies</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2F4F7"/>
                    </a:solidFill>
                  </a:tcPr>
                </a:tc>
              </a:tr>
            </a:tbl>
          </a:graphicData>
        </a:graphic>
      </p:graphicFrame>
      <p:sp>
        <p:nvSpPr>
          <p:cNvPr id="8" name="Table sources"/>
          <p:cNvSpPr txBox="1"/>
          <p:nvPr/>
        </p:nvSpPr>
        <p:spPr>
          <a:xfrm>
            <a:off x="548640" y="4710176"/>
            <a:ext cx="11094415" cy="274320"/>
          </a:xfrm>
          <a:prstGeom prst="rect">
            <a:avLst/>
          </a:prstGeom>
          <a:noFill/>
          <a:ln/>
        </p:spPr>
        <p:txBody>
          <a:bodyPr wrap="square" lIns="0" tIns="0" rIns="0" bIns="0" rtlCol="0" anchor="ctr"/>
          <a:lstStyle/>
          <a:p>
            <a:pPr indent="0" marL="0">
              <a:buNone/>
            </a:pPr>
            <a:r>
              <a:rPr lang="en-US" sz="1100" dirty="0">
                <a:solidFill>
                  <a:srgbClr val="666666"/>
                </a:solidFill>
              </a:rPr>
              <a:t>Focus: what tells these apart.  Sources: S10–S15</a:t>
            </a:r>
            <a:endParaRPr lang="en-US" sz="11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Kicker"/>
          <p:cNvSpPr txBox="1"/>
          <p:nvPr/>
        </p:nvSpPr>
        <p:spPr>
          <a:xfrm>
            <a:off x="548640" y="292608"/>
            <a:ext cx="8076895" cy="274320"/>
          </a:xfrm>
          <a:prstGeom prst="rect">
            <a:avLst/>
          </a:prstGeom>
          <a:noFill/>
          <a:ln/>
        </p:spPr>
        <p:txBody>
          <a:bodyPr wrap="square" lIns="0" tIns="0" rIns="0" bIns="0" rtlCol="0" anchor="ctr"/>
          <a:lstStyle/>
          <a:p>
            <a:pPr indent="0" marL="0">
              <a:buNone/>
            </a:pPr>
            <a:r>
              <a:rPr lang="en-US" sz="1200" b="1" spc="100" kern="0" dirty="0">
                <a:solidFill>
                  <a:srgbClr val="4472C4"/>
                </a:solidFill>
              </a:rPr>
              <a:t>GOUT: ACUTE FLARES &amp; URATE-LOWERING THERAPY</a:t>
            </a:r>
            <a:endParaRPr lang="en-US" sz="1200" dirty="0"/>
          </a:p>
        </p:txBody>
      </p:sp>
      <p:sp>
        <p:nvSpPr>
          <p:cNvPr id="3" name="Title"/>
          <p:cNvSpPr txBox="1"/>
          <p:nvPr/>
        </p:nvSpPr>
        <p:spPr>
          <a:xfrm>
            <a:off x="548640" y="566928"/>
            <a:ext cx="8076895" cy="713232"/>
          </a:xfrm>
          <a:prstGeom prst="rect">
            <a:avLst/>
          </a:prstGeom>
          <a:noFill/>
          <a:ln/>
        </p:spPr>
        <p:txBody>
          <a:bodyPr wrap="square" lIns="0" tIns="0" rIns="0" bIns="0" rtlCol="0" anchor="t"/>
          <a:lstStyle/>
          <a:p>
            <a:pPr indent="0" marL="0">
              <a:buNone/>
            </a:pPr>
            <a:r>
              <a:rPr lang="en-US" sz="3000" b="1" dirty="0">
                <a:solidFill>
                  <a:srgbClr val="1F1F1F"/>
                </a:solidFill>
                <a:latin typeface="Calibri" pitchFamily="34" charset="0"/>
                <a:ea typeface="Calibri" pitchFamily="34" charset="-122"/>
                <a:cs typeface="Calibri" pitchFamily="34" charset="-120"/>
              </a:rPr>
              <a:t>Compare: Name clues: gout</a:t>
            </a:r>
            <a:endParaRPr lang="en-US" sz="3000" dirty="0"/>
          </a:p>
        </p:txBody>
      </p:sp>
      <p:sp>
        <p:nvSpPr>
          <p:cNvPr id="4" name="Objective chip"/>
          <p:cNvSpPr/>
          <p:nvPr/>
        </p:nvSpPr>
        <p:spPr>
          <a:xfrm>
            <a:off x="8899855" y="365760"/>
            <a:ext cx="2743200" cy="384048"/>
          </a:xfrm>
          <a:prstGeom prst="roundRect">
            <a:avLst>
              <a:gd name="adj" fmla="val 35714"/>
            </a:avLst>
          </a:prstGeom>
          <a:solidFill>
            <a:srgbClr val="E3EBF8"/>
          </a:solidFill>
          <a:ln/>
        </p:spPr>
        <p:txBody>
          <a:bodyPr wrap="square" lIns="25400" tIns="25400" rIns="25400" bIns="25400" rtlCol="0" anchor="ctr"/>
          <a:lstStyle/>
          <a:p>
            <a:pPr algn="ctr" indent="0" marL="0">
              <a:buNone/>
            </a:pPr>
            <a:r>
              <a:rPr lang="en-US" sz="800" b="1" dirty="0">
                <a:solidFill>
                  <a:srgbClr val="2F4F8A"/>
                </a:solidFill>
              </a:rPr>
              <a:t>Objectives: SO1 · SO4 · IO2.1 · IO2.2 · IO2.3 · IO2.4 · IO2.5</a:t>
            </a:r>
            <a:endParaRPr lang="en-US" sz="800" dirty="0"/>
          </a:p>
        </p:txBody>
      </p:sp>
      <p:sp>
        <p:nvSpPr>
          <p:cNvPr id="5" name="Footer"/>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1000" dirty="0">
                <a:solidFill>
                  <a:srgbClr val="666666"/>
                </a:solidFill>
              </a:rPr>
              <a:t>L04 · Musculoskeletal Pharmacology — Session 2</a:t>
            </a:r>
            <a:endParaRPr lang="en-US" sz="1000" dirty="0"/>
          </a:p>
        </p:txBody>
      </p:sp>
      <p:sp>
        <p:nvSpPr>
          <p:cNvPr id="6" name="Slide number"/>
          <p:cNvSpPr txBox="1"/>
          <p:nvPr/>
        </p:nvSpPr>
        <p:spPr>
          <a:xfrm>
            <a:off x="10728655" y="6419088"/>
            <a:ext cx="914400" cy="274320"/>
          </a:xfrm>
          <a:prstGeom prst="rect">
            <a:avLst/>
          </a:prstGeom>
          <a:noFill/>
          <a:ln/>
        </p:spPr>
        <p:txBody>
          <a:bodyPr wrap="square" lIns="0" tIns="0" rIns="0" bIns="0" rtlCol="0" anchor="ctr"/>
          <a:lstStyle/>
          <a:p>
            <a:pPr algn="r" indent="0" marL="0">
              <a:buNone/>
            </a:pPr>
            <a:r>
              <a:rPr lang="en-US" sz="1000" dirty="0">
                <a:solidFill>
                  <a:srgbClr val="666666"/>
                </a:solidFill>
              </a:rPr>
              <a:t>28</a:t>
            </a:r>
            <a:endParaRPr lang="en-US" sz="1000" dirty="0"/>
          </a:p>
        </p:txBody>
      </p:sp>
      <p:graphicFrame>
        <p:nvGraphicFramePr>
          <p:cNvPr id="29" name="Comparison table"/>
          <p:cNvGraphicFramePr>
            <a:graphicFrameLocks noGrp="1"/>
          </p:cNvGraphicFramePr>
          <p:nvPr>
            <p:extLst>
              <p:ext uri="{D42A27DB-BD31-4B8C-83A1-F6EECF244321}">
                <p14:modId xmlns:p14="http://schemas.microsoft.com/office/powerpoint/2010/main" val="1579011935"/>
              </p:ext>
            </p:extLst>
          </p:nvPr>
        </p:nvGraphicFramePr>
        <p:xfrm>
          <a:off x="548640" y="1325880"/>
          <a:ext cx="11094415" cy="914400"/>
        </p:xfrm>
        <a:graphic>
          <a:graphicData uri="http://schemas.openxmlformats.org/drawingml/2006/table">
            <a:tbl>
              <a:tblPr/>
              <a:tblGrid>
                <a:gridCol w="2377440"/>
                <a:gridCol w="4358488"/>
                <a:gridCol w="4358488"/>
              </a:tblGrid>
              <a:tr h="0">
                <a:tc>
                  <a:txBody>
                    <a:bodyPr/>
                    <a:lstStyle/>
                    <a:p>
                      <a:pPr indent="0" marL="0">
                        <a:buNone/>
                      </a:pPr>
                      <a:r>
                        <a:rPr lang="en-US" sz="1600" b="1" dirty="0">
                          <a:solidFill>
                            <a:srgbClr val="FFFFFF"/>
                          </a:solidFill>
                        </a:rPr>
                        <a:t>Name pattern</a:t>
                      </a:r>
                      <a:endParaRPr lang="en-US" sz="16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4472C4"/>
                    </a:solidFill>
                  </a:tcPr>
                </a:tc>
                <a:tc>
                  <a:txBody>
                    <a:bodyPr/>
                    <a:lstStyle/>
                    <a:p>
                      <a:pPr indent="0" marL="0">
                        <a:buNone/>
                      </a:pPr>
                      <a:r>
                        <a:rPr lang="en-US" sz="1600" b="1" dirty="0">
                          <a:solidFill>
                            <a:srgbClr val="FFFFFF"/>
                          </a:solidFill>
                        </a:rPr>
                        <a:t>Drug class</a:t>
                      </a:r>
                      <a:endParaRPr lang="en-US" sz="16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4472C4"/>
                    </a:solidFill>
                  </a:tcPr>
                </a:tc>
                <a:tc>
                  <a:txBody>
                    <a:bodyPr/>
                    <a:lstStyle/>
                    <a:p>
                      <a:pPr indent="0" marL="0">
                        <a:buNone/>
                      </a:pPr>
                      <a:r>
                        <a:rPr lang="en-US" sz="1600" b="1" dirty="0">
                          <a:solidFill>
                            <a:srgbClr val="FFFFFF"/>
                          </a:solidFill>
                        </a:rPr>
                        <a:t>Examples</a:t>
                      </a:r>
                      <a:endParaRPr lang="en-US" sz="16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4472C4"/>
                    </a:solidFill>
                  </a:tcPr>
                </a:tc>
              </a:tr>
              <a:tr h="0">
                <a:tc>
                  <a:txBody>
                    <a:bodyPr/>
                    <a:lstStyle/>
                    <a:p>
                      <a:pPr indent="0" marL="0">
                        <a:buNone/>
                      </a:pPr>
                      <a:r>
                        <a:rPr lang="en-US" sz="1600" b="1" dirty="0">
                          <a:solidFill>
                            <a:srgbClr val="1F1F1F"/>
                          </a:solidFill>
                        </a:rPr>
                        <a:t>-ostat</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2F4F7"/>
                    </a:solidFill>
                  </a:tcPr>
                </a:tc>
                <a:tc>
                  <a:txBody>
                    <a:bodyPr/>
                    <a:lstStyle/>
                    <a:p>
                      <a:pPr indent="0" marL="0">
                        <a:buNone/>
                      </a:pPr>
                      <a:r>
                        <a:rPr lang="en-US" sz="1600" dirty="0">
                          <a:solidFill>
                            <a:srgbClr val="1F1F1F"/>
                          </a:solidFill>
                        </a:rPr>
                        <a:t>Xanthine oxidase inhibitor</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2F4F7"/>
                    </a:solidFill>
                  </a:tcPr>
                </a:tc>
                <a:tc>
                  <a:txBody>
                    <a:bodyPr/>
                    <a:lstStyle/>
                    <a:p>
                      <a:pPr indent="0" marL="0">
                        <a:buNone/>
                      </a:pPr>
                      <a:r>
                        <a:rPr lang="en-US" sz="1600" dirty="0">
                          <a:solidFill>
                            <a:srgbClr val="1F1F1F"/>
                          </a:solidFill>
                        </a:rPr>
                        <a:t>Febuxostat (allopurinol is the exception)</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2F4F7"/>
                    </a:solidFill>
                  </a:tcPr>
                </a:tc>
              </a:tr>
              <a:tr h="0">
                <a:tc>
                  <a:txBody>
                    <a:bodyPr/>
                    <a:lstStyle/>
                    <a:p>
                      <a:pPr indent="0" marL="0">
                        <a:buNone/>
                      </a:pPr>
                      <a:r>
                        <a:rPr lang="en-US" sz="1600" b="1" dirty="0">
                          <a:solidFill>
                            <a:srgbClr val="1F1F1F"/>
                          </a:solidFill>
                        </a:rPr>
                        <a:t>-ase</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FFFFF"/>
                    </a:solidFill>
                  </a:tcPr>
                </a:tc>
                <a:tc>
                  <a:txBody>
                    <a:bodyPr/>
                    <a:lstStyle/>
                    <a:p>
                      <a:pPr indent="0" marL="0">
                        <a:buNone/>
                      </a:pPr>
                      <a:r>
                        <a:rPr lang="en-US" sz="1600" dirty="0">
                          <a:solidFill>
                            <a:srgbClr val="1F1F1F"/>
                          </a:solidFill>
                        </a:rPr>
                        <a:t>Enzyme (uricase)</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FFFFF"/>
                    </a:solidFill>
                  </a:tcPr>
                </a:tc>
                <a:tc>
                  <a:txBody>
                    <a:bodyPr/>
                    <a:lstStyle/>
                    <a:p>
                      <a:pPr indent="0" marL="0">
                        <a:buNone/>
                      </a:pPr>
                      <a:r>
                        <a:rPr lang="en-US" sz="1600" dirty="0">
                          <a:solidFill>
                            <a:srgbClr val="1F1F1F"/>
                          </a:solidFill>
                        </a:rPr>
                        <a:t>Pegloticase, rasburicase</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FFFFF"/>
                    </a:solidFill>
                  </a:tcPr>
                </a:tc>
              </a:tr>
              <a:tr h="0">
                <a:tc>
                  <a:txBody>
                    <a:bodyPr/>
                    <a:lstStyle/>
                    <a:p>
                      <a:pPr indent="0" marL="0">
                        <a:buNone/>
                      </a:pPr>
                      <a:r>
                        <a:rPr lang="en-US" sz="1600" b="1" dirty="0">
                          <a:solidFill>
                            <a:srgbClr val="1F1F1F"/>
                          </a:solidFill>
                        </a:rPr>
                        <a:t>colchicine</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2F4F7"/>
                    </a:solidFill>
                  </a:tcPr>
                </a:tc>
                <a:tc>
                  <a:txBody>
                    <a:bodyPr/>
                    <a:lstStyle/>
                    <a:p>
                      <a:pPr indent="0" marL="0">
                        <a:buNone/>
                      </a:pPr>
                      <a:r>
                        <a:rPr lang="en-US" sz="1600" dirty="0">
                          <a:solidFill>
                            <a:srgbClr val="1F1F1F"/>
                          </a:solidFill>
                        </a:rPr>
                        <a:t>Plant-derived alkaloid, no stem</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2F4F7"/>
                    </a:solidFill>
                  </a:tcPr>
                </a:tc>
                <a:tc>
                  <a:txBody>
                    <a:bodyPr/>
                    <a:lstStyle/>
                    <a:p>
                      <a:pPr indent="0" marL="0">
                        <a:buNone/>
                      </a:pPr>
                      <a:r>
                        <a:rPr lang="en-US" sz="1600" dirty="0">
                          <a:solidFill>
                            <a:srgbClr val="1F1F1F"/>
                          </a:solidFill>
                        </a:rPr>
                        <a:t>Colchicine</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2F4F7"/>
                    </a:solidFill>
                  </a:tcPr>
                </a:tc>
              </a:tr>
              <a:tr h="0">
                <a:tc>
                  <a:txBody>
                    <a:bodyPr/>
                    <a:lstStyle/>
                    <a:p>
                      <a:pPr indent="0" marL="0">
                        <a:buNone/>
                      </a:pPr>
                      <a:r>
                        <a:rPr lang="en-US" sz="1600" b="1" dirty="0">
                          <a:solidFill>
                            <a:srgbClr val="1F1F1F"/>
                          </a:solidFill>
                        </a:rPr>
                        <a:t>probenecid, lesinurad-type</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FFFFF"/>
                    </a:solidFill>
                  </a:tcPr>
                </a:tc>
                <a:tc>
                  <a:txBody>
                    <a:bodyPr/>
                    <a:lstStyle/>
                    <a:p>
                      <a:pPr indent="0" marL="0">
                        <a:buNone/>
                      </a:pPr>
                      <a:r>
                        <a:rPr lang="en-US" sz="1600" dirty="0">
                          <a:solidFill>
                            <a:srgbClr val="1F1F1F"/>
                          </a:solidFill>
                        </a:rPr>
                        <a:t>Uricosurics</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FFFFF"/>
                    </a:solidFill>
                  </a:tcPr>
                </a:tc>
                <a:tc>
                  <a:txBody>
                    <a:bodyPr/>
                    <a:lstStyle/>
                    <a:p>
                      <a:pPr indent="0" marL="0">
                        <a:buNone/>
                      </a:pPr>
                      <a:r>
                        <a:rPr lang="en-US" sz="1600" dirty="0">
                          <a:solidFill>
                            <a:srgbClr val="1F1F1F"/>
                          </a:solidFill>
                        </a:rPr>
                        <a:t>Probenecid</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FFFFF"/>
                    </a:solidFill>
                  </a:tcPr>
                </a:tc>
              </a:tr>
              <a:tr h="0">
                <a:tc>
                  <a:txBody>
                    <a:bodyPr/>
                    <a:lstStyle/>
                    <a:p>
                      <a:pPr indent="0" marL="0">
                        <a:buNone/>
                      </a:pPr>
                      <a:r>
                        <a:rPr lang="en-US" sz="1600" b="1" dirty="0">
                          <a:solidFill>
                            <a:srgbClr val="1F1F1F"/>
                          </a:solidFill>
                        </a:rPr>
                        <a:t>-profen</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2F4F7"/>
                    </a:solidFill>
                  </a:tcPr>
                </a:tc>
                <a:tc>
                  <a:txBody>
                    <a:bodyPr/>
                    <a:lstStyle/>
                    <a:p>
                      <a:pPr indent="0" marL="0">
                        <a:buNone/>
                      </a:pPr>
                      <a:r>
                        <a:rPr lang="en-US" sz="1600" dirty="0">
                          <a:solidFill>
                            <a:srgbClr val="1F1F1F"/>
                          </a:solidFill>
                        </a:rPr>
                        <a:t>Propionic-acid NSAIDs</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2F4F7"/>
                    </a:solidFill>
                  </a:tcPr>
                </a:tc>
                <a:tc>
                  <a:txBody>
                    <a:bodyPr/>
                    <a:lstStyle/>
                    <a:p>
                      <a:pPr indent="0" marL="0">
                        <a:buNone/>
                      </a:pPr>
                      <a:r>
                        <a:rPr lang="en-US" sz="1600" dirty="0">
                          <a:solidFill>
                            <a:srgbClr val="1F1F1F"/>
                          </a:solidFill>
                        </a:rPr>
                        <a:t>Ibuprofen, naproxen</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2F4F7"/>
                    </a:solidFill>
                  </a:tcPr>
                </a:tc>
              </a:tr>
              <a:tr h="0">
                <a:tc>
                  <a:txBody>
                    <a:bodyPr/>
                    <a:lstStyle/>
                    <a:p>
                      <a:pPr indent="0" marL="0">
                        <a:buNone/>
                      </a:pPr>
                      <a:r>
                        <a:rPr lang="en-US" sz="1600" b="1" dirty="0">
                          <a:solidFill>
                            <a:srgbClr val="1F1F1F"/>
                          </a:solidFill>
                        </a:rPr>
                        <a:t>-sone, -olone</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FFFFF"/>
                    </a:solidFill>
                  </a:tcPr>
                </a:tc>
                <a:tc>
                  <a:txBody>
                    <a:bodyPr/>
                    <a:lstStyle/>
                    <a:p>
                      <a:pPr indent="0" marL="0">
                        <a:buNone/>
                      </a:pPr>
                      <a:r>
                        <a:rPr lang="en-US" sz="1600" dirty="0">
                          <a:solidFill>
                            <a:srgbClr val="1F1F1F"/>
                          </a:solidFill>
                        </a:rPr>
                        <a:t>Corticosteroids</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FFFFF"/>
                    </a:solidFill>
                  </a:tcPr>
                </a:tc>
                <a:tc>
                  <a:txBody>
                    <a:bodyPr/>
                    <a:lstStyle/>
                    <a:p>
                      <a:pPr indent="0" marL="0">
                        <a:buNone/>
                      </a:pPr>
                      <a:r>
                        <a:rPr lang="en-US" sz="1600" dirty="0">
                          <a:solidFill>
                            <a:srgbClr val="1F1F1F"/>
                          </a:solidFill>
                        </a:rPr>
                        <a:t>Prednisone, methylprednisolone</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FFFFF"/>
                    </a:solidFill>
                  </a:tcPr>
                </a:tc>
              </a:tr>
            </a:tbl>
          </a:graphicData>
        </a:graphic>
      </p:graphicFrame>
      <p:sp>
        <p:nvSpPr>
          <p:cNvPr id="8" name="Table sources"/>
          <p:cNvSpPr txBox="1"/>
          <p:nvPr/>
        </p:nvSpPr>
        <p:spPr>
          <a:xfrm>
            <a:off x="548640" y="4342384"/>
            <a:ext cx="11094415" cy="274320"/>
          </a:xfrm>
          <a:prstGeom prst="rect">
            <a:avLst/>
          </a:prstGeom>
          <a:noFill/>
          <a:ln/>
        </p:spPr>
        <p:txBody>
          <a:bodyPr wrap="square" lIns="0" tIns="0" rIns="0" bIns="0" rtlCol="0" anchor="ctr"/>
          <a:lstStyle/>
          <a:p>
            <a:pPr indent="0" marL="0">
              <a:buNone/>
            </a:pPr>
            <a:r>
              <a:rPr lang="en-US" sz="1100" dirty="0">
                <a:solidFill>
                  <a:srgbClr val="666666"/>
                </a:solidFill>
              </a:rPr>
              <a:t>Focus: what tells these apart.  Sources: S19</a:t>
            </a:r>
            <a:endParaRPr lang="en-US" sz="11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Kicker"/>
          <p:cNvSpPr txBox="1"/>
          <p:nvPr/>
        </p:nvSpPr>
        <p:spPr>
          <a:xfrm>
            <a:off x="548640" y="292608"/>
            <a:ext cx="8076895" cy="274320"/>
          </a:xfrm>
          <a:prstGeom prst="rect">
            <a:avLst/>
          </a:prstGeom>
          <a:noFill/>
          <a:ln/>
        </p:spPr>
        <p:txBody>
          <a:bodyPr wrap="square" lIns="0" tIns="0" rIns="0" bIns="0" rtlCol="0" anchor="ctr"/>
          <a:lstStyle/>
          <a:p>
            <a:pPr indent="0" marL="0">
              <a:buNone/>
            </a:pPr>
            <a:r>
              <a:rPr lang="en-US" sz="1200" b="1" spc="100" kern="0" dirty="0">
                <a:solidFill>
                  <a:srgbClr val="4472C4"/>
                </a:solidFill>
              </a:rPr>
              <a:t>GOUT: ACUTE FLARES &amp; URATE-LOWERING THERAPY</a:t>
            </a:r>
            <a:endParaRPr lang="en-US" sz="1200" dirty="0"/>
          </a:p>
        </p:txBody>
      </p:sp>
      <p:sp>
        <p:nvSpPr>
          <p:cNvPr id="3" name="Title"/>
          <p:cNvSpPr txBox="1"/>
          <p:nvPr/>
        </p:nvSpPr>
        <p:spPr>
          <a:xfrm>
            <a:off x="548640" y="566928"/>
            <a:ext cx="8076895" cy="713232"/>
          </a:xfrm>
          <a:prstGeom prst="rect">
            <a:avLst/>
          </a:prstGeom>
          <a:noFill/>
          <a:ln/>
        </p:spPr>
        <p:txBody>
          <a:bodyPr wrap="square" lIns="0" tIns="0" rIns="0" bIns="0" rtlCol="0" anchor="t"/>
          <a:lstStyle/>
          <a:p>
            <a:pPr indent="0" marL="0">
              <a:buNone/>
            </a:pPr>
            <a:r>
              <a:rPr lang="en-US" sz="3000" b="1" dirty="0">
                <a:solidFill>
                  <a:srgbClr val="1F1F1F"/>
                </a:solidFill>
                <a:latin typeface="Calibri" pitchFamily="34" charset="0"/>
                <a:ea typeface="Calibri" pitchFamily="34" charset="-122"/>
                <a:cs typeface="Calibri" pitchFamily="34" charset="-120"/>
              </a:rPr>
              <a:t>Compare: Gout drugs in the reading (textbook)</a:t>
            </a:r>
            <a:endParaRPr lang="en-US" sz="3000" dirty="0"/>
          </a:p>
        </p:txBody>
      </p:sp>
      <p:sp>
        <p:nvSpPr>
          <p:cNvPr id="4" name="Objective chip"/>
          <p:cNvSpPr/>
          <p:nvPr/>
        </p:nvSpPr>
        <p:spPr>
          <a:xfrm>
            <a:off x="8899855" y="365760"/>
            <a:ext cx="2743200" cy="384048"/>
          </a:xfrm>
          <a:prstGeom prst="roundRect">
            <a:avLst>
              <a:gd name="adj" fmla="val 35714"/>
            </a:avLst>
          </a:prstGeom>
          <a:solidFill>
            <a:srgbClr val="E3EBF8"/>
          </a:solidFill>
          <a:ln/>
        </p:spPr>
        <p:txBody>
          <a:bodyPr wrap="square" lIns="25400" tIns="25400" rIns="25400" bIns="25400" rtlCol="0" anchor="ctr"/>
          <a:lstStyle/>
          <a:p>
            <a:pPr algn="ctr" indent="0" marL="0">
              <a:buNone/>
            </a:pPr>
            <a:r>
              <a:rPr lang="en-US" sz="800" b="1" dirty="0">
                <a:solidFill>
                  <a:srgbClr val="2F4F8A"/>
                </a:solidFill>
              </a:rPr>
              <a:t>Objectives: SO1 · SO4 · IO2.1 · IO2.2 · IO2.3 · IO2.4 · IO2.5</a:t>
            </a:r>
            <a:endParaRPr lang="en-US" sz="800" dirty="0"/>
          </a:p>
        </p:txBody>
      </p:sp>
      <p:sp>
        <p:nvSpPr>
          <p:cNvPr id="5" name="Footer"/>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1000" dirty="0">
                <a:solidFill>
                  <a:srgbClr val="666666"/>
                </a:solidFill>
              </a:rPr>
              <a:t>L04 · Musculoskeletal Pharmacology — Session 2</a:t>
            </a:r>
            <a:endParaRPr lang="en-US" sz="1000" dirty="0"/>
          </a:p>
        </p:txBody>
      </p:sp>
      <p:sp>
        <p:nvSpPr>
          <p:cNvPr id="6" name="Slide number"/>
          <p:cNvSpPr txBox="1"/>
          <p:nvPr/>
        </p:nvSpPr>
        <p:spPr>
          <a:xfrm>
            <a:off x="10728655" y="6419088"/>
            <a:ext cx="914400" cy="274320"/>
          </a:xfrm>
          <a:prstGeom prst="rect">
            <a:avLst/>
          </a:prstGeom>
          <a:noFill/>
          <a:ln/>
        </p:spPr>
        <p:txBody>
          <a:bodyPr wrap="square" lIns="0" tIns="0" rIns="0" bIns="0" rtlCol="0" anchor="ctr"/>
          <a:lstStyle/>
          <a:p>
            <a:pPr algn="r" indent="0" marL="0">
              <a:buNone/>
            </a:pPr>
            <a:r>
              <a:rPr lang="en-US" sz="1000" dirty="0">
                <a:solidFill>
                  <a:srgbClr val="666666"/>
                </a:solidFill>
              </a:rPr>
              <a:t>29</a:t>
            </a:r>
            <a:endParaRPr lang="en-US" sz="1000" dirty="0"/>
          </a:p>
        </p:txBody>
      </p:sp>
      <p:graphicFrame>
        <p:nvGraphicFramePr>
          <p:cNvPr id="30" name="Comparison table"/>
          <p:cNvGraphicFramePr>
            <a:graphicFrameLocks noGrp="1"/>
          </p:cNvGraphicFramePr>
          <p:nvPr>
            <p:extLst>
              <p:ext uri="{D42A27DB-BD31-4B8C-83A1-F6EECF244321}">
                <p14:modId xmlns:p14="http://schemas.microsoft.com/office/powerpoint/2010/main" val="1579011935"/>
              </p:ext>
            </p:extLst>
          </p:nvPr>
        </p:nvGraphicFramePr>
        <p:xfrm>
          <a:off x="548640" y="1325880"/>
          <a:ext cx="11094415" cy="914400"/>
        </p:xfrm>
        <a:graphic>
          <a:graphicData uri="http://schemas.openxmlformats.org/drawingml/2006/table">
            <a:tbl>
              <a:tblPr/>
              <a:tblGrid>
                <a:gridCol w="2377440"/>
                <a:gridCol w="4358488"/>
                <a:gridCol w="4358488"/>
              </a:tblGrid>
              <a:tr h="0">
                <a:tc>
                  <a:txBody>
                    <a:bodyPr/>
                    <a:lstStyle/>
                    <a:p>
                      <a:pPr indent="0" marL="0">
                        <a:buNone/>
                      </a:pPr>
                      <a:r>
                        <a:rPr lang="en-US" sz="1400" b="1" dirty="0">
                          <a:solidFill>
                            <a:srgbClr val="FFFFFF"/>
                          </a:solidFill>
                        </a:rPr>
                        <a:t>Drug</a:t>
                      </a:r>
                      <a:endParaRPr lang="en-US" sz="14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4472C4"/>
                    </a:solidFill>
                  </a:tcPr>
                </a:tc>
                <a:tc>
                  <a:txBody>
                    <a:bodyPr/>
                    <a:lstStyle/>
                    <a:p>
                      <a:pPr indent="0" marL="0">
                        <a:buNone/>
                      </a:pPr>
                      <a:r>
                        <a:rPr lang="en-US" sz="1400" b="1" dirty="0">
                          <a:solidFill>
                            <a:srgbClr val="FFFFFF"/>
                          </a:solidFill>
                        </a:rPr>
                        <a:t>Dose / PK</a:t>
                      </a:r>
                      <a:endParaRPr lang="en-US" sz="14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4472C4"/>
                    </a:solidFill>
                  </a:tcPr>
                </a:tc>
                <a:tc>
                  <a:txBody>
                    <a:bodyPr/>
                    <a:lstStyle/>
                    <a:p>
                      <a:pPr indent="0" marL="0">
                        <a:buNone/>
                      </a:pPr>
                      <a:r>
                        <a:rPr lang="en-US" sz="1400" b="1" dirty="0">
                          <a:solidFill>
                            <a:srgbClr val="FFFFFF"/>
                          </a:solidFill>
                        </a:rPr>
                        <a:t>What sets it apart</a:t>
                      </a:r>
                      <a:endParaRPr lang="en-US" sz="14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4472C4"/>
                    </a:solidFill>
                  </a:tcPr>
                </a:tc>
              </a:tr>
              <a:tr h="0">
                <a:tc>
                  <a:txBody>
                    <a:bodyPr/>
                    <a:lstStyle/>
                    <a:p>
                      <a:pPr indent="0" marL="0">
                        <a:buNone/>
                      </a:pPr>
                      <a:r>
                        <a:rPr lang="en-US" sz="1400" b="1" dirty="0">
                          <a:solidFill>
                            <a:srgbClr val="1F1F1F"/>
                          </a:solidFill>
                        </a:rPr>
                        <a:t>Allopurinol</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2F4F7"/>
                    </a:solidFill>
                  </a:tcPr>
                </a:tc>
                <a:tc>
                  <a:txBody>
                    <a:bodyPr/>
                    <a:lstStyle/>
                    <a:p>
                      <a:pPr indent="0" marL="0">
                        <a:buNone/>
                      </a:pPr>
                      <a:r>
                        <a:rPr lang="en-US" sz="1400" dirty="0">
                          <a:solidFill>
                            <a:srgbClr val="1F1F1F"/>
                          </a:solidFill>
                        </a:rPr>
                        <a:t>Start 100 mg/d; +100 mg every 2–5 weeks to &lt;6 mg/dL (max 800); oxypurinol t½ 15 h</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2F4F7"/>
                    </a:solidFill>
                  </a:tcPr>
                </a:tc>
                <a:tc>
                  <a:txBody>
                    <a:bodyPr/>
                    <a:lstStyle/>
                    <a:p>
                      <a:pPr indent="0" marL="0">
                        <a:buNone/>
                      </a:pPr>
                      <a:r>
                        <a:rPr lang="en-US" sz="1400" dirty="0">
                          <a:solidFill>
                            <a:srgbClr val="1F1F1F"/>
                          </a:solidFill>
                        </a:rPr>
                        <a:t>Pruritic rash 3%; AHS 2–4 weeks in; HLA-B 5801 (Han Chinese, Korean, Thai); cut azathioprine 75%</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2F4F7"/>
                    </a:solidFill>
                  </a:tcPr>
                </a:tc>
              </a:tr>
              <a:tr h="0">
                <a:tc>
                  <a:txBody>
                    <a:bodyPr/>
                    <a:lstStyle/>
                    <a:p>
                      <a:pPr indent="0" marL="0">
                        <a:buNone/>
                      </a:pPr>
                      <a:r>
                        <a:rPr lang="en-US" sz="1400" b="1" dirty="0">
                          <a:solidFill>
                            <a:srgbClr val="1F1F1F"/>
                          </a:solidFill>
                        </a:rPr>
                        <a:t>Colchicine</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FFFFF"/>
                    </a:solidFill>
                  </a:tcPr>
                </a:tc>
                <a:tc>
                  <a:txBody>
                    <a:bodyPr/>
                    <a:lstStyle/>
                    <a:p>
                      <a:pPr indent="0" marL="0">
                        <a:buNone/>
                      </a:pPr>
                      <a:r>
                        <a:rPr lang="en-US" sz="1400" dirty="0">
                          <a:solidFill>
                            <a:srgbClr val="1F1F1F"/>
                          </a:solidFill>
                        </a:rPr>
                        <a:t>1.2 mg then 0.6 mg; prophylaxis 0.6 mg once–twice daily; t½ 9 h</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FFFFF"/>
                    </a:solidFill>
                  </a:tcPr>
                </a:tc>
                <a:tc>
                  <a:txBody>
                    <a:bodyPr/>
                    <a:lstStyle/>
                    <a:p>
                      <a:pPr indent="0" marL="0">
                        <a:buNone/>
                      </a:pPr>
                      <a:r>
                        <a:rPr lang="en-US" sz="1400" dirty="0">
                          <a:solidFill>
                            <a:srgbClr val="1F1F1F"/>
                          </a:solidFill>
                        </a:rPr>
                        <a:t>Within 36 h (guideline); not dialyzable; no longer given IV</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FFFFF"/>
                    </a:solidFill>
                  </a:tcPr>
                </a:tc>
              </a:tr>
              <a:tr h="0">
                <a:tc>
                  <a:txBody>
                    <a:bodyPr/>
                    <a:lstStyle/>
                    <a:p>
                      <a:pPr indent="0" marL="0">
                        <a:buNone/>
                      </a:pPr>
                      <a:r>
                        <a:rPr lang="en-US" sz="1400" b="1" dirty="0">
                          <a:solidFill>
                            <a:srgbClr val="1F1F1F"/>
                          </a:solidFill>
                        </a:rPr>
                        <a:t>Febuxostat</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2F4F7"/>
                    </a:solidFill>
                  </a:tcPr>
                </a:tc>
                <a:tc>
                  <a:txBody>
                    <a:bodyPr/>
                    <a:lstStyle/>
                    <a:p>
                      <a:pPr indent="0" marL="0">
                        <a:buNone/>
                      </a:pPr>
                      <a:r>
                        <a:rPr lang="en-US" sz="1400" dirty="0">
                          <a:solidFill>
                            <a:srgbClr val="1F1F1F"/>
                          </a:solidFill>
                        </a:rPr>
                        <a:t>40 or 80 mg daily; target &lt;6.0 mg/dL</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2F4F7"/>
                    </a:solidFill>
                  </a:tcPr>
                </a:tc>
                <a:tc>
                  <a:txBody>
                    <a:bodyPr/>
                    <a:lstStyle/>
                    <a:p>
                      <a:pPr indent="0" marL="0">
                        <a:buNone/>
                      </a:pPr>
                      <a:r>
                        <a:rPr lang="en-US" sz="1400" dirty="0">
                          <a:solidFill>
                            <a:srgbClr val="1F1F1F"/>
                          </a:solidFill>
                        </a:rPr>
                        <a:t>Safe in moderate CKD; for allopurinol intolerance</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2F4F7"/>
                    </a:solidFill>
                  </a:tcPr>
                </a:tc>
              </a:tr>
              <a:tr h="0">
                <a:tc>
                  <a:txBody>
                    <a:bodyPr/>
                    <a:lstStyle/>
                    <a:p>
                      <a:pPr indent="0" marL="0">
                        <a:buNone/>
                      </a:pPr>
                      <a:r>
                        <a:rPr lang="en-US" sz="1400" b="1" dirty="0">
                          <a:solidFill>
                            <a:srgbClr val="1F1F1F"/>
                          </a:solidFill>
                        </a:rPr>
                        <a:t>NSAIDs</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FFFFF"/>
                    </a:solidFill>
                  </a:tcPr>
                </a:tc>
                <a:tc>
                  <a:txBody>
                    <a:bodyPr/>
                    <a:lstStyle/>
                    <a:p>
                      <a:pPr indent="0" marL="0">
                        <a:buNone/>
                      </a:pPr>
                      <a:r>
                        <a:rPr lang="en-US" sz="1400" dirty="0">
                          <a:solidFill>
                            <a:srgbClr val="1F1F1F"/>
                          </a:solidFill>
                        </a:rPr>
                        <a:t>Any except aspirin, salicylates, tolmetin</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FFFFF"/>
                    </a:solidFill>
                  </a:tcPr>
                </a:tc>
                <a:tc>
                  <a:txBody>
                    <a:bodyPr/>
                    <a:lstStyle/>
                    <a:p>
                      <a:pPr indent="0" marL="0">
                        <a:buNone/>
                      </a:pPr>
                      <a:r>
                        <a:rPr lang="en-US" sz="1400" dirty="0">
                          <a:solidFill>
                            <a:srgbClr val="1F1F1F"/>
                          </a:solidFill>
                        </a:rPr>
                        <a:t>Aspirin ≤2.6 g/d retains urate</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FFFFF"/>
                    </a:solidFill>
                  </a:tcPr>
                </a:tc>
              </a:tr>
              <a:tr h="0">
                <a:tc>
                  <a:txBody>
                    <a:bodyPr/>
                    <a:lstStyle/>
                    <a:p>
                      <a:pPr indent="0" marL="0">
                        <a:buNone/>
                      </a:pPr>
                      <a:r>
                        <a:rPr lang="en-US" sz="1400" b="1" dirty="0">
                          <a:solidFill>
                            <a:srgbClr val="1F1F1F"/>
                          </a:solidFill>
                        </a:rPr>
                        <a:t>Pegloticase</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2F4F7"/>
                    </a:solidFill>
                  </a:tcPr>
                </a:tc>
                <a:tc>
                  <a:txBody>
                    <a:bodyPr/>
                    <a:lstStyle/>
                    <a:p>
                      <a:pPr indent="0" marL="0">
                        <a:buNone/>
                      </a:pPr>
                      <a:r>
                        <a:rPr lang="en-US" sz="1400" dirty="0">
                          <a:solidFill>
                            <a:srgbClr val="1F1F1F"/>
                          </a:solidFill>
                        </a:rPr>
                        <a:t>8 mg IV every 2 weeks; t½ 6–14 days</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2F4F7"/>
                    </a:solidFill>
                  </a:tcPr>
                </a:tc>
                <a:tc>
                  <a:txBody>
                    <a:bodyPr/>
                    <a:lstStyle/>
                    <a:p>
                      <a:pPr indent="0" marL="0">
                        <a:buNone/>
                      </a:pPr>
                      <a:r>
                        <a:rPr lang="en-US" sz="1400" dirty="0">
                          <a:solidFill>
                            <a:srgbClr val="1F1F1F"/>
                          </a:solidFill>
                        </a:rPr>
                        <a:t>With methotrexate fewer reactions; flares first 3–6 months; avoid in G6PD deficiency</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2F4F7"/>
                    </a:solidFill>
                  </a:tcPr>
                </a:tc>
              </a:tr>
              <a:tr h="0">
                <a:tc>
                  <a:txBody>
                    <a:bodyPr/>
                    <a:lstStyle/>
                    <a:p>
                      <a:pPr indent="0" marL="0">
                        <a:buNone/>
                      </a:pPr>
                      <a:r>
                        <a:rPr lang="en-US" sz="1400" b="1" dirty="0">
                          <a:solidFill>
                            <a:srgbClr val="1F1F1F"/>
                          </a:solidFill>
                        </a:rPr>
                        <a:t>Probenecid (lesinurad withdrawn 2019)</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FFFFF"/>
                    </a:solidFill>
                  </a:tcPr>
                </a:tc>
                <a:tc>
                  <a:txBody>
                    <a:bodyPr/>
                    <a:lstStyle/>
                    <a:p>
                      <a:pPr indent="0" marL="0">
                        <a:buNone/>
                      </a:pPr>
                      <a:r>
                        <a:rPr lang="en-US" sz="1400" dirty="0">
                          <a:solidFill>
                            <a:srgbClr val="1F1F1F"/>
                          </a:solidFill>
                        </a:rPr>
                        <a:t>0.5 g/d → 1 g/d after 1 week</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FFFFF"/>
                    </a:solidFill>
                  </a:tcPr>
                </a:tc>
                <a:tc>
                  <a:txBody>
                    <a:bodyPr/>
                    <a:lstStyle/>
                    <a:p>
                      <a:pPr indent="0" marL="0">
                        <a:buNone/>
                      </a:pPr>
                      <a:r>
                        <a:rPr lang="en-US" sz="1400" dirty="0">
                          <a:solidFill>
                            <a:srgbClr val="1F1F1F"/>
                          </a:solidFill>
                        </a:rPr>
                        <a:t>Start 2–3 weeks after an attack; high urine volume, pH &gt; 6.0; ↓ penicillin secretion</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FFFFF"/>
                    </a:solidFill>
                  </a:tcPr>
                </a:tc>
              </a:tr>
              <a:tr h="0">
                <a:tc>
                  <a:txBody>
                    <a:bodyPr/>
                    <a:lstStyle/>
                    <a:p>
                      <a:pPr indent="0" marL="0">
                        <a:buNone/>
                      </a:pPr>
                      <a:r>
                        <a:rPr lang="en-US" sz="1400" b="1" dirty="0">
                          <a:solidFill>
                            <a:srgbClr val="1F1F1F"/>
                          </a:solidFill>
                        </a:rPr>
                        <a:t>Glucocorticoids in gout</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2F4F7"/>
                    </a:solidFill>
                  </a:tcPr>
                </a:tc>
                <a:tc>
                  <a:txBody>
                    <a:bodyPr/>
                    <a:lstStyle/>
                    <a:p>
                      <a:pPr indent="0" marL="0">
                        <a:buNone/>
                      </a:pPr>
                      <a:r>
                        <a:rPr lang="en-US" sz="1400" dirty="0">
                          <a:solidFill>
                            <a:srgbClr val="1F1F1F"/>
                          </a:solidFill>
                        </a:rPr>
                        <a:t>Prednisone 30–50 mg/d × 1–2 days, taper 7–10 days; intra-articular triamcinolone</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2F4F7"/>
                    </a:solidFill>
                  </a:tcPr>
                </a:tc>
                <a:tc>
                  <a:txBody>
                    <a:bodyPr/>
                    <a:lstStyle/>
                    <a:p>
                      <a:pPr indent="0" marL="0">
                        <a:buNone/>
                      </a:pPr>
                      <a:r>
                        <a:rPr lang="en-US" sz="1400" dirty="0">
                          <a:solidFill>
                            <a:srgbClr val="1F1F1F"/>
                          </a:solidFill>
                        </a:rPr>
                        <a:t>Rule out joint infection; good in CKD</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2F4F7"/>
                    </a:solidFill>
                  </a:tcPr>
                </a:tc>
              </a:tr>
              <a:tr h="0">
                <a:tc>
                  <a:txBody>
                    <a:bodyPr/>
                    <a:lstStyle/>
                    <a:p>
                      <a:pPr indent="0" marL="0">
                        <a:buNone/>
                      </a:pPr>
                      <a:r>
                        <a:rPr lang="en-US" sz="1400" b="1" dirty="0">
                          <a:solidFill>
                            <a:srgbClr val="1F1F1F"/>
                          </a:solidFill>
                        </a:rPr>
                        <a:t>Interleukin-1 inhibitors in gout</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FFFFF"/>
                    </a:solidFill>
                  </a:tcPr>
                </a:tc>
                <a:tc>
                  <a:txBody>
                    <a:bodyPr/>
                    <a:lstStyle/>
                    <a:p>
                      <a:pPr indent="0" marL="0">
                        <a:buNone/>
                      </a:pPr>
                      <a:r>
                        <a:rPr lang="en-US" sz="1400" dirty="0">
                          <a:solidFill>
                            <a:srgbClr val="1F1F1F"/>
                          </a:solidFill>
                        </a:rPr>
                        <a:t>Anakinra 100 mg/day × 3 days; canakinumab 150 mg once</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FFFFF"/>
                    </a:solidFill>
                  </a:tcPr>
                </a:tc>
                <a:tc>
                  <a:txBody>
                    <a:bodyPr/>
                    <a:lstStyle/>
                    <a:p>
                      <a:pPr indent="0" marL="0">
                        <a:buNone/>
                      </a:pPr>
                      <a:r>
                        <a:rPr lang="en-US" sz="1400" dirty="0">
                          <a:solidFill>
                            <a:srgbClr val="1F1F1F"/>
                          </a:solidFill>
                        </a:rPr>
                        <a:t>Not FDA approved for gout; option when standard drugs fail</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FFFFF"/>
                    </a:solidFill>
                  </a:tcPr>
                </a:tc>
              </a:tr>
            </a:tbl>
          </a:graphicData>
        </a:graphic>
      </p:graphicFrame>
      <p:sp>
        <p:nvSpPr>
          <p:cNvPr id="8" name="Table sources"/>
          <p:cNvSpPr txBox="1"/>
          <p:nvPr/>
        </p:nvSpPr>
        <p:spPr>
          <a:xfrm>
            <a:off x="548640" y="5868924"/>
            <a:ext cx="11094415" cy="274320"/>
          </a:xfrm>
          <a:prstGeom prst="rect">
            <a:avLst/>
          </a:prstGeom>
          <a:noFill/>
          <a:ln/>
        </p:spPr>
        <p:txBody>
          <a:bodyPr wrap="square" lIns="0" tIns="0" rIns="0" bIns="0" rtlCol="0" anchor="ctr"/>
          <a:lstStyle/>
          <a:p>
            <a:pPr indent="0" marL="0">
              <a:buNone/>
            </a:pPr>
            <a:r>
              <a:rPr lang="en-US" sz="1100" dirty="0">
                <a:solidFill>
                  <a:srgbClr val="666666"/>
                </a:solidFill>
              </a:rPr>
              <a:t>Focus: what tells these apart.  Sources: p. 695; p. 696; p. 697; p. 698</a:t>
            </a:r>
            <a:endParaRPr lang="en-US" sz="11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Kicker"/>
          <p:cNvSpPr txBox="1"/>
          <p:nvPr/>
        </p:nvSpPr>
        <p:spPr>
          <a:xfrm>
            <a:off x="548640" y="292608"/>
            <a:ext cx="8076895" cy="274320"/>
          </a:xfrm>
          <a:prstGeom prst="rect">
            <a:avLst/>
          </a:prstGeom>
          <a:noFill/>
          <a:ln/>
        </p:spPr>
        <p:txBody>
          <a:bodyPr wrap="square" lIns="0" tIns="0" rIns="0" bIns="0" rtlCol="0" anchor="ctr"/>
          <a:lstStyle/>
          <a:p>
            <a:pPr indent="0" marL="0">
              <a:buNone/>
            </a:pPr>
            <a:r>
              <a:rPr lang="en-US" sz="1200" b="1" spc="100" kern="0" dirty="0">
                <a:solidFill>
                  <a:srgbClr val="4472C4"/>
                </a:solidFill>
              </a:rPr>
              <a:t>GOUT: ACUTE FLARES &amp; URATE-LOWERING THERAPY</a:t>
            </a:r>
            <a:endParaRPr lang="en-US" sz="1200" dirty="0"/>
          </a:p>
        </p:txBody>
      </p:sp>
      <p:sp>
        <p:nvSpPr>
          <p:cNvPr id="3" name="Title"/>
          <p:cNvSpPr txBox="1"/>
          <p:nvPr/>
        </p:nvSpPr>
        <p:spPr>
          <a:xfrm>
            <a:off x="548640" y="566928"/>
            <a:ext cx="8076895" cy="713232"/>
          </a:xfrm>
          <a:prstGeom prst="rect">
            <a:avLst/>
          </a:prstGeom>
          <a:noFill/>
          <a:ln/>
        </p:spPr>
        <p:txBody>
          <a:bodyPr wrap="square" lIns="0" tIns="0" rIns="0" bIns="0" rtlCol="0" anchor="t"/>
          <a:lstStyle/>
          <a:p>
            <a:pPr indent="0" marL="0">
              <a:buNone/>
            </a:pPr>
            <a:r>
              <a:rPr lang="en-US" sz="3000" b="1" dirty="0">
                <a:solidFill>
                  <a:srgbClr val="1F1F1F"/>
                </a:solidFill>
                <a:latin typeface="Calibri" pitchFamily="34" charset="0"/>
                <a:ea typeface="Calibri" pitchFamily="34" charset="-122"/>
                <a:cs typeface="Calibri" pitchFamily="34" charset="-120"/>
              </a:rPr>
              <a:t>Memory hooks</a:t>
            </a:r>
            <a:endParaRPr lang="en-US" sz="3000" dirty="0"/>
          </a:p>
        </p:txBody>
      </p:sp>
      <p:sp>
        <p:nvSpPr>
          <p:cNvPr id="4" name="Objective chip"/>
          <p:cNvSpPr/>
          <p:nvPr/>
        </p:nvSpPr>
        <p:spPr>
          <a:xfrm>
            <a:off x="8899855" y="365760"/>
            <a:ext cx="2743200" cy="384048"/>
          </a:xfrm>
          <a:prstGeom prst="roundRect">
            <a:avLst>
              <a:gd name="adj" fmla="val 35714"/>
            </a:avLst>
          </a:prstGeom>
          <a:solidFill>
            <a:srgbClr val="E3EBF8"/>
          </a:solidFill>
          <a:ln/>
        </p:spPr>
        <p:txBody>
          <a:bodyPr wrap="square" lIns="25400" tIns="25400" rIns="25400" bIns="25400" rtlCol="0" anchor="ctr"/>
          <a:lstStyle/>
          <a:p>
            <a:pPr algn="ctr" indent="0" marL="0">
              <a:buNone/>
            </a:pPr>
            <a:r>
              <a:rPr lang="en-US" sz="800" b="1" dirty="0">
                <a:solidFill>
                  <a:srgbClr val="2F4F8A"/>
                </a:solidFill>
              </a:rPr>
              <a:t>Objectives: SO1 · SO4 · IO2.1 · IO2.2 · IO2.3 · IO2.4 · IO2.5</a:t>
            </a:r>
            <a:endParaRPr lang="en-US" sz="800" dirty="0"/>
          </a:p>
        </p:txBody>
      </p:sp>
      <p:sp>
        <p:nvSpPr>
          <p:cNvPr id="5" name="Footer"/>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1000" dirty="0">
                <a:solidFill>
                  <a:srgbClr val="666666"/>
                </a:solidFill>
              </a:rPr>
              <a:t>L04 · Musculoskeletal Pharmacology — Session 2</a:t>
            </a:r>
            <a:endParaRPr lang="en-US" sz="1000" dirty="0"/>
          </a:p>
        </p:txBody>
      </p:sp>
      <p:sp>
        <p:nvSpPr>
          <p:cNvPr id="6" name="Slide number"/>
          <p:cNvSpPr txBox="1"/>
          <p:nvPr/>
        </p:nvSpPr>
        <p:spPr>
          <a:xfrm>
            <a:off x="10728655" y="6419088"/>
            <a:ext cx="914400" cy="274320"/>
          </a:xfrm>
          <a:prstGeom prst="rect">
            <a:avLst/>
          </a:prstGeom>
          <a:noFill/>
          <a:ln/>
        </p:spPr>
        <p:txBody>
          <a:bodyPr wrap="square" lIns="0" tIns="0" rIns="0" bIns="0" rtlCol="0" anchor="ctr"/>
          <a:lstStyle/>
          <a:p>
            <a:pPr algn="r" indent="0" marL="0">
              <a:buNone/>
            </a:pPr>
            <a:r>
              <a:rPr lang="en-US" sz="1000" dirty="0">
                <a:solidFill>
                  <a:srgbClr val="666666"/>
                </a:solidFill>
              </a:rPr>
              <a:t>30</a:t>
            </a:r>
            <a:endParaRPr lang="en-US" sz="1000" dirty="0"/>
          </a:p>
        </p:txBody>
      </p:sp>
      <p:sp>
        <p:nvSpPr>
          <p:cNvPr id="7" name="Why it happens card"/>
          <p:cNvSpPr/>
          <p:nvPr/>
        </p:nvSpPr>
        <p:spPr>
          <a:xfrm>
            <a:off x="548640" y="1325880"/>
            <a:ext cx="5364328" cy="2276856"/>
          </a:xfrm>
          <a:prstGeom prst="roundRect">
            <a:avLst>
              <a:gd name="adj" fmla="val 4819"/>
            </a:avLst>
          </a:prstGeom>
          <a:solidFill>
            <a:srgbClr val="F2F4F7"/>
          </a:solidFill>
          <a:ln w="12700">
            <a:solidFill>
              <a:srgbClr val="F2F4F7"/>
            </a:solidFill>
            <a:prstDash val="solid"/>
          </a:ln>
        </p:spPr>
      </p:sp>
      <p:sp>
        <p:nvSpPr>
          <p:cNvPr id="8" name="Why it happens icon circle"/>
          <p:cNvSpPr/>
          <p:nvPr/>
        </p:nvSpPr>
        <p:spPr>
          <a:xfrm>
            <a:off x="777240" y="1508760"/>
            <a:ext cx="438912" cy="438912"/>
          </a:xfrm>
          <a:prstGeom prst="ellipse">
            <a:avLst/>
          </a:prstGeom>
          <a:solidFill>
            <a:srgbClr val="4472C4"/>
          </a:solidFill>
          <a:ln w="12700">
            <a:solidFill>
              <a:srgbClr val="4472C4"/>
            </a:solidFill>
            <a:prstDash val="solid"/>
          </a:ln>
        </p:spPr>
      </p:sp>
      <p:pic>
        <p:nvPicPr>
          <p:cNvPr id="9" name="Why it happens icon" descr="preencoded.png">    </p:cNvPr>
          <p:cNvPicPr>
            <a:picLocks noChangeAspect="1"/>
          </p:cNvPicPr>
          <p:nvPr/>
        </p:nvPicPr>
        <p:blipFill>
          <a:blip r:embed="rId1"/>
          <a:stretch>
            <a:fillRect/>
          </a:stretch>
        </p:blipFill>
        <p:spPr>
          <a:xfrm>
            <a:off x="877824" y="1609344"/>
            <a:ext cx="237744" cy="237744"/>
          </a:xfrm>
          <a:prstGeom prst="rect">
            <a:avLst/>
          </a:prstGeom>
        </p:spPr>
      </p:pic>
      <p:sp>
        <p:nvSpPr>
          <p:cNvPr id="10" name="Why it happens heading"/>
          <p:cNvSpPr txBox="1"/>
          <p:nvPr/>
        </p:nvSpPr>
        <p:spPr>
          <a:xfrm>
            <a:off x="1353312" y="1508760"/>
            <a:ext cx="4358488" cy="438912"/>
          </a:xfrm>
          <a:prstGeom prst="rect">
            <a:avLst/>
          </a:prstGeom>
          <a:noFill/>
          <a:ln/>
        </p:spPr>
        <p:txBody>
          <a:bodyPr wrap="square" lIns="0" tIns="0" rIns="0" bIns="0" rtlCol="0" anchor="ctr"/>
          <a:lstStyle/>
          <a:p>
            <a:pPr indent="0" marL="0">
              <a:buNone/>
            </a:pPr>
            <a:r>
              <a:rPr lang="en-US" sz="1800" b="1" dirty="0">
                <a:solidFill>
                  <a:srgbClr val="4472C4"/>
                </a:solidFill>
              </a:rPr>
              <a:t>Why it happens</a:t>
            </a:r>
            <a:endParaRPr lang="en-US" sz="1800" dirty="0"/>
          </a:p>
        </p:txBody>
      </p:sp>
      <p:sp>
        <p:nvSpPr>
          <p:cNvPr id="11" name="Why it happens body"/>
          <p:cNvSpPr txBox="1"/>
          <p:nvPr/>
        </p:nvSpPr>
        <p:spPr>
          <a:xfrm>
            <a:off x="777240" y="2075688"/>
            <a:ext cx="4907128" cy="1408176"/>
          </a:xfrm>
          <a:prstGeom prst="rect">
            <a:avLst/>
          </a:prstGeom>
          <a:noFill/>
          <a:ln/>
        </p:spPr>
        <p:txBody>
          <a:bodyPr wrap="square" lIns="0" tIns="0" rIns="0" bIns="0" rtlCol="0" anchor="t"/>
          <a:lstStyle/>
          <a:p>
            <a:pPr marL="228600" indent="-228600">
              <a:spcAft>
                <a:spcPts val="800"/>
              </a:spcAft>
              <a:buSzPct val="100000"/>
              <a:buChar char="•"/>
            </a:pPr>
            <a:r>
              <a:rPr lang="en-US" sz="1800" dirty="0">
                <a:solidFill>
                  <a:srgbClr val="1F1F1F"/>
                </a:solidFill>
              </a:rPr>
              <a:t>Why not start allopurinol in a flare? Shifting urate levels mobilizes crystals — starting or changing ULT during a flare can worsen or prolong it. Calm the flare first.</a:t>
            </a:r>
            <a:r>
              <a:rPr lang="en-US" sz="1300" dirty="0">
                <a:solidFill>
                  <a:srgbClr val="666666"/>
                </a:solidFill>
              </a:rPr>
              <a:t>  S9 (notes); SG U2-R10</a:t>
            </a:r>
            <a:endParaRPr lang="en-US" sz="1800" dirty="0"/>
          </a:p>
        </p:txBody>
      </p:sp>
      <p:sp>
        <p:nvSpPr>
          <p:cNvPr id="12" name="Mnemonic (memory aid) card"/>
          <p:cNvSpPr/>
          <p:nvPr/>
        </p:nvSpPr>
        <p:spPr>
          <a:xfrm>
            <a:off x="548640" y="3831336"/>
            <a:ext cx="5364328" cy="2276856"/>
          </a:xfrm>
          <a:prstGeom prst="roundRect">
            <a:avLst>
              <a:gd name="adj" fmla="val 4819"/>
            </a:avLst>
          </a:prstGeom>
          <a:solidFill>
            <a:srgbClr val="F2F4F7"/>
          </a:solidFill>
          <a:ln w="12700">
            <a:solidFill>
              <a:srgbClr val="F2F4F7"/>
            </a:solidFill>
            <a:prstDash val="solid"/>
          </a:ln>
        </p:spPr>
      </p:sp>
      <p:sp>
        <p:nvSpPr>
          <p:cNvPr id="13" name="Mnemonic (memory aid) icon circle"/>
          <p:cNvSpPr/>
          <p:nvPr/>
        </p:nvSpPr>
        <p:spPr>
          <a:xfrm>
            <a:off x="777240" y="4014216"/>
            <a:ext cx="438912" cy="438912"/>
          </a:xfrm>
          <a:prstGeom prst="ellipse">
            <a:avLst/>
          </a:prstGeom>
          <a:solidFill>
            <a:srgbClr val="7030A0"/>
          </a:solidFill>
          <a:ln w="12700">
            <a:solidFill>
              <a:srgbClr val="7030A0"/>
            </a:solidFill>
            <a:prstDash val="solid"/>
          </a:ln>
        </p:spPr>
      </p:sp>
      <p:pic>
        <p:nvPicPr>
          <p:cNvPr id="14" name="Mnemonic (memory aid) icon" descr="preencoded.png">    </p:cNvPr>
          <p:cNvPicPr>
            <a:picLocks noChangeAspect="1"/>
          </p:cNvPicPr>
          <p:nvPr/>
        </p:nvPicPr>
        <p:blipFill>
          <a:blip r:embed="rId2"/>
          <a:stretch>
            <a:fillRect/>
          </a:stretch>
        </p:blipFill>
        <p:spPr>
          <a:xfrm>
            <a:off x="877824" y="4114800"/>
            <a:ext cx="237744" cy="237744"/>
          </a:xfrm>
          <a:prstGeom prst="rect">
            <a:avLst/>
          </a:prstGeom>
        </p:spPr>
      </p:pic>
      <p:sp>
        <p:nvSpPr>
          <p:cNvPr id="15" name="Mnemonic (memory aid) heading"/>
          <p:cNvSpPr txBox="1"/>
          <p:nvPr/>
        </p:nvSpPr>
        <p:spPr>
          <a:xfrm>
            <a:off x="1353312" y="4014216"/>
            <a:ext cx="4358488" cy="438912"/>
          </a:xfrm>
          <a:prstGeom prst="rect">
            <a:avLst/>
          </a:prstGeom>
          <a:noFill/>
          <a:ln/>
        </p:spPr>
        <p:txBody>
          <a:bodyPr wrap="square" lIns="0" tIns="0" rIns="0" bIns="0" rtlCol="0" anchor="ctr"/>
          <a:lstStyle/>
          <a:p>
            <a:pPr indent="0" marL="0">
              <a:buNone/>
            </a:pPr>
            <a:r>
              <a:rPr lang="en-US" sz="1800" b="1" dirty="0">
                <a:solidFill>
                  <a:srgbClr val="7030A0"/>
                </a:solidFill>
              </a:rPr>
              <a:t>Mnemonic (memory aid)</a:t>
            </a:r>
            <a:endParaRPr lang="en-US" sz="1800" dirty="0"/>
          </a:p>
        </p:txBody>
      </p:sp>
      <p:sp>
        <p:nvSpPr>
          <p:cNvPr id="16" name="Mnemonic (memory aid) body"/>
          <p:cNvSpPr txBox="1"/>
          <p:nvPr/>
        </p:nvSpPr>
        <p:spPr>
          <a:xfrm>
            <a:off x="777240" y="4581144"/>
            <a:ext cx="4907128" cy="1408176"/>
          </a:xfrm>
          <a:prstGeom prst="rect">
            <a:avLst/>
          </a:prstGeom>
          <a:noFill/>
          <a:ln/>
        </p:spPr>
        <p:txBody>
          <a:bodyPr wrap="square" lIns="0" tIns="0" rIns="0" bIns="0" rtlCol="0" anchor="t"/>
          <a:lstStyle/>
          <a:p>
            <a:pPr marL="228600" indent="-228600">
              <a:spcAft>
                <a:spcPts val="800"/>
              </a:spcAft>
              <a:buSzPct val="100000"/>
              <a:buChar char="•"/>
            </a:pPr>
            <a:r>
              <a:rPr lang="en-US" sz="1800" b="1" dirty="0">
                <a:solidFill>
                  <a:srgbClr val="1F1F1F"/>
                </a:solidFill>
              </a:rPr>
              <a:t>Make less, pee more, break it down:</a:t>
            </a:r>
            <a:r>
              <a:rPr lang="en-US" sz="1800" dirty="0">
                <a:solidFill>
                  <a:srgbClr val="1F1F1F"/>
                </a:solidFill>
              </a:rPr>
              <a:t> xanthine oxidase inhibitors make less; probenecid pees more; pegloticase breaks it down.</a:t>
            </a:r>
            <a:r>
              <a:rPr lang="en-US" sz="1300" dirty="0">
                <a:solidFill>
                  <a:srgbClr val="666666"/>
                </a:solidFill>
              </a:rPr>
              <a:t>  S12–S15; SG U2-R9</a:t>
            </a:r>
            <a:endParaRPr lang="en-US" sz="1800" dirty="0"/>
          </a:p>
        </p:txBody>
      </p:sp>
      <p:sp>
        <p:nvSpPr>
          <p:cNvPr id="17" name="Why it happens card"/>
          <p:cNvSpPr/>
          <p:nvPr/>
        </p:nvSpPr>
        <p:spPr>
          <a:xfrm>
            <a:off x="6278728" y="1325880"/>
            <a:ext cx="5364328" cy="2276856"/>
          </a:xfrm>
          <a:prstGeom prst="roundRect">
            <a:avLst>
              <a:gd name="adj" fmla="val 4819"/>
            </a:avLst>
          </a:prstGeom>
          <a:solidFill>
            <a:srgbClr val="F2F4F7"/>
          </a:solidFill>
          <a:ln w="12700">
            <a:solidFill>
              <a:srgbClr val="F2F4F7"/>
            </a:solidFill>
            <a:prstDash val="solid"/>
          </a:ln>
        </p:spPr>
      </p:sp>
      <p:sp>
        <p:nvSpPr>
          <p:cNvPr id="18" name="Why it happens icon circle"/>
          <p:cNvSpPr/>
          <p:nvPr/>
        </p:nvSpPr>
        <p:spPr>
          <a:xfrm>
            <a:off x="6507328" y="1508760"/>
            <a:ext cx="438912" cy="438912"/>
          </a:xfrm>
          <a:prstGeom prst="ellipse">
            <a:avLst/>
          </a:prstGeom>
          <a:solidFill>
            <a:srgbClr val="4472C4"/>
          </a:solidFill>
          <a:ln w="12700">
            <a:solidFill>
              <a:srgbClr val="4472C4"/>
            </a:solidFill>
            <a:prstDash val="solid"/>
          </a:ln>
        </p:spPr>
      </p:sp>
      <p:pic>
        <p:nvPicPr>
          <p:cNvPr id="19" name="Why it happens icon" descr="preencoded.png">    </p:cNvPr>
          <p:cNvPicPr>
            <a:picLocks noChangeAspect="1"/>
          </p:cNvPicPr>
          <p:nvPr/>
        </p:nvPicPr>
        <p:blipFill>
          <a:blip r:embed="rId3"/>
          <a:stretch>
            <a:fillRect/>
          </a:stretch>
        </p:blipFill>
        <p:spPr>
          <a:xfrm>
            <a:off x="6607912" y="1609344"/>
            <a:ext cx="237744" cy="237744"/>
          </a:xfrm>
          <a:prstGeom prst="rect">
            <a:avLst/>
          </a:prstGeom>
        </p:spPr>
      </p:pic>
      <p:sp>
        <p:nvSpPr>
          <p:cNvPr id="20" name="Why it happens heading"/>
          <p:cNvSpPr txBox="1"/>
          <p:nvPr/>
        </p:nvSpPr>
        <p:spPr>
          <a:xfrm>
            <a:off x="7083400" y="1508760"/>
            <a:ext cx="4358488" cy="438912"/>
          </a:xfrm>
          <a:prstGeom prst="rect">
            <a:avLst/>
          </a:prstGeom>
          <a:noFill/>
          <a:ln/>
        </p:spPr>
        <p:txBody>
          <a:bodyPr wrap="square" lIns="0" tIns="0" rIns="0" bIns="0" rtlCol="0" anchor="ctr"/>
          <a:lstStyle/>
          <a:p>
            <a:pPr indent="0" marL="0">
              <a:buNone/>
            </a:pPr>
            <a:r>
              <a:rPr lang="en-US" sz="1800" b="1" dirty="0">
                <a:solidFill>
                  <a:srgbClr val="4472C4"/>
                </a:solidFill>
              </a:rPr>
              <a:t>Why it happens</a:t>
            </a:r>
            <a:endParaRPr lang="en-US" sz="1800" dirty="0"/>
          </a:p>
        </p:txBody>
      </p:sp>
      <p:sp>
        <p:nvSpPr>
          <p:cNvPr id="21" name="Why it happens body"/>
          <p:cNvSpPr txBox="1"/>
          <p:nvPr/>
        </p:nvSpPr>
        <p:spPr>
          <a:xfrm>
            <a:off x="6507328" y="2075688"/>
            <a:ext cx="4907128" cy="1408176"/>
          </a:xfrm>
          <a:prstGeom prst="rect">
            <a:avLst/>
          </a:prstGeom>
          <a:noFill/>
          <a:ln/>
        </p:spPr>
        <p:txBody>
          <a:bodyPr wrap="square" lIns="0" tIns="0" rIns="0" bIns="0" rtlCol="0" anchor="t"/>
          <a:lstStyle/>
          <a:p>
            <a:pPr marL="228600" indent="-228600">
              <a:spcAft>
                <a:spcPts val="800"/>
              </a:spcAft>
              <a:buSzPct val="100000"/>
              <a:buChar char="•"/>
            </a:pPr>
            <a:r>
              <a:rPr lang="en-US" sz="1800" dirty="0">
                <a:solidFill>
                  <a:srgbClr val="1F1F1F"/>
                </a:solidFill>
              </a:rPr>
              <a:t>Why does colchicine have to start early? It works on the neutrophil’s cytoskeleton, stopping migration — once neutrophils have flooded the joint, it has less to prevent.</a:t>
            </a:r>
            <a:r>
              <a:rPr lang="en-US" sz="1300" dirty="0">
                <a:solidFill>
                  <a:srgbClr val="666666"/>
                </a:solidFill>
              </a:rPr>
              <a:t>  S11; S11 (notes)</a:t>
            </a:r>
            <a:endParaRPr lang="en-US" sz="18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Kicker"/>
          <p:cNvSpPr txBox="1"/>
          <p:nvPr/>
        </p:nvSpPr>
        <p:spPr>
          <a:xfrm>
            <a:off x="548640" y="292608"/>
            <a:ext cx="8076895" cy="274320"/>
          </a:xfrm>
          <a:prstGeom prst="rect">
            <a:avLst/>
          </a:prstGeom>
          <a:noFill/>
          <a:ln/>
        </p:spPr>
        <p:txBody>
          <a:bodyPr wrap="square" lIns="0" tIns="0" rIns="0" bIns="0" rtlCol="0" anchor="ctr"/>
          <a:lstStyle/>
          <a:p>
            <a:pPr indent="0" marL="0">
              <a:buNone/>
            </a:pPr>
            <a:r>
              <a:rPr lang="en-US" sz="1200" b="1" spc="100" kern="0" dirty="0">
                <a:solidFill>
                  <a:srgbClr val="4472C4"/>
                </a:solidFill>
              </a:rPr>
              <a:t>GOUT: ACUTE FLARES &amp; URATE-LOWERING THERAPY</a:t>
            </a:r>
            <a:endParaRPr lang="en-US" sz="1200" dirty="0"/>
          </a:p>
        </p:txBody>
      </p:sp>
      <p:sp>
        <p:nvSpPr>
          <p:cNvPr id="3" name="Title"/>
          <p:cNvSpPr txBox="1"/>
          <p:nvPr/>
        </p:nvSpPr>
        <p:spPr>
          <a:xfrm>
            <a:off x="548640" y="566928"/>
            <a:ext cx="8076895" cy="713232"/>
          </a:xfrm>
          <a:prstGeom prst="rect">
            <a:avLst/>
          </a:prstGeom>
          <a:noFill/>
          <a:ln/>
        </p:spPr>
        <p:txBody>
          <a:bodyPr wrap="square" lIns="0" tIns="0" rIns="0" bIns="0" rtlCol="0" anchor="t"/>
          <a:lstStyle/>
          <a:p>
            <a:pPr indent="0" marL="0">
              <a:buNone/>
            </a:pPr>
            <a:r>
              <a:rPr lang="en-US" sz="3000" b="1" dirty="0">
                <a:solidFill>
                  <a:srgbClr val="1F1F1F"/>
                </a:solidFill>
                <a:latin typeface="Calibri" pitchFamily="34" charset="0"/>
                <a:ea typeface="Calibri" pitchFamily="34" charset="-122"/>
                <a:cs typeface="Calibri" pitchFamily="34" charset="-120"/>
              </a:rPr>
              <a:t>High-yield summary</a:t>
            </a:r>
            <a:endParaRPr lang="en-US" sz="3000" dirty="0"/>
          </a:p>
        </p:txBody>
      </p:sp>
      <p:sp>
        <p:nvSpPr>
          <p:cNvPr id="4" name="Objective chip"/>
          <p:cNvSpPr/>
          <p:nvPr/>
        </p:nvSpPr>
        <p:spPr>
          <a:xfrm>
            <a:off x="8899855" y="365760"/>
            <a:ext cx="2743200" cy="384048"/>
          </a:xfrm>
          <a:prstGeom prst="roundRect">
            <a:avLst>
              <a:gd name="adj" fmla="val 35714"/>
            </a:avLst>
          </a:prstGeom>
          <a:solidFill>
            <a:srgbClr val="E3EBF8"/>
          </a:solidFill>
          <a:ln/>
        </p:spPr>
        <p:txBody>
          <a:bodyPr wrap="square" lIns="25400" tIns="25400" rIns="25400" bIns="25400" rtlCol="0" anchor="ctr"/>
          <a:lstStyle/>
          <a:p>
            <a:pPr algn="ctr" indent="0" marL="0">
              <a:buNone/>
            </a:pPr>
            <a:r>
              <a:rPr lang="en-US" sz="800" b="1" dirty="0">
                <a:solidFill>
                  <a:srgbClr val="2F4F8A"/>
                </a:solidFill>
              </a:rPr>
              <a:t>Objectives: SO1 · SO4 · IO2.1 · IO2.2 · IO2.3 · IO2.4 · IO2.5</a:t>
            </a:r>
            <a:endParaRPr lang="en-US" sz="800" dirty="0"/>
          </a:p>
        </p:txBody>
      </p:sp>
      <p:sp>
        <p:nvSpPr>
          <p:cNvPr id="5" name="Footer"/>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1000" dirty="0">
                <a:solidFill>
                  <a:srgbClr val="666666"/>
                </a:solidFill>
              </a:rPr>
              <a:t>L04 · Musculoskeletal Pharmacology — Session 2</a:t>
            </a:r>
            <a:endParaRPr lang="en-US" sz="1000" dirty="0"/>
          </a:p>
        </p:txBody>
      </p:sp>
      <p:sp>
        <p:nvSpPr>
          <p:cNvPr id="6" name="Slide number"/>
          <p:cNvSpPr txBox="1"/>
          <p:nvPr/>
        </p:nvSpPr>
        <p:spPr>
          <a:xfrm>
            <a:off x="10728655" y="6419088"/>
            <a:ext cx="914400" cy="274320"/>
          </a:xfrm>
          <a:prstGeom prst="rect">
            <a:avLst/>
          </a:prstGeom>
          <a:noFill/>
          <a:ln/>
        </p:spPr>
        <p:txBody>
          <a:bodyPr wrap="square" lIns="0" tIns="0" rIns="0" bIns="0" rtlCol="0" anchor="ctr"/>
          <a:lstStyle/>
          <a:p>
            <a:pPr algn="r" indent="0" marL="0">
              <a:buNone/>
            </a:pPr>
            <a:r>
              <a:rPr lang="en-US" sz="1000" dirty="0">
                <a:solidFill>
                  <a:srgbClr val="666666"/>
                </a:solidFill>
              </a:rPr>
              <a:t>31</a:t>
            </a:r>
            <a:endParaRPr lang="en-US" sz="1000" dirty="0"/>
          </a:p>
        </p:txBody>
      </p:sp>
      <p:sp>
        <p:nvSpPr>
          <p:cNvPr id="7" name="If you remember nothing else card"/>
          <p:cNvSpPr/>
          <p:nvPr/>
        </p:nvSpPr>
        <p:spPr>
          <a:xfrm>
            <a:off x="548640" y="1325880"/>
            <a:ext cx="11094415" cy="3552444"/>
          </a:xfrm>
          <a:prstGeom prst="roundRect">
            <a:avLst>
              <a:gd name="adj" fmla="val 3089"/>
            </a:avLst>
          </a:prstGeom>
          <a:solidFill>
            <a:srgbClr val="F2F4F7"/>
          </a:solidFill>
          <a:ln w="12700">
            <a:solidFill>
              <a:srgbClr val="F2F4F7"/>
            </a:solidFill>
            <a:prstDash val="solid"/>
          </a:ln>
        </p:spPr>
      </p:sp>
      <p:sp>
        <p:nvSpPr>
          <p:cNvPr id="8" name="If you remember nothing else icon circle"/>
          <p:cNvSpPr/>
          <p:nvPr/>
        </p:nvSpPr>
        <p:spPr>
          <a:xfrm>
            <a:off x="777240" y="1508760"/>
            <a:ext cx="438912" cy="438912"/>
          </a:xfrm>
          <a:prstGeom prst="ellipse">
            <a:avLst/>
          </a:prstGeom>
          <a:solidFill>
            <a:srgbClr val="C55A11"/>
          </a:solidFill>
          <a:ln w="12700">
            <a:solidFill>
              <a:srgbClr val="C55A11"/>
            </a:solidFill>
            <a:prstDash val="solid"/>
          </a:ln>
        </p:spPr>
      </p:sp>
      <p:pic>
        <p:nvPicPr>
          <p:cNvPr id="9" name="If you remember nothing else icon" descr="preencoded.png">    </p:cNvPr>
          <p:cNvPicPr>
            <a:picLocks noChangeAspect="1"/>
          </p:cNvPicPr>
          <p:nvPr/>
        </p:nvPicPr>
        <p:blipFill>
          <a:blip r:embed="rId1"/>
          <a:stretch>
            <a:fillRect/>
          </a:stretch>
        </p:blipFill>
        <p:spPr>
          <a:xfrm>
            <a:off x="877824" y="1609344"/>
            <a:ext cx="237744" cy="237744"/>
          </a:xfrm>
          <a:prstGeom prst="rect">
            <a:avLst/>
          </a:prstGeom>
        </p:spPr>
      </p:pic>
      <p:sp>
        <p:nvSpPr>
          <p:cNvPr id="10" name="If you remember nothing else heading"/>
          <p:cNvSpPr txBox="1"/>
          <p:nvPr/>
        </p:nvSpPr>
        <p:spPr>
          <a:xfrm>
            <a:off x="1353312" y="1508760"/>
            <a:ext cx="10088575" cy="438912"/>
          </a:xfrm>
          <a:prstGeom prst="rect">
            <a:avLst/>
          </a:prstGeom>
          <a:noFill/>
          <a:ln/>
        </p:spPr>
        <p:txBody>
          <a:bodyPr wrap="square" lIns="0" tIns="0" rIns="0" bIns="0" rtlCol="0" anchor="ctr"/>
          <a:lstStyle/>
          <a:p>
            <a:pPr indent="0" marL="0">
              <a:buNone/>
            </a:pPr>
            <a:r>
              <a:rPr lang="en-US" sz="1800" b="1" dirty="0">
                <a:solidFill>
                  <a:srgbClr val="C55A11"/>
                </a:solidFill>
              </a:rPr>
              <a:t>If you remember nothing else</a:t>
            </a:r>
            <a:endParaRPr lang="en-US" sz="1800" dirty="0"/>
          </a:p>
        </p:txBody>
      </p:sp>
      <p:sp>
        <p:nvSpPr>
          <p:cNvPr id="11" name="If you remember nothing else body"/>
          <p:cNvSpPr txBox="1"/>
          <p:nvPr/>
        </p:nvSpPr>
        <p:spPr>
          <a:xfrm>
            <a:off x="777240" y="2075688"/>
            <a:ext cx="10637215" cy="2683764"/>
          </a:xfrm>
          <a:prstGeom prst="rect">
            <a:avLst/>
          </a:prstGeom>
          <a:noFill/>
          <a:ln/>
        </p:spPr>
        <p:txBody>
          <a:bodyPr wrap="square" lIns="0" tIns="0" rIns="0" bIns="0" rtlCol="0" anchor="t"/>
          <a:lstStyle/>
          <a:p>
            <a:pPr marL="228600" indent="-228600">
              <a:spcAft>
                <a:spcPts val="800"/>
              </a:spcAft>
              <a:buSzPct val="100000"/>
              <a:buChar char="•"/>
            </a:pPr>
            <a:r>
              <a:rPr lang="en-US" sz="1800" dirty="0">
                <a:solidFill>
                  <a:srgbClr val="1F1F1F"/>
                </a:solidFill>
              </a:rPr>
              <a:t>Acute gout treatment and chronic urate-lowering therapy are different goals, started at different times.</a:t>
            </a:r>
            <a:r>
              <a:rPr lang="en-US" sz="1300" dirty="0">
                <a:solidFill>
                  <a:srgbClr val="666666"/>
                </a:solidFill>
              </a:rPr>
              <a:t>  S67; S9</a:t>
            </a:r>
            <a:endParaRPr lang="en-US" sz="1800" dirty="0"/>
          </a:p>
          <a:p>
            <a:pPr marL="228600" indent="-228600">
              <a:spcAft>
                <a:spcPts val="800"/>
              </a:spcAft>
              <a:buSzPct val="100000"/>
              <a:buChar char="•"/>
            </a:pPr>
            <a:r>
              <a:rPr lang="en-US" sz="1800" dirty="0">
                <a:solidFill>
                  <a:srgbClr val="1F1F1F"/>
                </a:solidFill>
              </a:rPr>
              <a:t>Flare: colchicine, NSAID, or corticosteroid. Prevention: allopurinol/febuxostat (↓ production) or probenecid (↑ excretion).</a:t>
            </a:r>
            <a:r>
              <a:rPr lang="en-US" sz="1300" dirty="0">
                <a:solidFill>
                  <a:srgbClr val="666666"/>
                </a:solidFill>
              </a:rPr>
              <a:t>  S9; SG U2-R9</a:t>
            </a:r>
            <a:endParaRPr lang="en-US" sz="1800" dirty="0"/>
          </a:p>
          <a:p>
            <a:pPr marL="228600" indent="-228600">
              <a:spcAft>
                <a:spcPts val="800"/>
              </a:spcAft>
              <a:buSzPct val="100000"/>
              <a:buChar char="•"/>
            </a:pPr>
            <a:r>
              <a:rPr lang="en-US" sz="1800" dirty="0">
                <a:solidFill>
                  <a:srgbClr val="1F1F1F"/>
                </a:solidFill>
              </a:rPr>
              <a:t>Colchicine: microtubules; best within 24 h; diarrhea; CYP3A4/P-gp inhibitors.</a:t>
            </a:r>
            <a:r>
              <a:rPr lang="en-US" sz="1300" dirty="0">
                <a:solidFill>
                  <a:srgbClr val="666666"/>
                </a:solidFill>
              </a:rPr>
              <a:t>  S10; S11</a:t>
            </a:r>
            <a:endParaRPr lang="en-US" sz="1800" dirty="0"/>
          </a:p>
          <a:p>
            <a:pPr marL="228600" indent="-228600">
              <a:spcAft>
                <a:spcPts val="800"/>
              </a:spcAft>
              <a:buSzPct val="100000"/>
              <a:buChar char="•"/>
            </a:pPr>
            <a:r>
              <a:rPr lang="en-US" sz="1800" dirty="0">
                <a:solidFill>
                  <a:srgbClr val="1F1F1F"/>
                </a:solidFill>
              </a:rPr>
              <a:t>Allopurinol: HLA-B*58:01; febuxostat: boxed CV death warning.</a:t>
            </a:r>
            <a:r>
              <a:rPr lang="en-US" sz="1300" dirty="0">
                <a:solidFill>
                  <a:srgbClr val="666666"/>
                </a:solidFill>
              </a:rPr>
              <a:t>  S12; S13</a:t>
            </a:r>
            <a:endParaRPr lang="en-US" sz="1800" dirty="0"/>
          </a:p>
          <a:p>
            <a:pPr marL="228600" indent="-228600">
              <a:spcAft>
                <a:spcPts val="800"/>
              </a:spcAft>
              <a:buSzPct val="100000"/>
              <a:buChar char="•"/>
            </a:pPr>
            <a:r>
              <a:rPr lang="en-US" sz="1800" dirty="0">
                <a:solidFill>
                  <a:srgbClr val="1F1F1F"/>
                </a:solidFill>
              </a:rPr>
              <a:t>Pegloticase/rasburicase: no G6PD deficiency.</a:t>
            </a:r>
            <a:r>
              <a:rPr lang="en-US" sz="1300" dirty="0">
                <a:solidFill>
                  <a:srgbClr val="666666"/>
                </a:solidFill>
              </a:rPr>
              <a:t>  S15</a:t>
            </a:r>
            <a:endParaRPr lang="en-US" sz="18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Kicker"/>
          <p:cNvSpPr txBox="1"/>
          <p:nvPr/>
        </p:nvSpPr>
        <p:spPr>
          <a:xfrm>
            <a:off x="548640" y="292608"/>
            <a:ext cx="8076895" cy="274320"/>
          </a:xfrm>
          <a:prstGeom prst="rect">
            <a:avLst/>
          </a:prstGeom>
          <a:noFill/>
          <a:ln/>
        </p:spPr>
        <p:txBody>
          <a:bodyPr wrap="square" lIns="0" tIns="0" rIns="0" bIns="0" rtlCol="0" anchor="ctr"/>
          <a:lstStyle/>
          <a:p>
            <a:pPr indent="0" marL="0">
              <a:buNone/>
            </a:pPr>
            <a:r>
              <a:rPr lang="en-US" sz="1200" b="1" spc="100" kern="0" dirty="0">
                <a:solidFill>
                  <a:srgbClr val="4472C4"/>
                </a:solidFill>
              </a:rPr>
              <a:t>CLINICAL VIGNETTE · LECTURE QUICK CHECK S16</a:t>
            </a:r>
            <a:endParaRPr lang="en-US" sz="1200" dirty="0"/>
          </a:p>
        </p:txBody>
      </p:sp>
      <p:sp>
        <p:nvSpPr>
          <p:cNvPr id="3" name="Title"/>
          <p:cNvSpPr txBox="1"/>
          <p:nvPr/>
        </p:nvSpPr>
        <p:spPr>
          <a:xfrm>
            <a:off x="548640" y="566928"/>
            <a:ext cx="8076895" cy="713232"/>
          </a:xfrm>
          <a:prstGeom prst="rect">
            <a:avLst/>
          </a:prstGeom>
          <a:noFill/>
          <a:ln/>
        </p:spPr>
        <p:txBody>
          <a:bodyPr wrap="square" lIns="0" tIns="0" rIns="0" bIns="0" rtlCol="0" anchor="t"/>
          <a:lstStyle/>
          <a:p>
            <a:pPr indent="0" marL="0">
              <a:buNone/>
            </a:pPr>
            <a:r>
              <a:rPr lang="en-US" sz="3000" b="1" dirty="0">
                <a:solidFill>
                  <a:srgbClr val="1F1F1F"/>
                </a:solidFill>
                <a:latin typeface="Calibri" pitchFamily="34" charset="0"/>
                <a:ea typeface="Calibri" pitchFamily="34" charset="-122"/>
                <a:cs typeface="Calibri" pitchFamily="34" charset="-120"/>
              </a:rPr>
              <a:t>Question 1</a:t>
            </a:r>
            <a:endParaRPr lang="en-US" sz="3000" dirty="0"/>
          </a:p>
        </p:txBody>
      </p:sp>
      <p:sp>
        <p:nvSpPr>
          <p:cNvPr id="4" name="Objective chip"/>
          <p:cNvSpPr/>
          <p:nvPr/>
        </p:nvSpPr>
        <p:spPr>
          <a:xfrm>
            <a:off x="8899855" y="365760"/>
            <a:ext cx="2743200" cy="384048"/>
          </a:xfrm>
          <a:prstGeom prst="roundRect">
            <a:avLst>
              <a:gd name="adj" fmla="val 35714"/>
            </a:avLst>
          </a:prstGeom>
          <a:solidFill>
            <a:srgbClr val="E3EBF8"/>
          </a:solidFill>
          <a:ln/>
        </p:spPr>
        <p:txBody>
          <a:bodyPr wrap="square" lIns="25400" tIns="25400" rIns="25400" bIns="25400" rtlCol="0" anchor="ctr"/>
          <a:lstStyle/>
          <a:p>
            <a:pPr algn="ctr" indent="0" marL="0">
              <a:buNone/>
            </a:pPr>
            <a:r>
              <a:rPr lang="en-US" sz="800" b="1" dirty="0">
                <a:solidFill>
                  <a:srgbClr val="2F4F8A"/>
                </a:solidFill>
              </a:rPr>
              <a:t>Objectives: SO1 · SO4 · IO2.1 · IO2.2 · IO2.3 · IO2.4 · IO2.5</a:t>
            </a:r>
            <a:endParaRPr lang="en-US" sz="800" dirty="0"/>
          </a:p>
        </p:txBody>
      </p:sp>
      <p:sp>
        <p:nvSpPr>
          <p:cNvPr id="5" name="Footer"/>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1000" dirty="0">
                <a:solidFill>
                  <a:srgbClr val="666666"/>
                </a:solidFill>
              </a:rPr>
              <a:t>L04 · Musculoskeletal Pharmacology — Session 2</a:t>
            </a:r>
            <a:endParaRPr lang="en-US" sz="1000" dirty="0"/>
          </a:p>
        </p:txBody>
      </p:sp>
      <p:sp>
        <p:nvSpPr>
          <p:cNvPr id="6" name="Slide number"/>
          <p:cNvSpPr txBox="1"/>
          <p:nvPr/>
        </p:nvSpPr>
        <p:spPr>
          <a:xfrm>
            <a:off x="10728655" y="6419088"/>
            <a:ext cx="914400" cy="274320"/>
          </a:xfrm>
          <a:prstGeom prst="rect">
            <a:avLst/>
          </a:prstGeom>
          <a:noFill/>
          <a:ln/>
        </p:spPr>
        <p:txBody>
          <a:bodyPr wrap="square" lIns="0" tIns="0" rIns="0" bIns="0" rtlCol="0" anchor="ctr"/>
          <a:lstStyle/>
          <a:p>
            <a:pPr algn="r" indent="0" marL="0">
              <a:buNone/>
            </a:pPr>
            <a:r>
              <a:rPr lang="en-US" sz="1000" dirty="0">
                <a:solidFill>
                  <a:srgbClr val="666666"/>
                </a:solidFill>
              </a:rPr>
              <a:t>32</a:t>
            </a:r>
            <a:endParaRPr lang="en-US" sz="1000" dirty="0"/>
          </a:p>
        </p:txBody>
      </p:sp>
      <p:sp>
        <p:nvSpPr>
          <p:cNvPr id="7" name="Question stem card"/>
          <p:cNvSpPr/>
          <p:nvPr/>
        </p:nvSpPr>
        <p:spPr>
          <a:xfrm>
            <a:off x="548640" y="1325880"/>
            <a:ext cx="11094415" cy="923544"/>
          </a:xfrm>
          <a:prstGeom prst="roundRect">
            <a:avLst>
              <a:gd name="adj" fmla="val 9901"/>
            </a:avLst>
          </a:prstGeom>
          <a:solidFill>
            <a:srgbClr val="F2F4F7"/>
          </a:solidFill>
          <a:ln w="12700">
            <a:solidFill>
              <a:srgbClr val="F2F4F7"/>
            </a:solidFill>
            <a:prstDash val="solid"/>
          </a:ln>
        </p:spPr>
      </p:sp>
      <p:sp>
        <p:nvSpPr>
          <p:cNvPr id="8" name="Question stem"/>
          <p:cNvSpPr txBox="1"/>
          <p:nvPr/>
        </p:nvSpPr>
        <p:spPr>
          <a:xfrm>
            <a:off x="777240" y="1325880"/>
            <a:ext cx="10637215" cy="923544"/>
          </a:xfrm>
          <a:prstGeom prst="rect">
            <a:avLst/>
          </a:prstGeom>
          <a:noFill/>
          <a:ln/>
        </p:spPr>
        <p:txBody>
          <a:bodyPr wrap="square" lIns="0" tIns="0" rIns="0" bIns="0" rtlCol="0" anchor="ctr"/>
          <a:lstStyle/>
          <a:p>
            <a:pPr indent="0" marL="0">
              <a:buNone/>
            </a:pPr>
            <a:r>
              <a:rPr lang="en-US" sz="1800" dirty="0">
                <a:solidFill>
                  <a:srgbClr val="1F1F1F"/>
                </a:solidFill>
              </a:rPr>
              <a:t>A 54-year-old presents with sudden, severe pain, redness, and swelling of the first metatarsophalangeal joint, consistent with an acute gout flare. What is the right plan today?</a:t>
            </a:r>
            <a:endParaRPr lang="en-US" sz="1800" dirty="0"/>
          </a:p>
        </p:txBody>
      </p:sp>
      <p:sp>
        <p:nvSpPr>
          <p:cNvPr id="9" name="Shape 7"/>
          <p:cNvSpPr/>
          <p:nvPr/>
        </p:nvSpPr>
        <p:spPr>
          <a:xfrm>
            <a:off x="548640" y="2459736"/>
            <a:ext cx="402336" cy="402336"/>
          </a:xfrm>
          <a:prstGeom prst="ellipse">
            <a:avLst/>
          </a:prstGeom>
          <a:solidFill>
            <a:srgbClr val="FFFFFF"/>
          </a:solidFill>
          <a:ln w="19050">
            <a:solidFill>
              <a:srgbClr val="4472C4"/>
            </a:solidFill>
            <a:prstDash val="solid"/>
          </a:ln>
        </p:spPr>
      </p:sp>
      <p:sp>
        <p:nvSpPr>
          <p:cNvPr id="10" name="Text 8"/>
          <p:cNvSpPr txBox="1"/>
          <p:nvPr/>
        </p:nvSpPr>
        <p:spPr>
          <a:xfrm>
            <a:off x="548640" y="2459736"/>
            <a:ext cx="402336" cy="402336"/>
          </a:xfrm>
          <a:prstGeom prst="rect">
            <a:avLst/>
          </a:prstGeom>
          <a:noFill/>
          <a:ln/>
        </p:spPr>
        <p:txBody>
          <a:bodyPr wrap="square" lIns="0" tIns="0" rIns="0" bIns="0" rtlCol="0" anchor="ctr"/>
          <a:lstStyle/>
          <a:p>
            <a:pPr algn="ctr" indent="0" marL="0">
              <a:buNone/>
            </a:pPr>
            <a:r>
              <a:rPr lang="en-US" sz="1400" b="1" dirty="0">
                <a:solidFill>
                  <a:srgbClr val="4472C4"/>
                </a:solidFill>
              </a:rPr>
              <a:t>A</a:t>
            </a:r>
            <a:endParaRPr lang="en-US" sz="1400" dirty="0"/>
          </a:p>
        </p:txBody>
      </p:sp>
      <p:sp>
        <p:nvSpPr>
          <p:cNvPr id="11" name="Option A"/>
          <p:cNvSpPr txBox="1"/>
          <p:nvPr/>
        </p:nvSpPr>
        <p:spPr>
          <a:xfrm>
            <a:off x="1188720" y="2432304"/>
            <a:ext cx="10271455" cy="457200"/>
          </a:xfrm>
          <a:prstGeom prst="rect">
            <a:avLst/>
          </a:prstGeom>
          <a:noFill/>
          <a:ln/>
        </p:spPr>
        <p:txBody>
          <a:bodyPr wrap="square" lIns="0" tIns="0" rIns="0" bIns="0" rtlCol="0" anchor="ctr"/>
          <a:lstStyle/>
          <a:p>
            <a:pPr indent="0" marL="0">
              <a:buNone/>
            </a:pPr>
            <a:r>
              <a:rPr lang="en-US" sz="1800" dirty="0">
                <a:solidFill>
                  <a:srgbClr val="1F1F1F"/>
                </a:solidFill>
              </a:rPr>
              <a:t>Start allopurinol today to lower the uric acid fast</a:t>
            </a:r>
            <a:endParaRPr lang="en-US" sz="1800" dirty="0"/>
          </a:p>
        </p:txBody>
      </p:sp>
      <p:sp>
        <p:nvSpPr>
          <p:cNvPr id="12" name="Shape 10"/>
          <p:cNvSpPr/>
          <p:nvPr/>
        </p:nvSpPr>
        <p:spPr>
          <a:xfrm>
            <a:off x="548640" y="3008376"/>
            <a:ext cx="402336" cy="402336"/>
          </a:xfrm>
          <a:prstGeom prst="ellipse">
            <a:avLst/>
          </a:prstGeom>
          <a:solidFill>
            <a:srgbClr val="FFFFFF"/>
          </a:solidFill>
          <a:ln w="19050">
            <a:solidFill>
              <a:srgbClr val="4472C4"/>
            </a:solidFill>
            <a:prstDash val="solid"/>
          </a:ln>
        </p:spPr>
      </p:sp>
      <p:sp>
        <p:nvSpPr>
          <p:cNvPr id="13" name="Text 11"/>
          <p:cNvSpPr txBox="1"/>
          <p:nvPr/>
        </p:nvSpPr>
        <p:spPr>
          <a:xfrm>
            <a:off x="548640" y="3008376"/>
            <a:ext cx="402336" cy="402336"/>
          </a:xfrm>
          <a:prstGeom prst="rect">
            <a:avLst/>
          </a:prstGeom>
          <a:noFill/>
          <a:ln/>
        </p:spPr>
        <p:txBody>
          <a:bodyPr wrap="square" lIns="0" tIns="0" rIns="0" bIns="0" rtlCol="0" anchor="ctr"/>
          <a:lstStyle/>
          <a:p>
            <a:pPr algn="ctr" indent="0" marL="0">
              <a:buNone/>
            </a:pPr>
            <a:r>
              <a:rPr lang="en-US" sz="1400" b="1" dirty="0">
                <a:solidFill>
                  <a:srgbClr val="4472C4"/>
                </a:solidFill>
              </a:rPr>
              <a:t>B</a:t>
            </a:r>
            <a:endParaRPr lang="en-US" sz="1400" dirty="0"/>
          </a:p>
        </p:txBody>
      </p:sp>
      <p:sp>
        <p:nvSpPr>
          <p:cNvPr id="14" name="Option B"/>
          <p:cNvSpPr txBox="1"/>
          <p:nvPr/>
        </p:nvSpPr>
        <p:spPr>
          <a:xfrm>
            <a:off x="1188720" y="2980944"/>
            <a:ext cx="10271455" cy="457200"/>
          </a:xfrm>
          <a:prstGeom prst="rect">
            <a:avLst/>
          </a:prstGeom>
          <a:noFill/>
          <a:ln/>
        </p:spPr>
        <p:txBody>
          <a:bodyPr wrap="square" lIns="0" tIns="0" rIns="0" bIns="0" rtlCol="0" anchor="ctr"/>
          <a:lstStyle/>
          <a:p>
            <a:pPr indent="0" marL="0">
              <a:buNone/>
            </a:pPr>
            <a:r>
              <a:rPr lang="en-US" sz="1800" dirty="0">
                <a:solidFill>
                  <a:srgbClr val="1F1F1F"/>
                </a:solidFill>
              </a:rPr>
              <a:t>Treat the flare now; defer urate-lowering therapy</a:t>
            </a:r>
            <a:endParaRPr lang="en-US" sz="1800" dirty="0"/>
          </a:p>
        </p:txBody>
      </p:sp>
      <p:sp>
        <p:nvSpPr>
          <p:cNvPr id="15" name="Shape 13"/>
          <p:cNvSpPr/>
          <p:nvPr/>
        </p:nvSpPr>
        <p:spPr>
          <a:xfrm>
            <a:off x="548640" y="3557016"/>
            <a:ext cx="402336" cy="402336"/>
          </a:xfrm>
          <a:prstGeom prst="ellipse">
            <a:avLst/>
          </a:prstGeom>
          <a:solidFill>
            <a:srgbClr val="FFFFFF"/>
          </a:solidFill>
          <a:ln w="19050">
            <a:solidFill>
              <a:srgbClr val="4472C4"/>
            </a:solidFill>
            <a:prstDash val="solid"/>
          </a:ln>
        </p:spPr>
      </p:sp>
      <p:sp>
        <p:nvSpPr>
          <p:cNvPr id="16" name="Text 14"/>
          <p:cNvSpPr txBox="1"/>
          <p:nvPr/>
        </p:nvSpPr>
        <p:spPr>
          <a:xfrm>
            <a:off x="548640" y="3557016"/>
            <a:ext cx="402336" cy="402336"/>
          </a:xfrm>
          <a:prstGeom prst="rect">
            <a:avLst/>
          </a:prstGeom>
          <a:noFill/>
          <a:ln/>
        </p:spPr>
        <p:txBody>
          <a:bodyPr wrap="square" lIns="0" tIns="0" rIns="0" bIns="0" rtlCol="0" anchor="ctr"/>
          <a:lstStyle/>
          <a:p>
            <a:pPr algn="ctr" indent="0" marL="0">
              <a:buNone/>
            </a:pPr>
            <a:r>
              <a:rPr lang="en-US" sz="1400" b="1" dirty="0">
                <a:solidFill>
                  <a:srgbClr val="4472C4"/>
                </a:solidFill>
              </a:rPr>
              <a:t>C</a:t>
            </a:r>
            <a:endParaRPr lang="en-US" sz="1400" dirty="0"/>
          </a:p>
        </p:txBody>
      </p:sp>
      <p:sp>
        <p:nvSpPr>
          <p:cNvPr id="17" name="Option C"/>
          <p:cNvSpPr txBox="1"/>
          <p:nvPr/>
        </p:nvSpPr>
        <p:spPr>
          <a:xfrm>
            <a:off x="1188720" y="3529584"/>
            <a:ext cx="10271455" cy="457200"/>
          </a:xfrm>
          <a:prstGeom prst="rect">
            <a:avLst/>
          </a:prstGeom>
          <a:noFill/>
          <a:ln/>
        </p:spPr>
        <p:txBody>
          <a:bodyPr wrap="square" lIns="0" tIns="0" rIns="0" bIns="0" rtlCol="0" anchor="ctr"/>
          <a:lstStyle/>
          <a:p>
            <a:pPr indent="0" marL="0">
              <a:buNone/>
            </a:pPr>
            <a:r>
              <a:rPr lang="en-US" sz="1800" dirty="0">
                <a:solidFill>
                  <a:srgbClr val="1F1F1F"/>
                </a:solidFill>
              </a:rPr>
              <a:t>Give probenecid now to flush the uric acid out</a:t>
            </a:r>
            <a:endParaRPr lang="en-US" sz="1800" dirty="0"/>
          </a:p>
        </p:txBody>
      </p:sp>
      <p:sp>
        <p:nvSpPr>
          <p:cNvPr id="18" name="Shape 16"/>
          <p:cNvSpPr/>
          <p:nvPr/>
        </p:nvSpPr>
        <p:spPr>
          <a:xfrm>
            <a:off x="548640" y="4105656"/>
            <a:ext cx="402336" cy="402336"/>
          </a:xfrm>
          <a:prstGeom prst="ellipse">
            <a:avLst/>
          </a:prstGeom>
          <a:solidFill>
            <a:srgbClr val="FFFFFF"/>
          </a:solidFill>
          <a:ln w="19050">
            <a:solidFill>
              <a:srgbClr val="4472C4"/>
            </a:solidFill>
            <a:prstDash val="solid"/>
          </a:ln>
        </p:spPr>
      </p:sp>
      <p:sp>
        <p:nvSpPr>
          <p:cNvPr id="19" name="Text 17"/>
          <p:cNvSpPr txBox="1"/>
          <p:nvPr/>
        </p:nvSpPr>
        <p:spPr>
          <a:xfrm>
            <a:off x="548640" y="4105656"/>
            <a:ext cx="402336" cy="402336"/>
          </a:xfrm>
          <a:prstGeom prst="rect">
            <a:avLst/>
          </a:prstGeom>
          <a:noFill/>
          <a:ln/>
        </p:spPr>
        <p:txBody>
          <a:bodyPr wrap="square" lIns="0" tIns="0" rIns="0" bIns="0" rtlCol="0" anchor="ctr"/>
          <a:lstStyle/>
          <a:p>
            <a:pPr algn="ctr" indent="0" marL="0">
              <a:buNone/>
            </a:pPr>
            <a:r>
              <a:rPr lang="en-US" sz="1400" b="1" dirty="0">
                <a:solidFill>
                  <a:srgbClr val="4472C4"/>
                </a:solidFill>
              </a:rPr>
              <a:t>D</a:t>
            </a:r>
            <a:endParaRPr lang="en-US" sz="1400" dirty="0"/>
          </a:p>
        </p:txBody>
      </p:sp>
      <p:sp>
        <p:nvSpPr>
          <p:cNvPr id="20" name="Option D"/>
          <p:cNvSpPr txBox="1"/>
          <p:nvPr/>
        </p:nvSpPr>
        <p:spPr>
          <a:xfrm>
            <a:off x="1188720" y="4078224"/>
            <a:ext cx="10271455" cy="457200"/>
          </a:xfrm>
          <a:prstGeom prst="rect">
            <a:avLst/>
          </a:prstGeom>
          <a:noFill/>
          <a:ln/>
        </p:spPr>
        <p:txBody>
          <a:bodyPr wrap="square" lIns="0" tIns="0" rIns="0" bIns="0" rtlCol="0" anchor="ctr"/>
          <a:lstStyle/>
          <a:p>
            <a:pPr indent="0" marL="0">
              <a:buNone/>
            </a:pPr>
            <a:r>
              <a:rPr lang="en-US" sz="1800" dirty="0">
                <a:solidFill>
                  <a:srgbClr val="1F1F1F"/>
                </a:solidFill>
              </a:rPr>
              <a:t>Give pegloticase now as the fastest uric acid drop</a:t>
            </a:r>
            <a:endParaRPr lang="en-US" sz="1800" dirty="0"/>
          </a:p>
        </p:txBody>
      </p:sp>
      <p:sp>
        <p:nvSpPr>
          <p:cNvPr id="21" name="Shape 19"/>
          <p:cNvSpPr/>
          <p:nvPr/>
        </p:nvSpPr>
        <p:spPr>
          <a:xfrm>
            <a:off x="548640" y="4654296"/>
            <a:ext cx="402336" cy="402336"/>
          </a:xfrm>
          <a:prstGeom prst="ellipse">
            <a:avLst/>
          </a:prstGeom>
          <a:solidFill>
            <a:srgbClr val="FFFFFF"/>
          </a:solidFill>
          <a:ln w="19050">
            <a:solidFill>
              <a:srgbClr val="4472C4"/>
            </a:solidFill>
            <a:prstDash val="solid"/>
          </a:ln>
        </p:spPr>
      </p:sp>
      <p:sp>
        <p:nvSpPr>
          <p:cNvPr id="22" name="Text 20"/>
          <p:cNvSpPr txBox="1"/>
          <p:nvPr/>
        </p:nvSpPr>
        <p:spPr>
          <a:xfrm>
            <a:off x="548640" y="4654296"/>
            <a:ext cx="402336" cy="402336"/>
          </a:xfrm>
          <a:prstGeom prst="rect">
            <a:avLst/>
          </a:prstGeom>
          <a:noFill/>
          <a:ln/>
        </p:spPr>
        <p:txBody>
          <a:bodyPr wrap="square" lIns="0" tIns="0" rIns="0" bIns="0" rtlCol="0" anchor="ctr"/>
          <a:lstStyle/>
          <a:p>
            <a:pPr algn="ctr" indent="0" marL="0">
              <a:buNone/>
            </a:pPr>
            <a:r>
              <a:rPr lang="en-US" sz="1400" b="1" dirty="0">
                <a:solidFill>
                  <a:srgbClr val="4472C4"/>
                </a:solidFill>
              </a:rPr>
              <a:t>E</a:t>
            </a:r>
            <a:endParaRPr lang="en-US" sz="1400" dirty="0"/>
          </a:p>
        </p:txBody>
      </p:sp>
      <p:sp>
        <p:nvSpPr>
          <p:cNvPr id="23" name="Option E"/>
          <p:cNvSpPr txBox="1"/>
          <p:nvPr/>
        </p:nvSpPr>
        <p:spPr>
          <a:xfrm>
            <a:off x="1188720" y="4626864"/>
            <a:ext cx="10271455" cy="457200"/>
          </a:xfrm>
          <a:prstGeom prst="rect">
            <a:avLst/>
          </a:prstGeom>
          <a:noFill/>
          <a:ln/>
        </p:spPr>
        <p:txBody>
          <a:bodyPr wrap="square" lIns="0" tIns="0" rIns="0" bIns="0" rtlCol="0" anchor="ctr"/>
          <a:lstStyle/>
          <a:p>
            <a:pPr indent="0" marL="0">
              <a:buNone/>
            </a:pPr>
            <a:r>
              <a:rPr lang="en-US" sz="1800" dirty="0">
                <a:solidFill>
                  <a:srgbClr val="1F1F1F"/>
                </a:solidFill>
              </a:rPr>
              <a:t>Start allopurinol and colchicine together right now</a:t>
            </a:r>
            <a:endParaRPr lang="en-US" sz="18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Kicker"/>
          <p:cNvSpPr txBox="1"/>
          <p:nvPr/>
        </p:nvSpPr>
        <p:spPr>
          <a:xfrm>
            <a:off x="548640" y="292608"/>
            <a:ext cx="8076895" cy="274320"/>
          </a:xfrm>
          <a:prstGeom prst="rect">
            <a:avLst/>
          </a:prstGeom>
          <a:noFill/>
          <a:ln/>
        </p:spPr>
        <p:txBody>
          <a:bodyPr wrap="square" lIns="0" tIns="0" rIns="0" bIns="0" rtlCol="0" anchor="ctr"/>
          <a:lstStyle/>
          <a:p>
            <a:pPr indent="0" marL="0">
              <a:buNone/>
            </a:pPr>
            <a:r>
              <a:rPr lang="en-US" sz="1200" b="1" spc="100" kern="0" dirty="0">
                <a:solidFill>
                  <a:srgbClr val="4472C4"/>
                </a:solidFill>
              </a:rPr>
              <a:t>CLINICAL VIGNETTE · ANSWER</a:t>
            </a:r>
            <a:endParaRPr lang="en-US" sz="1200" dirty="0"/>
          </a:p>
        </p:txBody>
      </p:sp>
      <p:sp>
        <p:nvSpPr>
          <p:cNvPr id="3" name="Title"/>
          <p:cNvSpPr txBox="1"/>
          <p:nvPr/>
        </p:nvSpPr>
        <p:spPr>
          <a:xfrm>
            <a:off x="548640" y="566928"/>
            <a:ext cx="8076895" cy="713232"/>
          </a:xfrm>
          <a:prstGeom prst="rect">
            <a:avLst/>
          </a:prstGeom>
          <a:noFill/>
          <a:ln/>
        </p:spPr>
        <p:txBody>
          <a:bodyPr wrap="square" lIns="0" tIns="0" rIns="0" bIns="0" rtlCol="0" anchor="t"/>
          <a:lstStyle/>
          <a:p>
            <a:pPr indent="0" marL="0">
              <a:buNone/>
            </a:pPr>
            <a:r>
              <a:rPr lang="en-US" sz="3000" b="1" dirty="0">
                <a:solidFill>
                  <a:srgbClr val="1F1F1F"/>
                </a:solidFill>
                <a:latin typeface="Calibri" pitchFamily="34" charset="0"/>
                <a:ea typeface="Calibri" pitchFamily="34" charset="-122"/>
                <a:cs typeface="Calibri" pitchFamily="34" charset="-120"/>
              </a:rPr>
              <a:t>Answer 1: B</a:t>
            </a:r>
            <a:endParaRPr lang="en-US" sz="3000" dirty="0"/>
          </a:p>
        </p:txBody>
      </p:sp>
      <p:sp>
        <p:nvSpPr>
          <p:cNvPr id="4" name="Objective chip"/>
          <p:cNvSpPr/>
          <p:nvPr/>
        </p:nvSpPr>
        <p:spPr>
          <a:xfrm>
            <a:off x="8899855" y="365760"/>
            <a:ext cx="2743200" cy="384048"/>
          </a:xfrm>
          <a:prstGeom prst="roundRect">
            <a:avLst>
              <a:gd name="adj" fmla="val 35714"/>
            </a:avLst>
          </a:prstGeom>
          <a:solidFill>
            <a:srgbClr val="E3EBF8"/>
          </a:solidFill>
          <a:ln/>
        </p:spPr>
        <p:txBody>
          <a:bodyPr wrap="square" lIns="25400" tIns="25400" rIns="25400" bIns="25400" rtlCol="0" anchor="ctr"/>
          <a:lstStyle/>
          <a:p>
            <a:pPr algn="ctr" indent="0" marL="0">
              <a:buNone/>
            </a:pPr>
            <a:r>
              <a:rPr lang="en-US" sz="800" b="1" dirty="0">
                <a:solidFill>
                  <a:srgbClr val="2F4F8A"/>
                </a:solidFill>
              </a:rPr>
              <a:t>Objectives: SO1 · SO4 · IO2.1 · IO2.2 · IO2.3 · IO2.4 · IO2.5</a:t>
            </a:r>
            <a:endParaRPr lang="en-US" sz="800" dirty="0"/>
          </a:p>
        </p:txBody>
      </p:sp>
      <p:sp>
        <p:nvSpPr>
          <p:cNvPr id="5" name="Footer"/>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1000" dirty="0">
                <a:solidFill>
                  <a:srgbClr val="666666"/>
                </a:solidFill>
              </a:rPr>
              <a:t>L04 · Musculoskeletal Pharmacology — Session 2</a:t>
            </a:r>
            <a:endParaRPr lang="en-US" sz="1000" dirty="0"/>
          </a:p>
        </p:txBody>
      </p:sp>
      <p:sp>
        <p:nvSpPr>
          <p:cNvPr id="6" name="Slide number"/>
          <p:cNvSpPr txBox="1"/>
          <p:nvPr/>
        </p:nvSpPr>
        <p:spPr>
          <a:xfrm>
            <a:off x="10728655" y="6419088"/>
            <a:ext cx="914400" cy="274320"/>
          </a:xfrm>
          <a:prstGeom prst="rect">
            <a:avLst/>
          </a:prstGeom>
          <a:noFill/>
          <a:ln/>
        </p:spPr>
        <p:txBody>
          <a:bodyPr wrap="square" lIns="0" tIns="0" rIns="0" bIns="0" rtlCol="0" anchor="ctr"/>
          <a:lstStyle/>
          <a:p>
            <a:pPr algn="r" indent="0" marL="0">
              <a:buNone/>
            </a:pPr>
            <a:r>
              <a:rPr lang="en-US" sz="1000" dirty="0">
                <a:solidFill>
                  <a:srgbClr val="666666"/>
                </a:solidFill>
              </a:rPr>
              <a:t>33</a:t>
            </a:r>
            <a:endParaRPr lang="en-US" sz="1000" dirty="0"/>
          </a:p>
        </p:txBody>
      </p:sp>
      <p:sp>
        <p:nvSpPr>
          <p:cNvPr id="7" name="Correct answer"/>
          <p:cNvSpPr/>
          <p:nvPr/>
        </p:nvSpPr>
        <p:spPr>
          <a:xfrm>
            <a:off x="548640" y="1325880"/>
            <a:ext cx="11094415" cy="548640"/>
          </a:xfrm>
          <a:prstGeom prst="roundRect">
            <a:avLst>
              <a:gd name="adj" fmla="val 16667"/>
            </a:avLst>
          </a:prstGeom>
          <a:solidFill>
            <a:srgbClr val="E2F0D9"/>
          </a:solidFill>
          <a:ln w="19050">
            <a:solidFill>
              <a:srgbClr val="548235"/>
            </a:solidFill>
            <a:prstDash val="solid"/>
          </a:ln>
        </p:spPr>
      </p:sp>
      <p:pic>
        <p:nvPicPr>
          <p:cNvPr id="8" name="Image 0" descr="preencoded.png">    </p:cNvPr>
          <p:cNvPicPr>
            <a:picLocks noChangeAspect="1"/>
          </p:cNvPicPr>
          <p:nvPr/>
        </p:nvPicPr>
        <p:blipFill>
          <a:blip r:embed="rId1"/>
          <a:stretch>
            <a:fillRect/>
          </a:stretch>
        </p:blipFill>
        <p:spPr>
          <a:xfrm>
            <a:off x="731520" y="1435608"/>
            <a:ext cx="329184" cy="329184"/>
          </a:xfrm>
          <a:prstGeom prst="rect">
            <a:avLst/>
          </a:prstGeom>
        </p:spPr>
      </p:pic>
      <p:sp>
        <p:nvSpPr>
          <p:cNvPr id="9" name="Text 6"/>
          <p:cNvSpPr txBox="1"/>
          <p:nvPr/>
        </p:nvSpPr>
        <p:spPr>
          <a:xfrm>
            <a:off x="1234440" y="1325880"/>
            <a:ext cx="10180015" cy="548640"/>
          </a:xfrm>
          <a:prstGeom prst="rect">
            <a:avLst/>
          </a:prstGeom>
          <a:noFill/>
          <a:ln/>
        </p:spPr>
        <p:txBody>
          <a:bodyPr wrap="square" lIns="0" tIns="0" rIns="0" bIns="0" rtlCol="0" anchor="ctr"/>
          <a:lstStyle/>
          <a:p>
            <a:pPr indent="0" marL="0">
              <a:buNone/>
            </a:pPr>
            <a:r>
              <a:rPr lang="en-US" sz="1600" b="1" dirty="0">
                <a:solidFill>
                  <a:srgbClr val="1F1F1F"/>
                </a:solidFill>
              </a:rPr>
              <a:t>B. </a:t>
            </a:r>
            <a:r>
              <a:rPr lang="en-US" sz="1600" b="1" dirty="0">
                <a:solidFill>
                  <a:srgbClr val="1F1F1F"/>
                </a:solidFill>
              </a:rPr>
              <a:t>Treat the flare now; defer urate-lowering therapy</a:t>
            </a:r>
            <a:endParaRPr lang="en-US" sz="1600" dirty="0"/>
          </a:p>
        </p:txBody>
      </p:sp>
      <p:sp>
        <p:nvSpPr>
          <p:cNvPr id="10" name="Why correct"/>
          <p:cNvSpPr txBox="1"/>
          <p:nvPr/>
        </p:nvSpPr>
        <p:spPr>
          <a:xfrm>
            <a:off x="777240" y="2011680"/>
            <a:ext cx="10637215" cy="724408"/>
          </a:xfrm>
          <a:prstGeom prst="rect">
            <a:avLst/>
          </a:prstGeom>
          <a:noFill/>
          <a:ln/>
        </p:spPr>
        <p:txBody>
          <a:bodyPr wrap="square" lIns="0" tIns="0" rIns="0" bIns="0" rtlCol="0" anchor="t"/>
          <a:lstStyle/>
          <a:p>
            <a:pPr indent="0" marL="0">
              <a:buNone/>
            </a:pPr>
            <a:r>
              <a:rPr lang="en-US" sz="1600" dirty="0">
                <a:solidFill>
                  <a:srgbClr val="1F1F1F"/>
                </a:solidFill>
              </a:rPr>
              <a:t>Treat the acute flare first (colchicine, NSAID, or corticosteroid); urate-lowering therapy is deferred until the flare resolves, then used for long-term prevention (S16; SG U2-R10).</a:t>
            </a:r>
            <a:r>
              <a:rPr lang="en-US" sz="1100" dirty="0">
                <a:solidFill>
                  <a:srgbClr val="666666"/>
                </a:solidFill>
              </a:rPr>
              <a:t>  S16; SG U2-R10</a:t>
            </a:r>
            <a:endParaRPr lang="en-US" sz="1600" dirty="0"/>
          </a:p>
        </p:txBody>
      </p:sp>
      <p:sp>
        <p:nvSpPr>
          <p:cNvPr id="11" name="Why others wrong card"/>
          <p:cNvSpPr/>
          <p:nvPr/>
        </p:nvSpPr>
        <p:spPr>
          <a:xfrm>
            <a:off x="548640" y="2873248"/>
            <a:ext cx="11094415" cy="1952752"/>
          </a:xfrm>
          <a:prstGeom prst="roundRect">
            <a:avLst>
              <a:gd name="adj" fmla="val 4683"/>
            </a:avLst>
          </a:prstGeom>
          <a:solidFill>
            <a:srgbClr val="F2F4F7"/>
          </a:solidFill>
          <a:ln w="12700">
            <a:solidFill>
              <a:srgbClr val="F2F4F7"/>
            </a:solidFill>
            <a:prstDash val="solid"/>
          </a:ln>
        </p:spPr>
      </p:sp>
      <p:sp>
        <p:nvSpPr>
          <p:cNvPr id="12" name="Why others wrong"/>
          <p:cNvSpPr txBox="1"/>
          <p:nvPr/>
        </p:nvSpPr>
        <p:spPr>
          <a:xfrm>
            <a:off x="777240" y="2982976"/>
            <a:ext cx="10637215" cy="1769872"/>
          </a:xfrm>
          <a:prstGeom prst="rect">
            <a:avLst/>
          </a:prstGeom>
          <a:noFill/>
          <a:ln/>
        </p:spPr>
        <p:txBody>
          <a:bodyPr wrap="square" lIns="0" tIns="0" rIns="0" bIns="0" rtlCol="0" anchor="t"/>
          <a:lstStyle/>
          <a:p>
            <a:pPr indent="0" marL="0">
              <a:spcAft>
                <a:spcPts val="400"/>
              </a:spcAft>
              <a:buNone/>
            </a:pPr>
            <a:r>
              <a:rPr lang="en-US" sz="1600" b="1" dirty="0">
                <a:solidFill>
                  <a:srgbClr val="C00000"/>
                </a:solidFill>
              </a:rPr>
              <a:t>Why the other choices are wrong</a:t>
            </a:r>
            <a:endParaRPr lang="en-US" sz="1600" dirty="0"/>
          </a:p>
          <a:p>
            <a:pPr indent="0" marL="0">
              <a:buNone/>
            </a:pPr>
            <a:r>
              <a:rPr lang="en-US" sz="1600" b="1" dirty="0">
                <a:solidFill>
                  <a:srgbClr val="1F1F1F"/>
                </a:solidFill>
              </a:rPr>
              <a:t>A. Start allopurinol today to lower the uric acid fast — </a:t>
            </a:r>
            <a:r>
              <a:rPr lang="en-US" sz="1600" dirty="0">
                <a:solidFill>
                  <a:srgbClr val="1F1F1F"/>
                </a:solidFill>
              </a:rPr>
              <a:t>Starting ULT during a flare can prolong it (S9).</a:t>
            </a:r>
            <a:endParaRPr lang="en-US" sz="1600" dirty="0"/>
          </a:p>
          <a:p>
            <a:pPr indent="0" marL="0">
              <a:buNone/>
            </a:pPr>
            <a:r>
              <a:rPr lang="en-US" sz="1600" b="1" dirty="0">
                <a:solidFill>
                  <a:srgbClr val="1F1F1F"/>
                </a:solidFill>
              </a:rPr>
              <a:t>C. Give probenecid now to flush the uric acid out — </a:t>
            </a:r>
            <a:r>
              <a:rPr lang="en-US" sz="1600" dirty="0">
                <a:solidFill>
                  <a:srgbClr val="1F1F1F"/>
                </a:solidFill>
              </a:rPr>
              <a:t>Probenecid is chronic ULT, not flare treatment (S14).</a:t>
            </a:r>
            <a:endParaRPr lang="en-US" sz="1600" dirty="0"/>
          </a:p>
          <a:p>
            <a:pPr indent="0" marL="0">
              <a:buNone/>
            </a:pPr>
            <a:r>
              <a:rPr lang="en-US" sz="1600" b="1" dirty="0">
                <a:solidFill>
                  <a:srgbClr val="1F1F1F"/>
                </a:solidFill>
              </a:rPr>
              <a:t>D. Give pegloticase now as the fastest uric acid drop — </a:t>
            </a:r>
            <a:r>
              <a:rPr lang="en-US" sz="1600" dirty="0">
                <a:solidFill>
                  <a:srgbClr val="1F1F1F"/>
                </a:solidFill>
              </a:rPr>
              <a:t>Pegloticase is for refractory chronic gout (S14).</a:t>
            </a:r>
            <a:endParaRPr lang="en-US" sz="1600" dirty="0"/>
          </a:p>
          <a:p>
            <a:pPr indent="0" marL="0">
              <a:buNone/>
            </a:pPr>
            <a:r>
              <a:rPr lang="en-US" sz="1600" b="1" dirty="0">
                <a:solidFill>
                  <a:srgbClr val="1F1F1F"/>
                </a:solidFill>
              </a:rPr>
              <a:t>E. Start allopurinol and colchicine together right now — </a:t>
            </a:r>
            <a:r>
              <a:rPr lang="en-US" sz="1600" dirty="0">
                <a:solidFill>
                  <a:srgbClr val="1F1F1F"/>
                </a:solidFill>
              </a:rPr>
              <a:t>ULT waits until the flare resolves; colchicine alone treats the flare (S16).</a:t>
            </a:r>
            <a:endParaRPr lang="en-US" sz="16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Kicker"/>
          <p:cNvSpPr txBox="1"/>
          <p:nvPr/>
        </p:nvSpPr>
        <p:spPr>
          <a:xfrm>
            <a:off x="548640" y="292608"/>
            <a:ext cx="8076895" cy="274320"/>
          </a:xfrm>
          <a:prstGeom prst="rect">
            <a:avLst/>
          </a:prstGeom>
          <a:noFill/>
          <a:ln/>
        </p:spPr>
        <p:txBody>
          <a:bodyPr wrap="square" lIns="0" tIns="0" rIns="0" bIns="0" rtlCol="0" anchor="ctr"/>
          <a:lstStyle/>
          <a:p>
            <a:pPr indent="0" marL="0">
              <a:buNone/>
            </a:pPr>
            <a:r>
              <a:rPr lang="en-US" sz="1200" b="1" spc="100" kern="0" dirty="0">
                <a:solidFill>
                  <a:srgbClr val="4472C4"/>
                </a:solidFill>
              </a:rPr>
              <a:t>CLINICAL VIGNETTE · LECTURE QUICK CHECK S17; S18</a:t>
            </a:r>
            <a:endParaRPr lang="en-US" sz="1200" dirty="0"/>
          </a:p>
        </p:txBody>
      </p:sp>
      <p:sp>
        <p:nvSpPr>
          <p:cNvPr id="3" name="Title"/>
          <p:cNvSpPr txBox="1"/>
          <p:nvPr/>
        </p:nvSpPr>
        <p:spPr>
          <a:xfrm>
            <a:off x="548640" y="566928"/>
            <a:ext cx="8076895" cy="713232"/>
          </a:xfrm>
          <a:prstGeom prst="rect">
            <a:avLst/>
          </a:prstGeom>
          <a:noFill/>
          <a:ln/>
        </p:spPr>
        <p:txBody>
          <a:bodyPr wrap="square" lIns="0" tIns="0" rIns="0" bIns="0" rtlCol="0" anchor="t"/>
          <a:lstStyle/>
          <a:p>
            <a:pPr indent="0" marL="0">
              <a:buNone/>
            </a:pPr>
            <a:r>
              <a:rPr lang="en-US" sz="3000" b="1" dirty="0">
                <a:solidFill>
                  <a:srgbClr val="1F1F1F"/>
                </a:solidFill>
                <a:latin typeface="Calibri" pitchFamily="34" charset="0"/>
                <a:ea typeface="Calibri" pitchFamily="34" charset="-122"/>
                <a:cs typeface="Calibri" pitchFamily="34" charset="-120"/>
              </a:rPr>
              <a:t>Question 2</a:t>
            </a:r>
            <a:endParaRPr lang="en-US" sz="3000" dirty="0"/>
          </a:p>
        </p:txBody>
      </p:sp>
      <p:sp>
        <p:nvSpPr>
          <p:cNvPr id="4" name="Objective chip"/>
          <p:cNvSpPr/>
          <p:nvPr/>
        </p:nvSpPr>
        <p:spPr>
          <a:xfrm>
            <a:off x="8899855" y="365760"/>
            <a:ext cx="2743200" cy="384048"/>
          </a:xfrm>
          <a:prstGeom prst="roundRect">
            <a:avLst>
              <a:gd name="adj" fmla="val 35714"/>
            </a:avLst>
          </a:prstGeom>
          <a:solidFill>
            <a:srgbClr val="E3EBF8"/>
          </a:solidFill>
          <a:ln/>
        </p:spPr>
        <p:txBody>
          <a:bodyPr wrap="square" lIns="25400" tIns="25400" rIns="25400" bIns="25400" rtlCol="0" anchor="ctr"/>
          <a:lstStyle/>
          <a:p>
            <a:pPr algn="ctr" indent="0" marL="0">
              <a:buNone/>
            </a:pPr>
            <a:r>
              <a:rPr lang="en-US" sz="800" b="1" dirty="0">
                <a:solidFill>
                  <a:srgbClr val="2F4F8A"/>
                </a:solidFill>
              </a:rPr>
              <a:t>Objectives: SO1 · SO4 · IO2.1 · IO2.2 · IO2.3 · IO2.4 · IO2.5</a:t>
            </a:r>
            <a:endParaRPr lang="en-US" sz="800" dirty="0"/>
          </a:p>
        </p:txBody>
      </p:sp>
      <p:sp>
        <p:nvSpPr>
          <p:cNvPr id="5" name="Footer"/>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1000" dirty="0">
                <a:solidFill>
                  <a:srgbClr val="666666"/>
                </a:solidFill>
              </a:rPr>
              <a:t>L04 · Musculoskeletal Pharmacology — Session 2</a:t>
            </a:r>
            <a:endParaRPr lang="en-US" sz="1000" dirty="0"/>
          </a:p>
        </p:txBody>
      </p:sp>
      <p:sp>
        <p:nvSpPr>
          <p:cNvPr id="6" name="Slide number"/>
          <p:cNvSpPr txBox="1"/>
          <p:nvPr/>
        </p:nvSpPr>
        <p:spPr>
          <a:xfrm>
            <a:off x="10728655" y="6419088"/>
            <a:ext cx="914400" cy="274320"/>
          </a:xfrm>
          <a:prstGeom prst="rect">
            <a:avLst/>
          </a:prstGeom>
          <a:noFill/>
          <a:ln/>
        </p:spPr>
        <p:txBody>
          <a:bodyPr wrap="square" lIns="0" tIns="0" rIns="0" bIns="0" rtlCol="0" anchor="ctr"/>
          <a:lstStyle/>
          <a:p>
            <a:pPr algn="r" indent="0" marL="0">
              <a:buNone/>
            </a:pPr>
            <a:r>
              <a:rPr lang="en-US" sz="1000" dirty="0">
                <a:solidFill>
                  <a:srgbClr val="666666"/>
                </a:solidFill>
              </a:rPr>
              <a:t>34</a:t>
            </a:r>
            <a:endParaRPr lang="en-US" sz="1000" dirty="0"/>
          </a:p>
        </p:txBody>
      </p:sp>
      <p:sp>
        <p:nvSpPr>
          <p:cNvPr id="7" name="Question stem card"/>
          <p:cNvSpPr/>
          <p:nvPr/>
        </p:nvSpPr>
        <p:spPr>
          <a:xfrm>
            <a:off x="548640" y="1325880"/>
            <a:ext cx="11094415" cy="644652"/>
          </a:xfrm>
          <a:prstGeom prst="roundRect">
            <a:avLst>
              <a:gd name="adj" fmla="val 14184"/>
            </a:avLst>
          </a:prstGeom>
          <a:solidFill>
            <a:srgbClr val="F2F4F7"/>
          </a:solidFill>
          <a:ln w="12700">
            <a:solidFill>
              <a:srgbClr val="F2F4F7"/>
            </a:solidFill>
            <a:prstDash val="solid"/>
          </a:ln>
        </p:spPr>
      </p:sp>
      <p:sp>
        <p:nvSpPr>
          <p:cNvPr id="8" name="Question stem"/>
          <p:cNvSpPr txBox="1"/>
          <p:nvPr/>
        </p:nvSpPr>
        <p:spPr>
          <a:xfrm>
            <a:off x="777240" y="1325880"/>
            <a:ext cx="10637215" cy="644652"/>
          </a:xfrm>
          <a:prstGeom prst="rect">
            <a:avLst/>
          </a:prstGeom>
          <a:noFill/>
          <a:ln/>
        </p:spPr>
        <p:txBody>
          <a:bodyPr wrap="square" lIns="0" tIns="0" rIns="0" bIns="0" rtlCol="0" anchor="ctr"/>
          <a:lstStyle/>
          <a:p>
            <a:pPr indent="0" marL="0">
              <a:buNone/>
            </a:pPr>
            <a:r>
              <a:rPr lang="en-US" sz="1800" dirty="0">
                <a:solidFill>
                  <a:srgbClr val="1F1F1F"/>
                </a:solidFill>
              </a:rPr>
              <a:t>A patient presents with an acute gout flare. Which action is most appropriate at this visit?</a:t>
            </a:r>
            <a:endParaRPr lang="en-US" sz="1800" dirty="0"/>
          </a:p>
        </p:txBody>
      </p:sp>
      <p:sp>
        <p:nvSpPr>
          <p:cNvPr id="9" name="Shape 7"/>
          <p:cNvSpPr/>
          <p:nvPr/>
        </p:nvSpPr>
        <p:spPr>
          <a:xfrm>
            <a:off x="548640" y="2180844"/>
            <a:ext cx="402336" cy="402336"/>
          </a:xfrm>
          <a:prstGeom prst="ellipse">
            <a:avLst/>
          </a:prstGeom>
          <a:solidFill>
            <a:srgbClr val="FFFFFF"/>
          </a:solidFill>
          <a:ln w="19050">
            <a:solidFill>
              <a:srgbClr val="4472C4"/>
            </a:solidFill>
            <a:prstDash val="solid"/>
          </a:ln>
        </p:spPr>
      </p:sp>
      <p:sp>
        <p:nvSpPr>
          <p:cNvPr id="10" name="Text 8"/>
          <p:cNvSpPr txBox="1"/>
          <p:nvPr/>
        </p:nvSpPr>
        <p:spPr>
          <a:xfrm>
            <a:off x="548640" y="2180844"/>
            <a:ext cx="402336" cy="402336"/>
          </a:xfrm>
          <a:prstGeom prst="rect">
            <a:avLst/>
          </a:prstGeom>
          <a:noFill/>
          <a:ln/>
        </p:spPr>
        <p:txBody>
          <a:bodyPr wrap="square" lIns="0" tIns="0" rIns="0" bIns="0" rtlCol="0" anchor="ctr"/>
          <a:lstStyle/>
          <a:p>
            <a:pPr algn="ctr" indent="0" marL="0">
              <a:buNone/>
            </a:pPr>
            <a:r>
              <a:rPr lang="en-US" sz="1400" b="1" dirty="0">
                <a:solidFill>
                  <a:srgbClr val="4472C4"/>
                </a:solidFill>
              </a:rPr>
              <a:t>A</a:t>
            </a:r>
            <a:endParaRPr lang="en-US" sz="1400" dirty="0"/>
          </a:p>
        </p:txBody>
      </p:sp>
      <p:sp>
        <p:nvSpPr>
          <p:cNvPr id="11" name="Option A"/>
          <p:cNvSpPr txBox="1"/>
          <p:nvPr/>
        </p:nvSpPr>
        <p:spPr>
          <a:xfrm>
            <a:off x="1188720" y="2153412"/>
            <a:ext cx="10271455" cy="457200"/>
          </a:xfrm>
          <a:prstGeom prst="rect">
            <a:avLst/>
          </a:prstGeom>
          <a:noFill/>
          <a:ln/>
        </p:spPr>
        <p:txBody>
          <a:bodyPr wrap="square" lIns="0" tIns="0" rIns="0" bIns="0" rtlCol="0" anchor="ctr"/>
          <a:lstStyle/>
          <a:p>
            <a:pPr indent="0" marL="0">
              <a:buNone/>
            </a:pPr>
            <a:r>
              <a:rPr lang="en-US" sz="1800" dirty="0">
                <a:solidFill>
                  <a:srgbClr val="1F1F1F"/>
                </a:solidFill>
              </a:rPr>
              <a:t>Start probenecid to clear the uric acid</a:t>
            </a:r>
            <a:endParaRPr lang="en-US" sz="1800" dirty="0"/>
          </a:p>
        </p:txBody>
      </p:sp>
      <p:sp>
        <p:nvSpPr>
          <p:cNvPr id="12" name="Shape 10"/>
          <p:cNvSpPr/>
          <p:nvPr/>
        </p:nvSpPr>
        <p:spPr>
          <a:xfrm>
            <a:off x="548640" y="2729484"/>
            <a:ext cx="402336" cy="402336"/>
          </a:xfrm>
          <a:prstGeom prst="ellipse">
            <a:avLst/>
          </a:prstGeom>
          <a:solidFill>
            <a:srgbClr val="FFFFFF"/>
          </a:solidFill>
          <a:ln w="19050">
            <a:solidFill>
              <a:srgbClr val="4472C4"/>
            </a:solidFill>
            <a:prstDash val="solid"/>
          </a:ln>
        </p:spPr>
      </p:sp>
      <p:sp>
        <p:nvSpPr>
          <p:cNvPr id="13" name="Text 11"/>
          <p:cNvSpPr txBox="1"/>
          <p:nvPr/>
        </p:nvSpPr>
        <p:spPr>
          <a:xfrm>
            <a:off x="548640" y="2729484"/>
            <a:ext cx="402336" cy="402336"/>
          </a:xfrm>
          <a:prstGeom prst="rect">
            <a:avLst/>
          </a:prstGeom>
          <a:noFill/>
          <a:ln/>
        </p:spPr>
        <p:txBody>
          <a:bodyPr wrap="square" lIns="0" tIns="0" rIns="0" bIns="0" rtlCol="0" anchor="ctr"/>
          <a:lstStyle/>
          <a:p>
            <a:pPr algn="ctr" indent="0" marL="0">
              <a:buNone/>
            </a:pPr>
            <a:r>
              <a:rPr lang="en-US" sz="1400" b="1" dirty="0">
                <a:solidFill>
                  <a:srgbClr val="4472C4"/>
                </a:solidFill>
              </a:rPr>
              <a:t>B</a:t>
            </a:r>
            <a:endParaRPr lang="en-US" sz="1400" dirty="0"/>
          </a:p>
        </p:txBody>
      </p:sp>
      <p:sp>
        <p:nvSpPr>
          <p:cNvPr id="14" name="Option B"/>
          <p:cNvSpPr txBox="1"/>
          <p:nvPr/>
        </p:nvSpPr>
        <p:spPr>
          <a:xfrm>
            <a:off x="1188720" y="2702052"/>
            <a:ext cx="10271455" cy="457200"/>
          </a:xfrm>
          <a:prstGeom prst="rect">
            <a:avLst/>
          </a:prstGeom>
          <a:noFill/>
          <a:ln/>
        </p:spPr>
        <p:txBody>
          <a:bodyPr wrap="square" lIns="0" tIns="0" rIns="0" bIns="0" rtlCol="0" anchor="ctr"/>
          <a:lstStyle/>
          <a:p>
            <a:pPr indent="0" marL="0">
              <a:buNone/>
            </a:pPr>
            <a:r>
              <a:rPr lang="en-US" sz="1800" dirty="0">
                <a:solidFill>
                  <a:srgbClr val="1F1F1F"/>
                </a:solidFill>
              </a:rPr>
              <a:t>No treatment until uric acid is measured</a:t>
            </a:r>
            <a:endParaRPr lang="en-US" sz="1800" dirty="0"/>
          </a:p>
        </p:txBody>
      </p:sp>
      <p:sp>
        <p:nvSpPr>
          <p:cNvPr id="15" name="Shape 13"/>
          <p:cNvSpPr/>
          <p:nvPr/>
        </p:nvSpPr>
        <p:spPr>
          <a:xfrm>
            <a:off x="548640" y="3278124"/>
            <a:ext cx="402336" cy="402336"/>
          </a:xfrm>
          <a:prstGeom prst="ellipse">
            <a:avLst/>
          </a:prstGeom>
          <a:solidFill>
            <a:srgbClr val="FFFFFF"/>
          </a:solidFill>
          <a:ln w="19050">
            <a:solidFill>
              <a:srgbClr val="4472C4"/>
            </a:solidFill>
            <a:prstDash val="solid"/>
          </a:ln>
        </p:spPr>
      </p:sp>
      <p:sp>
        <p:nvSpPr>
          <p:cNvPr id="16" name="Text 14"/>
          <p:cNvSpPr txBox="1"/>
          <p:nvPr/>
        </p:nvSpPr>
        <p:spPr>
          <a:xfrm>
            <a:off x="548640" y="3278124"/>
            <a:ext cx="402336" cy="402336"/>
          </a:xfrm>
          <a:prstGeom prst="rect">
            <a:avLst/>
          </a:prstGeom>
          <a:noFill/>
          <a:ln/>
        </p:spPr>
        <p:txBody>
          <a:bodyPr wrap="square" lIns="0" tIns="0" rIns="0" bIns="0" rtlCol="0" anchor="ctr"/>
          <a:lstStyle/>
          <a:p>
            <a:pPr algn="ctr" indent="0" marL="0">
              <a:buNone/>
            </a:pPr>
            <a:r>
              <a:rPr lang="en-US" sz="1400" b="1" dirty="0">
                <a:solidFill>
                  <a:srgbClr val="4472C4"/>
                </a:solidFill>
              </a:rPr>
              <a:t>C</a:t>
            </a:r>
            <a:endParaRPr lang="en-US" sz="1400" dirty="0"/>
          </a:p>
        </p:txBody>
      </p:sp>
      <p:sp>
        <p:nvSpPr>
          <p:cNvPr id="17" name="Option C"/>
          <p:cNvSpPr txBox="1"/>
          <p:nvPr/>
        </p:nvSpPr>
        <p:spPr>
          <a:xfrm>
            <a:off x="1188720" y="3250692"/>
            <a:ext cx="10271455" cy="457200"/>
          </a:xfrm>
          <a:prstGeom prst="rect">
            <a:avLst/>
          </a:prstGeom>
          <a:noFill/>
          <a:ln/>
        </p:spPr>
        <p:txBody>
          <a:bodyPr wrap="square" lIns="0" tIns="0" rIns="0" bIns="0" rtlCol="0" anchor="ctr"/>
          <a:lstStyle/>
          <a:p>
            <a:pPr indent="0" marL="0">
              <a:buNone/>
            </a:pPr>
            <a:r>
              <a:rPr lang="en-US" sz="1800" dirty="0">
                <a:solidFill>
                  <a:srgbClr val="1F1F1F"/>
                </a:solidFill>
              </a:rPr>
              <a:t>Start allopurinol immediately to lower uric acid</a:t>
            </a:r>
            <a:endParaRPr lang="en-US" sz="1800" dirty="0"/>
          </a:p>
        </p:txBody>
      </p:sp>
      <p:sp>
        <p:nvSpPr>
          <p:cNvPr id="18" name="Shape 16"/>
          <p:cNvSpPr/>
          <p:nvPr/>
        </p:nvSpPr>
        <p:spPr>
          <a:xfrm>
            <a:off x="548640" y="3826764"/>
            <a:ext cx="402336" cy="402336"/>
          </a:xfrm>
          <a:prstGeom prst="ellipse">
            <a:avLst/>
          </a:prstGeom>
          <a:solidFill>
            <a:srgbClr val="FFFFFF"/>
          </a:solidFill>
          <a:ln w="19050">
            <a:solidFill>
              <a:srgbClr val="4472C4"/>
            </a:solidFill>
            <a:prstDash val="solid"/>
          </a:ln>
        </p:spPr>
      </p:sp>
      <p:sp>
        <p:nvSpPr>
          <p:cNvPr id="19" name="Text 17"/>
          <p:cNvSpPr txBox="1"/>
          <p:nvPr/>
        </p:nvSpPr>
        <p:spPr>
          <a:xfrm>
            <a:off x="548640" y="3826764"/>
            <a:ext cx="402336" cy="402336"/>
          </a:xfrm>
          <a:prstGeom prst="rect">
            <a:avLst/>
          </a:prstGeom>
          <a:noFill/>
          <a:ln/>
        </p:spPr>
        <p:txBody>
          <a:bodyPr wrap="square" lIns="0" tIns="0" rIns="0" bIns="0" rtlCol="0" anchor="ctr"/>
          <a:lstStyle/>
          <a:p>
            <a:pPr algn="ctr" indent="0" marL="0">
              <a:buNone/>
            </a:pPr>
            <a:r>
              <a:rPr lang="en-US" sz="1400" b="1" dirty="0">
                <a:solidFill>
                  <a:srgbClr val="4472C4"/>
                </a:solidFill>
              </a:rPr>
              <a:t>D</a:t>
            </a:r>
            <a:endParaRPr lang="en-US" sz="1400" dirty="0"/>
          </a:p>
        </p:txBody>
      </p:sp>
      <p:sp>
        <p:nvSpPr>
          <p:cNvPr id="20" name="Option D"/>
          <p:cNvSpPr txBox="1"/>
          <p:nvPr/>
        </p:nvSpPr>
        <p:spPr>
          <a:xfrm>
            <a:off x="1188720" y="3799332"/>
            <a:ext cx="10271455" cy="457200"/>
          </a:xfrm>
          <a:prstGeom prst="rect">
            <a:avLst/>
          </a:prstGeom>
          <a:noFill/>
          <a:ln/>
        </p:spPr>
        <p:txBody>
          <a:bodyPr wrap="square" lIns="0" tIns="0" rIns="0" bIns="0" rtlCol="0" anchor="ctr"/>
          <a:lstStyle/>
          <a:p>
            <a:pPr indent="0" marL="0">
              <a:buNone/>
            </a:pPr>
            <a:r>
              <a:rPr lang="en-US" sz="1800" dirty="0">
                <a:solidFill>
                  <a:srgbClr val="1F1F1F"/>
                </a:solidFill>
              </a:rPr>
              <a:t>Treat the flare and defer urate-lowering therapy</a:t>
            </a:r>
            <a:endParaRPr lang="en-US" sz="1800" dirty="0"/>
          </a:p>
        </p:txBody>
      </p:sp>
      <p:sp>
        <p:nvSpPr>
          <p:cNvPr id="21" name="Shape 19"/>
          <p:cNvSpPr/>
          <p:nvPr/>
        </p:nvSpPr>
        <p:spPr>
          <a:xfrm>
            <a:off x="548640" y="4375404"/>
            <a:ext cx="402336" cy="402336"/>
          </a:xfrm>
          <a:prstGeom prst="ellipse">
            <a:avLst/>
          </a:prstGeom>
          <a:solidFill>
            <a:srgbClr val="FFFFFF"/>
          </a:solidFill>
          <a:ln w="19050">
            <a:solidFill>
              <a:srgbClr val="4472C4"/>
            </a:solidFill>
            <a:prstDash val="solid"/>
          </a:ln>
        </p:spPr>
      </p:sp>
      <p:sp>
        <p:nvSpPr>
          <p:cNvPr id="22" name="Text 20"/>
          <p:cNvSpPr txBox="1"/>
          <p:nvPr/>
        </p:nvSpPr>
        <p:spPr>
          <a:xfrm>
            <a:off x="548640" y="4375404"/>
            <a:ext cx="402336" cy="402336"/>
          </a:xfrm>
          <a:prstGeom prst="rect">
            <a:avLst/>
          </a:prstGeom>
          <a:noFill/>
          <a:ln/>
        </p:spPr>
        <p:txBody>
          <a:bodyPr wrap="square" lIns="0" tIns="0" rIns="0" bIns="0" rtlCol="0" anchor="ctr"/>
          <a:lstStyle/>
          <a:p>
            <a:pPr algn="ctr" indent="0" marL="0">
              <a:buNone/>
            </a:pPr>
            <a:r>
              <a:rPr lang="en-US" sz="1400" b="1" dirty="0">
                <a:solidFill>
                  <a:srgbClr val="4472C4"/>
                </a:solidFill>
              </a:rPr>
              <a:t>E</a:t>
            </a:r>
            <a:endParaRPr lang="en-US" sz="1400" dirty="0"/>
          </a:p>
        </p:txBody>
      </p:sp>
      <p:sp>
        <p:nvSpPr>
          <p:cNvPr id="23" name="Option E"/>
          <p:cNvSpPr txBox="1"/>
          <p:nvPr/>
        </p:nvSpPr>
        <p:spPr>
          <a:xfrm>
            <a:off x="1188720" y="4347972"/>
            <a:ext cx="10271455" cy="457200"/>
          </a:xfrm>
          <a:prstGeom prst="rect">
            <a:avLst/>
          </a:prstGeom>
          <a:noFill/>
          <a:ln/>
        </p:spPr>
        <p:txBody>
          <a:bodyPr wrap="square" lIns="0" tIns="0" rIns="0" bIns="0" rtlCol="0" anchor="ctr"/>
          <a:lstStyle/>
          <a:p>
            <a:pPr indent="0" marL="0">
              <a:buNone/>
            </a:pPr>
            <a:r>
              <a:rPr lang="en-US" sz="1800" dirty="0">
                <a:solidFill>
                  <a:srgbClr val="1F1F1F"/>
                </a:solidFill>
              </a:rPr>
              <a:t>Start febuxostat and allopurinol together</a:t>
            </a:r>
            <a:endParaRPr lang="en-US" sz="18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Kicker"/>
          <p:cNvSpPr txBox="1"/>
          <p:nvPr/>
        </p:nvSpPr>
        <p:spPr>
          <a:xfrm>
            <a:off x="548640" y="292608"/>
            <a:ext cx="8076895" cy="274320"/>
          </a:xfrm>
          <a:prstGeom prst="rect">
            <a:avLst/>
          </a:prstGeom>
          <a:noFill/>
          <a:ln/>
        </p:spPr>
        <p:txBody>
          <a:bodyPr wrap="square" lIns="0" tIns="0" rIns="0" bIns="0" rtlCol="0" anchor="ctr"/>
          <a:lstStyle/>
          <a:p>
            <a:pPr indent="0" marL="0">
              <a:buNone/>
            </a:pPr>
            <a:r>
              <a:rPr lang="en-US" sz="1200" b="1" spc="100" kern="0" dirty="0">
                <a:solidFill>
                  <a:srgbClr val="4472C4"/>
                </a:solidFill>
              </a:rPr>
              <a:t>CLINICAL VIGNETTE · ANSWER</a:t>
            </a:r>
            <a:endParaRPr lang="en-US" sz="1200" dirty="0"/>
          </a:p>
        </p:txBody>
      </p:sp>
      <p:sp>
        <p:nvSpPr>
          <p:cNvPr id="3" name="Title"/>
          <p:cNvSpPr txBox="1"/>
          <p:nvPr/>
        </p:nvSpPr>
        <p:spPr>
          <a:xfrm>
            <a:off x="548640" y="566928"/>
            <a:ext cx="8076895" cy="713232"/>
          </a:xfrm>
          <a:prstGeom prst="rect">
            <a:avLst/>
          </a:prstGeom>
          <a:noFill/>
          <a:ln/>
        </p:spPr>
        <p:txBody>
          <a:bodyPr wrap="square" lIns="0" tIns="0" rIns="0" bIns="0" rtlCol="0" anchor="t"/>
          <a:lstStyle/>
          <a:p>
            <a:pPr indent="0" marL="0">
              <a:buNone/>
            </a:pPr>
            <a:r>
              <a:rPr lang="en-US" sz="3000" b="1" dirty="0">
                <a:solidFill>
                  <a:srgbClr val="1F1F1F"/>
                </a:solidFill>
                <a:latin typeface="Calibri" pitchFamily="34" charset="0"/>
                <a:ea typeface="Calibri" pitchFamily="34" charset="-122"/>
                <a:cs typeface="Calibri" pitchFamily="34" charset="-120"/>
              </a:rPr>
              <a:t>Answer 2: D</a:t>
            </a:r>
            <a:endParaRPr lang="en-US" sz="3000" dirty="0"/>
          </a:p>
        </p:txBody>
      </p:sp>
      <p:sp>
        <p:nvSpPr>
          <p:cNvPr id="4" name="Objective chip"/>
          <p:cNvSpPr/>
          <p:nvPr/>
        </p:nvSpPr>
        <p:spPr>
          <a:xfrm>
            <a:off x="8899855" y="365760"/>
            <a:ext cx="2743200" cy="384048"/>
          </a:xfrm>
          <a:prstGeom prst="roundRect">
            <a:avLst>
              <a:gd name="adj" fmla="val 35714"/>
            </a:avLst>
          </a:prstGeom>
          <a:solidFill>
            <a:srgbClr val="E3EBF8"/>
          </a:solidFill>
          <a:ln/>
        </p:spPr>
        <p:txBody>
          <a:bodyPr wrap="square" lIns="25400" tIns="25400" rIns="25400" bIns="25400" rtlCol="0" anchor="ctr"/>
          <a:lstStyle/>
          <a:p>
            <a:pPr algn="ctr" indent="0" marL="0">
              <a:buNone/>
            </a:pPr>
            <a:r>
              <a:rPr lang="en-US" sz="800" b="1" dirty="0">
                <a:solidFill>
                  <a:srgbClr val="2F4F8A"/>
                </a:solidFill>
              </a:rPr>
              <a:t>Objectives: SO1 · SO4 · IO2.1 · IO2.2 · IO2.3 · IO2.4 · IO2.5</a:t>
            </a:r>
            <a:endParaRPr lang="en-US" sz="800" dirty="0"/>
          </a:p>
        </p:txBody>
      </p:sp>
      <p:sp>
        <p:nvSpPr>
          <p:cNvPr id="5" name="Footer"/>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1000" dirty="0">
                <a:solidFill>
                  <a:srgbClr val="666666"/>
                </a:solidFill>
              </a:rPr>
              <a:t>L04 · Musculoskeletal Pharmacology — Session 2</a:t>
            </a:r>
            <a:endParaRPr lang="en-US" sz="1000" dirty="0"/>
          </a:p>
        </p:txBody>
      </p:sp>
      <p:sp>
        <p:nvSpPr>
          <p:cNvPr id="6" name="Slide number"/>
          <p:cNvSpPr txBox="1"/>
          <p:nvPr/>
        </p:nvSpPr>
        <p:spPr>
          <a:xfrm>
            <a:off x="10728655" y="6419088"/>
            <a:ext cx="914400" cy="274320"/>
          </a:xfrm>
          <a:prstGeom prst="rect">
            <a:avLst/>
          </a:prstGeom>
          <a:noFill/>
          <a:ln/>
        </p:spPr>
        <p:txBody>
          <a:bodyPr wrap="square" lIns="0" tIns="0" rIns="0" bIns="0" rtlCol="0" anchor="ctr"/>
          <a:lstStyle/>
          <a:p>
            <a:pPr algn="r" indent="0" marL="0">
              <a:buNone/>
            </a:pPr>
            <a:r>
              <a:rPr lang="en-US" sz="1000" dirty="0">
                <a:solidFill>
                  <a:srgbClr val="666666"/>
                </a:solidFill>
              </a:rPr>
              <a:t>35</a:t>
            </a:r>
            <a:endParaRPr lang="en-US" sz="1000" dirty="0"/>
          </a:p>
        </p:txBody>
      </p:sp>
      <p:sp>
        <p:nvSpPr>
          <p:cNvPr id="7" name="Correct answer"/>
          <p:cNvSpPr/>
          <p:nvPr/>
        </p:nvSpPr>
        <p:spPr>
          <a:xfrm>
            <a:off x="548640" y="1325880"/>
            <a:ext cx="11094415" cy="548640"/>
          </a:xfrm>
          <a:prstGeom prst="roundRect">
            <a:avLst>
              <a:gd name="adj" fmla="val 16667"/>
            </a:avLst>
          </a:prstGeom>
          <a:solidFill>
            <a:srgbClr val="E2F0D9"/>
          </a:solidFill>
          <a:ln w="19050">
            <a:solidFill>
              <a:srgbClr val="548235"/>
            </a:solidFill>
            <a:prstDash val="solid"/>
          </a:ln>
        </p:spPr>
      </p:sp>
      <p:pic>
        <p:nvPicPr>
          <p:cNvPr id="8" name="Image 0" descr="preencoded.png">    </p:cNvPr>
          <p:cNvPicPr>
            <a:picLocks noChangeAspect="1"/>
          </p:cNvPicPr>
          <p:nvPr/>
        </p:nvPicPr>
        <p:blipFill>
          <a:blip r:embed="rId1"/>
          <a:stretch>
            <a:fillRect/>
          </a:stretch>
        </p:blipFill>
        <p:spPr>
          <a:xfrm>
            <a:off x="731520" y="1435608"/>
            <a:ext cx="329184" cy="329184"/>
          </a:xfrm>
          <a:prstGeom prst="rect">
            <a:avLst/>
          </a:prstGeom>
        </p:spPr>
      </p:pic>
      <p:sp>
        <p:nvSpPr>
          <p:cNvPr id="9" name="Text 6"/>
          <p:cNvSpPr txBox="1"/>
          <p:nvPr/>
        </p:nvSpPr>
        <p:spPr>
          <a:xfrm>
            <a:off x="1234440" y="1325880"/>
            <a:ext cx="10180015" cy="548640"/>
          </a:xfrm>
          <a:prstGeom prst="rect">
            <a:avLst/>
          </a:prstGeom>
          <a:noFill/>
          <a:ln/>
        </p:spPr>
        <p:txBody>
          <a:bodyPr wrap="square" lIns="0" tIns="0" rIns="0" bIns="0" rtlCol="0" anchor="ctr"/>
          <a:lstStyle/>
          <a:p>
            <a:pPr indent="0" marL="0">
              <a:buNone/>
            </a:pPr>
            <a:r>
              <a:rPr lang="en-US" sz="1600" b="1" dirty="0">
                <a:solidFill>
                  <a:srgbClr val="1F1F1F"/>
                </a:solidFill>
              </a:rPr>
              <a:t>D. </a:t>
            </a:r>
            <a:r>
              <a:rPr lang="en-US" sz="1600" b="1" dirty="0">
                <a:solidFill>
                  <a:srgbClr val="1F1F1F"/>
                </a:solidFill>
              </a:rPr>
              <a:t>Treat the flare and defer urate-lowering therapy</a:t>
            </a:r>
            <a:endParaRPr lang="en-US" sz="1600" dirty="0"/>
          </a:p>
        </p:txBody>
      </p:sp>
      <p:sp>
        <p:nvSpPr>
          <p:cNvPr id="10" name="Why correct"/>
          <p:cNvSpPr txBox="1"/>
          <p:nvPr/>
        </p:nvSpPr>
        <p:spPr>
          <a:xfrm>
            <a:off x="777240" y="2011680"/>
            <a:ext cx="10637215" cy="724408"/>
          </a:xfrm>
          <a:prstGeom prst="rect">
            <a:avLst/>
          </a:prstGeom>
          <a:noFill/>
          <a:ln/>
        </p:spPr>
        <p:txBody>
          <a:bodyPr wrap="square" lIns="0" tIns="0" rIns="0" bIns="0" rtlCol="0" anchor="t"/>
          <a:lstStyle/>
          <a:p>
            <a:pPr indent="0" marL="0">
              <a:buNone/>
            </a:pPr>
            <a:r>
              <a:rPr lang="en-US" sz="1600" dirty="0">
                <a:solidFill>
                  <a:srgbClr val="1F1F1F"/>
                </a:solidFill>
              </a:rPr>
              <a:t>Starting or changing urate-lowering therapy during an acute flare can worsen or prolong it. Treat the flare first (colchicine, NSAID, or corticosteroid); ULT is started or adjusted only once it resolves (S18; SG U2-R10).</a:t>
            </a:r>
            <a:r>
              <a:rPr lang="en-US" sz="1100" dirty="0">
                <a:solidFill>
                  <a:srgbClr val="666666"/>
                </a:solidFill>
              </a:rPr>
              <a:t>  S9; S18; SG U2-R10</a:t>
            </a:r>
            <a:endParaRPr lang="en-US" sz="1600" dirty="0"/>
          </a:p>
        </p:txBody>
      </p:sp>
      <p:sp>
        <p:nvSpPr>
          <p:cNvPr id="11" name="Why others wrong card"/>
          <p:cNvSpPr/>
          <p:nvPr/>
        </p:nvSpPr>
        <p:spPr>
          <a:xfrm>
            <a:off x="548640" y="2873248"/>
            <a:ext cx="11094415" cy="1704848"/>
          </a:xfrm>
          <a:prstGeom prst="roundRect">
            <a:avLst>
              <a:gd name="adj" fmla="val 5364"/>
            </a:avLst>
          </a:prstGeom>
          <a:solidFill>
            <a:srgbClr val="F2F4F7"/>
          </a:solidFill>
          <a:ln w="12700">
            <a:solidFill>
              <a:srgbClr val="F2F4F7"/>
            </a:solidFill>
            <a:prstDash val="solid"/>
          </a:ln>
        </p:spPr>
      </p:sp>
      <p:sp>
        <p:nvSpPr>
          <p:cNvPr id="12" name="Why others wrong"/>
          <p:cNvSpPr txBox="1"/>
          <p:nvPr/>
        </p:nvSpPr>
        <p:spPr>
          <a:xfrm>
            <a:off x="777240" y="2982976"/>
            <a:ext cx="10637215" cy="1521968"/>
          </a:xfrm>
          <a:prstGeom prst="rect">
            <a:avLst/>
          </a:prstGeom>
          <a:noFill/>
          <a:ln/>
        </p:spPr>
        <p:txBody>
          <a:bodyPr wrap="square" lIns="0" tIns="0" rIns="0" bIns="0" rtlCol="0" anchor="t"/>
          <a:lstStyle/>
          <a:p>
            <a:pPr indent="0" marL="0">
              <a:spcAft>
                <a:spcPts val="400"/>
              </a:spcAft>
              <a:buNone/>
            </a:pPr>
            <a:r>
              <a:rPr lang="en-US" sz="1600" b="1" dirty="0">
                <a:solidFill>
                  <a:srgbClr val="C00000"/>
                </a:solidFill>
              </a:rPr>
              <a:t>Why the other choices are wrong</a:t>
            </a:r>
            <a:endParaRPr lang="en-US" sz="1600" dirty="0"/>
          </a:p>
          <a:p>
            <a:pPr indent="0" marL="0">
              <a:buNone/>
            </a:pPr>
            <a:r>
              <a:rPr lang="en-US" sz="1600" b="1" dirty="0">
                <a:solidFill>
                  <a:srgbClr val="1F1F1F"/>
                </a:solidFill>
              </a:rPr>
              <a:t>A. Start probenecid to clear the uric acid — </a:t>
            </a:r>
            <a:r>
              <a:rPr lang="en-US" sz="1600" dirty="0">
                <a:solidFill>
                  <a:srgbClr val="1F1F1F"/>
                </a:solidFill>
              </a:rPr>
              <a:t>Probenecid is chronic ULT, also deferred (S14).</a:t>
            </a:r>
            <a:endParaRPr lang="en-US" sz="1600" dirty="0"/>
          </a:p>
          <a:p>
            <a:pPr indent="0" marL="0">
              <a:buNone/>
            </a:pPr>
            <a:r>
              <a:rPr lang="en-US" sz="1600" b="1" dirty="0">
                <a:solidFill>
                  <a:srgbClr val="1F1F1F"/>
                </a:solidFill>
              </a:rPr>
              <a:t>B. No treatment until uric acid is measured — </a:t>
            </a:r>
            <a:r>
              <a:rPr lang="en-US" sz="1600" dirty="0">
                <a:solidFill>
                  <a:srgbClr val="1F1F1F"/>
                </a:solidFill>
              </a:rPr>
              <a:t>The flare needs treatment now (S9).</a:t>
            </a:r>
            <a:endParaRPr lang="en-US" sz="1600" dirty="0"/>
          </a:p>
          <a:p>
            <a:pPr indent="0" marL="0">
              <a:buNone/>
            </a:pPr>
            <a:r>
              <a:rPr lang="en-US" sz="1600" b="1" dirty="0">
                <a:solidFill>
                  <a:srgbClr val="1F1F1F"/>
                </a:solidFill>
              </a:rPr>
              <a:t>C. Start allopurinol immediately to lower uric acid — </a:t>
            </a:r>
            <a:r>
              <a:rPr lang="en-US" sz="1600" dirty="0">
                <a:solidFill>
                  <a:srgbClr val="1F1F1F"/>
                </a:solidFill>
              </a:rPr>
              <a:t>ULT during a flare can worsen or prolong it (S18).</a:t>
            </a:r>
            <a:endParaRPr lang="en-US" sz="1600" dirty="0"/>
          </a:p>
          <a:p>
            <a:pPr indent="0" marL="0">
              <a:buNone/>
            </a:pPr>
            <a:r>
              <a:rPr lang="en-US" sz="1600" b="1" dirty="0">
                <a:solidFill>
                  <a:srgbClr val="1F1F1F"/>
                </a:solidFill>
              </a:rPr>
              <a:t>E. Start febuxostat and allopurinol together — </a:t>
            </a:r>
            <a:r>
              <a:rPr lang="en-US" sz="1600" dirty="0">
                <a:solidFill>
                  <a:srgbClr val="1F1F1F"/>
                </a:solidFill>
              </a:rPr>
              <a:t>Two xanthine oxidase inhibitors, and still ULT in a flare (S12; S18).</a:t>
            </a:r>
            <a:endParaRPr lang="en-US" sz="16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Kicker"/>
          <p:cNvSpPr txBox="1"/>
          <p:nvPr/>
        </p:nvSpPr>
        <p:spPr>
          <a:xfrm>
            <a:off x="548640" y="292608"/>
            <a:ext cx="8076895" cy="274320"/>
          </a:xfrm>
          <a:prstGeom prst="rect">
            <a:avLst/>
          </a:prstGeom>
          <a:noFill/>
          <a:ln/>
        </p:spPr>
        <p:txBody>
          <a:bodyPr wrap="square" lIns="0" tIns="0" rIns="0" bIns="0" rtlCol="0" anchor="ctr"/>
          <a:lstStyle/>
          <a:p>
            <a:pPr indent="0" marL="0">
              <a:buNone/>
            </a:pPr>
            <a:r>
              <a:rPr lang="en-US" sz="1200" b="1" spc="100" kern="0" dirty="0">
                <a:solidFill>
                  <a:srgbClr val="4472C4"/>
                </a:solidFill>
              </a:rPr>
              <a:t>MECHANISM · LECTURE QUICK CHECK S7; S8</a:t>
            </a:r>
            <a:endParaRPr lang="en-US" sz="1200" dirty="0"/>
          </a:p>
        </p:txBody>
      </p:sp>
      <p:sp>
        <p:nvSpPr>
          <p:cNvPr id="3" name="Title"/>
          <p:cNvSpPr txBox="1"/>
          <p:nvPr/>
        </p:nvSpPr>
        <p:spPr>
          <a:xfrm>
            <a:off x="548640" y="566928"/>
            <a:ext cx="8076895" cy="713232"/>
          </a:xfrm>
          <a:prstGeom prst="rect">
            <a:avLst/>
          </a:prstGeom>
          <a:noFill/>
          <a:ln/>
        </p:spPr>
        <p:txBody>
          <a:bodyPr wrap="square" lIns="0" tIns="0" rIns="0" bIns="0" rtlCol="0" anchor="t"/>
          <a:lstStyle/>
          <a:p>
            <a:pPr indent="0" marL="0">
              <a:buNone/>
            </a:pPr>
            <a:r>
              <a:rPr lang="en-US" sz="3000" b="1" dirty="0">
                <a:solidFill>
                  <a:srgbClr val="1F1F1F"/>
                </a:solidFill>
                <a:latin typeface="Calibri" pitchFamily="34" charset="0"/>
                <a:ea typeface="Calibri" pitchFamily="34" charset="-122"/>
                <a:cs typeface="Calibri" pitchFamily="34" charset="-120"/>
              </a:rPr>
              <a:t>Question 3</a:t>
            </a:r>
            <a:endParaRPr lang="en-US" sz="3000" dirty="0"/>
          </a:p>
        </p:txBody>
      </p:sp>
      <p:sp>
        <p:nvSpPr>
          <p:cNvPr id="4" name="Objective chip"/>
          <p:cNvSpPr/>
          <p:nvPr/>
        </p:nvSpPr>
        <p:spPr>
          <a:xfrm>
            <a:off x="8899855" y="365760"/>
            <a:ext cx="2743200" cy="384048"/>
          </a:xfrm>
          <a:prstGeom prst="roundRect">
            <a:avLst>
              <a:gd name="adj" fmla="val 35714"/>
            </a:avLst>
          </a:prstGeom>
          <a:solidFill>
            <a:srgbClr val="E3EBF8"/>
          </a:solidFill>
          <a:ln/>
        </p:spPr>
        <p:txBody>
          <a:bodyPr wrap="square" lIns="25400" tIns="25400" rIns="25400" bIns="25400" rtlCol="0" anchor="ctr"/>
          <a:lstStyle/>
          <a:p>
            <a:pPr algn="ctr" indent="0" marL="0">
              <a:buNone/>
            </a:pPr>
            <a:r>
              <a:rPr lang="en-US" sz="800" b="1" dirty="0">
                <a:solidFill>
                  <a:srgbClr val="2F4F8A"/>
                </a:solidFill>
              </a:rPr>
              <a:t>Objectives: SO1 · SO4 · IO2.1 · IO2.2 · IO2.3 · IO2.4 · IO2.5</a:t>
            </a:r>
            <a:endParaRPr lang="en-US" sz="800" dirty="0"/>
          </a:p>
        </p:txBody>
      </p:sp>
      <p:sp>
        <p:nvSpPr>
          <p:cNvPr id="5" name="Footer"/>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1000" dirty="0">
                <a:solidFill>
                  <a:srgbClr val="666666"/>
                </a:solidFill>
              </a:rPr>
              <a:t>L04 · Musculoskeletal Pharmacology — Session 2</a:t>
            </a:r>
            <a:endParaRPr lang="en-US" sz="1000" dirty="0"/>
          </a:p>
        </p:txBody>
      </p:sp>
      <p:sp>
        <p:nvSpPr>
          <p:cNvPr id="6" name="Slide number"/>
          <p:cNvSpPr txBox="1"/>
          <p:nvPr/>
        </p:nvSpPr>
        <p:spPr>
          <a:xfrm>
            <a:off x="10728655" y="6419088"/>
            <a:ext cx="914400" cy="274320"/>
          </a:xfrm>
          <a:prstGeom prst="rect">
            <a:avLst/>
          </a:prstGeom>
          <a:noFill/>
          <a:ln/>
        </p:spPr>
        <p:txBody>
          <a:bodyPr wrap="square" lIns="0" tIns="0" rIns="0" bIns="0" rtlCol="0" anchor="ctr"/>
          <a:lstStyle/>
          <a:p>
            <a:pPr algn="r" indent="0" marL="0">
              <a:buNone/>
            </a:pPr>
            <a:r>
              <a:rPr lang="en-US" sz="1000" dirty="0">
                <a:solidFill>
                  <a:srgbClr val="666666"/>
                </a:solidFill>
              </a:rPr>
              <a:t>36</a:t>
            </a:r>
            <a:endParaRPr lang="en-US" sz="1000" dirty="0"/>
          </a:p>
        </p:txBody>
      </p:sp>
      <p:sp>
        <p:nvSpPr>
          <p:cNvPr id="7" name="Question stem card"/>
          <p:cNvSpPr/>
          <p:nvPr/>
        </p:nvSpPr>
        <p:spPr>
          <a:xfrm>
            <a:off x="548640" y="1325880"/>
            <a:ext cx="11094415" cy="923544"/>
          </a:xfrm>
          <a:prstGeom prst="roundRect">
            <a:avLst>
              <a:gd name="adj" fmla="val 9901"/>
            </a:avLst>
          </a:prstGeom>
          <a:solidFill>
            <a:srgbClr val="F2F4F7"/>
          </a:solidFill>
          <a:ln w="12700">
            <a:solidFill>
              <a:srgbClr val="F2F4F7"/>
            </a:solidFill>
            <a:prstDash val="solid"/>
          </a:ln>
        </p:spPr>
      </p:sp>
      <p:sp>
        <p:nvSpPr>
          <p:cNvPr id="8" name="Question stem"/>
          <p:cNvSpPr txBox="1"/>
          <p:nvPr/>
        </p:nvSpPr>
        <p:spPr>
          <a:xfrm>
            <a:off x="777240" y="1325880"/>
            <a:ext cx="10637215" cy="923544"/>
          </a:xfrm>
          <a:prstGeom prst="rect">
            <a:avLst/>
          </a:prstGeom>
          <a:noFill/>
          <a:ln/>
        </p:spPr>
        <p:txBody>
          <a:bodyPr wrap="square" lIns="0" tIns="0" rIns="0" bIns="0" rtlCol="0" anchor="ctr"/>
          <a:lstStyle/>
          <a:p>
            <a:pPr indent="0" marL="0">
              <a:buNone/>
            </a:pPr>
            <a:r>
              <a:rPr lang="en-US" sz="1800" dirty="0">
                <a:solidFill>
                  <a:srgbClr val="1F1F1F"/>
                </a:solidFill>
              </a:rPr>
              <a:t>In Figure 4, probenecid and allopurinol both lower serum uric acid, but through different mechanisms. What is the key difference?</a:t>
            </a:r>
            <a:endParaRPr lang="en-US" sz="1800" dirty="0"/>
          </a:p>
        </p:txBody>
      </p:sp>
      <p:sp>
        <p:nvSpPr>
          <p:cNvPr id="9" name="Shape 7"/>
          <p:cNvSpPr/>
          <p:nvPr/>
        </p:nvSpPr>
        <p:spPr>
          <a:xfrm>
            <a:off x="548640" y="2459736"/>
            <a:ext cx="402336" cy="402336"/>
          </a:xfrm>
          <a:prstGeom prst="ellipse">
            <a:avLst/>
          </a:prstGeom>
          <a:solidFill>
            <a:srgbClr val="FFFFFF"/>
          </a:solidFill>
          <a:ln w="19050">
            <a:solidFill>
              <a:srgbClr val="4472C4"/>
            </a:solidFill>
            <a:prstDash val="solid"/>
          </a:ln>
        </p:spPr>
      </p:sp>
      <p:sp>
        <p:nvSpPr>
          <p:cNvPr id="10" name="Text 8"/>
          <p:cNvSpPr txBox="1"/>
          <p:nvPr/>
        </p:nvSpPr>
        <p:spPr>
          <a:xfrm>
            <a:off x="548640" y="2459736"/>
            <a:ext cx="402336" cy="402336"/>
          </a:xfrm>
          <a:prstGeom prst="rect">
            <a:avLst/>
          </a:prstGeom>
          <a:noFill/>
          <a:ln/>
        </p:spPr>
        <p:txBody>
          <a:bodyPr wrap="square" lIns="0" tIns="0" rIns="0" bIns="0" rtlCol="0" anchor="ctr"/>
          <a:lstStyle/>
          <a:p>
            <a:pPr algn="ctr" indent="0" marL="0">
              <a:buNone/>
            </a:pPr>
            <a:r>
              <a:rPr lang="en-US" sz="1400" b="1" dirty="0">
                <a:solidFill>
                  <a:srgbClr val="4472C4"/>
                </a:solidFill>
              </a:rPr>
              <a:t>A</a:t>
            </a:r>
            <a:endParaRPr lang="en-US" sz="1400" dirty="0"/>
          </a:p>
        </p:txBody>
      </p:sp>
      <p:sp>
        <p:nvSpPr>
          <p:cNvPr id="11" name="Option A"/>
          <p:cNvSpPr txBox="1"/>
          <p:nvPr/>
        </p:nvSpPr>
        <p:spPr>
          <a:xfrm>
            <a:off x="1188720" y="2432304"/>
            <a:ext cx="10271455" cy="457200"/>
          </a:xfrm>
          <a:prstGeom prst="rect">
            <a:avLst/>
          </a:prstGeom>
          <a:noFill/>
          <a:ln/>
        </p:spPr>
        <p:txBody>
          <a:bodyPr wrap="square" lIns="0" tIns="0" rIns="0" bIns="0" rtlCol="0" anchor="ctr"/>
          <a:lstStyle/>
          <a:p>
            <a:pPr indent="0" marL="0">
              <a:buNone/>
            </a:pPr>
            <a:r>
              <a:rPr lang="en-US" sz="1800" dirty="0">
                <a:solidFill>
                  <a:srgbClr val="1F1F1F"/>
                </a:solidFill>
              </a:rPr>
              <a:t>Neither drug affects serum uric acid levels</a:t>
            </a:r>
            <a:endParaRPr lang="en-US" sz="1800" dirty="0"/>
          </a:p>
        </p:txBody>
      </p:sp>
      <p:sp>
        <p:nvSpPr>
          <p:cNvPr id="12" name="Shape 10"/>
          <p:cNvSpPr/>
          <p:nvPr/>
        </p:nvSpPr>
        <p:spPr>
          <a:xfrm>
            <a:off x="548640" y="3008376"/>
            <a:ext cx="402336" cy="402336"/>
          </a:xfrm>
          <a:prstGeom prst="ellipse">
            <a:avLst/>
          </a:prstGeom>
          <a:solidFill>
            <a:srgbClr val="FFFFFF"/>
          </a:solidFill>
          <a:ln w="19050">
            <a:solidFill>
              <a:srgbClr val="4472C4"/>
            </a:solidFill>
            <a:prstDash val="solid"/>
          </a:ln>
        </p:spPr>
      </p:sp>
      <p:sp>
        <p:nvSpPr>
          <p:cNvPr id="13" name="Text 11"/>
          <p:cNvSpPr txBox="1"/>
          <p:nvPr/>
        </p:nvSpPr>
        <p:spPr>
          <a:xfrm>
            <a:off x="548640" y="3008376"/>
            <a:ext cx="402336" cy="402336"/>
          </a:xfrm>
          <a:prstGeom prst="rect">
            <a:avLst/>
          </a:prstGeom>
          <a:noFill/>
          <a:ln/>
        </p:spPr>
        <p:txBody>
          <a:bodyPr wrap="square" lIns="0" tIns="0" rIns="0" bIns="0" rtlCol="0" anchor="ctr"/>
          <a:lstStyle/>
          <a:p>
            <a:pPr algn="ctr" indent="0" marL="0">
              <a:buNone/>
            </a:pPr>
            <a:r>
              <a:rPr lang="en-US" sz="1400" b="1" dirty="0">
                <a:solidFill>
                  <a:srgbClr val="4472C4"/>
                </a:solidFill>
              </a:rPr>
              <a:t>B</a:t>
            </a:r>
            <a:endParaRPr lang="en-US" sz="1400" dirty="0"/>
          </a:p>
        </p:txBody>
      </p:sp>
      <p:sp>
        <p:nvSpPr>
          <p:cNvPr id="14" name="Option B"/>
          <p:cNvSpPr txBox="1"/>
          <p:nvPr/>
        </p:nvSpPr>
        <p:spPr>
          <a:xfrm>
            <a:off x="1188720" y="2980944"/>
            <a:ext cx="10271455" cy="457200"/>
          </a:xfrm>
          <a:prstGeom prst="rect">
            <a:avLst/>
          </a:prstGeom>
          <a:noFill/>
          <a:ln/>
        </p:spPr>
        <p:txBody>
          <a:bodyPr wrap="square" lIns="0" tIns="0" rIns="0" bIns="0" rtlCol="0" anchor="ctr"/>
          <a:lstStyle/>
          <a:p>
            <a:pPr indent="0" marL="0">
              <a:buNone/>
            </a:pPr>
            <a:r>
              <a:rPr lang="en-US" sz="1800" dirty="0">
                <a:solidFill>
                  <a:srgbClr val="1F1F1F"/>
                </a:solidFill>
              </a:rPr>
              <a:t>Allopurinol raises excretion; probenecid cuts production</a:t>
            </a:r>
            <a:endParaRPr lang="en-US" sz="1800" dirty="0"/>
          </a:p>
        </p:txBody>
      </p:sp>
      <p:sp>
        <p:nvSpPr>
          <p:cNvPr id="15" name="Shape 13"/>
          <p:cNvSpPr/>
          <p:nvPr/>
        </p:nvSpPr>
        <p:spPr>
          <a:xfrm>
            <a:off x="548640" y="3557016"/>
            <a:ext cx="402336" cy="402336"/>
          </a:xfrm>
          <a:prstGeom prst="ellipse">
            <a:avLst/>
          </a:prstGeom>
          <a:solidFill>
            <a:srgbClr val="FFFFFF"/>
          </a:solidFill>
          <a:ln w="19050">
            <a:solidFill>
              <a:srgbClr val="4472C4"/>
            </a:solidFill>
            <a:prstDash val="solid"/>
          </a:ln>
        </p:spPr>
      </p:sp>
      <p:sp>
        <p:nvSpPr>
          <p:cNvPr id="16" name="Text 14"/>
          <p:cNvSpPr txBox="1"/>
          <p:nvPr/>
        </p:nvSpPr>
        <p:spPr>
          <a:xfrm>
            <a:off x="548640" y="3557016"/>
            <a:ext cx="402336" cy="402336"/>
          </a:xfrm>
          <a:prstGeom prst="rect">
            <a:avLst/>
          </a:prstGeom>
          <a:noFill/>
          <a:ln/>
        </p:spPr>
        <p:txBody>
          <a:bodyPr wrap="square" lIns="0" tIns="0" rIns="0" bIns="0" rtlCol="0" anchor="ctr"/>
          <a:lstStyle/>
          <a:p>
            <a:pPr algn="ctr" indent="0" marL="0">
              <a:buNone/>
            </a:pPr>
            <a:r>
              <a:rPr lang="en-US" sz="1400" b="1" dirty="0">
                <a:solidFill>
                  <a:srgbClr val="4472C4"/>
                </a:solidFill>
              </a:rPr>
              <a:t>C</a:t>
            </a:r>
            <a:endParaRPr lang="en-US" sz="1400" dirty="0"/>
          </a:p>
        </p:txBody>
      </p:sp>
      <p:sp>
        <p:nvSpPr>
          <p:cNvPr id="17" name="Option C"/>
          <p:cNvSpPr txBox="1"/>
          <p:nvPr/>
        </p:nvSpPr>
        <p:spPr>
          <a:xfrm>
            <a:off x="1188720" y="3529584"/>
            <a:ext cx="10271455" cy="457200"/>
          </a:xfrm>
          <a:prstGeom prst="rect">
            <a:avLst/>
          </a:prstGeom>
          <a:noFill/>
          <a:ln/>
        </p:spPr>
        <p:txBody>
          <a:bodyPr wrap="square" lIns="0" tIns="0" rIns="0" bIns="0" rtlCol="0" anchor="ctr"/>
          <a:lstStyle/>
          <a:p>
            <a:pPr indent="0" marL="0">
              <a:buNone/>
            </a:pPr>
            <a:r>
              <a:rPr lang="en-US" sz="1800" dirty="0">
                <a:solidFill>
                  <a:srgbClr val="1F1F1F"/>
                </a:solidFill>
              </a:rPr>
              <a:t>Both inhibit xanthine oxidase at different sites</a:t>
            </a:r>
            <a:endParaRPr lang="en-US" sz="1800" dirty="0"/>
          </a:p>
        </p:txBody>
      </p:sp>
      <p:sp>
        <p:nvSpPr>
          <p:cNvPr id="18" name="Shape 16"/>
          <p:cNvSpPr/>
          <p:nvPr/>
        </p:nvSpPr>
        <p:spPr>
          <a:xfrm>
            <a:off x="548640" y="4105656"/>
            <a:ext cx="402336" cy="402336"/>
          </a:xfrm>
          <a:prstGeom prst="ellipse">
            <a:avLst/>
          </a:prstGeom>
          <a:solidFill>
            <a:srgbClr val="FFFFFF"/>
          </a:solidFill>
          <a:ln w="19050">
            <a:solidFill>
              <a:srgbClr val="4472C4"/>
            </a:solidFill>
            <a:prstDash val="solid"/>
          </a:ln>
        </p:spPr>
      </p:sp>
      <p:sp>
        <p:nvSpPr>
          <p:cNvPr id="19" name="Text 17"/>
          <p:cNvSpPr txBox="1"/>
          <p:nvPr/>
        </p:nvSpPr>
        <p:spPr>
          <a:xfrm>
            <a:off x="548640" y="4105656"/>
            <a:ext cx="402336" cy="402336"/>
          </a:xfrm>
          <a:prstGeom prst="rect">
            <a:avLst/>
          </a:prstGeom>
          <a:noFill/>
          <a:ln/>
        </p:spPr>
        <p:txBody>
          <a:bodyPr wrap="square" lIns="0" tIns="0" rIns="0" bIns="0" rtlCol="0" anchor="ctr"/>
          <a:lstStyle/>
          <a:p>
            <a:pPr algn="ctr" indent="0" marL="0">
              <a:buNone/>
            </a:pPr>
            <a:r>
              <a:rPr lang="en-US" sz="1400" b="1" dirty="0">
                <a:solidFill>
                  <a:srgbClr val="4472C4"/>
                </a:solidFill>
              </a:rPr>
              <a:t>D</a:t>
            </a:r>
            <a:endParaRPr lang="en-US" sz="1400" dirty="0"/>
          </a:p>
        </p:txBody>
      </p:sp>
      <p:sp>
        <p:nvSpPr>
          <p:cNvPr id="20" name="Option D"/>
          <p:cNvSpPr txBox="1"/>
          <p:nvPr/>
        </p:nvSpPr>
        <p:spPr>
          <a:xfrm>
            <a:off x="1188720" y="4078224"/>
            <a:ext cx="10271455" cy="457200"/>
          </a:xfrm>
          <a:prstGeom prst="rect">
            <a:avLst/>
          </a:prstGeom>
          <a:noFill/>
          <a:ln/>
        </p:spPr>
        <p:txBody>
          <a:bodyPr wrap="square" lIns="0" tIns="0" rIns="0" bIns="0" rtlCol="0" anchor="ctr"/>
          <a:lstStyle/>
          <a:p>
            <a:pPr indent="0" marL="0">
              <a:buNone/>
            </a:pPr>
            <a:r>
              <a:rPr lang="en-US" sz="1800" dirty="0">
                <a:solidFill>
                  <a:srgbClr val="1F1F1F"/>
                </a:solidFill>
              </a:rPr>
              <a:t>Allopurinol blocks neutrophils; probenecid blocks URAT1</a:t>
            </a:r>
            <a:endParaRPr lang="en-US" sz="1800" dirty="0"/>
          </a:p>
        </p:txBody>
      </p:sp>
      <p:sp>
        <p:nvSpPr>
          <p:cNvPr id="21" name="Shape 19"/>
          <p:cNvSpPr/>
          <p:nvPr/>
        </p:nvSpPr>
        <p:spPr>
          <a:xfrm>
            <a:off x="548640" y="4654296"/>
            <a:ext cx="402336" cy="402336"/>
          </a:xfrm>
          <a:prstGeom prst="ellipse">
            <a:avLst/>
          </a:prstGeom>
          <a:solidFill>
            <a:srgbClr val="FFFFFF"/>
          </a:solidFill>
          <a:ln w="19050">
            <a:solidFill>
              <a:srgbClr val="4472C4"/>
            </a:solidFill>
            <a:prstDash val="solid"/>
          </a:ln>
        </p:spPr>
      </p:sp>
      <p:sp>
        <p:nvSpPr>
          <p:cNvPr id="22" name="Text 20"/>
          <p:cNvSpPr txBox="1"/>
          <p:nvPr/>
        </p:nvSpPr>
        <p:spPr>
          <a:xfrm>
            <a:off x="548640" y="4654296"/>
            <a:ext cx="402336" cy="402336"/>
          </a:xfrm>
          <a:prstGeom prst="rect">
            <a:avLst/>
          </a:prstGeom>
          <a:noFill/>
          <a:ln/>
        </p:spPr>
        <p:txBody>
          <a:bodyPr wrap="square" lIns="0" tIns="0" rIns="0" bIns="0" rtlCol="0" anchor="ctr"/>
          <a:lstStyle/>
          <a:p>
            <a:pPr algn="ctr" indent="0" marL="0">
              <a:buNone/>
            </a:pPr>
            <a:r>
              <a:rPr lang="en-US" sz="1400" b="1" dirty="0">
                <a:solidFill>
                  <a:srgbClr val="4472C4"/>
                </a:solidFill>
              </a:rPr>
              <a:t>E</a:t>
            </a:r>
            <a:endParaRPr lang="en-US" sz="1400" dirty="0"/>
          </a:p>
        </p:txBody>
      </p:sp>
      <p:sp>
        <p:nvSpPr>
          <p:cNvPr id="23" name="Option E"/>
          <p:cNvSpPr txBox="1"/>
          <p:nvPr/>
        </p:nvSpPr>
        <p:spPr>
          <a:xfrm>
            <a:off x="1188720" y="4626864"/>
            <a:ext cx="10271455" cy="457200"/>
          </a:xfrm>
          <a:prstGeom prst="rect">
            <a:avLst/>
          </a:prstGeom>
          <a:noFill/>
          <a:ln/>
        </p:spPr>
        <p:txBody>
          <a:bodyPr wrap="square" lIns="0" tIns="0" rIns="0" bIns="0" rtlCol="0" anchor="ctr"/>
          <a:lstStyle/>
          <a:p>
            <a:pPr indent="0" marL="0">
              <a:buNone/>
            </a:pPr>
            <a:r>
              <a:rPr lang="en-US" sz="1800" dirty="0">
                <a:solidFill>
                  <a:srgbClr val="1F1F1F"/>
                </a:solidFill>
              </a:rPr>
              <a:t>Allopurinol cuts production; probenecid raises renal excretion</a:t>
            </a:r>
            <a:endParaRPr lang="en-US" sz="18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Kicker"/>
          <p:cNvSpPr txBox="1"/>
          <p:nvPr/>
        </p:nvSpPr>
        <p:spPr>
          <a:xfrm>
            <a:off x="548640" y="292608"/>
            <a:ext cx="8076895" cy="274320"/>
          </a:xfrm>
          <a:prstGeom prst="rect">
            <a:avLst/>
          </a:prstGeom>
          <a:noFill/>
          <a:ln/>
        </p:spPr>
        <p:txBody>
          <a:bodyPr wrap="square" lIns="0" tIns="0" rIns="0" bIns="0" rtlCol="0" anchor="ctr"/>
          <a:lstStyle/>
          <a:p>
            <a:pPr indent="0" marL="0">
              <a:buNone/>
            </a:pPr>
            <a:r>
              <a:rPr lang="en-US" sz="1200" b="1" spc="100" kern="0" dirty="0">
                <a:solidFill>
                  <a:srgbClr val="4472C4"/>
                </a:solidFill>
              </a:rPr>
              <a:t>MECHANISM · ANSWER</a:t>
            </a:r>
            <a:endParaRPr lang="en-US" sz="1200" dirty="0"/>
          </a:p>
        </p:txBody>
      </p:sp>
      <p:sp>
        <p:nvSpPr>
          <p:cNvPr id="3" name="Title"/>
          <p:cNvSpPr txBox="1"/>
          <p:nvPr/>
        </p:nvSpPr>
        <p:spPr>
          <a:xfrm>
            <a:off x="548640" y="566928"/>
            <a:ext cx="8076895" cy="713232"/>
          </a:xfrm>
          <a:prstGeom prst="rect">
            <a:avLst/>
          </a:prstGeom>
          <a:noFill/>
          <a:ln/>
        </p:spPr>
        <p:txBody>
          <a:bodyPr wrap="square" lIns="0" tIns="0" rIns="0" bIns="0" rtlCol="0" anchor="t"/>
          <a:lstStyle/>
          <a:p>
            <a:pPr indent="0" marL="0">
              <a:buNone/>
            </a:pPr>
            <a:r>
              <a:rPr lang="en-US" sz="3000" b="1" dirty="0">
                <a:solidFill>
                  <a:srgbClr val="1F1F1F"/>
                </a:solidFill>
                <a:latin typeface="Calibri" pitchFamily="34" charset="0"/>
                <a:ea typeface="Calibri" pitchFamily="34" charset="-122"/>
                <a:cs typeface="Calibri" pitchFamily="34" charset="-120"/>
              </a:rPr>
              <a:t>Answer 3: E</a:t>
            </a:r>
            <a:endParaRPr lang="en-US" sz="3000" dirty="0"/>
          </a:p>
        </p:txBody>
      </p:sp>
      <p:sp>
        <p:nvSpPr>
          <p:cNvPr id="4" name="Objective chip"/>
          <p:cNvSpPr/>
          <p:nvPr/>
        </p:nvSpPr>
        <p:spPr>
          <a:xfrm>
            <a:off x="8899855" y="365760"/>
            <a:ext cx="2743200" cy="384048"/>
          </a:xfrm>
          <a:prstGeom prst="roundRect">
            <a:avLst>
              <a:gd name="adj" fmla="val 35714"/>
            </a:avLst>
          </a:prstGeom>
          <a:solidFill>
            <a:srgbClr val="E3EBF8"/>
          </a:solidFill>
          <a:ln/>
        </p:spPr>
        <p:txBody>
          <a:bodyPr wrap="square" lIns="25400" tIns="25400" rIns="25400" bIns="25400" rtlCol="0" anchor="ctr"/>
          <a:lstStyle/>
          <a:p>
            <a:pPr algn="ctr" indent="0" marL="0">
              <a:buNone/>
            </a:pPr>
            <a:r>
              <a:rPr lang="en-US" sz="800" b="1" dirty="0">
                <a:solidFill>
                  <a:srgbClr val="2F4F8A"/>
                </a:solidFill>
              </a:rPr>
              <a:t>Objectives: SO1 · SO4 · IO2.1 · IO2.2 · IO2.3 · IO2.4 · IO2.5</a:t>
            </a:r>
            <a:endParaRPr lang="en-US" sz="800" dirty="0"/>
          </a:p>
        </p:txBody>
      </p:sp>
      <p:sp>
        <p:nvSpPr>
          <p:cNvPr id="5" name="Footer"/>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1000" dirty="0">
                <a:solidFill>
                  <a:srgbClr val="666666"/>
                </a:solidFill>
              </a:rPr>
              <a:t>L04 · Musculoskeletal Pharmacology — Session 2</a:t>
            </a:r>
            <a:endParaRPr lang="en-US" sz="1000" dirty="0"/>
          </a:p>
        </p:txBody>
      </p:sp>
      <p:sp>
        <p:nvSpPr>
          <p:cNvPr id="6" name="Slide number"/>
          <p:cNvSpPr txBox="1"/>
          <p:nvPr/>
        </p:nvSpPr>
        <p:spPr>
          <a:xfrm>
            <a:off x="10728655" y="6419088"/>
            <a:ext cx="914400" cy="274320"/>
          </a:xfrm>
          <a:prstGeom prst="rect">
            <a:avLst/>
          </a:prstGeom>
          <a:noFill/>
          <a:ln/>
        </p:spPr>
        <p:txBody>
          <a:bodyPr wrap="square" lIns="0" tIns="0" rIns="0" bIns="0" rtlCol="0" anchor="ctr"/>
          <a:lstStyle/>
          <a:p>
            <a:pPr algn="r" indent="0" marL="0">
              <a:buNone/>
            </a:pPr>
            <a:r>
              <a:rPr lang="en-US" sz="1000" dirty="0">
                <a:solidFill>
                  <a:srgbClr val="666666"/>
                </a:solidFill>
              </a:rPr>
              <a:t>37</a:t>
            </a:r>
            <a:endParaRPr lang="en-US" sz="1000" dirty="0"/>
          </a:p>
        </p:txBody>
      </p:sp>
      <p:sp>
        <p:nvSpPr>
          <p:cNvPr id="7" name="Correct answer"/>
          <p:cNvSpPr/>
          <p:nvPr/>
        </p:nvSpPr>
        <p:spPr>
          <a:xfrm>
            <a:off x="548640" y="1325880"/>
            <a:ext cx="11094415" cy="548640"/>
          </a:xfrm>
          <a:prstGeom prst="roundRect">
            <a:avLst>
              <a:gd name="adj" fmla="val 16667"/>
            </a:avLst>
          </a:prstGeom>
          <a:solidFill>
            <a:srgbClr val="E2F0D9"/>
          </a:solidFill>
          <a:ln w="19050">
            <a:solidFill>
              <a:srgbClr val="548235"/>
            </a:solidFill>
            <a:prstDash val="solid"/>
          </a:ln>
        </p:spPr>
      </p:sp>
      <p:pic>
        <p:nvPicPr>
          <p:cNvPr id="8" name="Image 0" descr="preencoded.png">    </p:cNvPr>
          <p:cNvPicPr>
            <a:picLocks noChangeAspect="1"/>
          </p:cNvPicPr>
          <p:nvPr/>
        </p:nvPicPr>
        <p:blipFill>
          <a:blip r:embed="rId1"/>
          <a:stretch>
            <a:fillRect/>
          </a:stretch>
        </p:blipFill>
        <p:spPr>
          <a:xfrm>
            <a:off x="731520" y="1435608"/>
            <a:ext cx="329184" cy="329184"/>
          </a:xfrm>
          <a:prstGeom prst="rect">
            <a:avLst/>
          </a:prstGeom>
        </p:spPr>
      </p:pic>
      <p:sp>
        <p:nvSpPr>
          <p:cNvPr id="9" name="Text 6"/>
          <p:cNvSpPr txBox="1"/>
          <p:nvPr/>
        </p:nvSpPr>
        <p:spPr>
          <a:xfrm>
            <a:off x="1234440" y="1325880"/>
            <a:ext cx="10180015" cy="548640"/>
          </a:xfrm>
          <a:prstGeom prst="rect">
            <a:avLst/>
          </a:prstGeom>
          <a:noFill/>
          <a:ln/>
        </p:spPr>
        <p:txBody>
          <a:bodyPr wrap="square" lIns="0" tIns="0" rIns="0" bIns="0" rtlCol="0" anchor="ctr"/>
          <a:lstStyle/>
          <a:p>
            <a:pPr indent="0" marL="0">
              <a:buNone/>
            </a:pPr>
            <a:r>
              <a:rPr lang="en-US" sz="1600" b="1" dirty="0">
                <a:solidFill>
                  <a:srgbClr val="1F1F1F"/>
                </a:solidFill>
              </a:rPr>
              <a:t>E. </a:t>
            </a:r>
            <a:r>
              <a:rPr lang="en-US" sz="1600" b="1" dirty="0">
                <a:solidFill>
                  <a:srgbClr val="1F1F1F"/>
                </a:solidFill>
              </a:rPr>
              <a:t>Allopurinol cuts production; probenecid raises renal excretion</a:t>
            </a:r>
            <a:endParaRPr lang="en-US" sz="1600" dirty="0"/>
          </a:p>
        </p:txBody>
      </p:sp>
      <p:sp>
        <p:nvSpPr>
          <p:cNvPr id="10" name="Why correct"/>
          <p:cNvSpPr txBox="1"/>
          <p:nvPr/>
        </p:nvSpPr>
        <p:spPr>
          <a:xfrm>
            <a:off x="777240" y="2011680"/>
            <a:ext cx="10637215" cy="972312"/>
          </a:xfrm>
          <a:prstGeom prst="rect">
            <a:avLst/>
          </a:prstGeom>
          <a:noFill/>
          <a:ln/>
        </p:spPr>
        <p:txBody>
          <a:bodyPr wrap="square" lIns="0" tIns="0" rIns="0" bIns="0" rtlCol="0" anchor="t"/>
          <a:lstStyle/>
          <a:p>
            <a:pPr indent="0" marL="0">
              <a:buNone/>
            </a:pPr>
            <a:r>
              <a:rPr lang="en-US" sz="1600" dirty="0">
                <a:solidFill>
                  <a:srgbClr val="1F1F1F"/>
                </a:solidFill>
              </a:rPr>
              <a:t>Figure 4 shows allopurinol (and febuxostat) acting as xanthine oxidase inhibitors that reduce uric acid production, while probenecid acts at the kidney to increase renal excretion of uric acid that has already been produced — two strategies for one goal (S8; SG U2-R9).</a:t>
            </a:r>
            <a:r>
              <a:rPr lang="en-US" sz="1100" dirty="0">
                <a:solidFill>
                  <a:srgbClr val="666666"/>
                </a:solidFill>
              </a:rPr>
              <a:t>  S8; S12; S14; SG U2-R9</a:t>
            </a:r>
            <a:endParaRPr lang="en-US" sz="1600" dirty="0"/>
          </a:p>
        </p:txBody>
      </p:sp>
      <p:sp>
        <p:nvSpPr>
          <p:cNvPr id="11" name="Why others wrong card"/>
          <p:cNvSpPr/>
          <p:nvPr/>
        </p:nvSpPr>
        <p:spPr>
          <a:xfrm>
            <a:off x="548640" y="3121152"/>
            <a:ext cx="11094415" cy="1704848"/>
          </a:xfrm>
          <a:prstGeom prst="roundRect">
            <a:avLst>
              <a:gd name="adj" fmla="val 5364"/>
            </a:avLst>
          </a:prstGeom>
          <a:solidFill>
            <a:srgbClr val="F2F4F7"/>
          </a:solidFill>
          <a:ln w="12700">
            <a:solidFill>
              <a:srgbClr val="F2F4F7"/>
            </a:solidFill>
            <a:prstDash val="solid"/>
          </a:ln>
        </p:spPr>
      </p:sp>
      <p:sp>
        <p:nvSpPr>
          <p:cNvPr id="12" name="Why others wrong"/>
          <p:cNvSpPr txBox="1"/>
          <p:nvPr/>
        </p:nvSpPr>
        <p:spPr>
          <a:xfrm>
            <a:off x="777240" y="3230880"/>
            <a:ext cx="10637215" cy="1521968"/>
          </a:xfrm>
          <a:prstGeom prst="rect">
            <a:avLst/>
          </a:prstGeom>
          <a:noFill/>
          <a:ln/>
        </p:spPr>
        <p:txBody>
          <a:bodyPr wrap="square" lIns="0" tIns="0" rIns="0" bIns="0" rtlCol="0" anchor="t"/>
          <a:lstStyle/>
          <a:p>
            <a:pPr indent="0" marL="0">
              <a:spcAft>
                <a:spcPts val="400"/>
              </a:spcAft>
              <a:buNone/>
            </a:pPr>
            <a:r>
              <a:rPr lang="en-US" sz="1600" b="1" dirty="0">
                <a:solidFill>
                  <a:srgbClr val="C00000"/>
                </a:solidFill>
              </a:rPr>
              <a:t>Why the other choices are wrong</a:t>
            </a:r>
            <a:endParaRPr lang="en-US" sz="1600" dirty="0"/>
          </a:p>
          <a:p>
            <a:pPr indent="0" marL="0">
              <a:buNone/>
            </a:pPr>
            <a:r>
              <a:rPr lang="en-US" sz="1600" b="1" dirty="0">
                <a:solidFill>
                  <a:srgbClr val="1F1F1F"/>
                </a:solidFill>
              </a:rPr>
              <a:t>A. Neither drug affects serum uric acid levels — </a:t>
            </a:r>
            <a:r>
              <a:rPr lang="en-US" sz="1600" dirty="0">
                <a:solidFill>
                  <a:srgbClr val="1F1F1F"/>
                </a:solidFill>
              </a:rPr>
              <a:t>Both lower serum uric acid, by different routes (S8).</a:t>
            </a:r>
            <a:endParaRPr lang="en-US" sz="1600" dirty="0"/>
          </a:p>
          <a:p>
            <a:pPr indent="0" marL="0">
              <a:buNone/>
            </a:pPr>
            <a:r>
              <a:rPr lang="en-US" sz="1600" b="1" dirty="0">
                <a:solidFill>
                  <a:srgbClr val="1F1F1F"/>
                </a:solidFill>
              </a:rPr>
              <a:t>B. Allopurinol raises excretion; probenecid cuts production — </a:t>
            </a:r>
            <a:r>
              <a:rPr lang="en-US" sz="1600" dirty="0">
                <a:solidFill>
                  <a:srgbClr val="1F1F1F"/>
                </a:solidFill>
              </a:rPr>
              <a:t>Reversed (SG U2-R9).</a:t>
            </a:r>
            <a:endParaRPr lang="en-US" sz="1600" dirty="0"/>
          </a:p>
          <a:p>
            <a:pPr indent="0" marL="0">
              <a:buNone/>
            </a:pPr>
            <a:r>
              <a:rPr lang="en-US" sz="1600" b="1" dirty="0">
                <a:solidFill>
                  <a:srgbClr val="1F1F1F"/>
                </a:solidFill>
              </a:rPr>
              <a:t>C. Both inhibit xanthine oxidase at different sites — </a:t>
            </a:r>
            <a:r>
              <a:rPr lang="en-US" sz="1600" dirty="0">
                <a:solidFill>
                  <a:srgbClr val="1F1F1F"/>
                </a:solidFill>
              </a:rPr>
              <a:t>Probenecid is a uricosuric, not a xanthine oxidase inhibitor (S14).</a:t>
            </a:r>
            <a:endParaRPr lang="en-US" sz="1600" dirty="0"/>
          </a:p>
          <a:p>
            <a:pPr indent="0" marL="0">
              <a:buNone/>
            </a:pPr>
            <a:r>
              <a:rPr lang="en-US" sz="1600" b="1" dirty="0">
                <a:solidFill>
                  <a:srgbClr val="1F1F1F"/>
                </a:solidFill>
              </a:rPr>
              <a:t>D. Allopurinol blocks neutrophils; probenecid blocks URAT1 — </a:t>
            </a:r>
            <a:r>
              <a:rPr lang="en-US" sz="1600" dirty="0">
                <a:solidFill>
                  <a:srgbClr val="1F1F1F"/>
                </a:solidFill>
              </a:rPr>
              <a:t>Neutrophil microtubules are colchicine’s target (S10).</a:t>
            </a:r>
            <a:endParaRPr lang="en-US" sz="16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Kicker"/>
          <p:cNvSpPr txBox="1"/>
          <p:nvPr/>
        </p:nvSpPr>
        <p:spPr>
          <a:xfrm>
            <a:off x="548640" y="292608"/>
            <a:ext cx="8076895" cy="274320"/>
          </a:xfrm>
          <a:prstGeom prst="rect">
            <a:avLst/>
          </a:prstGeom>
          <a:noFill/>
          <a:ln/>
        </p:spPr>
        <p:txBody>
          <a:bodyPr wrap="square" lIns="0" tIns="0" rIns="0" bIns="0" rtlCol="0" anchor="ctr"/>
          <a:lstStyle/>
          <a:p>
            <a:pPr indent="0" marL="0">
              <a:buNone/>
            </a:pPr>
            <a:r>
              <a:rPr lang="en-US" sz="1200" b="1" spc="100" kern="0" dirty="0">
                <a:solidFill>
                  <a:srgbClr val="4472C4"/>
                </a:solidFill>
              </a:rPr>
              <a:t>CLINICAL VIGNETTE</a:t>
            </a:r>
            <a:endParaRPr lang="en-US" sz="1200" dirty="0"/>
          </a:p>
        </p:txBody>
      </p:sp>
      <p:sp>
        <p:nvSpPr>
          <p:cNvPr id="3" name="Title"/>
          <p:cNvSpPr txBox="1"/>
          <p:nvPr/>
        </p:nvSpPr>
        <p:spPr>
          <a:xfrm>
            <a:off x="548640" y="566928"/>
            <a:ext cx="8076895" cy="713232"/>
          </a:xfrm>
          <a:prstGeom prst="rect">
            <a:avLst/>
          </a:prstGeom>
          <a:noFill/>
          <a:ln/>
        </p:spPr>
        <p:txBody>
          <a:bodyPr wrap="square" lIns="0" tIns="0" rIns="0" bIns="0" rtlCol="0" anchor="t"/>
          <a:lstStyle/>
          <a:p>
            <a:pPr indent="0" marL="0">
              <a:buNone/>
            </a:pPr>
            <a:r>
              <a:rPr lang="en-US" sz="3000" b="1" dirty="0">
                <a:solidFill>
                  <a:srgbClr val="1F1F1F"/>
                </a:solidFill>
                <a:latin typeface="Calibri" pitchFamily="34" charset="0"/>
                <a:ea typeface="Calibri" pitchFamily="34" charset="-122"/>
                <a:cs typeface="Calibri" pitchFamily="34" charset="-120"/>
              </a:rPr>
              <a:t>Question 5</a:t>
            </a:r>
            <a:endParaRPr lang="en-US" sz="3000" dirty="0"/>
          </a:p>
        </p:txBody>
      </p:sp>
      <p:sp>
        <p:nvSpPr>
          <p:cNvPr id="4" name="Objective chip"/>
          <p:cNvSpPr/>
          <p:nvPr/>
        </p:nvSpPr>
        <p:spPr>
          <a:xfrm>
            <a:off x="8899855" y="365760"/>
            <a:ext cx="2743200" cy="384048"/>
          </a:xfrm>
          <a:prstGeom prst="roundRect">
            <a:avLst>
              <a:gd name="adj" fmla="val 35714"/>
            </a:avLst>
          </a:prstGeom>
          <a:solidFill>
            <a:srgbClr val="E3EBF8"/>
          </a:solidFill>
          <a:ln/>
        </p:spPr>
        <p:txBody>
          <a:bodyPr wrap="square" lIns="25400" tIns="25400" rIns="25400" bIns="25400" rtlCol="0" anchor="ctr"/>
          <a:lstStyle/>
          <a:p>
            <a:pPr algn="ctr" indent="0" marL="0">
              <a:buNone/>
            </a:pPr>
            <a:r>
              <a:rPr lang="en-US" sz="800" b="1" dirty="0">
                <a:solidFill>
                  <a:srgbClr val="2F4F8A"/>
                </a:solidFill>
              </a:rPr>
              <a:t>Objectives: SO1 · SO4 · IO2.1 · IO2.2 · IO2.3 · IO2.4 · IO2.5</a:t>
            </a:r>
            <a:endParaRPr lang="en-US" sz="800" dirty="0"/>
          </a:p>
        </p:txBody>
      </p:sp>
      <p:sp>
        <p:nvSpPr>
          <p:cNvPr id="5" name="Footer"/>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1000" dirty="0">
                <a:solidFill>
                  <a:srgbClr val="666666"/>
                </a:solidFill>
              </a:rPr>
              <a:t>L04 · Musculoskeletal Pharmacology — Session 2</a:t>
            </a:r>
            <a:endParaRPr lang="en-US" sz="1000" dirty="0"/>
          </a:p>
        </p:txBody>
      </p:sp>
      <p:sp>
        <p:nvSpPr>
          <p:cNvPr id="6" name="Slide number"/>
          <p:cNvSpPr txBox="1"/>
          <p:nvPr/>
        </p:nvSpPr>
        <p:spPr>
          <a:xfrm>
            <a:off x="10728655" y="6419088"/>
            <a:ext cx="914400" cy="274320"/>
          </a:xfrm>
          <a:prstGeom prst="rect">
            <a:avLst/>
          </a:prstGeom>
          <a:noFill/>
          <a:ln/>
        </p:spPr>
        <p:txBody>
          <a:bodyPr wrap="square" lIns="0" tIns="0" rIns="0" bIns="0" rtlCol="0" anchor="ctr"/>
          <a:lstStyle/>
          <a:p>
            <a:pPr algn="r" indent="0" marL="0">
              <a:buNone/>
            </a:pPr>
            <a:r>
              <a:rPr lang="en-US" sz="1000" dirty="0">
                <a:solidFill>
                  <a:srgbClr val="666666"/>
                </a:solidFill>
              </a:rPr>
              <a:t>38</a:t>
            </a:r>
            <a:endParaRPr lang="en-US" sz="1000" dirty="0"/>
          </a:p>
        </p:txBody>
      </p:sp>
      <p:sp>
        <p:nvSpPr>
          <p:cNvPr id="7" name="Question stem card"/>
          <p:cNvSpPr/>
          <p:nvPr/>
        </p:nvSpPr>
        <p:spPr>
          <a:xfrm>
            <a:off x="548640" y="1325880"/>
            <a:ext cx="11094415" cy="644652"/>
          </a:xfrm>
          <a:prstGeom prst="roundRect">
            <a:avLst>
              <a:gd name="adj" fmla="val 14184"/>
            </a:avLst>
          </a:prstGeom>
          <a:solidFill>
            <a:srgbClr val="F2F4F7"/>
          </a:solidFill>
          <a:ln w="12700">
            <a:solidFill>
              <a:srgbClr val="F2F4F7"/>
            </a:solidFill>
            <a:prstDash val="solid"/>
          </a:ln>
        </p:spPr>
      </p:sp>
      <p:sp>
        <p:nvSpPr>
          <p:cNvPr id="8" name="Question stem"/>
          <p:cNvSpPr txBox="1"/>
          <p:nvPr/>
        </p:nvSpPr>
        <p:spPr>
          <a:xfrm>
            <a:off x="777240" y="1325880"/>
            <a:ext cx="10637215" cy="644652"/>
          </a:xfrm>
          <a:prstGeom prst="rect">
            <a:avLst/>
          </a:prstGeom>
          <a:noFill/>
          <a:ln/>
        </p:spPr>
        <p:txBody>
          <a:bodyPr wrap="square" lIns="0" tIns="0" rIns="0" bIns="0" rtlCol="0" anchor="ctr"/>
          <a:lstStyle/>
          <a:p>
            <a:pPr indent="0" marL="0">
              <a:buNone/>
            </a:pPr>
            <a:r>
              <a:rPr lang="en-US" sz="1800" dirty="0">
                <a:solidFill>
                  <a:srgbClr val="1F1F1F"/>
                </a:solidFill>
              </a:rPr>
              <a:t>A patient on colchicine for a gout flare is prescribed clarithromycin for pneumonia. What is the concern?</a:t>
            </a:r>
            <a:endParaRPr lang="en-US" sz="1800" dirty="0"/>
          </a:p>
        </p:txBody>
      </p:sp>
      <p:sp>
        <p:nvSpPr>
          <p:cNvPr id="9" name="Shape 7"/>
          <p:cNvSpPr/>
          <p:nvPr/>
        </p:nvSpPr>
        <p:spPr>
          <a:xfrm>
            <a:off x="548640" y="2180844"/>
            <a:ext cx="402336" cy="402336"/>
          </a:xfrm>
          <a:prstGeom prst="ellipse">
            <a:avLst/>
          </a:prstGeom>
          <a:solidFill>
            <a:srgbClr val="FFFFFF"/>
          </a:solidFill>
          <a:ln w="19050">
            <a:solidFill>
              <a:srgbClr val="4472C4"/>
            </a:solidFill>
            <a:prstDash val="solid"/>
          </a:ln>
        </p:spPr>
      </p:sp>
      <p:sp>
        <p:nvSpPr>
          <p:cNvPr id="10" name="Text 8"/>
          <p:cNvSpPr txBox="1"/>
          <p:nvPr/>
        </p:nvSpPr>
        <p:spPr>
          <a:xfrm>
            <a:off x="548640" y="2180844"/>
            <a:ext cx="402336" cy="402336"/>
          </a:xfrm>
          <a:prstGeom prst="rect">
            <a:avLst/>
          </a:prstGeom>
          <a:noFill/>
          <a:ln/>
        </p:spPr>
        <p:txBody>
          <a:bodyPr wrap="square" lIns="0" tIns="0" rIns="0" bIns="0" rtlCol="0" anchor="ctr"/>
          <a:lstStyle/>
          <a:p>
            <a:pPr algn="ctr" indent="0" marL="0">
              <a:buNone/>
            </a:pPr>
            <a:r>
              <a:rPr lang="en-US" sz="1400" b="1" dirty="0">
                <a:solidFill>
                  <a:srgbClr val="4472C4"/>
                </a:solidFill>
              </a:rPr>
              <a:t>A</a:t>
            </a:r>
            <a:endParaRPr lang="en-US" sz="1400" dirty="0"/>
          </a:p>
        </p:txBody>
      </p:sp>
      <p:sp>
        <p:nvSpPr>
          <p:cNvPr id="11" name="Option A"/>
          <p:cNvSpPr txBox="1"/>
          <p:nvPr/>
        </p:nvSpPr>
        <p:spPr>
          <a:xfrm>
            <a:off x="1188720" y="2153412"/>
            <a:ext cx="10271455" cy="457200"/>
          </a:xfrm>
          <a:prstGeom prst="rect">
            <a:avLst/>
          </a:prstGeom>
          <a:noFill/>
          <a:ln/>
        </p:spPr>
        <p:txBody>
          <a:bodyPr wrap="square" lIns="0" tIns="0" rIns="0" bIns="0" rtlCol="0" anchor="ctr"/>
          <a:lstStyle/>
          <a:p>
            <a:pPr indent="0" marL="0">
              <a:buNone/>
            </a:pPr>
            <a:r>
              <a:rPr lang="en-US" sz="1800" dirty="0">
                <a:solidFill>
                  <a:srgbClr val="1F1F1F"/>
                </a:solidFill>
              </a:rPr>
              <a:t>Clarithromycin speeds colchicine clearance, so the flare returns</a:t>
            </a:r>
            <a:endParaRPr lang="en-US" sz="1800" dirty="0"/>
          </a:p>
        </p:txBody>
      </p:sp>
      <p:sp>
        <p:nvSpPr>
          <p:cNvPr id="12" name="Shape 10"/>
          <p:cNvSpPr/>
          <p:nvPr/>
        </p:nvSpPr>
        <p:spPr>
          <a:xfrm>
            <a:off x="548640" y="2729484"/>
            <a:ext cx="402336" cy="402336"/>
          </a:xfrm>
          <a:prstGeom prst="ellipse">
            <a:avLst/>
          </a:prstGeom>
          <a:solidFill>
            <a:srgbClr val="FFFFFF"/>
          </a:solidFill>
          <a:ln w="19050">
            <a:solidFill>
              <a:srgbClr val="4472C4"/>
            </a:solidFill>
            <a:prstDash val="solid"/>
          </a:ln>
        </p:spPr>
      </p:sp>
      <p:sp>
        <p:nvSpPr>
          <p:cNvPr id="13" name="Text 11"/>
          <p:cNvSpPr txBox="1"/>
          <p:nvPr/>
        </p:nvSpPr>
        <p:spPr>
          <a:xfrm>
            <a:off x="548640" y="2729484"/>
            <a:ext cx="402336" cy="402336"/>
          </a:xfrm>
          <a:prstGeom prst="rect">
            <a:avLst/>
          </a:prstGeom>
          <a:noFill/>
          <a:ln/>
        </p:spPr>
        <p:txBody>
          <a:bodyPr wrap="square" lIns="0" tIns="0" rIns="0" bIns="0" rtlCol="0" anchor="ctr"/>
          <a:lstStyle/>
          <a:p>
            <a:pPr algn="ctr" indent="0" marL="0">
              <a:buNone/>
            </a:pPr>
            <a:r>
              <a:rPr lang="en-US" sz="1400" b="1" dirty="0">
                <a:solidFill>
                  <a:srgbClr val="4472C4"/>
                </a:solidFill>
              </a:rPr>
              <a:t>B</a:t>
            </a:r>
            <a:endParaRPr lang="en-US" sz="1400" dirty="0"/>
          </a:p>
        </p:txBody>
      </p:sp>
      <p:sp>
        <p:nvSpPr>
          <p:cNvPr id="14" name="Option B"/>
          <p:cNvSpPr txBox="1"/>
          <p:nvPr/>
        </p:nvSpPr>
        <p:spPr>
          <a:xfrm>
            <a:off x="1188720" y="2702052"/>
            <a:ext cx="10271455" cy="457200"/>
          </a:xfrm>
          <a:prstGeom prst="rect">
            <a:avLst/>
          </a:prstGeom>
          <a:noFill/>
          <a:ln/>
        </p:spPr>
        <p:txBody>
          <a:bodyPr wrap="square" lIns="0" tIns="0" rIns="0" bIns="0" rtlCol="0" anchor="ctr"/>
          <a:lstStyle/>
          <a:p>
            <a:pPr indent="0" marL="0">
              <a:buNone/>
            </a:pPr>
            <a:r>
              <a:rPr lang="en-US" sz="1800" dirty="0">
                <a:solidFill>
                  <a:srgbClr val="1F1F1F"/>
                </a:solidFill>
              </a:rPr>
              <a:t>Clarithromycin triggers HLA-B*58:01 hypersensitivity</a:t>
            </a:r>
            <a:endParaRPr lang="en-US" sz="1800" dirty="0"/>
          </a:p>
        </p:txBody>
      </p:sp>
      <p:sp>
        <p:nvSpPr>
          <p:cNvPr id="15" name="Shape 13"/>
          <p:cNvSpPr/>
          <p:nvPr/>
        </p:nvSpPr>
        <p:spPr>
          <a:xfrm>
            <a:off x="548640" y="3278124"/>
            <a:ext cx="402336" cy="402336"/>
          </a:xfrm>
          <a:prstGeom prst="ellipse">
            <a:avLst/>
          </a:prstGeom>
          <a:solidFill>
            <a:srgbClr val="FFFFFF"/>
          </a:solidFill>
          <a:ln w="19050">
            <a:solidFill>
              <a:srgbClr val="4472C4"/>
            </a:solidFill>
            <a:prstDash val="solid"/>
          </a:ln>
        </p:spPr>
      </p:sp>
      <p:sp>
        <p:nvSpPr>
          <p:cNvPr id="16" name="Text 14"/>
          <p:cNvSpPr txBox="1"/>
          <p:nvPr/>
        </p:nvSpPr>
        <p:spPr>
          <a:xfrm>
            <a:off x="548640" y="3278124"/>
            <a:ext cx="402336" cy="402336"/>
          </a:xfrm>
          <a:prstGeom prst="rect">
            <a:avLst/>
          </a:prstGeom>
          <a:noFill/>
          <a:ln/>
        </p:spPr>
        <p:txBody>
          <a:bodyPr wrap="square" lIns="0" tIns="0" rIns="0" bIns="0" rtlCol="0" anchor="ctr"/>
          <a:lstStyle/>
          <a:p>
            <a:pPr algn="ctr" indent="0" marL="0">
              <a:buNone/>
            </a:pPr>
            <a:r>
              <a:rPr lang="en-US" sz="1400" b="1" dirty="0">
                <a:solidFill>
                  <a:srgbClr val="4472C4"/>
                </a:solidFill>
              </a:rPr>
              <a:t>C</a:t>
            </a:r>
            <a:endParaRPr lang="en-US" sz="1400" dirty="0"/>
          </a:p>
        </p:txBody>
      </p:sp>
      <p:sp>
        <p:nvSpPr>
          <p:cNvPr id="17" name="Option C"/>
          <p:cNvSpPr txBox="1"/>
          <p:nvPr/>
        </p:nvSpPr>
        <p:spPr>
          <a:xfrm>
            <a:off x="1188720" y="3250692"/>
            <a:ext cx="10271455" cy="457200"/>
          </a:xfrm>
          <a:prstGeom prst="rect">
            <a:avLst/>
          </a:prstGeom>
          <a:noFill/>
          <a:ln/>
        </p:spPr>
        <p:txBody>
          <a:bodyPr wrap="square" lIns="0" tIns="0" rIns="0" bIns="0" rtlCol="0" anchor="ctr"/>
          <a:lstStyle/>
          <a:p>
            <a:pPr indent="0" marL="0">
              <a:buNone/>
            </a:pPr>
            <a:r>
              <a:rPr lang="en-US" sz="1800" dirty="0">
                <a:solidFill>
                  <a:srgbClr val="1F1F1F"/>
                </a:solidFill>
              </a:rPr>
              <a:t>CYP3A4/P-gp inhibition raises colchicine to toxic levels</a:t>
            </a:r>
            <a:endParaRPr lang="en-US" sz="1800" dirty="0"/>
          </a:p>
        </p:txBody>
      </p:sp>
      <p:sp>
        <p:nvSpPr>
          <p:cNvPr id="18" name="Shape 16"/>
          <p:cNvSpPr/>
          <p:nvPr/>
        </p:nvSpPr>
        <p:spPr>
          <a:xfrm>
            <a:off x="548640" y="3826764"/>
            <a:ext cx="402336" cy="402336"/>
          </a:xfrm>
          <a:prstGeom prst="ellipse">
            <a:avLst/>
          </a:prstGeom>
          <a:solidFill>
            <a:srgbClr val="FFFFFF"/>
          </a:solidFill>
          <a:ln w="19050">
            <a:solidFill>
              <a:srgbClr val="4472C4"/>
            </a:solidFill>
            <a:prstDash val="solid"/>
          </a:ln>
        </p:spPr>
      </p:sp>
      <p:sp>
        <p:nvSpPr>
          <p:cNvPr id="19" name="Text 17"/>
          <p:cNvSpPr txBox="1"/>
          <p:nvPr/>
        </p:nvSpPr>
        <p:spPr>
          <a:xfrm>
            <a:off x="548640" y="3826764"/>
            <a:ext cx="402336" cy="402336"/>
          </a:xfrm>
          <a:prstGeom prst="rect">
            <a:avLst/>
          </a:prstGeom>
          <a:noFill/>
          <a:ln/>
        </p:spPr>
        <p:txBody>
          <a:bodyPr wrap="square" lIns="0" tIns="0" rIns="0" bIns="0" rtlCol="0" anchor="ctr"/>
          <a:lstStyle/>
          <a:p>
            <a:pPr algn="ctr" indent="0" marL="0">
              <a:buNone/>
            </a:pPr>
            <a:r>
              <a:rPr lang="en-US" sz="1400" b="1" dirty="0">
                <a:solidFill>
                  <a:srgbClr val="4472C4"/>
                </a:solidFill>
              </a:rPr>
              <a:t>D</a:t>
            </a:r>
            <a:endParaRPr lang="en-US" sz="1400" dirty="0"/>
          </a:p>
        </p:txBody>
      </p:sp>
      <p:sp>
        <p:nvSpPr>
          <p:cNvPr id="20" name="Option D"/>
          <p:cNvSpPr txBox="1"/>
          <p:nvPr/>
        </p:nvSpPr>
        <p:spPr>
          <a:xfrm>
            <a:off x="1188720" y="3799332"/>
            <a:ext cx="10271455" cy="457200"/>
          </a:xfrm>
          <a:prstGeom prst="rect">
            <a:avLst/>
          </a:prstGeom>
          <a:noFill/>
          <a:ln/>
        </p:spPr>
        <p:txBody>
          <a:bodyPr wrap="square" lIns="0" tIns="0" rIns="0" bIns="0" rtlCol="0" anchor="ctr"/>
          <a:lstStyle/>
          <a:p>
            <a:pPr indent="0" marL="0">
              <a:buNone/>
            </a:pPr>
            <a:r>
              <a:rPr lang="en-US" sz="1800" dirty="0">
                <a:solidFill>
                  <a:srgbClr val="1F1F1F"/>
                </a:solidFill>
              </a:rPr>
              <a:t>The pair raises uric acid and worsens the flare</a:t>
            </a:r>
            <a:endParaRPr lang="en-US" sz="1800" dirty="0"/>
          </a:p>
        </p:txBody>
      </p:sp>
      <p:sp>
        <p:nvSpPr>
          <p:cNvPr id="21" name="Shape 19"/>
          <p:cNvSpPr/>
          <p:nvPr/>
        </p:nvSpPr>
        <p:spPr>
          <a:xfrm>
            <a:off x="548640" y="4375404"/>
            <a:ext cx="402336" cy="402336"/>
          </a:xfrm>
          <a:prstGeom prst="ellipse">
            <a:avLst/>
          </a:prstGeom>
          <a:solidFill>
            <a:srgbClr val="FFFFFF"/>
          </a:solidFill>
          <a:ln w="19050">
            <a:solidFill>
              <a:srgbClr val="4472C4"/>
            </a:solidFill>
            <a:prstDash val="solid"/>
          </a:ln>
        </p:spPr>
      </p:sp>
      <p:sp>
        <p:nvSpPr>
          <p:cNvPr id="22" name="Text 20"/>
          <p:cNvSpPr txBox="1"/>
          <p:nvPr/>
        </p:nvSpPr>
        <p:spPr>
          <a:xfrm>
            <a:off x="548640" y="4375404"/>
            <a:ext cx="402336" cy="402336"/>
          </a:xfrm>
          <a:prstGeom prst="rect">
            <a:avLst/>
          </a:prstGeom>
          <a:noFill/>
          <a:ln/>
        </p:spPr>
        <p:txBody>
          <a:bodyPr wrap="square" lIns="0" tIns="0" rIns="0" bIns="0" rtlCol="0" anchor="ctr"/>
          <a:lstStyle/>
          <a:p>
            <a:pPr algn="ctr" indent="0" marL="0">
              <a:buNone/>
            </a:pPr>
            <a:r>
              <a:rPr lang="en-US" sz="1400" b="1" dirty="0">
                <a:solidFill>
                  <a:srgbClr val="4472C4"/>
                </a:solidFill>
              </a:rPr>
              <a:t>E</a:t>
            </a:r>
            <a:endParaRPr lang="en-US" sz="1400" dirty="0"/>
          </a:p>
        </p:txBody>
      </p:sp>
      <p:sp>
        <p:nvSpPr>
          <p:cNvPr id="23" name="Option E"/>
          <p:cNvSpPr txBox="1"/>
          <p:nvPr/>
        </p:nvSpPr>
        <p:spPr>
          <a:xfrm>
            <a:off x="1188720" y="4347972"/>
            <a:ext cx="10271455" cy="457200"/>
          </a:xfrm>
          <a:prstGeom prst="rect">
            <a:avLst/>
          </a:prstGeom>
          <a:noFill/>
          <a:ln/>
        </p:spPr>
        <p:txBody>
          <a:bodyPr wrap="square" lIns="0" tIns="0" rIns="0" bIns="0" rtlCol="0" anchor="ctr"/>
          <a:lstStyle/>
          <a:p>
            <a:pPr indent="0" marL="0">
              <a:buNone/>
            </a:pPr>
            <a:r>
              <a:rPr lang="en-US" sz="1800" dirty="0">
                <a:solidFill>
                  <a:srgbClr val="1F1F1F"/>
                </a:solidFill>
              </a:rPr>
              <a:t>The two together cause hemolysis in G6PD deficiency</a:t>
            </a:r>
            <a:endParaRPr lang="en-US" sz="18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Kicker"/>
          <p:cNvSpPr txBox="1"/>
          <p:nvPr/>
        </p:nvSpPr>
        <p:spPr>
          <a:xfrm>
            <a:off x="548640" y="292608"/>
            <a:ext cx="8076895" cy="274320"/>
          </a:xfrm>
          <a:prstGeom prst="rect">
            <a:avLst/>
          </a:prstGeom>
          <a:noFill/>
          <a:ln/>
        </p:spPr>
        <p:txBody>
          <a:bodyPr wrap="square" lIns="0" tIns="0" rIns="0" bIns="0" rtlCol="0" anchor="ctr"/>
          <a:lstStyle/>
          <a:p>
            <a:pPr indent="0" marL="0">
              <a:buNone/>
            </a:pPr>
            <a:r>
              <a:rPr lang="en-US" sz="1200" b="1" spc="100" kern="0" dirty="0">
                <a:solidFill>
                  <a:srgbClr val="4472C4"/>
                </a:solidFill>
              </a:rPr>
              <a:t>CLINICAL VIGNETTE · ANSWER</a:t>
            </a:r>
            <a:endParaRPr lang="en-US" sz="1200" dirty="0"/>
          </a:p>
        </p:txBody>
      </p:sp>
      <p:sp>
        <p:nvSpPr>
          <p:cNvPr id="3" name="Title"/>
          <p:cNvSpPr txBox="1"/>
          <p:nvPr/>
        </p:nvSpPr>
        <p:spPr>
          <a:xfrm>
            <a:off x="548640" y="566928"/>
            <a:ext cx="8076895" cy="713232"/>
          </a:xfrm>
          <a:prstGeom prst="rect">
            <a:avLst/>
          </a:prstGeom>
          <a:noFill/>
          <a:ln/>
        </p:spPr>
        <p:txBody>
          <a:bodyPr wrap="square" lIns="0" tIns="0" rIns="0" bIns="0" rtlCol="0" anchor="t"/>
          <a:lstStyle/>
          <a:p>
            <a:pPr indent="0" marL="0">
              <a:buNone/>
            </a:pPr>
            <a:r>
              <a:rPr lang="en-US" sz="3000" b="1" dirty="0">
                <a:solidFill>
                  <a:srgbClr val="1F1F1F"/>
                </a:solidFill>
                <a:latin typeface="Calibri" pitchFamily="34" charset="0"/>
                <a:ea typeface="Calibri" pitchFamily="34" charset="-122"/>
                <a:cs typeface="Calibri" pitchFamily="34" charset="-120"/>
              </a:rPr>
              <a:t>Answer 5: C</a:t>
            </a:r>
            <a:endParaRPr lang="en-US" sz="3000" dirty="0"/>
          </a:p>
        </p:txBody>
      </p:sp>
      <p:sp>
        <p:nvSpPr>
          <p:cNvPr id="4" name="Objective chip"/>
          <p:cNvSpPr/>
          <p:nvPr/>
        </p:nvSpPr>
        <p:spPr>
          <a:xfrm>
            <a:off x="8899855" y="365760"/>
            <a:ext cx="2743200" cy="384048"/>
          </a:xfrm>
          <a:prstGeom prst="roundRect">
            <a:avLst>
              <a:gd name="adj" fmla="val 35714"/>
            </a:avLst>
          </a:prstGeom>
          <a:solidFill>
            <a:srgbClr val="E3EBF8"/>
          </a:solidFill>
          <a:ln/>
        </p:spPr>
        <p:txBody>
          <a:bodyPr wrap="square" lIns="25400" tIns="25400" rIns="25400" bIns="25400" rtlCol="0" anchor="ctr"/>
          <a:lstStyle/>
          <a:p>
            <a:pPr algn="ctr" indent="0" marL="0">
              <a:buNone/>
            </a:pPr>
            <a:r>
              <a:rPr lang="en-US" sz="800" b="1" dirty="0">
                <a:solidFill>
                  <a:srgbClr val="2F4F8A"/>
                </a:solidFill>
              </a:rPr>
              <a:t>Objectives: SO1 · SO4 · IO2.1 · IO2.2 · IO2.3 · IO2.4 · IO2.5</a:t>
            </a:r>
            <a:endParaRPr lang="en-US" sz="800" dirty="0"/>
          </a:p>
        </p:txBody>
      </p:sp>
      <p:sp>
        <p:nvSpPr>
          <p:cNvPr id="5" name="Footer"/>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1000" dirty="0">
                <a:solidFill>
                  <a:srgbClr val="666666"/>
                </a:solidFill>
              </a:rPr>
              <a:t>L04 · Musculoskeletal Pharmacology — Session 2</a:t>
            </a:r>
            <a:endParaRPr lang="en-US" sz="1000" dirty="0"/>
          </a:p>
        </p:txBody>
      </p:sp>
      <p:sp>
        <p:nvSpPr>
          <p:cNvPr id="6" name="Slide number"/>
          <p:cNvSpPr txBox="1"/>
          <p:nvPr/>
        </p:nvSpPr>
        <p:spPr>
          <a:xfrm>
            <a:off x="10728655" y="6419088"/>
            <a:ext cx="914400" cy="274320"/>
          </a:xfrm>
          <a:prstGeom prst="rect">
            <a:avLst/>
          </a:prstGeom>
          <a:noFill/>
          <a:ln/>
        </p:spPr>
        <p:txBody>
          <a:bodyPr wrap="square" lIns="0" tIns="0" rIns="0" bIns="0" rtlCol="0" anchor="ctr"/>
          <a:lstStyle/>
          <a:p>
            <a:pPr algn="r" indent="0" marL="0">
              <a:buNone/>
            </a:pPr>
            <a:r>
              <a:rPr lang="en-US" sz="1000" dirty="0">
                <a:solidFill>
                  <a:srgbClr val="666666"/>
                </a:solidFill>
              </a:rPr>
              <a:t>39</a:t>
            </a:r>
            <a:endParaRPr lang="en-US" sz="1000" dirty="0"/>
          </a:p>
        </p:txBody>
      </p:sp>
      <p:sp>
        <p:nvSpPr>
          <p:cNvPr id="7" name="Correct answer"/>
          <p:cNvSpPr/>
          <p:nvPr/>
        </p:nvSpPr>
        <p:spPr>
          <a:xfrm>
            <a:off x="548640" y="1325880"/>
            <a:ext cx="11094415" cy="548640"/>
          </a:xfrm>
          <a:prstGeom prst="roundRect">
            <a:avLst>
              <a:gd name="adj" fmla="val 16667"/>
            </a:avLst>
          </a:prstGeom>
          <a:solidFill>
            <a:srgbClr val="E2F0D9"/>
          </a:solidFill>
          <a:ln w="19050">
            <a:solidFill>
              <a:srgbClr val="548235"/>
            </a:solidFill>
            <a:prstDash val="solid"/>
          </a:ln>
        </p:spPr>
      </p:sp>
      <p:pic>
        <p:nvPicPr>
          <p:cNvPr id="8" name="Image 0" descr="preencoded.png">    </p:cNvPr>
          <p:cNvPicPr>
            <a:picLocks noChangeAspect="1"/>
          </p:cNvPicPr>
          <p:nvPr/>
        </p:nvPicPr>
        <p:blipFill>
          <a:blip r:embed="rId1"/>
          <a:stretch>
            <a:fillRect/>
          </a:stretch>
        </p:blipFill>
        <p:spPr>
          <a:xfrm>
            <a:off x="731520" y="1435608"/>
            <a:ext cx="329184" cy="329184"/>
          </a:xfrm>
          <a:prstGeom prst="rect">
            <a:avLst/>
          </a:prstGeom>
        </p:spPr>
      </p:pic>
      <p:sp>
        <p:nvSpPr>
          <p:cNvPr id="9" name="Text 6"/>
          <p:cNvSpPr txBox="1"/>
          <p:nvPr/>
        </p:nvSpPr>
        <p:spPr>
          <a:xfrm>
            <a:off x="1234440" y="1325880"/>
            <a:ext cx="10180015" cy="548640"/>
          </a:xfrm>
          <a:prstGeom prst="rect">
            <a:avLst/>
          </a:prstGeom>
          <a:noFill/>
          <a:ln/>
        </p:spPr>
        <p:txBody>
          <a:bodyPr wrap="square" lIns="0" tIns="0" rIns="0" bIns="0" rtlCol="0" anchor="ctr"/>
          <a:lstStyle/>
          <a:p>
            <a:pPr indent="0" marL="0">
              <a:buNone/>
            </a:pPr>
            <a:r>
              <a:rPr lang="en-US" sz="1600" b="1" dirty="0">
                <a:solidFill>
                  <a:srgbClr val="1F1F1F"/>
                </a:solidFill>
              </a:rPr>
              <a:t>C. </a:t>
            </a:r>
            <a:r>
              <a:rPr lang="en-US" sz="1600" b="1" dirty="0">
                <a:solidFill>
                  <a:srgbClr val="1F1F1F"/>
                </a:solidFill>
              </a:rPr>
              <a:t>CYP3A4/P-gp inhibition raises colchicine to toxic levels</a:t>
            </a:r>
            <a:endParaRPr lang="en-US" sz="1600" dirty="0"/>
          </a:p>
        </p:txBody>
      </p:sp>
      <p:sp>
        <p:nvSpPr>
          <p:cNvPr id="10" name="Why correct"/>
          <p:cNvSpPr txBox="1"/>
          <p:nvPr/>
        </p:nvSpPr>
        <p:spPr>
          <a:xfrm>
            <a:off x="777240" y="2011680"/>
            <a:ext cx="10637215" cy="476504"/>
          </a:xfrm>
          <a:prstGeom prst="rect">
            <a:avLst/>
          </a:prstGeom>
          <a:noFill/>
          <a:ln/>
        </p:spPr>
        <p:txBody>
          <a:bodyPr wrap="square" lIns="0" tIns="0" rIns="0" bIns="0" rtlCol="0" anchor="t"/>
          <a:lstStyle/>
          <a:p>
            <a:pPr indent="0" marL="0">
              <a:buNone/>
            </a:pPr>
            <a:r>
              <a:rPr lang="en-US" sz="1600" dirty="0">
                <a:solidFill>
                  <a:srgbClr val="1F1F1F"/>
                </a:solidFill>
              </a:rPr>
              <a:t>CYP3A4 and P-gp inhibitors such as clarithromycin, cyclosporine, and strong CYP3A4 inhibitors raise colchicine toxicity (S11).</a:t>
            </a:r>
            <a:r>
              <a:rPr lang="en-US" sz="1100" dirty="0">
                <a:solidFill>
                  <a:srgbClr val="666666"/>
                </a:solidFill>
              </a:rPr>
              <a:t>  S11</a:t>
            </a:r>
            <a:endParaRPr lang="en-US" sz="1600" dirty="0"/>
          </a:p>
        </p:txBody>
      </p:sp>
      <p:sp>
        <p:nvSpPr>
          <p:cNvPr id="11" name="Why others wrong card"/>
          <p:cNvSpPr/>
          <p:nvPr/>
        </p:nvSpPr>
        <p:spPr>
          <a:xfrm>
            <a:off x="548640" y="2625344"/>
            <a:ext cx="11094415" cy="1704848"/>
          </a:xfrm>
          <a:prstGeom prst="roundRect">
            <a:avLst>
              <a:gd name="adj" fmla="val 5364"/>
            </a:avLst>
          </a:prstGeom>
          <a:solidFill>
            <a:srgbClr val="F2F4F7"/>
          </a:solidFill>
          <a:ln w="12700">
            <a:solidFill>
              <a:srgbClr val="F2F4F7"/>
            </a:solidFill>
            <a:prstDash val="solid"/>
          </a:ln>
        </p:spPr>
      </p:sp>
      <p:sp>
        <p:nvSpPr>
          <p:cNvPr id="12" name="Why others wrong"/>
          <p:cNvSpPr txBox="1"/>
          <p:nvPr/>
        </p:nvSpPr>
        <p:spPr>
          <a:xfrm>
            <a:off x="777240" y="2735072"/>
            <a:ext cx="10637215" cy="1521968"/>
          </a:xfrm>
          <a:prstGeom prst="rect">
            <a:avLst/>
          </a:prstGeom>
          <a:noFill/>
          <a:ln/>
        </p:spPr>
        <p:txBody>
          <a:bodyPr wrap="square" lIns="0" tIns="0" rIns="0" bIns="0" rtlCol="0" anchor="t"/>
          <a:lstStyle/>
          <a:p>
            <a:pPr indent="0" marL="0">
              <a:spcAft>
                <a:spcPts val="400"/>
              </a:spcAft>
              <a:buNone/>
            </a:pPr>
            <a:r>
              <a:rPr lang="en-US" sz="1600" b="1" dirty="0">
                <a:solidFill>
                  <a:srgbClr val="C00000"/>
                </a:solidFill>
              </a:rPr>
              <a:t>Why the other choices are wrong</a:t>
            </a:r>
            <a:endParaRPr lang="en-US" sz="1600" dirty="0"/>
          </a:p>
          <a:p>
            <a:pPr indent="0" marL="0">
              <a:buNone/>
            </a:pPr>
            <a:r>
              <a:rPr lang="en-US" sz="1600" b="1" dirty="0">
                <a:solidFill>
                  <a:srgbClr val="1F1F1F"/>
                </a:solidFill>
              </a:rPr>
              <a:t>A. Clarithromycin speeds colchicine clearance, so the flare returns — </a:t>
            </a:r>
            <a:r>
              <a:rPr lang="en-US" sz="1600" dirty="0">
                <a:solidFill>
                  <a:srgbClr val="1F1F1F"/>
                </a:solidFill>
              </a:rPr>
              <a:t>It is an inhibitor; levels rise (S11).</a:t>
            </a:r>
            <a:endParaRPr lang="en-US" sz="1600" dirty="0"/>
          </a:p>
          <a:p>
            <a:pPr indent="0" marL="0">
              <a:buNone/>
            </a:pPr>
            <a:r>
              <a:rPr lang="en-US" sz="1600" b="1" dirty="0">
                <a:solidFill>
                  <a:srgbClr val="1F1F1F"/>
                </a:solidFill>
              </a:rPr>
              <a:t>B. Clarithromycin triggers HLA-B*58:01 hypersensitivity — </a:t>
            </a:r>
            <a:r>
              <a:rPr lang="en-US" sz="1600" dirty="0">
                <a:solidFill>
                  <a:srgbClr val="1F1F1F"/>
                </a:solidFill>
              </a:rPr>
              <a:t>HLA-B*58:01 relates to allopurinol (S13).</a:t>
            </a:r>
            <a:endParaRPr lang="en-US" sz="1600" dirty="0"/>
          </a:p>
          <a:p>
            <a:pPr indent="0" marL="0">
              <a:buNone/>
            </a:pPr>
            <a:r>
              <a:rPr lang="en-US" sz="1600" b="1" dirty="0">
                <a:solidFill>
                  <a:srgbClr val="1F1F1F"/>
                </a:solidFill>
              </a:rPr>
              <a:t>D. The pair raises uric acid and worsens the flare — </a:t>
            </a:r>
            <a:r>
              <a:rPr lang="en-US" sz="1600" dirty="0">
                <a:solidFill>
                  <a:srgbClr val="1F1F1F"/>
                </a:solidFill>
              </a:rPr>
              <a:t>The taught interaction is colchicine toxicity (S11).</a:t>
            </a:r>
            <a:endParaRPr lang="en-US" sz="1600" dirty="0"/>
          </a:p>
          <a:p>
            <a:pPr indent="0" marL="0">
              <a:buNone/>
            </a:pPr>
            <a:r>
              <a:rPr lang="en-US" sz="1600" b="1" dirty="0">
                <a:solidFill>
                  <a:srgbClr val="1F1F1F"/>
                </a:solidFill>
              </a:rPr>
              <a:t>E. The two together cause hemolysis in G6PD deficiency — </a:t>
            </a:r>
            <a:r>
              <a:rPr lang="en-US" sz="1600" dirty="0">
                <a:solidFill>
                  <a:srgbClr val="1F1F1F"/>
                </a:solidFill>
              </a:rPr>
              <a:t>Hemolysis in G6PD deficiency is the uricase warning (S15).</a:t>
            </a:r>
            <a:endParaRPr lang="en-US" sz="16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2F4F8A"/>
        </a:solidFill>
      </p:bgPr>
    </p:bg>
    <p:spTree>
      <p:nvGrpSpPr>
        <p:cNvPr id="1" name=""/>
        <p:cNvGrpSpPr/>
        <p:nvPr/>
      </p:nvGrpSpPr>
      <p:grpSpPr>
        <a:xfrm>
          <a:off x="0" y="0"/>
          <a:ext cx="0" cy="0"/>
          <a:chOff x="0" y="0"/>
          <a:chExt cx="0" cy="0"/>
        </a:xfrm>
      </p:grpSpPr>
      <p:sp>
        <p:nvSpPr>
          <p:cNvPr id="2" name="Text 0"/>
          <p:cNvSpPr txBox="1"/>
          <p:nvPr/>
        </p:nvSpPr>
        <p:spPr>
          <a:xfrm>
            <a:off x="548640" y="1463040"/>
            <a:ext cx="7315200" cy="365760"/>
          </a:xfrm>
          <a:prstGeom prst="rect">
            <a:avLst/>
          </a:prstGeom>
          <a:noFill/>
          <a:ln/>
        </p:spPr>
        <p:txBody>
          <a:bodyPr wrap="square" lIns="0" tIns="0" rIns="0" bIns="0" rtlCol="0" anchor="ctr"/>
          <a:lstStyle/>
          <a:p>
            <a:pPr indent="0" marL="0">
              <a:buNone/>
            </a:pPr>
            <a:r>
              <a:rPr lang="en-US" sz="1600" b="1" dirty="0">
                <a:solidFill>
                  <a:srgbClr val="D6E0F5"/>
                </a:solidFill>
              </a:rPr>
              <a:t>Drug class 2 of 4</a:t>
            </a:r>
            <a:endParaRPr lang="en-US" sz="1600" dirty="0"/>
          </a:p>
        </p:txBody>
      </p:sp>
      <p:sp>
        <p:nvSpPr>
          <p:cNvPr id="3" name="Title"/>
          <p:cNvSpPr txBox="1"/>
          <p:nvPr/>
        </p:nvSpPr>
        <p:spPr>
          <a:xfrm>
            <a:off x="548640" y="1874520"/>
            <a:ext cx="11094415" cy="1188720"/>
          </a:xfrm>
          <a:prstGeom prst="rect">
            <a:avLst/>
          </a:prstGeom>
          <a:noFill/>
          <a:ln/>
        </p:spPr>
        <p:txBody>
          <a:bodyPr wrap="square" lIns="0" tIns="0" rIns="0" bIns="0" rtlCol="0" anchor="t"/>
          <a:lstStyle/>
          <a:p>
            <a:pPr indent="0" marL="0">
              <a:buNone/>
            </a:pPr>
            <a:r>
              <a:rPr lang="en-US" sz="4400" b="1" dirty="0">
                <a:solidFill>
                  <a:srgbClr val="FFFFFF"/>
                </a:solidFill>
                <a:latin typeface="Calibri" pitchFamily="34" charset="0"/>
                <a:ea typeface="Calibri" pitchFamily="34" charset="-122"/>
                <a:cs typeface="Calibri" pitchFamily="34" charset="-120"/>
              </a:rPr>
              <a:t>Skeletal Muscle Relaxants</a:t>
            </a:r>
            <a:endParaRPr lang="en-US" sz="4400" dirty="0"/>
          </a:p>
        </p:txBody>
      </p:sp>
      <p:sp>
        <p:nvSpPr>
          <p:cNvPr id="4" name="Text 2"/>
          <p:cNvSpPr txBox="1"/>
          <p:nvPr/>
        </p:nvSpPr>
        <p:spPr>
          <a:xfrm>
            <a:off x="548640" y="3108960"/>
            <a:ext cx="9144000" cy="365760"/>
          </a:xfrm>
          <a:prstGeom prst="rect">
            <a:avLst/>
          </a:prstGeom>
          <a:noFill/>
          <a:ln/>
        </p:spPr>
        <p:txBody>
          <a:bodyPr wrap="square" lIns="0" tIns="0" rIns="0" bIns="0" rtlCol="0" anchor="ctr"/>
          <a:lstStyle/>
          <a:p>
            <a:pPr indent="0" marL="0">
              <a:buNone/>
            </a:pPr>
            <a:r>
              <a:rPr lang="en-US" sz="1800" dirty="0">
                <a:solidFill>
                  <a:srgbClr val="D6E0F5"/>
                </a:solidFill>
              </a:rPr>
              <a:t>Covers objectives: SO2 · SO4 · IO2.1 · IO2.2 · IO2.3 · IO2.5 · IO2.6</a:t>
            </a:r>
            <a:endParaRPr lang="en-US" sz="1800" dirty="0"/>
          </a:p>
        </p:txBody>
      </p:sp>
      <p:sp>
        <p:nvSpPr>
          <p:cNvPr id="5" name="Shape 3"/>
          <p:cNvSpPr/>
          <p:nvPr/>
        </p:nvSpPr>
        <p:spPr>
          <a:xfrm>
            <a:off x="783321" y="4297680"/>
            <a:ext cx="640080" cy="640080"/>
          </a:xfrm>
          <a:prstGeom prst="ellipse">
            <a:avLst/>
          </a:prstGeom>
          <a:solidFill>
            <a:srgbClr val="44546A"/>
          </a:solidFill>
          <a:ln w="19050">
            <a:solidFill>
              <a:srgbClr val="FFFFFF"/>
            </a:solidFill>
            <a:prstDash val="solid"/>
          </a:ln>
        </p:spPr>
      </p:sp>
      <p:pic>
        <p:nvPicPr>
          <p:cNvPr id="6" name="Image 0" descr="preencoded.png">    </p:cNvPr>
          <p:cNvPicPr>
            <a:picLocks noChangeAspect="1"/>
          </p:cNvPicPr>
          <p:nvPr/>
        </p:nvPicPr>
        <p:blipFill>
          <a:blip r:embed="rId1"/>
          <a:stretch>
            <a:fillRect/>
          </a:stretch>
        </p:blipFill>
        <p:spPr>
          <a:xfrm>
            <a:off x="938769" y="4453128"/>
            <a:ext cx="329184" cy="329184"/>
          </a:xfrm>
          <a:prstGeom prst="rect">
            <a:avLst/>
          </a:prstGeom>
        </p:spPr>
      </p:pic>
      <p:sp>
        <p:nvSpPr>
          <p:cNvPr id="7" name="Text 4"/>
          <p:cNvSpPr txBox="1"/>
          <p:nvPr/>
        </p:nvSpPr>
        <p:spPr>
          <a:xfrm>
            <a:off x="594360" y="5029200"/>
            <a:ext cx="1018002" cy="640080"/>
          </a:xfrm>
          <a:prstGeom prst="rect">
            <a:avLst/>
          </a:prstGeom>
          <a:noFill/>
          <a:ln/>
        </p:spPr>
        <p:txBody>
          <a:bodyPr wrap="square" lIns="0" tIns="0" rIns="0" bIns="0" rtlCol="0" anchor="t"/>
          <a:lstStyle/>
          <a:p>
            <a:pPr algn="ctr" indent="0" marL="0">
              <a:buNone/>
            </a:pPr>
            <a:r>
              <a:rPr lang="en-US" sz="1000" dirty="0">
                <a:solidFill>
                  <a:srgbClr val="FFFFFF"/>
                </a:solidFill>
              </a:rPr>
              <a:t>Class</a:t>
            </a:r>
            <a:endParaRPr lang="en-US" sz="1000" dirty="0"/>
          </a:p>
        </p:txBody>
      </p:sp>
      <p:sp>
        <p:nvSpPr>
          <p:cNvPr id="8" name="Shape 5"/>
          <p:cNvSpPr/>
          <p:nvPr/>
        </p:nvSpPr>
        <p:spPr>
          <a:xfrm>
            <a:off x="1892762" y="4297680"/>
            <a:ext cx="640080" cy="640080"/>
          </a:xfrm>
          <a:prstGeom prst="ellipse">
            <a:avLst/>
          </a:prstGeom>
          <a:solidFill>
            <a:srgbClr val="4472C4"/>
          </a:solidFill>
          <a:ln w="19050">
            <a:solidFill>
              <a:srgbClr val="FFFFFF"/>
            </a:solidFill>
            <a:prstDash val="solid"/>
          </a:ln>
        </p:spPr>
      </p:sp>
      <p:pic>
        <p:nvPicPr>
          <p:cNvPr id="9" name="Image 1" descr="preencoded.png">    </p:cNvPr>
          <p:cNvPicPr>
            <a:picLocks noChangeAspect="1"/>
          </p:cNvPicPr>
          <p:nvPr/>
        </p:nvPicPr>
        <p:blipFill>
          <a:blip r:embed="rId2"/>
          <a:stretch>
            <a:fillRect/>
          </a:stretch>
        </p:blipFill>
        <p:spPr>
          <a:xfrm>
            <a:off x="2048210" y="4453128"/>
            <a:ext cx="329184" cy="329184"/>
          </a:xfrm>
          <a:prstGeom prst="rect">
            <a:avLst/>
          </a:prstGeom>
        </p:spPr>
      </p:pic>
      <p:sp>
        <p:nvSpPr>
          <p:cNvPr id="10" name="Text 6"/>
          <p:cNvSpPr txBox="1"/>
          <p:nvPr/>
        </p:nvSpPr>
        <p:spPr>
          <a:xfrm>
            <a:off x="1703802" y="5029200"/>
            <a:ext cx="1018002" cy="640080"/>
          </a:xfrm>
          <a:prstGeom prst="rect">
            <a:avLst/>
          </a:prstGeom>
          <a:noFill/>
          <a:ln/>
        </p:spPr>
        <p:txBody>
          <a:bodyPr wrap="square" lIns="0" tIns="0" rIns="0" bIns="0" rtlCol="0" anchor="t"/>
          <a:lstStyle/>
          <a:p>
            <a:pPr algn="ctr" indent="0" marL="0">
              <a:buNone/>
            </a:pPr>
            <a:r>
              <a:rPr lang="en-US" sz="1000" dirty="0">
                <a:solidFill>
                  <a:srgbClr val="FFFFFF"/>
                </a:solidFill>
              </a:rPr>
              <a:t>Prototype</a:t>
            </a:r>
            <a:endParaRPr lang="en-US" sz="1000" dirty="0"/>
          </a:p>
        </p:txBody>
      </p:sp>
      <p:sp>
        <p:nvSpPr>
          <p:cNvPr id="11" name="Shape 7"/>
          <p:cNvSpPr/>
          <p:nvPr/>
        </p:nvSpPr>
        <p:spPr>
          <a:xfrm>
            <a:off x="3002204" y="4297680"/>
            <a:ext cx="640080" cy="640080"/>
          </a:xfrm>
          <a:prstGeom prst="ellipse">
            <a:avLst/>
          </a:prstGeom>
          <a:solidFill>
            <a:srgbClr val="7030A0"/>
          </a:solidFill>
          <a:ln w="19050">
            <a:solidFill>
              <a:srgbClr val="FFFFFF"/>
            </a:solidFill>
            <a:prstDash val="solid"/>
          </a:ln>
        </p:spPr>
      </p:sp>
      <p:pic>
        <p:nvPicPr>
          <p:cNvPr id="12" name="Image 2" descr="preencoded.png">    </p:cNvPr>
          <p:cNvPicPr>
            <a:picLocks noChangeAspect="1"/>
          </p:cNvPicPr>
          <p:nvPr/>
        </p:nvPicPr>
        <p:blipFill>
          <a:blip r:embed="rId3"/>
          <a:stretch>
            <a:fillRect/>
          </a:stretch>
        </p:blipFill>
        <p:spPr>
          <a:xfrm>
            <a:off x="3157652" y="4453128"/>
            <a:ext cx="329184" cy="329184"/>
          </a:xfrm>
          <a:prstGeom prst="rect">
            <a:avLst/>
          </a:prstGeom>
        </p:spPr>
      </p:pic>
      <p:sp>
        <p:nvSpPr>
          <p:cNvPr id="13" name="Text 8"/>
          <p:cNvSpPr txBox="1"/>
          <p:nvPr/>
        </p:nvSpPr>
        <p:spPr>
          <a:xfrm>
            <a:off x="2813243" y="5029200"/>
            <a:ext cx="1018002" cy="640080"/>
          </a:xfrm>
          <a:prstGeom prst="rect">
            <a:avLst/>
          </a:prstGeom>
          <a:noFill/>
          <a:ln/>
        </p:spPr>
        <p:txBody>
          <a:bodyPr wrap="square" lIns="0" tIns="0" rIns="0" bIns="0" rtlCol="0" anchor="t"/>
          <a:lstStyle/>
          <a:p>
            <a:pPr algn="ctr" indent="0" marL="0">
              <a:buNone/>
            </a:pPr>
            <a:r>
              <a:rPr lang="en-US" sz="1000" dirty="0">
                <a:solidFill>
                  <a:srgbClr val="FFFFFF"/>
                </a:solidFill>
              </a:rPr>
              <a:t>Mechanism of action</a:t>
            </a:r>
            <a:endParaRPr lang="en-US" sz="1000" dirty="0"/>
          </a:p>
        </p:txBody>
      </p:sp>
      <p:sp>
        <p:nvSpPr>
          <p:cNvPr id="14" name="Shape 9"/>
          <p:cNvSpPr/>
          <p:nvPr/>
        </p:nvSpPr>
        <p:spPr>
          <a:xfrm>
            <a:off x="4111645" y="4297680"/>
            <a:ext cx="640080" cy="640080"/>
          </a:xfrm>
          <a:prstGeom prst="ellipse">
            <a:avLst/>
          </a:prstGeom>
          <a:solidFill>
            <a:srgbClr val="548235"/>
          </a:solidFill>
          <a:ln w="19050">
            <a:solidFill>
              <a:srgbClr val="FFFFFF"/>
            </a:solidFill>
            <a:prstDash val="solid"/>
          </a:ln>
        </p:spPr>
      </p:sp>
      <p:pic>
        <p:nvPicPr>
          <p:cNvPr id="15" name="Image 3" descr="preencoded.png">    </p:cNvPr>
          <p:cNvPicPr>
            <a:picLocks noChangeAspect="1"/>
          </p:cNvPicPr>
          <p:nvPr/>
        </p:nvPicPr>
        <p:blipFill>
          <a:blip r:embed="rId4"/>
          <a:stretch>
            <a:fillRect/>
          </a:stretch>
        </p:blipFill>
        <p:spPr>
          <a:xfrm>
            <a:off x="4267093" y="4453128"/>
            <a:ext cx="329184" cy="329184"/>
          </a:xfrm>
          <a:prstGeom prst="rect">
            <a:avLst/>
          </a:prstGeom>
        </p:spPr>
      </p:pic>
      <p:sp>
        <p:nvSpPr>
          <p:cNvPr id="16" name="Text 10"/>
          <p:cNvSpPr txBox="1"/>
          <p:nvPr/>
        </p:nvSpPr>
        <p:spPr>
          <a:xfrm>
            <a:off x="3922685" y="5029200"/>
            <a:ext cx="1018002" cy="640080"/>
          </a:xfrm>
          <a:prstGeom prst="rect">
            <a:avLst/>
          </a:prstGeom>
          <a:noFill/>
          <a:ln/>
        </p:spPr>
        <p:txBody>
          <a:bodyPr wrap="square" lIns="0" tIns="0" rIns="0" bIns="0" rtlCol="0" anchor="t"/>
          <a:lstStyle/>
          <a:p>
            <a:pPr algn="ctr" indent="0" marL="0">
              <a:buNone/>
            </a:pPr>
            <a:r>
              <a:rPr lang="en-US" sz="1000" dirty="0">
                <a:solidFill>
                  <a:srgbClr val="FFFFFF"/>
                </a:solidFill>
              </a:rPr>
              <a:t>Indications</a:t>
            </a:r>
            <a:endParaRPr lang="en-US" sz="1000" dirty="0"/>
          </a:p>
        </p:txBody>
      </p:sp>
      <p:sp>
        <p:nvSpPr>
          <p:cNvPr id="17" name="Shape 11"/>
          <p:cNvSpPr/>
          <p:nvPr/>
        </p:nvSpPr>
        <p:spPr>
          <a:xfrm>
            <a:off x="5221087" y="4297680"/>
            <a:ext cx="640080" cy="640080"/>
          </a:xfrm>
          <a:prstGeom prst="ellipse">
            <a:avLst/>
          </a:prstGeom>
          <a:solidFill>
            <a:srgbClr val="C55A11"/>
          </a:solidFill>
          <a:ln w="19050">
            <a:solidFill>
              <a:srgbClr val="FFFFFF"/>
            </a:solidFill>
            <a:prstDash val="solid"/>
          </a:ln>
        </p:spPr>
      </p:sp>
      <p:pic>
        <p:nvPicPr>
          <p:cNvPr id="18" name="Image 4" descr="preencoded.png">    </p:cNvPr>
          <p:cNvPicPr>
            <a:picLocks noChangeAspect="1"/>
          </p:cNvPicPr>
          <p:nvPr/>
        </p:nvPicPr>
        <p:blipFill>
          <a:blip r:embed="rId5"/>
          <a:stretch>
            <a:fillRect/>
          </a:stretch>
        </p:blipFill>
        <p:spPr>
          <a:xfrm>
            <a:off x="5376535" y="4453128"/>
            <a:ext cx="329184" cy="329184"/>
          </a:xfrm>
          <a:prstGeom prst="rect">
            <a:avLst/>
          </a:prstGeom>
        </p:spPr>
      </p:pic>
      <p:sp>
        <p:nvSpPr>
          <p:cNvPr id="19" name="Text 12"/>
          <p:cNvSpPr txBox="1"/>
          <p:nvPr/>
        </p:nvSpPr>
        <p:spPr>
          <a:xfrm>
            <a:off x="5032126" y="5029200"/>
            <a:ext cx="1018002" cy="640080"/>
          </a:xfrm>
          <a:prstGeom prst="rect">
            <a:avLst/>
          </a:prstGeom>
          <a:noFill/>
          <a:ln/>
        </p:spPr>
        <p:txBody>
          <a:bodyPr wrap="square" lIns="0" tIns="0" rIns="0" bIns="0" rtlCol="0" anchor="t"/>
          <a:lstStyle/>
          <a:p>
            <a:pPr algn="ctr" indent="0" marL="0">
              <a:buNone/>
            </a:pPr>
            <a:r>
              <a:rPr lang="en-US" sz="1000" dirty="0">
                <a:solidFill>
                  <a:srgbClr val="FFFFFF"/>
                </a:solidFill>
              </a:rPr>
              <a:t>Adverse effects</a:t>
            </a:r>
            <a:endParaRPr lang="en-US" sz="1000" dirty="0"/>
          </a:p>
        </p:txBody>
      </p:sp>
      <p:sp>
        <p:nvSpPr>
          <p:cNvPr id="20" name="Shape 13"/>
          <p:cNvSpPr/>
          <p:nvPr/>
        </p:nvSpPr>
        <p:spPr>
          <a:xfrm>
            <a:off x="6330528" y="4297680"/>
            <a:ext cx="640080" cy="640080"/>
          </a:xfrm>
          <a:prstGeom prst="ellipse">
            <a:avLst/>
          </a:prstGeom>
          <a:solidFill>
            <a:srgbClr val="C00000"/>
          </a:solidFill>
          <a:ln w="19050">
            <a:solidFill>
              <a:srgbClr val="FFFFFF"/>
            </a:solidFill>
            <a:prstDash val="solid"/>
          </a:ln>
        </p:spPr>
      </p:sp>
      <p:pic>
        <p:nvPicPr>
          <p:cNvPr id="21" name="Image 5" descr="preencoded.png">    </p:cNvPr>
          <p:cNvPicPr>
            <a:picLocks noChangeAspect="1"/>
          </p:cNvPicPr>
          <p:nvPr/>
        </p:nvPicPr>
        <p:blipFill>
          <a:blip r:embed="rId6"/>
          <a:stretch>
            <a:fillRect/>
          </a:stretch>
        </p:blipFill>
        <p:spPr>
          <a:xfrm>
            <a:off x="6485976" y="4453128"/>
            <a:ext cx="329184" cy="329184"/>
          </a:xfrm>
          <a:prstGeom prst="rect">
            <a:avLst/>
          </a:prstGeom>
        </p:spPr>
      </p:pic>
      <p:sp>
        <p:nvSpPr>
          <p:cNvPr id="22" name="Text 14"/>
          <p:cNvSpPr txBox="1"/>
          <p:nvPr/>
        </p:nvSpPr>
        <p:spPr>
          <a:xfrm>
            <a:off x="6141568" y="5029200"/>
            <a:ext cx="1018002" cy="640080"/>
          </a:xfrm>
          <a:prstGeom prst="rect">
            <a:avLst/>
          </a:prstGeom>
          <a:noFill/>
          <a:ln/>
        </p:spPr>
        <p:txBody>
          <a:bodyPr wrap="square" lIns="0" tIns="0" rIns="0" bIns="0" rtlCol="0" anchor="t"/>
          <a:lstStyle/>
          <a:p>
            <a:pPr algn="ctr" indent="0" marL="0">
              <a:buNone/>
            </a:pPr>
            <a:r>
              <a:rPr lang="en-US" sz="1000" dirty="0">
                <a:solidFill>
                  <a:srgbClr val="FFFFFF"/>
                </a:solidFill>
              </a:rPr>
              <a:t>Contraindications</a:t>
            </a:r>
            <a:endParaRPr lang="en-US" sz="1000" dirty="0"/>
          </a:p>
        </p:txBody>
      </p:sp>
      <p:sp>
        <p:nvSpPr>
          <p:cNvPr id="23" name="Shape 15"/>
          <p:cNvSpPr/>
          <p:nvPr/>
        </p:nvSpPr>
        <p:spPr>
          <a:xfrm>
            <a:off x="7439970" y="4297680"/>
            <a:ext cx="640080" cy="640080"/>
          </a:xfrm>
          <a:prstGeom prst="ellipse">
            <a:avLst/>
          </a:prstGeom>
          <a:solidFill>
            <a:srgbClr val="7F6000"/>
          </a:solidFill>
          <a:ln w="19050">
            <a:solidFill>
              <a:srgbClr val="FFFFFF"/>
            </a:solidFill>
            <a:prstDash val="solid"/>
          </a:ln>
        </p:spPr>
      </p:sp>
      <p:pic>
        <p:nvPicPr>
          <p:cNvPr id="24" name="Image 6" descr="preencoded.png">    </p:cNvPr>
          <p:cNvPicPr>
            <a:picLocks noChangeAspect="1"/>
          </p:cNvPicPr>
          <p:nvPr/>
        </p:nvPicPr>
        <p:blipFill>
          <a:blip r:embed="rId7"/>
          <a:stretch>
            <a:fillRect/>
          </a:stretch>
        </p:blipFill>
        <p:spPr>
          <a:xfrm>
            <a:off x="7595418" y="4453128"/>
            <a:ext cx="329184" cy="329184"/>
          </a:xfrm>
          <a:prstGeom prst="rect">
            <a:avLst/>
          </a:prstGeom>
        </p:spPr>
      </p:pic>
      <p:sp>
        <p:nvSpPr>
          <p:cNvPr id="25" name="Text 16"/>
          <p:cNvSpPr txBox="1"/>
          <p:nvPr/>
        </p:nvSpPr>
        <p:spPr>
          <a:xfrm>
            <a:off x="7251009" y="5029200"/>
            <a:ext cx="1018002" cy="640080"/>
          </a:xfrm>
          <a:prstGeom prst="rect">
            <a:avLst/>
          </a:prstGeom>
          <a:noFill/>
          <a:ln/>
        </p:spPr>
        <p:txBody>
          <a:bodyPr wrap="square" lIns="0" tIns="0" rIns="0" bIns="0" rtlCol="0" anchor="t"/>
          <a:lstStyle/>
          <a:p>
            <a:pPr algn="ctr" indent="0" marL="0">
              <a:buNone/>
            </a:pPr>
            <a:r>
              <a:rPr lang="en-US" sz="1000" dirty="0">
                <a:solidFill>
                  <a:srgbClr val="FFFFFF"/>
                </a:solidFill>
              </a:rPr>
              <a:t>Drug interactions</a:t>
            </a:r>
            <a:endParaRPr lang="en-US" sz="1000" dirty="0"/>
          </a:p>
        </p:txBody>
      </p:sp>
      <p:sp>
        <p:nvSpPr>
          <p:cNvPr id="26" name="Shape 17"/>
          <p:cNvSpPr/>
          <p:nvPr/>
        </p:nvSpPr>
        <p:spPr>
          <a:xfrm>
            <a:off x="8549411" y="4297680"/>
            <a:ext cx="640080" cy="640080"/>
          </a:xfrm>
          <a:prstGeom prst="ellipse">
            <a:avLst/>
          </a:prstGeom>
          <a:solidFill>
            <a:srgbClr val="2E75B6"/>
          </a:solidFill>
          <a:ln w="19050">
            <a:solidFill>
              <a:srgbClr val="FFFFFF"/>
            </a:solidFill>
            <a:prstDash val="solid"/>
          </a:ln>
        </p:spPr>
      </p:sp>
      <p:pic>
        <p:nvPicPr>
          <p:cNvPr id="27" name="Image 7" descr="preencoded.png">    </p:cNvPr>
          <p:cNvPicPr>
            <a:picLocks noChangeAspect="1"/>
          </p:cNvPicPr>
          <p:nvPr/>
        </p:nvPicPr>
        <p:blipFill>
          <a:blip r:embed="rId8"/>
          <a:stretch>
            <a:fillRect/>
          </a:stretch>
        </p:blipFill>
        <p:spPr>
          <a:xfrm>
            <a:off x="8704859" y="4453128"/>
            <a:ext cx="329184" cy="329184"/>
          </a:xfrm>
          <a:prstGeom prst="rect">
            <a:avLst/>
          </a:prstGeom>
        </p:spPr>
      </p:pic>
      <p:sp>
        <p:nvSpPr>
          <p:cNvPr id="28" name="Text 18"/>
          <p:cNvSpPr txBox="1"/>
          <p:nvPr/>
        </p:nvSpPr>
        <p:spPr>
          <a:xfrm>
            <a:off x="8360451" y="5029200"/>
            <a:ext cx="1018002" cy="640080"/>
          </a:xfrm>
          <a:prstGeom prst="rect">
            <a:avLst/>
          </a:prstGeom>
          <a:noFill/>
          <a:ln/>
        </p:spPr>
        <p:txBody>
          <a:bodyPr wrap="square" lIns="0" tIns="0" rIns="0" bIns="0" rtlCol="0" anchor="t"/>
          <a:lstStyle/>
          <a:p>
            <a:pPr algn="ctr" indent="0" marL="0">
              <a:buNone/>
            </a:pPr>
            <a:r>
              <a:rPr lang="en-US" sz="1000" dirty="0">
                <a:solidFill>
                  <a:srgbClr val="FFFFFF"/>
                </a:solidFill>
              </a:rPr>
              <a:t>Pharmacokinetics</a:t>
            </a:r>
            <a:endParaRPr lang="en-US" sz="1000" dirty="0"/>
          </a:p>
        </p:txBody>
      </p:sp>
      <p:sp>
        <p:nvSpPr>
          <p:cNvPr id="29" name="Shape 19"/>
          <p:cNvSpPr/>
          <p:nvPr/>
        </p:nvSpPr>
        <p:spPr>
          <a:xfrm>
            <a:off x="9658853" y="4297680"/>
            <a:ext cx="640080" cy="640080"/>
          </a:xfrm>
          <a:prstGeom prst="ellipse">
            <a:avLst/>
          </a:prstGeom>
          <a:solidFill>
            <a:srgbClr val="1F7A7A"/>
          </a:solidFill>
          <a:ln w="19050">
            <a:solidFill>
              <a:srgbClr val="FFFFFF"/>
            </a:solidFill>
            <a:prstDash val="solid"/>
          </a:ln>
        </p:spPr>
      </p:sp>
      <p:pic>
        <p:nvPicPr>
          <p:cNvPr id="30" name="Image 8" descr="preencoded.png">    </p:cNvPr>
          <p:cNvPicPr>
            <a:picLocks noChangeAspect="1"/>
          </p:cNvPicPr>
          <p:nvPr/>
        </p:nvPicPr>
        <p:blipFill>
          <a:blip r:embed="rId9"/>
          <a:stretch>
            <a:fillRect/>
          </a:stretch>
        </p:blipFill>
        <p:spPr>
          <a:xfrm>
            <a:off x="9814301" y="4453128"/>
            <a:ext cx="329184" cy="329184"/>
          </a:xfrm>
          <a:prstGeom prst="rect">
            <a:avLst/>
          </a:prstGeom>
        </p:spPr>
      </p:pic>
      <p:sp>
        <p:nvSpPr>
          <p:cNvPr id="31" name="Text 20"/>
          <p:cNvSpPr txBox="1"/>
          <p:nvPr/>
        </p:nvSpPr>
        <p:spPr>
          <a:xfrm>
            <a:off x="9469892" y="5029200"/>
            <a:ext cx="1018002" cy="640080"/>
          </a:xfrm>
          <a:prstGeom prst="rect">
            <a:avLst/>
          </a:prstGeom>
          <a:noFill/>
          <a:ln/>
        </p:spPr>
        <p:txBody>
          <a:bodyPr wrap="square" lIns="0" tIns="0" rIns="0" bIns="0" rtlCol="0" anchor="t"/>
          <a:lstStyle/>
          <a:p>
            <a:pPr algn="ctr" indent="0" marL="0">
              <a:buNone/>
            </a:pPr>
            <a:r>
              <a:rPr lang="en-US" sz="1000" dirty="0">
                <a:solidFill>
                  <a:srgbClr val="FFFFFF"/>
                </a:solidFill>
              </a:rPr>
              <a:t>Monitoring</a:t>
            </a:r>
            <a:endParaRPr lang="en-US" sz="1000" dirty="0"/>
          </a:p>
        </p:txBody>
      </p:sp>
      <p:sp>
        <p:nvSpPr>
          <p:cNvPr id="32" name="Shape 21"/>
          <p:cNvSpPr/>
          <p:nvPr/>
        </p:nvSpPr>
        <p:spPr>
          <a:xfrm>
            <a:off x="10768294" y="4297680"/>
            <a:ext cx="640080" cy="640080"/>
          </a:xfrm>
          <a:prstGeom prst="ellipse">
            <a:avLst/>
          </a:prstGeom>
          <a:solidFill>
            <a:srgbClr val="2E75B6"/>
          </a:solidFill>
          <a:ln w="19050">
            <a:solidFill>
              <a:srgbClr val="FFFFFF"/>
            </a:solidFill>
            <a:prstDash val="solid"/>
          </a:ln>
        </p:spPr>
      </p:sp>
      <p:pic>
        <p:nvPicPr>
          <p:cNvPr id="33" name="Image 9" descr="preencoded.png">    </p:cNvPr>
          <p:cNvPicPr>
            <a:picLocks noChangeAspect="1"/>
          </p:cNvPicPr>
          <p:nvPr/>
        </p:nvPicPr>
        <p:blipFill>
          <a:blip r:embed="rId10"/>
          <a:stretch>
            <a:fillRect/>
          </a:stretch>
        </p:blipFill>
        <p:spPr>
          <a:xfrm>
            <a:off x="10923742" y="4453128"/>
            <a:ext cx="329184" cy="329184"/>
          </a:xfrm>
          <a:prstGeom prst="rect">
            <a:avLst/>
          </a:prstGeom>
        </p:spPr>
      </p:pic>
      <p:sp>
        <p:nvSpPr>
          <p:cNvPr id="34" name="Text 22"/>
          <p:cNvSpPr txBox="1"/>
          <p:nvPr/>
        </p:nvSpPr>
        <p:spPr>
          <a:xfrm>
            <a:off x="10579334" y="5029200"/>
            <a:ext cx="1018002" cy="640080"/>
          </a:xfrm>
          <a:prstGeom prst="rect">
            <a:avLst/>
          </a:prstGeom>
          <a:noFill/>
          <a:ln/>
        </p:spPr>
        <p:txBody>
          <a:bodyPr wrap="square" lIns="0" tIns="0" rIns="0" bIns="0" rtlCol="0" anchor="t"/>
          <a:lstStyle/>
          <a:p>
            <a:pPr algn="ctr" indent="0" marL="0">
              <a:buNone/>
            </a:pPr>
            <a:r>
              <a:rPr lang="en-US" sz="1000" dirty="0">
                <a:solidFill>
                  <a:srgbClr val="FFFFFF"/>
                </a:solidFill>
              </a:rPr>
              <a:t>Clinical pearls</a:t>
            </a:r>
            <a:endParaRPr lang="en-US" sz="1000" dirty="0"/>
          </a:p>
        </p:txBody>
      </p:sp>
      <p:sp>
        <p:nvSpPr>
          <p:cNvPr id="35" name="Text 23"/>
          <p:cNvSpPr txBox="1"/>
          <p:nvPr/>
        </p:nvSpPr>
        <p:spPr>
          <a:xfrm>
            <a:off x="10728655" y="6419088"/>
            <a:ext cx="914400" cy="274320"/>
          </a:xfrm>
          <a:prstGeom prst="rect">
            <a:avLst/>
          </a:prstGeom>
          <a:noFill/>
          <a:ln/>
        </p:spPr>
        <p:txBody>
          <a:bodyPr wrap="square" lIns="0" tIns="0" rIns="0" bIns="0" rtlCol="0" anchor="ctr"/>
          <a:lstStyle/>
          <a:p>
            <a:pPr algn="r" indent="0" marL="0">
              <a:buNone/>
            </a:pPr>
            <a:r>
              <a:rPr lang="en-US" sz="1000" dirty="0">
                <a:solidFill>
                  <a:srgbClr val="D6E0F5"/>
                </a:solidFill>
              </a:rPr>
              <a:t>40</a:t>
            </a:r>
            <a:endParaRPr lang="en-US" sz="10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p:bgPr>
    </p:bg>
    <p:spTree>
      <p:nvGrpSpPr>
        <p:cNvPr id="1" name=""/>
        <p:cNvGrpSpPr/>
        <p:nvPr/>
      </p:nvGrpSpPr>
      <p:grpSpPr>
        <a:xfrm>
          <a:off x="0" y="0"/>
          <a:ext cx="0" cy="0"/>
          <a:chOff x="0" y="0"/>
          <a:chExt cx="0" cy="0"/>
        </a:xfrm>
      </p:grpSpPr>
      <p:sp>
        <p:nvSpPr>
          <p:cNvPr id="2" name="Kicker"/>
          <p:cNvSpPr txBox="1"/>
          <p:nvPr/>
        </p:nvSpPr>
        <p:spPr>
          <a:xfrm>
            <a:off x="548640" y="292608"/>
            <a:ext cx="8076895" cy="274320"/>
          </a:xfrm>
          <a:prstGeom prst="rect">
            <a:avLst/>
          </a:prstGeom>
          <a:noFill/>
          <a:ln/>
        </p:spPr>
        <p:txBody>
          <a:bodyPr wrap="square" lIns="0" tIns="0" rIns="0" bIns="0" rtlCol="0" anchor="ctr"/>
          <a:lstStyle/>
          <a:p>
            <a:pPr indent="0" marL="0">
              <a:buNone/>
            </a:pPr>
            <a:r>
              <a:rPr lang="en-US" sz="1200" b="1" spc="100" kern="0" dirty="0">
                <a:solidFill>
                  <a:srgbClr val="4472C4"/>
                </a:solidFill>
              </a:rPr>
              <a:t>SKELETAL MUSCLE RELAXANTS</a:t>
            </a:r>
            <a:endParaRPr lang="en-US" sz="1200" dirty="0"/>
          </a:p>
        </p:txBody>
      </p:sp>
      <p:sp>
        <p:nvSpPr>
          <p:cNvPr id="3" name="Title"/>
          <p:cNvSpPr txBox="1"/>
          <p:nvPr/>
        </p:nvSpPr>
        <p:spPr>
          <a:xfrm>
            <a:off x="548640" y="566928"/>
            <a:ext cx="8076895" cy="713232"/>
          </a:xfrm>
          <a:prstGeom prst="rect">
            <a:avLst/>
          </a:prstGeom>
          <a:noFill/>
          <a:ln/>
        </p:spPr>
        <p:txBody>
          <a:bodyPr wrap="square" lIns="0" tIns="0" rIns="0" bIns="0" rtlCol="0" anchor="t"/>
          <a:lstStyle/>
          <a:p>
            <a:pPr indent="0" marL="0">
              <a:buNone/>
            </a:pPr>
            <a:r>
              <a:rPr lang="en-US" sz="3000" b="1" dirty="0">
                <a:solidFill>
                  <a:srgbClr val="1F1F1F"/>
                </a:solidFill>
                <a:latin typeface="Calibri" pitchFamily="34" charset="0"/>
                <a:ea typeface="Calibri" pitchFamily="34" charset="-122"/>
                <a:cs typeface="Calibri" pitchFamily="34" charset="-120"/>
              </a:rPr>
              <a:t>Class</a:t>
            </a:r>
            <a:endParaRPr lang="en-US" sz="3000" dirty="0"/>
          </a:p>
        </p:txBody>
      </p:sp>
      <p:sp>
        <p:nvSpPr>
          <p:cNvPr id="4" name="Objective chip"/>
          <p:cNvSpPr/>
          <p:nvPr/>
        </p:nvSpPr>
        <p:spPr>
          <a:xfrm>
            <a:off x="8899855" y="365760"/>
            <a:ext cx="2743200" cy="384048"/>
          </a:xfrm>
          <a:prstGeom prst="roundRect">
            <a:avLst>
              <a:gd name="adj" fmla="val 35714"/>
            </a:avLst>
          </a:prstGeom>
          <a:solidFill>
            <a:srgbClr val="E3EBF8"/>
          </a:solidFill>
          <a:ln/>
        </p:spPr>
        <p:txBody>
          <a:bodyPr wrap="square" lIns="25400" tIns="25400" rIns="25400" bIns="25400" rtlCol="0" anchor="ctr"/>
          <a:lstStyle/>
          <a:p>
            <a:pPr algn="ctr" indent="0" marL="0">
              <a:buNone/>
            </a:pPr>
            <a:r>
              <a:rPr lang="en-US" sz="800" b="1" dirty="0">
                <a:solidFill>
                  <a:srgbClr val="2F4F8A"/>
                </a:solidFill>
              </a:rPr>
              <a:t>Objectives: SO2 · SO4 · IO2.1 · IO2.2 · IO2.3 · IO2.5 · IO2.6</a:t>
            </a:r>
            <a:endParaRPr lang="en-US" sz="800" dirty="0"/>
          </a:p>
        </p:txBody>
      </p:sp>
      <p:sp>
        <p:nvSpPr>
          <p:cNvPr id="5" name="Footer"/>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1000" dirty="0">
                <a:solidFill>
                  <a:srgbClr val="666666"/>
                </a:solidFill>
              </a:rPr>
              <a:t>L04 · Musculoskeletal Pharmacology — Session 2</a:t>
            </a:r>
            <a:endParaRPr lang="en-US" sz="1000" dirty="0"/>
          </a:p>
        </p:txBody>
      </p:sp>
      <p:sp>
        <p:nvSpPr>
          <p:cNvPr id="6" name="Slide number"/>
          <p:cNvSpPr txBox="1"/>
          <p:nvPr/>
        </p:nvSpPr>
        <p:spPr>
          <a:xfrm>
            <a:off x="10728655" y="6419088"/>
            <a:ext cx="914400" cy="274320"/>
          </a:xfrm>
          <a:prstGeom prst="rect">
            <a:avLst/>
          </a:prstGeom>
          <a:noFill/>
          <a:ln/>
        </p:spPr>
        <p:txBody>
          <a:bodyPr wrap="square" lIns="0" tIns="0" rIns="0" bIns="0" rtlCol="0" anchor="ctr"/>
          <a:lstStyle/>
          <a:p>
            <a:pPr algn="r" indent="0" marL="0">
              <a:buNone/>
            </a:pPr>
            <a:r>
              <a:rPr lang="en-US" sz="1000" dirty="0">
                <a:solidFill>
                  <a:srgbClr val="666666"/>
                </a:solidFill>
              </a:rPr>
              <a:t>41</a:t>
            </a:r>
            <a:endParaRPr lang="en-US" sz="1000" dirty="0"/>
          </a:p>
        </p:txBody>
      </p:sp>
      <p:sp>
        <p:nvSpPr>
          <p:cNvPr id="7" name="Class (1/2) card"/>
          <p:cNvSpPr/>
          <p:nvPr/>
        </p:nvSpPr>
        <p:spPr>
          <a:xfrm>
            <a:off x="548640" y="1325880"/>
            <a:ext cx="11094415" cy="4000500"/>
          </a:xfrm>
          <a:prstGeom prst="roundRect">
            <a:avLst>
              <a:gd name="adj" fmla="val 2743"/>
            </a:avLst>
          </a:prstGeom>
          <a:solidFill>
            <a:srgbClr val="F2F4F7"/>
          </a:solidFill>
          <a:ln w="12700">
            <a:solidFill>
              <a:srgbClr val="F2F4F7"/>
            </a:solidFill>
            <a:prstDash val="solid"/>
          </a:ln>
        </p:spPr>
      </p:sp>
      <p:sp>
        <p:nvSpPr>
          <p:cNvPr id="8" name="Class (1/2) icon circle"/>
          <p:cNvSpPr/>
          <p:nvPr/>
        </p:nvSpPr>
        <p:spPr>
          <a:xfrm>
            <a:off x="777240" y="1508760"/>
            <a:ext cx="438912" cy="438912"/>
          </a:xfrm>
          <a:prstGeom prst="ellipse">
            <a:avLst/>
          </a:prstGeom>
          <a:solidFill>
            <a:srgbClr val="44546A"/>
          </a:solidFill>
          <a:ln w="12700">
            <a:solidFill>
              <a:srgbClr val="44546A"/>
            </a:solidFill>
            <a:prstDash val="solid"/>
          </a:ln>
        </p:spPr>
      </p:sp>
      <p:pic>
        <p:nvPicPr>
          <p:cNvPr id="9" name="Class (1/2) icon" descr="preencoded.png">    </p:cNvPr>
          <p:cNvPicPr>
            <a:picLocks noChangeAspect="1"/>
          </p:cNvPicPr>
          <p:nvPr/>
        </p:nvPicPr>
        <p:blipFill>
          <a:blip r:embed="rId1"/>
          <a:stretch>
            <a:fillRect/>
          </a:stretch>
        </p:blipFill>
        <p:spPr>
          <a:xfrm>
            <a:off x="877824" y="1609344"/>
            <a:ext cx="237744" cy="237744"/>
          </a:xfrm>
          <a:prstGeom prst="rect">
            <a:avLst/>
          </a:prstGeom>
        </p:spPr>
      </p:pic>
      <p:sp>
        <p:nvSpPr>
          <p:cNvPr id="10" name="Class (1/2) heading"/>
          <p:cNvSpPr txBox="1"/>
          <p:nvPr/>
        </p:nvSpPr>
        <p:spPr>
          <a:xfrm>
            <a:off x="1353312" y="1508760"/>
            <a:ext cx="10088575" cy="438912"/>
          </a:xfrm>
          <a:prstGeom prst="rect">
            <a:avLst/>
          </a:prstGeom>
          <a:noFill/>
          <a:ln/>
        </p:spPr>
        <p:txBody>
          <a:bodyPr wrap="square" lIns="0" tIns="0" rIns="0" bIns="0" rtlCol="0" anchor="ctr"/>
          <a:lstStyle/>
          <a:p>
            <a:pPr indent="0" marL="0">
              <a:buNone/>
            </a:pPr>
            <a:r>
              <a:rPr lang="en-US" sz="1800" b="1" dirty="0">
                <a:solidFill>
                  <a:srgbClr val="44546A"/>
                </a:solidFill>
              </a:rPr>
              <a:t>Class (1/2)</a:t>
            </a:r>
            <a:endParaRPr lang="en-US" sz="1800" dirty="0"/>
          </a:p>
        </p:txBody>
      </p:sp>
      <p:sp>
        <p:nvSpPr>
          <p:cNvPr id="11" name="Class (1/2) body"/>
          <p:cNvSpPr txBox="1"/>
          <p:nvPr/>
        </p:nvSpPr>
        <p:spPr>
          <a:xfrm>
            <a:off x="777240" y="2075688"/>
            <a:ext cx="10637215" cy="3131820"/>
          </a:xfrm>
          <a:prstGeom prst="rect">
            <a:avLst/>
          </a:prstGeom>
          <a:noFill/>
          <a:ln/>
        </p:spPr>
        <p:txBody>
          <a:bodyPr wrap="square" lIns="0" tIns="0" rIns="0" bIns="0" rtlCol="0" anchor="t"/>
          <a:lstStyle/>
          <a:p>
            <a:pPr marL="228600" indent="-228600">
              <a:spcAft>
                <a:spcPts val="800"/>
              </a:spcAft>
              <a:buSzPct val="100000"/>
              <a:buChar char="•"/>
            </a:pPr>
            <a:r>
              <a:rPr lang="en-US" sz="1800" dirty="0">
                <a:solidFill>
                  <a:srgbClr val="1F1F1F"/>
                </a:solidFill>
              </a:rPr>
              <a:t>Different mechanisms for </a:t>
            </a:r>
            <a:r>
              <a:rPr lang="en-US" sz="1800" b="1" dirty="0">
                <a:solidFill>
                  <a:srgbClr val="1F1F1F"/>
                </a:solidFill>
              </a:rPr>
              <a:t>spasm, spasticity, and rigidity</a:t>
            </a:r>
            <a:r>
              <a:rPr lang="en-US" sz="1800" dirty="0">
                <a:solidFill>
                  <a:srgbClr val="1F1F1F"/>
                </a:solidFill>
              </a:rPr>
              <a:t> — not the same thing, and they often require distinct pharmacologic approaches.</a:t>
            </a:r>
            <a:r>
              <a:rPr lang="en-US" sz="1300" dirty="0">
                <a:solidFill>
                  <a:srgbClr val="666666"/>
                </a:solidFill>
              </a:rPr>
              <a:t>  S20; S21</a:t>
            </a:r>
            <a:endParaRPr lang="en-US" sz="1800" dirty="0"/>
          </a:p>
          <a:p>
            <a:pPr marL="228600" indent="-228600">
              <a:spcAft>
                <a:spcPts val="800"/>
              </a:spcAft>
              <a:buSzPct val="100000"/>
              <a:buChar char="•"/>
            </a:pPr>
            <a:r>
              <a:rPr lang="en-US" sz="1800" b="1" dirty="0">
                <a:solidFill>
                  <a:srgbClr val="1F1F1F"/>
                </a:solidFill>
              </a:rPr>
              <a:t>Muscle spasm:</a:t>
            </a:r>
            <a:r>
              <a:rPr lang="en-US" sz="1800" dirty="0">
                <a:solidFill>
                  <a:srgbClr val="1F1F1F"/>
                </a:solidFill>
              </a:rPr>
              <a:t> sudden, involuntary contraction, often from acute musculoskeletal injury; typically treated with centrally acting relaxants.</a:t>
            </a:r>
            <a:r>
              <a:rPr lang="en-US" sz="1300" dirty="0">
                <a:solidFill>
                  <a:srgbClr val="666666"/>
                </a:solidFill>
              </a:rPr>
              <a:t>  S21</a:t>
            </a:r>
            <a:endParaRPr lang="en-US" sz="1800" dirty="0"/>
          </a:p>
          <a:p>
            <a:pPr marL="228600" indent="-228600">
              <a:spcAft>
                <a:spcPts val="800"/>
              </a:spcAft>
              <a:buSzPct val="100000"/>
              <a:buChar char="•"/>
            </a:pPr>
            <a:r>
              <a:rPr lang="en-US" sz="1800" b="1" dirty="0">
                <a:solidFill>
                  <a:srgbClr val="1F1F1F"/>
                </a:solidFill>
              </a:rPr>
              <a:t>Spasticity:</a:t>
            </a:r>
            <a:r>
              <a:rPr lang="en-US" sz="1800" dirty="0">
                <a:solidFill>
                  <a:srgbClr val="1F1F1F"/>
                </a:solidFill>
              </a:rPr>
              <a:t> velocity-dependent increased tone from </a:t>
            </a:r>
            <a:r>
              <a:rPr lang="en-US" sz="1800" b="1" dirty="0">
                <a:solidFill>
                  <a:srgbClr val="1F1F1F"/>
                </a:solidFill>
              </a:rPr>
              <a:t>upper motor neuron injury</a:t>
            </a:r>
            <a:r>
              <a:rPr lang="en-US" sz="1800" dirty="0">
                <a:solidFill>
                  <a:srgbClr val="1F1F1F"/>
                </a:solidFill>
              </a:rPr>
              <a:t>. </a:t>
            </a:r>
            <a:r>
              <a:rPr lang="en-US" sz="1800" b="1" dirty="0">
                <a:solidFill>
                  <a:srgbClr val="1F1F1F"/>
                </a:solidFill>
              </a:rPr>
              <a:t>Rigidity:</a:t>
            </a:r>
            <a:r>
              <a:rPr lang="en-US" sz="1800" dirty="0">
                <a:solidFill>
                  <a:srgbClr val="1F1F1F"/>
                </a:solidFill>
              </a:rPr>
              <a:t> constant increased tone, independent of velocity.</a:t>
            </a:r>
            <a:r>
              <a:rPr lang="en-US" sz="1300" dirty="0">
                <a:solidFill>
                  <a:srgbClr val="666666"/>
                </a:solidFill>
              </a:rPr>
              <a:t>  S21</a:t>
            </a:r>
            <a:endParaRPr lang="en-US" sz="1800" dirty="0"/>
          </a:p>
          <a:p>
            <a:pPr marL="228600" indent="-228600">
              <a:spcAft>
                <a:spcPts val="800"/>
              </a:spcAft>
              <a:buSzPct val="100000"/>
              <a:buChar char="•"/>
            </a:pPr>
            <a:r>
              <a:rPr lang="en-US" sz="1800" b="1" dirty="0">
                <a:solidFill>
                  <a:srgbClr val="1F1F1F"/>
                </a:solidFill>
              </a:rPr>
              <a:t>Where tone is controlled:</a:t>
            </a:r>
            <a:r>
              <a:rPr lang="en-US" sz="1800" dirty="0">
                <a:solidFill>
                  <a:srgbClr val="1F1F1F"/>
                </a:solidFill>
              </a:rPr>
              <a:t> upper motor neurons (descending inhibitory pathways) ▸ spinal interneurons (GABA, glycine, alpha-2) ▸ alpha motor neuron ▸ neuromuscular junction (ACh release) ▸ muscle fiber contraction (SR Ca²⁺ release).</a:t>
            </a:r>
            <a:r>
              <a:rPr lang="en-US" sz="1300" dirty="0">
                <a:solidFill>
                  <a:srgbClr val="666666"/>
                </a:solidFill>
              </a:rPr>
              <a:t>  S22</a:t>
            </a:r>
            <a:endParaRPr lang="en-US" sz="18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p:bgPr>
    </p:bg>
    <p:spTree>
      <p:nvGrpSpPr>
        <p:cNvPr id="1" name=""/>
        <p:cNvGrpSpPr/>
        <p:nvPr/>
      </p:nvGrpSpPr>
      <p:grpSpPr>
        <a:xfrm>
          <a:off x="0" y="0"/>
          <a:ext cx="0" cy="0"/>
          <a:chOff x="0" y="0"/>
          <a:chExt cx="0" cy="0"/>
        </a:xfrm>
      </p:grpSpPr>
      <p:sp>
        <p:nvSpPr>
          <p:cNvPr id="2" name="Kicker"/>
          <p:cNvSpPr txBox="1"/>
          <p:nvPr/>
        </p:nvSpPr>
        <p:spPr>
          <a:xfrm>
            <a:off x="548640" y="292608"/>
            <a:ext cx="8076895" cy="274320"/>
          </a:xfrm>
          <a:prstGeom prst="rect">
            <a:avLst/>
          </a:prstGeom>
          <a:noFill/>
          <a:ln/>
        </p:spPr>
        <p:txBody>
          <a:bodyPr wrap="square" lIns="0" tIns="0" rIns="0" bIns="0" rtlCol="0" anchor="ctr"/>
          <a:lstStyle/>
          <a:p>
            <a:pPr indent="0" marL="0">
              <a:buNone/>
            </a:pPr>
            <a:r>
              <a:rPr lang="en-US" sz="1200" b="1" spc="100" kern="0" dirty="0">
                <a:solidFill>
                  <a:srgbClr val="4472C4"/>
                </a:solidFill>
              </a:rPr>
              <a:t>SKELETAL MUSCLE RELAXANTS</a:t>
            </a:r>
            <a:endParaRPr lang="en-US" sz="1200" dirty="0"/>
          </a:p>
        </p:txBody>
      </p:sp>
      <p:sp>
        <p:nvSpPr>
          <p:cNvPr id="3" name="Title"/>
          <p:cNvSpPr txBox="1"/>
          <p:nvPr/>
        </p:nvSpPr>
        <p:spPr>
          <a:xfrm>
            <a:off x="548640" y="566928"/>
            <a:ext cx="8076895" cy="713232"/>
          </a:xfrm>
          <a:prstGeom prst="rect">
            <a:avLst/>
          </a:prstGeom>
          <a:noFill/>
          <a:ln/>
        </p:spPr>
        <p:txBody>
          <a:bodyPr wrap="square" lIns="0" tIns="0" rIns="0" bIns="0" rtlCol="0" anchor="t"/>
          <a:lstStyle/>
          <a:p>
            <a:pPr indent="0" marL="0">
              <a:buNone/>
            </a:pPr>
            <a:r>
              <a:rPr lang="en-US" sz="3000" b="1" dirty="0">
                <a:solidFill>
                  <a:srgbClr val="1F1F1F"/>
                </a:solidFill>
                <a:latin typeface="Calibri" pitchFamily="34" charset="0"/>
                <a:ea typeface="Calibri" pitchFamily="34" charset="-122"/>
                <a:cs typeface="Calibri" pitchFamily="34" charset="-120"/>
              </a:rPr>
              <a:t>Class (cont.)</a:t>
            </a:r>
            <a:endParaRPr lang="en-US" sz="3000" dirty="0"/>
          </a:p>
        </p:txBody>
      </p:sp>
      <p:sp>
        <p:nvSpPr>
          <p:cNvPr id="4" name="Objective chip"/>
          <p:cNvSpPr/>
          <p:nvPr/>
        </p:nvSpPr>
        <p:spPr>
          <a:xfrm>
            <a:off x="8899855" y="365760"/>
            <a:ext cx="2743200" cy="384048"/>
          </a:xfrm>
          <a:prstGeom prst="roundRect">
            <a:avLst>
              <a:gd name="adj" fmla="val 35714"/>
            </a:avLst>
          </a:prstGeom>
          <a:solidFill>
            <a:srgbClr val="E3EBF8"/>
          </a:solidFill>
          <a:ln/>
        </p:spPr>
        <p:txBody>
          <a:bodyPr wrap="square" lIns="25400" tIns="25400" rIns="25400" bIns="25400" rtlCol="0" anchor="ctr"/>
          <a:lstStyle/>
          <a:p>
            <a:pPr algn="ctr" indent="0" marL="0">
              <a:buNone/>
            </a:pPr>
            <a:r>
              <a:rPr lang="en-US" sz="800" b="1" dirty="0">
                <a:solidFill>
                  <a:srgbClr val="2F4F8A"/>
                </a:solidFill>
              </a:rPr>
              <a:t>Objectives: SO2 · SO4 · IO2.1 · IO2.2 · IO2.3 · IO2.5 · IO2.6</a:t>
            </a:r>
            <a:endParaRPr lang="en-US" sz="800" dirty="0"/>
          </a:p>
        </p:txBody>
      </p:sp>
      <p:sp>
        <p:nvSpPr>
          <p:cNvPr id="5" name="Footer"/>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1000" dirty="0">
                <a:solidFill>
                  <a:srgbClr val="666666"/>
                </a:solidFill>
              </a:rPr>
              <a:t>L04 · Musculoskeletal Pharmacology — Session 2</a:t>
            </a:r>
            <a:endParaRPr lang="en-US" sz="1000" dirty="0"/>
          </a:p>
        </p:txBody>
      </p:sp>
      <p:sp>
        <p:nvSpPr>
          <p:cNvPr id="6" name="Slide number"/>
          <p:cNvSpPr txBox="1"/>
          <p:nvPr/>
        </p:nvSpPr>
        <p:spPr>
          <a:xfrm>
            <a:off x="10728655" y="6419088"/>
            <a:ext cx="914400" cy="274320"/>
          </a:xfrm>
          <a:prstGeom prst="rect">
            <a:avLst/>
          </a:prstGeom>
          <a:noFill/>
          <a:ln/>
        </p:spPr>
        <p:txBody>
          <a:bodyPr wrap="square" lIns="0" tIns="0" rIns="0" bIns="0" rtlCol="0" anchor="ctr"/>
          <a:lstStyle/>
          <a:p>
            <a:pPr algn="r" indent="0" marL="0">
              <a:buNone/>
            </a:pPr>
            <a:r>
              <a:rPr lang="en-US" sz="1000" dirty="0">
                <a:solidFill>
                  <a:srgbClr val="666666"/>
                </a:solidFill>
              </a:rPr>
              <a:t>42</a:t>
            </a:r>
            <a:endParaRPr lang="en-US" sz="1000" dirty="0"/>
          </a:p>
        </p:txBody>
      </p:sp>
      <p:sp>
        <p:nvSpPr>
          <p:cNvPr id="7" name="Class (2/2) card"/>
          <p:cNvSpPr/>
          <p:nvPr/>
        </p:nvSpPr>
        <p:spPr>
          <a:xfrm>
            <a:off x="548640" y="1325880"/>
            <a:ext cx="11094415" cy="3721608"/>
          </a:xfrm>
          <a:prstGeom prst="roundRect">
            <a:avLst>
              <a:gd name="adj" fmla="val 2948"/>
            </a:avLst>
          </a:prstGeom>
          <a:solidFill>
            <a:srgbClr val="F2F4F7"/>
          </a:solidFill>
          <a:ln w="12700">
            <a:solidFill>
              <a:srgbClr val="F2F4F7"/>
            </a:solidFill>
            <a:prstDash val="solid"/>
          </a:ln>
        </p:spPr>
      </p:sp>
      <p:sp>
        <p:nvSpPr>
          <p:cNvPr id="8" name="Class (2/2) icon circle"/>
          <p:cNvSpPr/>
          <p:nvPr/>
        </p:nvSpPr>
        <p:spPr>
          <a:xfrm>
            <a:off x="777240" y="1508760"/>
            <a:ext cx="438912" cy="438912"/>
          </a:xfrm>
          <a:prstGeom prst="ellipse">
            <a:avLst/>
          </a:prstGeom>
          <a:solidFill>
            <a:srgbClr val="44546A"/>
          </a:solidFill>
          <a:ln w="12700">
            <a:solidFill>
              <a:srgbClr val="44546A"/>
            </a:solidFill>
            <a:prstDash val="solid"/>
          </a:ln>
        </p:spPr>
      </p:sp>
      <p:pic>
        <p:nvPicPr>
          <p:cNvPr id="9" name="Class (2/2) icon" descr="preencoded.png">    </p:cNvPr>
          <p:cNvPicPr>
            <a:picLocks noChangeAspect="1"/>
          </p:cNvPicPr>
          <p:nvPr/>
        </p:nvPicPr>
        <p:blipFill>
          <a:blip r:embed="rId1"/>
          <a:stretch>
            <a:fillRect/>
          </a:stretch>
        </p:blipFill>
        <p:spPr>
          <a:xfrm>
            <a:off x="877824" y="1609344"/>
            <a:ext cx="237744" cy="237744"/>
          </a:xfrm>
          <a:prstGeom prst="rect">
            <a:avLst/>
          </a:prstGeom>
        </p:spPr>
      </p:pic>
      <p:sp>
        <p:nvSpPr>
          <p:cNvPr id="10" name="Class (2/2) heading"/>
          <p:cNvSpPr txBox="1"/>
          <p:nvPr/>
        </p:nvSpPr>
        <p:spPr>
          <a:xfrm>
            <a:off x="1353312" y="1508760"/>
            <a:ext cx="10088575" cy="438912"/>
          </a:xfrm>
          <a:prstGeom prst="rect">
            <a:avLst/>
          </a:prstGeom>
          <a:noFill/>
          <a:ln/>
        </p:spPr>
        <p:txBody>
          <a:bodyPr wrap="square" lIns="0" tIns="0" rIns="0" bIns="0" rtlCol="0" anchor="ctr"/>
          <a:lstStyle/>
          <a:p>
            <a:pPr indent="0" marL="0">
              <a:buNone/>
            </a:pPr>
            <a:r>
              <a:rPr lang="en-US" sz="1800" b="1" dirty="0">
                <a:solidFill>
                  <a:srgbClr val="44546A"/>
                </a:solidFill>
              </a:rPr>
              <a:t>Class (2/2)</a:t>
            </a:r>
            <a:endParaRPr lang="en-US" sz="1800" dirty="0"/>
          </a:p>
        </p:txBody>
      </p:sp>
      <p:sp>
        <p:nvSpPr>
          <p:cNvPr id="11" name="Class (2/2) body"/>
          <p:cNvSpPr txBox="1"/>
          <p:nvPr/>
        </p:nvSpPr>
        <p:spPr>
          <a:xfrm>
            <a:off x="777240" y="2075688"/>
            <a:ext cx="10637215" cy="2852928"/>
          </a:xfrm>
          <a:prstGeom prst="rect">
            <a:avLst/>
          </a:prstGeom>
          <a:noFill/>
          <a:ln/>
        </p:spPr>
        <p:txBody>
          <a:bodyPr wrap="square" lIns="0" tIns="0" rIns="0" bIns="0" rtlCol="0" anchor="t"/>
          <a:lstStyle/>
          <a:p>
            <a:pPr marL="228600" indent="-228600">
              <a:spcAft>
                <a:spcPts val="800"/>
              </a:spcAft>
              <a:buSzPct val="100000"/>
              <a:buChar char="•"/>
            </a:pPr>
            <a:r>
              <a:rPr lang="en-US" sz="1800" b="1" dirty="0">
                <a:solidFill>
                  <a:srgbClr val="1F1F1F"/>
                </a:solidFill>
              </a:rPr>
              <a:t>Centrally acting</a:t>
            </a:r>
            <a:r>
              <a:rPr lang="en-US" sz="1800" dirty="0">
                <a:solidFill>
                  <a:srgbClr val="1F1F1F"/>
                </a:solidFill>
              </a:rPr>
              <a:t> (act within the CNS to reduce muscle tone): cyclobenzaprine, tizanidine, baclofen — first-line; carisoprodol, methocarbamol, metaxalone, chlorzoxazone — other options.</a:t>
            </a:r>
            <a:r>
              <a:rPr lang="en-US" sz="1300" dirty="0">
                <a:solidFill>
                  <a:srgbClr val="666666"/>
                </a:solidFill>
              </a:rPr>
              <a:t>  S23</a:t>
            </a:r>
            <a:endParaRPr lang="en-US" sz="1800" dirty="0"/>
          </a:p>
          <a:p>
            <a:pPr marL="228600" indent="-228600">
              <a:spcAft>
                <a:spcPts val="800"/>
              </a:spcAft>
              <a:buSzPct val="100000"/>
              <a:buChar char="•"/>
            </a:pPr>
            <a:r>
              <a:rPr lang="en-US" sz="1800" b="1" dirty="0">
                <a:solidFill>
                  <a:srgbClr val="1F1F1F"/>
                </a:solidFill>
              </a:rPr>
              <a:t>Peripherally / locally acting:</a:t>
            </a:r>
            <a:r>
              <a:rPr lang="en-US" sz="1800" dirty="0">
                <a:solidFill>
                  <a:srgbClr val="1F1F1F"/>
                </a:solidFill>
              </a:rPr>
              <a:t> dantrolene acts directly on skeletal muscle itself; botulinum toxin acts at the neuromuscular junction — useful when a central mechanism is not desired (or not safe).</a:t>
            </a:r>
            <a:r>
              <a:rPr lang="en-US" sz="1300" dirty="0">
                <a:solidFill>
                  <a:srgbClr val="666666"/>
                </a:solidFill>
              </a:rPr>
              <a:t>  S23</a:t>
            </a:r>
            <a:endParaRPr lang="en-US" sz="1800" dirty="0"/>
          </a:p>
          <a:p>
            <a:pPr marL="228600" indent="-228600">
              <a:spcAft>
                <a:spcPts val="800"/>
              </a:spcAft>
              <a:buSzPct val="100000"/>
              <a:buChar char="•"/>
            </a:pPr>
            <a:r>
              <a:rPr lang="en-US" sz="1800" b="1" dirty="0">
                <a:solidFill>
                  <a:srgbClr val="1F1F1F"/>
                </a:solidFill>
              </a:rPr>
              <a:t>Highest-yield distinction:</a:t>
            </a:r>
            <a:r>
              <a:rPr lang="en-US" sz="1800" dirty="0">
                <a:solidFill>
                  <a:srgbClr val="1F1F1F"/>
                </a:solidFill>
              </a:rPr>
              <a:t> “where does the drug act?” sorts every agent into one of two buckets — </a:t>
            </a:r>
            <a:r>
              <a:rPr lang="en-US" sz="1800" b="1" dirty="0">
                <a:solidFill>
                  <a:srgbClr val="1F1F1F"/>
                </a:solidFill>
              </a:rPr>
              <a:t>dantrolene is the only one in the peripheral (muscle) bucket.</a:t>
            </a:r>
            <a:r>
              <a:rPr lang="en-US" sz="1300" dirty="0">
                <a:solidFill>
                  <a:srgbClr val="666666"/>
                </a:solidFill>
              </a:rPr>
              <a:t>  S24; S24 (notes); SG U2-R11</a:t>
            </a:r>
            <a:endParaRPr lang="en-US" sz="1800" dirty="0"/>
          </a:p>
          <a:p>
            <a:pPr marL="228600" indent="-228600">
              <a:spcAft>
                <a:spcPts val="800"/>
              </a:spcAft>
              <a:buSzPct val="100000"/>
              <a:buChar char="•"/>
            </a:pPr>
            <a:r>
              <a:rPr lang="en-US" sz="1400" b="1" dirty="0">
                <a:solidFill>
                  <a:srgbClr val="000000"/>
                </a:solidFill>
                <a:highlight>
                  <a:srgbClr val="FFC000"/>
                </a:highlight>
              </a:rPr>
              <a:t> TB </a:t>
            </a:r>
            <a:r>
              <a:rPr lang="en-US" sz="1800" dirty="0">
                <a:solidFill>
                  <a:srgbClr val="000000"/>
                </a:solidFill>
              </a:rPr>
              <a:t> </a:t>
            </a:r>
            <a:r>
              <a:rPr lang="en-US" sz="1800" dirty="0">
                <a:solidFill>
                  <a:srgbClr val="1F1F1F"/>
                </a:solidFill>
              </a:rPr>
              <a:t>Spasticity is common after spinal injury, cerebral palsy, multiple sclerosis, and stroke; these drugs relieve painful spasm better than they restore function.</a:t>
            </a:r>
            <a:r>
              <a:rPr lang="en-US" sz="1300" dirty="0">
                <a:solidFill>
                  <a:srgbClr val="666666"/>
                </a:solidFill>
              </a:rPr>
              <a:t>  p. 510; p. 511</a:t>
            </a:r>
            <a:endParaRPr lang="en-US" sz="18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p:bgPr>
    </p:bg>
    <p:spTree>
      <p:nvGrpSpPr>
        <p:cNvPr id="1" name=""/>
        <p:cNvGrpSpPr/>
        <p:nvPr/>
      </p:nvGrpSpPr>
      <p:grpSpPr>
        <a:xfrm>
          <a:off x="0" y="0"/>
          <a:ext cx="0" cy="0"/>
          <a:chOff x="0" y="0"/>
          <a:chExt cx="0" cy="0"/>
        </a:xfrm>
      </p:grpSpPr>
      <p:sp>
        <p:nvSpPr>
          <p:cNvPr id="2" name="Kicker"/>
          <p:cNvSpPr txBox="1"/>
          <p:nvPr/>
        </p:nvSpPr>
        <p:spPr>
          <a:xfrm>
            <a:off x="548640" y="292608"/>
            <a:ext cx="8076895" cy="274320"/>
          </a:xfrm>
          <a:prstGeom prst="rect">
            <a:avLst/>
          </a:prstGeom>
          <a:noFill/>
          <a:ln/>
        </p:spPr>
        <p:txBody>
          <a:bodyPr wrap="square" lIns="0" tIns="0" rIns="0" bIns="0" rtlCol="0" anchor="ctr"/>
          <a:lstStyle/>
          <a:p>
            <a:pPr indent="0" marL="0">
              <a:buNone/>
            </a:pPr>
            <a:r>
              <a:rPr lang="en-US" sz="1200" b="1" spc="100" kern="0" dirty="0">
                <a:solidFill>
                  <a:srgbClr val="4472C4"/>
                </a:solidFill>
              </a:rPr>
              <a:t>SKELETAL MUSCLE RELAXANTS</a:t>
            </a:r>
            <a:endParaRPr lang="en-US" sz="1200" dirty="0"/>
          </a:p>
        </p:txBody>
      </p:sp>
      <p:sp>
        <p:nvSpPr>
          <p:cNvPr id="3" name="Title"/>
          <p:cNvSpPr txBox="1"/>
          <p:nvPr/>
        </p:nvSpPr>
        <p:spPr>
          <a:xfrm>
            <a:off x="548640" y="566928"/>
            <a:ext cx="8076895" cy="713232"/>
          </a:xfrm>
          <a:prstGeom prst="rect">
            <a:avLst/>
          </a:prstGeom>
          <a:noFill/>
          <a:ln/>
        </p:spPr>
        <p:txBody>
          <a:bodyPr wrap="square" lIns="0" tIns="0" rIns="0" bIns="0" rtlCol="0" anchor="t"/>
          <a:lstStyle/>
          <a:p>
            <a:pPr indent="0" marL="0">
              <a:buNone/>
            </a:pPr>
            <a:r>
              <a:rPr lang="en-US" sz="3000" b="1" dirty="0">
                <a:solidFill>
                  <a:srgbClr val="1F1F1F"/>
                </a:solidFill>
                <a:latin typeface="Calibri" pitchFamily="34" charset="0"/>
                <a:ea typeface="Calibri" pitchFamily="34" charset="-122"/>
                <a:cs typeface="Calibri" pitchFamily="34" charset="-120"/>
              </a:rPr>
              <a:t>Prototype + other drugs named</a:t>
            </a:r>
            <a:endParaRPr lang="en-US" sz="3000" dirty="0"/>
          </a:p>
        </p:txBody>
      </p:sp>
      <p:sp>
        <p:nvSpPr>
          <p:cNvPr id="4" name="Objective chip"/>
          <p:cNvSpPr/>
          <p:nvPr/>
        </p:nvSpPr>
        <p:spPr>
          <a:xfrm>
            <a:off x="8899855" y="365760"/>
            <a:ext cx="2743200" cy="384048"/>
          </a:xfrm>
          <a:prstGeom prst="roundRect">
            <a:avLst>
              <a:gd name="adj" fmla="val 35714"/>
            </a:avLst>
          </a:prstGeom>
          <a:solidFill>
            <a:srgbClr val="E3EBF8"/>
          </a:solidFill>
          <a:ln/>
        </p:spPr>
        <p:txBody>
          <a:bodyPr wrap="square" lIns="25400" tIns="25400" rIns="25400" bIns="25400" rtlCol="0" anchor="ctr"/>
          <a:lstStyle/>
          <a:p>
            <a:pPr algn="ctr" indent="0" marL="0">
              <a:buNone/>
            </a:pPr>
            <a:r>
              <a:rPr lang="en-US" sz="800" b="1" dirty="0">
                <a:solidFill>
                  <a:srgbClr val="2F4F8A"/>
                </a:solidFill>
              </a:rPr>
              <a:t>Objectives: SO2 · SO4 · IO2.1 · IO2.2 · IO2.3 · IO2.5 · IO2.6</a:t>
            </a:r>
            <a:endParaRPr lang="en-US" sz="800" dirty="0"/>
          </a:p>
        </p:txBody>
      </p:sp>
      <p:sp>
        <p:nvSpPr>
          <p:cNvPr id="5" name="Footer"/>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1000" dirty="0">
                <a:solidFill>
                  <a:srgbClr val="666666"/>
                </a:solidFill>
              </a:rPr>
              <a:t>L04 · Musculoskeletal Pharmacology — Session 2</a:t>
            </a:r>
            <a:endParaRPr lang="en-US" sz="1000" dirty="0"/>
          </a:p>
        </p:txBody>
      </p:sp>
      <p:sp>
        <p:nvSpPr>
          <p:cNvPr id="6" name="Slide number"/>
          <p:cNvSpPr txBox="1"/>
          <p:nvPr/>
        </p:nvSpPr>
        <p:spPr>
          <a:xfrm>
            <a:off x="10728655" y="6419088"/>
            <a:ext cx="914400" cy="274320"/>
          </a:xfrm>
          <a:prstGeom prst="rect">
            <a:avLst/>
          </a:prstGeom>
          <a:noFill/>
          <a:ln/>
        </p:spPr>
        <p:txBody>
          <a:bodyPr wrap="square" lIns="0" tIns="0" rIns="0" bIns="0" rtlCol="0" anchor="ctr"/>
          <a:lstStyle/>
          <a:p>
            <a:pPr algn="r" indent="0" marL="0">
              <a:buNone/>
            </a:pPr>
            <a:r>
              <a:rPr lang="en-US" sz="1000" dirty="0">
                <a:solidFill>
                  <a:srgbClr val="666666"/>
                </a:solidFill>
              </a:rPr>
              <a:t>43</a:t>
            </a:r>
            <a:endParaRPr lang="en-US" sz="1000" dirty="0"/>
          </a:p>
        </p:txBody>
      </p:sp>
      <p:sp>
        <p:nvSpPr>
          <p:cNvPr id="7" name="Prototype + other drugs named card"/>
          <p:cNvSpPr/>
          <p:nvPr/>
        </p:nvSpPr>
        <p:spPr>
          <a:xfrm>
            <a:off x="548640" y="1325880"/>
            <a:ext cx="11094415" cy="2606040"/>
          </a:xfrm>
          <a:prstGeom prst="roundRect">
            <a:avLst>
              <a:gd name="adj" fmla="val 4211"/>
            </a:avLst>
          </a:prstGeom>
          <a:solidFill>
            <a:srgbClr val="F2F4F7"/>
          </a:solidFill>
          <a:ln w="12700">
            <a:solidFill>
              <a:srgbClr val="F2F4F7"/>
            </a:solidFill>
            <a:prstDash val="solid"/>
          </a:ln>
        </p:spPr>
      </p:sp>
      <p:sp>
        <p:nvSpPr>
          <p:cNvPr id="8" name="Prototype + other drugs named icon circle"/>
          <p:cNvSpPr/>
          <p:nvPr/>
        </p:nvSpPr>
        <p:spPr>
          <a:xfrm>
            <a:off x="777240" y="1508760"/>
            <a:ext cx="438912" cy="438912"/>
          </a:xfrm>
          <a:prstGeom prst="ellipse">
            <a:avLst/>
          </a:prstGeom>
          <a:solidFill>
            <a:srgbClr val="4472C4"/>
          </a:solidFill>
          <a:ln w="12700">
            <a:solidFill>
              <a:srgbClr val="4472C4"/>
            </a:solidFill>
            <a:prstDash val="solid"/>
          </a:ln>
        </p:spPr>
      </p:sp>
      <p:pic>
        <p:nvPicPr>
          <p:cNvPr id="9" name="Prototype + other drugs named icon" descr="preencoded.png">    </p:cNvPr>
          <p:cNvPicPr>
            <a:picLocks noChangeAspect="1"/>
          </p:cNvPicPr>
          <p:nvPr/>
        </p:nvPicPr>
        <p:blipFill>
          <a:blip r:embed="rId1"/>
          <a:stretch>
            <a:fillRect/>
          </a:stretch>
        </p:blipFill>
        <p:spPr>
          <a:xfrm>
            <a:off x="877824" y="1609344"/>
            <a:ext cx="237744" cy="237744"/>
          </a:xfrm>
          <a:prstGeom prst="rect">
            <a:avLst/>
          </a:prstGeom>
        </p:spPr>
      </p:pic>
      <p:sp>
        <p:nvSpPr>
          <p:cNvPr id="10" name="Prototype + other drugs named heading"/>
          <p:cNvSpPr txBox="1"/>
          <p:nvPr/>
        </p:nvSpPr>
        <p:spPr>
          <a:xfrm>
            <a:off x="1353312" y="1508760"/>
            <a:ext cx="10088575" cy="438912"/>
          </a:xfrm>
          <a:prstGeom prst="rect">
            <a:avLst/>
          </a:prstGeom>
          <a:noFill/>
          <a:ln/>
        </p:spPr>
        <p:txBody>
          <a:bodyPr wrap="square" lIns="0" tIns="0" rIns="0" bIns="0" rtlCol="0" anchor="ctr"/>
          <a:lstStyle/>
          <a:p>
            <a:pPr indent="0" marL="0">
              <a:buNone/>
            </a:pPr>
            <a:r>
              <a:rPr lang="en-US" sz="1800" b="1" dirty="0">
                <a:solidFill>
                  <a:srgbClr val="4472C4"/>
                </a:solidFill>
              </a:rPr>
              <a:t>Prototype + other drugs named</a:t>
            </a:r>
            <a:endParaRPr lang="en-US" sz="1800" dirty="0"/>
          </a:p>
        </p:txBody>
      </p:sp>
      <p:sp>
        <p:nvSpPr>
          <p:cNvPr id="11" name="Prototype + other drugs named body"/>
          <p:cNvSpPr txBox="1"/>
          <p:nvPr/>
        </p:nvSpPr>
        <p:spPr>
          <a:xfrm>
            <a:off x="777240" y="2075688"/>
            <a:ext cx="10637215" cy="1737360"/>
          </a:xfrm>
          <a:prstGeom prst="rect">
            <a:avLst/>
          </a:prstGeom>
          <a:noFill/>
          <a:ln/>
        </p:spPr>
        <p:txBody>
          <a:bodyPr wrap="square" lIns="0" tIns="0" rIns="0" bIns="0" rtlCol="0" anchor="t"/>
          <a:lstStyle/>
          <a:p>
            <a:pPr marL="228600" indent="-228600">
              <a:spcAft>
                <a:spcPts val="800"/>
              </a:spcAft>
              <a:buSzPct val="100000"/>
              <a:buChar char="•"/>
            </a:pPr>
            <a:r>
              <a:rPr lang="en-US" sz="1800" dirty="0">
                <a:solidFill>
                  <a:srgbClr val="1F1F1F"/>
                </a:solidFill>
              </a:rPr>
              <a:t>Baclofen — GABA-B agonist (spinal cord).</a:t>
            </a:r>
            <a:r>
              <a:rPr lang="en-US" sz="1300" dirty="0">
                <a:solidFill>
                  <a:srgbClr val="666666"/>
                </a:solidFill>
              </a:rPr>
              <a:t>  S27</a:t>
            </a:r>
            <a:endParaRPr lang="en-US" sz="1800" dirty="0"/>
          </a:p>
          <a:p>
            <a:pPr marL="228600" indent="-228600">
              <a:spcAft>
                <a:spcPts val="800"/>
              </a:spcAft>
              <a:buSzPct val="100000"/>
              <a:buChar char="•"/>
            </a:pPr>
            <a:r>
              <a:rPr lang="en-US" sz="1800" dirty="0">
                <a:solidFill>
                  <a:srgbClr val="1F1F1F"/>
                </a:solidFill>
              </a:rPr>
              <a:t>Tizanidine — central α2-adrenergic agonist.</a:t>
            </a:r>
            <a:r>
              <a:rPr lang="en-US" sz="1300" dirty="0">
                <a:solidFill>
                  <a:srgbClr val="666666"/>
                </a:solidFill>
              </a:rPr>
              <a:t>  S29</a:t>
            </a:r>
            <a:endParaRPr lang="en-US" sz="1800" dirty="0"/>
          </a:p>
          <a:p>
            <a:pPr marL="228600" indent="-228600">
              <a:spcAft>
                <a:spcPts val="800"/>
              </a:spcAft>
              <a:buSzPct val="100000"/>
              <a:buChar char="•"/>
            </a:pPr>
            <a:r>
              <a:rPr lang="en-US" sz="1800" dirty="0">
                <a:solidFill>
                  <a:srgbClr val="1F1F1F"/>
                </a:solidFill>
              </a:rPr>
              <a:t>Cyclobenzaprine — tricyclic-like central relaxant (brainstem).</a:t>
            </a:r>
            <a:r>
              <a:rPr lang="en-US" sz="1300" dirty="0">
                <a:solidFill>
                  <a:srgbClr val="666666"/>
                </a:solidFill>
              </a:rPr>
              <a:t>  S31</a:t>
            </a:r>
            <a:endParaRPr lang="en-US" sz="1800" dirty="0"/>
          </a:p>
          <a:p>
            <a:pPr marL="228600" indent="-228600">
              <a:spcAft>
                <a:spcPts val="800"/>
              </a:spcAft>
              <a:buSzPct val="100000"/>
              <a:buChar char="•"/>
            </a:pPr>
            <a:r>
              <a:rPr lang="en-US" sz="1800" dirty="0">
                <a:solidFill>
                  <a:srgbClr val="1F1F1F"/>
                </a:solidFill>
              </a:rPr>
              <a:t>Dantrolene — RyR1 blocker in the muscle fiber.</a:t>
            </a:r>
            <a:r>
              <a:rPr lang="en-US" sz="1300" dirty="0">
                <a:solidFill>
                  <a:srgbClr val="666666"/>
                </a:solidFill>
              </a:rPr>
              <a:t>  S34</a:t>
            </a:r>
            <a:endParaRPr lang="en-US" sz="18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p:bgPr>
    </p:bg>
    <p:spTree>
      <p:nvGrpSpPr>
        <p:cNvPr id="1" name=""/>
        <p:cNvGrpSpPr/>
        <p:nvPr/>
      </p:nvGrpSpPr>
      <p:grpSpPr>
        <a:xfrm>
          <a:off x="0" y="0"/>
          <a:ext cx="0" cy="0"/>
          <a:chOff x="0" y="0"/>
          <a:chExt cx="0" cy="0"/>
        </a:xfrm>
      </p:grpSpPr>
      <p:sp>
        <p:nvSpPr>
          <p:cNvPr id="2" name="Kicker"/>
          <p:cNvSpPr txBox="1"/>
          <p:nvPr/>
        </p:nvSpPr>
        <p:spPr>
          <a:xfrm>
            <a:off x="548640" y="292608"/>
            <a:ext cx="8076895" cy="274320"/>
          </a:xfrm>
          <a:prstGeom prst="rect">
            <a:avLst/>
          </a:prstGeom>
          <a:noFill/>
          <a:ln/>
        </p:spPr>
        <p:txBody>
          <a:bodyPr wrap="square" lIns="0" tIns="0" rIns="0" bIns="0" rtlCol="0" anchor="ctr"/>
          <a:lstStyle/>
          <a:p>
            <a:pPr indent="0" marL="0">
              <a:buNone/>
            </a:pPr>
            <a:r>
              <a:rPr lang="en-US" sz="1200" b="1" spc="100" kern="0" dirty="0">
                <a:solidFill>
                  <a:srgbClr val="4472C4"/>
                </a:solidFill>
              </a:rPr>
              <a:t>SKELETAL MUSCLE RELAXANTS</a:t>
            </a:r>
            <a:endParaRPr lang="en-US" sz="1200" dirty="0"/>
          </a:p>
        </p:txBody>
      </p:sp>
      <p:sp>
        <p:nvSpPr>
          <p:cNvPr id="3" name="Title"/>
          <p:cNvSpPr txBox="1"/>
          <p:nvPr/>
        </p:nvSpPr>
        <p:spPr>
          <a:xfrm>
            <a:off x="548640" y="566928"/>
            <a:ext cx="8076895" cy="713232"/>
          </a:xfrm>
          <a:prstGeom prst="rect">
            <a:avLst/>
          </a:prstGeom>
          <a:noFill/>
          <a:ln/>
        </p:spPr>
        <p:txBody>
          <a:bodyPr wrap="square" lIns="0" tIns="0" rIns="0" bIns="0" rtlCol="0" anchor="t"/>
          <a:lstStyle/>
          <a:p>
            <a:pPr indent="0" marL="0">
              <a:buNone/>
            </a:pPr>
            <a:r>
              <a:rPr lang="en-US" sz="3000" b="1" dirty="0">
                <a:solidFill>
                  <a:srgbClr val="1F1F1F"/>
                </a:solidFill>
                <a:latin typeface="Calibri" pitchFamily="34" charset="0"/>
                <a:ea typeface="Calibri" pitchFamily="34" charset="-122"/>
                <a:cs typeface="Calibri" pitchFamily="34" charset="-120"/>
              </a:rPr>
              <a:t>Mechanism of action</a:t>
            </a:r>
            <a:endParaRPr lang="en-US" sz="3000" dirty="0"/>
          </a:p>
        </p:txBody>
      </p:sp>
      <p:sp>
        <p:nvSpPr>
          <p:cNvPr id="4" name="Objective chip"/>
          <p:cNvSpPr/>
          <p:nvPr/>
        </p:nvSpPr>
        <p:spPr>
          <a:xfrm>
            <a:off x="8899855" y="365760"/>
            <a:ext cx="2743200" cy="384048"/>
          </a:xfrm>
          <a:prstGeom prst="roundRect">
            <a:avLst>
              <a:gd name="adj" fmla="val 35714"/>
            </a:avLst>
          </a:prstGeom>
          <a:solidFill>
            <a:srgbClr val="E3EBF8"/>
          </a:solidFill>
          <a:ln/>
        </p:spPr>
        <p:txBody>
          <a:bodyPr wrap="square" lIns="25400" tIns="25400" rIns="25400" bIns="25400" rtlCol="0" anchor="ctr"/>
          <a:lstStyle/>
          <a:p>
            <a:pPr algn="ctr" indent="0" marL="0">
              <a:buNone/>
            </a:pPr>
            <a:r>
              <a:rPr lang="en-US" sz="800" b="1" dirty="0">
                <a:solidFill>
                  <a:srgbClr val="2F4F8A"/>
                </a:solidFill>
              </a:rPr>
              <a:t>Objectives: SO2 · SO4 · IO2.1 · IO2.2 · IO2.3 · IO2.5 · IO2.6</a:t>
            </a:r>
            <a:endParaRPr lang="en-US" sz="800" dirty="0"/>
          </a:p>
        </p:txBody>
      </p:sp>
      <p:sp>
        <p:nvSpPr>
          <p:cNvPr id="5" name="Footer"/>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1000" dirty="0">
                <a:solidFill>
                  <a:srgbClr val="666666"/>
                </a:solidFill>
              </a:rPr>
              <a:t>L04 · Musculoskeletal Pharmacology — Session 2</a:t>
            </a:r>
            <a:endParaRPr lang="en-US" sz="1000" dirty="0"/>
          </a:p>
        </p:txBody>
      </p:sp>
      <p:sp>
        <p:nvSpPr>
          <p:cNvPr id="6" name="Slide number"/>
          <p:cNvSpPr txBox="1"/>
          <p:nvPr/>
        </p:nvSpPr>
        <p:spPr>
          <a:xfrm>
            <a:off x="10728655" y="6419088"/>
            <a:ext cx="914400" cy="274320"/>
          </a:xfrm>
          <a:prstGeom prst="rect">
            <a:avLst/>
          </a:prstGeom>
          <a:noFill/>
          <a:ln/>
        </p:spPr>
        <p:txBody>
          <a:bodyPr wrap="square" lIns="0" tIns="0" rIns="0" bIns="0" rtlCol="0" anchor="ctr"/>
          <a:lstStyle/>
          <a:p>
            <a:pPr algn="r" indent="0" marL="0">
              <a:buNone/>
            </a:pPr>
            <a:r>
              <a:rPr lang="en-US" sz="1000" dirty="0">
                <a:solidFill>
                  <a:srgbClr val="666666"/>
                </a:solidFill>
              </a:rPr>
              <a:t>44</a:t>
            </a:r>
            <a:endParaRPr lang="en-US" sz="1000" dirty="0"/>
          </a:p>
        </p:txBody>
      </p:sp>
      <p:sp>
        <p:nvSpPr>
          <p:cNvPr id="7" name="Mechanism of action (1/2) card"/>
          <p:cNvSpPr/>
          <p:nvPr/>
        </p:nvSpPr>
        <p:spPr>
          <a:xfrm>
            <a:off x="548640" y="1325880"/>
            <a:ext cx="11094415" cy="4279392"/>
          </a:xfrm>
          <a:prstGeom prst="roundRect">
            <a:avLst>
              <a:gd name="adj" fmla="val 2564"/>
            </a:avLst>
          </a:prstGeom>
          <a:solidFill>
            <a:srgbClr val="F2F4F7"/>
          </a:solidFill>
          <a:ln w="12700">
            <a:solidFill>
              <a:srgbClr val="F2F4F7"/>
            </a:solidFill>
            <a:prstDash val="solid"/>
          </a:ln>
        </p:spPr>
      </p:sp>
      <p:sp>
        <p:nvSpPr>
          <p:cNvPr id="8" name="Mechanism of action (1/2) icon circle"/>
          <p:cNvSpPr/>
          <p:nvPr/>
        </p:nvSpPr>
        <p:spPr>
          <a:xfrm>
            <a:off x="777240" y="1508760"/>
            <a:ext cx="438912" cy="438912"/>
          </a:xfrm>
          <a:prstGeom prst="ellipse">
            <a:avLst/>
          </a:prstGeom>
          <a:solidFill>
            <a:srgbClr val="7030A0"/>
          </a:solidFill>
          <a:ln w="12700">
            <a:solidFill>
              <a:srgbClr val="7030A0"/>
            </a:solidFill>
            <a:prstDash val="solid"/>
          </a:ln>
        </p:spPr>
      </p:sp>
      <p:pic>
        <p:nvPicPr>
          <p:cNvPr id="9" name="Mechanism of action (1/2) icon" descr="preencoded.png">    </p:cNvPr>
          <p:cNvPicPr>
            <a:picLocks noChangeAspect="1"/>
          </p:cNvPicPr>
          <p:nvPr/>
        </p:nvPicPr>
        <p:blipFill>
          <a:blip r:embed="rId1"/>
          <a:stretch>
            <a:fillRect/>
          </a:stretch>
        </p:blipFill>
        <p:spPr>
          <a:xfrm>
            <a:off x="877824" y="1609344"/>
            <a:ext cx="237744" cy="237744"/>
          </a:xfrm>
          <a:prstGeom prst="rect">
            <a:avLst/>
          </a:prstGeom>
        </p:spPr>
      </p:pic>
      <p:sp>
        <p:nvSpPr>
          <p:cNvPr id="10" name="Mechanism of action (1/2) heading"/>
          <p:cNvSpPr txBox="1"/>
          <p:nvPr/>
        </p:nvSpPr>
        <p:spPr>
          <a:xfrm>
            <a:off x="1353312" y="1508760"/>
            <a:ext cx="10088575" cy="438912"/>
          </a:xfrm>
          <a:prstGeom prst="rect">
            <a:avLst/>
          </a:prstGeom>
          <a:noFill/>
          <a:ln/>
        </p:spPr>
        <p:txBody>
          <a:bodyPr wrap="square" lIns="0" tIns="0" rIns="0" bIns="0" rtlCol="0" anchor="ctr"/>
          <a:lstStyle/>
          <a:p>
            <a:pPr indent="0" marL="0">
              <a:buNone/>
            </a:pPr>
            <a:r>
              <a:rPr lang="en-US" sz="1800" b="1" dirty="0">
                <a:solidFill>
                  <a:srgbClr val="7030A0"/>
                </a:solidFill>
              </a:rPr>
              <a:t>Mechanism of action (1/2)</a:t>
            </a:r>
            <a:endParaRPr lang="en-US" sz="1800" dirty="0"/>
          </a:p>
        </p:txBody>
      </p:sp>
      <p:sp>
        <p:nvSpPr>
          <p:cNvPr id="11" name="Mechanism of action (1/2) body"/>
          <p:cNvSpPr txBox="1"/>
          <p:nvPr/>
        </p:nvSpPr>
        <p:spPr>
          <a:xfrm>
            <a:off x="777240" y="2075688"/>
            <a:ext cx="10637215" cy="3410712"/>
          </a:xfrm>
          <a:prstGeom prst="rect">
            <a:avLst/>
          </a:prstGeom>
          <a:noFill/>
          <a:ln/>
        </p:spPr>
        <p:txBody>
          <a:bodyPr wrap="square" lIns="0" tIns="0" rIns="0" bIns="0" rtlCol="0" anchor="t"/>
          <a:lstStyle/>
          <a:p>
            <a:pPr marL="228600" indent="-228600">
              <a:spcAft>
                <a:spcPts val="800"/>
              </a:spcAft>
              <a:buSzPct val="100000"/>
              <a:buChar char="•"/>
            </a:pPr>
            <a:r>
              <a:rPr lang="en-US" sz="1800" b="1" dirty="0">
                <a:solidFill>
                  <a:srgbClr val="1F1F1F"/>
                </a:solidFill>
              </a:rPr>
              <a:t>Central agents</a:t>
            </a:r>
            <a:r>
              <a:rPr lang="en-US" sz="1800" dirty="0">
                <a:solidFill>
                  <a:srgbClr val="1F1F1F"/>
                </a:solidFill>
              </a:rPr>
              <a:t> reduce CNS excitatory output to motor neurons → ↓ muscle tone. Baclofen and tizanidine act on spinal interneurons and afferents; cyclobenzaprine acts in the brainstem.</a:t>
            </a:r>
            <a:r>
              <a:rPr lang="en-US" sz="1300" dirty="0">
                <a:solidFill>
                  <a:srgbClr val="666666"/>
                </a:solidFill>
              </a:rPr>
              <a:t>  S22; S24; SG U2-R11</a:t>
            </a:r>
            <a:endParaRPr lang="en-US" sz="1800" dirty="0"/>
          </a:p>
          <a:p>
            <a:pPr marL="228600" indent="-228600">
              <a:spcAft>
                <a:spcPts val="800"/>
              </a:spcAft>
              <a:buSzPct val="100000"/>
              <a:buChar char="•"/>
            </a:pPr>
            <a:r>
              <a:rPr lang="en-US" sz="1800" b="1" dirty="0">
                <a:solidFill>
                  <a:srgbClr val="1F1F1F"/>
                </a:solidFill>
              </a:rPr>
              <a:t>Baclofen — mechanism: GABA-B receptor agonist in the spinal cord.</a:t>
            </a:r>
            <a:r>
              <a:rPr lang="en-US" sz="1800" dirty="0">
                <a:solidFill>
                  <a:srgbClr val="1F1F1F"/>
                </a:solidFill>
              </a:rPr>
              <a:t> Binding GABA-B → opens K⁺ channels, closes Ca²⁺ channels (presynaptic inhibition) → less excitatory transmitter release → lower motor neuron firing → reduced spasticity.</a:t>
            </a:r>
            <a:r>
              <a:rPr lang="en-US" sz="1300" dirty="0">
                <a:solidFill>
                  <a:srgbClr val="666666"/>
                </a:solidFill>
              </a:rPr>
              <a:t>  S27; S28; SG U2-M</a:t>
            </a:r>
            <a:endParaRPr lang="en-US" sz="1800" dirty="0"/>
          </a:p>
          <a:p>
            <a:pPr marL="228600" indent="-228600">
              <a:spcAft>
                <a:spcPts val="800"/>
              </a:spcAft>
              <a:buSzPct val="100000"/>
              <a:buChar char="•"/>
            </a:pPr>
            <a:r>
              <a:rPr lang="en-US" sz="1800" b="1" dirty="0">
                <a:solidFill>
                  <a:srgbClr val="1F1F1F"/>
                </a:solidFill>
              </a:rPr>
              <a:t>Tizanidine — mechanism: central α2-adrenergic agonist.</a:t>
            </a:r>
            <a:r>
              <a:rPr lang="en-US" sz="1800" dirty="0">
                <a:solidFill>
                  <a:srgbClr val="1F1F1F"/>
                </a:solidFill>
              </a:rPr>
              <a:t> Activating alpha-2 receptors → reduced presynaptic release of excitatory amino acids → lower motor neuron activity → reduced muscle tone.</a:t>
            </a:r>
            <a:r>
              <a:rPr lang="en-US" sz="1300" dirty="0">
                <a:solidFill>
                  <a:srgbClr val="666666"/>
                </a:solidFill>
              </a:rPr>
              <a:t>  S29; S30</a:t>
            </a:r>
            <a:endParaRPr lang="en-US" sz="1800" dirty="0"/>
          </a:p>
          <a:p>
            <a:pPr marL="228600" indent="-228600">
              <a:spcAft>
                <a:spcPts val="800"/>
              </a:spcAft>
              <a:buSzPct val="100000"/>
              <a:buChar char="•"/>
            </a:pPr>
            <a:r>
              <a:rPr lang="en-US" sz="1800" b="1" dirty="0">
                <a:solidFill>
                  <a:srgbClr val="1F1F1F"/>
                </a:solidFill>
              </a:rPr>
              <a:t>Cyclobenzaprine:</a:t>
            </a:r>
            <a:r>
              <a:rPr lang="en-US" sz="1800" dirty="0">
                <a:solidFill>
                  <a:srgbClr val="1F1F1F"/>
                </a:solidFill>
              </a:rPr>
              <a:t> acts in the brainstem; antagonizes </a:t>
            </a:r>
            <a:r>
              <a:rPr lang="en-US" sz="1800" b="1" dirty="0">
                <a:solidFill>
                  <a:srgbClr val="1F1F1F"/>
                </a:solidFill>
              </a:rPr>
              <a:t>5-HT2</a:t>
            </a:r>
            <a:r>
              <a:rPr lang="en-US" sz="1800" dirty="0">
                <a:solidFill>
                  <a:srgbClr val="1F1F1F"/>
                </a:solidFill>
              </a:rPr>
              <a:t> and descending serotonergic and noradrenergic pathways → reduced tonic somatic motor activity → muscle relaxation. Structurally related to tricyclic antidepressants.</a:t>
            </a:r>
            <a:r>
              <a:rPr lang="en-US" sz="1300" dirty="0">
                <a:solidFill>
                  <a:srgbClr val="666666"/>
                </a:solidFill>
              </a:rPr>
              <a:t>  S31; S32</a:t>
            </a:r>
            <a:endParaRPr lang="en-US" sz="18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FFF"/>
        </a:solidFill>
      </p:bgPr>
    </p:bg>
    <p:spTree>
      <p:nvGrpSpPr>
        <p:cNvPr id="1" name=""/>
        <p:cNvGrpSpPr/>
        <p:nvPr/>
      </p:nvGrpSpPr>
      <p:grpSpPr>
        <a:xfrm>
          <a:off x="0" y="0"/>
          <a:ext cx="0" cy="0"/>
          <a:chOff x="0" y="0"/>
          <a:chExt cx="0" cy="0"/>
        </a:xfrm>
      </p:grpSpPr>
      <p:sp>
        <p:nvSpPr>
          <p:cNvPr id="2" name="Kicker"/>
          <p:cNvSpPr txBox="1"/>
          <p:nvPr/>
        </p:nvSpPr>
        <p:spPr>
          <a:xfrm>
            <a:off x="548640" y="292608"/>
            <a:ext cx="8076895" cy="274320"/>
          </a:xfrm>
          <a:prstGeom prst="rect">
            <a:avLst/>
          </a:prstGeom>
          <a:noFill/>
          <a:ln/>
        </p:spPr>
        <p:txBody>
          <a:bodyPr wrap="square" lIns="0" tIns="0" rIns="0" bIns="0" rtlCol="0" anchor="ctr"/>
          <a:lstStyle/>
          <a:p>
            <a:pPr indent="0" marL="0">
              <a:buNone/>
            </a:pPr>
            <a:r>
              <a:rPr lang="en-US" sz="1200" b="1" spc="100" kern="0" dirty="0">
                <a:solidFill>
                  <a:srgbClr val="4472C4"/>
                </a:solidFill>
              </a:rPr>
              <a:t>SKELETAL MUSCLE RELAXANTS</a:t>
            </a:r>
            <a:endParaRPr lang="en-US" sz="1200" dirty="0"/>
          </a:p>
        </p:txBody>
      </p:sp>
      <p:sp>
        <p:nvSpPr>
          <p:cNvPr id="3" name="Title"/>
          <p:cNvSpPr txBox="1"/>
          <p:nvPr/>
        </p:nvSpPr>
        <p:spPr>
          <a:xfrm>
            <a:off x="548640" y="566928"/>
            <a:ext cx="8076895" cy="713232"/>
          </a:xfrm>
          <a:prstGeom prst="rect">
            <a:avLst/>
          </a:prstGeom>
          <a:noFill/>
          <a:ln/>
        </p:spPr>
        <p:txBody>
          <a:bodyPr wrap="square" lIns="0" tIns="0" rIns="0" bIns="0" rtlCol="0" anchor="t"/>
          <a:lstStyle/>
          <a:p>
            <a:pPr indent="0" marL="0">
              <a:buNone/>
            </a:pPr>
            <a:r>
              <a:rPr lang="en-US" sz="3000" b="1" dirty="0">
                <a:solidFill>
                  <a:srgbClr val="1F1F1F"/>
                </a:solidFill>
                <a:latin typeface="Calibri" pitchFamily="34" charset="0"/>
                <a:ea typeface="Calibri" pitchFamily="34" charset="-122"/>
                <a:cs typeface="Calibri" pitchFamily="34" charset="-120"/>
              </a:rPr>
              <a:t>Mechanism of action (cont.)</a:t>
            </a:r>
            <a:endParaRPr lang="en-US" sz="3000" dirty="0"/>
          </a:p>
        </p:txBody>
      </p:sp>
      <p:sp>
        <p:nvSpPr>
          <p:cNvPr id="4" name="Objective chip"/>
          <p:cNvSpPr/>
          <p:nvPr/>
        </p:nvSpPr>
        <p:spPr>
          <a:xfrm>
            <a:off x="8899855" y="365760"/>
            <a:ext cx="2743200" cy="384048"/>
          </a:xfrm>
          <a:prstGeom prst="roundRect">
            <a:avLst>
              <a:gd name="adj" fmla="val 35714"/>
            </a:avLst>
          </a:prstGeom>
          <a:solidFill>
            <a:srgbClr val="E3EBF8"/>
          </a:solidFill>
          <a:ln/>
        </p:spPr>
        <p:txBody>
          <a:bodyPr wrap="square" lIns="25400" tIns="25400" rIns="25400" bIns="25400" rtlCol="0" anchor="ctr"/>
          <a:lstStyle/>
          <a:p>
            <a:pPr algn="ctr" indent="0" marL="0">
              <a:buNone/>
            </a:pPr>
            <a:r>
              <a:rPr lang="en-US" sz="800" b="1" dirty="0">
                <a:solidFill>
                  <a:srgbClr val="2F4F8A"/>
                </a:solidFill>
              </a:rPr>
              <a:t>Objectives: SO2 · SO4 · IO2.1 · IO2.2 · IO2.3 · IO2.5 · IO2.6</a:t>
            </a:r>
            <a:endParaRPr lang="en-US" sz="800" dirty="0"/>
          </a:p>
        </p:txBody>
      </p:sp>
      <p:sp>
        <p:nvSpPr>
          <p:cNvPr id="5" name="Footer"/>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1000" dirty="0">
                <a:solidFill>
                  <a:srgbClr val="666666"/>
                </a:solidFill>
              </a:rPr>
              <a:t>L04 · Musculoskeletal Pharmacology — Session 2</a:t>
            </a:r>
            <a:endParaRPr lang="en-US" sz="1000" dirty="0"/>
          </a:p>
        </p:txBody>
      </p:sp>
      <p:sp>
        <p:nvSpPr>
          <p:cNvPr id="6" name="Slide number"/>
          <p:cNvSpPr txBox="1"/>
          <p:nvPr/>
        </p:nvSpPr>
        <p:spPr>
          <a:xfrm>
            <a:off x="10728655" y="6419088"/>
            <a:ext cx="914400" cy="274320"/>
          </a:xfrm>
          <a:prstGeom prst="rect">
            <a:avLst/>
          </a:prstGeom>
          <a:noFill/>
          <a:ln/>
        </p:spPr>
        <p:txBody>
          <a:bodyPr wrap="square" lIns="0" tIns="0" rIns="0" bIns="0" rtlCol="0" anchor="ctr"/>
          <a:lstStyle/>
          <a:p>
            <a:pPr algn="r" indent="0" marL="0">
              <a:buNone/>
            </a:pPr>
            <a:r>
              <a:rPr lang="en-US" sz="1000" dirty="0">
                <a:solidFill>
                  <a:srgbClr val="666666"/>
                </a:solidFill>
              </a:rPr>
              <a:t>45</a:t>
            </a:r>
            <a:endParaRPr lang="en-US" sz="1000" dirty="0"/>
          </a:p>
        </p:txBody>
      </p:sp>
      <p:sp>
        <p:nvSpPr>
          <p:cNvPr id="7" name="Mechanism of action (2/2) card"/>
          <p:cNvSpPr/>
          <p:nvPr/>
        </p:nvSpPr>
        <p:spPr>
          <a:xfrm>
            <a:off x="548640" y="1325880"/>
            <a:ext cx="11094415" cy="4389120"/>
          </a:xfrm>
          <a:prstGeom prst="roundRect">
            <a:avLst>
              <a:gd name="adj" fmla="val 2500"/>
            </a:avLst>
          </a:prstGeom>
          <a:solidFill>
            <a:srgbClr val="F2F4F7"/>
          </a:solidFill>
          <a:ln w="12700">
            <a:solidFill>
              <a:srgbClr val="F2F4F7"/>
            </a:solidFill>
            <a:prstDash val="solid"/>
          </a:ln>
        </p:spPr>
      </p:sp>
      <p:sp>
        <p:nvSpPr>
          <p:cNvPr id="8" name="Mechanism of action (2/2) icon circle"/>
          <p:cNvSpPr/>
          <p:nvPr/>
        </p:nvSpPr>
        <p:spPr>
          <a:xfrm>
            <a:off x="777240" y="1508760"/>
            <a:ext cx="438912" cy="438912"/>
          </a:xfrm>
          <a:prstGeom prst="ellipse">
            <a:avLst/>
          </a:prstGeom>
          <a:solidFill>
            <a:srgbClr val="7030A0"/>
          </a:solidFill>
          <a:ln w="12700">
            <a:solidFill>
              <a:srgbClr val="7030A0"/>
            </a:solidFill>
            <a:prstDash val="solid"/>
          </a:ln>
        </p:spPr>
      </p:sp>
      <p:pic>
        <p:nvPicPr>
          <p:cNvPr id="9" name="Mechanism of action (2/2) icon" descr="preencoded.png">    </p:cNvPr>
          <p:cNvPicPr>
            <a:picLocks noChangeAspect="1"/>
          </p:cNvPicPr>
          <p:nvPr/>
        </p:nvPicPr>
        <p:blipFill>
          <a:blip r:embed="rId1"/>
          <a:stretch>
            <a:fillRect/>
          </a:stretch>
        </p:blipFill>
        <p:spPr>
          <a:xfrm>
            <a:off x="877824" y="1609344"/>
            <a:ext cx="237744" cy="237744"/>
          </a:xfrm>
          <a:prstGeom prst="rect">
            <a:avLst/>
          </a:prstGeom>
        </p:spPr>
      </p:pic>
      <p:sp>
        <p:nvSpPr>
          <p:cNvPr id="10" name="Mechanism of action (2/2) heading"/>
          <p:cNvSpPr txBox="1"/>
          <p:nvPr/>
        </p:nvSpPr>
        <p:spPr>
          <a:xfrm>
            <a:off x="1353312" y="1508760"/>
            <a:ext cx="10088575" cy="438912"/>
          </a:xfrm>
          <a:prstGeom prst="rect">
            <a:avLst/>
          </a:prstGeom>
          <a:noFill/>
          <a:ln/>
        </p:spPr>
        <p:txBody>
          <a:bodyPr wrap="square" lIns="0" tIns="0" rIns="0" bIns="0" rtlCol="0" anchor="ctr"/>
          <a:lstStyle/>
          <a:p>
            <a:pPr indent="0" marL="0">
              <a:buNone/>
            </a:pPr>
            <a:r>
              <a:rPr lang="en-US" sz="1800" b="1" dirty="0">
                <a:solidFill>
                  <a:srgbClr val="7030A0"/>
                </a:solidFill>
              </a:rPr>
              <a:t>Mechanism of action (2/2)</a:t>
            </a:r>
            <a:endParaRPr lang="en-US" sz="1800" dirty="0"/>
          </a:p>
        </p:txBody>
      </p:sp>
      <p:sp>
        <p:nvSpPr>
          <p:cNvPr id="11" name="Mechanism of action (2/2) body"/>
          <p:cNvSpPr txBox="1"/>
          <p:nvPr/>
        </p:nvSpPr>
        <p:spPr>
          <a:xfrm>
            <a:off x="777240" y="2075688"/>
            <a:ext cx="10637215" cy="3520440"/>
          </a:xfrm>
          <a:prstGeom prst="rect">
            <a:avLst/>
          </a:prstGeom>
          <a:noFill/>
          <a:ln/>
        </p:spPr>
        <p:txBody>
          <a:bodyPr wrap="square" lIns="0" tIns="0" rIns="0" bIns="0" rtlCol="0" anchor="t"/>
          <a:lstStyle/>
          <a:p>
            <a:pPr marL="228600" indent="-228600">
              <a:spcAft>
                <a:spcPts val="800"/>
              </a:spcAft>
              <a:buSzPct val="100000"/>
              <a:buChar char="•"/>
            </a:pPr>
            <a:r>
              <a:rPr lang="en-US" sz="1800" b="1" dirty="0">
                <a:solidFill>
                  <a:srgbClr val="1F1F1F"/>
                </a:solidFill>
              </a:rPr>
              <a:t>Dantrolene — mechanism: decreases calcium release from the skeletal muscle sarcoplasmic reticulum.</a:t>
            </a:r>
            <a:r>
              <a:rPr lang="en-US" sz="1800" dirty="0">
                <a:solidFill>
                  <a:srgbClr val="1F1F1F"/>
                </a:solidFill>
              </a:rPr>
              <a:t> Nerve impulse → DHPR activated → </a:t>
            </a:r>
            <a:r>
              <a:rPr lang="en-US" sz="1800" b="1" dirty="0">
                <a:solidFill>
                  <a:srgbClr val="1F1F1F"/>
                </a:solidFill>
              </a:rPr>
              <a:t>RyR1</a:t>
            </a:r>
            <a:r>
              <a:rPr lang="en-US" sz="1800" dirty="0">
                <a:solidFill>
                  <a:srgbClr val="1F1F1F"/>
                </a:solidFill>
              </a:rPr>
              <a:t> opens → Ca²⁺ released → contraction; dantrolene blocks RyR1 → less Ca²⁺ → relaxation.</a:t>
            </a:r>
            <a:r>
              <a:rPr lang="en-US" sz="1300" dirty="0">
                <a:solidFill>
                  <a:srgbClr val="666666"/>
                </a:solidFill>
              </a:rPr>
              <a:t>  S34; S35; S22; SG U2-R11; SG U2-M</a:t>
            </a:r>
            <a:endParaRPr lang="en-US" sz="1800" dirty="0"/>
          </a:p>
          <a:p>
            <a:pPr marL="228600" indent="-228600">
              <a:spcAft>
                <a:spcPts val="800"/>
              </a:spcAft>
              <a:buSzPct val="100000"/>
              <a:buChar char="•"/>
            </a:pPr>
            <a:r>
              <a:rPr lang="en-US" sz="1800" dirty="0">
                <a:solidFill>
                  <a:srgbClr val="1F1F1F"/>
                </a:solidFill>
              </a:rPr>
              <a:t>Dantrolene acts inside the fiber on RyR1 — directly on the muscle fiber, not the CNS — distinct from every centrally acting agent.</a:t>
            </a:r>
            <a:r>
              <a:rPr lang="en-US" sz="1300" dirty="0">
                <a:solidFill>
                  <a:srgbClr val="666666"/>
                </a:solidFill>
              </a:rPr>
              <a:t>  S34; S22</a:t>
            </a:r>
            <a:endParaRPr lang="en-US" sz="1800" dirty="0"/>
          </a:p>
          <a:p>
            <a:pPr marL="228600" indent="-228600">
              <a:spcAft>
                <a:spcPts val="800"/>
              </a:spcAft>
              <a:buSzPct val="100000"/>
              <a:buChar char="•"/>
            </a:pPr>
            <a:r>
              <a:rPr lang="en-US" sz="1800" b="1" dirty="0">
                <a:solidFill>
                  <a:srgbClr val="1F1F1F"/>
                </a:solidFill>
              </a:rPr>
              <a:t>Botulinum toxin — blocks presynaptic acetylcholine release at the neuromuscular junction</a:t>
            </a:r>
            <a:r>
              <a:rPr lang="en-US" sz="1800" dirty="0">
                <a:solidFill>
                  <a:srgbClr val="1F1F1F"/>
                </a:solidFill>
              </a:rPr>
              <a:t> (ACh release at the junction) — a third mechanism, distinct from both CNS-acting drugs and dantrolene’s sarcoplasmic-reticulum action.</a:t>
            </a:r>
            <a:r>
              <a:rPr lang="en-US" sz="1300" dirty="0">
                <a:solidFill>
                  <a:srgbClr val="666666"/>
                </a:solidFill>
              </a:rPr>
              <a:t>  S33; S33 (notes); S22</a:t>
            </a:r>
            <a:endParaRPr lang="en-US" sz="1800" dirty="0"/>
          </a:p>
          <a:p>
            <a:pPr marL="228600" indent="-228600">
              <a:spcAft>
                <a:spcPts val="800"/>
              </a:spcAft>
              <a:buSzPct val="100000"/>
              <a:buChar char="•"/>
            </a:pPr>
            <a:r>
              <a:rPr lang="en-US" sz="1400" b="1" dirty="0">
                <a:solidFill>
                  <a:srgbClr val="000000"/>
                </a:solidFill>
                <a:highlight>
                  <a:srgbClr val="FFC000"/>
                </a:highlight>
              </a:rPr>
              <a:t> TB </a:t>
            </a:r>
            <a:r>
              <a:rPr lang="en-US" sz="1800" dirty="0">
                <a:solidFill>
                  <a:srgbClr val="000000"/>
                </a:solidFill>
              </a:rPr>
              <a:t> </a:t>
            </a:r>
            <a:r>
              <a:rPr lang="en-US" sz="1800" dirty="0">
                <a:solidFill>
                  <a:srgbClr val="1F1F1F"/>
                </a:solidFill>
              </a:rPr>
              <a:t>Diazepam (GABA-A) reduces spasticity partly in the spinal cord, but sedates at the doses needed.</a:t>
            </a:r>
            <a:r>
              <a:rPr lang="en-US" sz="1300" dirty="0">
                <a:solidFill>
                  <a:srgbClr val="666666"/>
                </a:solidFill>
              </a:rPr>
              <a:t>  p. 511</a:t>
            </a:r>
            <a:endParaRPr lang="en-US" sz="1800" dirty="0"/>
          </a:p>
          <a:p>
            <a:pPr marL="228600" indent="-228600">
              <a:spcAft>
                <a:spcPts val="800"/>
              </a:spcAft>
              <a:buSzPct val="100000"/>
              <a:buChar char="•"/>
            </a:pPr>
            <a:r>
              <a:rPr lang="en-US" sz="1400" b="1" dirty="0">
                <a:solidFill>
                  <a:srgbClr val="000000"/>
                </a:solidFill>
                <a:highlight>
                  <a:srgbClr val="FFC000"/>
                </a:highlight>
              </a:rPr>
              <a:t> TB </a:t>
            </a:r>
            <a:r>
              <a:rPr lang="en-US" sz="1800" dirty="0">
                <a:solidFill>
                  <a:srgbClr val="000000"/>
                </a:solidFill>
              </a:rPr>
              <a:t> </a:t>
            </a:r>
            <a:r>
              <a:rPr lang="en-US" sz="1800" dirty="0">
                <a:solidFill>
                  <a:srgbClr val="1F1F1F"/>
                </a:solidFill>
              </a:rPr>
              <a:t>Dantrolene binds RyR1; cardiac and smooth muscle use RyR2, so they are minimally depressed.</a:t>
            </a:r>
            <a:r>
              <a:rPr lang="en-US" sz="1300" dirty="0">
                <a:solidFill>
                  <a:srgbClr val="666666"/>
                </a:solidFill>
              </a:rPr>
              <a:t>  p. 513</a:t>
            </a:r>
            <a:endParaRPr lang="en-US" sz="18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FFF"/>
        </a:solidFill>
      </p:bgPr>
    </p:bg>
    <p:spTree>
      <p:nvGrpSpPr>
        <p:cNvPr id="1" name=""/>
        <p:cNvGrpSpPr/>
        <p:nvPr/>
      </p:nvGrpSpPr>
      <p:grpSpPr>
        <a:xfrm>
          <a:off x="0" y="0"/>
          <a:ext cx="0" cy="0"/>
          <a:chOff x="0" y="0"/>
          <a:chExt cx="0" cy="0"/>
        </a:xfrm>
      </p:grpSpPr>
      <p:sp>
        <p:nvSpPr>
          <p:cNvPr id="2" name="Kicker"/>
          <p:cNvSpPr txBox="1"/>
          <p:nvPr/>
        </p:nvSpPr>
        <p:spPr>
          <a:xfrm>
            <a:off x="548640" y="292608"/>
            <a:ext cx="8076895" cy="274320"/>
          </a:xfrm>
          <a:prstGeom prst="rect">
            <a:avLst/>
          </a:prstGeom>
          <a:noFill/>
          <a:ln/>
        </p:spPr>
        <p:txBody>
          <a:bodyPr wrap="square" lIns="0" tIns="0" rIns="0" bIns="0" rtlCol="0" anchor="ctr"/>
          <a:lstStyle/>
          <a:p>
            <a:pPr indent="0" marL="0">
              <a:buNone/>
            </a:pPr>
            <a:r>
              <a:rPr lang="en-US" sz="1200" b="1" spc="100" kern="0" dirty="0">
                <a:solidFill>
                  <a:srgbClr val="4472C4"/>
                </a:solidFill>
              </a:rPr>
              <a:t>SKELETAL MUSCLE RELAXANTS</a:t>
            </a:r>
            <a:endParaRPr lang="en-US" sz="1200" dirty="0"/>
          </a:p>
        </p:txBody>
      </p:sp>
      <p:sp>
        <p:nvSpPr>
          <p:cNvPr id="3" name="Title"/>
          <p:cNvSpPr txBox="1"/>
          <p:nvPr/>
        </p:nvSpPr>
        <p:spPr>
          <a:xfrm>
            <a:off x="548640" y="566928"/>
            <a:ext cx="8076895" cy="713232"/>
          </a:xfrm>
          <a:prstGeom prst="rect">
            <a:avLst/>
          </a:prstGeom>
          <a:noFill/>
          <a:ln/>
        </p:spPr>
        <p:txBody>
          <a:bodyPr wrap="square" lIns="0" tIns="0" rIns="0" bIns="0" rtlCol="0" anchor="t"/>
          <a:lstStyle/>
          <a:p>
            <a:pPr indent="0" marL="0">
              <a:buNone/>
            </a:pPr>
            <a:r>
              <a:rPr lang="en-US" sz="3000" b="1" dirty="0">
                <a:solidFill>
                  <a:srgbClr val="1F1F1F"/>
                </a:solidFill>
                <a:latin typeface="Calibri" pitchFamily="34" charset="0"/>
                <a:ea typeface="Calibri" pitchFamily="34" charset="-122"/>
                <a:cs typeface="Calibri" pitchFamily="34" charset="-120"/>
              </a:rPr>
              <a:t>Indications</a:t>
            </a:r>
            <a:endParaRPr lang="en-US" sz="3000" dirty="0"/>
          </a:p>
        </p:txBody>
      </p:sp>
      <p:sp>
        <p:nvSpPr>
          <p:cNvPr id="4" name="Objective chip"/>
          <p:cNvSpPr/>
          <p:nvPr/>
        </p:nvSpPr>
        <p:spPr>
          <a:xfrm>
            <a:off x="8899855" y="365760"/>
            <a:ext cx="2743200" cy="384048"/>
          </a:xfrm>
          <a:prstGeom prst="roundRect">
            <a:avLst>
              <a:gd name="adj" fmla="val 35714"/>
            </a:avLst>
          </a:prstGeom>
          <a:solidFill>
            <a:srgbClr val="E3EBF8"/>
          </a:solidFill>
          <a:ln/>
        </p:spPr>
        <p:txBody>
          <a:bodyPr wrap="square" lIns="25400" tIns="25400" rIns="25400" bIns="25400" rtlCol="0" anchor="ctr"/>
          <a:lstStyle/>
          <a:p>
            <a:pPr algn="ctr" indent="0" marL="0">
              <a:buNone/>
            </a:pPr>
            <a:r>
              <a:rPr lang="en-US" sz="800" b="1" dirty="0">
                <a:solidFill>
                  <a:srgbClr val="2F4F8A"/>
                </a:solidFill>
              </a:rPr>
              <a:t>Objectives: SO2 · SO4 · IO2.1 · IO2.2 · IO2.3 · IO2.5 · IO2.6</a:t>
            </a:r>
            <a:endParaRPr lang="en-US" sz="800" dirty="0"/>
          </a:p>
        </p:txBody>
      </p:sp>
      <p:sp>
        <p:nvSpPr>
          <p:cNvPr id="5" name="Footer"/>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1000" dirty="0">
                <a:solidFill>
                  <a:srgbClr val="666666"/>
                </a:solidFill>
              </a:rPr>
              <a:t>L04 · Musculoskeletal Pharmacology — Session 2</a:t>
            </a:r>
            <a:endParaRPr lang="en-US" sz="1000" dirty="0"/>
          </a:p>
        </p:txBody>
      </p:sp>
      <p:sp>
        <p:nvSpPr>
          <p:cNvPr id="6" name="Slide number"/>
          <p:cNvSpPr txBox="1"/>
          <p:nvPr/>
        </p:nvSpPr>
        <p:spPr>
          <a:xfrm>
            <a:off x="10728655" y="6419088"/>
            <a:ext cx="914400" cy="274320"/>
          </a:xfrm>
          <a:prstGeom prst="rect">
            <a:avLst/>
          </a:prstGeom>
          <a:noFill/>
          <a:ln/>
        </p:spPr>
        <p:txBody>
          <a:bodyPr wrap="square" lIns="0" tIns="0" rIns="0" bIns="0" rtlCol="0" anchor="ctr"/>
          <a:lstStyle/>
          <a:p>
            <a:pPr algn="r" indent="0" marL="0">
              <a:buNone/>
            </a:pPr>
            <a:r>
              <a:rPr lang="en-US" sz="1000" dirty="0">
                <a:solidFill>
                  <a:srgbClr val="666666"/>
                </a:solidFill>
              </a:rPr>
              <a:t>46</a:t>
            </a:r>
            <a:endParaRPr lang="en-US" sz="1000" dirty="0"/>
          </a:p>
        </p:txBody>
      </p:sp>
      <p:sp>
        <p:nvSpPr>
          <p:cNvPr id="7" name="Indications (1/2) card"/>
          <p:cNvSpPr/>
          <p:nvPr/>
        </p:nvSpPr>
        <p:spPr>
          <a:xfrm>
            <a:off x="548640" y="1325880"/>
            <a:ext cx="11094415" cy="4000500"/>
          </a:xfrm>
          <a:prstGeom prst="roundRect">
            <a:avLst>
              <a:gd name="adj" fmla="val 2743"/>
            </a:avLst>
          </a:prstGeom>
          <a:solidFill>
            <a:srgbClr val="F2F4F7"/>
          </a:solidFill>
          <a:ln w="12700">
            <a:solidFill>
              <a:srgbClr val="F2F4F7"/>
            </a:solidFill>
            <a:prstDash val="solid"/>
          </a:ln>
        </p:spPr>
      </p:sp>
      <p:sp>
        <p:nvSpPr>
          <p:cNvPr id="8" name="Indications (1/2) icon circle"/>
          <p:cNvSpPr/>
          <p:nvPr/>
        </p:nvSpPr>
        <p:spPr>
          <a:xfrm>
            <a:off x="777240" y="1508760"/>
            <a:ext cx="438912" cy="438912"/>
          </a:xfrm>
          <a:prstGeom prst="ellipse">
            <a:avLst/>
          </a:prstGeom>
          <a:solidFill>
            <a:srgbClr val="548235"/>
          </a:solidFill>
          <a:ln w="12700">
            <a:solidFill>
              <a:srgbClr val="548235"/>
            </a:solidFill>
            <a:prstDash val="solid"/>
          </a:ln>
        </p:spPr>
      </p:sp>
      <p:pic>
        <p:nvPicPr>
          <p:cNvPr id="9" name="Indications (1/2) icon" descr="preencoded.png">    </p:cNvPr>
          <p:cNvPicPr>
            <a:picLocks noChangeAspect="1"/>
          </p:cNvPicPr>
          <p:nvPr/>
        </p:nvPicPr>
        <p:blipFill>
          <a:blip r:embed="rId1"/>
          <a:stretch>
            <a:fillRect/>
          </a:stretch>
        </p:blipFill>
        <p:spPr>
          <a:xfrm>
            <a:off x="877824" y="1609344"/>
            <a:ext cx="237744" cy="237744"/>
          </a:xfrm>
          <a:prstGeom prst="rect">
            <a:avLst/>
          </a:prstGeom>
        </p:spPr>
      </p:pic>
      <p:sp>
        <p:nvSpPr>
          <p:cNvPr id="10" name="Indications (1/2) heading"/>
          <p:cNvSpPr txBox="1"/>
          <p:nvPr/>
        </p:nvSpPr>
        <p:spPr>
          <a:xfrm>
            <a:off x="1353312" y="1508760"/>
            <a:ext cx="10088575" cy="438912"/>
          </a:xfrm>
          <a:prstGeom prst="rect">
            <a:avLst/>
          </a:prstGeom>
          <a:noFill/>
          <a:ln/>
        </p:spPr>
        <p:txBody>
          <a:bodyPr wrap="square" lIns="0" tIns="0" rIns="0" bIns="0" rtlCol="0" anchor="ctr"/>
          <a:lstStyle/>
          <a:p>
            <a:pPr indent="0" marL="0">
              <a:buNone/>
            </a:pPr>
            <a:r>
              <a:rPr lang="en-US" sz="1800" b="1" dirty="0">
                <a:solidFill>
                  <a:srgbClr val="548235"/>
                </a:solidFill>
              </a:rPr>
              <a:t>Indications (1/2)</a:t>
            </a:r>
            <a:endParaRPr lang="en-US" sz="1800" dirty="0"/>
          </a:p>
        </p:txBody>
      </p:sp>
      <p:sp>
        <p:nvSpPr>
          <p:cNvPr id="11" name="Indications (1/2) body"/>
          <p:cNvSpPr txBox="1"/>
          <p:nvPr/>
        </p:nvSpPr>
        <p:spPr>
          <a:xfrm>
            <a:off x="777240" y="2075688"/>
            <a:ext cx="10637215" cy="3131820"/>
          </a:xfrm>
          <a:prstGeom prst="rect">
            <a:avLst/>
          </a:prstGeom>
          <a:noFill/>
          <a:ln/>
        </p:spPr>
        <p:txBody>
          <a:bodyPr wrap="square" lIns="0" tIns="0" rIns="0" bIns="0" rtlCol="0" anchor="t"/>
          <a:lstStyle/>
          <a:p>
            <a:pPr marL="228600" indent="-228600">
              <a:spcAft>
                <a:spcPts val="800"/>
              </a:spcAft>
              <a:buSzPct val="100000"/>
              <a:buChar char="•"/>
            </a:pPr>
            <a:r>
              <a:rPr lang="en-US" sz="1800" b="1" dirty="0">
                <a:solidFill>
                  <a:srgbClr val="1F1F1F"/>
                </a:solidFill>
              </a:rPr>
              <a:t>Baclofen:</a:t>
            </a:r>
            <a:r>
              <a:rPr lang="en-US" sz="1800" dirty="0">
                <a:solidFill>
                  <a:srgbClr val="1F1F1F"/>
                </a:solidFill>
              </a:rPr>
              <a:t> spasticity, particularly from spinal cord injury or multiple sclerosis; intrathecal option for severe spasticity.</a:t>
            </a:r>
            <a:r>
              <a:rPr lang="en-US" sz="1300" dirty="0">
                <a:solidFill>
                  <a:srgbClr val="666666"/>
                </a:solidFill>
              </a:rPr>
              <a:t>  S27; S28</a:t>
            </a:r>
            <a:endParaRPr lang="en-US" sz="1800" dirty="0"/>
          </a:p>
          <a:p>
            <a:pPr marL="228600" indent="-228600">
              <a:spcAft>
                <a:spcPts val="800"/>
              </a:spcAft>
              <a:buSzPct val="100000"/>
              <a:buChar char="•"/>
            </a:pPr>
            <a:r>
              <a:rPr lang="en-US" sz="1800" dirty="0">
                <a:solidFill>
                  <a:srgbClr val="1F1F1F"/>
                </a:solidFill>
              </a:rPr>
              <a:t>Cyclobenzaprine — </a:t>
            </a:r>
            <a:r>
              <a:rPr lang="en-US" sz="1800" b="1" dirty="0">
                <a:solidFill>
                  <a:srgbClr val="1F1F1F"/>
                </a:solidFill>
              </a:rPr>
              <a:t>primary use: short-term treatment of acute, localized muscle spasm</a:t>
            </a:r>
            <a:r>
              <a:rPr lang="en-US" sz="1800" dirty="0">
                <a:solidFill>
                  <a:srgbClr val="1F1F1F"/>
                </a:solidFill>
              </a:rPr>
              <a:t>; short-term use only, 2–3 weeks.</a:t>
            </a:r>
            <a:r>
              <a:rPr lang="en-US" sz="1300" dirty="0">
                <a:solidFill>
                  <a:srgbClr val="666666"/>
                </a:solidFill>
              </a:rPr>
              <a:t>  S31; S32</a:t>
            </a:r>
            <a:endParaRPr lang="en-US" sz="1800" dirty="0"/>
          </a:p>
          <a:p>
            <a:pPr marL="228600" indent="-228600">
              <a:spcAft>
                <a:spcPts val="800"/>
              </a:spcAft>
              <a:buSzPct val="100000"/>
              <a:buChar char="•"/>
            </a:pPr>
            <a:r>
              <a:rPr lang="en-US" sz="1800" dirty="0">
                <a:solidFill>
                  <a:srgbClr val="1F1F1F"/>
                </a:solidFill>
              </a:rPr>
              <a:t>Dantrolene — </a:t>
            </a:r>
            <a:r>
              <a:rPr lang="en-US" sz="1800" b="1" dirty="0">
                <a:solidFill>
                  <a:srgbClr val="1F1F1F"/>
                </a:solidFill>
              </a:rPr>
              <a:t>clinical use #1: malignant hyperthermia (a true emergency indication)</a:t>
            </a:r>
            <a:r>
              <a:rPr lang="en-US" sz="1800" dirty="0">
                <a:solidFill>
                  <a:srgbClr val="1F1F1F"/>
                </a:solidFill>
              </a:rPr>
              <a:t> (triggered by volatile anesthetics and succinylcholine) — a true emergency, perioperative indication where the drug is literally life-saving.</a:t>
            </a:r>
            <a:r>
              <a:rPr lang="en-US" sz="1300" dirty="0">
                <a:solidFill>
                  <a:srgbClr val="666666"/>
                </a:solidFill>
              </a:rPr>
              <a:t>  S34; S34 (notes); S35; SG U2-R11</a:t>
            </a:r>
            <a:endParaRPr lang="en-US" sz="1800" dirty="0"/>
          </a:p>
          <a:p>
            <a:pPr marL="228600" indent="-228600">
              <a:spcAft>
                <a:spcPts val="800"/>
              </a:spcAft>
              <a:buSzPct val="100000"/>
              <a:buChar char="•"/>
            </a:pPr>
            <a:r>
              <a:rPr lang="en-US" sz="1800" b="1" dirty="0">
                <a:solidFill>
                  <a:srgbClr val="1F1F1F"/>
                </a:solidFill>
              </a:rPr>
              <a:t>Dantrolene #2:</a:t>
            </a:r>
            <a:r>
              <a:rPr lang="en-US" sz="1800" dirty="0">
                <a:solidFill>
                  <a:srgbClr val="1F1F1F"/>
                </a:solidFill>
              </a:rPr>
              <a:t> chronic spasticity, when central agents are not appropriate; also used for neuroleptic malignant syndrome. IV formulation for acute crisis.</a:t>
            </a:r>
            <a:r>
              <a:rPr lang="en-US" sz="1300" dirty="0">
                <a:solidFill>
                  <a:srgbClr val="666666"/>
                </a:solidFill>
              </a:rPr>
              <a:t>  S34; S35</a:t>
            </a:r>
            <a:endParaRPr lang="en-US" sz="18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FFFFF"/>
        </a:solidFill>
      </p:bgPr>
    </p:bg>
    <p:spTree>
      <p:nvGrpSpPr>
        <p:cNvPr id="1" name=""/>
        <p:cNvGrpSpPr/>
        <p:nvPr/>
      </p:nvGrpSpPr>
      <p:grpSpPr>
        <a:xfrm>
          <a:off x="0" y="0"/>
          <a:ext cx="0" cy="0"/>
          <a:chOff x="0" y="0"/>
          <a:chExt cx="0" cy="0"/>
        </a:xfrm>
      </p:grpSpPr>
      <p:sp>
        <p:nvSpPr>
          <p:cNvPr id="2" name="Kicker"/>
          <p:cNvSpPr txBox="1"/>
          <p:nvPr/>
        </p:nvSpPr>
        <p:spPr>
          <a:xfrm>
            <a:off x="548640" y="292608"/>
            <a:ext cx="8076895" cy="274320"/>
          </a:xfrm>
          <a:prstGeom prst="rect">
            <a:avLst/>
          </a:prstGeom>
          <a:noFill/>
          <a:ln/>
        </p:spPr>
        <p:txBody>
          <a:bodyPr wrap="square" lIns="0" tIns="0" rIns="0" bIns="0" rtlCol="0" anchor="ctr"/>
          <a:lstStyle/>
          <a:p>
            <a:pPr indent="0" marL="0">
              <a:buNone/>
            </a:pPr>
            <a:r>
              <a:rPr lang="en-US" sz="1200" b="1" spc="100" kern="0" dirty="0">
                <a:solidFill>
                  <a:srgbClr val="4472C4"/>
                </a:solidFill>
              </a:rPr>
              <a:t>SKELETAL MUSCLE RELAXANTS</a:t>
            </a:r>
            <a:endParaRPr lang="en-US" sz="1200" dirty="0"/>
          </a:p>
        </p:txBody>
      </p:sp>
      <p:sp>
        <p:nvSpPr>
          <p:cNvPr id="3" name="Title"/>
          <p:cNvSpPr txBox="1"/>
          <p:nvPr/>
        </p:nvSpPr>
        <p:spPr>
          <a:xfrm>
            <a:off x="548640" y="566928"/>
            <a:ext cx="8076895" cy="713232"/>
          </a:xfrm>
          <a:prstGeom prst="rect">
            <a:avLst/>
          </a:prstGeom>
          <a:noFill/>
          <a:ln/>
        </p:spPr>
        <p:txBody>
          <a:bodyPr wrap="square" lIns="0" tIns="0" rIns="0" bIns="0" rtlCol="0" anchor="t"/>
          <a:lstStyle/>
          <a:p>
            <a:pPr indent="0" marL="0">
              <a:buNone/>
            </a:pPr>
            <a:r>
              <a:rPr lang="en-US" sz="3000" b="1" dirty="0">
                <a:solidFill>
                  <a:srgbClr val="1F1F1F"/>
                </a:solidFill>
                <a:latin typeface="Calibri" pitchFamily="34" charset="0"/>
                <a:ea typeface="Calibri" pitchFamily="34" charset="-122"/>
                <a:cs typeface="Calibri" pitchFamily="34" charset="-120"/>
              </a:rPr>
              <a:t>Indications (cont.)</a:t>
            </a:r>
            <a:endParaRPr lang="en-US" sz="3000" dirty="0"/>
          </a:p>
        </p:txBody>
      </p:sp>
      <p:sp>
        <p:nvSpPr>
          <p:cNvPr id="4" name="Objective chip"/>
          <p:cNvSpPr/>
          <p:nvPr/>
        </p:nvSpPr>
        <p:spPr>
          <a:xfrm>
            <a:off x="8899855" y="365760"/>
            <a:ext cx="2743200" cy="384048"/>
          </a:xfrm>
          <a:prstGeom prst="roundRect">
            <a:avLst>
              <a:gd name="adj" fmla="val 35714"/>
            </a:avLst>
          </a:prstGeom>
          <a:solidFill>
            <a:srgbClr val="E3EBF8"/>
          </a:solidFill>
          <a:ln/>
        </p:spPr>
        <p:txBody>
          <a:bodyPr wrap="square" lIns="25400" tIns="25400" rIns="25400" bIns="25400" rtlCol="0" anchor="ctr"/>
          <a:lstStyle/>
          <a:p>
            <a:pPr algn="ctr" indent="0" marL="0">
              <a:buNone/>
            </a:pPr>
            <a:r>
              <a:rPr lang="en-US" sz="800" b="1" dirty="0">
                <a:solidFill>
                  <a:srgbClr val="2F4F8A"/>
                </a:solidFill>
              </a:rPr>
              <a:t>Objectives: SO2 · SO4 · IO2.1 · IO2.2 · IO2.3 · IO2.5 · IO2.6</a:t>
            </a:r>
            <a:endParaRPr lang="en-US" sz="800" dirty="0"/>
          </a:p>
        </p:txBody>
      </p:sp>
      <p:sp>
        <p:nvSpPr>
          <p:cNvPr id="5" name="Footer"/>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1000" dirty="0">
                <a:solidFill>
                  <a:srgbClr val="666666"/>
                </a:solidFill>
              </a:rPr>
              <a:t>L04 · Musculoskeletal Pharmacology — Session 2</a:t>
            </a:r>
            <a:endParaRPr lang="en-US" sz="1000" dirty="0"/>
          </a:p>
        </p:txBody>
      </p:sp>
      <p:sp>
        <p:nvSpPr>
          <p:cNvPr id="6" name="Slide number"/>
          <p:cNvSpPr txBox="1"/>
          <p:nvPr/>
        </p:nvSpPr>
        <p:spPr>
          <a:xfrm>
            <a:off x="10728655" y="6419088"/>
            <a:ext cx="914400" cy="274320"/>
          </a:xfrm>
          <a:prstGeom prst="rect">
            <a:avLst/>
          </a:prstGeom>
          <a:noFill/>
          <a:ln/>
        </p:spPr>
        <p:txBody>
          <a:bodyPr wrap="square" lIns="0" tIns="0" rIns="0" bIns="0" rtlCol="0" anchor="ctr"/>
          <a:lstStyle/>
          <a:p>
            <a:pPr algn="r" indent="0" marL="0">
              <a:buNone/>
            </a:pPr>
            <a:r>
              <a:rPr lang="en-US" sz="1000" dirty="0">
                <a:solidFill>
                  <a:srgbClr val="666666"/>
                </a:solidFill>
              </a:rPr>
              <a:t>47</a:t>
            </a:r>
            <a:endParaRPr lang="en-US" sz="1000" dirty="0"/>
          </a:p>
        </p:txBody>
      </p:sp>
      <p:sp>
        <p:nvSpPr>
          <p:cNvPr id="7" name="Indications (2/2) card"/>
          <p:cNvSpPr/>
          <p:nvPr/>
        </p:nvSpPr>
        <p:spPr>
          <a:xfrm>
            <a:off x="548640" y="1325880"/>
            <a:ext cx="11094415" cy="2884932"/>
          </a:xfrm>
          <a:prstGeom prst="roundRect">
            <a:avLst>
              <a:gd name="adj" fmla="val 3803"/>
            </a:avLst>
          </a:prstGeom>
          <a:solidFill>
            <a:srgbClr val="F2F4F7"/>
          </a:solidFill>
          <a:ln w="12700">
            <a:solidFill>
              <a:srgbClr val="F2F4F7"/>
            </a:solidFill>
            <a:prstDash val="solid"/>
          </a:ln>
        </p:spPr>
      </p:sp>
      <p:sp>
        <p:nvSpPr>
          <p:cNvPr id="8" name="Indications (2/2) icon circle"/>
          <p:cNvSpPr/>
          <p:nvPr/>
        </p:nvSpPr>
        <p:spPr>
          <a:xfrm>
            <a:off x="777240" y="1508760"/>
            <a:ext cx="438912" cy="438912"/>
          </a:xfrm>
          <a:prstGeom prst="ellipse">
            <a:avLst/>
          </a:prstGeom>
          <a:solidFill>
            <a:srgbClr val="548235"/>
          </a:solidFill>
          <a:ln w="12700">
            <a:solidFill>
              <a:srgbClr val="548235"/>
            </a:solidFill>
            <a:prstDash val="solid"/>
          </a:ln>
        </p:spPr>
      </p:sp>
      <p:pic>
        <p:nvPicPr>
          <p:cNvPr id="9" name="Indications (2/2) icon" descr="preencoded.png">    </p:cNvPr>
          <p:cNvPicPr>
            <a:picLocks noChangeAspect="1"/>
          </p:cNvPicPr>
          <p:nvPr/>
        </p:nvPicPr>
        <p:blipFill>
          <a:blip r:embed="rId1"/>
          <a:stretch>
            <a:fillRect/>
          </a:stretch>
        </p:blipFill>
        <p:spPr>
          <a:xfrm>
            <a:off x="877824" y="1609344"/>
            <a:ext cx="237744" cy="237744"/>
          </a:xfrm>
          <a:prstGeom prst="rect">
            <a:avLst/>
          </a:prstGeom>
        </p:spPr>
      </p:pic>
      <p:sp>
        <p:nvSpPr>
          <p:cNvPr id="10" name="Indications (2/2) heading"/>
          <p:cNvSpPr txBox="1"/>
          <p:nvPr/>
        </p:nvSpPr>
        <p:spPr>
          <a:xfrm>
            <a:off x="1353312" y="1508760"/>
            <a:ext cx="10088575" cy="438912"/>
          </a:xfrm>
          <a:prstGeom prst="rect">
            <a:avLst/>
          </a:prstGeom>
          <a:noFill/>
          <a:ln/>
        </p:spPr>
        <p:txBody>
          <a:bodyPr wrap="square" lIns="0" tIns="0" rIns="0" bIns="0" rtlCol="0" anchor="ctr"/>
          <a:lstStyle/>
          <a:p>
            <a:pPr indent="0" marL="0">
              <a:buNone/>
            </a:pPr>
            <a:r>
              <a:rPr lang="en-US" sz="1800" b="1" dirty="0">
                <a:solidFill>
                  <a:srgbClr val="548235"/>
                </a:solidFill>
              </a:rPr>
              <a:t>Indications (2/2)</a:t>
            </a:r>
            <a:endParaRPr lang="en-US" sz="1800" dirty="0"/>
          </a:p>
        </p:txBody>
      </p:sp>
      <p:sp>
        <p:nvSpPr>
          <p:cNvPr id="11" name="Indications (2/2) body"/>
          <p:cNvSpPr txBox="1"/>
          <p:nvPr/>
        </p:nvSpPr>
        <p:spPr>
          <a:xfrm>
            <a:off x="777240" y="2075688"/>
            <a:ext cx="10637215" cy="2016252"/>
          </a:xfrm>
          <a:prstGeom prst="rect">
            <a:avLst/>
          </a:prstGeom>
          <a:noFill/>
          <a:ln/>
        </p:spPr>
        <p:txBody>
          <a:bodyPr wrap="square" lIns="0" tIns="0" rIns="0" bIns="0" rtlCol="0" anchor="t"/>
          <a:lstStyle/>
          <a:p>
            <a:pPr marL="228600" indent="-228600">
              <a:spcAft>
                <a:spcPts val="800"/>
              </a:spcAft>
              <a:buSzPct val="100000"/>
              <a:buChar char="•"/>
            </a:pPr>
            <a:r>
              <a:rPr lang="en-US" sz="1800" b="1" dirty="0">
                <a:solidFill>
                  <a:srgbClr val="1F1F1F"/>
                </a:solidFill>
              </a:rPr>
              <a:t>Botulinum toxin:</a:t>
            </a:r>
            <a:r>
              <a:rPr lang="en-US" sz="1800" dirty="0">
                <a:solidFill>
                  <a:srgbClr val="1F1F1F"/>
                </a:solidFill>
              </a:rPr>
              <a:t> focal spasticity or dystonia; effect is local and temporary, requiring repeat injections.</a:t>
            </a:r>
            <a:r>
              <a:rPr lang="en-US" sz="1300" dirty="0">
                <a:solidFill>
                  <a:srgbClr val="666666"/>
                </a:solidFill>
              </a:rPr>
              <a:t>  S33</a:t>
            </a:r>
            <a:endParaRPr lang="en-US" sz="1800" dirty="0"/>
          </a:p>
          <a:p>
            <a:pPr marL="228600" indent="-228600">
              <a:spcAft>
                <a:spcPts val="800"/>
              </a:spcAft>
              <a:buSzPct val="100000"/>
              <a:buChar char="•"/>
            </a:pPr>
            <a:r>
              <a:rPr lang="en-US" sz="1400" b="1" dirty="0">
                <a:solidFill>
                  <a:srgbClr val="000000"/>
                </a:solidFill>
                <a:highlight>
                  <a:srgbClr val="FFC000"/>
                </a:highlight>
              </a:rPr>
              <a:t> TB </a:t>
            </a:r>
            <a:r>
              <a:rPr lang="en-US" sz="1800" dirty="0">
                <a:solidFill>
                  <a:srgbClr val="000000"/>
                </a:solidFill>
              </a:rPr>
              <a:t> </a:t>
            </a:r>
            <a:r>
              <a:rPr lang="en-US" sz="1800" dirty="0">
                <a:solidFill>
                  <a:srgbClr val="1F1F1F"/>
                </a:solidFill>
              </a:rPr>
              <a:t>Malignant hyperthermia: give IV dantrolene 1 mg/kg, repeated as needed, while controlling acidosis and temperature.</a:t>
            </a:r>
            <a:r>
              <a:rPr lang="en-US" sz="1300" dirty="0">
                <a:solidFill>
                  <a:srgbClr val="666666"/>
                </a:solidFill>
              </a:rPr>
              <a:t>  p. 513</a:t>
            </a:r>
            <a:endParaRPr lang="en-US" sz="1800" dirty="0"/>
          </a:p>
          <a:p>
            <a:pPr marL="228600" indent="-228600">
              <a:spcAft>
                <a:spcPts val="800"/>
              </a:spcAft>
              <a:buSzPct val="100000"/>
              <a:buChar char="•"/>
            </a:pPr>
            <a:r>
              <a:rPr lang="en-US" sz="1400" b="1" dirty="0">
                <a:solidFill>
                  <a:srgbClr val="000000"/>
                </a:solidFill>
                <a:highlight>
                  <a:srgbClr val="FFC000"/>
                </a:highlight>
              </a:rPr>
              <a:t> TB </a:t>
            </a:r>
            <a:r>
              <a:rPr lang="en-US" sz="1800" dirty="0">
                <a:solidFill>
                  <a:srgbClr val="000000"/>
                </a:solidFill>
              </a:rPr>
              <a:t> </a:t>
            </a:r>
            <a:r>
              <a:rPr lang="en-US" sz="1800" dirty="0">
                <a:solidFill>
                  <a:srgbClr val="1F1F1F"/>
                </a:solidFill>
              </a:rPr>
              <a:t>Cyclobenzaprine is ineffective for spasm from cerebral palsy or spinal cord injury.</a:t>
            </a:r>
            <a:r>
              <a:rPr lang="en-US" sz="1300" dirty="0">
                <a:solidFill>
                  <a:srgbClr val="666666"/>
                </a:solidFill>
              </a:rPr>
              <a:t>  p. 513</a:t>
            </a:r>
            <a:endParaRPr lang="en-US" sz="1800" dirty="0"/>
          </a:p>
          <a:p>
            <a:pPr marL="228600" indent="-228600">
              <a:spcAft>
                <a:spcPts val="800"/>
              </a:spcAft>
              <a:buSzPct val="100000"/>
              <a:buChar char="•"/>
            </a:pPr>
            <a:r>
              <a:rPr lang="en-US" sz="1400" b="1" dirty="0">
                <a:solidFill>
                  <a:srgbClr val="000000"/>
                </a:solidFill>
                <a:highlight>
                  <a:srgbClr val="FFC000"/>
                </a:highlight>
              </a:rPr>
              <a:t> TB </a:t>
            </a:r>
            <a:r>
              <a:rPr lang="en-US" sz="1800" dirty="0">
                <a:solidFill>
                  <a:srgbClr val="000000"/>
                </a:solidFill>
              </a:rPr>
              <a:t> </a:t>
            </a:r>
            <a:r>
              <a:rPr lang="en-US" sz="1800" dirty="0">
                <a:solidFill>
                  <a:srgbClr val="1F1F1F"/>
                </a:solidFill>
              </a:rPr>
              <a:t>Gabapentin has shown promise as a spasmolytic in multiple sclerosis.</a:t>
            </a:r>
            <a:r>
              <a:rPr lang="en-US" sz="1300" dirty="0">
                <a:solidFill>
                  <a:srgbClr val="666666"/>
                </a:solidFill>
              </a:rPr>
              <a:t>  p. 512</a:t>
            </a:r>
            <a:endParaRPr lang="en-US" sz="18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FFFFF"/>
        </a:solidFill>
      </p:bgPr>
    </p:bg>
    <p:spTree>
      <p:nvGrpSpPr>
        <p:cNvPr id="1" name=""/>
        <p:cNvGrpSpPr/>
        <p:nvPr/>
      </p:nvGrpSpPr>
      <p:grpSpPr>
        <a:xfrm>
          <a:off x="0" y="0"/>
          <a:ext cx="0" cy="0"/>
          <a:chOff x="0" y="0"/>
          <a:chExt cx="0" cy="0"/>
        </a:xfrm>
      </p:grpSpPr>
      <p:sp>
        <p:nvSpPr>
          <p:cNvPr id="2" name="Kicker"/>
          <p:cNvSpPr txBox="1"/>
          <p:nvPr/>
        </p:nvSpPr>
        <p:spPr>
          <a:xfrm>
            <a:off x="548640" y="292608"/>
            <a:ext cx="8076895" cy="274320"/>
          </a:xfrm>
          <a:prstGeom prst="rect">
            <a:avLst/>
          </a:prstGeom>
          <a:noFill/>
          <a:ln/>
        </p:spPr>
        <p:txBody>
          <a:bodyPr wrap="square" lIns="0" tIns="0" rIns="0" bIns="0" rtlCol="0" anchor="ctr"/>
          <a:lstStyle/>
          <a:p>
            <a:pPr indent="0" marL="0">
              <a:buNone/>
            </a:pPr>
            <a:r>
              <a:rPr lang="en-US" sz="1200" b="1" spc="100" kern="0" dirty="0">
                <a:solidFill>
                  <a:srgbClr val="4472C4"/>
                </a:solidFill>
              </a:rPr>
              <a:t>SKELETAL MUSCLE RELAXANTS</a:t>
            </a:r>
            <a:endParaRPr lang="en-US" sz="1200" dirty="0"/>
          </a:p>
        </p:txBody>
      </p:sp>
      <p:sp>
        <p:nvSpPr>
          <p:cNvPr id="3" name="Title"/>
          <p:cNvSpPr txBox="1"/>
          <p:nvPr/>
        </p:nvSpPr>
        <p:spPr>
          <a:xfrm>
            <a:off x="548640" y="566928"/>
            <a:ext cx="8076895" cy="713232"/>
          </a:xfrm>
          <a:prstGeom prst="rect">
            <a:avLst/>
          </a:prstGeom>
          <a:noFill/>
          <a:ln/>
        </p:spPr>
        <p:txBody>
          <a:bodyPr wrap="square" lIns="0" tIns="0" rIns="0" bIns="0" rtlCol="0" anchor="t"/>
          <a:lstStyle/>
          <a:p>
            <a:pPr indent="0" marL="0">
              <a:buNone/>
            </a:pPr>
            <a:r>
              <a:rPr lang="en-US" sz="3000" b="1" dirty="0">
                <a:solidFill>
                  <a:srgbClr val="1F1F1F"/>
                </a:solidFill>
                <a:latin typeface="Calibri" pitchFamily="34" charset="0"/>
                <a:ea typeface="Calibri" pitchFamily="34" charset="-122"/>
                <a:cs typeface="Calibri" pitchFamily="34" charset="-120"/>
              </a:rPr>
              <a:t>Adverse effects (boxed warnings first)</a:t>
            </a:r>
            <a:endParaRPr lang="en-US" sz="3000" dirty="0"/>
          </a:p>
        </p:txBody>
      </p:sp>
      <p:sp>
        <p:nvSpPr>
          <p:cNvPr id="4" name="Objective chip"/>
          <p:cNvSpPr/>
          <p:nvPr/>
        </p:nvSpPr>
        <p:spPr>
          <a:xfrm>
            <a:off x="8899855" y="365760"/>
            <a:ext cx="2743200" cy="384048"/>
          </a:xfrm>
          <a:prstGeom prst="roundRect">
            <a:avLst>
              <a:gd name="adj" fmla="val 35714"/>
            </a:avLst>
          </a:prstGeom>
          <a:solidFill>
            <a:srgbClr val="E3EBF8"/>
          </a:solidFill>
          <a:ln/>
        </p:spPr>
        <p:txBody>
          <a:bodyPr wrap="square" lIns="25400" tIns="25400" rIns="25400" bIns="25400" rtlCol="0" anchor="ctr"/>
          <a:lstStyle/>
          <a:p>
            <a:pPr algn="ctr" indent="0" marL="0">
              <a:buNone/>
            </a:pPr>
            <a:r>
              <a:rPr lang="en-US" sz="800" b="1" dirty="0">
                <a:solidFill>
                  <a:srgbClr val="2F4F8A"/>
                </a:solidFill>
              </a:rPr>
              <a:t>Objectives: SO2 · SO4 · IO2.1 · IO2.2 · IO2.3 · IO2.5 · IO2.6</a:t>
            </a:r>
            <a:endParaRPr lang="en-US" sz="800" dirty="0"/>
          </a:p>
        </p:txBody>
      </p:sp>
      <p:sp>
        <p:nvSpPr>
          <p:cNvPr id="5" name="Footer"/>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1000" dirty="0">
                <a:solidFill>
                  <a:srgbClr val="666666"/>
                </a:solidFill>
              </a:rPr>
              <a:t>L04 · Musculoskeletal Pharmacology — Session 2</a:t>
            </a:r>
            <a:endParaRPr lang="en-US" sz="1000" dirty="0"/>
          </a:p>
        </p:txBody>
      </p:sp>
      <p:sp>
        <p:nvSpPr>
          <p:cNvPr id="6" name="Slide number"/>
          <p:cNvSpPr txBox="1"/>
          <p:nvPr/>
        </p:nvSpPr>
        <p:spPr>
          <a:xfrm>
            <a:off x="10728655" y="6419088"/>
            <a:ext cx="914400" cy="274320"/>
          </a:xfrm>
          <a:prstGeom prst="rect">
            <a:avLst/>
          </a:prstGeom>
          <a:noFill/>
          <a:ln/>
        </p:spPr>
        <p:txBody>
          <a:bodyPr wrap="square" lIns="0" tIns="0" rIns="0" bIns="0" rtlCol="0" anchor="ctr"/>
          <a:lstStyle/>
          <a:p>
            <a:pPr algn="r" indent="0" marL="0">
              <a:buNone/>
            </a:pPr>
            <a:r>
              <a:rPr lang="en-US" sz="1000" dirty="0">
                <a:solidFill>
                  <a:srgbClr val="666666"/>
                </a:solidFill>
              </a:rPr>
              <a:t>48</a:t>
            </a:r>
            <a:endParaRPr lang="en-US" sz="1000" dirty="0"/>
          </a:p>
        </p:txBody>
      </p:sp>
      <p:sp>
        <p:nvSpPr>
          <p:cNvPr id="7" name="Adverse effects (boxed warnings first) (1/2) card"/>
          <p:cNvSpPr/>
          <p:nvPr/>
        </p:nvSpPr>
        <p:spPr>
          <a:xfrm>
            <a:off x="548640" y="1325880"/>
            <a:ext cx="11094415" cy="4219956"/>
          </a:xfrm>
          <a:prstGeom prst="roundRect">
            <a:avLst>
              <a:gd name="adj" fmla="val 2600"/>
            </a:avLst>
          </a:prstGeom>
          <a:solidFill>
            <a:srgbClr val="F2F4F7"/>
          </a:solidFill>
          <a:ln w="12700">
            <a:solidFill>
              <a:srgbClr val="F2F4F7"/>
            </a:solidFill>
            <a:prstDash val="solid"/>
          </a:ln>
        </p:spPr>
      </p:sp>
      <p:sp>
        <p:nvSpPr>
          <p:cNvPr id="8" name="Adverse effects (boxed warnings first) (1/2) icon circle"/>
          <p:cNvSpPr/>
          <p:nvPr/>
        </p:nvSpPr>
        <p:spPr>
          <a:xfrm>
            <a:off x="777240" y="1508760"/>
            <a:ext cx="438912" cy="438912"/>
          </a:xfrm>
          <a:prstGeom prst="ellipse">
            <a:avLst/>
          </a:prstGeom>
          <a:solidFill>
            <a:srgbClr val="C55A11"/>
          </a:solidFill>
          <a:ln w="12700">
            <a:solidFill>
              <a:srgbClr val="C55A11"/>
            </a:solidFill>
            <a:prstDash val="solid"/>
          </a:ln>
        </p:spPr>
      </p:sp>
      <p:pic>
        <p:nvPicPr>
          <p:cNvPr id="9" name="Adverse effects (boxed warnings first) (1/2) icon" descr="preencoded.png">    </p:cNvPr>
          <p:cNvPicPr>
            <a:picLocks noChangeAspect="1"/>
          </p:cNvPicPr>
          <p:nvPr/>
        </p:nvPicPr>
        <p:blipFill>
          <a:blip r:embed="rId1"/>
          <a:stretch>
            <a:fillRect/>
          </a:stretch>
        </p:blipFill>
        <p:spPr>
          <a:xfrm>
            <a:off x="877824" y="1609344"/>
            <a:ext cx="237744" cy="237744"/>
          </a:xfrm>
          <a:prstGeom prst="rect">
            <a:avLst/>
          </a:prstGeom>
        </p:spPr>
      </p:pic>
      <p:sp>
        <p:nvSpPr>
          <p:cNvPr id="10" name="Adverse effects (boxed warnings first) (1/2) heading"/>
          <p:cNvSpPr txBox="1"/>
          <p:nvPr/>
        </p:nvSpPr>
        <p:spPr>
          <a:xfrm>
            <a:off x="1353312" y="1508760"/>
            <a:ext cx="10088575" cy="438912"/>
          </a:xfrm>
          <a:prstGeom prst="rect">
            <a:avLst/>
          </a:prstGeom>
          <a:noFill/>
          <a:ln/>
        </p:spPr>
        <p:txBody>
          <a:bodyPr wrap="square" lIns="0" tIns="0" rIns="0" bIns="0" rtlCol="0" anchor="ctr"/>
          <a:lstStyle/>
          <a:p>
            <a:pPr indent="0" marL="0">
              <a:buNone/>
            </a:pPr>
            <a:r>
              <a:rPr lang="en-US" sz="1800" b="1" dirty="0">
                <a:solidFill>
                  <a:srgbClr val="C55A11"/>
                </a:solidFill>
              </a:rPr>
              <a:t>Adverse effects (boxed warnings first) (1/2)</a:t>
            </a:r>
            <a:endParaRPr lang="en-US" sz="1800" dirty="0"/>
          </a:p>
        </p:txBody>
      </p:sp>
      <p:sp>
        <p:nvSpPr>
          <p:cNvPr id="11" name="Adverse effects (boxed warnings first) (1/2) body"/>
          <p:cNvSpPr txBox="1"/>
          <p:nvPr/>
        </p:nvSpPr>
        <p:spPr>
          <a:xfrm>
            <a:off x="777240" y="2075688"/>
            <a:ext cx="10637215" cy="3351276"/>
          </a:xfrm>
          <a:prstGeom prst="rect">
            <a:avLst/>
          </a:prstGeom>
          <a:noFill/>
          <a:ln/>
        </p:spPr>
        <p:txBody>
          <a:bodyPr wrap="square" lIns="0" tIns="0" rIns="0" bIns="0" rtlCol="0" anchor="t"/>
          <a:lstStyle/>
          <a:p>
            <a:pPr marL="228600" indent="-228600">
              <a:spcAft>
                <a:spcPts val="800"/>
              </a:spcAft>
              <a:buSzPct val="100000"/>
              <a:buChar char="•"/>
            </a:pPr>
            <a:r>
              <a:rPr lang="en-US" sz="1400" b="1" dirty="0">
                <a:solidFill>
                  <a:srgbClr val="000000"/>
                </a:solidFill>
                <a:highlight>
                  <a:srgbClr val="FFC000"/>
                </a:highlight>
              </a:rPr>
              <a:t> TB </a:t>
            </a:r>
            <a:r>
              <a:rPr lang="en-US" sz="1800" dirty="0">
                <a:solidFill>
                  <a:srgbClr val="000000"/>
                </a:solidFill>
              </a:rPr>
              <a:t> </a:t>
            </a:r>
            <a:r>
              <a:rPr lang="en-US" sz="1800" dirty="0">
                <a:solidFill>
                  <a:srgbClr val="1F1F1F"/>
                </a:solidFill>
              </a:rPr>
              <a:t>Botulinum toxin: black box warning for distant spread of toxin, greatest in children treated for spasticity.</a:t>
            </a:r>
            <a:r>
              <a:rPr lang="en-US" sz="1300" dirty="0">
                <a:solidFill>
                  <a:srgbClr val="666666"/>
                </a:solidFill>
              </a:rPr>
              <a:t>  p. 513</a:t>
            </a:r>
            <a:endParaRPr lang="en-US" sz="1400" dirty="0"/>
          </a:p>
          <a:p>
            <a:pPr marL="228600" indent="-228600">
              <a:spcAft>
                <a:spcPts val="800"/>
              </a:spcAft>
              <a:buSzPct val="100000"/>
              <a:buChar char="•"/>
            </a:pPr>
            <a:r>
              <a:rPr lang="en-US" sz="1800" b="1" dirty="0">
                <a:solidFill>
                  <a:srgbClr val="1F1F1F"/>
                </a:solidFill>
              </a:rPr>
              <a:t>Baclofen:</a:t>
            </a:r>
            <a:r>
              <a:rPr lang="en-US" sz="1800" dirty="0">
                <a:solidFill>
                  <a:srgbClr val="1F1F1F"/>
                </a:solidFill>
              </a:rPr>
              <a:t> CNS depression — sedation and weakness, additive risk with other CNS depressants.</a:t>
            </a:r>
            <a:r>
              <a:rPr lang="en-US" sz="1300" dirty="0">
                <a:solidFill>
                  <a:srgbClr val="666666"/>
                </a:solidFill>
              </a:rPr>
              <a:t>  S27; S28</a:t>
            </a:r>
            <a:endParaRPr lang="en-US" sz="1400" dirty="0"/>
          </a:p>
          <a:p>
            <a:pPr marL="228600" indent="-228600">
              <a:spcAft>
                <a:spcPts val="800"/>
              </a:spcAft>
              <a:buSzPct val="100000"/>
              <a:buChar char="•"/>
            </a:pPr>
            <a:r>
              <a:rPr lang="en-US" sz="1800" b="1" dirty="0">
                <a:solidFill>
                  <a:srgbClr val="1F1F1F"/>
                </a:solidFill>
              </a:rPr>
              <a:t>Baclofen withdrawal:</a:t>
            </a:r>
            <a:r>
              <a:rPr lang="en-US" sz="1800" dirty="0">
                <a:solidFill>
                  <a:srgbClr val="1F1F1F"/>
                </a:solidFill>
              </a:rPr>
              <a:t> abrupt discontinuation (especially intrathecal) can cause a dangerous syndrome — </a:t>
            </a:r>
            <a:r>
              <a:rPr lang="en-US" sz="1800" b="1" dirty="0">
                <a:solidFill>
                  <a:srgbClr val="1F1F1F"/>
                </a:solidFill>
              </a:rPr>
              <a:t>seizures, hyperthermia, rebound spasticity</a:t>
            </a:r>
            <a:r>
              <a:rPr lang="en-US" sz="1800" dirty="0">
                <a:solidFill>
                  <a:srgbClr val="1F1F1F"/>
                </a:solidFill>
              </a:rPr>
              <a:t>.</a:t>
            </a:r>
            <a:r>
              <a:rPr lang="en-US" sz="1300" dirty="0">
                <a:solidFill>
                  <a:srgbClr val="666666"/>
                </a:solidFill>
              </a:rPr>
              <a:t>  S27; S28</a:t>
            </a:r>
            <a:endParaRPr lang="en-US" sz="1400" dirty="0"/>
          </a:p>
          <a:p>
            <a:pPr marL="228600" indent="-228600">
              <a:spcAft>
                <a:spcPts val="800"/>
              </a:spcAft>
              <a:buSzPct val="100000"/>
              <a:buChar char="•"/>
            </a:pPr>
            <a:r>
              <a:rPr lang="en-US" sz="1800" b="1" dirty="0">
                <a:solidFill>
                  <a:srgbClr val="1F1F1F"/>
                </a:solidFill>
              </a:rPr>
              <a:t>Tizanidine:</a:t>
            </a:r>
            <a:r>
              <a:rPr lang="en-US" sz="1800" dirty="0">
                <a:solidFill>
                  <a:srgbClr val="1F1F1F"/>
                </a:solidFill>
              </a:rPr>
              <a:t> sedation, hypotension and bradycardia, dry mouth, </a:t>
            </a:r>
            <a:r>
              <a:rPr lang="en-US" sz="1800" b="1" dirty="0">
                <a:solidFill>
                  <a:srgbClr val="1F1F1F"/>
                </a:solidFill>
              </a:rPr>
              <a:t>hepatotoxicity</a:t>
            </a:r>
            <a:r>
              <a:rPr lang="en-US" sz="1800" dirty="0">
                <a:solidFill>
                  <a:srgbClr val="1F1F1F"/>
                </a:solidFill>
              </a:rPr>
              <a:t>.</a:t>
            </a:r>
            <a:r>
              <a:rPr lang="en-US" sz="1300" dirty="0">
                <a:solidFill>
                  <a:srgbClr val="666666"/>
                </a:solidFill>
              </a:rPr>
              <a:t>  S29; S30</a:t>
            </a:r>
            <a:endParaRPr lang="en-US" sz="1400" dirty="0"/>
          </a:p>
          <a:p>
            <a:pPr marL="228600" indent="-228600">
              <a:spcAft>
                <a:spcPts val="800"/>
              </a:spcAft>
              <a:buSzPct val="100000"/>
              <a:buChar char="•"/>
            </a:pPr>
            <a:r>
              <a:rPr lang="en-US" sz="1800" b="1" dirty="0">
                <a:solidFill>
                  <a:srgbClr val="1F1F1F"/>
                </a:solidFill>
              </a:rPr>
              <a:t>Cyclobenzaprine:</a:t>
            </a:r>
            <a:r>
              <a:rPr lang="en-US" sz="1800" dirty="0">
                <a:solidFill>
                  <a:srgbClr val="1F1F1F"/>
                </a:solidFill>
              </a:rPr>
              <a:t> prominent sedation (commonly dosed at night); </a:t>
            </a:r>
            <a:r>
              <a:rPr lang="en-US" sz="1800" b="1" dirty="0">
                <a:solidFill>
                  <a:srgbClr val="1F1F1F"/>
                </a:solidFill>
              </a:rPr>
              <a:t>anticholinergic</a:t>
            </a:r>
            <a:r>
              <a:rPr lang="en-US" sz="1800" dirty="0">
                <a:solidFill>
                  <a:srgbClr val="1F1F1F"/>
                </a:solidFill>
              </a:rPr>
              <a:t> effects — dry mouth, blurred vision, urinary retention, confusion.</a:t>
            </a:r>
            <a:r>
              <a:rPr lang="en-US" sz="1300" dirty="0">
                <a:solidFill>
                  <a:srgbClr val="666666"/>
                </a:solidFill>
              </a:rPr>
              <a:t>  S31; S32</a:t>
            </a:r>
            <a:endParaRPr lang="en-US" sz="1400" dirty="0"/>
          </a:p>
          <a:p>
            <a:pPr marL="228600" indent="-228600">
              <a:spcAft>
                <a:spcPts val="800"/>
              </a:spcAft>
              <a:buSzPct val="100000"/>
              <a:buChar char="•"/>
            </a:pPr>
            <a:r>
              <a:rPr lang="en-US" sz="1800" b="1" dirty="0">
                <a:solidFill>
                  <a:srgbClr val="1F1F1F"/>
                </a:solidFill>
              </a:rPr>
              <a:t>Dantrolene:</a:t>
            </a:r>
            <a:r>
              <a:rPr lang="en-US" sz="1800" dirty="0">
                <a:solidFill>
                  <a:srgbClr val="1F1F1F"/>
                </a:solidFill>
              </a:rPr>
              <a:t> hepatotoxicity; generalized weakness.</a:t>
            </a:r>
            <a:r>
              <a:rPr lang="en-US" sz="1300" dirty="0">
                <a:solidFill>
                  <a:srgbClr val="666666"/>
                </a:solidFill>
              </a:rPr>
              <a:t>  S35</a:t>
            </a:r>
            <a:endParaRPr lang="en-US" sz="14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FFFFF"/>
        </a:solidFill>
      </p:bgPr>
    </p:bg>
    <p:spTree>
      <p:nvGrpSpPr>
        <p:cNvPr id="1" name=""/>
        <p:cNvGrpSpPr/>
        <p:nvPr/>
      </p:nvGrpSpPr>
      <p:grpSpPr>
        <a:xfrm>
          <a:off x="0" y="0"/>
          <a:ext cx="0" cy="0"/>
          <a:chOff x="0" y="0"/>
          <a:chExt cx="0" cy="0"/>
        </a:xfrm>
      </p:grpSpPr>
      <p:sp>
        <p:nvSpPr>
          <p:cNvPr id="2" name="Kicker"/>
          <p:cNvSpPr txBox="1"/>
          <p:nvPr/>
        </p:nvSpPr>
        <p:spPr>
          <a:xfrm>
            <a:off x="548640" y="292608"/>
            <a:ext cx="8076895" cy="274320"/>
          </a:xfrm>
          <a:prstGeom prst="rect">
            <a:avLst/>
          </a:prstGeom>
          <a:noFill/>
          <a:ln/>
        </p:spPr>
        <p:txBody>
          <a:bodyPr wrap="square" lIns="0" tIns="0" rIns="0" bIns="0" rtlCol="0" anchor="ctr"/>
          <a:lstStyle/>
          <a:p>
            <a:pPr indent="0" marL="0">
              <a:buNone/>
            </a:pPr>
            <a:r>
              <a:rPr lang="en-US" sz="1200" b="1" spc="100" kern="0" dirty="0">
                <a:solidFill>
                  <a:srgbClr val="4472C4"/>
                </a:solidFill>
              </a:rPr>
              <a:t>SKELETAL MUSCLE RELAXANTS</a:t>
            </a:r>
            <a:endParaRPr lang="en-US" sz="1200" dirty="0"/>
          </a:p>
        </p:txBody>
      </p:sp>
      <p:sp>
        <p:nvSpPr>
          <p:cNvPr id="3" name="Title"/>
          <p:cNvSpPr txBox="1"/>
          <p:nvPr/>
        </p:nvSpPr>
        <p:spPr>
          <a:xfrm>
            <a:off x="548640" y="566928"/>
            <a:ext cx="8076895" cy="713232"/>
          </a:xfrm>
          <a:prstGeom prst="rect">
            <a:avLst/>
          </a:prstGeom>
          <a:noFill/>
          <a:ln/>
        </p:spPr>
        <p:txBody>
          <a:bodyPr wrap="square" lIns="0" tIns="0" rIns="0" bIns="0" rtlCol="0" anchor="t"/>
          <a:lstStyle/>
          <a:p>
            <a:pPr indent="0" marL="0">
              <a:buNone/>
            </a:pPr>
            <a:r>
              <a:rPr lang="en-US" sz="3000" b="1" dirty="0">
                <a:solidFill>
                  <a:srgbClr val="1F1F1F"/>
                </a:solidFill>
                <a:latin typeface="Calibri" pitchFamily="34" charset="0"/>
                <a:ea typeface="Calibri" pitchFamily="34" charset="-122"/>
                <a:cs typeface="Calibri" pitchFamily="34" charset="-120"/>
              </a:rPr>
              <a:t>Adverse effects (boxed warnings first) (cont.)</a:t>
            </a:r>
            <a:endParaRPr lang="en-US" sz="3000" dirty="0"/>
          </a:p>
        </p:txBody>
      </p:sp>
      <p:sp>
        <p:nvSpPr>
          <p:cNvPr id="4" name="Objective chip"/>
          <p:cNvSpPr/>
          <p:nvPr/>
        </p:nvSpPr>
        <p:spPr>
          <a:xfrm>
            <a:off x="8899855" y="365760"/>
            <a:ext cx="2743200" cy="384048"/>
          </a:xfrm>
          <a:prstGeom prst="roundRect">
            <a:avLst>
              <a:gd name="adj" fmla="val 35714"/>
            </a:avLst>
          </a:prstGeom>
          <a:solidFill>
            <a:srgbClr val="E3EBF8"/>
          </a:solidFill>
          <a:ln/>
        </p:spPr>
        <p:txBody>
          <a:bodyPr wrap="square" lIns="25400" tIns="25400" rIns="25400" bIns="25400" rtlCol="0" anchor="ctr"/>
          <a:lstStyle/>
          <a:p>
            <a:pPr algn="ctr" indent="0" marL="0">
              <a:buNone/>
            </a:pPr>
            <a:r>
              <a:rPr lang="en-US" sz="800" b="1" dirty="0">
                <a:solidFill>
                  <a:srgbClr val="2F4F8A"/>
                </a:solidFill>
              </a:rPr>
              <a:t>Objectives: SO2 · SO4 · IO2.1 · IO2.2 · IO2.3 · IO2.5 · IO2.6</a:t>
            </a:r>
            <a:endParaRPr lang="en-US" sz="800" dirty="0"/>
          </a:p>
        </p:txBody>
      </p:sp>
      <p:sp>
        <p:nvSpPr>
          <p:cNvPr id="5" name="Footer"/>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1000" dirty="0">
                <a:solidFill>
                  <a:srgbClr val="666666"/>
                </a:solidFill>
              </a:rPr>
              <a:t>L04 · Musculoskeletal Pharmacology — Session 2</a:t>
            </a:r>
            <a:endParaRPr lang="en-US" sz="1000" dirty="0"/>
          </a:p>
        </p:txBody>
      </p:sp>
      <p:sp>
        <p:nvSpPr>
          <p:cNvPr id="6" name="Slide number"/>
          <p:cNvSpPr txBox="1"/>
          <p:nvPr/>
        </p:nvSpPr>
        <p:spPr>
          <a:xfrm>
            <a:off x="10728655" y="6419088"/>
            <a:ext cx="914400" cy="274320"/>
          </a:xfrm>
          <a:prstGeom prst="rect">
            <a:avLst/>
          </a:prstGeom>
          <a:noFill/>
          <a:ln/>
        </p:spPr>
        <p:txBody>
          <a:bodyPr wrap="square" lIns="0" tIns="0" rIns="0" bIns="0" rtlCol="0" anchor="ctr"/>
          <a:lstStyle/>
          <a:p>
            <a:pPr algn="r" indent="0" marL="0">
              <a:buNone/>
            </a:pPr>
            <a:r>
              <a:rPr lang="en-US" sz="1000" dirty="0">
                <a:solidFill>
                  <a:srgbClr val="666666"/>
                </a:solidFill>
              </a:rPr>
              <a:t>49</a:t>
            </a:r>
            <a:endParaRPr lang="en-US" sz="1000" dirty="0"/>
          </a:p>
        </p:txBody>
      </p:sp>
      <p:sp>
        <p:nvSpPr>
          <p:cNvPr id="7" name="Adverse effects (boxed warnings first) (2/2) card"/>
          <p:cNvSpPr/>
          <p:nvPr/>
        </p:nvSpPr>
        <p:spPr>
          <a:xfrm>
            <a:off x="548640" y="1325880"/>
            <a:ext cx="11094415" cy="3831336"/>
          </a:xfrm>
          <a:prstGeom prst="roundRect">
            <a:avLst>
              <a:gd name="adj" fmla="val 2864"/>
            </a:avLst>
          </a:prstGeom>
          <a:solidFill>
            <a:srgbClr val="F2F4F7"/>
          </a:solidFill>
          <a:ln w="12700">
            <a:solidFill>
              <a:srgbClr val="F2F4F7"/>
            </a:solidFill>
            <a:prstDash val="solid"/>
          </a:ln>
        </p:spPr>
      </p:sp>
      <p:sp>
        <p:nvSpPr>
          <p:cNvPr id="8" name="Adverse effects (boxed warnings first) (2/2) icon circle"/>
          <p:cNvSpPr/>
          <p:nvPr/>
        </p:nvSpPr>
        <p:spPr>
          <a:xfrm>
            <a:off x="777240" y="1508760"/>
            <a:ext cx="438912" cy="438912"/>
          </a:xfrm>
          <a:prstGeom prst="ellipse">
            <a:avLst/>
          </a:prstGeom>
          <a:solidFill>
            <a:srgbClr val="C55A11"/>
          </a:solidFill>
          <a:ln w="12700">
            <a:solidFill>
              <a:srgbClr val="C55A11"/>
            </a:solidFill>
            <a:prstDash val="solid"/>
          </a:ln>
        </p:spPr>
      </p:sp>
      <p:pic>
        <p:nvPicPr>
          <p:cNvPr id="9" name="Adverse effects (boxed warnings first) (2/2) icon" descr="preencoded.png">    </p:cNvPr>
          <p:cNvPicPr>
            <a:picLocks noChangeAspect="1"/>
          </p:cNvPicPr>
          <p:nvPr/>
        </p:nvPicPr>
        <p:blipFill>
          <a:blip r:embed="rId1"/>
          <a:stretch>
            <a:fillRect/>
          </a:stretch>
        </p:blipFill>
        <p:spPr>
          <a:xfrm>
            <a:off x="877824" y="1609344"/>
            <a:ext cx="237744" cy="237744"/>
          </a:xfrm>
          <a:prstGeom prst="rect">
            <a:avLst/>
          </a:prstGeom>
        </p:spPr>
      </p:pic>
      <p:sp>
        <p:nvSpPr>
          <p:cNvPr id="10" name="Adverse effects (boxed warnings first) (2/2) heading"/>
          <p:cNvSpPr txBox="1"/>
          <p:nvPr/>
        </p:nvSpPr>
        <p:spPr>
          <a:xfrm>
            <a:off x="1353312" y="1508760"/>
            <a:ext cx="10088575" cy="438912"/>
          </a:xfrm>
          <a:prstGeom prst="rect">
            <a:avLst/>
          </a:prstGeom>
          <a:noFill/>
          <a:ln/>
        </p:spPr>
        <p:txBody>
          <a:bodyPr wrap="square" lIns="0" tIns="0" rIns="0" bIns="0" rtlCol="0" anchor="ctr"/>
          <a:lstStyle/>
          <a:p>
            <a:pPr indent="0" marL="0">
              <a:buNone/>
            </a:pPr>
            <a:r>
              <a:rPr lang="en-US" sz="1800" b="1" dirty="0">
                <a:solidFill>
                  <a:srgbClr val="C55A11"/>
                </a:solidFill>
              </a:rPr>
              <a:t>Adverse effects (boxed warnings first) (2/2)</a:t>
            </a:r>
            <a:endParaRPr lang="en-US" sz="1800" dirty="0"/>
          </a:p>
        </p:txBody>
      </p:sp>
      <p:sp>
        <p:nvSpPr>
          <p:cNvPr id="11" name="Adverse effects (boxed warnings first) (2/2) body"/>
          <p:cNvSpPr txBox="1"/>
          <p:nvPr/>
        </p:nvSpPr>
        <p:spPr>
          <a:xfrm>
            <a:off x="777240" y="2075688"/>
            <a:ext cx="10637215" cy="2962656"/>
          </a:xfrm>
          <a:prstGeom prst="rect">
            <a:avLst/>
          </a:prstGeom>
          <a:noFill/>
          <a:ln/>
        </p:spPr>
        <p:txBody>
          <a:bodyPr wrap="square" lIns="0" tIns="0" rIns="0" bIns="0" rtlCol="0" anchor="t"/>
          <a:lstStyle/>
          <a:p>
            <a:pPr marL="228600" indent="-228600">
              <a:spcAft>
                <a:spcPts val="800"/>
              </a:spcAft>
              <a:buSzPct val="100000"/>
              <a:buChar char="•"/>
            </a:pPr>
            <a:r>
              <a:rPr lang="en-US" sz="1800" b="1" dirty="0">
                <a:solidFill>
                  <a:srgbClr val="1F1F1F"/>
                </a:solidFill>
              </a:rPr>
              <a:t>Carisoprodol — metabolized to meprobamate; Schedule IV controlled substance with dependence/misuse potential.</a:t>
            </a:r>
            <a:r>
              <a:rPr lang="en-US" sz="1300" dirty="0">
                <a:solidFill>
                  <a:srgbClr val="666666"/>
                </a:solidFill>
              </a:rPr>
              <a:t>  S33</a:t>
            </a:r>
            <a:endParaRPr lang="en-US" sz="1800" dirty="0"/>
          </a:p>
          <a:p>
            <a:pPr marL="228600" indent="-228600">
              <a:spcAft>
                <a:spcPts val="800"/>
              </a:spcAft>
              <a:buSzPct val="100000"/>
              <a:buChar char="•"/>
            </a:pPr>
            <a:r>
              <a:rPr lang="en-US" sz="1800" b="1" dirty="0">
                <a:solidFill>
                  <a:srgbClr val="1F1F1F"/>
                </a:solidFill>
              </a:rPr>
              <a:t>Chlorzoxazone:</a:t>
            </a:r>
            <a:r>
              <a:rPr lang="en-US" sz="1800" dirty="0">
                <a:solidFill>
                  <a:srgbClr val="1F1F1F"/>
                </a:solidFill>
              </a:rPr>
              <a:t> rare but notable hepatotoxicity risk. Methocarbamol is generally less sedating than cyclobenzaprine; metaxalone has a relatively favorable sedation profile.</a:t>
            </a:r>
            <a:r>
              <a:rPr lang="en-US" sz="1300" dirty="0">
                <a:solidFill>
                  <a:srgbClr val="666666"/>
                </a:solidFill>
              </a:rPr>
              <a:t>  S33</a:t>
            </a:r>
            <a:endParaRPr lang="en-US" sz="1800" dirty="0"/>
          </a:p>
          <a:p>
            <a:pPr marL="228600" indent="-228600">
              <a:spcAft>
                <a:spcPts val="800"/>
              </a:spcAft>
              <a:buSzPct val="100000"/>
              <a:buChar char="•"/>
            </a:pPr>
            <a:r>
              <a:rPr lang="en-US" sz="1400" b="1" dirty="0">
                <a:solidFill>
                  <a:srgbClr val="000000"/>
                </a:solidFill>
                <a:highlight>
                  <a:srgbClr val="FFC000"/>
                </a:highlight>
              </a:rPr>
              <a:t> TB </a:t>
            </a:r>
            <a:r>
              <a:rPr lang="en-US" sz="1800" dirty="0">
                <a:solidFill>
                  <a:srgbClr val="000000"/>
                </a:solidFill>
              </a:rPr>
              <a:t> </a:t>
            </a:r>
            <a:r>
              <a:rPr lang="en-US" sz="1800" dirty="0">
                <a:solidFill>
                  <a:srgbClr val="1F1F1F"/>
                </a:solidFill>
              </a:rPr>
              <a:t>Tizanidine causes hypotension in 16–33%; abrupt withdrawal causes rebound hypertension and tachycardia.</a:t>
            </a:r>
            <a:r>
              <a:rPr lang="en-US" sz="1300" dirty="0">
                <a:solidFill>
                  <a:srgbClr val="666666"/>
                </a:solidFill>
              </a:rPr>
              <a:t>  p. 512</a:t>
            </a:r>
            <a:endParaRPr lang="en-US" sz="1800" dirty="0"/>
          </a:p>
          <a:p>
            <a:pPr marL="228600" indent="-228600">
              <a:spcAft>
                <a:spcPts val="800"/>
              </a:spcAft>
              <a:buSzPct val="100000"/>
              <a:buChar char="•"/>
            </a:pPr>
            <a:r>
              <a:rPr lang="en-US" sz="1400" b="1" dirty="0">
                <a:solidFill>
                  <a:srgbClr val="000000"/>
                </a:solidFill>
                <a:highlight>
                  <a:srgbClr val="FFC000"/>
                </a:highlight>
              </a:rPr>
              <a:t> TB </a:t>
            </a:r>
            <a:r>
              <a:rPr lang="en-US" sz="1800" dirty="0">
                <a:solidFill>
                  <a:srgbClr val="000000"/>
                </a:solidFill>
              </a:rPr>
              <a:t> </a:t>
            </a:r>
            <a:r>
              <a:rPr lang="en-US" sz="1800" dirty="0">
                <a:solidFill>
                  <a:srgbClr val="1F1F1F"/>
                </a:solidFill>
              </a:rPr>
              <a:t>High-dose baclofen: somnolence, respiratory depression, coma; more seizures in epilepsy.</a:t>
            </a:r>
            <a:r>
              <a:rPr lang="en-US" sz="1300" dirty="0">
                <a:solidFill>
                  <a:srgbClr val="666666"/>
                </a:solidFill>
              </a:rPr>
              <a:t>  p. 512</a:t>
            </a:r>
            <a:endParaRPr lang="en-US" sz="1800" dirty="0"/>
          </a:p>
          <a:p>
            <a:pPr marL="228600" indent="-228600">
              <a:spcAft>
                <a:spcPts val="800"/>
              </a:spcAft>
              <a:buSzPct val="100000"/>
              <a:buChar char="•"/>
            </a:pPr>
            <a:r>
              <a:rPr lang="en-US" sz="1400" b="1" dirty="0">
                <a:solidFill>
                  <a:srgbClr val="000000"/>
                </a:solidFill>
                <a:highlight>
                  <a:srgbClr val="FFC000"/>
                </a:highlight>
              </a:rPr>
              <a:t> TB </a:t>
            </a:r>
            <a:r>
              <a:rPr lang="en-US" sz="1800" dirty="0">
                <a:solidFill>
                  <a:srgbClr val="000000"/>
                </a:solidFill>
              </a:rPr>
              <a:t> </a:t>
            </a:r>
            <a:r>
              <a:rPr lang="en-US" sz="1800" dirty="0">
                <a:solidFill>
                  <a:srgbClr val="1F1F1F"/>
                </a:solidFill>
              </a:rPr>
              <a:t>Carisoprodol withdrawal after long use: anxiety, tremor, twitching, insomnia, hallucinations.</a:t>
            </a:r>
            <a:r>
              <a:rPr lang="en-US" sz="1300" dirty="0">
                <a:solidFill>
                  <a:srgbClr val="666666"/>
                </a:solidFill>
              </a:rPr>
              <a:t>  p. 511</a:t>
            </a:r>
            <a:endParaRPr lang="en-US" sz="18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FFFFF"/>
        </a:solidFill>
      </p:bgPr>
    </p:bg>
    <p:spTree>
      <p:nvGrpSpPr>
        <p:cNvPr id="1" name=""/>
        <p:cNvGrpSpPr/>
        <p:nvPr/>
      </p:nvGrpSpPr>
      <p:grpSpPr>
        <a:xfrm>
          <a:off x="0" y="0"/>
          <a:ext cx="0" cy="0"/>
          <a:chOff x="0" y="0"/>
          <a:chExt cx="0" cy="0"/>
        </a:xfrm>
      </p:grpSpPr>
      <p:sp>
        <p:nvSpPr>
          <p:cNvPr id="2" name="Kicker"/>
          <p:cNvSpPr txBox="1"/>
          <p:nvPr/>
        </p:nvSpPr>
        <p:spPr>
          <a:xfrm>
            <a:off x="548640" y="292608"/>
            <a:ext cx="8076895" cy="274320"/>
          </a:xfrm>
          <a:prstGeom prst="rect">
            <a:avLst/>
          </a:prstGeom>
          <a:noFill/>
          <a:ln/>
        </p:spPr>
        <p:txBody>
          <a:bodyPr wrap="square" lIns="0" tIns="0" rIns="0" bIns="0" rtlCol="0" anchor="ctr"/>
          <a:lstStyle/>
          <a:p>
            <a:pPr indent="0" marL="0">
              <a:buNone/>
            </a:pPr>
            <a:r>
              <a:rPr lang="en-US" sz="1200" b="1" spc="100" kern="0" dirty="0">
                <a:solidFill>
                  <a:srgbClr val="4472C4"/>
                </a:solidFill>
              </a:rPr>
              <a:t>SKELETAL MUSCLE RELAXANTS</a:t>
            </a:r>
            <a:endParaRPr lang="en-US" sz="1200" dirty="0"/>
          </a:p>
        </p:txBody>
      </p:sp>
      <p:sp>
        <p:nvSpPr>
          <p:cNvPr id="3" name="Title"/>
          <p:cNvSpPr txBox="1"/>
          <p:nvPr/>
        </p:nvSpPr>
        <p:spPr>
          <a:xfrm>
            <a:off x="548640" y="566928"/>
            <a:ext cx="8076895" cy="713232"/>
          </a:xfrm>
          <a:prstGeom prst="rect">
            <a:avLst/>
          </a:prstGeom>
          <a:noFill/>
          <a:ln/>
        </p:spPr>
        <p:txBody>
          <a:bodyPr wrap="square" lIns="0" tIns="0" rIns="0" bIns="0" rtlCol="0" anchor="t"/>
          <a:lstStyle/>
          <a:p>
            <a:pPr indent="0" marL="0">
              <a:buNone/>
            </a:pPr>
            <a:r>
              <a:rPr lang="en-US" sz="3000" b="1" dirty="0">
                <a:solidFill>
                  <a:srgbClr val="1F1F1F"/>
                </a:solidFill>
                <a:latin typeface="Calibri" pitchFamily="34" charset="0"/>
                <a:ea typeface="Calibri" pitchFamily="34" charset="-122"/>
                <a:cs typeface="Calibri" pitchFamily="34" charset="-120"/>
              </a:rPr>
              <a:t>Contraindications · Drug interactions</a:t>
            </a:r>
            <a:endParaRPr lang="en-US" sz="3000" dirty="0"/>
          </a:p>
        </p:txBody>
      </p:sp>
      <p:sp>
        <p:nvSpPr>
          <p:cNvPr id="4" name="Objective chip"/>
          <p:cNvSpPr/>
          <p:nvPr/>
        </p:nvSpPr>
        <p:spPr>
          <a:xfrm>
            <a:off x="8899855" y="365760"/>
            <a:ext cx="2743200" cy="384048"/>
          </a:xfrm>
          <a:prstGeom prst="roundRect">
            <a:avLst>
              <a:gd name="adj" fmla="val 35714"/>
            </a:avLst>
          </a:prstGeom>
          <a:solidFill>
            <a:srgbClr val="E3EBF8"/>
          </a:solidFill>
          <a:ln/>
        </p:spPr>
        <p:txBody>
          <a:bodyPr wrap="square" lIns="25400" tIns="25400" rIns="25400" bIns="25400" rtlCol="0" anchor="ctr"/>
          <a:lstStyle/>
          <a:p>
            <a:pPr algn="ctr" indent="0" marL="0">
              <a:buNone/>
            </a:pPr>
            <a:r>
              <a:rPr lang="en-US" sz="800" b="1" dirty="0">
                <a:solidFill>
                  <a:srgbClr val="2F4F8A"/>
                </a:solidFill>
              </a:rPr>
              <a:t>Objectives: SO2 · SO4 · IO2.1 · IO2.2 · IO2.3 · IO2.5 · IO2.6</a:t>
            </a:r>
            <a:endParaRPr lang="en-US" sz="800" dirty="0"/>
          </a:p>
        </p:txBody>
      </p:sp>
      <p:sp>
        <p:nvSpPr>
          <p:cNvPr id="5" name="Footer"/>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1000" dirty="0">
                <a:solidFill>
                  <a:srgbClr val="666666"/>
                </a:solidFill>
              </a:rPr>
              <a:t>L04 · Musculoskeletal Pharmacology — Session 2</a:t>
            </a:r>
            <a:endParaRPr lang="en-US" sz="1000" dirty="0"/>
          </a:p>
        </p:txBody>
      </p:sp>
      <p:sp>
        <p:nvSpPr>
          <p:cNvPr id="6" name="Slide number"/>
          <p:cNvSpPr txBox="1"/>
          <p:nvPr/>
        </p:nvSpPr>
        <p:spPr>
          <a:xfrm>
            <a:off x="10728655" y="6419088"/>
            <a:ext cx="914400" cy="274320"/>
          </a:xfrm>
          <a:prstGeom prst="rect">
            <a:avLst/>
          </a:prstGeom>
          <a:noFill/>
          <a:ln/>
        </p:spPr>
        <p:txBody>
          <a:bodyPr wrap="square" lIns="0" tIns="0" rIns="0" bIns="0" rtlCol="0" anchor="ctr"/>
          <a:lstStyle/>
          <a:p>
            <a:pPr algn="r" indent="0" marL="0">
              <a:buNone/>
            </a:pPr>
            <a:r>
              <a:rPr lang="en-US" sz="1000" dirty="0">
                <a:solidFill>
                  <a:srgbClr val="666666"/>
                </a:solidFill>
              </a:rPr>
              <a:t>50</a:t>
            </a:r>
            <a:endParaRPr lang="en-US" sz="1000" dirty="0"/>
          </a:p>
        </p:txBody>
      </p:sp>
      <p:sp>
        <p:nvSpPr>
          <p:cNvPr id="7" name="Contraindications card"/>
          <p:cNvSpPr/>
          <p:nvPr/>
        </p:nvSpPr>
        <p:spPr>
          <a:xfrm>
            <a:off x="548640" y="1325880"/>
            <a:ext cx="5410048" cy="3611880"/>
          </a:xfrm>
          <a:prstGeom prst="roundRect">
            <a:avLst>
              <a:gd name="adj" fmla="val 3038"/>
            </a:avLst>
          </a:prstGeom>
          <a:solidFill>
            <a:srgbClr val="F2F4F7"/>
          </a:solidFill>
          <a:ln w="12700">
            <a:solidFill>
              <a:srgbClr val="F2F4F7"/>
            </a:solidFill>
            <a:prstDash val="solid"/>
          </a:ln>
        </p:spPr>
      </p:sp>
      <p:sp>
        <p:nvSpPr>
          <p:cNvPr id="8" name="Contraindications icon circle"/>
          <p:cNvSpPr/>
          <p:nvPr/>
        </p:nvSpPr>
        <p:spPr>
          <a:xfrm>
            <a:off x="777240" y="1508760"/>
            <a:ext cx="438912" cy="438912"/>
          </a:xfrm>
          <a:prstGeom prst="ellipse">
            <a:avLst/>
          </a:prstGeom>
          <a:solidFill>
            <a:srgbClr val="C00000"/>
          </a:solidFill>
          <a:ln w="12700">
            <a:solidFill>
              <a:srgbClr val="C00000"/>
            </a:solidFill>
            <a:prstDash val="solid"/>
          </a:ln>
        </p:spPr>
      </p:sp>
      <p:pic>
        <p:nvPicPr>
          <p:cNvPr id="9" name="Contraindications icon" descr="preencoded.png">    </p:cNvPr>
          <p:cNvPicPr>
            <a:picLocks noChangeAspect="1"/>
          </p:cNvPicPr>
          <p:nvPr/>
        </p:nvPicPr>
        <p:blipFill>
          <a:blip r:embed="rId1"/>
          <a:stretch>
            <a:fillRect/>
          </a:stretch>
        </p:blipFill>
        <p:spPr>
          <a:xfrm>
            <a:off x="877824" y="1609344"/>
            <a:ext cx="237744" cy="237744"/>
          </a:xfrm>
          <a:prstGeom prst="rect">
            <a:avLst/>
          </a:prstGeom>
        </p:spPr>
      </p:pic>
      <p:sp>
        <p:nvSpPr>
          <p:cNvPr id="10" name="Contraindications heading"/>
          <p:cNvSpPr txBox="1"/>
          <p:nvPr/>
        </p:nvSpPr>
        <p:spPr>
          <a:xfrm>
            <a:off x="1353312" y="1508760"/>
            <a:ext cx="4404208" cy="438912"/>
          </a:xfrm>
          <a:prstGeom prst="rect">
            <a:avLst/>
          </a:prstGeom>
          <a:noFill/>
          <a:ln/>
        </p:spPr>
        <p:txBody>
          <a:bodyPr wrap="square" lIns="0" tIns="0" rIns="0" bIns="0" rtlCol="0" anchor="ctr"/>
          <a:lstStyle/>
          <a:p>
            <a:pPr indent="0" marL="0">
              <a:buNone/>
            </a:pPr>
            <a:r>
              <a:rPr lang="en-US" sz="1800" b="1" dirty="0">
                <a:solidFill>
                  <a:srgbClr val="C00000"/>
                </a:solidFill>
              </a:rPr>
              <a:t>Contraindications</a:t>
            </a:r>
            <a:endParaRPr lang="en-US" sz="1800" dirty="0"/>
          </a:p>
        </p:txBody>
      </p:sp>
      <p:sp>
        <p:nvSpPr>
          <p:cNvPr id="11" name="Contraindications body"/>
          <p:cNvSpPr txBox="1"/>
          <p:nvPr/>
        </p:nvSpPr>
        <p:spPr>
          <a:xfrm>
            <a:off x="777240" y="2075688"/>
            <a:ext cx="4952848" cy="2743200"/>
          </a:xfrm>
          <a:prstGeom prst="rect">
            <a:avLst/>
          </a:prstGeom>
          <a:noFill/>
          <a:ln/>
        </p:spPr>
        <p:txBody>
          <a:bodyPr wrap="square" lIns="0" tIns="0" rIns="0" bIns="0" rtlCol="0" anchor="t"/>
          <a:lstStyle/>
          <a:p>
            <a:pPr marL="228600" indent="-228600">
              <a:spcAft>
                <a:spcPts val="800"/>
              </a:spcAft>
              <a:buSzPct val="100000"/>
              <a:buChar char="•"/>
            </a:pPr>
            <a:r>
              <a:rPr lang="en-US" sz="1800" dirty="0">
                <a:solidFill>
                  <a:srgbClr val="1F1F1F"/>
                </a:solidFill>
              </a:rPr>
              <a:t>Cyclobenzaprine: use caution in older adults (</a:t>
            </a:r>
            <a:r>
              <a:rPr lang="en-US" sz="1800" b="1" dirty="0">
                <a:solidFill>
                  <a:srgbClr val="1F1F1F"/>
                </a:solidFill>
              </a:rPr>
              <a:t>Beers list</a:t>
            </a:r>
            <a:r>
              <a:rPr lang="en-US" sz="1800" dirty="0">
                <a:solidFill>
                  <a:srgbClr val="1F1F1F"/>
                </a:solidFill>
              </a:rPr>
              <a:t>); MAOIs contraindicated.</a:t>
            </a:r>
            <a:r>
              <a:rPr lang="en-US" sz="1300" dirty="0">
                <a:solidFill>
                  <a:srgbClr val="666666"/>
                </a:solidFill>
              </a:rPr>
              <a:t>  S31; S32</a:t>
            </a:r>
            <a:endParaRPr lang="en-US" sz="1800" dirty="0"/>
          </a:p>
          <a:p>
            <a:pPr marL="228600" indent="-228600">
              <a:spcAft>
                <a:spcPts val="800"/>
              </a:spcAft>
              <a:buSzPct val="100000"/>
              <a:buChar char="•"/>
            </a:pPr>
            <a:r>
              <a:rPr lang="en-US" sz="1800" dirty="0">
                <a:solidFill>
                  <a:srgbClr val="1F1F1F"/>
                </a:solidFill>
              </a:rPr>
              <a:t>Tizanidine with ciprofloxacin or fluvoxamine is contraindicated (CYP1A2).</a:t>
            </a:r>
            <a:r>
              <a:rPr lang="en-US" sz="1300" dirty="0">
                <a:solidFill>
                  <a:srgbClr val="666666"/>
                </a:solidFill>
              </a:rPr>
              <a:t>  S30</a:t>
            </a:r>
            <a:endParaRPr lang="en-US" sz="1800" dirty="0"/>
          </a:p>
        </p:txBody>
      </p:sp>
      <p:sp>
        <p:nvSpPr>
          <p:cNvPr id="12" name="Drug interactions card"/>
          <p:cNvSpPr/>
          <p:nvPr/>
        </p:nvSpPr>
        <p:spPr>
          <a:xfrm>
            <a:off x="6233008" y="1325880"/>
            <a:ext cx="5410048" cy="3611880"/>
          </a:xfrm>
          <a:prstGeom prst="roundRect">
            <a:avLst>
              <a:gd name="adj" fmla="val 3038"/>
            </a:avLst>
          </a:prstGeom>
          <a:solidFill>
            <a:srgbClr val="F2F4F7"/>
          </a:solidFill>
          <a:ln w="12700">
            <a:solidFill>
              <a:srgbClr val="F2F4F7"/>
            </a:solidFill>
            <a:prstDash val="solid"/>
          </a:ln>
        </p:spPr>
      </p:sp>
      <p:sp>
        <p:nvSpPr>
          <p:cNvPr id="13" name="Drug interactions icon circle"/>
          <p:cNvSpPr/>
          <p:nvPr/>
        </p:nvSpPr>
        <p:spPr>
          <a:xfrm>
            <a:off x="6461608" y="1508760"/>
            <a:ext cx="438912" cy="438912"/>
          </a:xfrm>
          <a:prstGeom prst="ellipse">
            <a:avLst/>
          </a:prstGeom>
          <a:solidFill>
            <a:srgbClr val="7F6000"/>
          </a:solidFill>
          <a:ln w="12700">
            <a:solidFill>
              <a:srgbClr val="7F6000"/>
            </a:solidFill>
            <a:prstDash val="solid"/>
          </a:ln>
        </p:spPr>
      </p:sp>
      <p:pic>
        <p:nvPicPr>
          <p:cNvPr id="14" name="Drug interactions icon" descr="preencoded.png">    </p:cNvPr>
          <p:cNvPicPr>
            <a:picLocks noChangeAspect="1"/>
          </p:cNvPicPr>
          <p:nvPr/>
        </p:nvPicPr>
        <p:blipFill>
          <a:blip r:embed="rId2"/>
          <a:stretch>
            <a:fillRect/>
          </a:stretch>
        </p:blipFill>
        <p:spPr>
          <a:xfrm>
            <a:off x="6562192" y="1609344"/>
            <a:ext cx="237744" cy="237744"/>
          </a:xfrm>
          <a:prstGeom prst="rect">
            <a:avLst/>
          </a:prstGeom>
        </p:spPr>
      </p:pic>
      <p:sp>
        <p:nvSpPr>
          <p:cNvPr id="15" name="Drug interactions heading"/>
          <p:cNvSpPr txBox="1"/>
          <p:nvPr/>
        </p:nvSpPr>
        <p:spPr>
          <a:xfrm>
            <a:off x="7037680" y="1508760"/>
            <a:ext cx="4404208" cy="438912"/>
          </a:xfrm>
          <a:prstGeom prst="rect">
            <a:avLst/>
          </a:prstGeom>
          <a:noFill/>
          <a:ln/>
        </p:spPr>
        <p:txBody>
          <a:bodyPr wrap="square" lIns="0" tIns="0" rIns="0" bIns="0" rtlCol="0" anchor="ctr"/>
          <a:lstStyle/>
          <a:p>
            <a:pPr indent="0" marL="0">
              <a:buNone/>
            </a:pPr>
            <a:r>
              <a:rPr lang="en-US" sz="1800" b="1" dirty="0">
                <a:solidFill>
                  <a:srgbClr val="7F6000"/>
                </a:solidFill>
              </a:rPr>
              <a:t>Drug interactions</a:t>
            </a:r>
            <a:endParaRPr lang="en-US" sz="1800" dirty="0"/>
          </a:p>
        </p:txBody>
      </p:sp>
      <p:sp>
        <p:nvSpPr>
          <p:cNvPr id="16" name="Drug interactions body"/>
          <p:cNvSpPr txBox="1"/>
          <p:nvPr/>
        </p:nvSpPr>
        <p:spPr>
          <a:xfrm>
            <a:off x="6461608" y="2075688"/>
            <a:ext cx="4952848" cy="2743200"/>
          </a:xfrm>
          <a:prstGeom prst="rect">
            <a:avLst/>
          </a:prstGeom>
          <a:noFill/>
          <a:ln/>
        </p:spPr>
        <p:txBody>
          <a:bodyPr wrap="square" lIns="0" tIns="0" rIns="0" bIns="0" rtlCol="0" anchor="t"/>
          <a:lstStyle/>
          <a:p>
            <a:pPr marL="228600" indent="-228600">
              <a:spcAft>
                <a:spcPts val="800"/>
              </a:spcAft>
              <a:buSzPct val="100000"/>
              <a:buChar char="•"/>
            </a:pPr>
            <a:r>
              <a:rPr lang="en-US" sz="1800" b="1" dirty="0">
                <a:solidFill>
                  <a:srgbClr val="1F1F1F"/>
                </a:solidFill>
              </a:rPr>
              <a:t>Tizanidine + CYP1A2 inhibitors</a:t>
            </a:r>
            <a:r>
              <a:rPr lang="en-US" sz="1800" dirty="0">
                <a:solidFill>
                  <a:srgbClr val="1F1F1F"/>
                </a:solidFill>
              </a:rPr>
              <a:t> (ciprofloxacin, fluvoxamine) → strongly raised levels; additive effect with antihypertensives.</a:t>
            </a:r>
            <a:r>
              <a:rPr lang="en-US" sz="1300" dirty="0">
                <a:solidFill>
                  <a:srgbClr val="666666"/>
                </a:solidFill>
              </a:rPr>
              <a:t>  S30</a:t>
            </a:r>
            <a:endParaRPr lang="en-US" sz="1800" dirty="0"/>
          </a:p>
          <a:p>
            <a:pPr marL="228600" indent="-228600">
              <a:spcAft>
                <a:spcPts val="800"/>
              </a:spcAft>
              <a:buSzPct val="100000"/>
              <a:buChar char="•"/>
            </a:pPr>
            <a:r>
              <a:rPr lang="en-US" sz="1800" b="1" dirty="0">
                <a:solidFill>
                  <a:srgbClr val="1F1F1F"/>
                </a:solidFill>
              </a:rPr>
              <a:t>Cyclobenzaprine:</a:t>
            </a:r>
            <a:r>
              <a:rPr lang="en-US" sz="1800" dirty="0">
                <a:solidFill>
                  <a:srgbClr val="1F1F1F"/>
                </a:solidFill>
              </a:rPr>
              <a:t> serotonin syndrome risk with SSRIs, SNRIs, tramadol; MAOIs contraindicated.</a:t>
            </a:r>
            <a:r>
              <a:rPr lang="en-US" sz="1300" dirty="0">
                <a:solidFill>
                  <a:srgbClr val="666666"/>
                </a:solidFill>
              </a:rPr>
              <a:t>  S32</a:t>
            </a:r>
            <a:endParaRPr lang="en-US" sz="1800" dirty="0"/>
          </a:p>
          <a:p>
            <a:pPr marL="228600" indent="-228600">
              <a:spcAft>
                <a:spcPts val="800"/>
              </a:spcAft>
              <a:buSzPct val="100000"/>
              <a:buChar char="•"/>
            </a:pPr>
            <a:r>
              <a:rPr lang="en-US" sz="1800" b="1" dirty="0">
                <a:solidFill>
                  <a:srgbClr val="1F1F1F"/>
                </a:solidFill>
              </a:rPr>
              <a:t>Baclofen:</a:t>
            </a:r>
            <a:r>
              <a:rPr lang="en-US" sz="1800" dirty="0">
                <a:solidFill>
                  <a:srgbClr val="1F1F1F"/>
                </a:solidFill>
              </a:rPr>
              <a:t> additive sedation with other CNS depressants.</a:t>
            </a:r>
            <a:r>
              <a:rPr lang="en-US" sz="1300" dirty="0">
                <a:solidFill>
                  <a:srgbClr val="666666"/>
                </a:solidFill>
              </a:rPr>
              <a:t>  S27</a:t>
            </a:r>
            <a:endParaRPr lang="en-US" sz="18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FFFFF"/>
        </a:solidFill>
      </p:bgPr>
    </p:bg>
    <p:spTree>
      <p:nvGrpSpPr>
        <p:cNvPr id="1" name=""/>
        <p:cNvGrpSpPr/>
        <p:nvPr/>
      </p:nvGrpSpPr>
      <p:grpSpPr>
        <a:xfrm>
          <a:off x="0" y="0"/>
          <a:ext cx="0" cy="0"/>
          <a:chOff x="0" y="0"/>
          <a:chExt cx="0" cy="0"/>
        </a:xfrm>
      </p:grpSpPr>
      <p:sp>
        <p:nvSpPr>
          <p:cNvPr id="2" name="Kicker"/>
          <p:cNvSpPr txBox="1"/>
          <p:nvPr/>
        </p:nvSpPr>
        <p:spPr>
          <a:xfrm>
            <a:off x="548640" y="292608"/>
            <a:ext cx="8076895" cy="274320"/>
          </a:xfrm>
          <a:prstGeom prst="rect">
            <a:avLst/>
          </a:prstGeom>
          <a:noFill/>
          <a:ln/>
        </p:spPr>
        <p:txBody>
          <a:bodyPr wrap="square" lIns="0" tIns="0" rIns="0" bIns="0" rtlCol="0" anchor="ctr"/>
          <a:lstStyle/>
          <a:p>
            <a:pPr indent="0" marL="0">
              <a:buNone/>
            </a:pPr>
            <a:r>
              <a:rPr lang="en-US" sz="1200" b="1" spc="100" kern="0" dirty="0">
                <a:solidFill>
                  <a:srgbClr val="4472C4"/>
                </a:solidFill>
              </a:rPr>
              <a:t>SKELETAL MUSCLE RELAXANTS</a:t>
            </a:r>
            <a:endParaRPr lang="en-US" sz="1200" dirty="0"/>
          </a:p>
        </p:txBody>
      </p:sp>
      <p:sp>
        <p:nvSpPr>
          <p:cNvPr id="3" name="Title"/>
          <p:cNvSpPr txBox="1"/>
          <p:nvPr/>
        </p:nvSpPr>
        <p:spPr>
          <a:xfrm>
            <a:off x="548640" y="566928"/>
            <a:ext cx="8076895" cy="713232"/>
          </a:xfrm>
          <a:prstGeom prst="rect">
            <a:avLst/>
          </a:prstGeom>
          <a:noFill/>
          <a:ln/>
        </p:spPr>
        <p:txBody>
          <a:bodyPr wrap="square" lIns="0" tIns="0" rIns="0" bIns="0" rtlCol="0" anchor="t"/>
          <a:lstStyle/>
          <a:p>
            <a:pPr indent="0" marL="0">
              <a:buNone/>
            </a:pPr>
            <a:r>
              <a:rPr lang="en-US" sz="3000" b="1" dirty="0">
                <a:solidFill>
                  <a:srgbClr val="1F1F1F"/>
                </a:solidFill>
                <a:latin typeface="Calibri" pitchFamily="34" charset="0"/>
                <a:ea typeface="Calibri" pitchFamily="34" charset="-122"/>
                <a:cs typeface="Calibri" pitchFamily="34" charset="-120"/>
              </a:rPr>
              <a:t>Pharmacokinetics · Monitoring</a:t>
            </a:r>
            <a:endParaRPr lang="en-US" sz="3000" dirty="0"/>
          </a:p>
        </p:txBody>
      </p:sp>
      <p:sp>
        <p:nvSpPr>
          <p:cNvPr id="4" name="Objective chip"/>
          <p:cNvSpPr/>
          <p:nvPr/>
        </p:nvSpPr>
        <p:spPr>
          <a:xfrm>
            <a:off x="8899855" y="365760"/>
            <a:ext cx="2743200" cy="384048"/>
          </a:xfrm>
          <a:prstGeom prst="roundRect">
            <a:avLst>
              <a:gd name="adj" fmla="val 35714"/>
            </a:avLst>
          </a:prstGeom>
          <a:solidFill>
            <a:srgbClr val="E3EBF8"/>
          </a:solidFill>
          <a:ln/>
        </p:spPr>
        <p:txBody>
          <a:bodyPr wrap="square" lIns="25400" tIns="25400" rIns="25400" bIns="25400" rtlCol="0" anchor="ctr"/>
          <a:lstStyle/>
          <a:p>
            <a:pPr algn="ctr" indent="0" marL="0">
              <a:buNone/>
            </a:pPr>
            <a:r>
              <a:rPr lang="en-US" sz="800" b="1" dirty="0">
                <a:solidFill>
                  <a:srgbClr val="2F4F8A"/>
                </a:solidFill>
              </a:rPr>
              <a:t>Objectives: SO2 · SO4 · IO2.1 · IO2.2 · IO2.3 · IO2.5 · IO2.6</a:t>
            </a:r>
            <a:endParaRPr lang="en-US" sz="800" dirty="0"/>
          </a:p>
        </p:txBody>
      </p:sp>
      <p:sp>
        <p:nvSpPr>
          <p:cNvPr id="5" name="Footer"/>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1000" dirty="0">
                <a:solidFill>
                  <a:srgbClr val="666666"/>
                </a:solidFill>
              </a:rPr>
              <a:t>L04 · Musculoskeletal Pharmacology — Session 2</a:t>
            </a:r>
            <a:endParaRPr lang="en-US" sz="1000" dirty="0"/>
          </a:p>
        </p:txBody>
      </p:sp>
      <p:sp>
        <p:nvSpPr>
          <p:cNvPr id="6" name="Slide number"/>
          <p:cNvSpPr txBox="1"/>
          <p:nvPr/>
        </p:nvSpPr>
        <p:spPr>
          <a:xfrm>
            <a:off x="10728655" y="6419088"/>
            <a:ext cx="914400" cy="274320"/>
          </a:xfrm>
          <a:prstGeom prst="rect">
            <a:avLst/>
          </a:prstGeom>
          <a:noFill/>
          <a:ln/>
        </p:spPr>
        <p:txBody>
          <a:bodyPr wrap="square" lIns="0" tIns="0" rIns="0" bIns="0" rtlCol="0" anchor="ctr"/>
          <a:lstStyle/>
          <a:p>
            <a:pPr algn="r" indent="0" marL="0">
              <a:buNone/>
            </a:pPr>
            <a:r>
              <a:rPr lang="en-US" sz="1000" dirty="0">
                <a:solidFill>
                  <a:srgbClr val="666666"/>
                </a:solidFill>
              </a:rPr>
              <a:t>51</a:t>
            </a:r>
            <a:endParaRPr lang="en-US" sz="1000" dirty="0"/>
          </a:p>
        </p:txBody>
      </p:sp>
      <p:sp>
        <p:nvSpPr>
          <p:cNvPr id="7" name="Pharmacokinetics card"/>
          <p:cNvSpPr/>
          <p:nvPr/>
        </p:nvSpPr>
        <p:spPr>
          <a:xfrm>
            <a:off x="548640" y="1325880"/>
            <a:ext cx="5410048" cy="3054096"/>
          </a:xfrm>
          <a:prstGeom prst="roundRect">
            <a:avLst>
              <a:gd name="adj" fmla="val 3593"/>
            </a:avLst>
          </a:prstGeom>
          <a:solidFill>
            <a:srgbClr val="F2F4F7"/>
          </a:solidFill>
          <a:ln w="12700">
            <a:solidFill>
              <a:srgbClr val="F2F4F7"/>
            </a:solidFill>
            <a:prstDash val="solid"/>
          </a:ln>
        </p:spPr>
      </p:sp>
      <p:sp>
        <p:nvSpPr>
          <p:cNvPr id="8" name="Pharmacokinetics icon circle"/>
          <p:cNvSpPr/>
          <p:nvPr/>
        </p:nvSpPr>
        <p:spPr>
          <a:xfrm>
            <a:off x="777240" y="1508760"/>
            <a:ext cx="438912" cy="438912"/>
          </a:xfrm>
          <a:prstGeom prst="ellipse">
            <a:avLst/>
          </a:prstGeom>
          <a:solidFill>
            <a:srgbClr val="2E75B6"/>
          </a:solidFill>
          <a:ln w="12700">
            <a:solidFill>
              <a:srgbClr val="2E75B6"/>
            </a:solidFill>
            <a:prstDash val="solid"/>
          </a:ln>
        </p:spPr>
      </p:sp>
      <p:pic>
        <p:nvPicPr>
          <p:cNvPr id="9" name="Pharmacokinetics icon" descr="preencoded.png">    </p:cNvPr>
          <p:cNvPicPr>
            <a:picLocks noChangeAspect="1"/>
          </p:cNvPicPr>
          <p:nvPr/>
        </p:nvPicPr>
        <p:blipFill>
          <a:blip r:embed="rId1"/>
          <a:stretch>
            <a:fillRect/>
          </a:stretch>
        </p:blipFill>
        <p:spPr>
          <a:xfrm>
            <a:off x="877824" y="1609344"/>
            <a:ext cx="237744" cy="237744"/>
          </a:xfrm>
          <a:prstGeom prst="rect">
            <a:avLst/>
          </a:prstGeom>
        </p:spPr>
      </p:pic>
      <p:sp>
        <p:nvSpPr>
          <p:cNvPr id="10" name="Pharmacokinetics heading"/>
          <p:cNvSpPr txBox="1"/>
          <p:nvPr/>
        </p:nvSpPr>
        <p:spPr>
          <a:xfrm>
            <a:off x="1353312" y="1508760"/>
            <a:ext cx="4404208" cy="438912"/>
          </a:xfrm>
          <a:prstGeom prst="rect">
            <a:avLst/>
          </a:prstGeom>
          <a:noFill/>
          <a:ln/>
        </p:spPr>
        <p:txBody>
          <a:bodyPr wrap="square" lIns="0" tIns="0" rIns="0" bIns="0" rtlCol="0" anchor="ctr"/>
          <a:lstStyle/>
          <a:p>
            <a:pPr indent="0" marL="0">
              <a:buNone/>
            </a:pPr>
            <a:r>
              <a:rPr lang="en-US" sz="1800" b="1" dirty="0">
                <a:solidFill>
                  <a:srgbClr val="2E75B6"/>
                </a:solidFill>
              </a:rPr>
              <a:t>Pharmacokinetics</a:t>
            </a:r>
            <a:endParaRPr lang="en-US" sz="1800" dirty="0"/>
          </a:p>
        </p:txBody>
      </p:sp>
      <p:sp>
        <p:nvSpPr>
          <p:cNvPr id="11" name="Pharmacokinetics body"/>
          <p:cNvSpPr txBox="1"/>
          <p:nvPr/>
        </p:nvSpPr>
        <p:spPr>
          <a:xfrm>
            <a:off x="777240" y="2075688"/>
            <a:ext cx="4952848" cy="2185416"/>
          </a:xfrm>
          <a:prstGeom prst="rect">
            <a:avLst/>
          </a:prstGeom>
          <a:noFill/>
          <a:ln/>
        </p:spPr>
        <p:txBody>
          <a:bodyPr wrap="square" lIns="0" tIns="0" rIns="0" bIns="0" rtlCol="0" anchor="t"/>
          <a:lstStyle/>
          <a:p>
            <a:pPr marL="228600" indent="-228600">
              <a:spcAft>
                <a:spcPts val="800"/>
              </a:spcAft>
              <a:buSzPct val="100000"/>
              <a:buChar char="•"/>
            </a:pPr>
            <a:r>
              <a:rPr lang="en-US" sz="1800" dirty="0">
                <a:solidFill>
                  <a:srgbClr val="1F1F1F"/>
                </a:solidFill>
              </a:rPr>
              <a:t>Baclofen: renal dose adjustment.</a:t>
            </a:r>
            <a:r>
              <a:rPr lang="en-US" sz="1300" dirty="0">
                <a:solidFill>
                  <a:srgbClr val="666666"/>
                </a:solidFill>
              </a:rPr>
              <a:t>  S28</a:t>
            </a:r>
            <a:endParaRPr lang="en-US" sz="1800" dirty="0"/>
          </a:p>
          <a:p>
            <a:pPr marL="228600" indent="-228600">
              <a:spcAft>
                <a:spcPts val="800"/>
              </a:spcAft>
              <a:buSzPct val="100000"/>
              <a:buChar char="•"/>
            </a:pPr>
            <a:r>
              <a:rPr lang="en-US" sz="1400" b="1" dirty="0">
                <a:solidFill>
                  <a:srgbClr val="000000"/>
                </a:solidFill>
                <a:highlight>
                  <a:srgbClr val="FFC000"/>
                </a:highlight>
              </a:rPr>
              <a:t> TB </a:t>
            </a:r>
            <a:r>
              <a:rPr lang="en-US" sz="1800" dirty="0">
                <a:solidFill>
                  <a:srgbClr val="000000"/>
                </a:solidFill>
              </a:rPr>
              <a:t> </a:t>
            </a:r>
            <a:r>
              <a:rPr lang="en-US" sz="1800" dirty="0">
                <a:solidFill>
                  <a:srgbClr val="1F1F1F"/>
                </a:solidFill>
              </a:rPr>
              <a:t>Tizanidine: start 2 mg every 6–8 hours, max 36 mg/d; adjust for hepatic or renal impairment.</a:t>
            </a:r>
            <a:r>
              <a:rPr lang="en-US" sz="1300" dirty="0">
                <a:solidFill>
                  <a:srgbClr val="666666"/>
                </a:solidFill>
              </a:rPr>
              <a:t>  p. 512</a:t>
            </a:r>
            <a:endParaRPr lang="en-US" sz="1800" dirty="0"/>
          </a:p>
          <a:p>
            <a:pPr marL="228600" indent="-228600">
              <a:spcAft>
                <a:spcPts val="800"/>
              </a:spcAft>
              <a:buSzPct val="100000"/>
              <a:buChar char="•"/>
            </a:pPr>
            <a:r>
              <a:rPr lang="en-US" sz="1400" b="1" dirty="0">
                <a:solidFill>
                  <a:srgbClr val="000000"/>
                </a:solidFill>
                <a:highlight>
                  <a:srgbClr val="FFC000"/>
                </a:highlight>
              </a:rPr>
              <a:t> TB </a:t>
            </a:r>
            <a:r>
              <a:rPr lang="en-US" sz="1800" dirty="0">
                <a:solidFill>
                  <a:srgbClr val="000000"/>
                </a:solidFill>
              </a:rPr>
              <a:t> </a:t>
            </a:r>
            <a:r>
              <a:rPr lang="en-US" sz="1800" dirty="0">
                <a:solidFill>
                  <a:srgbClr val="1F1F1F"/>
                </a:solidFill>
              </a:rPr>
              <a:t>Dantrolene: only about one-third of an oral dose is absorbed; half-life about 8 hours.</a:t>
            </a:r>
            <a:r>
              <a:rPr lang="en-US" sz="1300" dirty="0">
                <a:solidFill>
                  <a:srgbClr val="666666"/>
                </a:solidFill>
              </a:rPr>
              <a:t>  p. 513</a:t>
            </a:r>
            <a:endParaRPr lang="en-US" sz="1800" dirty="0"/>
          </a:p>
        </p:txBody>
      </p:sp>
      <p:sp>
        <p:nvSpPr>
          <p:cNvPr id="12" name="Monitoring card"/>
          <p:cNvSpPr/>
          <p:nvPr/>
        </p:nvSpPr>
        <p:spPr>
          <a:xfrm>
            <a:off x="6233008" y="1325880"/>
            <a:ext cx="5410048" cy="3054096"/>
          </a:xfrm>
          <a:prstGeom prst="roundRect">
            <a:avLst>
              <a:gd name="adj" fmla="val 3593"/>
            </a:avLst>
          </a:prstGeom>
          <a:solidFill>
            <a:srgbClr val="F2F4F7"/>
          </a:solidFill>
          <a:ln w="12700">
            <a:solidFill>
              <a:srgbClr val="F2F4F7"/>
            </a:solidFill>
            <a:prstDash val="solid"/>
          </a:ln>
        </p:spPr>
      </p:sp>
      <p:sp>
        <p:nvSpPr>
          <p:cNvPr id="13" name="Monitoring icon circle"/>
          <p:cNvSpPr/>
          <p:nvPr/>
        </p:nvSpPr>
        <p:spPr>
          <a:xfrm>
            <a:off x="6461608" y="1508760"/>
            <a:ext cx="438912" cy="438912"/>
          </a:xfrm>
          <a:prstGeom prst="ellipse">
            <a:avLst/>
          </a:prstGeom>
          <a:solidFill>
            <a:srgbClr val="1F7A7A"/>
          </a:solidFill>
          <a:ln w="12700">
            <a:solidFill>
              <a:srgbClr val="1F7A7A"/>
            </a:solidFill>
            <a:prstDash val="solid"/>
          </a:ln>
        </p:spPr>
      </p:sp>
      <p:pic>
        <p:nvPicPr>
          <p:cNvPr id="14" name="Monitoring icon" descr="preencoded.png">    </p:cNvPr>
          <p:cNvPicPr>
            <a:picLocks noChangeAspect="1"/>
          </p:cNvPicPr>
          <p:nvPr/>
        </p:nvPicPr>
        <p:blipFill>
          <a:blip r:embed="rId2"/>
          <a:stretch>
            <a:fillRect/>
          </a:stretch>
        </p:blipFill>
        <p:spPr>
          <a:xfrm>
            <a:off x="6562192" y="1609344"/>
            <a:ext cx="237744" cy="237744"/>
          </a:xfrm>
          <a:prstGeom prst="rect">
            <a:avLst/>
          </a:prstGeom>
        </p:spPr>
      </p:pic>
      <p:sp>
        <p:nvSpPr>
          <p:cNvPr id="15" name="Monitoring heading"/>
          <p:cNvSpPr txBox="1"/>
          <p:nvPr/>
        </p:nvSpPr>
        <p:spPr>
          <a:xfrm>
            <a:off x="7037680" y="1508760"/>
            <a:ext cx="4404208" cy="438912"/>
          </a:xfrm>
          <a:prstGeom prst="rect">
            <a:avLst/>
          </a:prstGeom>
          <a:noFill/>
          <a:ln/>
        </p:spPr>
        <p:txBody>
          <a:bodyPr wrap="square" lIns="0" tIns="0" rIns="0" bIns="0" rtlCol="0" anchor="ctr"/>
          <a:lstStyle/>
          <a:p>
            <a:pPr indent="0" marL="0">
              <a:buNone/>
            </a:pPr>
            <a:r>
              <a:rPr lang="en-US" sz="1800" b="1" dirty="0">
                <a:solidFill>
                  <a:srgbClr val="1F7A7A"/>
                </a:solidFill>
              </a:rPr>
              <a:t>Monitoring</a:t>
            </a:r>
            <a:endParaRPr lang="en-US" sz="1800" dirty="0"/>
          </a:p>
        </p:txBody>
      </p:sp>
      <p:sp>
        <p:nvSpPr>
          <p:cNvPr id="16" name="Monitoring body"/>
          <p:cNvSpPr txBox="1"/>
          <p:nvPr/>
        </p:nvSpPr>
        <p:spPr>
          <a:xfrm>
            <a:off x="6461608" y="2075688"/>
            <a:ext cx="4952848" cy="2185416"/>
          </a:xfrm>
          <a:prstGeom prst="rect">
            <a:avLst/>
          </a:prstGeom>
          <a:noFill/>
          <a:ln/>
        </p:spPr>
        <p:txBody>
          <a:bodyPr wrap="square" lIns="0" tIns="0" rIns="0" bIns="0" rtlCol="0" anchor="t"/>
          <a:lstStyle/>
          <a:p>
            <a:pPr marL="228600" indent="-228600">
              <a:spcAft>
                <a:spcPts val="800"/>
              </a:spcAft>
              <a:buSzPct val="100000"/>
              <a:buChar char="•"/>
            </a:pPr>
            <a:r>
              <a:rPr lang="en-US" sz="1800" dirty="0">
                <a:solidFill>
                  <a:srgbClr val="1F1F1F"/>
                </a:solidFill>
              </a:rPr>
              <a:t>Tizanidine requires liver function monitoring (LFTs) with regular use.</a:t>
            </a:r>
            <a:r>
              <a:rPr lang="en-US" sz="1300" dirty="0">
                <a:solidFill>
                  <a:srgbClr val="666666"/>
                </a:solidFill>
              </a:rPr>
              <a:t>  S29; S30</a:t>
            </a:r>
            <a:endParaRPr lang="en-US" sz="1800" dirty="0"/>
          </a:p>
          <a:p>
            <a:pPr marL="228600" indent="-228600">
              <a:spcAft>
                <a:spcPts val="800"/>
              </a:spcAft>
              <a:buSzPct val="100000"/>
              <a:buChar char="•"/>
            </a:pPr>
            <a:r>
              <a:rPr lang="en-US" sz="1800" dirty="0">
                <a:solidFill>
                  <a:srgbClr val="1F1F1F"/>
                </a:solidFill>
              </a:rPr>
              <a:t>Never stop intrathecal baclofen abruptly.</a:t>
            </a:r>
            <a:r>
              <a:rPr lang="en-US" sz="1300" dirty="0">
                <a:solidFill>
                  <a:srgbClr val="666666"/>
                </a:solidFill>
              </a:rPr>
              <a:t>  S27; S28</a:t>
            </a:r>
            <a:endParaRPr lang="en-US" sz="1800" dirty="0"/>
          </a:p>
          <a:p>
            <a:pPr marL="228600" indent="-228600">
              <a:spcAft>
                <a:spcPts val="800"/>
              </a:spcAft>
              <a:buSzPct val="100000"/>
              <a:buChar char="•"/>
            </a:pPr>
            <a:r>
              <a:rPr lang="en-US" sz="1400" b="1" dirty="0">
                <a:solidFill>
                  <a:srgbClr val="000000"/>
                </a:solidFill>
                <a:highlight>
                  <a:srgbClr val="FFC000"/>
                </a:highlight>
              </a:rPr>
              <a:t> TB </a:t>
            </a:r>
            <a:r>
              <a:rPr lang="en-US" sz="1800" dirty="0">
                <a:solidFill>
                  <a:srgbClr val="000000"/>
                </a:solidFill>
              </a:rPr>
              <a:t> </a:t>
            </a:r>
            <a:r>
              <a:rPr lang="en-US" sz="1800" dirty="0">
                <a:solidFill>
                  <a:srgbClr val="1F1F1F"/>
                </a:solidFill>
              </a:rPr>
              <a:t>Botulinum toxin injections: no more often than every 3 months.</a:t>
            </a:r>
            <a:r>
              <a:rPr lang="en-US" sz="1300" dirty="0">
                <a:solidFill>
                  <a:srgbClr val="666666"/>
                </a:solidFill>
              </a:rPr>
              <a:t>  p. 513</a:t>
            </a:r>
            <a:endParaRPr lang="en-US" sz="18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FFFFFF"/>
        </a:solidFill>
      </p:bgPr>
    </p:bg>
    <p:spTree>
      <p:nvGrpSpPr>
        <p:cNvPr id="1" name=""/>
        <p:cNvGrpSpPr/>
        <p:nvPr/>
      </p:nvGrpSpPr>
      <p:grpSpPr>
        <a:xfrm>
          <a:off x="0" y="0"/>
          <a:ext cx="0" cy="0"/>
          <a:chOff x="0" y="0"/>
          <a:chExt cx="0" cy="0"/>
        </a:xfrm>
      </p:grpSpPr>
      <p:sp>
        <p:nvSpPr>
          <p:cNvPr id="2" name="Kicker"/>
          <p:cNvSpPr txBox="1"/>
          <p:nvPr/>
        </p:nvSpPr>
        <p:spPr>
          <a:xfrm>
            <a:off x="548640" y="292608"/>
            <a:ext cx="8076895" cy="274320"/>
          </a:xfrm>
          <a:prstGeom prst="rect">
            <a:avLst/>
          </a:prstGeom>
          <a:noFill/>
          <a:ln/>
        </p:spPr>
        <p:txBody>
          <a:bodyPr wrap="square" lIns="0" tIns="0" rIns="0" bIns="0" rtlCol="0" anchor="ctr"/>
          <a:lstStyle/>
          <a:p>
            <a:pPr indent="0" marL="0">
              <a:buNone/>
            </a:pPr>
            <a:r>
              <a:rPr lang="en-US" sz="1200" b="1" spc="100" kern="0" dirty="0">
                <a:solidFill>
                  <a:srgbClr val="4472C4"/>
                </a:solidFill>
              </a:rPr>
              <a:t>SKELETAL MUSCLE RELAXANTS</a:t>
            </a:r>
            <a:endParaRPr lang="en-US" sz="1200" dirty="0"/>
          </a:p>
        </p:txBody>
      </p:sp>
      <p:sp>
        <p:nvSpPr>
          <p:cNvPr id="3" name="Title"/>
          <p:cNvSpPr txBox="1"/>
          <p:nvPr/>
        </p:nvSpPr>
        <p:spPr>
          <a:xfrm>
            <a:off x="548640" y="566928"/>
            <a:ext cx="8076895" cy="713232"/>
          </a:xfrm>
          <a:prstGeom prst="rect">
            <a:avLst/>
          </a:prstGeom>
          <a:noFill/>
          <a:ln/>
        </p:spPr>
        <p:txBody>
          <a:bodyPr wrap="square" lIns="0" tIns="0" rIns="0" bIns="0" rtlCol="0" anchor="t"/>
          <a:lstStyle/>
          <a:p>
            <a:pPr indent="0" marL="0">
              <a:buNone/>
            </a:pPr>
            <a:r>
              <a:rPr lang="en-US" sz="3000" b="1" dirty="0">
                <a:solidFill>
                  <a:srgbClr val="1F1F1F"/>
                </a:solidFill>
                <a:latin typeface="Calibri" pitchFamily="34" charset="0"/>
                <a:ea typeface="Calibri" pitchFamily="34" charset="-122"/>
                <a:cs typeface="Calibri" pitchFamily="34" charset="-120"/>
              </a:rPr>
              <a:t>Clinical pearls / "why" hook</a:t>
            </a:r>
            <a:endParaRPr lang="en-US" sz="3000" dirty="0"/>
          </a:p>
        </p:txBody>
      </p:sp>
      <p:sp>
        <p:nvSpPr>
          <p:cNvPr id="4" name="Objective chip"/>
          <p:cNvSpPr/>
          <p:nvPr/>
        </p:nvSpPr>
        <p:spPr>
          <a:xfrm>
            <a:off x="8899855" y="365760"/>
            <a:ext cx="2743200" cy="384048"/>
          </a:xfrm>
          <a:prstGeom prst="roundRect">
            <a:avLst>
              <a:gd name="adj" fmla="val 35714"/>
            </a:avLst>
          </a:prstGeom>
          <a:solidFill>
            <a:srgbClr val="E3EBF8"/>
          </a:solidFill>
          <a:ln/>
        </p:spPr>
        <p:txBody>
          <a:bodyPr wrap="square" lIns="25400" tIns="25400" rIns="25400" bIns="25400" rtlCol="0" anchor="ctr"/>
          <a:lstStyle/>
          <a:p>
            <a:pPr algn="ctr" indent="0" marL="0">
              <a:buNone/>
            </a:pPr>
            <a:r>
              <a:rPr lang="en-US" sz="800" b="1" dirty="0">
                <a:solidFill>
                  <a:srgbClr val="2F4F8A"/>
                </a:solidFill>
              </a:rPr>
              <a:t>Objectives: SO2 · SO4 · IO2.1 · IO2.2 · IO2.3 · IO2.5 · IO2.6</a:t>
            </a:r>
            <a:endParaRPr lang="en-US" sz="800" dirty="0"/>
          </a:p>
        </p:txBody>
      </p:sp>
      <p:sp>
        <p:nvSpPr>
          <p:cNvPr id="5" name="Footer"/>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1000" dirty="0">
                <a:solidFill>
                  <a:srgbClr val="666666"/>
                </a:solidFill>
              </a:rPr>
              <a:t>L04 · Musculoskeletal Pharmacology — Session 2</a:t>
            </a:r>
            <a:endParaRPr lang="en-US" sz="1000" dirty="0"/>
          </a:p>
        </p:txBody>
      </p:sp>
      <p:sp>
        <p:nvSpPr>
          <p:cNvPr id="6" name="Slide number"/>
          <p:cNvSpPr txBox="1"/>
          <p:nvPr/>
        </p:nvSpPr>
        <p:spPr>
          <a:xfrm>
            <a:off x="10728655" y="6419088"/>
            <a:ext cx="914400" cy="274320"/>
          </a:xfrm>
          <a:prstGeom prst="rect">
            <a:avLst/>
          </a:prstGeom>
          <a:noFill/>
          <a:ln/>
        </p:spPr>
        <p:txBody>
          <a:bodyPr wrap="square" lIns="0" tIns="0" rIns="0" bIns="0" rtlCol="0" anchor="ctr"/>
          <a:lstStyle/>
          <a:p>
            <a:pPr algn="r" indent="0" marL="0">
              <a:buNone/>
            </a:pPr>
            <a:r>
              <a:rPr lang="en-US" sz="1000" dirty="0">
                <a:solidFill>
                  <a:srgbClr val="666666"/>
                </a:solidFill>
              </a:rPr>
              <a:t>52</a:t>
            </a:r>
            <a:endParaRPr lang="en-US" sz="1000" dirty="0"/>
          </a:p>
        </p:txBody>
      </p:sp>
      <p:sp>
        <p:nvSpPr>
          <p:cNvPr id="7" name="Clinical pearls / &quot;why&quot; hook card"/>
          <p:cNvSpPr/>
          <p:nvPr/>
        </p:nvSpPr>
        <p:spPr>
          <a:xfrm>
            <a:off x="548640" y="1325880"/>
            <a:ext cx="11094415" cy="4668012"/>
          </a:xfrm>
          <a:prstGeom prst="roundRect">
            <a:avLst>
              <a:gd name="adj" fmla="val 2351"/>
            </a:avLst>
          </a:prstGeom>
          <a:solidFill>
            <a:srgbClr val="F2F4F7"/>
          </a:solidFill>
          <a:ln w="12700">
            <a:solidFill>
              <a:srgbClr val="F2F4F7"/>
            </a:solidFill>
            <a:prstDash val="solid"/>
          </a:ln>
        </p:spPr>
      </p:sp>
      <p:sp>
        <p:nvSpPr>
          <p:cNvPr id="8" name="Clinical pearls / &quot;why&quot; hook icon circle"/>
          <p:cNvSpPr/>
          <p:nvPr/>
        </p:nvSpPr>
        <p:spPr>
          <a:xfrm>
            <a:off x="777240" y="1508760"/>
            <a:ext cx="438912" cy="438912"/>
          </a:xfrm>
          <a:prstGeom prst="ellipse">
            <a:avLst/>
          </a:prstGeom>
          <a:solidFill>
            <a:srgbClr val="2E75B6"/>
          </a:solidFill>
          <a:ln w="12700">
            <a:solidFill>
              <a:srgbClr val="2E75B6"/>
            </a:solidFill>
            <a:prstDash val="solid"/>
          </a:ln>
        </p:spPr>
      </p:sp>
      <p:pic>
        <p:nvPicPr>
          <p:cNvPr id="9" name="Clinical pearls / &quot;why&quot; hook icon" descr="preencoded.png">    </p:cNvPr>
          <p:cNvPicPr>
            <a:picLocks noChangeAspect="1"/>
          </p:cNvPicPr>
          <p:nvPr/>
        </p:nvPicPr>
        <p:blipFill>
          <a:blip r:embed="rId1"/>
          <a:stretch>
            <a:fillRect/>
          </a:stretch>
        </p:blipFill>
        <p:spPr>
          <a:xfrm>
            <a:off x="877824" y="1609344"/>
            <a:ext cx="237744" cy="237744"/>
          </a:xfrm>
          <a:prstGeom prst="rect">
            <a:avLst/>
          </a:prstGeom>
        </p:spPr>
      </p:pic>
      <p:sp>
        <p:nvSpPr>
          <p:cNvPr id="10" name="Clinical pearls / &amp;quot;why&amp;quot; hook heading"/>
          <p:cNvSpPr txBox="1"/>
          <p:nvPr/>
        </p:nvSpPr>
        <p:spPr>
          <a:xfrm>
            <a:off x="1353312" y="1508760"/>
            <a:ext cx="10088575" cy="438912"/>
          </a:xfrm>
          <a:prstGeom prst="rect">
            <a:avLst/>
          </a:prstGeom>
          <a:noFill/>
          <a:ln/>
        </p:spPr>
        <p:txBody>
          <a:bodyPr wrap="square" lIns="0" tIns="0" rIns="0" bIns="0" rtlCol="0" anchor="ctr"/>
          <a:lstStyle/>
          <a:p>
            <a:pPr indent="0" marL="0">
              <a:buNone/>
            </a:pPr>
            <a:r>
              <a:rPr lang="en-US" sz="1800" b="1" dirty="0">
                <a:solidFill>
                  <a:srgbClr val="2E75B6"/>
                </a:solidFill>
              </a:rPr>
              <a:t>Clinical pearls / "why" hook</a:t>
            </a:r>
            <a:endParaRPr lang="en-US" sz="1800" dirty="0"/>
          </a:p>
        </p:txBody>
      </p:sp>
      <p:sp>
        <p:nvSpPr>
          <p:cNvPr id="11" name="Clinical pearls / &quot;why&quot; hook body"/>
          <p:cNvSpPr txBox="1"/>
          <p:nvPr/>
        </p:nvSpPr>
        <p:spPr>
          <a:xfrm>
            <a:off x="777240" y="2075688"/>
            <a:ext cx="10637215" cy="3799332"/>
          </a:xfrm>
          <a:prstGeom prst="rect">
            <a:avLst/>
          </a:prstGeom>
          <a:noFill/>
          <a:ln/>
        </p:spPr>
        <p:txBody>
          <a:bodyPr wrap="square" lIns="0" tIns="0" rIns="0" bIns="0" rtlCol="0" anchor="t"/>
          <a:lstStyle/>
          <a:p>
            <a:pPr marL="228600" indent="-228600">
              <a:spcAft>
                <a:spcPts val="800"/>
              </a:spcAft>
              <a:buSzPct val="100000"/>
              <a:buChar char="•"/>
            </a:pPr>
            <a:r>
              <a:rPr lang="en-US" sz="1800" dirty="0">
                <a:solidFill>
                  <a:srgbClr val="1F1F1F"/>
                </a:solidFill>
              </a:rPr>
              <a:t>Name clues: </a:t>
            </a:r>
            <a:r>
              <a:rPr lang="en-US" sz="1800" b="1" dirty="0">
                <a:solidFill>
                  <a:srgbClr val="1F1F1F"/>
                </a:solidFill>
              </a:rPr>
              <a:t>-curonium / -curium</a:t>
            </a:r>
            <a:r>
              <a:rPr lang="en-US" sz="1800" dirty="0">
                <a:solidFill>
                  <a:srgbClr val="1F1F1F"/>
                </a:solidFill>
              </a:rPr>
              <a:t> nondepolarizing neuromuscular blockers (vecuronium, atracurium, cisatracurium); </a:t>
            </a:r>
            <a:r>
              <a:rPr lang="en-US" sz="1800" b="1" dirty="0">
                <a:solidFill>
                  <a:srgbClr val="1F1F1F"/>
                </a:solidFill>
              </a:rPr>
              <a:t>succinylcholine</a:t>
            </a:r>
            <a:r>
              <a:rPr lang="en-US" sz="1800" dirty="0">
                <a:solidFill>
                  <a:srgbClr val="1F1F1F"/>
                </a:solidFill>
              </a:rPr>
              <a:t> depolarizing blocker; </a:t>
            </a:r>
            <a:r>
              <a:rPr lang="en-US" sz="1800" b="1" dirty="0">
                <a:solidFill>
                  <a:srgbClr val="1F1F1F"/>
                </a:solidFill>
              </a:rPr>
              <a:t>-azepam</a:t>
            </a:r>
            <a:r>
              <a:rPr lang="en-US" sz="1800" dirty="0">
                <a:solidFill>
                  <a:srgbClr val="1F1F1F"/>
                </a:solidFill>
              </a:rPr>
              <a:t> benzodiazepine (GABA-A, diazepam).</a:t>
            </a:r>
            <a:r>
              <a:rPr lang="en-US" sz="1300" dirty="0">
                <a:solidFill>
                  <a:srgbClr val="666666"/>
                </a:solidFill>
              </a:rPr>
              <a:t>  S38</a:t>
            </a:r>
            <a:endParaRPr lang="en-US" sz="1800" dirty="0"/>
          </a:p>
          <a:p>
            <a:pPr marL="228600" indent="-228600">
              <a:spcAft>
                <a:spcPts val="800"/>
              </a:spcAft>
              <a:buSzPct val="100000"/>
              <a:buChar char="•"/>
            </a:pPr>
            <a:r>
              <a:rPr lang="en-US" sz="1800" dirty="0">
                <a:solidFill>
                  <a:srgbClr val="1F1F1F"/>
                </a:solidFill>
              </a:rPr>
              <a:t>Name clues: </a:t>
            </a:r>
            <a:r>
              <a:rPr lang="en-US" sz="1800" b="1" dirty="0">
                <a:solidFill>
                  <a:srgbClr val="1F1F1F"/>
                </a:solidFill>
              </a:rPr>
              <a:t>cyclo-</a:t>
            </a:r>
            <a:r>
              <a:rPr lang="en-US" sz="1800" dirty="0">
                <a:solidFill>
                  <a:srgbClr val="1F1F1F"/>
                </a:solidFill>
              </a:rPr>
              <a:t> tricyclic-like (cyclobenzaprine); </a:t>
            </a:r>
            <a:r>
              <a:rPr lang="en-US" sz="1800" b="1" dirty="0">
                <a:solidFill>
                  <a:srgbClr val="1F1F1F"/>
                </a:solidFill>
              </a:rPr>
              <a:t>-idine</a:t>
            </a:r>
            <a:r>
              <a:rPr lang="en-US" sz="1800" dirty="0">
                <a:solidFill>
                  <a:srgbClr val="1F1F1F"/>
                </a:solidFill>
              </a:rPr>
              <a:t> central alpha-2 agonist (tizanidine); baclofen has no shared stem (GABA analog); </a:t>
            </a:r>
            <a:r>
              <a:rPr lang="en-US" sz="1800" b="1" dirty="0">
                <a:solidFill>
                  <a:srgbClr val="1F1F1F"/>
                </a:solidFill>
              </a:rPr>
              <a:t>-trolene</a:t>
            </a:r>
            <a:r>
              <a:rPr lang="en-US" sz="1800" dirty="0">
                <a:solidFill>
                  <a:srgbClr val="1F1F1F"/>
                </a:solidFill>
              </a:rPr>
              <a:t> blocks RyR1 (dantrolene); </a:t>
            </a:r>
            <a:r>
              <a:rPr lang="en-US" sz="1800" b="1" dirty="0">
                <a:solidFill>
                  <a:srgbClr val="1F1F1F"/>
                </a:solidFill>
              </a:rPr>
              <a:t>-toxin</a:t>
            </a:r>
            <a:r>
              <a:rPr lang="en-US" sz="1800" dirty="0">
                <a:solidFill>
                  <a:srgbClr val="1F1F1F"/>
                </a:solidFill>
              </a:rPr>
              <a:t> blocks ACh release (botulinum toxin).</a:t>
            </a:r>
            <a:r>
              <a:rPr lang="en-US" sz="1300" dirty="0">
                <a:solidFill>
                  <a:srgbClr val="666666"/>
                </a:solidFill>
              </a:rPr>
              <a:t>  S38</a:t>
            </a:r>
            <a:endParaRPr lang="en-US" sz="1800" dirty="0"/>
          </a:p>
          <a:p>
            <a:pPr marL="228600" indent="-228600">
              <a:spcAft>
                <a:spcPts val="800"/>
              </a:spcAft>
              <a:buSzPct val="100000"/>
              <a:buChar char="•"/>
            </a:pPr>
            <a:r>
              <a:rPr lang="en-US" sz="1400" b="1" dirty="0">
                <a:solidFill>
                  <a:srgbClr val="000000"/>
                </a:solidFill>
                <a:highlight>
                  <a:srgbClr val="FFC000"/>
                </a:highlight>
              </a:rPr>
              <a:t> TB </a:t>
            </a:r>
            <a:r>
              <a:rPr lang="en-US" sz="1800" dirty="0">
                <a:solidFill>
                  <a:srgbClr val="000000"/>
                </a:solidFill>
              </a:rPr>
              <a:t> </a:t>
            </a:r>
            <a:r>
              <a:rPr lang="en-US" sz="1800" dirty="0">
                <a:solidFill>
                  <a:srgbClr val="1F1F1F"/>
                </a:solidFill>
              </a:rPr>
              <a:t>Neuromuscular blockers (anesthesia, ICU) paralyze at the end plate and have no CNS activity; succinylcholine is the only depolarizing one.</a:t>
            </a:r>
            <a:r>
              <a:rPr lang="en-US" sz="1300" dirty="0">
                <a:solidFill>
                  <a:srgbClr val="666666"/>
                </a:solidFill>
              </a:rPr>
              <a:t>  p. 499; p. 503</a:t>
            </a:r>
            <a:endParaRPr lang="en-US" sz="1800" dirty="0"/>
          </a:p>
          <a:p>
            <a:pPr marL="228600" indent="-228600">
              <a:spcAft>
                <a:spcPts val="800"/>
              </a:spcAft>
              <a:buSzPct val="100000"/>
              <a:buChar char="•"/>
            </a:pPr>
            <a:r>
              <a:rPr lang="en-US" sz="1400" b="1" dirty="0">
                <a:solidFill>
                  <a:srgbClr val="000000"/>
                </a:solidFill>
                <a:highlight>
                  <a:srgbClr val="FFC000"/>
                </a:highlight>
              </a:rPr>
              <a:t> TB </a:t>
            </a:r>
            <a:r>
              <a:rPr lang="en-US" sz="1800" dirty="0">
                <a:solidFill>
                  <a:srgbClr val="000000"/>
                </a:solidFill>
              </a:rPr>
              <a:t> </a:t>
            </a:r>
            <a:r>
              <a:rPr lang="en-US" sz="1800" dirty="0">
                <a:solidFill>
                  <a:srgbClr val="1F1F1F"/>
                </a:solidFill>
              </a:rPr>
              <a:t>Succinylcholine can cause fatal hyperkalemia after burns, denervation, or major trauma, and with volatile anesthetics can trigger malignant hyperthermia.</a:t>
            </a:r>
            <a:r>
              <a:rPr lang="en-US" sz="1300" dirty="0">
                <a:solidFill>
                  <a:srgbClr val="666666"/>
                </a:solidFill>
              </a:rPr>
              <a:t>  p. 508</a:t>
            </a:r>
            <a:endParaRPr lang="en-US" sz="1800" dirty="0"/>
          </a:p>
          <a:p>
            <a:pPr marL="228600" indent="-228600">
              <a:spcAft>
                <a:spcPts val="800"/>
              </a:spcAft>
              <a:buSzPct val="100000"/>
              <a:buChar char="•"/>
            </a:pPr>
            <a:r>
              <a:rPr lang="en-US" sz="1400" b="1" dirty="0">
                <a:solidFill>
                  <a:srgbClr val="000000"/>
                </a:solidFill>
                <a:highlight>
                  <a:srgbClr val="FFC000"/>
                </a:highlight>
              </a:rPr>
              <a:t> TB </a:t>
            </a:r>
            <a:r>
              <a:rPr lang="en-US" sz="1800" dirty="0">
                <a:solidFill>
                  <a:srgbClr val="000000"/>
                </a:solidFill>
              </a:rPr>
              <a:t> </a:t>
            </a:r>
            <a:r>
              <a:rPr lang="en-US" sz="1800" dirty="0">
                <a:solidFill>
                  <a:srgbClr val="1F1F1F"/>
                </a:solidFill>
              </a:rPr>
              <a:t>Sugammadex reverses rocuronium/vecuronium; it binds progestins, so use backup contraception for 7 days.</a:t>
            </a:r>
            <a:r>
              <a:rPr lang="en-US" sz="1300" dirty="0">
                <a:solidFill>
                  <a:srgbClr val="666666"/>
                </a:solidFill>
              </a:rPr>
              <a:t>  p. 509; p. 510</a:t>
            </a:r>
            <a:endParaRPr lang="en-US" sz="18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FFFFFF"/>
        </a:solidFill>
      </p:bgPr>
    </p:bg>
    <p:spTree>
      <p:nvGrpSpPr>
        <p:cNvPr id="1" name=""/>
        <p:cNvGrpSpPr/>
        <p:nvPr/>
      </p:nvGrpSpPr>
      <p:grpSpPr>
        <a:xfrm>
          <a:off x="0" y="0"/>
          <a:ext cx="0" cy="0"/>
          <a:chOff x="0" y="0"/>
          <a:chExt cx="0" cy="0"/>
        </a:xfrm>
      </p:grpSpPr>
      <p:sp>
        <p:nvSpPr>
          <p:cNvPr id="2" name="Kicker"/>
          <p:cNvSpPr txBox="1"/>
          <p:nvPr/>
        </p:nvSpPr>
        <p:spPr>
          <a:xfrm>
            <a:off x="548640" y="292608"/>
            <a:ext cx="8076895" cy="274320"/>
          </a:xfrm>
          <a:prstGeom prst="rect">
            <a:avLst/>
          </a:prstGeom>
          <a:noFill/>
          <a:ln/>
        </p:spPr>
        <p:txBody>
          <a:bodyPr wrap="square" lIns="0" tIns="0" rIns="0" bIns="0" rtlCol="0" anchor="ctr"/>
          <a:lstStyle/>
          <a:p>
            <a:pPr indent="0" marL="0">
              <a:buNone/>
            </a:pPr>
            <a:r>
              <a:rPr lang="en-US" sz="1200" b="1" spc="100" kern="0" dirty="0">
                <a:solidFill>
                  <a:srgbClr val="4472C4"/>
                </a:solidFill>
              </a:rPr>
              <a:t>SKELETAL MUSCLE RELAXANTS</a:t>
            </a:r>
            <a:endParaRPr lang="en-US" sz="1200" dirty="0"/>
          </a:p>
        </p:txBody>
      </p:sp>
      <p:sp>
        <p:nvSpPr>
          <p:cNvPr id="3" name="Title"/>
          <p:cNvSpPr txBox="1"/>
          <p:nvPr/>
        </p:nvSpPr>
        <p:spPr>
          <a:xfrm>
            <a:off x="548640" y="566928"/>
            <a:ext cx="8076895" cy="713232"/>
          </a:xfrm>
          <a:prstGeom prst="rect">
            <a:avLst/>
          </a:prstGeom>
          <a:noFill/>
          <a:ln/>
        </p:spPr>
        <p:txBody>
          <a:bodyPr wrap="square" lIns="0" tIns="0" rIns="0" bIns="0" rtlCol="0" anchor="t"/>
          <a:lstStyle/>
          <a:p>
            <a:pPr indent="0" marL="0">
              <a:buNone/>
            </a:pPr>
            <a:r>
              <a:rPr lang="en-US" sz="2100" b="1" dirty="0">
                <a:solidFill>
                  <a:srgbClr val="1F1F1F"/>
                </a:solidFill>
                <a:latin typeface="Calibri" pitchFamily="34" charset="0"/>
                <a:ea typeface="Calibri" pitchFamily="34" charset="-122"/>
                <a:cs typeface="Calibri" pitchFamily="34" charset="-120"/>
              </a:rPr>
              <a:t>Figure 5 · Skeletal muscle relaxants: central vs. peripheral site of action</a:t>
            </a:r>
            <a:endParaRPr lang="en-US" sz="2100" dirty="0"/>
          </a:p>
        </p:txBody>
      </p:sp>
      <p:sp>
        <p:nvSpPr>
          <p:cNvPr id="4" name="Objective chip"/>
          <p:cNvSpPr/>
          <p:nvPr/>
        </p:nvSpPr>
        <p:spPr>
          <a:xfrm>
            <a:off x="8899855" y="365760"/>
            <a:ext cx="2743200" cy="384048"/>
          </a:xfrm>
          <a:prstGeom prst="roundRect">
            <a:avLst>
              <a:gd name="adj" fmla="val 35714"/>
            </a:avLst>
          </a:prstGeom>
          <a:solidFill>
            <a:srgbClr val="E3EBF8"/>
          </a:solidFill>
          <a:ln/>
        </p:spPr>
        <p:txBody>
          <a:bodyPr wrap="square" lIns="25400" tIns="25400" rIns="25400" bIns="25400" rtlCol="0" anchor="ctr"/>
          <a:lstStyle/>
          <a:p>
            <a:pPr algn="ctr" indent="0" marL="0">
              <a:buNone/>
            </a:pPr>
            <a:r>
              <a:rPr lang="en-US" sz="800" b="1" dirty="0">
                <a:solidFill>
                  <a:srgbClr val="2F4F8A"/>
                </a:solidFill>
              </a:rPr>
              <a:t>Objectives: SO2 · SO4 · IO2.1 · IO2.2 · IO2.3 · IO2.5 · IO2.6</a:t>
            </a:r>
            <a:endParaRPr lang="en-US" sz="800" dirty="0"/>
          </a:p>
        </p:txBody>
      </p:sp>
      <p:sp>
        <p:nvSpPr>
          <p:cNvPr id="5" name="Footer"/>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1000" dirty="0">
                <a:solidFill>
                  <a:srgbClr val="666666"/>
                </a:solidFill>
              </a:rPr>
              <a:t>L04 · Musculoskeletal Pharmacology — Session 2</a:t>
            </a:r>
            <a:endParaRPr lang="en-US" sz="1000" dirty="0"/>
          </a:p>
        </p:txBody>
      </p:sp>
      <p:sp>
        <p:nvSpPr>
          <p:cNvPr id="6" name="Slide number"/>
          <p:cNvSpPr txBox="1"/>
          <p:nvPr/>
        </p:nvSpPr>
        <p:spPr>
          <a:xfrm>
            <a:off x="10728655" y="6419088"/>
            <a:ext cx="914400" cy="274320"/>
          </a:xfrm>
          <a:prstGeom prst="rect">
            <a:avLst/>
          </a:prstGeom>
          <a:noFill/>
          <a:ln/>
        </p:spPr>
        <p:txBody>
          <a:bodyPr wrap="square" lIns="0" tIns="0" rIns="0" bIns="0" rtlCol="0" anchor="ctr"/>
          <a:lstStyle/>
          <a:p>
            <a:pPr algn="r" indent="0" marL="0">
              <a:buNone/>
            </a:pPr>
            <a:r>
              <a:rPr lang="en-US" sz="1000" dirty="0">
                <a:solidFill>
                  <a:srgbClr val="666666"/>
                </a:solidFill>
              </a:rPr>
              <a:t>53</a:t>
            </a:r>
            <a:endParaRPr lang="en-US" sz="1000" dirty="0"/>
          </a:p>
        </p:txBody>
      </p:sp>
      <p:pic>
        <p:nvPicPr>
          <p:cNvPr id="7" name="Figure S24_1.jpg" descr="/home/user/dpas-pharm/work/L04/figures/S24_1.jpg">    </p:cNvPr>
          <p:cNvPicPr>
            <a:picLocks noChangeAspect="1"/>
          </p:cNvPicPr>
          <p:nvPr/>
        </p:nvPicPr>
        <p:blipFill>
          <a:blip r:embed="rId1"/>
          <a:stretch>
            <a:fillRect/>
          </a:stretch>
        </p:blipFill>
        <p:spPr>
          <a:xfrm>
            <a:off x="2482840" y="1325880"/>
            <a:ext cx="7226015" cy="3671824"/>
          </a:xfrm>
          <a:prstGeom prst="rect">
            <a:avLst/>
          </a:prstGeom>
        </p:spPr>
      </p:pic>
      <p:sp>
        <p:nvSpPr>
          <p:cNvPr id="8" name="Figure caption"/>
          <p:cNvSpPr txBox="1"/>
          <p:nvPr/>
        </p:nvSpPr>
        <p:spPr>
          <a:xfrm>
            <a:off x="548640" y="5180584"/>
            <a:ext cx="11094415" cy="1083056"/>
          </a:xfrm>
          <a:prstGeom prst="rect">
            <a:avLst/>
          </a:prstGeom>
          <a:noFill/>
          <a:ln/>
        </p:spPr>
        <p:txBody>
          <a:bodyPr wrap="square" lIns="0" tIns="0" rIns="0" bIns="0" rtlCol="0" anchor="t"/>
          <a:lstStyle/>
          <a:p>
            <a:pPr indent="0" marL="0">
              <a:buNone/>
            </a:pPr>
            <a:r>
              <a:rPr lang="en-US" sz="1600" dirty="0">
                <a:solidFill>
                  <a:srgbClr val="1F1F1F"/>
                </a:solidFill>
              </a:rPr>
              <a:t>Original illustrative diagram (not from Katzung): cyclobenzaprine (brainstem), tizanidine (α2), and baclofen (GABA-B, spinal cord) act within the central nervous system to reduce excitatory output to motor neurons, lowering muscle tone (spasm/spasticity); dantrolene acts directly on the skeletal muscle fiber itself, reducing Ca²⁺ release from the sarcoplasmic reticulum and muscle contraction.</a:t>
            </a:r>
            <a:r>
              <a:rPr lang="en-US" sz="1100" dirty="0">
                <a:solidFill>
                  <a:srgbClr val="666666"/>
                </a:solidFill>
              </a:rPr>
              <a:t>  S24; S24 (notes)</a:t>
            </a:r>
            <a:endParaRPr lang="en-US" sz="16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FFFFFF"/>
        </a:solidFill>
      </p:bgPr>
    </p:bg>
    <p:spTree>
      <p:nvGrpSpPr>
        <p:cNvPr id="1" name=""/>
        <p:cNvGrpSpPr/>
        <p:nvPr/>
      </p:nvGrpSpPr>
      <p:grpSpPr>
        <a:xfrm>
          <a:off x="0" y="0"/>
          <a:ext cx="0" cy="0"/>
          <a:chOff x="0" y="0"/>
          <a:chExt cx="0" cy="0"/>
        </a:xfrm>
      </p:grpSpPr>
      <p:sp>
        <p:nvSpPr>
          <p:cNvPr id="2" name="Kicker"/>
          <p:cNvSpPr txBox="1"/>
          <p:nvPr/>
        </p:nvSpPr>
        <p:spPr>
          <a:xfrm>
            <a:off x="548640" y="292608"/>
            <a:ext cx="8076895" cy="274320"/>
          </a:xfrm>
          <a:prstGeom prst="rect">
            <a:avLst/>
          </a:prstGeom>
          <a:noFill/>
          <a:ln/>
        </p:spPr>
        <p:txBody>
          <a:bodyPr wrap="square" lIns="0" tIns="0" rIns="0" bIns="0" rtlCol="0" anchor="ctr"/>
          <a:lstStyle/>
          <a:p>
            <a:pPr indent="0" marL="0">
              <a:buNone/>
            </a:pPr>
            <a:r>
              <a:rPr lang="en-US" sz="1200" b="1" spc="100" kern="0" dirty="0">
                <a:solidFill>
                  <a:srgbClr val="4472C4"/>
                </a:solidFill>
              </a:rPr>
              <a:t>SKELETAL MUSCLE RELAXANTS</a:t>
            </a:r>
            <a:endParaRPr lang="en-US" sz="1200" dirty="0"/>
          </a:p>
        </p:txBody>
      </p:sp>
      <p:sp>
        <p:nvSpPr>
          <p:cNvPr id="3" name="Title"/>
          <p:cNvSpPr txBox="1"/>
          <p:nvPr/>
        </p:nvSpPr>
        <p:spPr>
          <a:xfrm>
            <a:off x="548640" y="566928"/>
            <a:ext cx="8076895" cy="713232"/>
          </a:xfrm>
          <a:prstGeom prst="rect">
            <a:avLst/>
          </a:prstGeom>
          <a:noFill/>
          <a:ln/>
        </p:spPr>
        <p:txBody>
          <a:bodyPr wrap="square" lIns="0" tIns="0" rIns="0" bIns="0" rtlCol="0" anchor="t"/>
          <a:lstStyle/>
          <a:p>
            <a:pPr indent="0" marL="0">
              <a:buNone/>
            </a:pPr>
            <a:r>
              <a:rPr lang="en-US" sz="3000" b="1" dirty="0">
                <a:solidFill>
                  <a:srgbClr val="1F1F1F"/>
                </a:solidFill>
                <a:latin typeface="Calibri" pitchFamily="34" charset="0"/>
                <a:ea typeface="Calibri" pitchFamily="34" charset="-122"/>
                <a:cs typeface="Calibri" pitchFamily="34" charset="-120"/>
              </a:rPr>
              <a:t>Compare: Spasm vs. spasticity vs. rigidity</a:t>
            </a:r>
            <a:endParaRPr lang="en-US" sz="3000" dirty="0"/>
          </a:p>
        </p:txBody>
      </p:sp>
      <p:sp>
        <p:nvSpPr>
          <p:cNvPr id="4" name="Objective chip"/>
          <p:cNvSpPr/>
          <p:nvPr/>
        </p:nvSpPr>
        <p:spPr>
          <a:xfrm>
            <a:off x="8899855" y="365760"/>
            <a:ext cx="2743200" cy="384048"/>
          </a:xfrm>
          <a:prstGeom prst="roundRect">
            <a:avLst>
              <a:gd name="adj" fmla="val 35714"/>
            </a:avLst>
          </a:prstGeom>
          <a:solidFill>
            <a:srgbClr val="E3EBF8"/>
          </a:solidFill>
          <a:ln/>
        </p:spPr>
        <p:txBody>
          <a:bodyPr wrap="square" lIns="25400" tIns="25400" rIns="25400" bIns="25400" rtlCol="0" anchor="ctr"/>
          <a:lstStyle/>
          <a:p>
            <a:pPr algn="ctr" indent="0" marL="0">
              <a:buNone/>
            </a:pPr>
            <a:r>
              <a:rPr lang="en-US" sz="800" b="1" dirty="0">
                <a:solidFill>
                  <a:srgbClr val="2F4F8A"/>
                </a:solidFill>
              </a:rPr>
              <a:t>Objectives: SO2 · SO4 · IO2.1 · IO2.2 · IO2.3 · IO2.5 · IO2.6</a:t>
            </a:r>
            <a:endParaRPr lang="en-US" sz="800" dirty="0"/>
          </a:p>
        </p:txBody>
      </p:sp>
      <p:sp>
        <p:nvSpPr>
          <p:cNvPr id="5" name="Footer"/>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1000" dirty="0">
                <a:solidFill>
                  <a:srgbClr val="666666"/>
                </a:solidFill>
              </a:rPr>
              <a:t>L04 · Musculoskeletal Pharmacology — Session 2</a:t>
            </a:r>
            <a:endParaRPr lang="en-US" sz="1000" dirty="0"/>
          </a:p>
        </p:txBody>
      </p:sp>
      <p:sp>
        <p:nvSpPr>
          <p:cNvPr id="6" name="Slide number"/>
          <p:cNvSpPr txBox="1"/>
          <p:nvPr/>
        </p:nvSpPr>
        <p:spPr>
          <a:xfrm>
            <a:off x="10728655" y="6419088"/>
            <a:ext cx="914400" cy="274320"/>
          </a:xfrm>
          <a:prstGeom prst="rect">
            <a:avLst/>
          </a:prstGeom>
          <a:noFill/>
          <a:ln/>
        </p:spPr>
        <p:txBody>
          <a:bodyPr wrap="square" lIns="0" tIns="0" rIns="0" bIns="0" rtlCol="0" anchor="ctr"/>
          <a:lstStyle/>
          <a:p>
            <a:pPr algn="r" indent="0" marL="0">
              <a:buNone/>
            </a:pPr>
            <a:r>
              <a:rPr lang="en-US" sz="1000" dirty="0">
                <a:solidFill>
                  <a:srgbClr val="666666"/>
                </a:solidFill>
              </a:rPr>
              <a:t>54</a:t>
            </a:r>
            <a:endParaRPr lang="en-US" sz="1000" dirty="0"/>
          </a:p>
        </p:txBody>
      </p:sp>
      <p:graphicFrame>
        <p:nvGraphicFramePr>
          <p:cNvPr id="55" name="Comparison table"/>
          <p:cNvGraphicFramePr>
            <a:graphicFrameLocks noGrp="1"/>
          </p:cNvGraphicFramePr>
          <p:nvPr>
            <p:extLst>
              <p:ext uri="{D42A27DB-BD31-4B8C-83A1-F6EECF244321}">
                <p14:modId xmlns:p14="http://schemas.microsoft.com/office/powerpoint/2010/main" val="1579011935"/>
              </p:ext>
            </p:extLst>
          </p:nvPr>
        </p:nvGraphicFramePr>
        <p:xfrm>
          <a:off x="548640" y="1325880"/>
          <a:ext cx="11094415" cy="914400"/>
        </p:xfrm>
        <a:graphic>
          <a:graphicData uri="http://schemas.openxmlformats.org/drawingml/2006/table">
            <a:tbl>
              <a:tblPr/>
              <a:tblGrid>
                <a:gridCol w="2377440"/>
                <a:gridCol w="4358488"/>
                <a:gridCol w="4358488"/>
              </a:tblGrid>
              <a:tr h="0">
                <a:tc>
                  <a:txBody>
                    <a:bodyPr/>
                    <a:lstStyle/>
                    <a:p>
                      <a:pPr indent="0" marL="0">
                        <a:buNone/>
                      </a:pPr>
                      <a:endParaRPr lang="en-US" sz="16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4472C4"/>
                    </a:solidFill>
                  </a:tcPr>
                </a:tc>
                <a:tc>
                  <a:txBody>
                    <a:bodyPr/>
                    <a:lstStyle/>
                    <a:p>
                      <a:pPr indent="0" marL="0">
                        <a:buNone/>
                      </a:pPr>
                      <a:r>
                        <a:rPr lang="en-US" sz="1600" b="1" dirty="0">
                          <a:solidFill>
                            <a:srgbClr val="FFFFFF"/>
                          </a:solidFill>
                        </a:rPr>
                        <a:t>What it is</a:t>
                      </a:r>
                      <a:endParaRPr lang="en-US" sz="16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4472C4"/>
                    </a:solidFill>
                  </a:tcPr>
                </a:tc>
                <a:tc>
                  <a:txBody>
                    <a:bodyPr/>
                    <a:lstStyle/>
                    <a:p>
                      <a:pPr indent="0" marL="0">
                        <a:buNone/>
                      </a:pPr>
                      <a:r>
                        <a:rPr lang="en-US" sz="1600" b="1" dirty="0">
                          <a:solidFill>
                            <a:srgbClr val="FFFFFF"/>
                          </a:solidFill>
                        </a:rPr>
                        <a:t>Typical approach</a:t>
                      </a:r>
                      <a:endParaRPr lang="en-US" sz="16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4472C4"/>
                    </a:solidFill>
                  </a:tcPr>
                </a:tc>
              </a:tr>
              <a:tr h="0">
                <a:tc>
                  <a:txBody>
                    <a:bodyPr/>
                    <a:lstStyle/>
                    <a:p>
                      <a:pPr indent="0" marL="0">
                        <a:buNone/>
                      </a:pPr>
                      <a:r>
                        <a:rPr lang="en-US" sz="1600" b="1" dirty="0">
                          <a:solidFill>
                            <a:srgbClr val="1F1F1F"/>
                          </a:solidFill>
                        </a:rPr>
                        <a:t>Muscle spasm</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2F4F7"/>
                    </a:solidFill>
                  </a:tcPr>
                </a:tc>
                <a:tc>
                  <a:txBody>
                    <a:bodyPr/>
                    <a:lstStyle/>
                    <a:p>
                      <a:pPr indent="0" marL="0">
                        <a:buNone/>
                      </a:pPr>
                      <a:r>
                        <a:rPr lang="en-US" sz="1600" dirty="0">
                          <a:solidFill>
                            <a:srgbClr val="1F1F1F"/>
                          </a:solidFill>
                        </a:rPr>
                        <a:t>Sudden, involuntary contraction, often after acute injury</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2F4F7"/>
                    </a:solidFill>
                  </a:tcPr>
                </a:tc>
                <a:tc>
                  <a:txBody>
                    <a:bodyPr/>
                    <a:lstStyle/>
                    <a:p>
                      <a:pPr indent="0" marL="0">
                        <a:buNone/>
                      </a:pPr>
                      <a:r>
                        <a:rPr lang="en-US" sz="1600" dirty="0">
                          <a:solidFill>
                            <a:srgbClr val="1F1F1F"/>
                          </a:solidFill>
                        </a:rPr>
                        <a:t>Centrally acting relaxant (e.g., cyclobenzaprine, short term)</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2F4F7"/>
                    </a:solidFill>
                  </a:tcPr>
                </a:tc>
              </a:tr>
              <a:tr h="0">
                <a:tc>
                  <a:txBody>
                    <a:bodyPr/>
                    <a:lstStyle/>
                    <a:p>
                      <a:pPr indent="0" marL="0">
                        <a:buNone/>
                      </a:pPr>
                      <a:r>
                        <a:rPr lang="en-US" sz="1600" b="1" dirty="0">
                          <a:solidFill>
                            <a:srgbClr val="1F1F1F"/>
                          </a:solidFill>
                        </a:rPr>
                        <a:t>Spasticity</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FFFFF"/>
                    </a:solidFill>
                  </a:tcPr>
                </a:tc>
                <a:tc>
                  <a:txBody>
                    <a:bodyPr/>
                    <a:lstStyle/>
                    <a:p>
                      <a:pPr indent="0" marL="0">
                        <a:buNone/>
                      </a:pPr>
                      <a:r>
                        <a:rPr lang="en-US" sz="1600" dirty="0">
                          <a:solidFill>
                            <a:srgbClr val="1F1F1F"/>
                          </a:solidFill>
                        </a:rPr>
                        <a:t>Velocity-dependent ↑ tone from upper motor neuron injury</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FFFFF"/>
                    </a:solidFill>
                  </a:tcPr>
                </a:tc>
                <a:tc>
                  <a:txBody>
                    <a:bodyPr/>
                    <a:lstStyle/>
                    <a:p>
                      <a:pPr indent="0" marL="0">
                        <a:buNone/>
                      </a:pPr>
                      <a:r>
                        <a:rPr lang="en-US" sz="1600" dirty="0">
                          <a:solidFill>
                            <a:srgbClr val="1F1F1F"/>
                          </a:solidFill>
                        </a:rPr>
                        <a:t>Baclofen, tizanidine; dantrolene if central agents unsuitable; botulinum toxin if focal</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FFFFF"/>
                    </a:solidFill>
                  </a:tcPr>
                </a:tc>
              </a:tr>
              <a:tr h="0">
                <a:tc>
                  <a:txBody>
                    <a:bodyPr/>
                    <a:lstStyle/>
                    <a:p>
                      <a:pPr indent="0" marL="0">
                        <a:buNone/>
                      </a:pPr>
                      <a:r>
                        <a:rPr lang="en-US" sz="1600" b="1" dirty="0">
                          <a:solidFill>
                            <a:srgbClr val="1F1F1F"/>
                          </a:solidFill>
                        </a:rPr>
                        <a:t>Rigidity</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2F4F7"/>
                    </a:solidFill>
                  </a:tcPr>
                </a:tc>
                <a:tc>
                  <a:txBody>
                    <a:bodyPr/>
                    <a:lstStyle/>
                    <a:p>
                      <a:pPr indent="0" marL="0">
                        <a:buNone/>
                      </a:pPr>
                      <a:r>
                        <a:rPr lang="en-US" sz="1600" dirty="0">
                          <a:solidFill>
                            <a:srgbClr val="1F1F1F"/>
                          </a:solidFill>
                        </a:rPr>
                        <a:t>Constant ↑ tone, independent of velocity</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2F4F7"/>
                    </a:solidFill>
                  </a:tcPr>
                </a:tc>
                <a:tc>
                  <a:txBody>
                    <a:bodyPr/>
                    <a:lstStyle/>
                    <a:p>
                      <a:pPr indent="0" marL="0">
                        <a:buNone/>
                      </a:pPr>
                      <a:r>
                        <a:rPr lang="en-US" sz="1600" dirty="0">
                          <a:solidFill>
                            <a:srgbClr val="1F1F1F"/>
                          </a:solidFill>
                        </a:rPr>
                        <a:t>Distinct pharmacologic approach</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2F4F7"/>
                    </a:solidFill>
                  </a:tcPr>
                </a:tc>
              </a:tr>
            </a:tbl>
          </a:graphicData>
        </a:graphic>
      </p:graphicFrame>
      <p:sp>
        <p:nvSpPr>
          <p:cNvPr id="8" name="Table sources"/>
          <p:cNvSpPr txBox="1"/>
          <p:nvPr/>
        </p:nvSpPr>
        <p:spPr>
          <a:xfrm>
            <a:off x="548640" y="3462528"/>
            <a:ext cx="11094415" cy="274320"/>
          </a:xfrm>
          <a:prstGeom prst="rect">
            <a:avLst/>
          </a:prstGeom>
          <a:noFill/>
          <a:ln/>
        </p:spPr>
        <p:txBody>
          <a:bodyPr wrap="square" lIns="0" tIns="0" rIns="0" bIns="0" rtlCol="0" anchor="ctr"/>
          <a:lstStyle/>
          <a:p>
            <a:pPr indent="0" marL="0">
              <a:buNone/>
            </a:pPr>
            <a:r>
              <a:rPr lang="en-US" sz="1100" dirty="0">
                <a:solidFill>
                  <a:srgbClr val="666666"/>
                </a:solidFill>
              </a:rPr>
              <a:t>Focus: what tells these apart.  Sources: S21; S23; S27; S33; S34</a:t>
            </a:r>
            <a:endParaRPr lang="en-US" sz="11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FFFFFF"/>
        </a:solidFill>
      </p:bgPr>
    </p:bg>
    <p:spTree>
      <p:nvGrpSpPr>
        <p:cNvPr id="1" name=""/>
        <p:cNvGrpSpPr/>
        <p:nvPr/>
      </p:nvGrpSpPr>
      <p:grpSpPr>
        <a:xfrm>
          <a:off x="0" y="0"/>
          <a:ext cx="0" cy="0"/>
          <a:chOff x="0" y="0"/>
          <a:chExt cx="0" cy="0"/>
        </a:xfrm>
      </p:grpSpPr>
      <p:sp>
        <p:nvSpPr>
          <p:cNvPr id="2" name="Kicker"/>
          <p:cNvSpPr txBox="1"/>
          <p:nvPr/>
        </p:nvSpPr>
        <p:spPr>
          <a:xfrm>
            <a:off x="548640" y="292608"/>
            <a:ext cx="8076895" cy="274320"/>
          </a:xfrm>
          <a:prstGeom prst="rect">
            <a:avLst/>
          </a:prstGeom>
          <a:noFill/>
          <a:ln/>
        </p:spPr>
        <p:txBody>
          <a:bodyPr wrap="square" lIns="0" tIns="0" rIns="0" bIns="0" rtlCol="0" anchor="ctr"/>
          <a:lstStyle/>
          <a:p>
            <a:pPr indent="0" marL="0">
              <a:buNone/>
            </a:pPr>
            <a:r>
              <a:rPr lang="en-US" sz="1200" b="1" spc="100" kern="0" dirty="0">
                <a:solidFill>
                  <a:srgbClr val="4472C4"/>
                </a:solidFill>
              </a:rPr>
              <a:t>SKELETAL MUSCLE RELAXANTS</a:t>
            </a:r>
            <a:endParaRPr lang="en-US" sz="1200" dirty="0"/>
          </a:p>
        </p:txBody>
      </p:sp>
      <p:sp>
        <p:nvSpPr>
          <p:cNvPr id="3" name="Title"/>
          <p:cNvSpPr txBox="1"/>
          <p:nvPr/>
        </p:nvSpPr>
        <p:spPr>
          <a:xfrm>
            <a:off x="548640" y="566928"/>
            <a:ext cx="8076895" cy="713232"/>
          </a:xfrm>
          <a:prstGeom prst="rect">
            <a:avLst/>
          </a:prstGeom>
          <a:noFill/>
          <a:ln/>
        </p:spPr>
        <p:txBody>
          <a:bodyPr wrap="square" lIns="0" tIns="0" rIns="0" bIns="0" rtlCol="0" anchor="t"/>
          <a:lstStyle/>
          <a:p>
            <a:pPr indent="0" marL="0">
              <a:buNone/>
            </a:pPr>
            <a:r>
              <a:rPr lang="en-US" sz="3000" b="1" dirty="0">
                <a:solidFill>
                  <a:srgbClr val="1F1F1F"/>
                </a:solidFill>
                <a:latin typeface="Calibri" pitchFamily="34" charset="0"/>
                <a:ea typeface="Calibri" pitchFamily="34" charset="-122"/>
                <a:cs typeface="Calibri" pitchFamily="34" charset="-120"/>
              </a:rPr>
              <a:t>Compare: The muscle relaxants side by side</a:t>
            </a:r>
            <a:endParaRPr lang="en-US" sz="3000" dirty="0"/>
          </a:p>
        </p:txBody>
      </p:sp>
      <p:sp>
        <p:nvSpPr>
          <p:cNvPr id="4" name="Objective chip"/>
          <p:cNvSpPr/>
          <p:nvPr/>
        </p:nvSpPr>
        <p:spPr>
          <a:xfrm>
            <a:off x="8899855" y="365760"/>
            <a:ext cx="2743200" cy="384048"/>
          </a:xfrm>
          <a:prstGeom prst="roundRect">
            <a:avLst>
              <a:gd name="adj" fmla="val 35714"/>
            </a:avLst>
          </a:prstGeom>
          <a:solidFill>
            <a:srgbClr val="E3EBF8"/>
          </a:solidFill>
          <a:ln/>
        </p:spPr>
        <p:txBody>
          <a:bodyPr wrap="square" lIns="25400" tIns="25400" rIns="25400" bIns="25400" rtlCol="0" anchor="ctr"/>
          <a:lstStyle/>
          <a:p>
            <a:pPr algn="ctr" indent="0" marL="0">
              <a:buNone/>
            </a:pPr>
            <a:r>
              <a:rPr lang="en-US" sz="800" b="1" dirty="0">
                <a:solidFill>
                  <a:srgbClr val="2F4F8A"/>
                </a:solidFill>
              </a:rPr>
              <a:t>Objectives: SO2 · SO4 · IO2.1 · IO2.2 · IO2.3 · IO2.5 · IO2.6</a:t>
            </a:r>
            <a:endParaRPr lang="en-US" sz="800" dirty="0"/>
          </a:p>
        </p:txBody>
      </p:sp>
      <p:sp>
        <p:nvSpPr>
          <p:cNvPr id="5" name="Footer"/>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1000" dirty="0">
                <a:solidFill>
                  <a:srgbClr val="666666"/>
                </a:solidFill>
              </a:rPr>
              <a:t>L04 · Musculoskeletal Pharmacology — Session 2</a:t>
            </a:r>
            <a:endParaRPr lang="en-US" sz="1000" dirty="0"/>
          </a:p>
        </p:txBody>
      </p:sp>
      <p:sp>
        <p:nvSpPr>
          <p:cNvPr id="6" name="Slide number"/>
          <p:cNvSpPr txBox="1"/>
          <p:nvPr/>
        </p:nvSpPr>
        <p:spPr>
          <a:xfrm>
            <a:off x="10728655" y="6419088"/>
            <a:ext cx="914400" cy="274320"/>
          </a:xfrm>
          <a:prstGeom prst="rect">
            <a:avLst/>
          </a:prstGeom>
          <a:noFill/>
          <a:ln/>
        </p:spPr>
        <p:txBody>
          <a:bodyPr wrap="square" lIns="0" tIns="0" rIns="0" bIns="0" rtlCol="0" anchor="ctr"/>
          <a:lstStyle/>
          <a:p>
            <a:pPr algn="r" indent="0" marL="0">
              <a:buNone/>
            </a:pPr>
            <a:r>
              <a:rPr lang="en-US" sz="1000" dirty="0">
                <a:solidFill>
                  <a:srgbClr val="666666"/>
                </a:solidFill>
              </a:rPr>
              <a:t>55</a:t>
            </a:r>
            <a:endParaRPr lang="en-US" sz="1000" dirty="0"/>
          </a:p>
        </p:txBody>
      </p:sp>
      <p:graphicFrame>
        <p:nvGraphicFramePr>
          <p:cNvPr id="56" name="Comparison table"/>
          <p:cNvGraphicFramePr>
            <a:graphicFrameLocks noGrp="1"/>
          </p:cNvGraphicFramePr>
          <p:nvPr>
            <p:extLst>
              <p:ext uri="{D42A27DB-BD31-4B8C-83A1-F6EECF244321}">
                <p14:modId xmlns:p14="http://schemas.microsoft.com/office/powerpoint/2010/main" val="1579011935"/>
              </p:ext>
            </p:extLst>
          </p:nvPr>
        </p:nvGraphicFramePr>
        <p:xfrm>
          <a:off x="548640" y="1325880"/>
          <a:ext cx="11094415" cy="914400"/>
        </p:xfrm>
        <a:graphic>
          <a:graphicData uri="http://schemas.openxmlformats.org/drawingml/2006/table">
            <a:tbl>
              <a:tblPr/>
              <a:tblGrid>
                <a:gridCol w="2377440"/>
                <a:gridCol w="2905658"/>
                <a:gridCol w="2905658"/>
                <a:gridCol w="2905658"/>
              </a:tblGrid>
              <a:tr h="0">
                <a:tc>
                  <a:txBody>
                    <a:bodyPr/>
                    <a:lstStyle/>
                    <a:p>
                      <a:pPr indent="0" marL="0">
                        <a:buNone/>
                      </a:pPr>
                      <a:r>
                        <a:rPr lang="en-US" sz="1400" b="1" dirty="0">
                          <a:solidFill>
                            <a:srgbClr val="FFFFFF"/>
                          </a:solidFill>
                        </a:rPr>
                        <a:t>Drug</a:t>
                      </a:r>
                      <a:endParaRPr lang="en-US" sz="14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4472C4"/>
                    </a:solidFill>
                  </a:tcPr>
                </a:tc>
                <a:tc>
                  <a:txBody>
                    <a:bodyPr/>
                    <a:lstStyle/>
                    <a:p>
                      <a:pPr indent="0" marL="0">
                        <a:buNone/>
                      </a:pPr>
                      <a:r>
                        <a:rPr lang="en-US" sz="1400" b="1" dirty="0">
                          <a:solidFill>
                            <a:srgbClr val="FFFFFF"/>
                          </a:solidFill>
                        </a:rPr>
                        <a:t>Site · mechanism</a:t>
                      </a:r>
                      <a:endParaRPr lang="en-US" sz="14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4472C4"/>
                    </a:solidFill>
                  </a:tcPr>
                </a:tc>
                <a:tc>
                  <a:txBody>
                    <a:bodyPr/>
                    <a:lstStyle/>
                    <a:p>
                      <a:pPr indent="0" marL="0">
                        <a:buNone/>
                      </a:pPr>
                      <a:r>
                        <a:rPr lang="en-US" sz="1400" b="1" dirty="0">
                          <a:solidFill>
                            <a:srgbClr val="FFFFFF"/>
                          </a:solidFill>
                        </a:rPr>
                        <a:t>Use</a:t>
                      </a:r>
                      <a:endParaRPr lang="en-US" sz="14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4472C4"/>
                    </a:solidFill>
                  </a:tcPr>
                </a:tc>
                <a:tc>
                  <a:txBody>
                    <a:bodyPr/>
                    <a:lstStyle/>
                    <a:p>
                      <a:pPr indent="0" marL="0">
                        <a:buNone/>
                      </a:pPr>
                      <a:r>
                        <a:rPr lang="en-US" sz="1400" b="1" dirty="0">
                          <a:solidFill>
                            <a:srgbClr val="FFFFFF"/>
                          </a:solidFill>
                        </a:rPr>
                        <a:t>Watch for</a:t>
                      </a:r>
                      <a:endParaRPr lang="en-US" sz="14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4472C4"/>
                    </a:solidFill>
                  </a:tcPr>
                </a:tc>
              </a:tr>
              <a:tr h="0">
                <a:tc>
                  <a:txBody>
                    <a:bodyPr/>
                    <a:lstStyle/>
                    <a:p>
                      <a:pPr indent="0" marL="0">
                        <a:buNone/>
                      </a:pPr>
                      <a:r>
                        <a:rPr lang="en-US" sz="1400" b="1" dirty="0">
                          <a:solidFill>
                            <a:srgbClr val="1F1F1F"/>
                          </a:solidFill>
                        </a:rPr>
                        <a:t>Baclofen</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2F4F7"/>
                    </a:solidFill>
                  </a:tcPr>
                </a:tc>
                <a:tc>
                  <a:txBody>
                    <a:bodyPr/>
                    <a:lstStyle/>
                    <a:p>
                      <a:pPr indent="0" marL="0">
                        <a:buNone/>
                      </a:pPr>
                      <a:r>
                        <a:rPr lang="en-US" sz="1400" dirty="0">
                          <a:solidFill>
                            <a:srgbClr val="1F1F1F"/>
                          </a:solidFill>
                        </a:rPr>
                        <a:t>Spinal cord · GABA-B agonist</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2F4F7"/>
                    </a:solidFill>
                  </a:tcPr>
                </a:tc>
                <a:tc>
                  <a:txBody>
                    <a:bodyPr/>
                    <a:lstStyle/>
                    <a:p>
                      <a:pPr indent="0" marL="0">
                        <a:buNone/>
                      </a:pPr>
                      <a:r>
                        <a:rPr lang="en-US" sz="1400" dirty="0">
                          <a:solidFill>
                            <a:srgbClr val="1F1F1F"/>
                          </a:solidFill>
                        </a:rPr>
                        <a:t>Spasticity (MS, spinal cord injury); intrathecal for severe</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2F4F7"/>
                    </a:solidFill>
                  </a:tcPr>
                </a:tc>
                <a:tc>
                  <a:txBody>
                    <a:bodyPr/>
                    <a:lstStyle/>
                    <a:p>
                      <a:pPr indent="0" marL="0">
                        <a:buNone/>
                      </a:pPr>
                      <a:r>
                        <a:rPr lang="en-US" sz="1400" dirty="0">
                          <a:solidFill>
                            <a:srgbClr val="1F1F1F"/>
                          </a:solidFill>
                        </a:rPr>
                        <a:t>Sedation, weakness; renal dosing; </a:t>
                      </a:r>
                      <a:r>
                        <a:rPr lang="en-US" sz="1400" b="1" dirty="0">
                          <a:solidFill>
                            <a:srgbClr val="1F1F1F"/>
                          </a:solidFill>
                        </a:rPr>
                        <a:t>abrupt withdrawal: seizures, hyperthermia</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2F4F7"/>
                    </a:solidFill>
                  </a:tcPr>
                </a:tc>
              </a:tr>
              <a:tr h="0">
                <a:tc>
                  <a:txBody>
                    <a:bodyPr/>
                    <a:lstStyle/>
                    <a:p>
                      <a:pPr indent="0" marL="0">
                        <a:buNone/>
                      </a:pPr>
                      <a:r>
                        <a:rPr lang="en-US" sz="1400" b="1" dirty="0">
                          <a:solidFill>
                            <a:srgbClr val="1F1F1F"/>
                          </a:solidFill>
                        </a:rPr>
                        <a:t>Tizanidine</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FFFFF"/>
                    </a:solidFill>
                  </a:tcPr>
                </a:tc>
                <a:tc>
                  <a:txBody>
                    <a:bodyPr/>
                    <a:lstStyle/>
                    <a:p>
                      <a:pPr indent="0" marL="0">
                        <a:buNone/>
                      </a:pPr>
                      <a:r>
                        <a:rPr lang="en-US" sz="1400" dirty="0">
                          <a:solidFill>
                            <a:srgbClr val="1F1F1F"/>
                          </a:solidFill>
                        </a:rPr>
                        <a:t>CNS · α2 agonist</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FFFFF"/>
                    </a:solidFill>
                  </a:tcPr>
                </a:tc>
                <a:tc>
                  <a:txBody>
                    <a:bodyPr/>
                    <a:lstStyle/>
                    <a:p>
                      <a:pPr indent="0" marL="0">
                        <a:buNone/>
                      </a:pPr>
                      <a:r>
                        <a:rPr lang="en-US" sz="1400" dirty="0">
                          <a:solidFill>
                            <a:srgbClr val="1F1F1F"/>
                          </a:solidFill>
                        </a:rPr>
                        <a:t>Spasticity / tone</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FFFFF"/>
                    </a:solidFill>
                  </a:tcPr>
                </a:tc>
                <a:tc>
                  <a:txBody>
                    <a:bodyPr/>
                    <a:lstStyle/>
                    <a:p>
                      <a:pPr indent="0" marL="0">
                        <a:buNone/>
                      </a:pPr>
                      <a:r>
                        <a:rPr lang="en-US" sz="1400" dirty="0">
                          <a:solidFill>
                            <a:srgbClr val="1F1F1F"/>
                          </a:solidFill>
                        </a:rPr>
                        <a:t>Hypotension, bradycardia, dry mouth, </a:t>
                      </a:r>
                      <a:r>
                        <a:rPr lang="en-US" sz="1400" b="1" dirty="0">
                          <a:solidFill>
                            <a:srgbClr val="1F1F1F"/>
                          </a:solidFill>
                        </a:rPr>
                        <a:t>LFTs</a:t>
                      </a:r>
                      <a:r>
                        <a:rPr lang="en-US" sz="1400" dirty="0">
                          <a:solidFill>
                            <a:srgbClr val="1F1F1F"/>
                          </a:solidFill>
                        </a:rPr>
                        <a:t>; CYP1A2 (ciprofloxacin, fluvoxamine)</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FFFFF"/>
                    </a:solidFill>
                  </a:tcPr>
                </a:tc>
              </a:tr>
              <a:tr h="0">
                <a:tc>
                  <a:txBody>
                    <a:bodyPr/>
                    <a:lstStyle/>
                    <a:p>
                      <a:pPr indent="0" marL="0">
                        <a:buNone/>
                      </a:pPr>
                      <a:r>
                        <a:rPr lang="en-US" sz="1400" b="1" dirty="0">
                          <a:solidFill>
                            <a:srgbClr val="1F1F1F"/>
                          </a:solidFill>
                        </a:rPr>
                        <a:t>Cyclobenzaprine</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2F4F7"/>
                    </a:solidFill>
                  </a:tcPr>
                </a:tc>
                <a:tc>
                  <a:txBody>
                    <a:bodyPr/>
                    <a:lstStyle/>
                    <a:p>
                      <a:pPr indent="0" marL="0">
                        <a:buNone/>
                      </a:pPr>
                      <a:r>
                        <a:rPr lang="en-US" sz="1400" dirty="0">
                          <a:solidFill>
                            <a:srgbClr val="1F1F1F"/>
                          </a:solidFill>
                        </a:rPr>
                        <a:t>Brainstem · 5-HT2 antagonism (TCA-like)</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2F4F7"/>
                    </a:solidFill>
                  </a:tcPr>
                </a:tc>
                <a:tc>
                  <a:txBody>
                    <a:bodyPr/>
                    <a:lstStyle/>
                    <a:p>
                      <a:pPr indent="0" marL="0">
                        <a:buNone/>
                      </a:pPr>
                      <a:r>
                        <a:rPr lang="en-US" sz="1400" dirty="0">
                          <a:solidFill>
                            <a:srgbClr val="1F1F1F"/>
                          </a:solidFill>
                        </a:rPr>
                        <a:t>Acute local spasm, 2–3 weeks</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2F4F7"/>
                    </a:solidFill>
                  </a:tcPr>
                </a:tc>
                <a:tc>
                  <a:txBody>
                    <a:bodyPr/>
                    <a:lstStyle/>
                    <a:p>
                      <a:pPr indent="0" marL="0">
                        <a:buNone/>
                      </a:pPr>
                      <a:r>
                        <a:rPr lang="en-US" sz="1400" dirty="0">
                          <a:solidFill>
                            <a:srgbClr val="1F1F1F"/>
                          </a:solidFill>
                        </a:rPr>
                        <a:t>Sedation, </a:t>
                      </a:r>
                      <a:r>
                        <a:rPr lang="en-US" sz="1400" b="1" dirty="0">
                          <a:solidFill>
                            <a:srgbClr val="1F1F1F"/>
                          </a:solidFill>
                        </a:rPr>
                        <a:t>anticholinergic</a:t>
                      </a:r>
                      <a:r>
                        <a:rPr lang="en-US" sz="1400" dirty="0">
                          <a:solidFill>
                            <a:srgbClr val="1F1F1F"/>
                          </a:solidFill>
                        </a:rPr>
                        <a:t> (Beers); serotonin syndrome; no MAOIs</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2F4F7"/>
                    </a:solidFill>
                  </a:tcPr>
                </a:tc>
              </a:tr>
              <a:tr h="0">
                <a:tc>
                  <a:txBody>
                    <a:bodyPr/>
                    <a:lstStyle/>
                    <a:p>
                      <a:pPr indent="0" marL="0">
                        <a:buNone/>
                      </a:pPr>
                      <a:r>
                        <a:rPr lang="en-US" sz="1400" b="1" dirty="0">
                          <a:solidFill>
                            <a:srgbClr val="1F1F1F"/>
                          </a:solidFill>
                        </a:rPr>
                        <a:t>Carisoprodol</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FFFFF"/>
                    </a:solidFill>
                  </a:tcPr>
                </a:tc>
                <a:tc>
                  <a:txBody>
                    <a:bodyPr/>
                    <a:lstStyle/>
                    <a:p>
                      <a:pPr indent="0" marL="0">
                        <a:buNone/>
                      </a:pPr>
                      <a:r>
                        <a:rPr lang="en-US" sz="1400" dirty="0">
                          <a:solidFill>
                            <a:srgbClr val="1F1F1F"/>
                          </a:solidFill>
                        </a:rPr>
                        <a:t>CNS (→ meprobamate)</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FFFFF"/>
                    </a:solidFill>
                  </a:tcPr>
                </a:tc>
                <a:tc>
                  <a:txBody>
                    <a:bodyPr/>
                    <a:lstStyle/>
                    <a:p>
                      <a:pPr indent="0" marL="0">
                        <a:buNone/>
                      </a:pPr>
                      <a:r>
                        <a:rPr lang="en-US" sz="1400" dirty="0">
                          <a:solidFill>
                            <a:srgbClr val="1F1F1F"/>
                          </a:solidFill>
                        </a:rPr>
                        <a:t>Other central option</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FFFFF"/>
                    </a:solidFill>
                  </a:tcPr>
                </a:tc>
                <a:tc>
                  <a:txBody>
                    <a:bodyPr/>
                    <a:lstStyle/>
                    <a:p>
                      <a:pPr indent="0" marL="0">
                        <a:buNone/>
                      </a:pPr>
                      <a:r>
                        <a:rPr lang="en-US" sz="1400" dirty="0">
                          <a:solidFill>
                            <a:srgbClr val="1F1F1F"/>
                          </a:solidFill>
                        </a:rPr>
                        <a:t>Schedule IV: dependence, misuse</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FFFFF"/>
                    </a:solidFill>
                  </a:tcPr>
                </a:tc>
              </a:tr>
            </a:tbl>
          </a:graphicData>
        </a:graphic>
      </p:graphicFrame>
      <p:sp>
        <p:nvSpPr>
          <p:cNvPr id="8" name="Table sources"/>
          <p:cNvSpPr txBox="1"/>
          <p:nvPr/>
        </p:nvSpPr>
        <p:spPr>
          <a:xfrm>
            <a:off x="548640" y="4272280"/>
            <a:ext cx="11094415" cy="274320"/>
          </a:xfrm>
          <a:prstGeom prst="rect">
            <a:avLst/>
          </a:prstGeom>
          <a:noFill/>
          <a:ln/>
        </p:spPr>
        <p:txBody>
          <a:bodyPr wrap="square" lIns="0" tIns="0" rIns="0" bIns="0" rtlCol="0" anchor="ctr"/>
          <a:lstStyle/>
          <a:p>
            <a:pPr indent="0" marL="0">
              <a:buNone/>
            </a:pPr>
            <a:r>
              <a:rPr lang="en-US" sz="1100" dirty="0">
                <a:solidFill>
                  <a:srgbClr val="666666"/>
                </a:solidFill>
              </a:rPr>
              <a:t>Focus: what tells these apart.  Sources: S23; S27–S35</a:t>
            </a:r>
            <a:endParaRPr lang="en-US" sz="11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FFFFFF"/>
        </a:solidFill>
      </p:bgPr>
    </p:bg>
    <p:spTree>
      <p:nvGrpSpPr>
        <p:cNvPr id="1" name=""/>
        <p:cNvGrpSpPr/>
        <p:nvPr/>
      </p:nvGrpSpPr>
      <p:grpSpPr>
        <a:xfrm>
          <a:off x="0" y="0"/>
          <a:ext cx="0" cy="0"/>
          <a:chOff x="0" y="0"/>
          <a:chExt cx="0" cy="0"/>
        </a:xfrm>
      </p:grpSpPr>
      <p:sp>
        <p:nvSpPr>
          <p:cNvPr id="2" name="Kicker"/>
          <p:cNvSpPr txBox="1"/>
          <p:nvPr/>
        </p:nvSpPr>
        <p:spPr>
          <a:xfrm>
            <a:off x="548640" y="292608"/>
            <a:ext cx="8076895" cy="274320"/>
          </a:xfrm>
          <a:prstGeom prst="rect">
            <a:avLst/>
          </a:prstGeom>
          <a:noFill/>
          <a:ln/>
        </p:spPr>
        <p:txBody>
          <a:bodyPr wrap="square" lIns="0" tIns="0" rIns="0" bIns="0" rtlCol="0" anchor="ctr"/>
          <a:lstStyle/>
          <a:p>
            <a:pPr indent="0" marL="0">
              <a:buNone/>
            </a:pPr>
            <a:r>
              <a:rPr lang="en-US" sz="1200" b="1" spc="100" kern="0" dirty="0">
                <a:solidFill>
                  <a:srgbClr val="4472C4"/>
                </a:solidFill>
              </a:rPr>
              <a:t>SKELETAL MUSCLE RELAXANTS</a:t>
            </a:r>
            <a:endParaRPr lang="en-US" sz="1200" dirty="0"/>
          </a:p>
        </p:txBody>
      </p:sp>
      <p:sp>
        <p:nvSpPr>
          <p:cNvPr id="3" name="Title"/>
          <p:cNvSpPr txBox="1"/>
          <p:nvPr/>
        </p:nvSpPr>
        <p:spPr>
          <a:xfrm>
            <a:off x="548640" y="566928"/>
            <a:ext cx="8076895" cy="713232"/>
          </a:xfrm>
          <a:prstGeom prst="rect">
            <a:avLst/>
          </a:prstGeom>
          <a:noFill/>
          <a:ln/>
        </p:spPr>
        <p:txBody>
          <a:bodyPr wrap="square" lIns="0" tIns="0" rIns="0" bIns="0" rtlCol="0" anchor="t"/>
          <a:lstStyle/>
          <a:p>
            <a:pPr indent="0" marL="0">
              <a:buNone/>
            </a:pPr>
            <a:r>
              <a:rPr lang="en-US" sz="3000" b="1" dirty="0">
                <a:solidFill>
                  <a:srgbClr val="1F1F1F"/>
                </a:solidFill>
                <a:latin typeface="Calibri" pitchFamily="34" charset="0"/>
                <a:ea typeface="Calibri" pitchFamily="34" charset="-122"/>
                <a:cs typeface="Calibri" pitchFamily="34" charset="-120"/>
              </a:rPr>
              <a:t>Compare: The muscle relaxants side by side (cont.)</a:t>
            </a:r>
            <a:endParaRPr lang="en-US" sz="3000" dirty="0"/>
          </a:p>
        </p:txBody>
      </p:sp>
      <p:sp>
        <p:nvSpPr>
          <p:cNvPr id="4" name="Objective chip"/>
          <p:cNvSpPr/>
          <p:nvPr/>
        </p:nvSpPr>
        <p:spPr>
          <a:xfrm>
            <a:off x="8899855" y="365760"/>
            <a:ext cx="2743200" cy="384048"/>
          </a:xfrm>
          <a:prstGeom prst="roundRect">
            <a:avLst>
              <a:gd name="adj" fmla="val 35714"/>
            </a:avLst>
          </a:prstGeom>
          <a:solidFill>
            <a:srgbClr val="E3EBF8"/>
          </a:solidFill>
          <a:ln/>
        </p:spPr>
        <p:txBody>
          <a:bodyPr wrap="square" lIns="25400" tIns="25400" rIns="25400" bIns="25400" rtlCol="0" anchor="ctr"/>
          <a:lstStyle/>
          <a:p>
            <a:pPr algn="ctr" indent="0" marL="0">
              <a:buNone/>
            </a:pPr>
            <a:r>
              <a:rPr lang="en-US" sz="800" b="1" dirty="0">
                <a:solidFill>
                  <a:srgbClr val="2F4F8A"/>
                </a:solidFill>
              </a:rPr>
              <a:t>Objectives: SO2 · SO4 · IO2.1 · IO2.2 · IO2.3 · IO2.5 · IO2.6</a:t>
            </a:r>
            <a:endParaRPr lang="en-US" sz="800" dirty="0"/>
          </a:p>
        </p:txBody>
      </p:sp>
      <p:sp>
        <p:nvSpPr>
          <p:cNvPr id="5" name="Footer"/>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1000" dirty="0">
                <a:solidFill>
                  <a:srgbClr val="666666"/>
                </a:solidFill>
              </a:rPr>
              <a:t>L04 · Musculoskeletal Pharmacology — Session 2</a:t>
            </a:r>
            <a:endParaRPr lang="en-US" sz="1000" dirty="0"/>
          </a:p>
        </p:txBody>
      </p:sp>
      <p:sp>
        <p:nvSpPr>
          <p:cNvPr id="6" name="Slide number"/>
          <p:cNvSpPr txBox="1"/>
          <p:nvPr/>
        </p:nvSpPr>
        <p:spPr>
          <a:xfrm>
            <a:off x="10728655" y="6419088"/>
            <a:ext cx="914400" cy="274320"/>
          </a:xfrm>
          <a:prstGeom prst="rect">
            <a:avLst/>
          </a:prstGeom>
          <a:noFill/>
          <a:ln/>
        </p:spPr>
        <p:txBody>
          <a:bodyPr wrap="square" lIns="0" tIns="0" rIns="0" bIns="0" rtlCol="0" anchor="ctr"/>
          <a:lstStyle/>
          <a:p>
            <a:pPr algn="r" indent="0" marL="0">
              <a:buNone/>
            </a:pPr>
            <a:r>
              <a:rPr lang="en-US" sz="1000" dirty="0">
                <a:solidFill>
                  <a:srgbClr val="666666"/>
                </a:solidFill>
              </a:rPr>
              <a:t>56</a:t>
            </a:r>
            <a:endParaRPr lang="en-US" sz="1000" dirty="0"/>
          </a:p>
        </p:txBody>
      </p:sp>
      <p:graphicFrame>
        <p:nvGraphicFramePr>
          <p:cNvPr id="57" name="Comparison table"/>
          <p:cNvGraphicFramePr>
            <a:graphicFrameLocks noGrp="1"/>
          </p:cNvGraphicFramePr>
          <p:nvPr>
            <p:extLst>
              <p:ext uri="{D42A27DB-BD31-4B8C-83A1-F6EECF244321}">
                <p14:modId xmlns:p14="http://schemas.microsoft.com/office/powerpoint/2010/main" val="1579011935"/>
              </p:ext>
            </p:extLst>
          </p:nvPr>
        </p:nvGraphicFramePr>
        <p:xfrm>
          <a:off x="548640" y="1325880"/>
          <a:ext cx="11094415" cy="914400"/>
        </p:xfrm>
        <a:graphic>
          <a:graphicData uri="http://schemas.openxmlformats.org/drawingml/2006/table">
            <a:tbl>
              <a:tblPr/>
              <a:tblGrid>
                <a:gridCol w="2377440"/>
                <a:gridCol w="2905658"/>
                <a:gridCol w="2905658"/>
                <a:gridCol w="2905658"/>
              </a:tblGrid>
              <a:tr h="0">
                <a:tc>
                  <a:txBody>
                    <a:bodyPr/>
                    <a:lstStyle/>
                    <a:p>
                      <a:pPr indent="0" marL="0">
                        <a:buNone/>
                      </a:pPr>
                      <a:r>
                        <a:rPr lang="en-US" sz="1400" b="1" dirty="0">
                          <a:solidFill>
                            <a:srgbClr val="FFFFFF"/>
                          </a:solidFill>
                        </a:rPr>
                        <a:t>Drug</a:t>
                      </a:r>
                      <a:endParaRPr lang="en-US" sz="14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4472C4"/>
                    </a:solidFill>
                  </a:tcPr>
                </a:tc>
                <a:tc>
                  <a:txBody>
                    <a:bodyPr/>
                    <a:lstStyle/>
                    <a:p>
                      <a:pPr indent="0" marL="0">
                        <a:buNone/>
                      </a:pPr>
                      <a:r>
                        <a:rPr lang="en-US" sz="1400" b="1" dirty="0">
                          <a:solidFill>
                            <a:srgbClr val="FFFFFF"/>
                          </a:solidFill>
                        </a:rPr>
                        <a:t>Site · mechanism</a:t>
                      </a:r>
                      <a:endParaRPr lang="en-US" sz="14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4472C4"/>
                    </a:solidFill>
                  </a:tcPr>
                </a:tc>
                <a:tc>
                  <a:txBody>
                    <a:bodyPr/>
                    <a:lstStyle/>
                    <a:p>
                      <a:pPr indent="0" marL="0">
                        <a:buNone/>
                      </a:pPr>
                      <a:r>
                        <a:rPr lang="en-US" sz="1400" b="1" dirty="0">
                          <a:solidFill>
                            <a:srgbClr val="FFFFFF"/>
                          </a:solidFill>
                        </a:rPr>
                        <a:t>Use</a:t>
                      </a:r>
                      <a:endParaRPr lang="en-US" sz="14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4472C4"/>
                    </a:solidFill>
                  </a:tcPr>
                </a:tc>
                <a:tc>
                  <a:txBody>
                    <a:bodyPr/>
                    <a:lstStyle/>
                    <a:p>
                      <a:pPr indent="0" marL="0">
                        <a:buNone/>
                      </a:pPr>
                      <a:r>
                        <a:rPr lang="en-US" sz="1400" b="1" dirty="0">
                          <a:solidFill>
                            <a:srgbClr val="FFFFFF"/>
                          </a:solidFill>
                        </a:rPr>
                        <a:t>Watch for</a:t>
                      </a:r>
                      <a:endParaRPr lang="en-US" sz="14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4472C4"/>
                    </a:solidFill>
                  </a:tcPr>
                </a:tc>
              </a:tr>
              <a:tr h="0">
                <a:tc>
                  <a:txBody>
                    <a:bodyPr/>
                    <a:lstStyle/>
                    <a:p>
                      <a:pPr indent="0" marL="0">
                        <a:buNone/>
                      </a:pPr>
                      <a:r>
                        <a:rPr lang="en-US" sz="1400" b="1" dirty="0">
                          <a:solidFill>
                            <a:srgbClr val="1F1F1F"/>
                          </a:solidFill>
                        </a:rPr>
                        <a:t>Methocarbamol · metaxalone</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2F4F7"/>
                    </a:solidFill>
                  </a:tcPr>
                </a:tc>
                <a:tc>
                  <a:txBody>
                    <a:bodyPr/>
                    <a:lstStyle/>
                    <a:p>
                      <a:pPr indent="0" marL="0">
                        <a:buNone/>
                      </a:pPr>
                      <a:r>
                        <a:rPr lang="en-US" sz="1400" dirty="0">
                          <a:solidFill>
                            <a:srgbClr val="1F1F1F"/>
                          </a:solidFill>
                        </a:rPr>
                        <a:t>CNS</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2F4F7"/>
                    </a:solidFill>
                  </a:tcPr>
                </a:tc>
                <a:tc>
                  <a:txBody>
                    <a:bodyPr/>
                    <a:lstStyle/>
                    <a:p>
                      <a:pPr indent="0" marL="0">
                        <a:buNone/>
                      </a:pPr>
                      <a:r>
                        <a:rPr lang="en-US" sz="1400" dirty="0">
                          <a:solidFill>
                            <a:srgbClr val="1F1F1F"/>
                          </a:solidFill>
                        </a:rPr>
                        <a:t>Other central options</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2F4F7"/>
                    </a:solidFill>
                  </a:tcPr>
                </a:tc>
                <a:tc>
                  <a:txBody>
                    <a:bodyPr/>
                    <a:lstStyle/>
                    <a:p>
                      <a:pPr indent="0" marL="0">
                        <a:buNone/>
                      </a:pPr>
                      <a:r>
                        <a:rPr lang="en-US" sz="1400" dirty="0">
                          <a:solidFill>
                            <a:srgbClr val="1F1F1F"/>
                          </a:solidFill>
                        </a:rPr>
                        <a:t>Less sedating than cyclobenzaprine</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2F4F7"/>
                    </a:solidFill>
                  </a:tcPr>
                </a:tc>
              </a:tr>
              <a:tr h="0">
                <a:tc>
                  <a:txBody>
                    <a:bodyPr/>
                    <a:lstStyle/>
                    <a:p>
                      <a:pPr indent="0" marL="0">
                        <a:buNone/>
                      </a:pPr>
                      <a:r>
                        <a:rPr lang="en-US" sz="1400" b="1" dirty="0">
                          <a:solidFill>
                            <a:srgbClr val="1F1F1F"/>
                          </a:solidFill>
                        </a:rPr>
                        <a:t>Chlorzoxazone</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FFFFF"/>
                    </a:solidFill>
                  </a:tcPr>
                </a:tc>
                <a:tc>
                  <a:txBody>
                    <a:bodyPr/>
                    <a:lstStyle/>
                    <a:p>
                      <a:pPr indent="0" marL="0">
                        <a:buNone/>
                      </a:pPr>
                      <a:r>
                        <a:rPr lang="en-US" sz="1400" dirty="0">
                          <a:solidFill>
                            <a:srgbClr val="1F1F1F"/>
                          </a:solidFill>
                        </a:rPr>
                        <a:t>CNS</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FFFFF"/>
                    </a:solidFill>
                  </a:tcPr>
                </a:tc>
                <a:tc>
                  <a:txBody>
                    <a:bodyPr/>
                    <a:lstStyle/>
                    <a:p>
                      <a:pPr indent="0" marL="0">
                        <a:buNone/>
                      </a:pPr>
                      <a:r>
                        <a:rPr lang="en-US" sz="1400" dirty="0">
                          <a:solidFill>
                            <a:srgbClr val="1F1F1F"/>
                          </a:solidFill>
                        </a:rPr>
                        <a:t>Other central option</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FFFFF"/>
                    </a:solidFill>
                  </a:tcPr>
                </a:tc>
                <a:tc>
                  <a:txBody>
                    <a:bodyPr/>
                    <a:lstStyle/>
                    <a:p>
                      <a:pPr indent="0" marL="0">
                        <a:buNone/>
                      </a:pPr>
                      <a:r>
                        <a:rPr lang="en-US" sz="1400" dirty="0">
                          <a:solidFill>
                            <a:srgbClr val="1F1F1F"/>
                          </a:solidFill>
                        </a:rPr>
                        <a:t>Rare hepatotoxicity</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FFFFF"/>
                    </a:solidFill>
                  </a:tcPr>
                </a:tc>
              </a:tr>
              <a:tr h="0">
                <a:tc>
                  <a:txBody>
                    <a:bodyPr/>
                    <a:lstStyle/>
                    <a:p>
                      <a:pPr indent="0" marL="0">
                        <a:buNone/>
                      </a:pPr>
                      <a:r>
                        <a:rPr lang="en-US" sz="1400" b="1" dirty="0">
                          <a:solidFill>
                            <a:srgbClr val="1F1F1F"/>
                          </a:solidFill>
                        </a:rPr>
                        <a:t>Dantrolene</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2F4F7"/>
                    </a:solidFill>
                  </a:tcPr>
                </a:tc>
                <a:tc>
                  <a:txBody>
                    <a:bodyPr/>
                    <a:lstStyle/>
                    <a:p>
                      <a:pPr indent="0" marL="0">
                        <a:buNone/>
                      </a:pPr>
                      <a:r>
                        <a:rPr lang="en-US" sz="1400" dirty="0">
                          <a:solidFill>
                            <a:srgbClr val="1F1F1F"/>
                          </a:solidFill>
                        </a:rPr>
                        <a:t>Muscle fiber · blocks RyR1 Ca²⁺ release</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2F4F7"/>
                    </a:solidFill>
                  </a:tcPr>
                </a:tc>
                <a:tc>
                  <a:txBody>
                    <a:bodyPr/>
                    <a:lstStyle/>
                    <a:p>
                      <a:pPr indent="0" marL="0">
                        <a:buNone/>
                      </a:pPr>
                      <a:r>
                        <a:rPr lang="en-US" sz="1400" b="1" dirty="0">
                          <a:solidFill>
                            <a:srgbClr val="1F1F1F"/>
                          </a:solidFill>
                        </a:rPr>
                        <a:t>Malignant hyperthermia</a:t>
                      </a:r>
                      <a:r>
                        <a:rPr lang="en-US" sz="1400" dirty="0">
                          <a:solidFill>
                            <a:srgbClr val="1F1F1F"/>
                          </a:solidFill>
                        </a:rPr>
                        <a:t>; spasticity; NMS</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2F4F7"/>
                    </a:solidFill>
                  </a:tcPr>
                </a:tc>
                <a:tc>
                  <a:txBody>
                    <a:bodyPr/>
                    <a:lstStyle/>
                    <a:p>
                      <a:pPr indent="0" marL="0">
                        <a:buNone/>
                      </a:pPr>
                      <a:r>
                        <a:rPr lang="en-US" sz="1400" dirty="0">
                          <a:solidFill>
                            <a:srgbClr val="1F1F1F"/>
                          </a:solidFill>
                        </a:rPr>
                        <a:t>Hepatotoxicity, weakness</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2F4F7"/>
                    </a:solidFill>
                  </a:tcPr>
                </a:tc>
              </a:tr>
              <a:tr h="0">
                <a:tc>
                  <a:txBody>
                    <a:bodyPr/>
                    <a:lstStyle/>
                    <a:p>
                      <a:pPr indent="0" marL="0">
                        <a:buNone/>
                      </a:pPr>
                      <a:r>
                        <a:rPr lang="en-US" sz="1400" b="1" dirty="0">
                          <a:solidFill>
                            <a:srgbClr val="1F1F1F"/>
                          </a:solidFill>
                        </a:rPr>
                        <a:t>Botulinum toxin</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FFFFF"/>
                    </a:solidFill>
                  </a:tcPr>
                </a:tc>
                <a:tc>
                  <a:txBody>
                    <a:bodyPr/>
                    <a:lstStyle/>
                    <a:p>
                      <a:pPr indent="0" marL="0">
                        <a:buNone/>
                      </a:pPr>
                      <a:r>
                        <a:rPr lang="en-US" sz="1400" dirty="0">
                          <a:solidFill>
                            <a:srgbClr val="1F1F1F"/>
                          </a:solidFill>
                        </a:rPr>
                        <a:t>Neuromuscular junction · blocks ACh release</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FFFFF"/>
                    </a:solidFill>
                  </a:tcPr>
                </a:tc>
                <a:tc>
                  <a:txBody>
                    <a:bodyPr/>
                    <a:lstStyle/>
                    <a:p>
                      <a:pPr indent="0" marL="0">
                        <a:buNone/>
                      </a:pPr>
                      <a:r>
                        <a:rPr lang="en-US" sz="1400" dirty="0">
                          <a:solidFill>
                            <a:srgbClr val="1F1F1F"/>
                          </a:solidFill>
                        </a:rPr>
                        <a:t>Focal spasticity, dystonia</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FFFFF"/>
                    </a:solidFill>
                  </a:tcPr>
                </a:tc>
                <a:tc>
                  <a:txBody>
                    <a:bodyPr/>
                    <a:lstStyle/>
                    <a:p>
                      <a:pPr indent="0" marL="0">
                        <a:buNone/>
                      </a:pPr>
                      <a:r>
                        <a:rPr lang="en-US" sz="1400" dirty="0">
                          <a:solidFill>
                            <a:srgbClr val="1F1F1F"/>
                          </a:solidFill>
                        </a:rPr>
                        <a:t>Local and temporary; repeat injections</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FFFFF"/>
                    </a:solidFill>
                  </a:tcPr>
                </a:tc>
              </a:tr>
            </a:tbl>
          </a:graphicData>
        </a:graphic>
      </p:graphicFrame>
      <p:sp>
        <p:nvSpPr>
          <p:cNvPr id="8" name="Table sources"/>
          <p:cNvSpPr txBox="1"/>
          <p:nvPr/>
        </p:nvSpPr>
        <p:spPr>
          <a:xfrm>
            <a:off x="548640" y="3838448"/>
            <a:ext cx="11094415" cy="274320"/>
          </a:xfrm>
          <a:prstGeom prst="rect">
            <a:avLst/>
          </a:prstGeom>
          <a:noFill/>
          <a:ln/>
        </p:spPr>
        <p:txBody>
          <a:bodyPr wrap="square" lIns="0" tIns="0" rIns="0" bIns="0" rtlCol="0" anchor="ctr"/>
          <a:lstStyle/>
          <a:p>
            <a:pPr indent="0" marL="0">
              <a:buNone/>
            </a:pPr>
            <a:r>
              <a:rPr lang="en-US" sz="1100" dirty="0">
                <a:solidFill>
                  <a:srgbClr val="666666"/>
                </a:solidFill>
              </a:rPr>
              <a:t>Focus: what tells these apart.  Sources: S23; S27–S35</a:t>
            </a:r>
            <a:endParaRPr lang="en-US" sz="11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FFFFFF"/>
        </a:solidFill>
      </p:bgPr>
    </p:bg>
    <p:spTree>
      <p:nvGrpSpPr>
        <p:cNvPr id="1" name=""/>
        <p:cNvGrpSpPr/>
        <p:nvPr/>
      </p:nvGrpSpPr>
      <p:grpSpPr>
        <a:xfrm>
          <a:off x="0" y="0"/>
          <a:ext cx="0" cy="0"/>
          <a:chOff x="0" y="0"/>
          <a:chExt cx="0" cy="0"/>
        </a:xfrm>
      </p:grpSpPr>
      <p:sp>
        <p:nvSpPr>
          <p:cNvPr id="2" name="Kicker"/>
          <p:cNvSpPr txBox="1"/>
          <p:nvPr/>
        </p:nvSpPr>
        <p:spPr>
          <a:xfrm>
            <a:off x="548640" y="292608"/>
            <a:ext cx="8076895" cy="274320"/>
          </a:xfrm>
          <a:prstGeom prst="rect">
            <a:avLst/>
          </a:prstGeom>
          <a:noFill/>
          <a:ln/>
        </p:spPr>
        <p:txBody>
          <a:bodyPr wrap="square" lIns="0" tIns="0" rIns="0" bIns="0" rtlCol="0" anchor="ctr"/>
          <a:lstStyle/>
          <a:p>
            <a:pPr indent="0" marL="0">
              <a:buNone/>
            </a:pPr>
            <a:r>
              <a:rPr lang="en-US" sz="1200" b="1" spc="100" kern="0" dirty="0">
                <a:solidFill>
                  <a:srgbClr val="4472C4"/>
                </a:solidFill>
              </a:rPr>
              <a:t>SKELETAL MUSCLE RELAXANTS</a:t>
            </a:r>
            <a:endParaRPr lang="en-US" sz="1200" dirty="0"/>
          </a:p>
        </p:txBody>
      </p:sp>
      <p:sp>
        <p:nvSpPr>
          <p:cNvPr id="3" name="Title"/>
          <p:cNvSpPr txBox="1"/>
          <p:nvPr/>
        </p:nvSpPr>
        <p:spPr>
          <a:xfrm>
            <a:off x="548640" y="566928"/>
            <a:ext cx="8076895" cy="713232"/>
          </a:xfrm>
          <a:prstGeom prst="rect">
            <a:avLst/>
          </a:prstGeom>
          <a:noFill/>
          <a:ln/>
        </p:spPr>
        <p:txBody>
          <a:bodyPr wrap="square" lIns="0" tIns="0" rIns="0" bIns="0" rtlCol="0" anchor="t"/>
          <a:lstStyle/>
          <a:p>
            <a:pPr indent="0" marL="0">
              <a:buNone/>
            </a:pPr>
            <a:r>
              <a:rPr lang="en-US" sz="3000" b="1" dirty="0">
                <a:solidFill>
                  <a:srgbClr val="1F1F1F"/>
                </a:solidFill>
                <a:latin typeface="Calibri" pitchFamily="34" charset="0"/>
                <a:ea typeface="Calibri" pitchFamily="34" charset="-122"/>
                <a:cs typeface="Calibri" pitchFamily="34" charset="-120"/>
              </a:rPr>
              <a:t>Compare: Name clues: muscle relaxants</a:t>
            </a:r>
            <a:endParaRPr lang="en-US" sz="3000" dirty="0"/>
          </a:p>
        </p:txBody>
      </p:sp>
      <p:sp>
        <p:nvSpPr>
          <p:cNvPr id="4" name="Objective chip"/>
          <p:cNvSpPr/>
          <p:nvPr/>
        </p:nvSpPr>
        <p:spPr>
          <a:xfrm>
            <a:off x="8899855" y="365760"/>
            <a:ext cx="2743200" cy="384048"/>
          </a:xfrm>
          <a:prstGeom prst="roundRect">
            <a:avLst>
              <a:gd name="adj" fmla="val 35714"/>
            </a:avLst>
          </a:prstGeom>
          <a:solidFill>
            <a:srgbClr val="E3EBF8"/>
          </a:solidFill>
          <a:ln/>
        </p:spPr>
        <p:txBody>
          <a:bodyPr wrap="square" lIns="25400" tIns="25400" rIns="25400" bIns="25400" rtlCol="0" anchor="ctr"/>
          <a:lstStyle/>
          <a:p>
            <a:pPr algn="ctr" indent="0" marL="0">
              <a:buNone/>
            </a:pPr>
            <a:r>
              <a:rPr lang="en-US" sz="800" b="1" dirty="0">
                <a:solidFill>
                  <a:srgbClr val="2F4F8A"/>
                </a:solidFill>
              </a:rPr>
              <a:t>Objectives: SO2 · SO4 · IO2.1 · IO2.2 · IO2.3 · IO2.5 · IO2.6</a:t>
            </a:r>
            <a:endParaRPr lang="en-US" sz="800" dirty="0"/>
          </a:p>
        </p:txBody>
      </p:sp>
      <p:sp>
        <p:nvSpPr>
          <p:cNvPr id="5" name="Footer"/>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1000" dirty="0">
                <a:solidFill>
                  <a:srgbClr val="666666"/>
                </a:solidFill>
              </a:rPr>
              <a:t>L04 · Musculoskeletal Pharmacology — Session 2</a:t>
            </a:r>
            <a:endParaRPr lang="en-US" sz="1000" dirty="0"/>
          </a:p>
        </p:txBody>
      </p:sp>
      <p:sp>
        <p:nvSpPr>
          <p:cNvPr id="6" name="Slide number"/>
          <p:cNvSpPr txBox="1"/>
          <p:nvPr/>
        </p:nvSpPr>
        <p:spPr>
          <a:xfrm>
            <a:off x="10728655" y="6419088"/>
            <a:ext cx="914400" cy="274320"/>
          </a:xfrm>
          <a:prstGeom prst="rect">
            <a:avLst/>
          </a:prstGeom>
          <a:noFill/>
          <a:ln/>
        </p:spPr>
        <p:txBody>
          <a:bodyPr wrap="square" lIns="0" tIns="0" rIns="0" bIns="0" rtlCol="0" anchor="ctr"/>
          <a:lstStyle/>
          <a:p>
            <a:pPr algn="r" indent="0" marL="0">
              <a:buNone/>
            </a:pPr>
            <a:r>
              <a:rPr lang="en-US" sz="1000" dirty="0">
                <a:solidFill>
                  <a:srgbClr val="666666"/>
                </a:solidFill>
              </a:rPr>
              <a:t>57</a:t>
            </a:r>
            <a:endParaRPr lang="en-US" sz="1000" dirty="0"/>
          </a:p>
        </p:txBody>
      </p:sp>
      <p:graphicFrame>
        <p:nvGraphicFramePr>
          <p:cNvPr id="58" name="Comparison table"/>
          <p:cNvGraphicFramePr>
            <a:graphicFrameLocks noGrp="1"/>
          </p:cNvGraphicFramePr>
          <p:nvPr>
            <p:extLst>
              <p:ext uri="{D42A27DB-BD31-4B8C-83A1-F6EECF244321}">
                <p14:modId xmlns:p14="http://schemas.microsoft.com/office/powerpoint/2010/main" val="1579011935"/>
              </p:ext>
            </p:extLst>
          </p:nvPr>
        </p:nvGraphicFramePr>
        <p:xfrm>
          <a:off x="548640" y="1325880"/>
          <a:ext cx="11094415" cy="914400"/>
        </p:xfrm>
        <a:graphic>
          <a:graphicData uri="http://schemas.openxmlformats.org/drawingml/2006/table">
            <a:tbl>
              <a:tblPr/>
              <a:tblGrid>
                <a:gridCol w="2377440"/>
                <a:gridCol w="4358488"/>
                <a:gridCol w="4358488"/>
              </a:tblGrid>
              <a:tr h="0">
                <a:tc>
                  <a:txBody>
                    <a:bodyPr/>
                    <a:lstStyle/>
                    <a:p>
                      <a:pPr indent="0" marL="0">
                        <a:buNone/>
                      </a:pPr>
                      <a:r>
                        <a:rPr lang="en-US" sz="1600" b="1" dirty="0">
                          <a:solidFill>
                            <a:srgbClr val="FFFFFF"/>
                          </a:solidFill>
                        </a:rPr>
                        <a:t>Name clue</a:t>
                      </a:r>
                      <a:endParaRPr lang="en-US" sz="16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4472C4"/>
                    </a:solidFill>
                  </a:tcPr>
                </a:tc>
                <a:tc>
                  <a:txBody>
                    <a:bodyPr/>
                    <a:lstStyle/>
                    <a:p>
                      <a:pPr indent="0" marL="0">
                        <a:buNone/>
                      </a:pPr>
                      <a:r>
                        <a:rPr lang="en-US" sz="1600" b="1" dirty="0">
                          <a:solidFill>
                            <a:srgbClr val="FFFFFF"/>
                          </a:solidFill>
                        </a:rPr>
                        <a:t>Class</a:t>
                      </a:r>
                      <a:endParaRPr lang="en-US" sz="16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4472C4"/>
                    </a:solidFill>
                  </a:tcPr>
                </a:tc>
                <a:tc>
                  <a:txBody>
                    <a:bodyPr/>
                    <a:lstStyle/>
                    <a:p>
                      <a:pPr indent="0" marL="0">
                        <a:buNone/>
                      </a:pPr>
                      <a:r>
                        <a:rPr lang="en-US" sz="1600" b="1" dirty="0">
                          <a:solidFill>
                            <a:srgbClr val="FFFFFF"/>
                          </a:solidFill>
                        </a:rPr>
                        <a:t>Examples</a:t>
                      </a:r>
                      <a:endParaRPr lang="en-US" sz="16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4472C4"/>
                    </a:solidFill>
                  </a:tcPr>
                </a:tc>
              </a:tr>
              <a:tr h="0">
                <a:tc>
                  <a:txBody>
                    <a:bodyPr/>
                    <a:lstStyle/>
                    <a:p>
                      <a:pPr indent="0" marL="0">
                        <a:buNone/>
                      </a:pPr>
                      <a:r>
                        <a:rPr lang="en-US" sz="1600" b="1" dirty="0">
                          <a:solidFill>
                            <a:srgbClr val="1F1F1F"/>
                          </a:solidFill>
                        </a:rPr>
                        <a:t>-curonium / -curium</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2F4F7"/>
                    </a:solidFill>
                  </a:tcPr>
                </a:tc>
                <a:tc>
                  <a:txBody>
                    <a:bodyPr/>
                    <a:lstStyle/>
                    <a:p>
                      <a:pPr indent="0" marL="0">
                        <a:buNone/>
                      </a:pPr>
                      <a:r>
                        <a:rPr lang="en-US" sz="1600" dirty="0">
                          <a:solidFill>
                            <a:srgbClr val="1F1F1F"/>
                          </a:solidFill>
                        </a:rPr>
                        <a:t>Nondepolarizing neuromuscular blockers</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2F4F7"/>
                    </a:solidFill>
                  </a:tcPr>
                </a:tc>
                <a:tc>
                  <a:txBody>
                    <a:bodyPr/>
                    <a:lstStyle/>
                    <a:p>
                      <a:pPr indent="0" marL="0">
                        <a:buNone/>
                      </a:pPr>
                      <a:r>
                        <a:rPr lang="en-US" sz="1600" dirty="0">
                          <a:solidFill>
                            <a:srgbClr val="1F1F1F"/>
                          </a:solidFill>
                        </a:rPr>
                        <a:t>Vecuronium, atracurium, cisatracurium</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2F4F7"/>
                    </a:solidFill>
                  </a:tcPr>
                </a:tc>
              </a:tr>
              <a:tr h="0">
                <a:tc>
                  <a:txBody>
                    <a:bodyPr/>
                    <a:lstStyle/>
                    <a:p>
                      <a:pPr indent="0" marL="0">
                        <a:buNone/>
                      </a:pPr>
                      <a:r>
                        <a:rPr lang="en-US" sz="1600" b="1" dirty="0">
                          <a:solidFill>
                            <a:srgbClr val="1F1F1F"/>
                          </a:solidFill>
                        </a:rPr>
                        <a:t>succinylcholine (-choline)</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FFFFF"/>
                    </a:solidFill>
                  </a:tcPr>
                </a:tc>
                <a:tc>
                  <a:txBody>
                    <a:bodyPr/>
                    <a:lstStyle/>
                    <a:p>
                      <a:pPr indent="0" marL="0">
                        <a:buNone/>
                      </a:pPr>
                      <a:r>
                        <a:rPr lang="en-US" sz="1600" dirty="0">
                          <a:solidFill>
                            <a:srgbClr val="1F1F1F"/>
                          </a:solidFill>
                        </a:rPr>
                        <a:t>Depolarizing neuromuscular blocker</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FFFFF"/>
                    </a:solidFill>
                  </a:tcPr>
                </a:tc>
                <a:tc>
                  <a:txBody>
                    <a:bodyPr/>
                    <a:lstStyle/>
                    <a:p>
                      <a:pPr indent="0" marL="0">
                        <a:buNone/>
                      </a:pPr>
                      <a:r>
                        <a:rPr lang="en-US" sz="1600" dirty="0">
                          <a:solidFill>
                            <a:srgbClr val="1F1F1F"/>
                          </a:solidFill>
                        </a:rPr>
                        <a:t>Succinylcholine</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FFFFF"/>
                    </a:solidFill>
                  </a:tcPr>
                </a:tc>
              </a:tr>
              <a:tr h="0">
                <a:tc>
                  <a:txBody>
                    <a:bodyPr/>
                    <a:lstStyle/>
                    <a:p>
                      <a:pPr indent="0" marL="0">
                        <a:buNone/>
                      </a:pPr>
                      <a:r>
                        <a:rPr lang="en-US" sz="1600" b="1" dirty="0">
                          <a:solidFill>
                            <a:srgbClr val="1F1F1F"/>
                          </a:solidFill>
                        </a:rPr>
                        <a:t>-azepam</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2F4F7"/>
                    </a:solidFill>
                  </a:tcPr>
                </a:tc>
                <a:tc>
                  <a:txBody>
                    <a:bodyPr/>
                    <a:lstStyle/>
                    <a:p>
                      <a:pPr indent="0" marL="0">
                        <a:buNone/>
                      </a:pPr>
                      <a:r>
                        <a:rPr lang="en-US" sz="1600" dirty="0">
                          <a:solidFill>
                            <a:srgbClr val="1F1F1F"/>
                          </a:solidFill>
                        </a:rPr>
                        <a:t>Benzodiazepine (GABA-A)</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2F4F7"/>
                    </a:solidFill>
                  </a:tcPr>
                </a:tc>
                <a:tc>
                  <a:txBody>
                    <a:bodyPr/>
                    <a:lstStyle/>
                    <a:p>
                      <a:pPr indent="0" marL="0">
                        <a:buNone/>
                      </a:pPr>
                      <a:r>
                        <a:rPr lang="en-US" sz="1600" dirty="0">
                          <a:solidFill>
                            <a:srgbClr val="1F1F1F"/>
                          </a:solidFill>
                        </a:rPr>
                        <a:t>Diazepam</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2F4F7"/>
                    </a:solidFill>
                  </a:tcPr>
                </a:tc>
              </a:tr>
              <a:tr h="0">
                <a:tc>
                  <a:txBody>
                    <a:bodyPr/>
                    <a:lstStyle/>
                    <a:p>
                      <a:pPr indent="0" marL="0">
                        <a:buNone/>
                      </a:pPr>
                      <a:r>
                        <a:rPr lang="en-US" sz="1600" b="1" dirty="0">
                          <a:solidFill>
                            <a:srgbClr val="1F1F1F"/>
                          </a:solidFill>
                        </a:rPr>
                        <a:t>cyclo- (tricyclic ring)</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FFFFF"/>
                    </a:solidFill>
                  </a:tcPr>
                </a:tc>
                <a:tc>
                  <a:txBody>
                    <a:bodyPr/>
                    <a:lstStyle/>
                    <a:p>
                      <a:pPr indent="0" marL="0">
                        <a:buNone/>
                      </a:pPr>
                      <a:r>
                        <a:rPr lang="en-US" sz="1600" dirty="0">
                          <a:solidFill>
                            <a:srgbClr val="1F1F1F"/>
                          </a:solidFill>
                        </a:rPr>
                        <a:t>Tricyclic-like central relaxant</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FFFFF"/>
                    </a:solidFill>
                  </a:tcPr>
                </a:tc>
                <a:tc>
                  <a:txBody>
                    <a:bodyPr/>
                    <a:lstStyle/>
                    <a:p>
                      <a:pPr indent="0" marL="0">
                        <a:buNone/>
                      </a:pPr>
                      <a:r>
                        <a:rPr lang="en-US" sz="1600" dirty="0">
                          <a:solidFill>
                            <a:srgbClr val="1F1F1F"/>
                          </a:solidFill>
                        </a:rPr>
                        <a:t>Cyclobenzaprine</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FFFFF"/>
                    </a:solidFill>
                  </a:tcPr>
                </a:tc>
              </a:tr>
              <a:tr h="0">
                <a:tc>
                  <a:txBody>
                    <a:bodyPr/>
                    <a:lstStyle/>
                    <a:p>
                      <a:pPr indent="0" marL="0">
                        <a:buNone/>
                      </a:pPr>
                      <a:r>
                        <a:rPr lang="en-US" sz="1600" b="1" dirty="0">
                          <a:solidFill>
                            <a:srgbClr val="1F1F1F"/>
                          </a:solidFill>
                        </a:rPr>
                        <a:t>-idine (imidazoline)</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2F4F7"/>
                    </a:solidFill>
                  </a:tcPr>
                </a:tc>
                <a:tc>
                  <a:txBody>
                    <a:bodyPr/>
                    <a:lstStyle/>
                    <a:p>
                      <a:pPr indent="0" marL="0">
                        <a:buNone/>
                      </a:pPr>
                      <a:r>
                        <a:rPr lang="en-US" sz="1600" dirty="0">
                          <a:solidFill>
                            <a:srgbClr val="1F1F1F"/>
                          </a:solidFill>
                        </a:rPr>
                        <a:t>Central alpha-2 agonist</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2F4F7"/>
                    </a:solidFill>
                  </a:tcPr>
                </a:tc>
                <a:tc>
                  <a:txBody>
                    <a:bodyPr/>
                    <a:lstStyle/>
                    <a:p>
                      <a:pPr indent="0" marL="0">
                        <a:buNone/>
                      </a:pPr>
                      <a:r>
                        <a:rPr lang="en-US" sz="1600" dirty="0">
                          <a:solidFill>
                            <a:srgbClr val="1F1F1F"/>
                          </a:solidFill>
                        </a:rPr>
                        <a:t>Tizanidine</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2F4F7"/>
                    </a:solidFill>
                  </a:tcPr>
                </a:tc>
              </a:tr>
              <a:tr h="0">
                <a:tc>
                  <a:txBody>
                    <a:bodyPr/>
                    <a:lstStyle/>
                    <a:p>
                      <a:pPr indent="0" marL="0">
                        <a:buNone/>
                      </a:pPr>
                      <a:r>
                        <a:rPr lang="en-US" sz="1600" b="1" dirty="0">
                          <a:solidFill>
                            <a:srgbClr val="1F1F1F"/>
                          </a:solidFill>
                        </a:rPr>
                        <a:t>No shared stem</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FFFFF"/>
                    </a:solidFill>
                  </a:tcPr>
                </a:tc>
                <a:tc>
                  <a:txBody>
                    <a:bodyPr/>
                    <a:lstStyle/>
                    <a:p>
                      <a:pPr indent="0" marL="0">
                        <a:buNone/>
                      </a:pPr>
                      <a:r>
                        <a:rPr lang="en-US" sz="1600" dirty="0">
                          <a:solidFill>
                            <a:srgbClr val="1F1F1F"/>
                          </a:solidFill>
                        </a:rPr>
                        <a:t>GABA-B agonist (GABA analog)</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FFFFF"/>
                    </a:solidFill>
                  </a:tcPr>
                </a:tc>
                <a:tc>
                  <a:txBody>
                    <a:bodyPr/>
                    <a:lstStyle/>
                    <a:p>
                      <a:pPr indent="0" marL="0">
                        <a:buNone/>
                      </a:pPr>
                      <a:r>
                        <a:rPr lang="en-US" sz="1600" dirty="0">
                          <a:solidFill>
                            <a:srgbClr val="1F1F1F"/>
                          </a:solidFill>
                        </a:rPr>
                        <a:t>Baclofen</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FFFFF"/>
                    </a:solidFill>
                  </a:tcPr>
                </a:tc>
              </a:tr>
              <a:tr h="0">
                <a:tc>
                  <a:txBody>
                    <a:bodyPr/>
                    <a:lstStyle/>
                    <a:p>
                      <a:pPr indent="0" marL="0">
                        <a:buNone/>
                      </a:pPr>
                      <a:r>
                        <a:rPr lang="en-US" sz="1600" b="1" dirty="0">
                          <a:solidFill>
                            <a:srgbClr val="1F1F1F"/>
                          </a:solidFill>
                        </a:rPr>
                        <a:t>-trolene (hydantoin derivative)</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2F4F7"/>
                    </a:solidFill>
                  </a:tcPr>
                </a:tc>
                <a:tc>
                  <a:txBody>
                    <a:bodyPr/>
                    <a:lstStyle/>
                    <a:p>
                      <a:pPr indent="0" marL="0">
                        <a:buNone/>
                      </a:pPr>
                      <a:r>
                        <a:rPr lang="en-US" sz="1600" dirty="0">
                          <a:solidFill>
                            <a:srgbClr val="1F1F1F"/>
                          </a:solidFill>
                        </a:rPr>
                        <a:t>Blocks RyR1 in the muscle fiber</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2F4F7"/>
                    </a:solidFill>
                  </a:tcPr>
                </a:tc>
                <a:tc>
                  <a:txBody>
                    <a:bodyPr/>
                    <a:lstStyle/>
                    <a:p>
                      <a:pPr indent="0" marL="0">
                        <a:buNone/>
                      </a:pPr>
                      <a:r>
                        <a:rPr lang="en-US" sz="1600" dirty="0">
                          <a:solidFill>
                            <a:srgbClr val="1F1F1F"/>
                          </a:solidFill>
                        </a:rPr>
                        <a:t>Dantrolene</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2F4F7"/>
                    </a:solidFill>
                  </a:tcPr>
                </a:tc>
              </a:tr>
              <a:tr h="0">
                <a:tc>
                  <a:txBody>
                    <a:bodyPr/>
                    <a:lstStyle/>
                    <a:p>
                      <a:pPr indent="0" marL="0">
                        <a:buNone/>
                      </a:pPr>
                      <a:r>
                        <a:rPr lang="en-US" sz="1600" b="1" dirty="0">
                          <a:solidFill>
                            <a:srgbClr val="1F1F1F"/>
                          </a:solidFill>
                        </a:rPr>
                        <a:t>-toxin</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FFFFF"/>
                    </a:solidFill>
                  </a:tcPr>
                </a:tc>
                <a:tc>
                  <a:txBody>
                    <a:bodyPr/>
                    <a:lstStyle/>
                    <a:p>
                      <a:pPr indent="0" marL="0">
                        <a:buNone/>
                      </a:pPr>
                      <a:r>
                        <a:rPr lang="en-US" sz="1600" dirty="0">
                          <a:solidFill>
                            <a:srgbClr val="1F1F1F"/>
                          </a:solidFill>
                        </a:rPr>
                        <a:t>Blocks presynaptic ACh release</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FFFFF"/>
                    </a:solidFill>
                  </a:tcPr>
                </a:tc>
                <a:tc>
                  <a:txBody>
                    <a:bodyPr/>
                    <a:lstStyle/>
                    <a:p>
                      <a:pPr indent="0" marL="0">
                        <a:buNone/>
                      </a:pPr>
                      <a:r>
                        <a:rPr lang="en-US" sz="1600" dirty="0">
                          <a:solidFill>
                            <a:srgbClr val="1F1F1F"/>
                          </a:solidFill>
                        </a:rPr>
                        <a:t>Botulinum toxin</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FFFFF"/>
                    </a:solidFill>
                  </a:tcPr>
                </a:tc>
              </a:tr>
            </a:tbl>
          </a:graphicData>
        </a:graphic>
      </p:graphicFrame>
      <p:sp>
        <p:nvSpPr>
          <p:cNvPr id="8" name="Table sources"/>
          <p:cNvSpPr txBox="1"/>
          <p:nvPr/>
        </p:nvSpPr>
        <p:spPr>
          <a:xfrm>
            <a:off x="548640" y="5094224"/>
            <a:ext cx="11094415" cy="274320"/>
          </a:xfrm>
          <a:prstGeom prst="rect">
            <a:avLst/>
          </a:prstGeom>
          <a:noFill/>
          <a:ln/>
        </p:spPr>
        <p:txBody>
          <a:bodyPr wrap="square" lIns="0" tIns="0" rIns="0" bIns="0" rtlCol="0" anchor="ctr"/>
          <a:lstStyle/>
          <a:p>
            <a:pPr indent="0" marL="0">
              <a:buNone/>
            </a:pPr>
            <a:r>
              <a:rPr lang="en-US" sz="1100" dirty="0">
                <a:solidFill>
                  <a:srgbClr val="666666"/>
                </a:solidFill>
              </a:rPr>
              <a:t>Focus: what tells these apart.  Sources: S38</a:t>
            </a:r>
            <a:endParaRPr lang="en-US" sz="110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bg>
      <p:bgPr>
        <a:solidFill>
          <a:srgbClr val="FFFFFF"/>
        </a:solidFill>
      </p:bgPr>
    </p:bg>
    <p:spTree>
      <p:nvGrpSpPr>
        <p:cNvPr id="1" name=""/>
        <p:cNvGrpSpPr/>
        <p:nvPr/>
      </p:nvGrpSpPr>
      <p:grpSpPr>
        <a:xfrm>
          <a:off x="0" y="0"/>
          <a:ext cx="0" cy="0"/>
          <a:chOff x="0" y="0"/>
          <a:chExt cx="0" cy="0"/>
        </a:xfrm>
      </p:grpSpPr>
      <p:sp>
        <p:nvSpPr>
          <p:cNvPr id="2" name="Kicker"/>
          <p:cNvSpPr txBox="1"/>
          <p:nvPr/>
        </p:nvSpPr>
        <p:spPr>
          <a:xfrm>
            <a:off x="548640" y="292608"/>
            <a:ext cx="8076895" cy="274320"/>
          </a:xfrm>
          <a:prstGeom prst="rect">
            <a:avLst/>
          </a:prstGeom>
          <a:noFill/>
          <a:ln/>
        </p:spPr>
        <p:txBody>
          <a:bodyPr wrap="square" lIns="0" tIns="0" rIns="0" bIns="0" rtlCol="0" anchor="ctr"/>
          <a:lstStyle/>
          <a:p>
            <a:pPr indent="0" marL="0">
              <a:buNone/>
            </a:pPr>
            <a:r>
              <a:rPr lang="en-US" sz="1200" b="1" spc="100" kern="0" dirty="0">
                <a:solidFill>
                  <a:srgbClr val="4472C4"/>
                </a:solidFill>
              </a:rPr>
              <a:t>SKELETAL MUSCLE RELAXANTS</a:t>
            </a:r>
            <a:endParaRPr lang="en-US" sz="1200" dirty="0"/>
          </a:p>
        </p:txBody>
      </p:sp>
      <p:sp>
        <p:nvSpPr>
          <p:cNvPr id="3" name="Title"/>
          <p:cNvSpPr txBox="1"/>
          <p:nvPr/>
        </p:nvSpPr>
        <p:spPr>
          <a:xfrm>
            <a:off x="548640" y="566928"/>
            <a:ext cx="8076895" cy="713232"/>
          </a:xfrm>
          <a:prstGeom prst="rect">
            <a:avLst/>
          </a:prstGeom>
          <a:noFill/>
          <a:ln/>
        </p:spPr>
        <p:txBody>
          <a:bodyPr wrap="square" lIns="0" tIns="0" rIns="0" bIns="0" rtlCol="0" anchor="t"/>
          <a:lstStyle/>
          <a:p>
            <a:pPr indent="0" marL="0">
              <a:buNone/>
            </a:pPr>
            <a:r>
              <a:rPr lang="en-US" sz="3000" b="1" dirty="0">
                <a:solidFill>
                  <a:srgbClr val="1F1F1F"/>
                </a:solidFill>
                <a:latin typeface="Calibri" pitchFamily="34" charset="0"/>
                <a:ea typeface="Calibri" pitchFamily="34" charset="-122"/>
                <a:cs typeface="Calibri" pitchFamily="34" charset="-120"/>
              </a:rPr>
              <a:t>Compare: Spasmolytics in the reading (textbook)</a:t>
            </a:r>
            <a:endParaRPr lang="en-US" sz="3000" dirty="0"/>
          </a:p>
        </p:txBody>
      </p:sp>
      <p:sp>
        <p:nvSpPr>
          <p:cNvPr id="4" name="Objective chip"/>
          <p:cNvSpPr/>
          <p:nvPr/>
        </p:nvSpPr>
        <p:spPr>
          <a:xfrm>
            <a:off x="8899855" y="365760"/>
            <a:ext cx="2743200" cy="384048"/>
          </a:xfrm>
          <a:prstGeom prst="roundRect">
            <a:avLst>
              <a:gd name="adj" fmla="val 35714"/>
            </a:avLst>
          </a:prstGeom>
          <a:solidFill>
            <a:srgbClr val="E3EBF8"/>
          </a:solidFill>
          <a:ln/>
        </p:spPr>
        <p:txBody>
          <a:bodyPr wrap="square" lIns="25400" tIns="25400" rIns="25400" bIns="25400" rtlCol="0" anchor="ctr"/>
          <a:lstStyle/>
          <a:p>
            <a:pPr algn="ctr" indent="0" marL="0">
              <a:buNone/>
            </a:pPr>
            <a:r>
              <a:rPr lang="en-US" sz="800" b="1" dirty="0">
                <a:solidFill>
                  <a:srgbClr val="2F4F8A"/>
                </a:solidFill>
              </a:rPr>
              <a:t>Objectives: SO2 · SO4 · IO2.1 · IO2.2 · IO2.3 · IO2.5 · IO2.6</a:t>
            </a:r>
            <a:endParaRPr lang="en-US" sz="800" dirty="0"/>
          </a:p>
        </p:txBody>
      </p:sp>
      <p:sp>
        <p:nvSpPr>
          <p:cNvPr id="5" name="Footer"/>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1000" dirty="0">
                <a:solidFill>
                  <a:srgbClr val="666666"/>
                </a:solidFill>
              </a:rPr>
              <a:t>L04 · Musculoskeletal Pharmacology — Session 2</a:t>
            </a:r>
            <a:endParaRPr lang="en-US" sz="1000" dirty="0"/>
          </a:p>
        </p:txBody>
      </p:sp>
      <p:sp>
        <p:nvSpPr>
          <p:cNvPr id="6" name="Slide number"/>
          <p:cNvSpPr txBox="1"/>
          <p:nvPr/>
        </p:nvSpPr>
        <p:spPr>
          <a:xfrm>
            <a:off x="10728655" y="6419088"/>
            <a:ext cx="914400" cy="274320"/>
          </a:xfrm>
          <a:prstGeom prst="rect">
            <a:avLst/>
          </a:prstGeom>
          <a:noFill/>
          <a:ln/>
        </p:spPr>
        <p:txBody>
          <a:bodyPr wrap="square" lIns="0" tIns="0" rIns="0" bIns="0" rtlCol="0" anchor="ctr"/>
          <a:lstStyle/>
          <a:p>
            <a:pPr algn="r" indent="0" marL="0">
              <a:buNone/>
            </a:pPr>
            <a:r>
              <a:rPr lang="en-US" sz="1000" dirty="0">
                <a:solidFill>
                  <a:srgbClr val="666666"/>
                </a:solidFill>
              </a:rPr>
              <a:t>58</a:t>
            </a:r>
            <a:endParaRPr lang="en-US" sz="1000" dirty="0"/>
          </a:p>
        </p:txBody>
      </p:sp>
      <p:graphicFrame>
        <p:nvGraphicFramePr>
          <p:cNvPr id="59" name="Comparison table"/>
          <p:cNvGraphicFramePr>
            <a:graphicFrameLocks noGrp="1"/>
          </p:cNvGraphicFramePr>
          <p:nvPr>
            <p:extLst>
              <p:ext uri="{D42A27DB-BD31-4B8C-83A1-F6EECF244321}">
                <p14:modId xmlns:p14="http://schemas.microsoft.com/office/powerpoint/2010/main" val="1579011935"/>
              </p:ext>
            </p:extLst>
          </p:nvPr>
        </p:nvGraphicFramePr>
        <p:xfrm>
          <a:off x="548640" y="1325880"/>
          <a:ext cx="11094415" cy="914400"/>
        </p:xfrm>
        <a:graphic>
          <a:graphicData uri="http://schemas.openxmlformats.org/drawingml/2006/table">
            <a:tbl>
              <a:tblPr/>
              <a:tblGrid>
                <a:gridCol w="2377440"/>
                <a:gridCol w="4358488"/>
                <a:gridCol w="4358488"/>
              </a:tblGrid>
              <a:tr h="0">
                <a:tc>
                  <a:txBody>
                    <a:bodyPr/>
                    <a:lstStyle/>
                    <a:p>
                      <a:pPr indent="0" marL="0">
                        <a:buNone/>
                      </a:pPr>
                      <a:r>
                        <a:rPr lang="en-US" sz="1400" b="1" dirty="0">
                          <a:solidFill>
                            <a:srgbClr val="FFFFFF"/>
                          </a:solidFill>
                        </a:rPr>
                        <a:t>Drug</a:t>
                      </a:r>
                      <a:endParaRPr lang="en-US" sz="14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4472C4"/>
                    </a:solidFill>
                  </a:tcPr>
                </a:tc>
                <a:tc>
                  <a:txBody>
                    <a:bodyPr/>
                    <a:lstStyle/>
                    <a:p>
                      <a:pPr indent="0" marL="0">
                        <a:buNone/>
                      </a:pPr>
                      <a:r>
                        <a:rPr lang="en-US" sz="1400" b="1" dirty="0">
                          <a:solidFill>
                            <a:srgbClr val="FFFFFF"/>
                          </a:solidFill>
                        </a:rPr>
                        <a:t>Dose / PK</a:t>
                      </a:r>
                      <a:endParaRPr lang="en-US" sz="14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4472C4"/>
                    </a:solidFill>
                  </a:tcPr>
                </a:tc>
                <a:tc>
                  <a:txBody>
                    <a:bodyPr/>
                    <a:lstStyle/>
                    <a:p>
                      <a:pPr indent="0" marL="0">
                        <a:buNone/>
                      </a:pPr>
                      <a:r>
                        <a:rPr lang="en-US" sz="1400" b="1" dirty="0">
                          <a:solidFill>
                            <a:srgbClr val="FFFFFF"/>
                          </a:solidFill>
                        </a:rPr>
                        <a:t>What sets it apart</a:t>
                      </a:r>
                      <a:endParaRPr lang="en-US" sz="14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4472C4"/>
                    </a:solidFill>
                  </a:tcPr>
                </a:tc>
              </a:tr>
              <a:tr h="0">
                <a:tc>
                  <a:txBody>
                    <a:bodyPr/>
                    <a:lstStyle/>
                    <a:p>
                      <a:pPr indent="0" marL="0">
                        <a:buNone/>
                      </a:pPr>
                      <a:r>
                        <a:rPr lang="en-US" sz="1400" b="1" dirty="0">
                          <a:solidFill>
                            <a:srgbClr val="1F1F1F"/>
                          </a:solidFill>
                        </a:rPr>
                        <a:t>Baclofen</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2F4F7"/>
                    </a:solidFill>
                  </a:tcPr>
                </a:tc>
                <a:tc>
                  <a:txBody>
                    <a:bodyPr/>
                    <a:lstStyle/>
                    <a:p>
                      <a:pPr indent="0" marL="0">
                        <a:buNone/>
                      </a:pPr>
                      <a:r>
                        <a:rPr lang="en-US" sz="1400" dirty="0">
                          <a:solidFill>
                            <a:srgbClr val="1F1F1F"/>
                          </a:solidFill>
                        </a:rPr>
                        <a:t>15 mg twice daily → 100 mg daily; t½ 3–4 h; intrathecal</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2F4F7"/>
                    </a:solidFill>
                  </a:tcPr>
                </a:tc>
                <a:tc>
                  <a:txBody>
                    <a:bodyPr/>
                    <a:lstStyle/>
                    <a:p>
                      <a:pPr indent="0" marL="0">
                        <a:buNone/>
                      </a:pPr>
                      <a:r>
                        <a:rPr lang="en-US" sz="1400" dirty="0">
                          <a:solidFill>
                            <a:srgbClr val="1F1F1F"/>
                          </a:solidFill>
                        </a:rPr>
                        <a:t>Less sedating than diazepam; withdraw very slowly; caution in pregnancy</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2F4F7"/>
                    </a:solidFill>
                  </a:tcPr>
                </a:tc>
              </a:tr>
              <a:tr h="0">
                <a:tc>
                  <a:txBody>
                    <a:bodyPr/>
                    <a:lstStyle/>
                    <a:p>
                      <a:pPr indent="0" marL="0">
                        <a:buNone/>
                      </a:pPr>
                      <a:r>
                        <a:rPr lang="en-US" sz="1400" b="1" dirty="0">
                          <a:solidFill>
                            <a:srgbClr val="1F1F1F"/>
                          </a:solidFill>
                        </a:rPr>
                        <a:t>Tizanidine</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FFFFF"/>
                    </a:solidFill>
                  </a:tcPr>
                </a:tc>
                <a:tc>
                  <a:txBody>
                    <a:bodyPr/>
                    <a:lstStyle/>
                    <a:p>
                      <a:pPr indent="0" marL="0">
                        <a:buNone/>
                      </a:pPr>
                      <a:r>
                        <a:rPr lang="en-US" sz="1400" dirty="0">
                          <a:solidFill>
                            <a:srgbClr val="1F1F1F"/>
                          </a:solidFill>
                        </a:rPr>
                        <a:t>2 mg every 6–8 h, max 36 mg/d</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FFFFF"/>
                    </a:solidFill>
                  </a:tcPr>
                </a:tc>
                <a:tc>
                  <a:txBody>
                    <a:bodyPr/>
                    <a:lstStyle/>
                    <a:p>
                      <a:pPr indent="0" marL="0">
                        <a:buNone/>
                      </a:pPr>
                      <a:r>
                        <a:rPr lang="en-US" sz="1400" dirty="0">
                          <a:solidFill>
                            <a:srgbClr val="1F1F1F"/>
                          </a:solidFill>
                        </a:rPr>
                        <a:t>1/10–1/15 of clonidine’s BP effect; hypotension 16–33%; CYP1A2; rebound hypertension</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FFFFF"/>
                    </a:solidFill>
                  </a:tcPr>
                </a:tc>
              </a:tr>
              <a:tr h="0">
                <a:tc>
                  <a:txBody>
                    <a:bodyPr/>
                    <a:lstStyle/>
                    <a:p>
                      <a:pPr indent="0" marL="0">
                        <a:buNone/>
                      </a:pPr>
                      <a:r>
                        <a:rPr lang="en-US" sz="1400" b="1" dirty="0">
                          <a:solidFill>
                            <a:srgbClr val="1F1F1F"/>
                          </a:solidFill>
                        </a:rPr>
                        <a:t>Diazepam</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2F4F7"/>
                    </a:solidFill>
                  </a:tcPr>
                </a:tc>
                <a:tc>
                  <a:txBody>
                    <a:bodyPr/>
                    <a:lstStyle/>
                    <a:p>
                      <a:pPr indent="0" marL="0">
                        <a:buNone/>
                      </a:pPr>
                      <a:r>
                        <a:rPr lang="en-US" sz="1400" dirty="0">
                          <a:solidFill>
                            <a:srgbClr val="1F1F1F"/>
                          </a:solidFill>
                        </a:rPr>
                        <a:t>4 mg/d → max 60 mg/d</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2F4F7"/>
                    </a:solidFill>
                  </a:tcPr>
                </a:tc>
                <a:tc>
                  <a:txBody>
                    <a:bodyPr/>
                    <a:lstStyle/>
                    <a:p>
                      <a:pPr indent="0" marL="0">
                        <a:buNone/>
                      </a:pPr>
                      <a:r>
                        <a:rPr lang="en-US" sz="1400" dirty="0">
                          <a:solidFill>
                            <a:srgbClr val="1F1F1F"/>
                          </a:solidFill>
                        </a:rPr>
                        <a:t>GABA-A; works for spasm of any origin but sedates</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2F4F7"/>
                    </a:solidFill>
                  </a:tcPr>
                </a:tc>
              </a:tr>
              <a:tr h="0">
                <a:tc>
                  <a:txBody>
                    <a:bodyPr/>
                    <a:lstStyle/>
                    <a:p>
                      <a:pPr indent="0" marL="0">
                        <a:buNone/>
                      </a:pPr>
                      <a:r>
                        <a:rPr lang="en-US" sz="1400" b="1" dirty="0">
                          <a:solidFill>
                            <a:srgbClr val="1F1F1F"/>
                          </a:solidFill>
                        </a:rPr>
                        <a:t>Cyclobenzaprine</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FFFFF"/>
                    </a:solidFill>
                  </a:tcPr>
                </a:tc>
                <a:tc>
                  <a:txBody>
                    <a:bodyPr/>
                    <a:lstStyle/>
                    <a:p>
                      <a:pPr indent="0" marL="0">
                        <a:buNone/>
                      </a:pPr>
                      <a:r>
                        <a:rPr lang="en-US" sz="1400" dirty="0">
                          <a:solidFill>
                            <a:srgbClr val="1F1F1F"/>
                          </a:solidFill>
                        </a:rPr>
                        <a:t>20–40 mg/d in divided doses</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FFFFF"/>
                    </a:solidFill>
                  </a:tcPr>
                </a:tc>
                <a:tc>
                  <a:txBody>
                    <a:bodyPr/>
                    <a:lstStyle/>
                    <a:p>
                      <a:pPr indent="0" marL="0">
                        <a:buNone/>
                      </a:pPr>
                      <a:r>
                        <a:rPr lang="en-US" sz="1400" dirty="0">
                          <a:solidFill>
                            <a:srgbClr val="1F1F1F"/>
                          </a:solidFill>
                        </a:rPr>
                        <a:t>Antimuscarinic; confusion, hallucinations; not for CP or cord injury</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FFFFF"/>
                    </a:solidFill>
                  </a:tcPr>
                </a:tc>
              </a:tr>
              <a:tr h="0">
                <a:tc>
                  <a:txBody>
                    <a:bodyPr/>
                    <a:lstStyle/>
                    <a:p>
                      <a:pPr indent="0" marL="0">
                        <a:buNone/>
                      </a:pPr>
                      <a:r>
                        <a:rPr lang="en-US" sz="1400" b="1" dirty="0">
                          <a:solidFill>
                            <a:srgbClr val="1F1F1F"/>
                          </a:solidFill>
                        </a:rPr>
                        <a:t>Carisoprodol, meprobamate</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2F4F7"/>
                    </a:solidFill>
                  </a:tcPr>
                </a:tc>
                <a:tc>
                  <a:txBody>
                    <a:bodyPr/>
                    <a:lstStyle/>
                    <a:p>
                      <a:pPr indent="0" marL="0">
                        <a:buNone/>
                      </a:pPr>
                      <a:r>
                        <a:rPr lang="en-US" sz="1400" dirty="0">
                          <a:solidFill>
                            <a:srgbClr val="1F1F1F"/>
                          </a:solidFill>
                        </a:rPr>
                        <a:t>Schedule IV</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2F4F7"/>
                    </a:solidFill>
                  </a:tcPr>
                </a:tc>
                <a:tc>
                  <a:txBody>
                    <a:bodyPr/>
                    <a:lstStyle/>
                    <a:p>
                      <a:pPr indent="0" marL="0">
                        <a:buNone/>
                      </a:pPr>
                      <a:r>
                        <a:rPr lang="en-US" sz="1400" dirty="0">
                          <a:solidFill>
                            <a:srgbClr val="1F1F1F"/>
                          </a:solidFill>
                        </a:rPr>
                        <a:t>Withdrawal syndrome after extensive use</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2F4F7"/>
                    </a:solidFill>
                  </a:tcPr>
                </a:tc>
              </a:tr>
              <a:tr h="0">
                <a:tc>
                  <a:txBody>
                    <a:bodyPr/>
                    <a:lstStyle/>
                    <a:p>
                      <a:pPr indent="0" marL="0">
                        <a:buNone/>
                      </a:pPr>
                      <a:r>
                        <a:rPr lang="en-US" sz="1400" b="1" dirty="0">
                          <a:solidFill>
                            <a:srgbClr val="1F1F1F"/>
                          </a:solidFill>
                        </a:rPr>
                        <a:t>Botulinum toxin</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FFFFF"/>
                    </a:solidFill>
                  </a:tcPr>
                </a:tc>
                <a:tc>
                  <a:txBody>
                    <a:bodyPr/>
                    <a:lstStyle/>
                    <a:p>
                      <a:pPr indent="0" marL="0">
                        <a:buNone/>
                      </a:pPr>
                      <a:r>
                        <a:rPr lang="en-US" sz="1400" dirty="0">
                          <a:solidFill>
                            <a:srgbClr val="1F1F1F"/>
                          </a:solidFill>
                        </a:rPr>
                        <a:t>Injected; lasts weeks to months</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FFFFF"/>
                    </a:solidFill>
                  </a:tcPr>
                </a:tc>
                <a:tc>
                  <a:txBody>
                    <a:bodyPr/>
                    <a:lstStyle/>
                    <a:p>
                      <a:pPr indent="0" marL="0">
                        <a:buNone/>
                      </a:pPr>
                      <a:r>
                        <a:rPr lang="en-US" sz="1400" dirty="0">
                          <a:solidFill>
                            <a:srgbClr val="1F1F1F"/>
                          </a:solidFill>
                        </a:rPr>
                        <a:t>Cleaves SNAP-25/synaptobrevin; dystonia, spastic disorders; black box: spread of toxin</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FFFFF"/>
                    </a:solidFill>
                  </a:tcPr>
                </a:tc>
              </a:tr>
              <a:tr h="0">
                <a:tc>
                  <a:txBody>
                    <a:bodyPr/>
                    <a:lstStyle/>
                    <a:p>
                      <a:pPr indent="0" marL="0">
                        <a:buNone/>
                      </a:pPr>
                      <a:r>
                        <a:rPr lang="en-US" sz="1400" b="1" dirty="0">
                          <a:solidFill>
                            <a:srgbClr val="1F1F1F"/>
                          </a:solidFill>
                        </a:rPr>
                        <a:t>Dantrolene</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2F4F7"/>
                    </a:solidFill>
                  </a:tcPr>
                </a:tc>
                <a:tc>
                  <a:txBody>
                    <a:bodyPr/>
                    <a:lstStyle/>
                    <a:p>
                      <a:pPr indent="0" marL="0">
                        <a:buNone/>
                      </a:pPr>
                      <a:r>
                        <a:rPr lang="en-US" sz="1400" dirty="0">
                          <a:solidFill>
                            <a:srgbClr val="1F1F1F"/>
                          </a:solidFill>
                        </a:rPr>
                        <a:t>25 mg/d → 100 mg four times daily; MH 1 mg/kg IV</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2F4F7"/>
                    </a:solidFill>
                  </a:tcPr>
                </a:tc>
                <a:tc>
                  <a:txBody>
                    <a:bodyPr/>
                    <a:lstStyle/>
                    <a:p>
                      <a:pPr indent="0" marL="0">
                        <a:buNone/>
                      </a:pPr>
                      <a:r>
                        <a:rPr lang="en-US" sz="1400" dirty="0">
                          <a:solidFill>
                            <a:srgbClr val="1F1F1F"/>
                          </a:solidFill>
                        </a:rPr>
                        <a:t>RyR1 only; weakness, sedation, hepatitis</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2F4F7"/>
                    </a:solidFill>
                  </a:tcPr>
                </a:tc>
              </a:tr>
              <a:tr h="0">
                <a:tc>
                  <a:txBody>
                    <a:bodyPr/>
                    <a:lstStyle/>
                    <a:p>
                      <a:pPr indent="0" marL="0">
                        <a:buNone/>
                      </a:pPr>
                      <a:r>
                        <a:rPr lang="en-US" sz="1400" b="1" dirty="0">
                          <a:solidFill>
                            <a:srgbClr val="1F1F1F"/>
                          </a:solidFill>
                        </a:rPr>
                        <a:t>Gabapentin, pregabalin</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FFFFF"/>
                    </a:solidFill>
                  </a:tcPr>
                </a:tc>
                <a:tc>
                  <a:txBody>
                    <a:bodyPr/>
                    <a:lstStyle/>
                    <a:p>
                      <a:pPr indent="0" marL="0">
                        <a:buNone/>
                      </a:pPr>
                      <a:r>
                        <a:rPr lang="en-US" sz="1400" dirty="0">
                          <a:solidFill>
                            <a:srgbClr val="1F1F1F"/>
                          </a:solidFill>
                        </a:rPr>
                        <a:t>Not covered in materials</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FFFFF"/>
                    </a:solidFill>
                  </a:tcPr>
                </a:tc>
                <a:tc>
                  <a:txBody>
                    <a:bodyPr/>
                    <a:lstStyle/>
                    <a:p>
                      <a:pPr indent="0" marL="0">
                        <a:buNone/>
                      </a:pPr>
                      <a:r>
                        <a:rPr lang="en-US" sz="1400" dirty="0">
                          <a:solidFill>
                            <a:srgbClr val="1F1F1F"/>
                          </a:solidFill>
                        </a:rPr>
                        <a:t>Other centrally acting spasmolytic drugs: promising in MS spasticity</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FFFFF"/>
                    </a:solidFill>
                  </a:tcPr>
                </a:tc>
              </a:tr>
            </a:tbl>
          </a:graphicData>
        </a:graphic>
      </p:graphicFrame>
      <p:sp>
        <p:nvSpPr>
          <p:cNvPr id="8" name="Table sources"/>
          <p:cNvSpPr txBox="1"/>
          <p:nvPr/>
        </p:nvSpPr>
        <p:spPr>
          <a:xfrm>
            <a:off x="548640" y="5652008"/>
            <a:ext cx="11094415" cy="274320"/>
          </a:xfrm>
          <a:prstGeom prst="rect">
            <a:avLst/>
          </a:prstGeom>
          <a:noFill/>
          <a:ln/>
        </p:spPr>
        <p:txBody>
          <a:bodyPr wrap="square" lIns="0" tIns="0" rIns="0" bIns="0" rtlCol="0" anchor="ctr"/>
          <a:lstStyle/>
          <a:p>
            <a:pPr indent="0" marL="0">
              <a:buNone/>
            </a:pPr>
            <a:r>
              <a:rPr lang="en-US" sz="1100" dirty="0">
                <a:solidFill>
                  <a:srgbClr val="666666"/>
                </a:solidFill>
              </a:rPr>
              <a:t>Focus: what tells these apart.  Sources: p. 511; p. 512; p. 513</a:t>
            </a:r>
            <a:endParaRPr lang="en-US" sz="110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bg>
      <p:bgPr>
        <a:solidFill>
          <a:srgbClr val="FFFFFF"/>
        </a:solidFill>
      </p:bgPr>
    </p:bg>
    <p:spTree>
      <p:nvGrpSpPr>
        <p:cNvPr id="1" name=""/>
        <p:cNvGrpSpPr/>
        <p:nvPr/>
      </p:nvGrpSpPr>
      <p:grpSpPr>
        <a:xfrm>
          <a:off x="0" y="0"/>
          <a:ext cx="0" cy="0"/>
          <a:chOff x="0" y="0"/>
          <a:chExt cx="0" cy="0"/>
        </a:xfrm>
      </p:grpSpPr>
      <p:sp>
        <p:nvSpPr>
          <p:cNvPr id="2" name="Kicker"/>
          <p:cNvSpPr txBox="1"/>
          <p:nvPr/>
        </p:nvSpPr>
        <p:spPr>
          <a:xfrm>
            <a:off x="548640" y="292608"/>
            <a:ext cx="8076895" cy="274320"/>
          </a:xfrm>
          <a:prstGeom prst="rect">
            <a:avLst/>
          </a:prstGeom>
          <a:noFill/>
          <a:ln/>
        </p:spPr>
        <p:txBody>
          <a:bodyPr wrap="square" lIns="0" tIns="0" rIns="0" bIns="0" rtlCol="0" anchor="ctr"/>
          <a:lstStyle/>
          <a:p>
            <a:pPr indent="0" marL="0">
              <a:buNone/>
            </a:pPr>
            <a:r>
              <a:rPr lang="en-US" sz="1200" b="1" spc="100" kern="0" dirty="0">
                <a:solidFill>
                  <a:srgbClr val="4472C4"/>
                </a:solidFill>
              </a:rPr>
              <a:t>SKELETAL MUSCLE RELAXANTS</a:t>
            </a:r>
            <a:endParaRPr lang="en-US" sz="1200" dirty="0"/>
          </a:p>
        </p:txBody>
      </p:sp>
      <p:sp>
        <p:nvSpPr>
          <p:cNvPr id="3" name="Title"/>
          <p:cNvSpPr txBox="1"/>
          <p:nvPr/>
        </p:nvSpPr>
        <p:spPr>
          <a:xfrm>
            <a:off x="548640" y="566928"/>
            <a:ext cx="8076895" cy="713232"/>
          </a:xfrm>
          <a:prstGeom prst="rect">
            <a:avLst/>
          </a:prstGeom>
          <a:noFill/>
          <a:ln/>
        </p:spPr>
        <p:txBody>
          <a:bodyPr wrap="square" lIns="0" tIns="0" rIns="0" bIns="0" rtlCol="0" anchor="t"/>
          <a:lstStyle/>
          <a:p>
            <a:pPr indent="0" marL="0">
              <a:buNone/>
            </a:pPr>
            <a:r>
              <a:rPr lang="en-US" sz="2000" b="1" dirty="0">
                <a:solidFill>
                  <a:srgbClr val="1F1F1F"/>
                </a:solidFill>
                <a:latin typeface="Calibri" pitchFamily="34" charset="0"/>
                <a:ea typeface="Calibri" pitchFamily="34" charset="-122"/>
                <a:cs typeface="Calibri" pitchFamily="34" charset="-120"/>
              </a:rPr>
              <a:t>Compare: Neuromuscular blockers (anesthesia) — the reading’s essentials</a:t>
            </a:r>
            <a:endParaRPr lang="en-US" sz="2000" dirty="0"/>
          </a:p>
        </p:txBody>
      </p:sp>
      <p:sp>
        <p:nvSpPr>
          <p:cNvPr id="4" name="Objective chip"/>
          <p:cNvSpPr/>
          <p:nvPr/>
        </p:nvSpPr>
        <p:spPr>
          <a:xfrm>
            <a:off x="8899855" y="365760"/>
            <a:ext cx="2743200" cy="384048"/>
          </a:xfrm>
          <a:prstGeom prst="roundRect">
            <a:avLst>
              <a:gd name="adj" fmla="val 35714"/>
            </a:avLst>
          </a:prstGeom>
          <a:solidFill>
            <a:srgbClr val="E3EBF8"/>
          </a:solidFill>
          <a:ln/>
        </p:spPr>
        <p:txBody>
          <a:bodyPr wrap="square" lIns="25400" tIns="25400" rIns="25400" bIns="25400" rtlCol="0" anchor="ctr"/>
          <a:lstStyle/>
          <a:p>
            <a:pPr algn="ctr" indent="0" marL="0">
              <a:buNone/>
            </a:pPr>
            <a:r>
              <a:rPr lang="en-US" sz="800" b="1" dirty="0">
                <a:solidFill>
                  <a:srgbClr val="2F4F8A"/>
                </a:solidFill>
              </a:rPr>
              <a:t>Objectives: SO2 · SO4 · IO2.1 · IO2.2 · IO2.3 · IO2.5 · IO2.6</a:t>
            </a:r>
            <a:endParaRPr lang="en-US" sz="800" dirty="0"/>
          </a:p>
        </p:txBody>
      </p:sp>
      <p:sp>
        <p:nvSpPr>
          <p:cNvPr id="5" name="Footer"/>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1000" dirty="0">
                <a:solidFill>
                  <a:srgbClr val="666666"/>
                </a:solidFill>
              </a:rPr>
              <a:t>L04 · Musculoskeletal Pharmacology — Session 2</a:t>
            </a:r>
            <a:endParaRPr lang="en-US" sz="1000" dirty="0"/>
          </a:p>
        </p:txBody>
      </p:sp>
      <p:sp>
        <p:nvSpPr>
          <p:cNvPr id="6" name="Slide number"/>
          <p:cNvSpPr txBox="1"/>
          <p:nvPr/>
        </p:nvSpPr>
        <p:spPr>
          <a:xfrm>
            <a:off x="10728655" y="6419088"/>
            <a:ext cx="914400" cy="274320"/>
          </a:xfrm>
          <a:prstGeom prst="rect">
            <a:avLst/>
          </a:prstGeom>
          <a:noFill/>
          <a:ln/>
        </p:spPr>
        <p:txBody>
          <a:bodyPr wrap="square" lIns="0" tIns="0" rIns="0" bIns="0" rtlCol="0" anchor="ctr"/>
          <a:lstStyle/>
          <a:p>
            <a:pPr algn="r" indent="0" marL="0">
              <a:buNone/>
            </a:pPr>
            <a:r>
              <a:rPr lang="en-US" sz="1000" dirty="0">
                <a:solidFill>
                  <a:srgbClr val="666666"/>
                </a:solidFill>
              </a:rPr>
              <a:t>59</a:t>
            </a:r>
            <a:endParaRPr lang="en-US" sz="1000" dirty="0"/>
          </a:p>
        </p:txBody>
      </p:sp>
      <p:graphicFrame>
        <p:nvGraphicFramePr>
          <p:cNvPr id="60" name="Comparison table"/>
          <p:cNvGraphicFramePr>
            <a:graphicFrameLocks noGrp="1"/>
          </p:cNvGraphicFramePr>
          <p:nvPr>
            <p:extLst>
              <p:ext uri="{D42A27DB-BD31-4B8C-83A1-F6EECF244321}">
                <p14:modId xmlns:p14="http://schemas.microsoft.com/office/powerpoint/2010/main" val="1579011935"/>
              </p:ext>
            </p:extLst>
          </p:nvPr>
        </p:nvGraphicFramePr>
        <p:xfrm>
          <a:off x="548640" y="1325880"/>
          <a:ext cx="11094415" cy="914400"/>
        </p:xfrm>
        <a:graphic>
          <a:graphicData uri="http://schemas.openxmlformats.org/drawingml/2006/table">
            <a:tbl>
              <a:tblPr/>
              <a:tblGrid>
                <a:gridCol w="2377440"/>
                <a:gridCol w="4358488"/>
                <a:gridCol w="4358488"/>
              </a:tblGrid>
              <a:tr h="0">
                <a:tc>
                  <a:txBody>
                    <a:bodyPr/>
                    <a:lstStyle/>
                    <a:p>
                      <a:pPr indent="0" marL="0">
                        <a:buNone/>
                      </a:pPr>
                      <a:endParaRPr lang="en-US" sz="14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4472C4"/>
                    </a:solidFill>
                  </a:tcPr>
                </a:tc>
                <a:tc>
                  <a:txBody>
                    <a:bodyPr/>
                    <a:lstStyle/>
                    <a:p>
                      <a:pPr indent="0" marL="0">
                        <a:buNone/>
                      </a:pPr>
                      <a:r>
                        <a:rPr lang="en-US" sz="1400" b="1" dirty="0">
                          <a:solidFill>
                            <a:srgbClr val="FFFFFF"/>
                          </a:solidFill>
                        </a:rPr>
                        <a:t>Nondepolarizing (rocuronium, vecuronium, cisatracurium)</a:t>
                      </a:r>
                      <a:endParaRPr lang="en-US" sz="14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4472C4"/>
                    </a:solidFill>
                  </a:tcPr>
                </a:tc>
                <a:tc>
                  <a:txBody>
                    <a:bodyPr/>
                    <a:lstStyle/>
                    <a:p>
                      <a:pPr indent="0" marL="0">
                        <a:buNone/>
                      </a:pPr>
                      <a:r>
                        <a:rPr lang="en-US" sz="1400" b="1" dirty="0">
                          <a:solidFill>
                            <a:srgbClr val="FFFFFF"/>
                          </a:solidFill>
                        </a:rPr>
                        <a:t>Depolarizing (succinylcholine)</a:t>
                      </a:r>
                      <a:endParaRPr lang="en-US" sz="14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4472C4"/>
                    </a:solidFill>
                  </a:tcPr>
                </a:tc>
              </a:tr>
              <a:tr h="0">
                <a:tc>
                  <a:txBody>
                    <a:bodyPr/>
                    <a:lstStyle/>
                    <a:p>
                      <a:pPr indent="0" marL="0">
                        <a:buNone/>
                      </a:pPr>
                      <a:r>
                        <a:rPr lang="en-US" sz="1400" b="1" dirty="0">
                          <a:solidFill>
                            <a:srgbClr val="1F1F1F"/>
                          </a:solidFill>
                        </a:rPr>
                        <a:t>Normal neuromuscular function → mechanism of action</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2F4F7"/>
                    </a:solidFill>
                  </a:tcPr>
                </a:tc>
                <a:tc>
                  <a:txBody>
                    <a:bodyPr/>
                    <a:lstStyle/>
                    <a:p>
                      <a:pPr indent="0" marL="0">
                        <a:buNone/>
                      </a:pPr>
                      <a:r>
                        <a:rPr lang="en-US" sz="1400" dirty="0">
                          <a:solidFill>
                            <a:srgbClr val="1F1F1F"/>
                          </a:solidFill>
                        </a:rPr>
                        <a:t>Compete with ACh at the nicotinic end-plate receptor</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2F4F7"/>
                    </a:solidFill>
                  </a:tcPr>
                </a:tc>
                <a:tc>
                  <a:txBody>
                    <a:bodyPr/>
                    <a:lstStyle/>
                    <a:p>
                      <a:pPr indent="0" marL="0">
                        <a:buNone/>
                      </a:pPr>
                      <a:r>
                        <a:rPr lang="en-US" sz="1400" dirty="0">
                          <a:solidFill>
                            <a:srgbClr val="1F1F1F"/>
                          </a:solidFill>
                        </a:rPr>
                        <a:t>Agonist: depolarizes and holds the end plate (phase I), then desensitizes (phase II)</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2F4F7"/>
                    </a:solidFill>
                  </a:tcPr>
                </a:tc>
              </a:tr>
              <a:tr h="0">
                <a:tc>
                  <a:txBody>
                    <a:bodyPr/>
                    <a:lstStyle/>
                    <a:p>
                      <a:pPr indent="0" marL="0">
                        <a:buNone/>
                      </a:pPr>
                      <a:r>
                        <a:rPr lang="en-US" sz="1400" b="1" dirty="0">
                          <a:solidFill>
                            <a:srgbClr val="1F1F1F"/>
                          </a:solidFill>
                        </a:rPr>
                        <a:t>Skeletal muscle paralysis</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FFFFF"/>
                    </a:solidFill>
                  </a:tcPr>
                </a:tc>
                <a:tc>
                  <a:txBody>
                    <a:bodyPr/>
                    <a:lstStyle/>
                    <a:p>
                      <a:pPr indent="0" marL="0">
                        <a:buNone/>
                      </a:pPr>
                      <a:r>
                        <a:rPr lang="en-US" sz="1400" dirty="0">
                          <a:solidFill>
                            <a:srgbClr val="1F1F1F"/>
                          </a:solidFill>
                        </a:rPr>
                        <a:t>Onset: rocuronium fastest (60–120 s)</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FFFFF"/>
                    </a:solidFill>
                  </a:tcPr>
                </a:tc>
                <a:tc>
                  <a:txBody>
                    <a:bodyPr/>
                    <a:lstStyle/>
                    <a:p>
                      <a:pPr indent="0" marL="0">
                        <a:buNone/>
                      </a:pPr>
                      <a:r>
                        <a:rPr lang="en-US" sz="1400" dirty="0">
                          <a:solidFill>
                            <a:srgbClr val="1F1F1F"/>
                          </a:solidFill>
                        </a:rPr>
                        <a:t>Fasciculations, then paralysis &lt; 90 s; lasts &lt; 10 min</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FFFFF"/>
                    </a:solidFill>
                  </a:tcPr>
                </a:tc>
              </a:tr>
              <a:tr h="0">
                <a:tc>
                  <a:txBody>
                    <a:bodyPr/>
                    <a:lstStyle/>
                    <a:p>
                      <a:pPr indent="0" marL="0">
                        <a:buNone/>
                      </a:pPr>
                      <a:r>
                        <a:rPr lang="en-US" sz="1400" b="1" dirty="0">
                          <a:solidFill>
                            <a:srgbClr val="1F1F1F"/>
                          </a:solidFill>
                        </a:rPr>
                        <a:t>Neuromuscular response to cholinesterase inhibitors</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2F4F7"/>
                    </a:solidFill>
                  </a:tcPr>
                </a:tc>
                <a:tc>
                  <a:txBody>
                    <a:bodyPr/>
                    <a:lstStyle/>
                    <a:p>
                      <a:pPr indent="0" marL="0">
                        <a:buNone/>
                      </a:pPr>
                      <a:r>
                        <a:rPr lang="en-US" sz="1400" dirty="0">
                          <a:solidFill>
                            <a:srgbClr val="1F1F1F"/>
                          </a:solidFill>
                        </a:rPr>
                        <a:t>Reversed (neostigmine); sugammadex for rocuronium/vecuronium</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2F4F7"/>
                    </a:solidFill>
                  </a:tcPr>
                </a:tc>
                <a:tc>
                  <a:txBody>
                    <a:bodyPr/>
                    <a:lstStyle/>
                    <a:p>
                      <a:pPr indent="0" marL="0">
                        <a:buNone/>
                      </a:pPr>
                      <a:r>
                        <a:rPr lang="en-US" sz="1400" dirty="0">
                          <a:solidFill>
                            <a:srgbClr val="1F1F1F"/>
                          </a:solidFill>
                        </a:rPr>
                        <a:t>Phase I block augmented, not reversed</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2F4F7"/>
                    </a:solidFill>
                  </a:tcPr>
                </a:tc>
              </a:tr>
              <a:tr h="0">
                <a:tc>
                  <a:txBody>
                    <a:bodyPr/>
                    <a:lstStyle/>
                    <a:p>
                      <a:pPr indent="0" marL="0">
                        <a:buNone/>
                      </a:pPr>
                      <a:r>
                        <a:rPr lang="en-US" sz="1400" b="1" dirty="0">
                          <a:solidFill>
                            <a:srgbClr val="1F1F1F"/>
                          </a:solidFill>
                        </a:rPr>
                        <a:t>Cardiovascular effects</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FFFFF"/>
                    </a:solidFill>
                  </a:tcPr>
                </a:tc>
                <a:tc>
                  <a:txBody>
                    <a:bodyPr/>
                    <a:lstStyle/>
                    <a:p>
                      <a:pPr indent="0" marL="0">
                        <a:buNone/>
                      </a:pPr>
                      <a:r>
                        <a:rPr lang="en-US" sz="1400" dirty="0">
                          <a:solidFill>
                            <a:srgbClr val="1F1F1F"/>
                          </a:solidFill>
                        </a:rPr>
                        <a:t>Vecuronium, cisatracurium, rocuronium: minimal; histamine release with atracurium/tubocurarine</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FFFFF"/>
                    </a:solidFill>
                  </a:tcPr>
                </a:tc>
                <a:tc>
                  <a:txBody>
                    <a:bodyPr/>
                    <a:lstStyle/>
                    <a:p>
                      <a:pPr indent="0" marL="0">
                        <a:buNone/>
                      </a:pPr>
                      <a:r>
                        <a:rPr lang="en-US" sz="1400" dirty="0">
                          <a:solidFill>
                            <a:srgbClr val="1F1F1F"/>
                          </a:solidFill>
                        </a:rPr>
                        <a:t>Arrhythmias; bradycardia with a repeat dose</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FFFFF"/>
                    </a:solidFill>
                  </a:tcPr>
                </a:tc>
              </a:tr>
              <a:tr h="0">
                <a:tc>
                  <a:txBody>
                    <a:bodyPr/>
                    <a:lstStyle/>
                    <a:p>
                      <a:pPr indent="0" marL="0">
                        <a:buNone/>
                      </a:pPr>
                      <a:r>
                        <a:rPr lang="en-US" sz="1400" b="1" dirty="0">
                          <a:solidFill>
                            <a:srgbClr val="1F1F1F"/>
                          </a:solidFill>
                        </a:rPr>
                        <a:t>Neuromuscular blockade enhanced by</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2F4F7"/>
                    </a:solidFill>
                  </a:tcPr>
                </a:tc>
                <a:tc>
                  <a:txBody>
                    <a:bodyPr/>
                    <a:lstStyle/>
                    <a:p>
                      <a:pPr indent="0" marL="0">
                        <a:buNone/>
                      </a:pPr>
                      <a:r>
                        <a:rPr lang="en-US" sz="1400" dirty="0">
                          <a:solidFill>
                            <a:srgbClr val="1F1F1F"/>
                          </a:solidFill>
                        </a:rPr>
                        <a:t>Volatile anesthetics (isoflurane most), aminoglycosides, myasthenia gravis, old age</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2F4F7"/>
                    </a:solidFill>
                  </a:tcPr>
                </a:tc>
                <a:tc>
                  <a:txBody>
                    <a:bodyPr/>
                    <a:lstStyle/>
                    <a:p>
                      <a:pPr indent="0" marL="0">
                        <a:buNone/>
                      </a:pPr>
                      <a:r>
                        <a:rPr lang="en-US" sz="1400" dirty="0">
                          <a:solidFill>
                            <a:srgbClr val="1F1F1F"/>
                          </a:solidFill>
                        </a:rPr>
                        <a:t>Plasma cholinesterase variants (dibucaine number)</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2F4F7"/>
                    </a:solidFill>
                  </a:tcPr>
                </a:tc>
              </a:tr>
              <a:tr h="0">
                <a:tc>
                  <a:txBody>
                    <a:bodyPr/>
                    <a:lstStyle/>
                    <a:p>
                      <a:pPr indent="0" marL="0">
                        <a:buNone/>
                      </a:pPr>
                      <a:r>
                        <a:rPr lang="en-US" sz="1400" b="1" dirty="0">
                          <a:solidFill>
                            <a:srgbClr val="1F1F1F"/>
                          </a:solidFill>
                        </a:rPr>
                        <a:t>Key dangers</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FFFFF"/>
                    </a:solidFill>
                  </a:tcPr>
                </a:tc>
                <a:tc>
                  <a:txBody>
                    <a:bodyPr/>
                    <a:lstStyle/>
                    <a:p>
                      <a:pPr indent="0" marL="0">
                        <a:buNone/>
                      </a:pPr>
                      <a:r>
                        <a:rPr lang="en-US" sz="1400" dirty="0">
                          <a:solidFill>
                            <a:srgbClr val="1F1F1F"/>
                          </a:solidFill>
                        </a:rPr>
                        <a:t>Residual block → hypoventilation</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FFFFF"/>
                    </a:solidFill>
                  </a:tcPr>
                </a:tc>
                <a:tc>
                  <a:txBody>
                    <a:bodyPr/>
                    <a:lstStyle/>
                    <a:p>
                      <a:pPr indent="0" marL="0">
                        <a:buNone/>
                      </a:pPr>
                      <a:r>
                        <a:rPr lang="en-US" sz="1400" dirty="0">
                          <a:solidFill>
                            <a:srgbClr val="1F1F1F"/>
                          </a:solidFill>
                        </a:rPr>
                        <a:t>Hyperkalemia (burns, denervation); MH trigger; ↑ intraocular and intragastric pressure</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FFFFF"/>
                    </a:solidFill>
                  </a:tcPr>
                </a:tc>
              </a:tr>
            </a:tbl>
          </a:graphicData>
        </a:graphic>
      </p:graphicFrame>
      <p:sp>
        <p:nvSpPr>
          <p:cNvPr id="8" name="Table sources"/>
          <p:cNvSpPr txBox="1"/>
          <p:nvPr/>
        </p:nvSpPr>
        <p:spPr>
          <a:xfrm>
            <a:off x="548640" y="5395976"/>
            <a:ext cx="11094415" cy="274320"/>
          </a:xfrm>
          <a:prstGeom prst="rect">
            <a:avLst/>
          </a:prstGeom>
          <a:noFill/>
          <a:ln/>
        </p:spPr>
        <p:txBody>
          <a:bodyPr wrap="square" lIns="0" tIns="0" rIns="0" bIns="0" rtlCol="0" anchor="ctr"/>
          <a:lstStyle/>
          <a:p>
            <a:pPr indent="0" marL="0">
              <a:buNone/>
            </a:pPr>
            <a:r>
              <a:rPr lang="en-US" sz="1100" dirty="0">
                <a:solidFill>
                  <a:srgbClr val="666666"/>
                </a:solidFill>
              </a:rPr>
              <a:t>Focus: what tells these apart.  Sources: p. 500; p. 503; p. 504; p. 507; p. 508; p. 509</a:t>
            </a:r>
            <a:endParaRPr lang="en-US" sz="110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bg>
      <p:bgPr>
        <a:solidFill>
          <a:srgbClr val="FFFFFF"/>
        </a:solidFill>
      </p:bgPr>
    </p:bg>
    <p:spTree>
      <p:nvGrpSpPr>
        <p:cNvPr id="1" name=""/>
        <p:cNvGrpSpPr/>
        <p:nvPr/>
      </p:nvGrpSpPr>
      <p:grpSpPr>
        <a:xfrm>
          <a:off x="0" y="0"/>
          <a:ext cx="0" cy="0"/>
          <a:chOff x="0" y="0"/>
          <a:chExt cx="0" cy="0"/>
        </a:xfrm>
      </p:grpSpPr>
      <p:sp>
        <p:nvSpPr>
          <p:cNvPr id="2" name="Kicker"/>
          <p:cNvSpPr txBox="1"/>
          <p:nvPr/>
        </p:nvSpPr>
        <p:spPr>
          <a:xfrm>
            <a:off x="548640" y="292608"/>
            <a:ext cx="8076895" cy="274320"/>
          </a:xfrm>
          <a:prstGeom prst="rect">
            <a:avLst/>
          </a:prstGeom>
          <a:noFill/>
          <a:ln/>
        </p:spPr>
        <p:txBody>
          <a:bodyPr wrap="square" lIns="0" tIns="0" rIns="0" bIns="0" rtlCol="0" anchor="ctr"/>
          <a:lstStyle/>
          <a:p>
            <a:pPr indent="0" marL="0">
              <a:buNone/>
            </a:pPr>
            <a:r>
              <a:rPr lang="en-US" sz="1200" b="1" spc="100" kern="0" dirty="0">
                <a:solidFill>
                  <a:srgbClr val="4472C4"/>
                </a:solidFill>
              </a:rPr>
              <a:t>SKELETAL MUSCLE RELAXANTS</a:t>
            </a:r>
            <a:endParaRPr lang="en-US" sz="1200" dirty="0"/>
          </a:p>
        </p:txBody>
      </p:sp>
      <p:sp>
        <p:nvSpPr>
          <p:cNvPr id="3" name="Title"/>
          <p:cNvSpPr txBox="1"/>
          <p:nvPr/>
        </p:nvSpPr>
        <p:spPr>
          <a:xfrm>
            <a:off x="548640" y="566928"/>
            <a:ext cx="8076895" cy="713232"/>
          </a:xfrm>
          <a:prstGeom prst="rect">
            <a:avLst/>
          </a:prstGeom>
          <a:noFill/>
          <a:ln/>
        </p:spPr>
        <p:txBody>
          <a:bodyPr wrap="square" lIns="0" tIns="0" rIns="0" bIns="0" rtlCol="0" anchor="t"/>
          <a:lstStyle/>
          <a:p>
            <a:pPr indent="0" marL="0">
              <a:buNone/>
            </a:pPr>
            <a:r>
              <a:rPr lang="en-US" sz="3000" b="1" dirty="0">
                <a:solidFill>
                  <a:srgbClr val="1F1F1F"/>
                </a:solidFill>
                <a:latin typeface="Calibri" pitchFamily="34" charset="0"/>
                <a:ea typeface="Calibri" pitchFamily="34" charset="-122"/>
                <a:cs typeface="Calibri" pitchFamily="34" charset="-120"/>
              </a:rPr>
              <a:t>Memory hooks</a:t>
            </a:r>
            <a:endParaRPr lang="en-US" sz="3000" dirty="0"/>
          </a:p>
        </p:txBody>
      </p:sp>
      <p:sp>
        <p:nvSpPr>
          <p:cNvPr id="4" name="Objective chip"/>
          <p:cNvSpPr/>
          <p:nvPr/>
        </p:nvSpPr>
        <p:spPr>
          <a:xfrm>
            <a:off x="8899855" y="365760"/>
            <a:ext cx="2743200" cy="384048"/>
          </a:xfrm>
          <a:prstGeom prst="roundRect">
            <a:avLst>
              <a:gd name="adj" fmla="val 35714"/>
            </a:avLst>
          </a:prstGeom>
          <a:solidFill>
            <a:srgbClr val="E3EBF8"/>
          </a:solidFill>
          <a:ln/>
        </p:spPr>
        <p:txBody>
          <a:bodyPr wrap="square" lIns="25400" tIns="25400" rIns="25400" bIns="25400" rtlCol="0" anchor="ctr"/>
          <a:lstStyle/>
          <a:p>
            <a:pPr algn="ctr" indent="0" marL="0">
              <a:buNone/>
            </a:pPr>
            <a:r>
              <a:rPr lang="en-US" sz="800" b="1" dirty="0">
                <a:solidFill>
                  <a:srgbClr val="2F4F8A"/>
                </a:solidFill>
              </a:rPr>
              <a:t>Objectives: SO2 · SO4 · IO2.1 · IO2.2 · IO2.3 · IO2.5 · IO2.6</a:t>
            </a:r>
            <a:endParaRPr lang="en-US" sz="800" dirty="0"/>
          </a:p>
        </p:txBody>
      </p:sp>
      <p:sp>
        <p:nvSpPr>
          <p:cNvPr id="5" name="Footer"/>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1000" dirty="0">
                <a:solidFill>
                  <a:srgbClr val="666666"/>
                </a:solidFill>
              </a:rPr>
              <a:t>L04 · Musculoskeletal Pharmacology — Session 2</a:t>
            </a:r>
            <a:endParaRPr lang="en-US" sz="1000" dirty="0"/>
          </a:p>
        </p:txBody>
      </p:sp>
      <p:sp>
        <p:nvSpPr>
          <p:cNvPr id="6" name="Slide number"/>
          <p:cNvSpPr txBox="1"/>
          <p:nvPr/>
        </p:nvSpPr>
        <p:spPr>
          <a:xfrm>
            <a:off x="10728655" y="6419088"/>
            <a:ext cx="914400" cy="274320"/>
          </a:xfrm>
          <a:prstGeom prst="rect">
            <a:avLst/>
          </a:prstGeom>
          <a:noFill/>
          <a:ln/>
        </p:spPr>
        <p:txBody>
          <a:bodyPr wrap="square" lIns="0" tIns="0" rIns="0" bIns="0" rtlCol="0" anchor="ctr"/>
          <a:lstStyle/>
          <a:p>
            <a:pPr algn="r" indent="0" marL="0">
              <a:buNone/>
            </a:pPr>
            <a:r>
              <a:rPr lang="en-US" sz="1000" dirty="0">
                <a:solidFill>
                  <a:srgbClr val="666666"/>
                </a:solidFill>
              </a:rPr>
              <a:t>60</a:t>
            </a:r>
            <a:endParaRPr lang="en-US" sz="1000" dirty="0"/>
          </a:p>
        </p:txBody>
      </p:sp>
      <p:sp>
        <p:nvSpPr>
          <p:cNvPr id="7" name="Why it happens card"/>
          <p:cNvSpPr/>
          <p:nvPr/>
        </p:nvSpPr>
        <p:spPr>
          <a:xfrm>
            <a:off x="548640" y="1325880"/>
            <a:ext cx="5364328" cy="2555748"/>
          </a:xfrm>
          <a:prstGeom prst="roundRect">
            <a:avLst>
              <a:gd name="adj" fmla="val 4293"/>
            </a:avLst>
          </a:prstGeom>
          <a:solidFill>
            <a:srgbClr val="F2F4F7"/>
          </a:solidFill>
          <a:ln w="12700">
            <a:solidFill>
              <a:srgbClr val="F2F4F7"/>
            </a:solidFill>
            <a:prstDash val="solid"/>
          </a:ln>
        </p:spPr>
      </p:sp>
      <p:sp>
        <p:nvSpPr>
          <p:cNvPr id="8" name="Why it happens icon circle"/>
          <p:cNvSpPr/>
          <p:nvPr/>
        </p:nvSpPr>
        <p:spPr>
          <a:xfrm>
            <a:off x="777240" y="1508760"/>
            <a:ext cx="438912" cy="438912"/>
          </a:xfrm>
          <a:prstGeom prst="ellipse">
            <a:avLst/>
          </a:prstGeom>
          <a:solidFill>
            <a:srgbClr val="4472C4"/>
          </a:solidFill>
          <a:ln w="12700">
            <a:solidFill>
              <a:srgbClr val="4472C4"/>
            </a:solidFill>
            <a:prstDash val="solid"/>
          </a:ln>
        </p:spPr>
      </p:sp>
      <p:pic>
        <p:nvPicPr>
          <p:cNvPr id="9" name="Why it happens icon" descr="preencoded.png">    </p:cNvPr>
          <p:cNvPicPr>
            <a:picLocks noChangeAspect="1"/>
          </p:cNvPicPr>
          <p:nvPr/>
        </p:nvPicPr>
        <p:blipFill>
          <a:blip r:embed="rId1"/>
          <a:stretch>
            <a:fillRect/>
          </a:stretch>
        </p:blipFill>
        <p:spPr>
          <a:xfrm>
            <a:off x="877824" y="1609344"/>
            <a:ext cx="237744" cy="237744"/>
          </a:xfrm>
          <a:prstGeom prst="rect">
            <a:avLst/>
          </a:prstGeom>
        </p:spPr>
      </p:pic>
      <p:sp>
        <p:nvSpPr>
          <p:cNvPr id="10" name="Why it happens heading"/>
          <p:cNvSpPr txBox="1"/>
          <p:nvPr/>
        </p:nvSpPr>
        <p:spPr>
          <a:xfrm>
            <a:off x="1353312" y="1508760"/>
            <a:ext cx="4358488" cy="438912"/>
          </a:xfrm>
          <a:prstGeom prst="rect">
            <a:avLst/>
          </a:prstGeom>
          <a:noFill/>
          <a:ln/>
        </p:spPr>
        <p:txBody>
          <a:bodyPr wrap="square" lIns="0" tIns="0" rIns="0" bIns="0" rtlCol="0" anchor="ctr"/>
          <a:lstStyle/>
          <a:p>
            <a:pPr indent="0" marL="0">
              <a:buNone/>
            </a:pPr>
            <a:r>
              <a:rPr lang="en-US" sz="1800" b="1" dirty="0">
                <a:solidFill>
                  <a:srgbClr val="4472C4"/>
                </a:solidFill>
              </a:rPr>
              <a:t>Why it happens</a:t>
            </a:r>
            <a:endParaRPr lang="en-US" sz="1800" dirty="0"/>
          </a:p>
        </p:txBody>
      </p:sp>
      <p:sp>
        <p:nvSpPr>
          <p:cNvPr id="11" name="Why it happens body"/>
          <p:cNvSpPr txBox="1"/>
          <p:nvPr/>
        </p:nvSpPr>
        <p:spPr>
          <a:xfrm>
            <a:off x="777240" y="2075688"/>
            <a:ext cx="4907128" cy="1687068"/>
          </a:xfrm>
          <a:prstGeom prst="rect">
            <a:avLst/>
          </a:prstGeom>
          <a:noFill/>
          <a:ln/>
        </p:spPr>
        <p:txBody>
          <a:bodyPr wrap="square" lIns="0" tIns="0" rIns="0" bIns="0" rtlCol="0" anchor="t"/>
          <a:lstStyle/>
          <a:p>
            <a:pPr marL="228600" indent="-228600">
              <a:spcAft>
                <a:spcPts val="800"/>
              </a:spcAft>
              <a:buSzPct val="100000"/>
              <a:buChar char="•"/>
            </a:pPr>
            <a:r>
              <a:rPr lang="en-US" sz="1800" dirty="0">
                <a:solidFill>
                  <a:srgbClr val="1F1F1F"/>
                </a:solidFill>
              </a:rPr>
              <a:t>Why is dantrolene the malignant hyperthermia drug? MH is runaway calcium release through RyR1 in muscle; a CNS drug can’t reach that — dantrolene blocks RyR1 itself.</a:t>
            </a:r>
            <a:r>
              <a:rPr lang="en-US" sz="1300" dirty="0">
                <a:solidFill>
                  <a:srgbClr val="666666"/>
                </a:solidFill>
              </a:rPr>
              <a:t>  S34; S35; SG U2-R11</a:t>
            </a:r>
            <a:endParaRPr lang="en-US" sz="1800" dirty="0"/>
          </a:p>
        </p:txBody>
      </p:sp>
      <p:sp>
        <p:nvSpPr>
          <p:cNvPr id="12" name="Why it happens card"/>
          <p:cNvSpPr/>
          <p:nvPr/>
        </p:nvSpPr>
        <p:spPr>
          <a:xfrm>
            <a:off x="6278728" y="1325880"/>
            <a:ext cx="5364328" cy="2276856"/>
          </a:xfrm>
          <a:prstGeom prst="roundRect">
            <a:avLst>
              <a:gd name="adj" fmla="val 4819"/>
            </a:avLst>
          </a:prstGeom>
          <a:solidFill>
            <a:srgbClr val="F2F4F7"/>
          </a:solidFill>
          <a:ln w="12700">
            <a:solidFill>
              <a:srgbClr val="F2F4F7"/>
            </a:solidFill>
            <a:prstDash val="solid"/>
          </a:ln>
        </p:spPr>
      </p:sp>
      <p:sp>
        <p:nvSpPr>
          <p:cNvPr id="13" name="Why it happens icon circle"/>
          <p:cNvSpPr/>
          <p:nvPr/>
        </p:nvSpPr>
        <p:spPr>
          <a:xfrm>
            <a:off x="6507328" y="1508760"/>
            <a:ext cx="438912" cy="438912"/>
          </a:xfrm>
          <a:prstGeom prst="ellipse">
            <a:avLst/>
          </a:prstGeom>
          <a:solidFill>
            <a:srgbClr val="4472C4"/>
          </a:solidFill>
          <a:ln w="12700">
            <a:solidFill>
              <a:srgbClr val="4472C4"/>
            </a:solidFill>
            <a:prstDash val="solid"/>
          </a:ln>
        </p:spPr>
      </p:sp>
      <p:pic>
        <p:nvPicPr>
          <p:cNvPr id="14" name="Why it happens icon" descr="preencoded.png">    </p:cNvPr>
          <p:cNvPicPr>
            <a:picLocks noChangeAspect="1"/>
          </p:cNvPicPr>
          <p:nvPr/>
        </p:nvPicPr>
        <p:blipFill>
          <a:blip r:embed="rId2"/>
          <a:stretch>
            <a:fillRect/>
          </a:stretch>
        </p:blipFill>
        <p:spPr>
          <a:xfrm>
            <a:off x="6607912" y="1609344"/>
            <a:ext cx="237744" cy="237744"/>
          </a:xfrm>
          <a:prstGeom prst="rect">
            <a:avLst/>
          </a:prstGeom>
        </p:spPr>
      </p:pic>
      <p:sp>
        <p:nvSpPr>
          <p:cNvPr id="15" name="Why it happens heading"/>
          <p:cNvSpPr txBox="1"/>
          <p:nvPr/>
        </p:nvSpPr>
        <p:spPr>
          <a:xfrm>
            <a:off x="7083400" y="1508760"/>
            <a:ext cx="4358488" cy="438912"/>
          </a:xfrm>
          <a:prstGeom prst="rect">
            <a:avLst/>
          </a:prstGeom>
          <a:noFill/>
          <a:ln/>
        </p:spPr>
        <p:txBody>
          <a:bodyPr wrap="square" lIns="0" tIns="0" rIns="0" bIns="0" rtlCol="0" anchor="ctr"/>
          <a:lstStyle/>
          <a:p>
            <a:pPr indent="0" marL="0">
              <a:buNone/>
            </a:pPr>
            <a:r>
              <a:rPr lang="en-US" sz="1800" b="1" dirty="0">
                <a:solidFill>
                  <a:srgbClr val="4472C4"/>
                </a:solidFill>
              </a:rPr>
              <a:t>Why it happens</a:t>
            </a:r>
            <a:endParaRPr lang="en-US" sz="1800" dirty="0"/>
          </a:p>
        </p:txBody>
      </p:sp>
      <p:sp>
        <p:nvSpPr>
          <p:cNvPr id="16" name="Why it happens body"/>
          <p:cNvSpPr txBox="1"/>
          <p:nvPr/>
        </p:nvSpPr>
        <p:spPr>
          <a:xfrm>
            <a:off x="6507328" y="2075688"/>
            <a:ext cx="4907128" cy="1408176"/>
          </a:xfrm>
          <a:prstGeom prst="rect">
            <a:avLst/>
          </a:prstGeom>
          <a:noFill/>
          <a:ln/>
        </p:spPr>
        <p:txBody>
          <a:bodyPr wrap="square" lIns="0" tIns="0" rIns="0" bIns="0" rtlCol="0" anchor="t"/>
          <a:lstStyle/>
          <a:p>
            <a:pPr marL="228600" indent="-228600">
              <a:spcAft>
                <a:spcPts val="800"/>
              </a:spcAft>
              <a:buSzPct val="100000"/>
              <a:buChar char="•"/>
            </a:pPr>
            <a:r>
              <a:rPr lang="en-US" sz="1800" dirty="0">
                <a:solidFill>
                  <a:srgbClr val="1F1F1F"/>
                </a:solidFill>
              </a:rPr>
              <a:t>Why does stopping intrathecal baclofen go badly? The spinal cord loses its GABA-B brake all at once: seizures, hyperthermia, and rebound spasticity.</a:t>
            </a:r>
            <a:r>
              <a:rPr lang="en-US" sz="1300" dirty="0">
                <a:solidFill>
                  <a:srgbClr val="666666"/>
                </a:solidFill>
              </a:rPr>
              <a:t>  S27; S28</a:t>
            </a:r>
            <a:endParaRPr lang="en-US" sz="1800" dirty="0"/>
          </a:p>
        </p:txBody>
      </p:sp>
      <p:sp>
        <p:nvSpPr>
          <p:cNvPr id="17" name="Mnemonic (memory aid) card"/>
          <p:cNvSpPr/>
          <p:nvPr/>
        </p:nvSpPr>
        <p:spPr>
          <a:xfrm>
            <a:off x="6278728" y="3831336"/>
            <a:ext cx="5364328" cy="1997964"/>
          </a:xfrm>
          <a:prstGeom prst="roundRect">
            <a:avLst>
              <a:gd name="adj" fmla="val 5492"/>
            </a:avLst>
          </a:prstGeom>
          <a:solidFill>
            <a:srgbClr val="F2F4F7"/>
          </a:solidFill>
          <a:ln w="12700">
            <a:solidFill>
              <a:srgbClr val="F2F4F7"/>
            </a:solidFill>
            <a:prstDash val="solid"/>
          </a:ln>
        </p:spPr>
      </p:sp>
      <p:sp>
        <p:nvSpPr>
          <p:cNvPr id="18" name="Mnemonic (memory aid) icon circle"/>
          <p:cNvSpPr/>
          <p:nvPr/>
        </p:nvSpPr>
        <p:spPr>
          <a:xfrm>
            <a:off x="6507328" y="4014216"/>
            <a:ext cx="438912" cy="438912"/>
          </a:xfrm>
          <a:prstGeom prst="ellipse">
            <a:avLst/>
          </a:prstGeom>
          <a:solidFill>
            <a:srgbClr val="7030A0"/>
          </a:solidFill>
          <a:ln w="12700">
            <a:solidFill>
              <a:srgbClr val="7030A0"/>
            </a:solidFill>
            <a:prstDash val="solid"/>
          </a:ln>
        </p:spPr>
      </p:sp>
      <p:pic>
        <p:nvPicPr>
          <p:cNvPr id="19" name="Mnemonic (memory aid) icon" descr="preencoded.png">    </p:cNvPr>
          <p:cNvPicPr>
            <a:picLocks noChangeAspect="1"/>
          </p:cNvPicPr>
          <p:nvPr/>
        </p:nvPicPr>
        <p:blipFill>
          <a:blip r:embed="rId3"/>
          <a:stretch>
            <a:fillRect/>
          </a:stretch>
        </p:blipFill>
        <p:spPr>
          <a:xfrm>
            <a:off x="6607912" y="4114800"/>
            <a:ext cx="237744" cy="237744"/>
          </a:xfrm>
          <a:prstGeom prst="rect">
            <a:avLst/>
          </a:prstGeom>
        </p:spPr>
      </p:pic>
      <p:sp>
        <p:nvSpPr>
          <p:cNvPr id="20" name="Mnemonic (memory aid) heading"/>
          <p:cNvSpPr txBox="1"/>
          <p:nvPr/>
        </p:nvSpPr>
        <p:spPr>
          <a:xfrm>
            <a:off x="7083400" y="4014216"/>
            <a:ext cx="4358488" cy="438912"/>
          </a:xfrm>
          <a:prstGeom prst="rect">
            <a:avLst/>
          </a:prstGeom>
          <a:noFill/>
          <a:ln/>
        </p:spPr>
        <p:txBody>
          <a:bodyPr wrap="square" lIns="0" tIns="0" rIns="0" bIns="0" rtlCol="0" anchor="ctr"/>
          <a:lstStyle/>
          <a:p>
            <a:pPr indent="0" marL="0">
              <a:buNone/>
            </a:pPr>
            <a:r>
              <a:rPr lang="en-US" sz="1800" b="1" dirty="0">
                <a:solidFill>
                  <a:srgbClr val="7030A0"/>
                </a:solidFill>
              </a:rPr>
              <a:t>Mnemonic (memory aid)</a:t>
            </a:r>
            <a:endParaRPr lang="en-US" sz="1800" dirty="0"/>
          </a:p>
        </p:txBody>
      </p:sp>
      <p:sp>
        <p:nvSpPr>
          <p:cNvPr id="21" name="Mnemonic (memory aid) body"/>
          <p:cNvSpPr txBox="1"/>
          <p:nvPr/>
        </p:nvSpPr>
        <p:spPr>
          <a:xfrm>
            <a:off x="6507328" y="4581144"/>
            <a:ext cx="4907128" cy="1129284"/>
          </a:xfrm>
          <a:prstGeom prst="rect">
            <a:avLst/>
          </a:prstGeom>
          <a:noFill/>
          <a:ln/>
        </p:spPr>
        <p:txBody>
          <a:bodyPr wrap="square" lIns="0" tIns="0" rIns="0" bIns="0" rtlCol="0" anchor="t"/>
          <a:lstStyle/>
          <a:p>
            <a:pPr marL="228600" indent="-228600">
              <a:spcAft>
                <a:spcPts val="800"/>
              </a:spcAft>
              <a:buSzPct val="100000"/>
              <a:buChar char="•"/>
            </a:pPr>
            <a:r>
              <a:rPr lang="en-US" sz="1800" b="1" dirty="0">
                <a:solidFill>
                  <a:srgbClr val="1F1F1F"/>
                </a:solidFill>
              </a:rPr>
              <a:t>Cyclobenzaprine looks like a tricyclic, acts like one:</a:t>
            </a:r>
            <a:r>
              <a:rPr lang="en-US" sz="1800" dirty="0">
                <a:solidFill>
                  <a:srgbClr val="1F1F1F"/>
                </a:solidFill>
              </a:rPr>
              <a:t> sleepy, dry, can’t pee, confused — and serotonin syndrome with SSRIs.</a:t>
            </a:r>
            <a:r>
              <a:rPr lang="en-US" sz="1300" dirty="0">
                <a:solidFill>
                  <a:srgbClr val="666666"/>
                </a:solidFill>
              </a:rPr>
              <a:t>  S31; S32</a:t>
            </a:r>
            <a:endParaRPr lang="en-US" sz="180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bg>
      <p:bgPr>
        <a:solidFill>
          <a:srgbClr val="FFFFFF"/>
        </a:solidFill>
      </p:bgPr>
    </p:bg>
    <p:spTree>
      <p:nvGrpSpPr>
        <p:cNvPr id="1" name=""/>
        <p:cNvGrpSpPr/>
        <p:nvPr/>
      </p:nvGrpSpPr>
      <p:grpSpPr>
        <a:xfrm>
          <a:off x="0" y="0"/>
          <a:ext cx="0" cy="0"/>
          <a:chOff x="0" y="0"/>
          <a:chExt cx="0" cy="0"/>
        </a:xfrm>
      </p:grpSpPr>
      <p:sp>
        <p:nvSpPr>
          <p:cNvPr id="2" name="Kicker"/>
          <p:cNvSpPr txBox="1"/>
          <p:nvPr/>
        </p:nvSpPr>
        <p:spPr>
          <a:xfrm>
            <a:off x="548640" y="292608"/>
            <a:ext cx="8076895" cy="274320"/>
          </a:xfrm>
          <a:prstGeom prst="rect">
            <a:avLst/>
          </a:prstGeom>
          <a:noFill/>
          <a:ln/>
        </p:spPr>
        <p:txBody>
          <a:bodyPr wrap="square" lIns="0" tIns="0" rIns="0" bIns="0" rtlCol="0" anchor="ctr"/>
          <a:lstStyle/>
          <a:p>
            <a:pPr indent="0" marL="0">
              <a:buNone/>
            </a:pPr>
            <a:r>
              <a:rPr lang="en-US" sz="1200" b="1" spc="100" kern="0" dirty="0">
                <a:solidFill>
                  <a:srgbClr val="4472C4"/>
                </a:solidFill>
              </a:rPr>
              <a:t>SKELETAL MUSCLE RELAXANTS</a:t>
            </a:r>
            <a:endParaRPr lang="en-US" sz="1200" dirty="0"/>
          </a:p>
        </p:txBody>
      </p:sp>
      <p:sp>
        <p:nvSpPr>
          <p:cNvPr id="3" name="Title"/>
          <p:cNvSpPr txBox="1"/>
          <p:nvPr/>
        </p:nvSpPr>
        <p:spPr>
          <a:xfrm>
            <a:off x="548640" y="566928"/>
            <a:ext cx="8076895" cy="713232"/>
          </a:xfrm>
          <a:prstGeom prst="rect">
            <a:avLst/>
          </a:prstGeom>
          <a:noFill/>
          <a:ln/>
        </p:spPr>
        <p:txBody>
          <a:bodyPr wrap="square" lIns="0" tIns="0" rIns="0" bIns="0" rtlCol="0" anchor="t"/>
          <a:lstStyle/>
          <a:p>
            <a:pPr indent="0" marL="0">
              <a:buNone/>
            </a:pPr>
            <a:r>
              <a:rPr lang="en-US" sz="3000" b="1" dirty="0">
                <a:solidFill>
                  <a:srgbClr val="1F1F1F"/>
                </a:solidFill>
                <a:latin typeface="Calibri" pitchFamily="34" charset="0"/>
                <a:ea typeface="Calibri" pitchFamily="34" charset="-122"/>
                <a:cs typeface="Calibri" pitchFamily="34" charset="-120"/>
              </a:rPr>
              <a:t>High-yield summary</a:t>
            </a:r>
            <a:endParaRPr lang="en-US" sz="3000" dirty="0"/>
          </a:p>
        </p:txBody>
      </p:sp>
      <p:sp>
        <p:nvSpPr>
          <p:cNvPr id="4" name="Objective chip"/>
          <p:cNvSpPr/>
          <p:nvPr/>
        </p:nvSpPr>
        <p:spPr>
          <a:xfrm>
            <a:off x="8899855" y="365760"/>
            <a:ext cx="2743200" cy="384048"/>
          </a:xfrm>
          <a:prstGeom prst="roundRect">
            <a:avLst>
              <a:gd name="adj" fmla="val 35714"/>
            </a:avLst>
          </a:prstGeom>
          <a:solidFill>
            <a:srgbClr val="E3EBF8"/>
          </a:solidFill>
          <a:ln/>
        </p:spPr>
        <p:txBody>
          <a:bodyPr wrap="square" lIns="25400" tIns="25400" rIns="25400" bIns="25400" rtlCol="0" anchor="ctr"/>
          <a:lstStyle/>
          <a:p>
            <a:pPr algn="ctr" indent="0" marL="0">
              <a:buNone/>
            </a:pPr>
            <a:r>
              <a:rPr lang="en-US" sz="800" b="1" dirty="0">
                <a:solidFill>
                  <a:srgbClr val="2F4F8A"/>
                </a:solidFill>
              </a:rPr>
              <a:t>Objectives: SO2 · SO4 · IO2.1 · IO2.2 · IO2.3 · IO2.5 · IO2.6</a:t>
            </a:r>
            <a:endParaRPr lang="en-US" sz="800" dirty="0"/>
          </a:p>
        </p:txBody>
      </p:sp>
      <p:sp>
        <p:nvSpPr>
          <p:cNvPr id="5" name="Footer"/>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1000" dirty="0">
                <a:solidFill>
                  <a:srgbClr val="666666"/>
                </a:solidFill>
              </a:rPr>
              <a:t>L04 · Musculoskeletal Pharmacology — Session 2</a:t>
            </a:r>
            <a:endParaRPr lang="en-US" sz="1000" dirty="0"/>
          </a:p>
        </p:txBody>
      </p:sp>
      <p:sp>
        <p:nvSpPr>
          <p:cNvPr id="6" name="Slide number"/>
          <p:cNvSpPr txBox="1"/>
          <p:nvPr/>
        </p:nvSpPr>
        <p:spPr>
          <a:xfrm>
            <a:off x="10728655" y="6419088"/>
            <a:ext cx="914400" cy="274320"/>
          </a:xfrm>
          <a:prstGeom prst="rect">
            <a:avLst/>
          </a:prstGeom>
          <a:noFill/>
          <a:ln/>
        </p:spPr>
        <p:txBody>
          <a:bodyPr wrap="square" lIns="0" tIns="0" rIns="0" bIns="0" rtlCol="0" anchor="ctr"/>
          <a:lstStyle/>
          <a:p>
            <a:pPr algn="r" indent="0" marL="0">
              <a:buNone/>
            </a:pPr>
            <a:r>
              <a:rPr lang="en-US" sz="1000" dirty="0">
                <a:solidFill>
                  <a:srgbClr val="666666"/>
                </a:solidFill>
              </a:rPr>
              <a:t>61</a:t>
            </a:r>
            <a:endParaRPr lang="en-US" sz="1000" dirty="0"/>
          </a:p>
        </p:txBody>
      </p:sp>
      <p:sp>
        <p:nvSpPr>
          <p:cNvPr id="7" name="If you remember nothing else card"/>
          <p:cNvSpPr/>
          <p:nvPr/>
        </p:nvSpPr>
        <p:spPr>
          <a:xfrm>
            <a:off x="548640" y="1325880"/>
            <a:ext cx="11094415" cy="3273552"/>
          </a:xfrm>
          <a:prstGeom prst="roundRect">
            <a:avLst>
              <a:gd name="adj" fmla="val 3352"/>
            </a:avLst>
          </a:prstGeom>
          <a:solidFill>
            <a:srgbClr val="F2F4F7"/>
          </a:solidFill>
          <a:ln w="12700">
            <a:solidFill>
              <a:srgbClr val="F2F4F7"/>
            </a:solidFill>
            <a:prstDash val="solid"/>
          </a:ln>
        </p:spPr>
      </p:sp>
      <p:sp>
        <p:nvSpPr>
          <p:cNvPr id="8" name="If you remember nothing else icon circle"/>
          <p:cNvSpPr/>
          <p:nvPr/>
        </p:nvSpPr>
        <p:spPr>
          <a:xfrm>
            <a:off x="777240" y="1508760"/>
            <a:ext cx="438912" cy="438912"/>
          </a:xfrm>
          <a:prstGeom prst="ellipse">
            <a:avLst/>
          </a:prstGeom>
          <a:solidFill>
            <a:srgbClr val="C55A11"/>
          </a:solidFill>
          <a:ln w="12700">
            <a:solidFill>
              <a:srgbClr val="C55A11"/>
            </a:solidFill>
            <a:prstDash val="solid"/>
          </a:ln>
        </p:spPr>
      </p:sp>
      <p:pic>
        <p:nvPicPr>
          <p:cNvPr id="9" name="If you remember nothing else icon" descr="preencoded.png">    </p:cNvPr>
          <p:cNvPicPr>
            <a:picLocks noChangeAspect="1"/>
          </p:cNvPicPr>
          <p:nvPr/>
        </p:nvPicPr>
        <p:blipFill>
          <a:blip r:embed="rId1"/>
          <a:stretch>
            <a:fillRect/>
          </a:stretch>
        </p:blipFill>
        <p:spPr>
          <a:xfrm>
            <a:off x="877824" y="1609344"/>
            <a:ext cx="237744" cy="237744"/>
          </a:xfrm>
          <a:prstGeom prst="rect">
            <a:avLst/>
          </a:prstGeom>
        </p:spPr>
      </p:pic>
      <p:sp>
        <p:nvSpPr>
          <p:cNvPr id="10" name="If you remember nothing else heading"/>
          <p:cNvSpPr txBox="1"/>
          <p:nvPr/>
        </p:nvSpPr>
        <p:spPr>
          <a:xfrm>
            <a:off x="1353312" y="1508760"/>
            <a:ext cx="10088575" cy="438912"/>
          </a:xfrm>
          <a:prstGeom prst="rect">
            <a:avLst/>
          </a:prstGeom>
          <a:noFill/>
          <a:ln/>
        </p:spPr>
        <p:txBody>
          <a:bodyPr wrap="square" lIns="0" tIns="0" rIns="0" bIns="0" rtlCol="0" anchor="ctr"/>
          <a:lstStyle/>
          <a:p>
            <a:pPr indent="0" marL="0">
              <a:buNone/>
            </a:pPr>
            <a:r>
              <a:rPr lang="en-US" sz="1800" b="1" dirty="0">
                <a:solidFill>
                  <a:srgbClr val="C55A11"/>
                </a:solidFill>
              </a:rPr>
              <a:t>If you remember nothing else</a:t>
            </a:r>
            <a:endParaRPr lang="en-US" sz="1800" dirty="0"/>
          </a:p>
        </p:txBody>
      </p:sp>
      <p:sp>
        <p:nvSpPr>
          <p:cNvPr id="11" name="If you remember nothing else body"/>
          <p:cNvSpPr txBox="1"/>
          <p:nvPr/>
        </p:nvSpPr>
        <p:spPr>
          <a:xfrm>
            <a:off x="777240" y="2075688"/>
            <a:ext cx="10637215" cy="2404872"/>
          </a:xfrm>
          <a:prstGeom prst="rect">
            <a:avLst/>
          </a:prstGeom>
          <a:noFill/>
          <a:ln/>
        </p:spPr>
        <p:txBody>
          <a:bodyPr wrap="square" lIns="0" tIns="0" rIns="0" bIns="0" rtlCol="0" anchor="t"/>
          <a:lstStyle/>
          <a:p>
            <a:pPr marL="228600" indent="-228600">
              <a:spcAft>
                <a:spcPts val="800"/>
              </a:spcAft>
              <a:buSzPct val="100000"/>
              <a:buChar char="•"/>
            </a:pPr>
            <a:r>
              <a:rPr lang="en-US" sz="1800" dirty="0">
                <a:solidFill>
                  <a:srgbClr val="1F1F1F"/>
                </a:solidFill>
              </a:rPr>
              <a:t>Central (cyclobenzaprine, tizanidine, baclofen) vs. peripheral (dantrolene — muscle; botulinum — junction).</a:t>
            </a:r>
            <a:r>
              <a:rPr lang="en-US" sz="1300" dirty="0">
                <a:solidFill>
                  <a:srgbClr val="666666"/>
                </a:solidFill>
              </a:rPr>
              <a:t>  S23; S24; SG U2-R11</a:t>
            </a:r>
            <a:endParaRPr lang="en-US" sz="1800" dirty="0"/>
          </a:p>
          <a:p>
            <a:pPr marL="228600" indent="-228600">
              <a:spcAft>
                <a:spcPts val="800"/>
              </a:spcAft>
              <a:buSzPct val="100000"/>
              <a:buChar char="•"/>
            </a:pPr>
            <a:r>
              <a:rPr lang="en-US" sz="1800" dirty="0">
                <a:solidFill>
                  <a:srgbClr val="1F1F1F"/>
                </a:solidFill>
              </a:rPr>
              <a:t>Dantrolene blocks RyR1 SR Ca²⁺ release → malignant hyperthermia.</a:t>
            </a:r>
            <a:r>
              <a:rPr lang="en-US" sz="1300" dirty="0">
                <a:solidFill>
                  <a:srgbClr val="666666"/>
                </a:solidFill>
              </a:rPr>
              <a:t>  S34; S35; SG U2-R11</a:t>
            </a:r>
            <a:endParaRPr lang="en-US" sz="1800" dirty="0"/>
          </a:p>
          <a:p>
            <a:pPr marL="228600" indent="-228600">
              <a:spcAft>
                <a:spcPts val="800"/>
              </a:spcAft>
              <a:buSzPct val="100000"/>
              <a:buChar char="•"/>
            </a:pPr>
            <a:r>
              <a:rPr lang="en-US" sz="1800" dirty="0">
                <a:solidFill>
                  <a:srgbClr val="1F1F1F"/>
                </a:solidFill>
              </a:rPr>
              <a:t>Baclofen: GABA-B; never stop intrathecal abruptly.</a:t>
            </a:r>
            <a:r>
              <a:rPr lang="en-US" sz="1300" dirty="0">
                <a:solidFill>
                  <a:srgbClr val="666666"/>
                </a:solidFill>
              </a:rPr>
              <a:t>  S27; S28</a:t>
            </a:r>
            <a:endParaRPr lang="en-US" sz="1800" dirty="0"/>
          </a:p>
          <a:p>
            <a:pPr marL="228600" indent="-228600">
              <a:spcAft>
                <a:spcPts val="800"/>
              </a:spcAft>
              <a:buSzPct val="100000"/>
              <a:buChar char="•"/>
            </a:pPr>
            <a:r>
              <a:rPr lang="en-US" sz="1800" dirty="0">
                <a:solidFill>
                  <a:srgbClr val="1F1F1F"/>
                </a:solidFill>
              </a:rPr>
              <a:t>Tizanidine: α2; LFTs; no ciprofloxacin/fluvoxamine.</a:t>
            </a:r>
            <a:r>
              <a:rPr lang="en-US" sz="1300" dirty="0">
                <a:solidFill>
                  <a:srgbClr val="666666"/>
                </a:solidFill>
              </a:rPr>
              <a:t>  S29; S30</a:t>
            </a:r>
            <a:endParaRPr lang="en-US" sz="1800" dirty="0"/>
          </a:p>
          <a:p>
            <a:pPr marL="228600" indent="-228600">
              <a:spcAft>
                <a:spcPts val="800"/>
              </a:spcAft>
              <a:buSzPct val="100000"/>
              <a:buChar char="•"/>
            </a:pPr>
            <a:r>
              <a:rPr lang="en-US" sz="1800" dirty="0">
                <a:solidFill>
                  <a:srgbClr val="1F1F1F"/>
                </a:solidFill>
              </a:rPr>
              <a:t>Cyclobenzaprine: anticholinergic, Beers list, 2–3 weeks.</a:t>
            </a:r>
            <a:r>
              <a:rPr lang="en-US" sz="1300" dirty="0">
                <a:solidFill>
                  <a:srgbClr val="666666"/>
                </a:solidFill>
              </a:rPr>
              <a:t>  S31; S32</a:t>
            </a:r>
            <a:endParaRPr lang="en-US" sz="180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bg>
      <p:bgPr>
        <a:solidFill>
          <a:srgbClr val="FFFFFF"/>
        </a:solidFill>
      </p:bgPr>
    </p:bg>
    <p:spTree>
      <p:nvGrpSpPr>
        <p:cNvPr id="1" name=""/>
        <p:cNvGrpSpPr/>
        <p:nvPr/>
      </p:nvGrpSpPr>
      <p:grpSpPr>
        <a:xfrm>
          <a:off x="0" y="0"/>
          <a:ext cx="0" cy="0"/>
          <a:chOff x="0" y="0"/>
          <a:chExt cx="0" cy="0"/>
        </a:xfrm>
      </p:grpSpPr>
      <p:sp>
        <p:nvSpPr>
          <p:cNvPr id="2" name="Kicker"/>
          <p:cNvSpPr txBox="1"/>
          <p:nvPr/>
        </p:nvSpPr>
        <p:spPr>
          <a:xfrm>
            <a:off x="548640" y="292608"/>
            <a:ext cx="8076895" cy="274320"/>
          </a:xfrm>
          <a:prstGeom prst="rect">
            <a:avLst/>
          </a:prstGeom>
          <a:noFill/>
          <a:ln/>
        </p:spPr>
        <p:txBody>
          <a:bodyPr wrap="square" lIns="0" tIns="0" rIns="0" bIns="0" rtlCol="0" anchor="ctr"/>
          <a:lstStyle/>
          <a:p>
            <a:pPr indent="0" marL="0">
              <a:buNone/>
            </a:pPr>
            <a:r>
              <a:rPr lang="en-US" sz="1200" b="1" spc="100" kern="0" dirty="0">
                <a:solidFill>
                  <a:srgbClr val="4472C4"/>
                </a:solidFill>
              </a:rPr>
              <a:t>CLINICAL VIGNETTE</a:t>
            </a:r>
            <a:endParaRPr lang="en-US" sz="1200" dirty="0"/>
          </a:p>
        </p:txBody>
      </p:sp>
      <p:sp>
        <p:nvSpPr>
          <p:cNvPr id="3" name="Title"/>
          <p:cNvSpPr txBox="1"/>
          <p:nvPr/>
        </p:nvSpPr>
        <p:spPr>
          <a:xfrm>
            <a:off x="548640" y="566928"/>
            <a:ext cx="8076895" cy="713232"/>
          </a:xfrm>
          <a:prstGeom prst="rect">
            <a:avLst/>
          </a:prstGeom>
          <a:noFill/>
          <a:ln/>
        </p:spPr>
        <p:txBody>
          <a:bodyPr wrap="square" lIns="0" tIns="0" rIns="0" bIns="0" rtlCol="0" anchor="t"/>
          <a:lstStyle/>
          <a:p>
            <a:pPr indent="0" marL="0">
              <a:buNone/>
            </a:pPr>
            <a:r>
              <a:rPr lang="en-US" sz="3000" b="1" dirty="0">
                <a:solidFill>
                  <a:srgbClr val="1F1F1F"/>
                </a:solidFill>
                <a:latin typeface="Calibri" pitchFamily="34" charset="0"/>
                <a:ea typeface="Calibri" pitchFamily="34" charset="-122"/>
                <a:cs typeface="Calibri" pitchFamily="34" charset="-120"/>
              </a:rPr>
              <a:t>Question 9</a:t>
            </a:r>
            <a:endParaRPr lang="en-US" sz="3000" dirty="0"/>
          </a:p>
        </p:txBody>
      </p:sp>
      <p:sp>
        <p:nvSpPr>
          <p:cNvPr id="4" name="Objective chip"/>
          <p:cNvSpPr/>
          <p:nvPr/>
        </p:nvSpPr>
        <p:spPr>
          <a:xfrm>
            <a:off x="8899855" y="365760"/>
            <a:ext cx="2743200" cy="384048"/>
          </a:xfrm>
          <a:prstGeom prst="roundRect">
            <a:avLst>
              <a:gd name="adj" fmla="val 35714"/>
            </a:avLst>
          </a:prstGeom>
          <a:solidFill>
            <a:srgbClr val="E3EBF8"/>
          </a:solidFill>
          <a:ln/>
        </p:spPr>
        <p:txBody>
          <a:bodyPr wrap="square" lIns="25400" tIns="25400" rIns="25400" bIns="25400" rtlCol="0" anchor="ctr"/>
          <a:lstStyle/>
          <a:p>
            <a:pPr algn="ctr" indent="0" marL="0">
              <a:buNone/>
            </a:pPr>
            <a:r>
              <a:rPr lang="en-US" sz="800" b="1" dirty="0">
                <a:solidFill>
                  <a:srgbClr val="2F4F8A"/>
                </a:solidFill>
              </a:rPr>
              <a:t>Objectives: SO2 · SO4 · IO2.1 · IO2.2 · IO2.3 · IO2.5 · IO2.6</a:t>
            </a:r>
            <a:endParaRPr lang="en-US" sz="800" dirty="0"/>
          </a:p>
        </p:txBody>
      </p:sp>
      <p:sp>
        <p:nvSpPr>
          <p:cNvPr id="5" name="Footer"/>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1000" dirty="0">
                <a:solidFill>
                  <a:srgbClr val="666666"/>
                </a:solidFill>
              </a:rPr>
              <a:t>L04 · Musculoskeletal Pharmacology — Session 2</a:t>
            </a:r>
            <a:endParaRPr lang="en-US" sz="1000" dirty="0"/>
          </a:p>
        </p:txBody>
      </p:sp>
      <p:sp>
        <p:nvSpPr>
          <p:cNvPr id="6" name="Slide number"/>
          <p:cNvSpPr txBox="1"/>
          <p:nvPr/>
        </p:nvSpPr>
        <p:spPr>
          <a:xfrm>
            <a:off x="10728655" y="6419088"/>
            <a:ext cx="914400" cy="274320"/>
          </a:xfrm>
          <a:prstGeom prst="rect">
            <a:avLst/>
          </a:prstGeom>
          <a:noFill/>
          <a:ln/>
        </p:spPr>
        <p:txBody>
          <a:bodyPr wrap="square" lIns="0" tIns="0" rIns="0" bIns="0" rtlCol="0" anchor="ctr"/>
          <a:lstStyle/>
          <a:p>
            <a:pPr algn="r" indent="0" marL="0">
              <a:buNone/>
            </a:pPr>
            <a:r>
              <a:rPr lang="en-US" sz="1000" dirty="0">
                <a:solidFill>
                  <a:srgbClr val="666666"/>
                </a:solidFill>
              </a:rPr>
              <a:t>62</a:t>
            </a:r>
            <a:endParaRPr lang="en-US" sz="1000" dirty="0"/>
          </a:p>
        </p:txBody>
      </p:sp>
      <p:sp>
        <p:nvSpPr>
          <p:cNvPr id="7" name="Question stem card"/>
          <p:cNvSpPr/>
          <p:nvPr/>
        </p:nvSpPr>
        <p:spPr>
          <a:xfrm>
            <a:off x="548640" y="1325880"/>
            <a:ext cx="11094415" cy="923544"/>
          </a:xfrm>
          <a:prstGeom prst="roundRect">
            <a:avLst>
              <a:gd name="adj" fmla="val 9901"/>
            </a:avLst>
          </a:prstGeom>
          <a:solidFill>
            <a:srgbClr val="F2F4F7"/>
          </a:solidFill>
          <a:ln w="12700">
            <a:solidFill>
              <a:srgbClr val="F2F4F7"/>
            </a:solidFill>
            <a:prstDash val="solid"/>
          </a:ln>
        </p:spPr>
      </p:sp>
      <p:sp>
        <p:nvSpPr>
          <p:cNvPr id="8" name="Question stem"/>
          <p:cNvSpPr txBox="1"/>
          <p:nvPr/>
        </p:nvSpPr>
        <p:spPr>
          <a:xfrm>
            <a:off x="777240" y="1325880"/>
            <a:ext cx="10637215" cy="923544"/>
          </a:xfrm>
          <a:prstGeom prst="rect">
            <a:avLst/>
          </a:prstGeom>
          <a:noFill/>
          <a:ln/>
        </p:spPr>
        <p:txBody>
          <a:bodyPr wrap="square" lIns="0" tIns="0" rIns="0" bIns="0" rtlCol="0" anchor="ctr"/>
          <a:lstStyle/>
          <a:p>
            <a:pPr indent="0" marL="0">
              <a:buNone/>
            </a:pPr>
            <a:r>
              <a:rPr lang="en-US" sz="1800" dirty="0">
                <a:solidFill>
                  <a:srgbClr val="1F1F1F"/>
                </a:solidFill>
              </a:rPr>
              <a:t>During general anesthesia with a volatile agent and succinylcholine, a patient develops rising temperature, rigidity, and acidosis. Which drug is the emergency treatment, and where does it act?</a:t>
            </a:r>
            <a:endParaRPr lang="en-US" sz="1800" dirty="0"/>
          </a:p>
        </p:txBody>
      </p:sp>
      <p:sp>
        <p:nvSpPr>
          <p:cNvPr id="9" name="Shape 7"/>
          <p:cNvSpPr/>
          <p:nvPr/>
        </p:nvSpPr>
        <p:spPr>
          <a:xfrm>
            <a:off x="548640" y="2459736"/>
            <a:ext cx="402336" cy="402336"/>
          </a:xfrm>
          <a:prstGeom prst="ellipse">
            <a:avLst/>
          </a:prstGeom>
          <a:solidFill>
            <a:srgbClr val="FFFFFF"/>
          </a:solidFill>
          <a:ln w="19050">
            <a:solidFill>
              <a:srgbClr val="4472C4"/>
            </a:solidFill>
            <a:prstDash val="solid"/>
          </a:ln>
        </p:spPr>
      </p:sp>
      <p:sp>
        <p:nvSpPr>
          <p:cNvPr id="10" name="Text 8"/>
          <p:cNvSpPr txBox="1"/>
          <p:nvPr/>
        </p:nvSpPr>
        <p:spPr>
          <a:xfrm>
            <a:off x="548640" y="2459736"/>
            <a:ext cx="402336" cy="402336"/>
          </a:xfrm>
          <a:prstGeom prst="rect">
            <a:avLst/>
          </a:prstGeom>
          <a:noFill/>
          <a:ln/>
        </p:spPr>
        <p:txBody>
          <a:bodyPr wrap="square" lIns="0" tIns="0" rIns="0" bIns="0" rtlCol="0" anchor="ctr"/>
          <a:lstStyle/>
          <a:p>
            <a:pPr algn="ctr" indent="0" marL="0">
              <a:buNone/>
            </a:pPr>
            <a:r>
              <a:rPr lang="en-US" sz="1400" b="1" dirty="0">
                <a:solidFill>
                  <a:srgbClr val="4472C4"/>
                </a:solidFill>
              </a:rPr>
              <a:t>A</a:t>
            </a:r>
            <a:endParaRPr lang="en-US" sz="1400" dirty="0"/>
          </a:p>
        </p:txBody>
      </p:sp>
      <p:sp>
        <p:nvSpPr>
          <p:cNvPr id="11" name="Option A"/>
          <p:cNvSpPr txBox="1"/>
          <p:nvPr/>
        </p:nvSpPr>
        <p:spPr>
          <a:xfrm>
            <a:off x="1188720" y="2432304"/>
            <a:ext cx="10271455" cy="457200"/>
          </a:xfrm>
          <a:prstGeom prst="rect">
            <a:avLst/>
          </a:prstGeom>
          <a:noFill/>
          <a:ln/>
        </p:spPr>
        <p:txBody>
          <a:bodyPr wrap="square" lIns="0" tIns="0" rIns="0" bIns="0" rtlCol="0" anchor="ctr"/>
          <a:lstStyle/>
          <a:p>
            <a:pPr indent="0" marL="0">
              <a:buNone/>
            </a:pPr>
            <a:r>
              <a:rPr lang="en-US" sz="1800" dirty="0">
                <a:solidFill>
                  <a:srgbClr val="1F1F1F"/>
                </a:solidFill>
              </a:rPr>
              <a:t>Baclofen, activating GABA-B receptors in the cord</a:t>
            </a:r>
            <a:endParaRPr lang="en-US" sz="1800" dirty="0"/>
          </a:p>
        </p:txBody>
      </p:sp>
      <p:sp>
        <p:nvSpPr>
          <p:cNvPr id="12" name="Shape 10"/>
          <p:cNvSpPr/>
          <p:nvPr/>
        </p:nvSpPr>
        <p:spPr>
          <a:xfrm>
            <a:off x="548640" y="3008376"/>
            <a:ext cx="402336" cy="402336"/>
          </a:xfrm>
          <a:prstGeom prst="ellipse">
            <a:avLst/>
          </a:prstGeom>
          <a:solidFill>
            <a:srgbClr val="FFFFFF"/>
          </a:solidFill>
          <a:ln w="19050">
            <a:solidFill>
              <a:srgbClr val="4472C4"/>
            </a:solidFill>
            <a:prstDash val="solid"/>
          </a:ln>
        </p:spPr>
      </p:sp>
      <p:sp>
        <p:nvSpPr>
          <p:cNvPr id="13" name="Text 11"/>
          <p:cNvSpPr txBox="1"/>
          <p:nvPr/>
        </p:nvSpPr>
        <p:spPr>
          <a:xfrm>
            <a:off x="548640" y="3008376"/>
            <a:ext cx="402336" cy="402336"/>
          </a:xfrm>
          <a:prstGeom prst="rect">
            <a:avLst/>
          </a:prstGeom>
          <a:noFill/>
          <a:ln/>
        </p:spPr>
        <p:txBody>
          <a:bodyPr wrap="square" lIns="0" tIns="0" rIns="0" bIns="0" rtlCol="0" anchor="ctr"/>
          <a:lstStyle/>
          <a:p>
            <a:pPr algn="ctr" indent="0" marL="0">
              <a:buNone/>
            </a:pPr>
            <a:r>
              <a:rPr lang="en-US" sz="1400" b="1" dirty="0">
                <a:solidFill>
                  <a:srgbClr val="4472C4"/>
                </a:solidFill>
              </a:rPr>
              <a:t>B</a:t>
            </a:r>
            <a:endParaRPr lang="en-US" sz="1400" dirty="0"/>
          </a:p>
        </p:txBody>
      </p:sp>
      <p:sp>
        <p:nvSpPr>
          <p:cNvPr id="14" name="Option B"/>
          <p:cNvSpPr txBox="1"/>
          <p:nvPr/>
        </p:nvSpPr>
        <p:spPr>
          <a:xfrm>
            <a:off x="1188720" y="2980944"/>
            <a:ext cx="10271455" cy="457200"/>
          </a:xfrm>
          <a:prstGeom prst="rect">
            <a:avLst/>
          </a:prstGeom>
          <a:noFill/>
          <a:ln/>
        </p:spPr>
        <p:txBody>
          <a:bodyPr wrap="square" lIns="0" tIns="0" rIns="0" bIns="0" rtlCol="0" anchor="ctr"/>
          <a:lstStyle/>
          <a:p>
            <a:pPr indent="0" marL="0">
              <a:buNone/>
            </a:pPr>
            <a:r>
              <a:rPr lang="en-US" sz="1800" dirty="0">
                <a:solidFill>
                  <a:srgbClr val="1F1F1F"/>
                </a:solidFill>
              </a:rPr>
              <a:t>Cyclobenzaprine, acting in the brainstem</a:t>
            </a:r>
            <a:endParaRPr lang="en-US" sz="1800" dirty="0"/>
          </a:p>
        </p:txBody>
      </p:sp>
      <p:sp>
        <p:nvSpPr>
          <p:cNvPr id="15" name="Shape 13"/>
          <p:cNvSpPr/>
          <p:nvPr/>
        </p:nvSpPr>
        <p:spPr>
          <a:xfrm>
            <a:off x="548640" y="3557016"/>
            <a:ext cx="402336" cy="402336"/>
          </a:xfrm>
          <a:prstGeom prst="ellipse">
            <a:avLst/>
          </a:prstGeom>
          <a:solidFill>
            <a:srgbClr val="FFFFFF"/>
          </a:solidFill>
          <a:ln w="19050">
            <a:solidFill>
              <a:srgbClr val="4472C4"/>
            </a:solidFill>
            <a:prstDash val="solid"/>
          </a:ln>
        </p:spPr>
      </p:sp>
      <p:sp>
        <p:nvSpPr>
          <p:cNvPr id="16" name="Text 14"/>
          <p:cNvSpPr txBox="1"/>
          <p:nvPr/>
        </p:nvSpPr>
        <p:spPr>
          <a:xfrm>
            <a:off x="548640" y="3557016"/>
            <a:ext cx="402336" cy="402336"/>
          </a:xfrm>
          <a:prstGeom prst="rect">
            <a:avLst/>
          </a:prstGeom>
          <a:noFill/>
          <a:ln/>
        </p:spPr>
        <p:txBody>
          <a:bodyPr wrap="square" lIns="0" tIns="0" rIns="0" bIns="0" rtlCol="0" anchor="ctr"/>
          <a:lstStyle/>
          <a:p>
            <a:pPr algn="ctr" indent="0" marL="0">
              <a:buNone/>
            </a:pPr>
            <a:r>
              <a:rPr lang="en-US" sz="1400" b="1" dirty="0">
                <a:solidFill>
                  <a:srgbClr val="4472C4"/>
                </a:solidFill>
              </a:rPr>
              <a:t>C</a:t>
            </a:r>
            <a:endParaRPr lang="en-US" sz="1400" dirty="0"/>
          </a:p>
        </p:txBody>
      </p:sp>
      <p:sp>
        <p:nvSpPr>
          <p:cNvPr id="17" name="Option C"/>
          <p:cNvSpPr txBox="1"/>
          <p:nvPr/>
        </p:nvSpPr>
        <p:spPr>
          <a:xfrm>
            <a:off x="1188720" y="3529584"/>
            <a:ext cx="10271455" cy="457200"/>
          </a:xfrm>
          <a:prstGeom prst="rect">
            <a:avLst/>
          </a:prstGeom>
          <a:noFill/>
          <a:ln/>
        </p:spPr>
        <p:txBody>
          <a:bodyPr wrap="square" lIns="0" tIns="0" rIns="0" bIns="0" rtlCol="0" anchor="ctr"/>
          <a:lstStyle/>
          <a:p>
            <a:pPr indent="0" marL="0">
              <a:buNone/>
            </a:pPr>
            <a:r>
              <a:rPr lang="en-US" sz="1800" dirty="0">
                <a:solidFill>
                  <a:srgbClr val="1F1F1F"/>
                </a:solidFill>
              </a:rPr>
              <a:t>Dantrolene, blocking RyR1 calcium release in muscle</a:t>
            </a:r>
            <a:endParaRPr lang="en-US" sz="1800" dirty="0"/>
          </a:p>
        </p:txBody>
      </p:sp>
      <p:sp>
        <p:nvSpPr>
          <p:cNvPr id="18" name="Shape 16"/>
          <p:cNvSpPr/>
          <p:nvPr/>
        </p:nvSpPr>
        <p:spPr>
          <a:xfrm>
            <a:off x="548640" y="4105656"/>
            <a:ext cx="402336" cy="402336"/>
          </a:xfrm>
          <a:prstGeom prst="ellipse">
            <a:avLst/>
          </a:prstGeom>
          <a:solidFill>
            <a:srgbClr val="FFFFFF"/>
          </a:solidFill>
          <a:ln w="19050">
            <a:solidFill>
              <a:srgbClr val="4472C4"/>
            </a:solidFill>
            <a:prstDash val="solid"/>
          </a:ln>
        </p:spPr>
      </p:sp>
      <p:sp>
        <p:nvSpPr>
          <p:cNvPr id="19" name="Text 17"/>
          <p:cNvSpPr txBox="1"/>
          <p:nvPr/>
        </p:nvSpPr>
        <p:spPr>
          <a:xfrm>
            <a:off x="548640" y="4105656"/>
            <a:ext cx="402336" cy="402336"/>
          </a:xfrm>
          <a:prstGeom prst="rect">
            <a:avLst/>
          </a:prstGeom>
          <a:noFill/>
          <a:ln/>
        </p:spPr>
        <p:txBody>
          <a:bodyPr wrap="square" lIns="0" tIns="0" rIns="0" bIns="0" rtlCol="0" anchor="ctr"/>
          <a:lstStyle/>
          <a:p>
            <a:pPr algn="ctr" indent="0" marL="0">
              <a:buNone/>
            </a:pPr>
            <a:r>
              <a:rPr lang="en-US" sz="1400" b="1" dirty="0">
                <a:solidFill>
                  <a:srgbClr val="4472C4"/>
                </a:solidFill>
              </a:rPr>
              <a:t>D</a:t>
            </a:r>
            <a:endParaRPr lang="en-US" sz="1400" dirty="0"/>
          </a:p>
        </p:txBody>
      </p:sp>
      <p:sp>
        <p:nvSpPr>
          <p:cNvPr id="20" name="Option D"/>
          <p:cNvSpPr txBox="1"/>
          <p:nvPr/>
        </p:nvSpPr>
        <p:spPr>
          <a:xfrm>
            <a:off x="1188720" y="4078224"/>
            <a:ext cx="10271455" cy="457200"/>
          </a:xfrm>
          <a:prstGeom prst="rect">
            <a:avLst/>
          </a:prstGeom>
          <a:noFill/>
          <a:ln/>
        </p:spPr>
        <p:txBody>
          <a:bodyPr wrap="square" lIns="0" tIns="0" rIns="0" bIns="0" rtlCol="0" anchor="ctr"/>
          <a:lstStyle/>
          <a:p>
            <a:pPr indent="0" marL="0">
              <a:buNone/>
            </a:pPr>
            <a:r>
              <a:rPr lang="en-US" sz="1800" dirty="0">
                <a:solidFill>
                  <a:srgbClr val="1F1F1F"/>
                </a:solidFill>
              </a:rPr>
              <a:t>Botulinum toxin, blocking acetylcholine release</a:t>
            </a:r>
            <a:endParaRPr lang="en-US" sz="1800" dirty="0"/>
          </a:p>
        </p:txBody>
      </p:sp>
      <p:sp>
        <p:nvSpPr>
          <p:cNvPr id="21" name="Shape 19"/>
          <p:cNvSpPr/>
          <p:nvPr/>
        </p:nvSpPr>
        <p:spPr>
          <a:xfrm>
            <a:off x="548640" y="4654296"/>
            <a:ext cx="402336" cy="402336"/>
          </a:xfrm>
          <a:prstGeom prst="ellipse">
            <a:avLst/>
          </a:prstGeom>
          <a:solidFill>
            <a:srgbClr val="FFFFFF"/>
          </a:solidFill>
          <a:ln w="19050">
            <a:solidFill>
              <a:srgbClr val="4472C4"/>
            </a:solidFill>
            <a:prstDash val="solid"/>
          </a:ln>
        </p:spPr>
      </p:sp>
      <p:sp>
        <p:nvSpPr>
          <p:cNvPr id="22" name="Text 20"/>
          <p:cNvSpPr txBox="1"/>
          <p:nvPr/>
        </p:nvSpPr>
        <p:spPr>
          <a:xfrm>
            <a:off x="548640" y="4654296"/>
            <a:ext cx="402336" cy="402336"/>
          </a:xfrm>
          <a:prstGeom prst="rect">
            <a:avLst/>
          </a:prstGeom>
          <a:noFill/>
          <a:ln/>
        </p:spPr>
        <p:txBody>
          <a:bodyPr wrap="square" lIns="0" tIns="0" rIns="0" bIns="0" rtlCol="0" anchor="ctr"/>
          <a:lstStyle/>
          <a:p>
            <a:pPr algn="ctr" indent="0" marL="0">
              <a:buNone/>
            </a:pPr>
            <a:r>
              <a:rPr lang="en-US" sz="1400" b="1" dirty="0">
                <a:solidFill>
                  <a:srgbClr val="4472C4"/>
                </a:solidFill>
              </a:rPr>
              <a:t>E</a:t>
            </a:r>
            <a:endParaRPr lang="en-US" sz="1400" dirty="0"/>
          </a:p>
        </p:txBody>
      </p:sp>
      <p:sp>
        <p:nvSpPr>
          <p:cNvPr id="23" name="Option E"/>
          <p:cNvSpPr txBox="1"/>
          <p:nvPr/>
        </p:nvSpPr>
        <p:spPr>
          <a:xfrm>
            <a:off x="1188720" y="4626864"/>
            <a:ext cx="10271455" cy="457200"/>
          </a:xfrm>
          <a:prstGeom prst="rect">
            <a:avLst/>
          </a:prstGeom>
          <a:noFill/>
          <a:ln/>
        </p:spPr>
        <p:txBody>
          <a:bodyPr wrap="square" lIns="0" tIns="0" rIns="0" bIns="0" rtlCol="0" anchor="ctr"/>
          <a:lstStyle/>
          <a:p>
            <a:pPr indent="0" marL="0">
              <a:buNone/>
            </a:pPr>
            <a:r>
              <a:rPr lang="en-US" sz="1800" dirty="0">
                <a:solidFill>
                  <a:srgbClr val="1F1F1F"/>
                </a:solidFill>
              </a:rPr>
              <a:t>Tizanidine, activating central alpha-2 receptors</a:t>
            </a:r>
            <a:endParaRPr lang="en-US" sz="180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bg>
      <p:bgPr>
        <a:solidFill>
          <a:srgbClr val="FFFFFF"/>
        </a:solidFill>
      </p:bgPr>
    </p:bg>
    <p:spTree>
      <p:nvGrpSpPr>
        <p:cNvPr id="1" name=""/>
        <p:cNvGrpSpPr/>
        <p:nvPr/>
      </p:nvGrpSpPr>
      <p:grpSpPr>
        <a:xfrm>
          <a:off x="0" y="0"/>
          <a:ext cx="0" cy="0"/>
          <a:chOff x="0" y="0"/>
          <a:chExt cx="0" cy="0"/>
        </a:xfrm>
      </p:grpSpPr>
      <p:sp>
        <p:nvSpPr>
          <p:cNvPr id="2" name="Kicker"/>
          <p:cNvSpPr txBox="1"/>
          <p:nvPr/>
        </p:nvSpPr>
        <p:spPr>
          <a:xfrm>
            <a:off x="548640" y="292608"/>
            <a:ext cx="8076895" cy="274320"/>
          </a:xfrm>
          <a:prstGeom prst="rect">
            <a:avLst/>
          </a:prstGeom>
          <a:noFill/>
          <a:ln/>
        </p:spPr>
        <p:txBody>
          <a:bodyPr wrap="square" lIns="0" tIns="0" rIns="0" bIns="0" rtlCol="0" anchor="ctr"/>
          <a:lstStyle/>
          <a:p>
            <a:pPr indent="0" marL="0">
              <a:buNone/>
            </a:pPr>
            <a:r>
              <a:rPr lang="en-US" sz="1200" b="1" spc="100" kern="0" dirty="0">
                <a:solidFill>
                  <a:srgbClr val="4472C4"/>
                </a:solidFill>
              </a:rPr>
              <a:t>CLINICAL VIGNETTE · ANSWER</a:t>
            </a:r>
            <a:endParaRPr lang="en-US" sz="1200" dirty="0"/>
          </a:p>
        </p:txBody>
      </p:sp>
      <p:sp>
        <p:nvSpPr>
          <p:cNvPr id="3" name="Title"/>
          <p:cNvSpPr txBox="1"/>
          <p:nvPr/>
        </p:nvSpPr>
        <p:spPr>
          <a:xfrm>
            <a:off x="548640" y="566928"/>
            <a:ext cx="8076895" cy="713232"/>
          </a:xfrm>
          <a:prstGeom prst="rect">
            <a:avLst/>
          </a:prstGeom>
          <a:noFill/>
          <a:ln/>
        </p:spPr>
        <p:txBody>
          <a:bodyPr wrap="square" lIns="0" tIns="0" rIns="0" bIns="0" rtlCol="0" anchor="t"/>
          <a:lstStyle/>
          <a:p>
            <a:pPr indent="0" marL="0">
              <a:buNone/>
            </a:pPr>
            <a:r>
              <a:rPr lang="en-US" sz="3000" b="1" dirty="0">
                <a:solidFill>
                  <a:srgbClr val="1F1F1F"/>
                </a:solidFill>
                <a:latin typeface="Calibri" pitchFamily="34" charset="0"/>
                <a:ea typeface="Calibri" pitchFamily="34" charset="-122"/>
                <a:cs typeface="Calibri" pitchFamily="34" charset="-120"/>
              </a:rPr>
              <a:t>Answer 9: C</a:t>
            </a:r>
            <a:endParaRPr lang="en-US" sz="3000" dirty="0"/>
          </a:p>
        </p:txBody>
      </p:sp>
      <p:sp>
        <p:nvSpPr>
          <p:cNvPr id="4" name="Objective chip"/>
          <p:cNvSpPr/>
          <p:nvPr/>
        </p:nvSpPr>
        <p:spPr>
          <a:xfrm>
            <a:off x="8899855" y="365760"/>
            <a:ext cx="2743200" cy="384048"/>
          </a:xfrm>
          <a:prstGeom prst="roundRect">
            <a:avLst>
              <a:gd name="adj" fmla="val 35714"/>
            </a:avLst>
          </a:prstGeom>
          <a:solidFill>
            <a:srgbClr val="E3EBF8"/>
          </a:solidFill>
          <a:ln/>
        </p:spPr>
        <p:txBody>
          <a:bodyPr wrap="square" lIns="25400" tIns="25400" rIns="25400" bIns="25400" rtlCol="0" anchor="ctr"/>
          <a:lstStyle/>
          <a:p>
            <a:pPr algn="ctr" indent="0" marL="0">
              <a:buNone/>
            </a:pPr>
            <a:r>
              <a:rPr lang="en-US" sz="800" b="1" dirty="0">
                <a:solidFill>
                  <a:srgbClr val="2F4F8A"/>
                </a:solidFill>
              </a:rPr>
              <a:t>Objectives: SO2 · SO4 · IO2.1 · IO2.2 · IO2.3 · IO2.5 · IO2.6</a:t>
            </a:r>
            <a:endParaRPr lang="en-US" sz="800" dirty="0"/>
          </a:p>
        </p:txBody>
      </p:sp>
      <p:sp>
        <p:nvSpPr>
          <p:cNvPr id="5" name="Footer"/>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1000" dirty="0">
                <a:solidFill>
                  <a:srgbClr val="666666"/>
                </a:solidFill>
              </a:rPr>
              <a:t>L04 · Musculoskeletal Pharmacology — Session 2</a:t>
            </a:r>
            <a:endParaRPr lang="en-US" sz="1000" dirty="0"/>
          </a:p>
        </p:txBody>
      </p:sp>
      <p:sp>
        <p:nvSpPr>
          <p:cNvPr id="6" name="Slide number"/>
          <p:cNvSpPr txBox="1"/>
          <p:nvPr/>
        </p:nvSpPr>
        <p:spPr>
          <a:xfrm>
            <a:off x="10728655" y="6419088"/>
            <a:ext cx="914400" cy="274320"/>
          </a:xfrm>
          <a:prstGeom prst="rect">
            <a:avLst/>
          </a:prstGeom>
          <a:noFill/>
          <a:ln/>
        </p:spPr>
        <p:txBody>
          <a:bodyPr wrap="square" lIns="0" tIns="0" rIns="0" bIns="0" rtlCol="0" anchor="ctr"/>
          <a:lstStyle/>
          <a:p>
            <a:pPr algn="r" indent="0" marL="0">
              <a:buNone/>
            </a:pPr>
            <a:r>
              <a:rPr lang="en-US" sz="1000" dirty="0">
                <a:solidFill>
                  <a:srgbClr val="666666"/>
                </a:solidFill>
              </a:rPr>
              <a:t>63</a:t>
            </a:r>
            <a:endParaRPr lang="en-US" sz="1000" dirty="0"/>
          </a:p>
        </p:txBody>
      </p:sp>
      <p:sp>
        <p:nvSpPr>
          <p:cNvPr id="7" name="Correct answer"/>
          <p:cNvSpPr/>
          <p:nvPr/>
        </p:nvSpPr>
        <p:spPr>
          <a:xfrm>
            <a:off x="548640" y="1325880"/>
            <a:ext cx="11094415" cy="548640"/>
          </a:xfrm>
          <a:prstGeom prst="roundRect">
            <a:avLst>
              <a:gd name="adj" fmla="val 16667"/>
            </a:avLst>
          </a:prstGeom>
          <a:solidFill>
            <a:srgbClr val="E2F0D9"/>
          </a:solidFill>
          <a:ln w="19050">
            <a:solidFill>
              <a:srgbClr val="548235"/>
            </a:solidFill>
            <a:prstDash val="solid"/>
          </a:ln>
        </p:spPr>
      </p:sp>
      <p:pic>
        <p:nvPicPr>
          <p:cNvPr id="8" name="Image 0" descr="preencoded.png">    </p:cNvPr>
          <p:cNvPicPr>
            <a:picLocks noChangeAspect="1"/>
          </p:cNvPicPr>
          <p:nvPr/>
        </p:nvPicPr>
        <p:blipFill>
          <a:blip r:embed="rId1"/>
          <a:stretch>
            <a:fillRect/>
          </a:stretch>
        </p:blipFill>
        <p:spPr>
          <a:xfrm>
            <a:off x="731520" y="1435608"/>
            <a:ext cx="329184" cy="329184"/>
          </a:xfrm>
          <a:prstGeom prst="rect">
            <a:avLst/>
          </a:prstGeom>
        </p:spPr>
      </p:pic>
      <p:sp>
        <p:nvSpPr>
          <p:cNvPr id="9" name="Text 6"/>
          <p:cNvSpPr txBox="1"/>
          <p:nvPr/>
        </p:nvSpPr>
        <p:spPr>
          <a:xfrm>
            <a:off x="1234440" y="1325880"/>
            <a:ext cx="10180015" cy="548640"/>
          </a:xfrm>
          <a:prstGeom prst="rect">
            <a:avLst/>
          </a:prstGeom>
          <a:noFill/>
          <a:ln/>
        </p:spPr>
        <p:txBody>
          <a:bodyPr wrap="square" lIns="0" tIns="0" rIns="0" bIns="0" rtlCol="0" anchor="ctr"/>
          <a:lstStyle/>
          <a:p>
            <a:pPr indent="0" marL="0">
              <a:buNone/>
            </a:pPr>
            <a:r>
              <a:rPr lang="en-US" sz="1600" b="1" dirty="0">
                <a:solidFill>
                  <a:srgbClr val="1F1F1F"/>
                </a:solidFill>
              </a:rPr>
              <a:t>C. </a:t>
            </a:r>
            <a:r>
              <a:rPr lang="en-US" sz="1600" b="1" dirty="0">
                <a:solidFill>
                  <a:srgbClr val="1F1F1F"/>
                </a:solidFill>
              </a:rPr>
              <a:t>Dantrolene, blocking RyR1 calcium release in muscle</a:t>
            </a:r>
            <a:endParaRPr lang="en-US" sz="1600" dirty="0"/>
          </a:p>
        </p:txBody>
      </p:sp>
      <p:sp>
        <p:nvSpPr>
          <p:cNvPr id="10" name="Why correct"/>
          <p:cNvSpPr txBox="1"/>
          <p:nvPr/>
        </p:nvSpPr>
        <p:spPr>
          <a:xfrm>
            <a:off x="777240" y="2011680"/>
            <a:ext cx="10637215" cy="724408"/>
          </a:xfrm>
          <a:prstGeom prst="rect">
            <a:avLst/>
          </a:prstGeom>
          <a:noFill/>
          <a:ln/>
        </p:spPr>
        <p:txBody>
          <a:bodyPr wrap="square" lIns="0" tIns="0" rIns="0" bIns="0" rtlCol="0" anchor="t"/>
          <a:lstStyle/>
          <a:p>
            <a:pPr indent="0" marL="0">
              <a:buNone/>
            </a:pPr>
            <a:r>
              <a:rPr lang="en-US" sz="1600" dirty="0">
                <a:solidFill>
                  <a:srgbClr val="1F1F1F"/>
                </a:solidFill>
              </a:rPr>
              <a:t>Malignant hyperthermia is triggered by volatile anesthetics and succinylcholine; dantrolene blocks RyR1 so less calcium leaves the sarcoplasmic reticulum (S34; S35; SG U2-R11).</a:t>
            </a:r>
            <a:r>
              <a:rPr lang="en-US" sz="1100" dirty="0">
                <a:solidFill>
                  <a:srgbClr val="666666"/>
                </a:solidFill>
              </a:rPr>
              <a:t>  S34; S35; SG U2-R11</a:t>
            </a:r>
            <a:endParaRPr lang="en-US" sz="1600" dirty="0"/>
          </a:p>
        </p:txBody>
      </p:sp>
      <p:sp>
        <p:nvSpPr>
          <p:cNvPr id="11" name="Why others wrong card"/>
          <p:cNvSpPr/>
          <p:nvPr/>
        </p:nvSpPr>
        <p:spPr>
          <a:xfrm>
            <a:off x="548640" y="2873248"/>
            <a:ext cx="11094415" cy="1704848"/>
          </a:xfrm>
          <a:prstGeom prst="roundRect">
            <a:avLst>
              <a:gd name="adj" fmla="val 5364"/>
            </a:avLst>
          </a:prstGeom>
          <a:solidFill>
            <a:srgbClr val="F2F4F7"/>
          </a:solidFill>
          <a:ln w="12700">
            <a:solidFill>
              <a:srgbClr val="F2F4F7"/>
            </a:solidFill>
            <a:prstDash val="solid"/>
          </a:ln>
        </p:spPr>
      </p:sp>
      <p:sp>
        <p:nvSpPr>
          <p:cNvPr id="12" name="Why others wrong"/>
          <p:cNvSpPr txBox="1"/>
          <p:nvPr/>
        </p:nvSpPr>
        <p:spPr>
          <a:xfrm>
            <a:off x="777240" y="2982976"/>
            <a:ext cx="10637215" cy="1521968"/>
          </a:xfrm>
          <a:prstGeom prst="rect">
            <a:avLst/>
          </a:prstGeom>
          <a:noFill/>
          <a:ln/>
        </p:spPr>
        <p:txBody>
          <a:bodyPr wrap="square" lIns="0" tIns="0" rIns="0" bIns="0" rtlCol="0" anchor="t"/>
          <a:lstStyle/>
          <a:p>
            <a:pPr indent="0" marL="0">
              <a:spcAft>
                <a:spcPts val="400"/>
              </a:spcAft>
              <a:buNone/>
            </a:pPr>
            <a:r>
              <a:rPr lang="en-US" sz="1600" b="1" dirty="0">
                <a:solidFill>
                  <a:srgbClr val="C00000"/>
                </a:solidFill>
              </a:rPr>
              <a:t>Why the other choices are wrong</a:t>
            </a:r>
            <a:endParaRPr lang="en-US" sz="1600" dirty="0"/>
          </a:p>
          <a:p>
            <a:pPr indent="0" marL="0">
              <a:buNone/>
            </a:pPr>
            <a:r>
              <a:rPr lang="en-US" sz="1600" b="1" dirty="0">
                <a:solidFill>
                  <a:srgbClr val="1F1F1F"/>
                </a:solidFill>
              </a:rPr>
              <a:t>A. Baclofen, activating GABA-B receptors in the cord — </a:t>
            </a:r>
            <a:r>
              <a:rPr lang="en-US" sz="1600" dirty="0">
                <a:solidFill>
                  <a:srgbClr val="1F1F1F"/>
                </a:solidFill>
              </a:rPr>
              <a:t>Baclofen is a central spasticity drug, not the MH treatment (S27).</a:t>
            </a:r>
            <a:endParaRPr lang="en-US" sz="1600" dirty="0"/>
          </a:p>
          <a:p>
            <a:pPr indent="0" marL="0">
              <a:buNone/>
            </a:pPr>
            <a:r>
              <a:rPr lang="en-US" sz="1600" b="1" dirty="0">
                <a:solidFill>
                  <a:srgbClr val="1F1F1F"/>
                </a:solidFill>
              </a:rPr>
              <a:t>B. Cyclobenzaprine, acting in the brainstem — </a:t>
            </a:r>
            <a:r>
              <a:rPr lang="en-US" sz="1600" dirty="0">
                <a:solidFill>
                  <a:srgbClr val="1F1F1F"/>
                </a:solidFill>
              </a:rPr>
              <a:t>Central agents don’t reach the muscle defect (S24).</a:t>
            </a:r>
            <a:endParaRPr lang="en-US" sz="1600" dirty="0"/>
          </a:p>
          <a:p>
            <a:pPr indent="0" marL="0">
              <a:buNone/>
            </a:pPr>
            <a:r>
              <a:rPr lang="en-US" sz="1600" b="1" dirty="0">
                <a:solidFill>
                  <a:srgbClr val="1F1F1F"/>
                </a:solidFill>
              </a:rPr>
              <a:t>D. Botulinum toxin, blocking acetylcholine release — </a:t>
            </a:r>
            <a:r>
              <a:rPr lang="en-US" sz="1600" dirty="0">
                <a:solidFill>
                  <a:srgbClr val="1F1F1F"/>
                </a:solidFill>
              </a:rPr>
              <a:t>Local, temporary; not an emergency drug (S33).</a:t>
            </a:r>
            <a:endParaRPr lang="en-US" sz="1600" dirty="0"/>
          </a:p>
          <a:p>
            <a:pPr indent="0" marL="0">
              <a:buNone/>
            </a:pPr>
            <a:r>
              <a:rPr lang="en-US" sz="1600" b="1" dirty="0">
                <a:solidFill>
                  <a:srgbClr val="1F1F1F"/>
                </a:solidFill>
              </a:rPr>
              <a:t>E. Tizanidine, activating central alpha-2 receptors — </a:t>
            </a:r>
            <a:r>
              <a:rPr lang="en-US" sz="1600" dirty="0">
                <a:solidFill>
                  <a:srgbClr val="1F1F1F"/>
                </a:solidFill>
              </a:rPr>
              <a:t>Central agent; not the MH emergency drug (S29).</a:t>
            </a:r>
            <a:endParaRPr lang="en-US" sz="160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bg>
      <p:bgPr>
        <a:solidFill>
          <a:srgbClr val="FFFFFF"/>
        </a:solidFill>
      </p:bgPr>
    </p:bg>
    <p:spTree>
      <p:nvGrpSpPr>
        <p:cNvPr id="1" name=""/>
        <p:cNvGrpSpPr/>
        <p:nvPr/>
      </p:nvGrpSpPr>
      <p:grpSpPr>
        <a:xfrm>
          <a:off x="0" y="0"/>
          <a:ext cx="0" cy="0"/>
          <a:chOff x="0" y="0"/>
          <a:chExt cx="0" cy="0"/>
        </a:xfrm>
      </p:grpSpPr>
      <p:sp>
        <p:nvSpPr>
          <p:cNvPr id="2" name="Kicker"/>
          <p:cNvSpPr txBox="1"/>
          <p:nvPr/>
        </p:nvSpPr>
        <p:spPr>
          <a:xfrm>
            <a:off x="548640" y="292608"/>
            <a:ext cx="8076895" cy="274320"/>
          </a:xfrm>
          <a:prstGeom prst="rect">
            <a:avLst/>
          </a:prstGeom>
          <a:noFill/>
          <a:ln/>
        </p:spPr>
        <p:txBody>
          <a:bodyPr wrap="square" lIns="0" tIns="0" rIns="0" bIns="0" rtlCol="0" anchor="ctr"/>
          <a:lstStyle/>
          <a:p>
            <a:pPr indent="0" marL="0">
              <a:buNone/>
            </a:pPr>
            <a:r>
              <a:rPr lang="en-US" sz="1200" b="1" spc="100" kern="0" dirty="0">
                <a:solidFill>
                  <a:srgbClr val="4472C4"/>
                </a:solidFill>
              </a:rPr>
              <a:t>MECHANISM · LECTURE QUICK CHECK S36; S37</a:t>
            </a:r>
            <a:endParaRPr lang="en-US" sz="1200" dirty="0"/>
          </a:p>
        </p:txBody>
      </p:sp>
      <p:sp>
        <p:nvSpPr>
          <p:cNvPr id="3" name="Title"/>
          <p:cNvSpPr txBox="1"/>
          <p:nvPr/>
        </p:nvSpPr>
        <p:spPr>
          <a:xfrm>
            <a:off x="548640" y="566928"/>
            <a:ext cx="8076895" cy="713232"/>
          </a:xfrm>
          <a:prstGeom prst="rect">
            <a:avLst/>
          </a:prstGeom>
          <a:noFill/>
          <a:ln/>
        </p:spPr>
        <p:txBody>
          <a:bodyPr wrap="square" lIns="0" tIns="0" rIns="0" bIns="0" rtlCol="0" anchor="t"/>
          <a:lstStyle/>
          <a:p>
            <a:pPr indent="0" marL="0">
              <a:buNone/>
            </a:pPr>
            <a:r>
              <a:rPr lang="en-US" sz="3000" b="1" dirty="0">
                <a:solidFill>
                  <a:srgbClr val="1F1F1F"/>
                </a:solidFill>
                <a:latin typeface="Calibri" pitchFamily="34" charset="0"/>
                <a:ea typeface="Calibri" pitchFamily="34" charset="-122"/>
                <a:cs typeface="Calibri" pitchFamily="34" charset="-120"/>
              </a:rPr>
              <a:t>Question 10</a:t>
            </a:r>
            <a:endParaRPr lang="en-US" sz="3000" dirty="0"/>
          </a:p>
        </p:txBody>
      </p:sp>
      <p:sp>
        <p:nvSpPr>
          <p:cNvPr id="4" name="Objective chip"/>
          <p:cNvSpPr/>
          <p:nvPr/>
        </p:nvSpPr>
        <p:spPr>
          <a:xfrm>
            <a:off x="8899855" y="365760"/>
            <a:ext cx="2743200" cy="384048"/>
          </a:xfrm>
          <a:prstGeom prst="roundRect">
            <a:avLst>
              <a:gd name="adj" fmla="val 35714"/>
            </a:avLst>
          </a:prstGeom>
          <a:solidFill>
            <a:srgbClr val="E3EBF8"/>
          </a:solidFill>
          <a:ln/>
        </p:spPr>
        <p:txBody>
          <a:bodyPr wrap="square" lIns="25400" tIns="25400" rIns="25400" bIns="25400" rtlCol="0" anchor="ctr"/>
          <a:lstStyle/>
          <a:p>
            <a:pPr algn="ctr" indent="0" marL="0">
              <a:buNone/>
            </a:pPr>
            <a:r>
              <a:rPr lang="en-US" sz="800" b="1" dirty="0">
                <a:solidFill>
                  <a:srgbClr val="2F4F8A"/>
                </a:solidFill>
              </a:rPr>
              <a:t>Objectives: SO2 · SO4 · IO2.1 · IO2.2 · IO2.3 · IO2.5 · IO2.6</a:t>
            </a:r>
            <a:endParaRPr lang="en-US" sz="800" dirty="0"/>
          </a:p>
        </p:txBody>
      </p:sp>
      <p:sp>
        <p:nvSpPr>
          <p:cNvPr id="5" name="Footer"/>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1000" dirty="0">
                <a:solidFill>
                  <a:srgbClr val="666666"/>
                </a:solidFill>
              </a:rPr>
              <a:t>L04 · Musculoskeletal Pharmacology — Session 2</a:t>
            </a:r>
            <a:endParaRPr lang="en-US" sz="1000" dirty="0"/>
          </a:p>
        </p:txBody>
      </p:sp>
      <p:sp>
        <p:nvSpPr>
          <p:cNvPr id="6" name="Slide number"/>
          <p:cNvSpPr txBox="1"/>
          <p:nvPr/>
        </p:nvSpPr>
        <p:spPr>
          <a:xfrm>
            <a:off x="10728655" y="6419088"/>
            <a:ext cx="914400" cy="274320"/>
          </a:xfrm>
          <a:prstGeom prst="rect">
            <a:avLst/>
          </a:prstGeom>
          <a:noFill/>
          <a:ln/>
        </p:spPr>
        <p:txBody>
          <a:bodyPr wrap="square" lIns="0" tIns="0" rIns="0" bIns="0" rtlCol="0" anchor="ctr"/>
          <a:lstStyle/>
          <a:p>
            <a:pPr algn="r" indent="0" marL="0">
              <a:buNone/>
            </a:pPr>
            <a:r>
              <a:rPr lang="en-US" sz="1000" dirty="0">
                <a:solidFill>
                  <a:srgbClr val="666666"/>
                </a:solidFill>
              </a:rPr>
              <a:t>64</a:t>
            </a:r>
            <a:endParaRPr lang="en-US" sz="1000" dirty="0"/>
          </a:p>
        </p:txBody>
      </p:sp>
      <p:sp>
        <p:nvSpPr>
          <p:cNvPr id="7" name="Question stem card"/>
          <p:cNvSpPr/>
          <p:nvPr/>
        </p:nvSpPr>
        <p:spPr>
          <a:xfrm>
            <a:off x="548640" y="1325880"/>
            <a:ext cx="11094415" cy="923544"/>
          </a:xfrm>
          <a:prstGeom prst="roundRect">
            <a:avLst>
              <a:gd name="adj" fmla="val 9901"/>
            </a:avLst>
          </a:prstGeom>
          <a:solidFill>
            <a:srgbClr val="F2F4F7"/>
          </a:solidFill>
          <a:ln w="12700">
            <a:solidFill>
              <a:srgbClr val="F2F4F7"/>
            </a:solidFill>
            <a:prstDash val="solid"/>
          </a:ln>
        </p:spPr>
      </p:sp>
      <p:sp>
        <p:nvSpPr>
          <p:cNvPr id="8" name="Question stem"/>
          <p:cNvSpPr txBox="1"/>
          <p:nvPr/>
        </p:nvSpPr>
        <p:spPr>
          <a:xfrm>
            <a:off x="777240" y="1325880"/>
            <a:ext cx="10637215" cy="923544"/>
          </a:xfrm>
          <a:prstGeom prst="rect">
            <a:avLst/>
          </a:prstGeom>
          <a:noFill/>
          <a:ln/>
        </p:spPr>
        <p:txBody>
          <a:bodyPr wrap="square" lIns="0" tIns="0" rIns="0" bIns="0" rtlCol="0" anchor="ctr"/>
          <a:lstStyle/>
          <a:p>
            <a:pPr indent="0" marL="0">
              <a:buNone/>
            </a:pPr>
            <a:r>
              <a:rPr lang="en-US" sz="1800" dirty="0">
                <a:solidFill>
                  <a:srgbClr val="1F1F1F"/>
                </a:solidFill>
              </a:rPr>
              <a:t>Which skeletal muscle relaxant acts directly on skeletal muscle itself (not the CNS), making it the agent of choice in malignant hyperthermia?</a:t>
            </a:r>
            <a:endParaRPr lang="en-US" sz="1800" dirty="0"/>
          </a:p>
        </p:txBody>
      </p:sp>
      <p:sp>
        <p:nvSpPr>
          <p:cNvPr id="9" name="Shape 7"/>
          <p:cNvSpPr/>
          <p:nvPr/>
        </p:nvSpPr>
        <p:spPr>
          <a:xfrm>
            <a:off x="548640" y="2459736"/>
            <a:ext cx="402336" cy="402336"/>
          </a:xfrm>
          <a:prstGeom prst="ellipse">
            <a:avLst/>
          </a:prstGeom>
          <a:solidFill>
            <a:srgbClr val="FFFFFF"/>
          </a:solidFill>
          <a:ln w="19050">
            <a:solidFill>
              <a:srgbClr val="4472C4"/>
            </a:solidFill>
            <a:prstDash val="solid"/>
          </a:ln>
        </p:spPr>
      </p:sp>
      <p:sp>
        <p:nvSpPr>
          <p:cNvPr id="10" name="Text 8"/>
          <p:cNvSpPr txBox="1"/>
          <p:nvPr/>
        </p:nvSpPr>
        <p:spPr>
          <a:xfrm>
            <a:off x="548640" y="2459736"/>
            <a:ext cx="402336" cy="402336"/>
          </a:xfrm>
          <a:prstGeom prst="rect">
            <a:avLst/>
          </a:prstGeom>
          <a:noFill/>
          <a:ln/>
        </p:spPr>
        <p:txBody>
          <a:bodyPr wrap="square" lIns="0" tIns="0" rIns="0" bIns="0" rtlCol="0" anchor="ctr"/>
          <a:lstStyle/>
          <a:p>
            <a:pPr algn="ctr" indent="0" marL="0">
              <a:buNone/>
            </a:pPr>
            <a:r>
              <a:rPr lang="en-US" sz="1400" b="1" dirty="0">
                <a:solidFill>
                  <a:srgbClr val="4472C4"/>
                </a:solidFill>
              </a:rPr>
              <a:t>A</a:t>
            </a:r>
            <a:endParaRPr lang="en-US" sz="1400" dirty="0"/>
          </a:p>
        </p:txBody>
      </p:sp>
      <p:sp>
        <p:nvSpPr>
          <p:cNvPr id="11" name="Option A"/>
          <p:cNvSpPr txBox="1"/>
          <p:nvPr/>
        </p:nvSpPr>
        <p:spPr>
          <a:xfrm>
            <a:off x="1188720" y="2432304"/>
            <a:ext cx="10271455" cy="457200"/>
          </a:xfrm>
          <a:prstGeom prst="rect">
            <a:avLst/>
          </a:prstGeom>
          <a:noFill/>
          <a:ln/>
        </p:spPr>
        <p:txBody>
          <a:bodyPr wrap="square" lIns="0" tIns="0" rIns="0" bIns="0" rtlCol="0" anchor="ctr"/>
          <a:lstStyle/>
          <a:p>
            <a:pPr indent="0" marL="0">
              <a:buNone/>
            </a:pPr>
            <a:r>
              <a:rPr lang="en-US" sz="1800" dirty="0">
                <a:solidFill>
                  <a:srgbClr val="1F1F1F"/>
                </a:solidFill>
              </a:rPr>
              <a:t>Dantrolene</a:t>
            </a:r>
            <a:endParaRPr lang="en-US" sz="1800" dirty="0"/>
          </a:p>
        </p:txBody>
      </p:sp>
      <p:sp>
        <p:nvSpPr>
          <p:cNvPr id="12" name="Shape 10"/>
          <p:cNvSpPr/>
          <p:nvPr/>
        </p:nvSpPr>
        <p:spPr>
          <a:xfrm>
            <a:off x="548640" y="3008376"/>
            <a:ext cx="402336" cy="402336"/>
          </a:xfrm>
          <a:prstGeom prst="ellipse">
            <a:avLst/>
          </a:prstGeom>
          <a:solidFill>
            <a:srgbClr val="FFFFFF"/>
          </a:solidFill>
          <a:ln w="19050">
            <a:solidFill>
              <a:srgbClr val="4472C4"/>
            </a:solidFill>
            <a:prstDash val="solid"/>
          </a:ln>
        </p:spPr>
      </p:sp>
      <p:sp>
        <p:nvSpPr>
          <p:cNvPr id="13" name="Text 11"/>
          <p:cNvSpPr txBox="1"/>
          <p:nvPr/>
        </p:nvSpPr>
        <p:spPr>
          <a:xfrm>
            <a:off x="548640" y="3008376"/>
            <a:ext cx="402336" cy="402336"/>
          </a:xfrm>
          <a:prstGeom prst="rect">
            <a:avLst/>
          </a:prstGeom>
          <a:noFill/>
          <a:ln/>
        </p:spPr>
        <p:txBody>
          <a:bodyPr wrap="square" lIns="0" tIns="0" rIns="0" bIns="0" rtlCol="0" anchor="ctr"/>
          <a:lstStyle/>
          <a:p>
            <a:pPr algn="ctr" indent="0" marL="0">
              <a:buNone/>
            </a:pPr>
            <a:r>
              <a:rPr lang="en-US" sz="1400" b="1" dirty="0">
                <a:solidFill>
                  <a:srgbClr val="4472C4"/>
                </a:solidFill>
              </a:rPr>
              <a:t>B</a:t>
            </a:r>
            <a:endParaRPr lang="en-US" sz="1400" dirty="0"/>
          </a:p>
        </p:txBody>
      </p:sp>
      <p:sp>
        <p:nvSpPr>
          <p:cNvPr id="14" name="Option B"/>
          <p:cNvSpPr txBox="1"/>
          <p:nvPr/>
        </p:nvSpPr>
        <p:spPr>
          <a:xfrm>
            <a:off x="1188720" y="2980944"/>
            <a:ext cx="10271455" cy="457200"/>
          </a:xfrm>
          <a:prstGeom prst="rect">
            <a:avLst/>
          </a:prstGeom>
          <a:noFill/>
          <a:ln/>
        </p:spPr>
        <p:txBody>
          <a:bodyPr wrap="square" lIns="0" tIns="0" rIns="0" bIns="0" rtlCol="0" anchor="ctr"/>
          <a:lstStyle/>
          <a:p>
            <a:pPr indent="0" marL="0">
              <a:buNone/>
            </a:pPr>
            <a:r>
              <a:rPr lang="en-US" sz="1800" dirty="0">
                <a:solidFill>
                  <a:srgbClr val="1F1F1F"/>
                </a:solidFill>
              </a:rPr>
              <a:t>Cyclobenzaprine</a:t>
            </a:r>
            <a:endParaRPr lang="en-US" sz="1800" dirty="0"/>
          </a:p>
        </p:txBody>
      </p:sp>
      <p:sp>
        <p:nvSpPr>
          <p:cNvPr id="15" name="Shape 13"/>
          <p:cNvSpPr/>
          <p:nvPr/>
        </p:nvSpPr>
        <p:spPr>
          <a:xfrm>
            <a:off x="548640" y="3557016"/>
            <a:ext cx="402336" cy="402336"/>
          </a:xfrm>
          <a:prstGeom prst="ellipse">
            <a:avLst/>
          </a:prstGeom>
          <a:solidFill>
            <a:srgbClr val="FFFFFF"/>
          </a:solidFill>
          <a:ln w="19050">
            <a:solidFill>
              <a:srgbClr val="4472C4"/>
            </a:solidFill>
            <a:prstDash val="solid"/>
          </a:ln>
        </p:spPr>
      </p:sp>
      <p:sp>
        <p:nvSpPr>
          <p:cNvPr id="16" name="Text 14"/>
          <p:cNvSpPr txBox="1"/>
          <p:nvPr/>
        </p:nvSpPr>
        <p:spPr>
          <a:xfrm>
            <a:off x="548640" y="3557016"/>
            <a:ext cx="402336" cy="402336"/>
          </a:xfrm>
          <a:prstGeom prst="rect">
            <a:avLst/>
          </a:prstGeom>
          <a:noFill/>
          <a:ln/>
        </p:spPr>
        <p:txBody>
          <a:bodyPr wrap="square" lIns="0" tIns="0" rIns="0" bIns="0" rtlCol="0" anchor="ctr"/>
          <a:lstStyle/>
          <a:p>
            <a:pPr algn="ctr" indent="0" marL="0">
              <a:buNone/>
            </a:pPr>
            <a:r>
              <a:rPr lang="en-US" sz="1400" b="1" dirty="0">
                <a:solidFill>
                  <a:srgbClr val="4472C4"/>
                </a:solidFill>
              </a:rPr>
              <a:t>C</a:t>
            </a:r>
            <a:endParaRPr lang="en-US" sz="1400" dirty="0"/>
          </a:p>
        </p:txBody>
      </p:sp>
      <p:sp>
        <p:nvSpPr>
          <p:cNvPr id="17" name="Option C"/>
          <p:cNvSpPr txBox="1"/>
          <p:nvPr/>
        </p:nvSpPr>
        <p:spPr>
          <a:xfrm>
            <a:off x="1188720" y="3529584"/>
            <a:ext cx="10271455" cy="457200"/>
          </a:xfrm>
          <a:prstGeom prst="rect">
            <a:avLst/>
          </a:prstGeom>
          <a:noFill/>
          <a:ln/>
        </p:spPr>
        <p:txBody>
          <a:bodyPr wrap="square" lIns="0" tIns="0" rIns="0" bIns="0" rtlCol="0" anchor="ctr"/>
          <a:lstStyle/>
          <a:p>
            <a:pPr indent="0" marL="0">
              <a:buNone/>
            </a:pPr>
            <a:r>
              <a:rPr lang="en-US" sz="1800" dirty="0">
                <a:solidFill>
                  <a:srgbClr val="1F1F1F"/>
                </a:solidFill>
              </a:rPr>
              <a:t>Baclofen</a:t>
            </a:r>
            <a:endParaRPr lang="en-US" sz="1800" dirty="0"/>
          </a:p>
        </p:txBody>
      </p:sp>
      <p:sp>
        <p:nvSpPr>
          <p:cNvPr id="18" name="Shape 16"/>
          <p:cNvSpPr/>
          <p:nvPr/>
        </p:nvSpPr>
        <p:spPr>
          <a:xfrm>
            <a:off x="548640" y="4105656"/>
            <a:ext cx="402336" cy="402336"/>
          </a:xfrm>
          <a:prstGeom prst="ellipse">
            <a:avLst/>
          </a:prstGeom>
          <a:solidFill>
            <a:srgbClr val="FFFFFF"/>
          </a:solidFill>
          <a:ln w="19050">
            <a:solidFill>
              <a:srgbClr val="4472C4"/>
            </a:solidFill>
            <a:prstDash val="solid"/>
          </a:ln>
        </p:spPr>
      </p:sp>
      <p:sp>
        <p:nvSpPr>
          <p:cNvPr id="19" name="Text 17"/>
          <p:cNvSpPr txBox="1"/>
          <p:nvPr/>
        </p:nvSpPr>
        <p:spPr>
          <a:xfrm>
            <a:off x="548640" y="4105656"/>
            <a:ext cx="402336" cy="402336"/>
          </a:xfrm>
          <a:prstGeom prst="rect">
            <a:avLst/>
          </a:prstGeom>
          <a:noFill/>
          <a:ln/>
        </p:spPr>
        <p:txBody>
          <a:bodyPr wrap="square" lIns="0" tIns="0" rIns="0" bIns="0" rtlCol="0" anchor="ctr"/>
          <a:lstStyle/>
          <a:p>
            <a:pPr algn="ctr" indent="0" marL="0">
              <a:buNone/>
            </a:pPr>
            <a:r>
              <a:rPr lang="en-US" sz="1400" b="1" dirty="0">
                <a:solidFill>
                  <a:srgbClr val="4472C4"/>
                </a:solidFill>
              </a:rPr>
              <a:t>D</a:t>
            </a:r>
            <a:endParaRPr lang="en-US" sz="1400" dirty="0"/>
          </a:p>
        </p:txBody>
      </p:sp>
      <p:sp>
        <p:nvSpPr>
          <p:cNvPr id="20" name="Option D"/>
          <p:cNvSpPr txBox="1"/>
          <p:nvPr/>
        </p:nvSpPr>
        <p:spPr>
          <a:xfrm>
            <a:off x="1188720" y="4078224"/>
            <a:ext cx="10271455" cy="457200"/>
          </a:xfrm>
          <a:prstGeom prst="rect">
            <a:avLst/>
          </a:prstGeom>
          <a:noFill/>
          <a:ln/>
        </p:spPr>
        <p:txBody>
          <a:bodyPr wrap="square" lIns="0" tIns="0" rIns="0" bIns="0" rtlCol="0" anchor="ctr"/>
          <a:lstStyle/>
          <a:p>
            <a:pPr indent="0" marL="0">
              <a:buNone/>
            </a:pPr>
            <a:r>
              <a:rPr lang="en-US" sz="1800" dirty="0">
                <a:solidFill>
                  <a:srgbClr val="1F1F1F"/>
                </a:solidFill>
              </a:rPr>
              <a:t>Tizanidine</a:t>
            </a:r>
            <a:endParaRPr lang="en-US" sz="1800" dirty="0"/>
          </a:p>
        </p:txBody>
      </p:sp>
      <p:sp>
        <p:nvSpPr>
          <p:cNvPr id="21" name="Shape 19"/>
          <p:cNvSpPr/>
          <p:nvPr/>
        </p:nvSpPr>
        <p:spPr>
          <a:xfrm>
            <a:off x="548640" y="4654296"/>
            <a:ext cx="402336" cy="402336"/>
          </a:xfrm>
          <a:prstGeom prst="ellipse">
            <a:avLst/>
          </a:prstGeom>
          <a:solidFill>
            <a:srgbClr val="FFFFFF"/>
          </a:solidFill>
          <a:ln w="19050">
            <a:solidFill>
              <a:srgbClr val="4472C4"/>
            </a:solidFill>
            <a:prstDash val="solid"/>
          </a:ln>
        </p:spPr>
      </p:sp>
      <p:sp>
        <p:nvSpPr>
          <p:cNvPr id="22" name="Text 20"/>
          <p:cNvSpPr txBox="1"/>
          <p:nvPr/>
        </p:nvSpPr>
        <p:spPr>
          <a:xfrm>
            <a:off x="548640" y="4654296"/>
            <a:ext cx="402336" cy="402336"/>
          </a:xfrm>
          <a:prstGeom prst="rect">
            <a:avLst/>
          </a:prstGeom>
          <a:noFill/>
          <a:ln/>
        </p:spPr>
        <p:txBody>
          <a:bodyPr wrap="square" lIns="0" tIns="0" rIns="0" bIns="0" rtlCol="0" anchor="ctr"/>
          <a:lstStyle/>
          <a:p>
            <a:pPr algn="ctr" indent="0" marL="0">
              <a:buNone/>
            </a:pPr>
            <a:r>
              <a:rPr lang="en-US" sz="1400" b="1" dirty="0">
                <a:solidFill>
                  <a:srgbClr val="4472C4"/>
                </a:solidFill>
              </a:rPr>
              <a:t>E</a:t>
            </a:r>
            <a:endParaRPr lang="en-US" sz="1400" dirty="0"/>
          </a:p>
        </p:txBody>
      </p:sp>
      <p:sp>
        <p:nvSpPr>
          <p:cNvPr id="23" name="Option E"/>
          <p:cNvSpPr txBox="1"/>
          <p:nvPr/>
        </p:nvSpPr>
        <p:spPr>
          <a:xfrm>
            <a:off x="1188720" y="4626864"/>
            <a:ext cx="10271455" cy="457200"/>
          </a:xfrm>
          <a:prstGeom prst="rect">
            <a:avLst/>
          </a:prstGeom>
          <a:noFill/>
          <a:ln/>
        </p:spPr>
        <p:txBody>
          <a:bodyPr wrap="square" lIns="0" tIns="0" rIns="0" bIns="0" rtlCol="0" anchor="ctr"/>
          <a:lstStyle/>
          <a:p>
            <a:pPr indent="0" marL="0">
              <a:buNone/>
            </a:pPr>
            <a:r>
              <a:rPr lang="en-US" sz="1800" dirty="0">
                <a:solidFill>
                  <a:srgbClr val="1F1F1F"/>
                </a:solidFill>
              </a:rPr>
              <a:t>Methocarbamol</a:t>
            </a:r>
            <a:endParaRPr lang="en-US" sz="180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bg>
      <p:bgPr>
        <a:solidFill>
          <a:srgbClr val="FFFFFF"/>
        </a:solidFill>
      </p:bgPr>
    </p:bg>
    <p:spTree>
      <p:nvGrpSpPr>
        <p:cNvPr id="1" name=""/>
        <p:cNvGrpSpPr/>
        <p:nvPr/>
      </p:nvGrpSpPr>
      <p:grpSpPr>
        <a:xfrm>
          <a:off x="0" y="0"/>
          <a:ext cx="0" cy="0"/>
          <a:chOff x="0" y="0"/>
          <a:chExt cx="0" cy="0"/>
        </a:xfrm>
      </p:grpSpPr>
      <p:sp>
        <p:nvSpPr>
          <p:cNvPr id="2" name="Kicker"/>
          <p:cNvSpPr txBox="1"/>
          <p:nvPr/>
        </p:nvSpPr>
        <p:spPr>
          <a:xfrm>
            <a:off x="548640" y="292608"/>
            <a:ext cx="8076895" cy="274320"/>
          </a:xfrm>
          <a:prstGeom prst="rect">
            <a:avLst/>
          </a:prstGeom>
          <a:noFill/>
          <a:ln/>
        </p:spPr>
        <p:txBody>
          <a:bodyPr wrap="square" lIns="0" tIns="0" rIns="0" bIns="0" rtlCol="0" anchor="ctr"/>
          <a:lstStyle/>
          <a:p>
            <a:pPr indent="0" marL="0">
              <a:buNone/>
            </a:pPr>
            <a:r>
              <a:rPr lang="en-US" sz="1200" b="1" spc="100" kern="0" dirty="0">
                <a:solidFill>
                  <a:srgbClr val="4472C4"/>
                </a:solidFill>
              </a:rPr>
              <a:t>MECHANISM · ANSWER</a:t>
            </a:r>
            <a:endParaRPr lang="en-US" sz="1200" dirty="0"/>
          </a:p>
        </p:txBody>
      </p:sp>
      <p:sp>
        <p:nvSpPr>
          <p:cNvPr id="3" name="Title"/>
          <p:cNvSpPr txBox="1"/>
          <p:nvPr/>
        </p:nvSpPr>
        <p:spPr>
          <a:xfrm>
            <a:off x="548640" y="566928"/>
            <a:ext cx="8076895" cy="713232"/>
          </a:xfrm>
          <a:prstGeom prst="rect">
            <a:avLst/>
          </a:prstGeom>
          <a:noFill/>
          <a:ln/>
        </p:spPr>
        <p:txBody>
          <a:bodyPr wrap="square" lIns="0" tIns="0" rIns="0" bIns="0" rtlCol="0" anchor="t"/>
          <a:lstStyle/>
          <a:p>
            <a:pPr indent="0" marL="0">
              <a:buNone/>
            </a:pPr>
            <a:r>
              <a:rPr lang="en-US" sz="3000" b="1" dirty="0">
                <a:solidFill>
                  <a:srgbClr val="1F1F1F"/>
                </a:solidFill>
                <a:latin typeface="Calibri" pitchFamily="34" charset="0"/>
                <a:ea typeface="Calibri" pitchFamily="34" charset="-122"/>
                <a:cs typeface="Calibri" pitchFamily="34" charset="-120"/>
              </a:rPr>
              <a:t>Answer 10: A</a:t>
            </a:r>
            <a:endParaRPr lang="en-US" sz="3000" dirty="0"/>
          </a:p>
        </p:txBody>
      </p:sp>
      <p:sp>
        <p:nvSpPr>
          <p:cNvPr id="4" name="Objective chip"/>
          <p:cNvSpPr/>
          <p:nvPr/>
        </p:nvSpPr>
        <p:spPr>
          <a:xfrm>
            <a:off x="8899855" y="365760"/>
            <a:ext cx="2743200" cy="384048"/>
          </a:xfrm>
          <a:prstGeom prst="roundRect">
            <a:avLst>
              <a:gd name="adj" fmla="val 35714"/>
            </a:avLst>
          </a:prstGeom>
          <a:solidFill>
            <a:srgbClr val="E3EBF8"/>
          </a:solidFill>
          <a:ln/>
        </p:spPr>
        <p:txBody>
          <a:bodyPr wrap="square" lIns="25400" tIns="25400" rIns="25400" bIns="25400" rtlCol="0" anchor="ctr"/>
          <a:lstStyle/>
          <a:p>
            <a:pPr algn="ctr" indent="0" marL="0">
              <a:buNone/>
            </a:pPr>
            <a:r>
              <a:rPr lang="en-US" sz="800" b="1" dirty="0">
                <a:solidFill>
                  <a:srgbClr val="2F4F8A"/>
                </a:solidFill>
              </a:rPr>
              <a:t>Objectives: SO2 · SO4 · IO2.1 · IO2.2 · IO2.3 · IO2.5 · IO2.6</a:t>
            </a:r>
            <a:endParaRPr lang="en-US" sz="800" dirty="0"/>
          </a:p>
        </p:txBody>
      </p:sp>
      <p:sp>
        <p:nvSpPr>
          <p:cNvPr id="5" name="Footer"/>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1000" dirty="0">
                <a:solidFill>
                  <a:srgbClr val="666666"/>
                </a:solidFill>
              </a:rPr>
              <a:t>L04 · Musculoskeletal Pharmacology — Session 2</a:t>
            </a:r>
            <a:endParaRPr lang="en-US" sz="1000" dirty="0"/>
          </a:p>
        </p:txBody>
      </p:sp>
      <p:sp>
        <p:nvSpPr>
          <p:cNvPr id="6" name="Slide number"/>
          <p:cNvSpPr txBox="1"/>
          <p:nvPr/>
        </p:nvSpPr>
        <p:spPr>
          <a:xfrm>
            <a:off x="10728655" y="6419088"/>
            <a:ext cx="914400" cy="274320"/>
          </a:xfrm>
          <a:prstGeom prst="rect">
            <a:avLst/>
          </a:prstGeom>
          <a:noFill/>
          <a:ln/>
        </p:spPr>
        <p:txBody>
          <a:bodyPr wrap="square" lIns="0" tIns="0" rIns="0" bIns="0" rtlCol="0" anchor="ctr"/>
          <a:lstStyle/>
          <a:p>
            <a:pPr algn="r" indent="0" marL="0">
              <a:buNone/>
            </a:pPr>
            <a:r>
              <a:rPr lang="en-US" sz="1000" dirty="0">
                <a:solidFill>
                  <a:srgbClr val="666666"/>
                </a:solidFill>
              </a:rPr>
              <a:t>65</a:t>
            </a:r>
            <a:endParaRPr lang="en-US" sz="1000" dirty="0"/>
          </a:p>
        </p:txBody>
      </p:sp>
      <p:sp>
        <p:nvSpPr>
          <p:cNvPr id="7" name="Correct answer"/>
          <p:cNvSpPr/>
          <p:nvPr/>
        </p:nvSpPr>
        <p:spPr>
          <a:xfrm>
            <a:off x="548640" y="1325880"/>
            <a:ext cx="11094415" cy="548640"/>
          </a:xfrm>
          <a:prstGeom prst="roundRect">
            <a:avLst>
              <a:gd name="adj" fmla="val 16667"/>
            </a:avLst>
          </a:prstGeom>
          <a:solidFill>
            <a:srgbClr val="E2F0D9"/>
          </a:solidFill>
          <a:ln w="19050">
            <a:solidFill>
              <a:srgbClr val="548235"/>
            </a:solidFill>
            <a:prstDash val="solid"/>
          </a:ln>
        </p:spPr>
      </p:sp>
      <p:pic>
        <p:nvPicPr>
          <p:cNvPr id="8" name="Image 0" descr="preencoded.png">    </p:cNvPr>
          <p:cNvPicPr>
            <a:picLocks noChangeAspect="1"/>
          </p:cNvPicPr>
          <p:nvPr/>
        </p:nvPicPr>
        <p:blipFill>
          <a:blip r:embed="rId1"/>
          <a:stretch>
            <a:fillRect/>
          </a:stretch>
        </p:blipFill>
        <p:spPr>
          <a:xfrm>
            <a:off x="731520" y="1435608"/>
            <a:ext cx="329184" cy="329184"/>
          </a:xfrm>
          <a:prstGeom prst="rect">
            <a:avLst/>
          </a:prstGeom>
        </p:spPr>
      </p:pic>
      <p:sp>
        <p:nvSpPr>
          <p:cNvPr id="9" name="Text 6"/>
          <p:cNvSpPr txBox="1"/>
          <p:nvPr/>
        </p:nvSpPr>
        <p:spPr>
          <a:xfrm>
            <a:off x="1234440" y="1325880"/>
            <a:ext cx="10180015" cy="548640"/>
          </a:xfrm>
          <a:prstGeom prst="rect">
            <a:avLst/>
          </a:prstGeom>
          <a:noFill/>
          <a:ln/>
        </p:spPr>
        <p:txBody>
          <a:bodyPr wrap="square" lIns="0" tIns="0" rIns="0" bIns="0" rtlCol="0" anchor="ctr"/>
          <a:lstStyle/>
          <a:p>
            <a:pPr indent="0" marL="0">
              <a:buNone/>
            </a:pPr>
            <a:r>
              <a:rPr lang="en-US" sz="1600" b="1" dirty="0">
                <a:solidFill>
                  <a:srgbClr val="1F1F1F"/>
                </a:solidFill>
              </a:rPr>
              <a:t>A. </a:t>
            </a:r>
            <a:r>
              <a:rPr lang="en-US" sz="1600" b="1" dirty="0">
                <a:solidFill>
                  <a:srgbClr val="1F1F1F"/>
                </a:solidFill>
              </a:rPr>
              <a:t>Dantrolene</a:t>
            </a:r>
            <a:endParaRPr lang="en-US" sz="1600" dirty="0"/>
          </a:p>
        </p:txBody>
      </p:sp>
      <p:sp>
        <p:nvSpPr>
          <p:cNvPr id="10" name="Why correct"/>
          <p:cNvSpPr txBox="1"/>
          <p:nvPr/>
        </p:nvSpPr>
        <p:spPr>
          <a:xfrm>
            <a:off x="777240" y="2011680"/>
            <a:ext cx="10637215" cy="724408"/>
          </a:xfrm>
          <a:prstGeom prst="rect">
            <a:avLst/>
          </a:prstGeom>
          <a:noFill/>
          <a:ln/>
        </p:spPr>
        <p:txBody>
          <a:bodyPr wrap="square" lIns="0" tIns="0" rIns="0" bIns="0" rtlCol="0" anchor="t"/>
          <a:lstStyle/>
          <a:p>
            <a:pPr indent="0" marL="0">
              <a:buNone/>
            </a:pPr>
            <a:r>
              <a:rPr lang="en-US" sz="1600" dirty="0">
                <a:solidFill>
                  <a:srgbClr val="1F1F1F"/>
                </a:solidFill>
              </a:rPr>
              <a:t>Dantrolene’s peripheral mechanism — decreasing calcium release from the skeletal muscle sarcoplasmic reticulum — is unique among these agents and is exactly why it is the emergency treatment for malignant hyperthermia (S37).</a:t>
            </a:r>
            <a:r>
              <a:rPr lang="en-US" sz="1100" dirty="0">
                <a:solidFill>
                  <a:srgbClr val="666666"/>
                </a:solidFill>
              </a:rPr>
              <a:t>  S34; S37; SG U2-R11</a:t>
            </a:r>
            <a:endParaRPr lang="en-US" sz="1600" dirty="0"/>
          </a:p>
        </p:txBody>
      </p:sp>
      <p:sp>
        <p:nvSpPr>
          <p:cNvPr id="11" name="Why others wrong card"/>
          <p:cNvSpPr/>
          <p:nvPr/>
        </p:nvSpPr>
        <p:spPr>
          <a:xfrm>
            <a:off x="548640" y="2873248"/>
            <a:ext cx="11094415" cy="1704848"/>
          </a:xfrm>
          <a:prstGeom prst="roundRect">
            <a:avLst>
              <a:gd name="adj" fmla="val 5364"/>
            </a:avLst>
          </a:prstGeom>
          <a:solidFill>
            <a:srgbClr val="F2F4F7"/>
          </a:solidFill>
          <a:ln w="12700">
            <a:solidFill>
              <a:srgbClr val="F2F4F7"/>
            </a:solidFill>
            <a:prstDash val="solid"/>
          </a:ln>
        </p:spPr>
      </p:sp>
      <p:sp>
        <p:nvSpPr>
          <p:cNvPr id="12" name="Why others wrong"/>
          <p:cNvSpPr txBox="1"/>
          <p:nvPr/>
        </p:nvSpPr>
        <p:spPr>
          <a:xfrm>
            <a:off x="777240" y="2982976"/>
            <a:ext cx="10637215" cy="1521968"/>
          </a:xfrm>
          <a:prstGeom prst="rect">
            <a:avLst/>
          </a:prstGeom>
          <a:noFill/>
          <a:ln/>
        </p:spPr>
        <p:txBody>
          <a:bodyPr wrap="square" lIns="0" tIns="0" rIns="0" bIns="0" rtlCol="0" anchor="t"/>
          <a:lstStyle/>
          <a:p>
            <a:pPr indent="0" marL="0">
              <a:spcAft>
                <a:spcPts val="400"/>
              </a:spcAft>
              <a:buNone/>
            </a:pPr>
            <a:r>
              <a:rPr lang="en-US" sz="1600" b="1" dirty="0">
                <a:solidFill>
                  <a:srgbClr val="C00000"/>
                </a:solidFill>
              </a:rPr>
              <a:t>Why the other choices are wrong</a:t>
            </a:r>
            <a:endParaRPr lang="en-US" sz="1600" dirty="0"/>
          </a:p>
          <a:p>
            <a:pPr indent="0" marL="0">
              <a:buNone/>
            </a:pPr>
            <a:r>
              <a:rPr lang="en-US" sz="1600" b="1" dirty="0">
                <a:solidFill>
                  <a:srgbClr val="1F1F1F"/>
                </a:solidFill>
              </a:rPr>
              <a:t>B. Cyclobenzaprine — </a:t>
            </a:r>
            <a:r>
              <a:rPr lang="en-US" sz="1600" dirty="0">
                <a:solidFill>
                  <a:srgbClr val="1F1F1F"/>
                </a:solidFill>
              </a:rPr>
              <a:t>Acts in the brainstem (S32).</a:t>
            </a:r>
            <a:endParaRPr lang="en-US" sz="1600" dirty="0"/>
          </a:p>
          <a:p>
            <a:pPr indent="0" marL="0">
              <a:buNone/>
            </a:pPr>
            <a:r>
              <a:rPr lang="en-US" sz="1600" b="1" dirty="0">
                <a:solidFill>
                  <a:srgbClr val="1F1F1F"/>
                </a:solidFill>
              </a:rPr>
              <a:t>C. Baclofen — </a:t>
            </a:r>
            <a:r>
              <a:rPr lang="en-US" sz="1600" dirty="0">
                <a:solidFill>
                  <a:srgbClr val="1F1F1F"/>
                </a:solidFill>
              </a:rPr>
              <a:t>GABA-B agonist in the spinal cord (S27).</a:t>
            </a:r>
            <a:endParaRPr lang="en-US" sz="1600" dirty="0"/>
          </a:p>
          <a:p>
            <a:pPr indent="0" marL="0">
              <a:buNone/>
            </a:pPr>
            <a:r>
              <a:rPr lang="en-US" sz="1600" b="1" dirty="0">
                <a:solidFill>
                  <a:srgbClr val="1F1F1F"/>
                </a:solidFill>
              </a:rPr>
              <a:t>D. Tizanidine — </a:t>
            </a:r>
            <a:r>
              <a:rPr lang="en-US" sz="1600" dirty="0">
                <a:solidFill>
                  <a:srgbClr val="1F1F1F"/>
                </a:solidFill>
              </a:rPr>
              <a:t>Central α2 agonist (S29).</a:t>
            </a:r>
            <a:endParaRPr lang="en-US" sz="1600" dirty="0"/>
          </a:p>
          <a:p>
            <a:pPr indent="0" marL="0">
              <a:buNone/>
            </a:pPr>
            <a:r>
              <a:rPr lang="en-US" sz="1600" b="1" dirty="0">
                <a:solidFill>
                  <a:srgbClr val="1F1F1F"/>
                </a:solidFill>
              </a:rPr>
              <a:t>E. Methocarbamol — </a:t>
            </a:r>
            <a:r>
              <a:rPr lang="en-US" sz="1600" dirty="0">
                <a:solidFill>
                  <a:srgbClr val="1F1F1F"/>
                </a:solidFill>
              </a:rPr>
              <a:t>Another centrally acting agent (S33).</a:t>
            </a:r>
            <a:endParaRPr lang="en-US" sz="1600"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bg>
      <p:bgPr>
        <a:solidFill>
          <a:srgbClr val="FFFFFF"/>
        </a:solidFill>
      </p:bgPr>
    </p:bg>
    <p:spTree>
      <p:nvGrpSpPr>
        <p:cNvPr id="1" name=""/>
        <p:cNvGrpSpPr/>
        <p:nvPr/>
      </p:nvGrpSpPr>
      <p:grpSpPr>
        <a:xfrm>
          <a:off x="0" y="0"/>
          <a:ext cx="0" cy="0"/>
          <a:chOff x="0" y="0"/>
          <a:chExt cx="0" cy="0"/>
        </a:xfrm>
      </p:grpSpPr>
      <p:sp>
        <p:nvSpPr>
          <p:cNvPr id="2" name="Kicker"/>
          <p:cNvSpPr txBox="1"/>
          <p:nvPr/>
        </p:nvSpPr>
        <p:spPr>
          <a:xfrm>
            <a:off x="548640" y="292608"/>
            <a:ext cx="8076895" cy="274320"/>
          </a:xfrm>
          <a:prstGeom prst="rect">
            <a:avLst/>
          </a:prstGeom>
          <a:noFill/>
          <a:ln/>
        </p:spPr>
        <p:txBody>
          <a:bodyPr wrap="square" lIns="0" tIns="0" rIns="0" bIns="0" rtlCol="0" anchor="ctr"/>
          <a:lstStyle/>
          <a:p>
            <a:pPr indent="0" marL="0">
              <a:buNone/>
            </a:pPr>
            <a:r>
              <a:rPr lang="en-US" sz="1200" b="1" spc="100" kern="0" dirty="0">
                <a:solidFill>
                  <a:srgbClr val="4472C4"/>
                </a:solidFill>
              </a:rPr>
              <a:t>MECHANISM · LECTURE QUICK CHECK S25; S26</a:t>
            </a:r>
            <a:endParaRPr lang="en-US" sz="1200" dirty="0"/>
          </a:p>
        </p:txBody>
      </p:sp>
      <p:sp>
        <p:nvSpPr>
          <p:cNvPr id="3" name="Title"/>
          <p:cNvSpPr txBox="1"/>
          <p:nvPr/>
        </p:nvSpPr>
        <p:spPr>
          <a:xfrm>
            <a:off x="548640" y="566928"/>
            <a:ext cx="8076895" cy="713232"/>
          </a:xfrm>
          <a:prstGeom prst="rect">
            <a:avLst/>
          </a:prstGeom>
          <a:noFill/>
          <a:ln/>
        </p:spPr>
        <p:txBody>
          <a:bodyPr wrap="square" lIns="0" tIns="0" rIns="0" bIns="0" rtlCol="0" anchor="t"/>
          <a:lstStyle/>
          <a:p>
            <a:pPr indent="0" marL="0">
              <a:buNone/>
            </a:pPr>
            <a:r>
              <a:rPr lang="en-US" sz="3000" b="1" dirty="0">
                <a:solidFill>
                  <a:srgbClr val="1F1F1F"/>
                </a:solidFill>
                <a:latin typeface="Calibri" pitchFamily="34" charset="0"/>
                <a:ea typeface="Calibri" pitchFamily="34" charset="-122"/>
                <a:cs typeface="Calibri" pitchFamily="34" charset="-120"/>
              </a:rPr>
              <a:t>Question 11</a:t>
            </a:r>
            <a:endParaRPr lang="en-US" sz="3000" dirty="0"/>
          </a:p>
        </p:txBody>
      </p:sp>
      <p:sp>
        <p:nvSpPr>
          <p:cNvPr id="4" name="Objective chip"/>
          <p:cNvSpPr/>
          <p:nvPr/>
        </p:nvSpPr>
        <p:spPr>
          <a:xfrm>
            <a:off x="8899855" y="365760"/>
            <a:ext cx="2743200" cy="384048"/>
          </a:xfrm>
          <a:prstGeom prst="roundRect">
            <a:avLst>
              <a:gd name="adj" fmla="val 35714"/>
            </a:avLst>
          </a:prstGeom>
          <a:solidFill>
            <a:srgbClr val="E3EBF8"/>
          </a:solidFill>
          <a:ln/>
        </p:spPr>
        <p:txBody>
          <a:bodyPr wrap="square" lIns="25400" tIns="25400" rIns="25400" bIns="25400" rtlCol="0" anchor="ctr"/>
          <a:lstStyle/>
          <a:p>
            <a:pPr algn="ctr" indent="0" marL="0">
              <a:buNone/>
            </a:pPr>
            <a:r>
              <a:rPr lang="en-US" sz="800" b="1" dirty="0">
                <a:solidFill>
                  <a:srgbClr val="2F4F8A"/>
                </a:solidFill>
              </a:rPr>
              <a:t>Objectives: SO2 · SO4 · IO2.1 · IO2.2 · IO2.3 · IO2.5 · IO2.6</a:t>
            </a:r>
            <a:endParaRPr lang="en-US" sz="800" dirty="0"/>
          </a:p>
        </p:txBody>
      </p:sp>
      <p:sp>
        <p:nvSpPr>
          <p:cNvPr id="5" name="Footer"/>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1000" dirty="0">
                <a:solidFill>
                  <a:srgbClr val="666666"/>
                </a:solidFill>
              </a:rPr>
              <a:t>L04 · Musculoskeletal Pharmacology — Session 2</a:t>
            </a:r>
            <a:endParaRPr lang="en-US" sz="1000" dirty="0"/>
          </a:p>
        </p:txBody>
      </p:sp>
      <p:sp>
        <p:nvSpPr>
          <p:cNvPr id="6" name="Slide number"/>
          <p:cNvSpPr txBox="1"/>
          <p:nvPr/>
        </p:nvSpPr>
        <p:spPr>
          <a:xfrm>
            <a:off x="10728655" y="6419088"/>
            <a:ext cx="914400" cy="274320"/>
          </a:xfrm>
          <a:prstGeom prst="rect">
            <a:avLst/>
          </a:prstGeom>
          <a:noFill/>
          <a:ln/>
        </p:spPr>
        <p:txBody>
          <a:bodyPr wrap="square" lIns="0" tIns="0" rIns="0" bIns="0" rtlCol="0" anchor="ctr"/>
          <a:lstStyle/>
          <a:p>
            <a:pPr algn="r" indent="0" marL="0">
              <a:buNone/>
            </a:pPr>
            <a:r>
              <a:rPr lang="en-US" sz="1000" dirty="0">
                <a:solidFill>
                  <a:srgbClr val="666666"/>
                </a:solidFill>
              </a:rPr>
              <a:t>66</a:t>
            </a:r>
            <a:endParaRPr lang="en-US" sz="1000" dirty="0"/>
          </a:p>
        </p:txBody>
      </p:sp>
      <p:sp>
        <p:nvSpPr>
          <p:cNvPr id="7" name="Question stem card"/>
          <p:cNvSpPr/>
          <p:nvPr/>
        </p:nvSpPr>
        <p:spPr>
          <a:xfrm>
            <a:off x="548640" y="1325880"/>
            <a:ext cx="11094415" cy="923544"/>
          </a:xfrm>
          <a:prstGeom prst="roundRect">
            <a:avLst>
              <a:gd name="adj" fmla="val 9901"/>
            </a:avLst>
          </a:prstGeom>
          <a:solidFill>
            <a:srgbClr val="F2F4F7"/>
          </a:solidFill>
          <a:ln w="12700">
            <a:solidFill>
              <a:srgbClr val="F2F4F7"/>
            </a:solidFill>
            <a:prstDash val="solid"/>
          </a:ln>
        </p:spPr>
      </p:sp>
      <p:sp>
        <p:nvSpPr>
          <p:cNvPr id="8" name="Question stem"/>
          <p:cNvSpPr txBox="1"/>
          <p:nvPr/>
        </p:nvSpPr>
        <p:spPr>
          <a:xfrm>
            <a:off x="777240" y="1325880"/>
            <a:ext cx="10637215" cy="923544"/>
          </a:xfrm>
          <a:prstGeom prst="rect">
            <a:avLst/>
          </a:prstGeom>
          <a:noFill/>
          <a:ln/>
        </p:spPr>
        <p:txBody>
          <a:bodyPr wrap="square" lIns="0" tIns="0" rIns="0" bIns="0" rtlCol="0" anchor="ctr"/>
          <a:lstStyle/>
          <a:p>
            <a:pPr indent="0" marL="0">
              <a:buNone/>
            </a:pPr>
            <a:r>
              <a:rPr lang="en-US" sz="1800" dirty="0">
                <a:solidFill>
                  <a:srgbClr val="1F1F1F"/>
                </a:solidFill>
              </a:rPr>
              <a:t>In Figure 5, which agent is the odd one out, acting directly on the skeletal muscle fiber rather than within the central nervous system?</a:t>
            </a:r>
            <a:endParaRPr lang="en-US" sz="1800" dirty="0"/>
          </a:p>
        </p:txBody>
      </p:sp>
      <p:sp>
        <p:nvSpPr>
          <p:cNvPr id="9" name="Shape 7"/>
          <p:cNvSpPr/>
          <p:nvPr/>
        </p:nvSpPr>
        <p:spPr>
          <a:xfrm>
            <a:off x="548640" y="2459736"/>
            <a:ext cx="402336" cy="402336"/>
          </a:xfrm>
          <a:prstGeom prst="ellipse">
            <a:avLst/>
          </a:prstGeom>
          <a:solidFill>
            <a:srgbClr val="FFFFFF"/>
          </a:solidFill>
          <a:ln w="19050">
            <a:solidFill>
              <a:srgbClr val="4472C4"/>
            </a:solidFill>
            <a:prstDash val="solid"/>
          </a:ln>
        </p:spPr>
      </p:sp>
      <p:sp>
        <p:nvSpPr>
          <p:cNvPr id="10" name="Text 8"/>
          <p:cNvSpPr txBox="1"/>
          <p:nvPr/>
        </p:nvSpPr>
        <p:spPr>
          <a:xfrm>
            <a:off x="548640" y="2459736"/>
            <a:ext cx="402336" cy="402336"/>
          </a:xfrm>
          <a:prstGeom prst="rect">
            <a:avLst/>
          </a:prstGeom>
          <a:noFill/>
          <a:ln/>
        </p:spPr>
        <p:txBody>
          <a:bodyPr wrap="square" lIns="0" tIns="0" rIns="0" bIns="0" rtlCol="0" anchor="ctr"/>
          <a:lstStyle/>
          <a:p>
            <a:pPr algn="ctr" indent="0" marL="0">
              <a:buNone/>
            </a:pPr>
            <a:r>
              <a:rPr lang="en-US" sz="1400" b="1" dirty="0">
                <a:solidFill>
                  <a:srgbClr val="4472C4"/>
                </a:solidFill>
              </a:rPr>
              <a:t>A</a:t>
            </a:r>
            <a:endParaRPr lang="en-US" sz="1400" dirty="0"/>
          </a:p>
        </p:txBody>
      </p:sp>
      <p:sp>
        <p:nvSpPr>
          <p:cNvPr id="11" name="Option A"/>
          <p:cNvSpPr txBox="1"/>
          <p:nvPr/>
        </p:nvSpPr>
        <p:spPr>
          <a:xfrm>
            <a:off x="1188720" y="2432304"/>
            <a:ext cx="10271455" cy="457200"/>
          </a:xfrm>
          <a:prstGeom prst="rect">
            <a:avLst/>
          </a:prstGeom>
          <a:noFill/>
          <a:ln/>
        </p:spPr>
        <p:txBody>
          <a:bodyPr wrap="square" lIns="0" tIns="0" rIns="0" bIns="0" rtlCol="0" anchor="ctr"/>
          <a:lstStyle/>
          <a:p>
            <a:pPr indent="0" marL="0">
              <a:buNone/>
            </a:pPr>
            <a:r>
              <a:rPr lang="en-US" sz="1800" dirty="0">
                <a:solidFill>
                  <a:srgbClr val="1F1F1F"/>
                </a:solidFill>
              </a:rPr>
              <a:t>Baclofen</a:t>
            </a:r>
            <a:endParaRPr lang="en-US" sz="1800" dirty="0"/>
          </a:p>
        </p:txBody>
      </p:sp>
      <p:sp>
        <p:nvSpPr>
          <p:cNvPr id="12" name="Shape 10"/>
          <p:cNvSpPr/>
          <p:nvPr/>
        </p:nvSpPr>
        <p:spPr>
          <a:xfrm>
            <a:off x="548640" y="3008376"/>
            <a:ext cx="402336" cy="402336"/>
          </a:xfrm>
          <a:prstGeom prst="ellipse">
            <a:avLst/>
          </a:prstGeom>
          <a:solidFill>
            <a:srgbClr val="FFFFFF"/>
          </a:solidFill>
          <a:ln w="19050">
            <a:solidFill>
              <a:srgbClr val="4472C4"/>
            </a:solidFill>
            <a:prstDash val="solid"/>
          </a:ln>
        </p:spPr>
      </p:sp>
      <p:sp>
        <p:nvSpPr>
          <p:cNvPr id="13" name="Text 11"/>
          <p:cNvSpPr txBox="1"/>
          <p:nvPr/>
        </p:nvSpPr>
        <p:spPr>
          <a:xfrm>
            <a:off x="548640" y="3008376"/>
            <a:ext cx="402336" cy="402336"/>
          </a:xfrm>
          <a:prstGeom prst="rect">
            <a:avLst/>
          </a:prstGeom>
          <a:noFill/>
          <a:ln/>
        </p:spPr>
        <p:txBody>
          <a:bodyPr wrap="square" lIns="0" tIns="0" rIns="0" bIns="0" rtlCol="0" anchor="ctr"/>
          <a:lstStyle/>
          <a:p>
            <a:pPr algn="ctr" indent="0" marL="0">
              <a:buNone/>
            </a:pPr>
            <a:r>
              <a:rPr lang="en-US" sz="1400" b="1" dirty="0">
                <a:solidFill>
                  <a:srgbClr val="4472C4"/>
                </a:solidFill>
              </a:rPr>
              <a:t>B</a:t>
            </a:r>
            <a:endParaRPr lang="en-US" sz="1400" dirty="0"/>
          </a:p>
        </p:txBody>
      </p:sp>
      <p:sp>
        <p:nvSpPr>
          <p:cNvPr id="14" name="Option B"/>
          <p:cNvSpPr txBox="1"/>
          <p:nvPr/>
        </p:nvSpPr>
        <p:spPr>
          <a:xfrm>
            <a:off x="1188720" y="2980944"/>
            <a:ext cx="10271455" cy="457200"/>
          </a:xfrm>
          <a:prstGeom prst="rect">
            <a:avLst/>
          </a:prstGeom>
          <a:noFill/>
          <a:ln/>
        </p:spPr>
        <p:txBody>
          <a:bodyPr wrap="square" lIns="0" tIns="0" rIns="0" bIns="0" rtlCol="0" anchor="ctr"/>
          <a:lstStyle/>
          <a:p>
            <a:pPr indent="0" marL="0">
              <a:buNone/>
            </a:pPr>
            <a:r>
              <a:rPr lang="en-US" sz="1800" dirty="0">
                <a:solidFill>
                  <a:srgbClr val="1F1F1F"/>
                </a:solidFill>
              </a:rPr>
              <a:t>Dantrolene</a:t>
            </a:r>
            <a:endParaRPr lang="en-US" sz="1800" dirty="0"/>
          </a:p>
        </p:txBody>
      </p:sp>
      <p:sp>
        <p:nvSpPr>
          <p:cNvPr id="15" name="Shape 13"/>
          <p:cNvSpPr/>
          <p:nvPr/>
        </p:nvSpPr>
        <p:spPr>
          <a:xfrm>
            <a:off x="548640" y="3557016"/>
            <a:ext cx="402336" cy="402336"/>
          </a:xfrm>
          <a:prstGeom prst="ellipse">
            <a:avLst/>
          </a:prstGeom>
          <a:solidFill>
            <a:srgbClr val="FFFFFF"/>
          </a:solidFill>
          <a:ln w="19050">
            <a:solidFill>
              <a:srgbClr val="4472C4"/>
            </a:solidFill>
            <a:prstDash val="solid"/>
          </a:ln>
        </p:spPr>
      </p:sp>
      <p:sp>
        <p:nvSpPr>
          <p:cNvPr id="16" name="Text 14"/>
          <p:cNvSpPr txBox="1"/>
          <p:nvPr/>
        </p:nvSpPr>
        <p:spPr>
          <a:xfrm>
            <a:off x="548640" y="3557016"/>
            <a:ext cx="402336" cy="402336"/>
          </a:xfrm>
          <a:prstGeom prst="rect">
            <a:avLst/>
          </a:prstGeom>
          <a:noFill/>
          <a:ln/>
        </p:spPr>
        <p:txBody>
          <a:bodyPr wrap="square" lIns="0" tIns="0" rIns="0" bIns="0" rtlCol="0" anchor="ctr"/>
          <a:lstStyle/>
          <a:p>
            <a:pPr algn="ctr" indent="0" marL="0">
              <a:buNone/>
            </a:pPr>
            <a:r>
              <a:rPr lang="en-US" sz="1400" b="1" dirty="0">
                <a:solidFill>
                  <a:srgbClr val="4472C4"/>
                </a:solidFill>
              </a:rPr>
              <a:t>C</a:t>
            </a:r>
            <a:endParaRPr lang="en-US" sz="1400" dirty="0"/>
          </a:p>
        </p:txBody>
      </p:sp>
      <p:sp>
        <p:nvSpPr>
          <p:cNvPr id="17" name="Option C"/>
          <p:cNvSpPr txBox="1"/>
          <p:nvPr/>
        </p:nvSpPr>
        <p:spPr>
          <a:xfrm>
            <a:off x="1188720" y="3529584"/>
            <a:ext cx="10271455" cy="457200"/>
          </a:xfrm>
          <a:prstGeom prst="rect">
            <a:avLst/>
          </a:prstGeom>
          <a:noFill/>
          <a:ln/>
        </p:spPr>
        <p:txBody>
          <a:bodyPr wrap="square" lIns="0" tIns="0" rIns="0" bIns="0" rtlCol="0" anchor="ctr"/>
          <a:lstStyle/>
          <a:p>
            <a:pPr indent="0" marL="0">
              <a:buNone/>
            </a:pPr>
            <a:r>
              <a:rPr lang="en-US" sz="1800" dirty="0">
                <a:solidFill>
                  <a:srgbClr val="1F1F1F"/>
                </a:solidFill>
              </a:rPr>
              <a:t>Tizanidine</a:t>
            </a:r>
            <a:endParaRPr lang="en-US" sz="1800" dirty="0"/>
          </a:p>
        </p:txBody>
      </p:sp>
      <p:sp>
        <p:nvSpPr>
          <p:cNvPr id="18" name="Shape 16"/>
          <p:cNvSpPr/>
          <p:nvPr/>
        </p:nvSpPr>
        <p:spPr>
          <a:xfrm>
            <a:off x="548640" y="4105656"/>
            <a:ext cx="402336" cy="402336"/>
          </a:xfrm>
          <a:prstGeom prst="ellipse">
            <a:avLst/>
          </a:prstGeom>
          <a:solidFill>
            <a:srgbClr val="FFFFFF"/>
          </a:solidFill>
          <a:ln w="19050">
            <a:solidFill>
              <a:srgbClr val="4472C4"/>
            </a:solidFill>
            <a:prstDash val="solid"/>
          </a:ln>
        </p:spPr>
      </p:sp>
      <p:sp>
        <p:nvSpPr>
          <p:cNvPr id="19" name="Text 17"/>
          <p:cNvSpPr txBox="1"/>
          <p:nvPr/>
        </p:nvSpPr>
        <p:spPr>
          <a:xfrm>
            <a:off x="548640" y="4105656"/>
            <a:ext cx="402336" cy="402336"/>
          </a:xfrm>
          <a:prstGeom prst="rect">
            <a:avLst/>
          </a:prstGeom>
          <a:noFill/>
          <a:ln/>
        </p:spPr>
        <p:txBody>
          <a:bodyPr wrap="square" lIns="0" tIns="0" rIns="0" bIns="0" rtlCol="0" anchor="ctr"/>
          <a:lstStyle/>
          <a:p>
            <a:pPr algn="ctr" indent="0" marL="0">
              <a:buNone/>
            </a:pPr>
            <a:r>
              <a:rPr lang="en-US" sz="1400" b="1" dirty="0">
                <a:solidFill>
                  <a:srgbClr val="4472C4"/>
                </a:solidFill>
              </a:rPr>
              <a:t>D</a:t>
            </a:r>
            <a:endParaRPr lang="en-US" sz="1400" dirty="0"/>
          </a:p>
        </p:txBody>
      </p:sp>
      <p:sp>
        <p:nvSpPr>
          <p:cNvPr id="20" name="Option D"/>
          <p:cNvSpPr txBox="1"/>
          <p:nvPr/>
        </p:nvSpPr>
        <p:spPr>
          <a:xfrm>
            <a:off x="1188720" y="4078224"/>
            <a:ext cx="10271455" cy="457200"/>
          </a:xfrm>
          <a:prstGeom prst="rect">
            <a:avLst/>
          </a:prstGeom>
          <a:noFill/>
          <a:ln/>
        </p:spPr>
        <p:txBody>
          <a:bodyPr wrap="square" lIns="0" tIns="0" rIns="0" bIns="0" rtlCol="0" anchor="ctr"/>
          <a:lstStyle/>
          <a:p>
            <a:pPr indent="0" marL="0">
              <a:buNone/>
            </a:pPr>
            <a:r>
              <a:rPr lang="en-US" sz="1800" dirty="0">
                <a:solidFill>
                  <a:srgbClr val="1F1F1F"/>
                </a:solidFill>
              </a:rPr>
              <a:t>Carisoprodol</a:t>
            </a:r>
            <a:endParaRPr lang="en-US" sz="1800" dirty="0"/>
          </a:p>
        </p:txBody>
      </p:sp>
      <p:sp>
        <p:nvSpPr>
          <p:cNvPr id="21" name="Shape 19"/>
          <p:cNvSpPr/>
          <p:nvPr/>
        </p:nvSpPr>
        <p:spPr>
          <a:xfrm>
            <a:off x="548640" y="4654296"/>
            <a:ext cx="402336" cy="402336"/>
          </a:xfrm>
          <a:prstGeom prst="ellipse">
            <a:avLst/>
          </a:prstGeom>
          <a:solidFill>
            <a:srgbClr val="FFFFFF"/>
          </a:solidFill>
          <a:ln w="19050">
            <a:solidFill>
              <a:srgbClr val="4472C4"/>
            </a:solidFill>
            <a:prstDash val="solid"/>
          </a:ln>
        </p:spPr>
      </p:sp>
      <p:sp>
        <p:nvSpPr>
          <p:cNvPr id="22" name="Text 20"/>
          <p:cNvSpPr txBox="1"/>
          <p:nvPr/>
        </p:nvSpPr>
        <p:spPr>
          <a:xfrm>
            <a:off x="548640" y="4654296"/>
            <a:ext cx="402336" cy="402336"/>
          </a:xfrm>
          <a:prstGeom prst="rect">
            <a:avLst/>
          </a:prstGeom>
          <a:noFill/>
          <a:ln/>
        </p:spPr>
        <p:txBody>
          <a:bodyPr wrap="square" lIns="0" tIns="0" rIns="0" bIns="0" rtlCol="0" anchor="ctr"/>
          <a:lstStyle/>
          <a:p>
            <a:pPr algn="ctr" indent="0" marL="0">
              <a:buNone/>
            </a:pPr>
            <a:r>
              <a:rPr lang="en-US" sz="1400" b="1" dirty="0">
                <a:solidFill>
                  <a:srgbClr val="4472C4"/>
                </a:solidFill>
              </a:rPr>
              <a:t>E</a:t>
            </a:r>
            <a:endParaRPr lang="en-US" sz="1400" dirty="0"/>
          </a:p>
        </p:txBody>
      </p:sp>
      <p:sp>
        <p:nvSpPr>
          <p:cNvPr id="23" name="Option E"/>
          <p:cNvSpPr txBox="1"/>
          <p:nvPr/>
        </p:nvSpPr>
        <p:spPr>
          <a:xfrm>
            <a:off x="1188720" y="4626864"/>
            <a:ext cx="10271455" cy="457200"/>
          </a:xfrm>
          <a:prstGeom prst="rect">
            <a:avLst/>
          </a:prstGeom>
          <a:noFill/>
          <a:ln/>
        </p:spPr>
        <p:txBody>
          <a:bodyPr wrap="square" lIns="0" tIns="0" rIns="0" bIns="0" rtlCol="0" anchor="ctr"/>
          <a:lstStyle/>
          <a:p>
            <a:pPr indent="0" marL="0">
              <a:buNone/>
            </a:pPr>
            <a:r>
              <a:rPr lang="en-US" sz="1800" dirty="0">
                <a:solidFill>
                  <a:srgbClr val="1F1F1F"/>
                </a:solidFill>
              </a:rPr>
              <a:t>Cyclobenzaprine</a:t>
            </a:r>
            <a:endParaRPr lang="en-US" sz="180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bg>
      <p:bgPr>
        <a:solidFill>
          <a:srgbClr val="FFFFFF"/>
        </a:solidFill>
      </p:bgPr>
    </p:bg>
    <p:spTree>
      <p:nvGrpSpPr>
        <p:cNvPr id="1" name=""/>
        <p:cNvGrpSpPr/>
        <p:nvPr/>
      </p:nvGrpSpPr>
      <p:grpSpPr>
        <a:xfrm>
          <a:off x="0" y="0"/>
          <a:ext cx="0" cy="0"/>
          <a:chOff x="0" y="0"/>
          <a:chExt cx="0" cy="0"/>
        </a:xfrm>
      </p:grpSpPr>
      <p:sp>
        <p:nvSpPr>
          <p:cNvPr id="2" name="Kicker"/>
          <p:cNvSpPr txBox="1"/>
          <p:nvPr/>
        </p:nvSpPr>
        <p:spPr>
          <a:xfrm>
            <a:off x="548640" y="292608"/>
            <a:ext cx="8076895" cy="274320"/>
          </a:xfrm>
          <a:prstGeom prst="rect">
            <a:avLst/>
          </a:prstGeom>
          <a:noFill/>
          <a:ln/>
        </p:spPr>
        <p:txBody>
          <a:bodyPr wrap="square" lIns="0" tIns="0" rIns="0" bIns="0" rtlCol="0" anchor="ctr"/>
          <a:lstStyle/>
          <a:p>
            <a:pPr indent="0" marL="0">
              <a:buNone/>
            </a:pPr>
            <a:r>
              <a:rPr lang="en-US" sz="1200" b="1" spc="100" kern="0" dirty="0">
                <a:solidFill>
                  <a:srgbClr val="4472C4"/>
                </a:solidFill>
              </a:rPr>
              <a:t>MECHANISM · ANSWER</a:t>
            </a:r>
            <a:endParaRPr lang="en-US" sz="1200" dirty="0"/>
          </a:p>
        </p:txBody>
      </p:sp>
      <p:sp>
        <p:nvSpPr>
          <p:cNvPr id="3" name="Title"/>
          <p:cNvSpPr txBox="1"/>
          <p:nvPr/>
        </p:nvSpPr>
        <p:spPr>
          <a:xfrm>
            <a:off x="548640" y="566928"/>
            <a:ext cx="8076895" cy="713232"/>
          </a:xfrm>
          <a:prstGeom prst="rect">
            <a:avLst/>
          </a:prstGeom>
          <a:noFill/>
          <a:ln/>
        </p:spPr>
        <p:txBody>
          <a:bodyPr wrap="square" lIns="0" tIns="0" rIns="0" bIns="0" rtlCol="0" anchor="t"/>
          <a:lstStyle/>
          <a:p>
            <a:pPr indent="0" marL="0">
              <a:buNone/>
            </a:pPr>
            <a:r>
              <a:rPr lang="en-US" sz="3000" b="1" dirty="0">
                <a:solidFill>
                  <a:srgbClr val="1F1F1F"/>
                </a:solidFill>
                <a:latin typeface="Calibri" pitchFamily="34" charset="0"/>
                <a:ea typeface="Calibri" pitchFamily="34" charset="-122"/>
                <a:cs typeface="Calibri" pitchFamily="34" charset="-120"/>
              </a:rPr>
              <a:t>Answer 11: B</a:t>
            </a:r>
            <a:endParaRPr lang="en-US" sz="3000" dirty="0"/>
          </a:p>
        </p:txBody>
      </p:sp>
      <p:sp>
        <p:nvSpPr>
          <p:cNvPr id="4" name="Objective chip"/>
          <p:cNvSpPr/>
          <p:nvPr/>
        </p:nvSpPr>
        <p:spPr>
          <a:xfrm>
            <a:off x="8899855" y="365760"/>
            <a:ext cx="2743200" cy="384048"/>
          </a:xfrm>
          <a:prstGeom prst="roundRect">
            <a:avLst>
              <a:gd name="adj" fmla="val 35714"/>
            </a:avLst>
          </a:prstGeom>
          <a:solidFill>
            <a:srgbClr val="E3EBF8"/>
          </a:solidFill>
          <a:ln/>
        </p:spPr>
        <p:txBody>
          <a:bodyPr wrap="square" lIns="25400" tIns="25400" rIns="25400" bIns="25400" rtlCol="0" anchor="ctr"/>
          <a:lstStyle/>
          <a:p>
            <a:pPr algn="ctr" indent="0" marL="0">
              <a:buNone/>
            </a:pPr>
            <a:r>
              <a:rPr lang="en-US" sz="800" b="1" dirty="0">
                <a:solidFill>
                  <a:srgbClr val="2F4F8A"/>
                </a:solidFill>
              </a:rPr>
              <a:t>Objectives: SO2 · SO4 · IO2.1 · IO2.2 · IO2.3 · IO2.5 · IO2.6</a:t>
            </a:r>
            <a:endParaRPr lang="en-US" sz="800" dirty="0"/>
          </a:p>
        </p:txBody>
      </p:sp>
      <p:sp>
        <p:nvSpPr>
          <p:cNvPr id="5" name="Footer"/>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1000" dirty="0">
                <a:solidFill>
                  <a:srgbClr val="666666"/>
                </a:solidFill>
              </a:rPr>
              <a:t>L04 · Musculoskeletal Pharmacology — Session 2</a:t>
            </a:r>
            <a:endParaRPr lang="en-US" sz="1000" dirty="0"/>
          </a:p>
        </p:txBody>
      </p:sp>
      <p:sp>
        <p:nvSpPr>
          <p:cNvPr id="6" name="Slide number"/>
          <p:cNvSpPr txBox="1"/>
          <p:nvPr/>
        </p:nvSpPr>
        <p:spPr>
          <a:xfrm>
            <a:off x="10728655" y="6419088"/>
            <a:ext cx="914400" cy="274320"/>
          </a:xfrm>
          <a:prstGeom prst="rect">
            <a:avLst/>
          </a:prstGeom>
          <a:noFill/>
          <a:ln/>
        </p:spPr>
        <p:txBody>
          <a:bodyPr wrap="square" lIns="0" tIns="0" rIns="0" bIns="0" rtlCol="0" anchor="ctr"/>
          <a:lstStyle/>
          <a:p>
            <a:pPr algn="r" indent="0" marL="0">
              <a:buNone/>
            </a:pPr>
            <a:r>
              <a:rPr lang="en-US" sz="1000" dirty="0">
                <a:solidFill>
                  <a:srgbClr val="666666"/>
                </a:solidFill>
              </a:rPr>
              <a:t>67</a:t>
            </a:r>
            <a:endParaRPr lang="en-US" sz="1000" dirty="0"/>
          </a:p>
        </p:txBody>
      </p:sp>
      <p:sp>
        <p:nvSpPr>
          <p:cNvPr id="7" name="Correct answer"/>
          <p:cNvSpPr/>
          <p:nvPr/>
        </p:nvSpPr>
        <p:spPr>
          <a:xfrm>
            <a:off x="548640" y="1325880"/>
            <a:ext cx="11094415" cy="548640"/>
          </a:xfrm>
          <a:prstGeom prst="roundRect">
            <a:avLst>
              <a:gd name="adj" fmla="val 16667"/>
            </a:avLst>
          </a:prstGeom>
          <a:solidFill>
            <a:srgbClr val="E2F0D9"/>
          </a:solidFill>
          <a:ln w="19050">
            <a:solidFill>
              <a:srgbClr val="548235"/>
            </a:solidFill>
            <a:prstDash val="solid"/>
          </a:ln>
        </p:spPr>
      </p:sp>
      <p:pic>
        <p:nvPicPr>
          <p:cNvPr id="8" name="Image 0" descr="preencoded.png">    </p:cNvPr>
          <p:cNvPicPr>
            <a:picLocks noChangeAspect="1"/>
          </p:cNvPicPr>
          <p:nvPr/>
        </p:nvPicPr>
        <p:blipFill>
          <a:blip r:embed="rId1"/>
          <a:stretch>
            <a:fillRect/>
          </a:stretch>
        </p:blipFill>
        <p:spPr>
          <a:xfrm>
            <a:off x="731520" y="1435608"/>
            <a:ext cx="329184" cy="329184"/>
          </a:xfrm>
          <a:prstGeom prst="rect">
            <a:avLst/>
          </a:prstGeom>
        </p:spPr>
      </p:pic>
      <p:sp>
        <p:nvSpPr>
          <p:cNvPr id="9" name="Text 6"/>
          <p:cNvSpPr txBox="1"/>
          <p:nvPr/>
        </p:nvSpPr>
        <p:spPr>
          <a:xfrm>
            <a:off x="1234440" y="1325880"/>
            <a:ext cx="10180015" cy="548640"/>
          </a:xfrm>
          <a:prstGeom prst="rect">
            <a:avLst/>
          </a:prstGeom>
          <a:noFill/>
          <a:ln/>
        </p:spPr>
        <p:txBody>
          <a:bodyPr wrap="square" lIns="0" tIns="0" rIns="0" bIns="0" rtlCol="0" anchor="ctr"/>
          <a:lstStyle/>
          <a:p>
            <a:pPr indent="0" marL="0">
              <a:buNone/>
            </a:pPr>
            <a:r>
              <a:rPr lang="en-US" sz="1600" b="1" dirty="0">
                <a:solidFill>
                  <a:srgbClr val="1F1F1F"/>
                </a:solidFill>
              </a:rPr>
              <a:t>B. </a:t>
            </a:r>
            <a:r>
              <a:rPr lang="en-US" sz="1600" b="1" dirty="0">
                <a:solidFill>
                  <a:srgbClr val="1F1F1F"/>
                </a:solidFill>
              </a:rPr>
              <a:t>Dantrolene</a:t>
            </a:r>
            <a:endParaRPr lang="en-US" sz="1600" dirty="0"/>
          </a:p>
        </p:txBody>
      </p:sp>
      <p:sp>
        <p:nvSpPr>
          <p:cNvPr id="10" name="Why correct"/>
          <p:cNvSpPr txBox="1"/>
          <p:nvPr/>
        </p:nvSpPr>
        <p:spPr>
          <a:xfrm>
            <a:off x="777240" y="2011680"/>
            <a:ext cx="10637215" cy="972312"/>
          </a:xfrm>
          <a:prstGeom prst="rect">
            <a:avLst/>
          </a:prstGeom>
          <a:noFill/>
          <a:ln/>
        </p:spPr>
        <p:txBody>
          <a:bodyPr wrap="square" lIns="0" tIns="0" rIns="0" bIns="0" rtlCol="0" anchor="t"/>
          <a:lstStyle/>
          <a:p>
            <a:pPr indent="0" marL="0">
              <a:buNone/>
            </a:pPr>
            <a:r>
              <a:rPr lang="en-US" sz="1600" dirty="0">
                <a:solidFill>
                  <a:srgbClr val="1F1F1F"/>
                </a:solidFill>
              </a:rPr>
              <a:t>Dantrolene decreases calcium release from the skeletal muscle sarcoplasmic reticulum, acting directly on the muscle fiber — unlike cyclobenzaprine, tizanidine, and baclofen, which all act within the CNS to reduce excitatory output to motor neurons (S26).</a:t>
            </a:r>
            <a:r>
              <a:rPr lang="en-US" sz="1100" dirty="0">
                <a:solidFill>
                  <a:srgbClr val="666666"/>
                </a:solidFill>
              </a:rPr>
              <a:t>  S24; S26; S34; SG U2-R11</a:t>
            </a:r>
            <a:endParaRPr lang="en-US" sz="1600" dirty="0"/>
          </a:p>
        </p:txBody>
      </p:sp>
      <p:sp>
        <p:nvSpPr>
          <p:cNvPr id="11" name="Why others wrong card"/>
          <p:cNvSpPr/>
          <p:nvPr/>
        </p:nvSpPr>
        <p:spPr>
          <a:xfrm>
            <a:off x="548640" y="3121152"/>
            <a:ext cx="11094415" cy="1704848"/>
          </a:xfrm>
          <a:prstGeom prst="roundRect">
            <a:avLst>
              <a:gd name="adj" fmla="val 5364"/>
            </a:avLst>
          </a:prstGeom>
          <a:solidFill>
            <a:srgbClr val="F2F4F7"/>
          </a:solidFill>
          <a:ln w="12700">
            <a:solidFill>
              <a:srgbClr val="F2F4F7"/>
            </a:solidFill>
            <a:prstDash val="solid"/>
          </a:ln>
        </p:spPr>
      </p:sp>
      <p:sp>
        <p:nvSpPr>
          <p:cNvPr id="12" name="Why others wrong"/>
          <p:cNvSpPr txBox="1"/>
          <p:nvPr/>
        </p:nvSpPr>
        <p:spPr>
          <a:xfrm>
            <a:off x="777240" y="3230880"/>
            <a:ext cx="10637215" cy="1521968"/>
          </a:xfrm>
          <a:prstGeom prst="rect">
            <a:avLst/>
          </a:prstGeom>
          <a:noFill/>
          <a:ln/>
        </p:spPr>
        <p:txBody>
          <a:bodyPr wrap="square" lIns="0" tIns="0" rIns="0" bIns="0" rtlCol="0" anchor="t"/>
          <a:lstStyle/>
          <a:p>
            <a:pPr indent="0" marL="0">
              <a:spcAft>
                <a:spcPts val="400"/>
              </a:spcAft>
              <a:buNone/>
            </a:pPr>
            <a:r>
              <a:rPr lang="en-US" sz="1600" b="1" dirty="0">
                <a:solidFill>
                  <a:srgbClr val="C00000"/>
                </a:solidFill>
              </a:rPr>
              <a:t>Why the other choices are wrong</a:t>
            </a:r>
            <a:endParaRPr lang="en-US" sz="1600" dirty="0"/>
          </a:p>
          <a:p>
            <a:pPr indent="0" marL="0">
              <a:buNone/>
            </a:pPr>
            <a:r>
              <a:rPr lang="en-US" sz="1600" b="1" dirty="0">
                <a:solidFill>
                  <a:srgbClr val="1F1F1F"/>
                </a:solidFill>
              </a:rPr>
              <a:t>A. Baclofen — </a:t>
            </a:r>
            <a:r>
              <a:rPr lang="en-US" sz="1600" dirty="0">
                <a:solidFill>
                  <a:srgbClr val="1F1F1F"/>
                </a:solidFill>
              </a:rPr>
              <a:t>GABA-B agonist in the spinal cord (S27).</a:t>
            </a:r>
            <a:endParaRPr lang="en-US" sz="1600" dirty="0"/>
          </a:p>
          <a:p>
            <a:pPr indent="0" marL="0">
              <a:buNone/>
            </a:pPr>
            <a:r>
              <a:rPr lang="en-US" sz="1600" b="1" dirty="0">
                <a:solidFill>
                  <a:srgbClr val="1F1F1F"/>
                </a:solidFill>
              </a:rPr>
              <a:t>C. Tizanidine — </a:t>
            </a:r>
            <a:r>
              <a:rPr lang="en-US" sz="1600" dirty="0">
                <a:solidFill>
                  <a:srgbClr val="1F1F1F"/>
                </a:solidFill>
              </a:rPr>
              <a:t>Central α2-adrenergic agonist (S29).</a:t>
            </a:r>
            <a:endParaRPr lang="en-US" sz="1600" dirty="0"/>
          </a:p>
          <a:p>
            <a:pPr indent="0" marL="0">
              <a:buNone/>
            </a:pPr>
            <a:r>
              <a:rPr lang="en-US" sz="1600" b="1" dirty="0">
                <a:solidFill>
                  <a:srgbClr val="1F1F1F"/>
                </a:solidFill>
              </a:rPr>
              <a:t>D. Carisoprodol — </a:t>
            </a:r>
            <a:r>
              <a:rPr lang="en-US" sz="1600" dirty="0">
                <a:solidFill>
                  <a:srgbClr val="1F1F1F"/>
                </a:solidFill>
              </a:rPr>
              <a:t>Centrally acting; metabolized to meprobamate (S33).</a:t>
            </a:r>
            <a:endParaRPr lang="en-US" sz="1600" dirty="0"/>
          </a:p>
          <a:p>
            <a:pPr indent="0" marL="0">
              <a:buNone/>
            </a:pPr>
            <a:r>
              <a:rPr lang="en-US" sz="1600" b="1" dirty="0">
                <a:solidFill>
                  <a:srgbClr val="1F1F1F"/>
                </a:solidFill>
              </a:rPr>
              <a:t>E. Cyclobenzaprine — </a:t>
            </a:r>
            <a:r>
              <a:rPr lang="en-US" sz="1600" dirty="0">
                <a:solidFill>
                  <a:srgbClr val="1F1F1F"/>
                </a:solidFill>
              </a:rPr>
              <a:t>Acts in the brainstem (S32).</a:t>
            </a:r>
            <a:endParaRPr lang="en-US" sz="1600"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bg>
      <p:bgPr>
        <a:solidFill>
          <a:srgbClr val="2F4F8A"/>
        </a:solidFill>
      </p:bgPr>
    </p:bg>
    <p:spTree>
      <p:nvGrpSpPr>
        <p:cNvPr id="1" name=""/>
        <p:cNvGrpSpPr/>
        <p:nvPr/>
      </p:nvGrpSpPr>
      <p:grpSpPr>
        <a:xfrm>
          <a:off x="0" y="0"/>
          <a:ext cx="0" cy="0"/>
          <a:chOff x="0" y="0"/>
          <a:chExt cx="0" cy="0"/>
        </a:xfrm>
      </p:grpSpPr>
      <p:sp>
        <p:nvSpPr>
          <p:cNvPr id="2" name="Text 0"/>
          <p:cNvSpPr txBox="1"/>
          <p:nvPr/>
        </p:nvSpPr>
        <p:spPr>
          <a:xfrm>
            <a:off x="548640" y="1463040"/>
            <a:ext cx="7315200" cy="365760"/>
          </a:xfrm>
          <a:prstGeom prst="rect">
            <a:avLst/>
          </a:prstGeom>
          <a:noFill/>
          <a:ln/>
        </p:spPr>
        <p:txBody>
          <a:bodyPr wrap="square" lIns="0" tIns="0" rIns="0" bIns="0" rtlCol="0" anchor="ctr"/>
          <a:lstStyle/>
          <a:p>
            <a:pPr indent="0" marL="0">
              <a:buNone/>
            </a:pPr>
            <a:r>
              <a:rPr lang="en-US" sz="1600" b="1" dirty="0">
                <a:solidFill>
                  <a:srgbClr val="D6E0F5"/>
                </a:solidFill>
              </a:rPr>
              <a:t>Drug class 3 of 4</a:t>
            </a:r>
            <a:endParaRPr lang="en-US" sz="1600" dirty="0"/>
          </a:p>
        </p:txBody>
      </p:sp>
      <p:sp>
        <p:nvSpPr>
          <p:cNvPr id="3" name="Title"/>
          <p:cNvSpPr txBox="1"/>
          <p:nvPr/>
        </p:nvSpPr>
        <p:spPr>
          <a:xfrm>
            <a:off x="548640" y="1874520"/>
            <a:ext cx="11094415" cy="1188720"/>
          </a:xfrm>
          <a:prstGeom prst="rect">
            <a:avLst/>
          </a:prstGeom>
          <a:noFill/>
          <a:ln/>
        </p:spPr>
        <p:txBody>
          <a:bodyPr wrap="square" lIns="0" tIns="0" rIns="0" bIns="0" rtlCol="0" anchor="t"/>
          <a:lstStyle/>
          <a:p>
            <a:pPr indent="0" marL="0">
              <a:buNone/>
            </a:pPr>
            <a:r>
              <a:rPr lang="en-US" sz="4400" b="1" dirty="0">
                <a:solidFill>
                  <a:srgbClr val="FFFFFF"/>
                </a:solidFill>
                <a:latin typeface="Calibri" pitchFamily="34" charset="0"/>
                <a:ea typeface="Calibri" pitchFamily="34" charset="-122"/>
                <a:cs typeface="Calibri" pitchFamily="34" charset="-120"/>
              </a:rPr>
              <a:t>Bone Pharmacology &amp; Osteoporosis</a:t>
            </a:r>
            <a:endParaRPr lang="en-US" sz="4400" dirty="0"/>
          </a:p>
        </p:txBody>
      </p:sp>
      <p:sp>
        <p:nvSpPr>
          <p:cNvPr id="4" name="Text 2"/>
          <p:cNvSpPr txBox="1"/>
          <p:nvPr/>
        </p:nvSpPr>
        <p:spPr>
          <a:xfrm>
            <a:off x="548640" y="3108960"/>
            <a:ext cx="9144000" cy="365760"/>
          </a:xfrm>
          <a:prstGeom prst="rect">
            <a:avLst/>
          </a:prstGeom>
          <a:noFill/>
          <a:ln/>
        </p:spPr>
        <p:txBody>
          <a:bodyPr wrap="square" lIns="0" tIns="0" rIns="0" bIns="0" rtlCol="0" anchor="ctr"/>
          <a:lstStyle/>
          <a:p>
            <a:pPr indent="0" marL="0">
              <a:buNone/>
            </a:pPr>
            <a:r>
              <a:rPr lang="en-US" sz="1800" dirty="0">
                <a:solidFill>
                  <a:srgbClr val="D6E0F5"/>
                </a:solidFill>
              </a:rPr>
              <a:t>Covers objectives: SO3 · SO4 · IO2.1 · IO2.2 · IO2.3 · IO2.4 · IO2.5 · IO2.6</a:t>
            </a:r>
            <a:endParaRPr lang="en-US" sz="1800" dirty="0"/>
          </a:p>
        </p:txBody>
      </p:sp>
      <p:sp>
        <p:nvSpPr>
          <p:cNvPr id="5" name="Shape 3"/>
          <p:cNvSpPr/>
          <p:nvPr/>
        </p:nvSpPr>
        <p:spPr>
          <a:xfrm>
            <a:off x="783321" y="4297680"/>
            <a:ext cx="640080" cy="640080"/>
          </a:xfrm>
          <a:prstGeom prst="ellipse">
            <a:avLst/>
          </a:prstGeom>
          <a:solidFill>
            <a:srgbClr val="44546A"/>
          </a:solidFill>
          <a:ln w="19050">
            <a:solidFill>
              <a:srgbClr val="FFFFFF"/>
            </a:solidFill>
            <a:prstDash val="solid"/>
          </a:ln>
        </p:spPr>
      </p:sp>
      <p:pic>
        <p:nvPicPr>
          <p:cNvPr id="6" name="Image 0" descr="preencoded.png">    </p:cNvPr>
          <p:cNvPicPr>
            <a:picLocks noChangeAspect="1"/>
          </p:cNvPicPr>
          <p:nvPr/>
        </p:nvPicPr>
        <p:blipFill>
          <a:blip r:embed="rId1"/>
          <a:stretch>
            <a:fillRect/>
          </a:stretch>
        </p:blipFill>
        <p:spPr>
          <a:xfrm>
            <a:off x="938769" y="4453128"/>
            <a:ext cx="329184" cy="329184"/>
          </a:xfrm>
          <a:prstGeom prst="rect">
            <a:avLst/>
          </a:prstGeom>
        </p:spPr>
      </p:pic>
      <p:sp>
        <p:nvSpPr>
          <p:cNvPr id="7" name="Text 4"/>
          <p:cNvSpPr txBox="1"/>
          <p:nvPr/>
        </p:nvSpPr>
        <p:spPr>
          <a:xfrm>
            <a:off x="594360" y="5029200"/>
            <a:ext cx="1018002" cy="640080"/>
          </a:xfrm>
          <a:prstGeom prst="rect">
            <a:avLst/>
          </a:prstGeom>
          <a:noFill/>
          <a:ln/>
        </p:spPr>
        <p:txBody>
          <a:bodyPr wrap="square" lIns="0" tIns="0" rIns="0" bIns="0" rtlCol="0" anchor="t"/>
          <a:lstStyle/>
          <a:p>
            <a:pPr algn="ctr" indent="0" marL="0">
              <a:buNone/>
            </a:pPr>
            <a:r>
              <a:rPr lang="en-US" sz="1000" dirty="0">
                <a:solidFill>
                  <a:srgbClr val="FFFFFF"/>
                </a:solidFill>
              </a:rPr>
              <a:t>Class</a:t>
            </a:r>
            <a:endParaRPr lang="en-US" sz="1000" dirty="0"/>
          </a:p>
        </p:txBody>
      </p:sp>
      <p:sp>
        <p:nvSpPr>
          <p:cNvPr id="8" name="Shape 5"/>
          <p:cNvSpPr/>
          <p:nvPr/>
        </p:nvSpPr>
        <p:spPr>
          <a:xfrm>
            <a:off x="1892762" y="4297680"/>
            <a:ext cx="640080" cy="640080"/>
          </a:xfrm>
          <a:prstGeom prst="ellipse">
            <a:avLst/>
          </a:prstGeom>
          <a:solidFill>
            <a:srgbClr val="4472C4"/>
          </a:solidFill>
          <a:ln w="19050">
            <a:solidFill>
              <a:srgbClr val="FFFFFF"/>
            </a:solidFill>
            <a:prstDash val="solid"/>
          </a:ln>
        </p:spPr>
      </p:sp>
      <p:pic>
        <p:nvPicPr>
          <p:cNvPr id="9" name="Image 1" descr="preencoded.png">    </p:cNvPr>
          <p:cNvPicPr>
            <a:picLocks noChangeAspect="1"/>
          </p:cNvPicPr>
          <p:nvPr/>
        </p:nvPicPr>
        <p:blipFill>
          <a:blip r:embed="rId2"/>
          <a:stretch>
            <a:fillRect/>
          </a:stretch>
        </p:blipFill>
        <p:spPr>
          <a:xfrm>
            <a:off x="2048210" y="4453128"/>
            <a:ext cx="329184" cy="329184"/>
          </a:xfrm>
          <a:prstGeom prst="rect">
            <a:avLst/>
          </a:prstGeom>
        </p:spPr>
      </p:pic>
      <p:sp>
        <p:nvSpPr>
          <p:cNvPr id="10" name="Text 6"/>
          <p:cNvSpPr txBox="1"/>
          <p:nvPr/>
        </p:nvSpPr>
        <p:spPr>
          <a:xfrm>
            <a:off x="1703802" y="5029200"/>
            <a:ext cx="1018002" cy="640080"/>
          </a:xfrm>
          <a:prstGeom prst="rect">
            <a:avLst/>
          </a:prstGeom>
          <a:noFill/>
          <a:ln/>
        </p:spPr>
        <p:txBody>
          <a:bodyPr wrap="square" lIns="0" tIns="0" rIns="0" bIns="0" rtlCol="0" anchor="t"/>
          <a:lstStyle/>
          <a:p>
            <a:pPr algn="ctr" indent="0" marL="0">
              <a:buNone/>
            </a:pPr>
            <a:r>
              <a:rPr lang="en-US" sz="1000" dirty="0">
                <a:solidFill>
                  <a:srgbClr val="FFFFFF"/>
                </a:solidFill>
              </a:rPr>
              <a:t>Prototype</a:t>
            </a:r>
            <a:endParaRPr lang="en-US" sz="1000" dirty="0"/>
          </a:p>
        </p:txBody>
      </p:sp>
      <p:sp>
        <p:nvSpPr>
          <p:cNvPr id="11" name="Shape 7"/>
          <p:cNvSpPr/>
          <p:nvPr/>
        </p:nvSpPr>
        <p:spPr>
          <a:xfrm>
            <a:off x="3002204" y="4297680"/>
            <a:ext cx="640080" cy="640080"/>
          </a:xfrm>
          <a:prstGeom prst="ellipse">
            <a:avLst/>
          </a:prstGeom>
          <a:solidFill>
            <a:srgbClr val="7030A0"/>
          </a:solidFill>
          <a:ln w="19050">
            <a:solidFill>
              <a:srgbClr val="FFFFFF"/>
            </a:solidFill>
            <a:prstDash val="solid"/>
          </a:ln>
        </p:spPr>
      </p:sp>
      <p:pic>
        <p:nvPicPr>
          <p:cNvPr id="12" name="Image 2" descr="preencoded.png">    </p:cNvPr>
          <p:cNvPicPr>
            <a:picLocks noChangeAspect="1"/>
          </p:cNvPicPr>
          <p:nvPr/>
        </p:nvPicPr>
        <p:blipFill>
          <a:blip r:embed="rId3"/>
          <a:stretch>
            <a:fillRect/>
          </a:stretch>
        </p:blipFill>
        <p:spPr>
          <a:xfrm>
            <a:off x="3157652" y="4453128"/>
            <a:ext cx="329184" cy="329184"/>
          </a:xfrm>
          <a:prstGeom prst="rect">
            <a:avLst/>
          </a:prstGeom>
        </p:spPr>
      </p:pic>
      <p:sp>
        <p:nvSpPr>
          <p:cNvPr id="13" name="Text 8"/>
          <p:cNvSpPr txBox="1"/>
          <p:nvPr/>
        </p:nvSpPr>
        <p:spPr>
          <a:xfrm>
            <a:off x="2813243" y="5029200"/>
            <a:ext cx="1018002" cy="640080"/>
          </a:xfrm>
          <a:prstGeom prst="rect">
            <a:avLst/>
          </a:prstGeom>
          <a:noFill/>
          <a:ln/>
        </p:spPr>
        <p:txBody>
          <a:bodyPr wrap="square" lIns="0" tIns="0" rIns="0" bIns="0" rtlCol="0" anchor="t"/>
          <a:lstStyle/>
          <a:p>
            <a:pPr algn="ctr" indent="0" marL="0">
              <a:buNone/>
            </a:pPr>
            <a:r>
              <a:rPr lang="en-US" sz="1000" dirty="0">
                <a:solidFill>
                  <a:srgbClr val="FFFFFF"/>
                </a:solidFill>
              </a:rPr>
              <a:t>Mechanism of action</a:t>
            </a:r>
            <a:endParaRPr lang="en-US" sz="1000" dirty="0"/>
          </a:p>
        </p:txBody>
      </p:sp>
      <p:sp>
        <p:nvSpPr>
          <p:cNvPr id="14" name="Shape 9"/>
          <p:cNvSpPr/>
          <p:nvPr/>
        </p:nvSpPr>
        <p:spPr>
          <a:xfrm>
            <a:off x="4111645" y="4297680"/>
            <a:ext cx="640080" cy="640080"/>
          </a:xfrm>
          <a:prstGeom prst="ellipse">
            <a:avLst/>
          </a:prstGeom>
          <a:solidFill>
            <a:srgbClr val="548235"/>
          </a:solidFill>
          <a:ln w="19050">
            <a:solidFill>
              <a:srgbClr val="FFFFFF"/>
            </a:solidFill>
            <a:prstDash val="solid"/>
          </a:ln>
        </p:spPr>
      </p:sp>
      <p:pic>
        <p:nvPicPr>
          <p:cNvPr id="15" name="Image 3" descr="preencoded.png">    </p:cNvPr>
          <p:cNvPicPr>
            <a:picLocks noChangeAspect="1"/>
          </p:cNvPicPr>
          <p:nvPr/>
        </p:nvPicPr>
        <p:blipFill>
          <a:blip r:embed="rId4"/>
          <a:stretch>
            <a:fillRect/>
          </a:stretch>
        </p:blipFill>
        <p:spPr>
          <a:xfrm>
            <a:off x="4267093" y="4453128"/>
            <a:ext cx="329184" cy="329184"/>
          </a:xfrm>
          <a:prstGeom prst="rect">
            <a:avLst/>
          </a:prstGeom>
        </p:spPr>
      </p:pic>
      <p:sp>
        <p:nvSpPr>
          <p:cNvPr id="16" name="Text 10"/>
          <p:cNvSpPr txBox="1"/>
          <p:nvPr/>
        </p:nvSpPr>
        <p:spPr>
          <a:xfrm>
            <a:off x="3922685" y="5029200"/>
            <a:ext cx="1018002" cy="640080"/>
          </a:xfrm>
          <a:prstGeom prst="rect">
            <a:avLst/>
          </a:prstGeom>
          <a:noFill/>
          <a:ln/>
        </p:spPr>
        <p:txBody>
          <a:bodyPr wrap="square" lIns="0" tIns="0" rIns="0" bIns="0" rtlCol="0" anchor="t"/>
          <a:lstStyle/>
          <a:p>
            <a:pPr algn="ctr" indent="0" marL="0">
              <a:buNone/>
            </a:pPr>
            <a:r>
              <a:rPr lang="en-US" sz="1000" dirty="0">
                <a:solidFill>
                  <a:srgbClr val="FFFFFF"/>
                </a:solidFill>
              </a:rPr>
              <a:t>Indications</a:t>
            </a:r>
            <a:endParaRPr lang="en-US" sz="1000" dirty="0"/>
          </a:p>
        </p:txBody>
      </p:sp>
      <p:sp>
        <p:nvSpPr>
          <p:cNvPr id="17" name="Shape 11"/>
          <p:cNvSpPr/>
          <p:nvPr/>
        </p:nvSpPr>
        <p:spPr>
          <a:xfrm>
            <a:off x="5221087" y="4297680"/>
            <a:ext cx="640080" cy="640080"/>
          </a:xfrm>
          <a:prstGeom prst="ellipse">
            <a:avLst/>
          </a:prstGeom>
          <a:solidFill>
            <a:srgbClr val="C55A11"/>
          </a:solidFill>
          <a:ln w="19050">
            <a:solidFill>
              <a:srgbClr val="FFFFFF"/>
            </a:solidFill>
            <a:prstDash val="solid"/>
          </a:ln>
        </p:spPr>
      </p:sp>
      <p:pic>
        <p:nvPicPr>
          <p:cNvPr id="18" name="Image 4" descr="preencoded.png">    </p:cNvPr>
          <p:cNvPicPr>
            <a:picLocks noChangeAspect="1"/>
          </p:cNvPicPr>
          <p:nvPr/>
        </p:nvPicPr>
        <p:blipFill>
          <a:blip r:embed="rId5"/>
          <a:stretch>
            <a:fillRect/>
          </a:stretch>
        </p:blipFill>
        <p:spPr>
          <a:xfrm>
            <a:off x="5376535" y="4453128"/>
            <a:ext cx="329184" cy="329184"/>
          </a:xfrm>
          <a:prstGeom prst="rect">
            <a:avLst/>
          </a:prstGeom>
        </p:spPr>
      </p:pic>
      <p:sp>
        <p:nvSpPr>
          <p:cNvPr id="19" name="Text 12"/>
          <p:cNvSpPr txBox="1"/>
          <p:nvPr/>
        </p:nvSpPr>
        <p:spPr>
          <a:xfrm>
            <a:off x="5032126" y="5029200"/>
            <a:ext cx="1018002" cy="640080"/>
          </a:xfrm>
          <a:prstGeom prst="rect">
            <a:avLst/>
          </a:prstGeom>
          <a:noFill/>
          <a:ln/>
        </p:spPr>
        <p:txBody>
          <a:bodyPr wrap="square" lIns="0" tIns="0" rIns="0" bIns="0" rtlCol="0" anchor="t"/>
          <a:lstStyle/>
          <a:p>
            <a:pPr algn="ctr" indent="0" marL="0">
              <a:buNone/>
            </a:pPr>
            <a:r>
              <a:rPr lang="en-US" sz="1000" dirty="0">
                <a:solidFill>
                  <a:srgbClr val="FFFFFF"/>
                </a:solidFill>
              </a:rPr>
              <a:t>Adverse effects</a:t>
            </a:r>
            <a:endParaRPr lang="en-US" sz="1000" dirty="0"/>
          </a:p>
        </p:txBody>
      </p:sp>
      <p:sp>
        <p:nvSpPr>
          <p:cNvPr id="20" name="Shape 13"/>
          <p:cNvSpPr/>
          <p:nvPr/>
        </p:nvSpPr>
        <p:spPr>
          <a:xfrm>
            <a:off x="6330528" y="4297680"/>
            <a:ext cx="640080" cy="640080"/>
          </a:xfrm>
          <a:prstGeom prst="ellipse">
            <a:avLst/>
          </a:prstGeom>
          <a:solidFill>
            <a:srgbClr val="C00000"/>
          </a:solidFill>
          <a:ln w="19050">
            <a:solidFill>
              <a:srgbClr val="FFFFFF"/>
            </a:solidFill>
            <a:prstDash val="solid"/>
          </a:ln>
        </p:spPr>
      </p:sp>
      <p:pic>
        <p:nvPicPr>
          <p:cNvPr id="21" name="Image 5" descr="preencoded.png">    </p:cNvPr>
          <p:cNvPicPr>
            <a:picLocks noChangeAspect="1"/>
          </p:cNvPicPr>
          <p:nvPr/>
        </p:nvPicPr>
        <p:blipFill>
          <a:blip r:embed="rId6"/>
          <a:stretch>
            <a:fillRect/>
          </a:stretch>
        </p:blipFill>
        <p:spPr>
          <a:xfrm>
            <a:off x="6485976" y="4453128"/>
            <a:ext cx="329184" cy="329184"/>
          </a:xfrm>
          <a:prstGeom prst="rect">
            <a:avLst/>
          </a:prstGeom>
        </p:spPr>
      </p:pic>
      <p:sp>
        <p:nvSpPr>
          <p:cNvPr id="22" name="Text 14"/>
          <p:cNvSpPr txBox="1"/>
          <p:nvPr/>
        </p:nvSpPr>
        <p:spPr>
          <a:xfrm>
            <a:off x="6141568" y="5029200"/>
            <a:ext cx="1018002" cy="640080"/>
          </a:xfrm>
          <a:prstGeom prst="rect">
            <a:avLst/>
          </a:prstGeom>
          <a:noFill/>
          <a:ln/>
        </p:spPr>
        <p:txBody>
          <a:bodyPr wrap="square" lIns="0" tIns="0" rIns="0" bIns="0" rtlCol="0" anchor="t"/>
          <a:lstStyle/>
          <a:p>
            <a:pPr algn="ctr" indent="0" marL="0">
              <a:buNone/>
            </a:pPr>
            <a:r>
              <a:rPr lang="en-US" sz="1000" dirty="0">
                <a:solidFill>
                  <a:srgbClr val="FFFFFF"/>
                </a:solidFill>
              </a:rPr>
              <a:t>Contraindications</a:t>
            </a:r>
            <a:endParaRPr lang="en-US" sz="1000" dirty="0"/>
          </a:p>
        </p:txBody>
      </p:sp>
      <p:sp>
        <p:nvSpPr>
          <p:cNvPr id="23" name="Shape 15"/>
          <p:cNvSpPr/>
          <p:nvPr/>
        </p:nvSpPr>
        <p:spPr>
          <a:xfrm>
            <a:off x="7439970" y="4297680"/>
            <a:ext cx="640080" cy="640080"/>
          </a:xfrm>
          <a:prstGeom prst="ellipse">
            <a:avLst/>
          </a:prstGeom>
          <a:solidFill>
            <a:srgbClr val="7F6000"/>
          </a:solidFill>
          <a:ln w="19050">
            <a:solidFill>
              <a:srgbClr val="FFFFFF"/>
            </a:solidFill>
            <a:prstDash val="solid"/>
          </a:ln>
        </p:spPr>
      </p:sp>
      <p:pic>
        <p:nvPicPr>
          <p:cNvPr id="24" name="Image 6" descr="preencoded.png">    </p:cNvPr>
          <p:cNvPicPr>
            <a:picLocks noChangeAspect="1"/>
          </p:cNvPicPr>
          <p:nvPr/>
        </p:nvPicPr>
        <p:blipFill>
          <a:blip r:embed="rId7"/>
          <a:stretch>
            <a:fillRect/>
          </a:stretch>
        </p:blipFill>
        <p:spPr>
          <a:xfrm>
            <a:off x="7595418" y="4453128"/>
            <a:ext cx="329184" cy="329184"/>
          </a:xfrm>
          <a:prstGeom prst="rect">
            <a:avLst/>
          </a:prstGeom>
        </p:spPr>
      </p:pic>
      <p:sp>
        <p:nvSpPr>
          <p:cNvPr id="25" name="Text 16"/>
          <p:cNvSpPr txBox="1"/>
          <p:nvPr/>
        </p:nvSpPr>
        <p:spPr>
          <a:xfrm>
            <a:off x="7251009" y="5029200"/>
            <a:ext cx="1018002" cy="640080"/>
          </a:xfrm>
          <a:prstGeom prst="rect">
            <a:avLst/>
          </a:prstGeom>
          <a:noFill/>
          <a:ln/>
        </p:spPr>
        <p:txBody>
          <a:bodyPr wrap="square" lIns="0" tIns="0" rIns="0" bIns="0" rtlCol="0" anchor="t"/>
          <a:lstStyle/>
          <a:p>
            <a:pPr algn="ctr" indent="0" marL="0">
              <a:buNone/>
            </a:pPr>
            <a:r>
              <a:rPr lang="en-US" sz="1000" dirty="0">
                <a:solidFill>
                  <a:srgbClr val="FFFFFF"/>
                </a:solidFill>
              </a:rPr>
              <a:t>Drug interactions</a:t>
            </a:r>
            <a:endParaRPr lang="en-US" sz="1000" dirty="0"/>
          </a:p>
        </p:txBody>
      </p:sp>
      <p:sp>
        <p:nvSpPr>
          <p:cNvPr id="26" name="Shape 17"/>
          <p:cNvSpPr/>
          <p:nvPr/>
        </p:nvSpPr>
        <p:spPr>
          <a:xfrm>
            <a:off x="8549411" y="4297680"/>
            <a:ext cx="640080" cy="640080"/>
          </a:xfrm>
          <a:prstGeom prst="ellipse">
            <a:avLst/>
          </a:prstGeom>
          <a:solidFill>
            <a:srgbClr val="2E75B6"/>
          </a:solidFill>
          <a:ln w="19050">
            <a:solidFill>
              <a:srgbClr val="FFFFFF"/>
            </a:solidFill>
            <a:prstDash val="solid"/>
          </a:ln>
        </p:spPr>
      </p:sp>
      <p:pic>
        <p:nvPicPr>
          <p:cNvPr id="27" name="Image 7" descr="preencoded.png">    </p:cNvPr>
          <p:cNvPicPr>
            <a:picLocks noChangeAspect="1"/>
          </p:cNvPicPr>
          <p:nvPr/>
        </p:nvPicPr>
        <p:blipFill>
          <a:blip r:embed="rId8"/>
          <a:stretch>
            <a:fillRect/>
          </a:stretch>
        </p:blipFill>
        <p:spPr>
          <a:xfrm>
            <a:off x="8704859" y="4453128"/>
            <a:ext cx="329184" cy="329184"/>
          </a:xfrm>
          <a:prstGeom prst="rect">
            <a:avLst/>
          </a:prstGeom>
        </p:spPr>
      </p:pic>
      <p:sp>
        <p:nvSpPr>
          <p:cNvPr id="28" name="Text 18"/>
          <p:cNvSpPr txBox="1"/>
          <p:nvPr/>
        </p:nvSpPr>
        <p:spPr>
          <a:xfrm>
            <a:off x="8360451" y="5029200"/>
            <a:ext cx="1018002" cy="640080"/>
          </a:xfrm>
          <a:prstGeom prst="rect">
            <a:avLst/>
          </a:prstGeom>
          <a:noFill/>
          <a:ln/>
        </p:spPr>
        <p:txBody>
          <a:bodyPr wrap="square" lIns="0" tIns="0" rIns="0" bIns="0" rtlCol="0" anchor="t"/>
          <a:lstStyle/>
          <a:p>
            <a:pPr algn="ctr" indent="0" marL="0">
              <a:buNone/>
            </a:pPr>
            <a:r>
              <a:rPr lang="en-US" sz="1000" dirty="0">
                <a:solidFill>
                  <a:srgbClr val="FFFFFF"/>
                </a:solidFill>
              </a:rPr>
              <a:t>Pharmacokinetics</a:t>
            </a:r>
            <a:endParaRPr lang="en-US" sz="1000" dirty="0"/>
          </a:p>
        </p:txBody>
      </p:sp>
      <p:sp>
        <p:nvSpPr>
          <p:cNvPr id="29" name="Shape 19"/>
          <p:cNvSpPr/>
          <p:nvPr/>
        </p:nvSpPr>
        <p:spPr>
          <a:xfrm>
            <a:off x="9658853" y="4297680"/>
            <a:ext cx="640080" cy="640080"/>
          </a:xfrm>
          <a:prstGeom prst="ellipse">
            <a:avLst/>
          </a:prstGeom>
          <a:solidFill>
            <a:srgbClr val="1F7A7A"/>
          </a:solidFill>
          <a:ln w="19050">
            <a:solidFill>
              <a:srgbClr val="FFFFFF"/>
            </a:solidFill>
            <a:prstDash val="solid"/>
          </a:ln>
        </p:spPr>
      </p:sp>
      <p:pic>
        <p:nvPicPr>
          <p:cNvPr id="30" name="Image 8" descr="preencoded.png">    </p:cNvPr>
          <p:cNvPicPr>
            <a:picLocks noChangeAspect="1"/>
          </p:cNvPicPr>
          <p:nvPr/>
        </p:nvPicPr>
        <p:blipFill>
          <a:blip r:embed="rId9"/>
          <a:stretch>
            <a:fillRect/>
          </a:stretch>
        </p:blipFill>
        <p:spPr>
          <a:xfrm>
            <a:off x="9814301" y="4453128"/>
            <a:ext cx="329184" cy="329184"/>
          </a:xfrm>
          <a:prstGeom prst="rect">
            <a:avLst/>
          </a:prstGeom>
        </p:spPr>
      </p:pic>
      <p:sp>
        <p:nvSpPr>
          <p:cNvPr id="31" name="Text 20"/>
          <p:cNvSpPr txBox="1"/>
          <p:nvPr/>
        </p:nvSpPr>
        <p:spPr>
          <a:xfrm>
            <a:off x="9469892" y="5029200"/>
            <a:ext cx="1018002" cy="640080"/>
          </a:xfrm>
          <a:prstGeom prst="rect">
            <a:avLst/>
          </a:prstGeom>
          <a:noFill/>
          <a:ln/>
        </p:spPr>
        <p:txBody>
          <a:bodyPr wrap="square" lIns="0" tIns="0" rIns="0" bIns="0" rtlCol="0" anchor="t"/>
          <a:lstStyle/>
          <a:p>
            <a:pPr algn="ctr" indent="0" marL="0">
              <a:buNone/>
            </a:pPr>
            <a:r>
              <a:rPr lang="en-US" sz="1000" dirty="0">
                <a:solidFill>
                  <a:srgbClr val="FFFFFF"/>
                </a:solidFill>
              </a:rPr>
              <a:t>Monitoring</a:t>
            </a:r>
            <a:endParaRPr lang="en-US" sz="1000" dirty="0"/>
          </a:p>
        </p:txBody>
      </p:sp>
      <p:sp>
        <p:nvSpPr>
          <p:cNvPr id="32" name="Shape 21"/>
          <p:cNvSpPr/>
          <p:nvPr/>
        </p:nvSpPr>
        <p:spPr>
          <a:xfrm>
            <a:off x="10768294" y="4297680"/>
            <a:ext cx="640080" cy="640080"/>
          </a:xfrm>
          <a:prstGeom prst="ellipse">
            <a:avLst/>
          </a:prstGeom>
          <a:solidFill>
            <a:srgbClr val="2E75B6"/>
          </a:solidFill>
          <a:ln w="19050">
            <a:solidFill>
              <a:srgbClr val="FFFFFF"/>
            </a:solidFill>
            <a:prstDash val="solid"/>
          </a:ln>
        </p:spPr>
      </p:sp>
      <p:pic>
        <p:nvPicPr>
          <p:cNvPr id="33" name="Image 9" descr="preencoded.png">    </p:cNvPr>
          <p:cNvPicPr>
            <a:picLocks noChangeAspect="1"/>
          </p:cNvPicPr>
          <p:nvPr/>
        </p:nvPicPr>
        <p:blipFill>
          <a:blip r:embed="rId10"/>
          <a:stretch>
            <a:fillRect/>
          </a:stretch>
        </p:blipFill>
        <p:spPr>
          <a:xfrm>
            <a:off x="10923742" y="4453128"/>
            <a:ext cx="329184" cy="329184"/>
          </a:xfrm>
          <a:prstGeom prst="rect">
            <a:avLst/>
          </a:prstGeom>
        </p:spPr>
      </p:pic>
      <p:sp>
        <p:nvSpPr>
          <p:cNvPr id="34" name="Text 22"/>
          <p:cNvSpPr txBox="1"/>
          <p:nvPr/>
        </p:nvSpPr>
        <p:spPr>
          <a:xfrm>
            <a:off x="10579334" y="5029200"/>
            <a:ext cx="1018002" cy="640080"/>
          </a:xfrm>
          <a:prstGeom prst="rect">
            <a:avLst/>
          </a:prstGeom>
          <a:noFill/>
          <a:ln/>
        </p:spPr>
        <p:txBody>
          <a:bodyPr wrap="square" lIns="0" tIns="0" rIns="0" bIns="0" rtlCol="0" anchor="t"/>
          <a:lstStyle/>
          <a:p>
            <a:pPr algn="ctr" indent="0" marL="0">
              <a:buNone/>
            </a:pPr>
            <a:r>
              <a:rPr lang="en-US" sz="1000" dirty="0">
                <a:solidFill>
                  <a:srgbClr val="FFFFFF"/>
                </a:solidFill>
              </a:rPr>
              <a:t>Clinical pearls</a:t>
            </a:r>
            <a:endParaRPr lang="en-US" sz="1000" dirty="0"/>
          </a:p>
        </p:txBody>
      </p:sp>
      <p:sp>
        <p:nvSpPr>
          <p:cNvPr id="35" name="Text 23"/>
          <p:cNvSpPr txBox="1"/>
          <p:nvPr/>
        </p:nvSpPr>
        <p:spPr>
          <a:xfrm>
            <a:off x="10728655" y="6419088"/>
            <a:ext cx="914400" cy="274320"/>
          </a:xfrm>
          <a:prstGeom prst="rect">
            <a:avLst/>
          </a:prstGeom>
          <a:noFill/>
          <a:ln/>
        </p:spPr>
        <p:txBody>
          <a:bodyPr wrap="square" lIns="0" tIns="0" rIns="0" bIns="0" rtlCol="0" anchor="ctr"/>
          <a:lstStyle/>
          <a:p>
            <a:pPr algn="r" indent="0" marL="0">
              <a:buNone/>
            </a:pPr>
            <a:r>
              <a:rPr lang="en-US" sz="1000" dirty="0">
                <a:solidFill>
                  <a:srgbClr val="D6E0F5"/>
                </a:solidFill>
              </a:rPr>
              <a:t>68</a:t>
            </a:r>
            <a:endParaRPr lang="en-US" sz="1000"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bg>
      <p:bgPr>
        <a:solidFill>
          <a:srgbClr val="FFFFFF"/>
        </a:solidFill>
      </p:bgPr>
    </p:bg>
    <p:spTree>
      <p:nvGrpSpPr>
        <p:cNvPr id="1" name=""/>
        <p:cNvGrpSpPr/>
        <p:nvPr/>
      </p:nvGrpSpPr>
      <p:grpSpPr>
        <a:xfrm>
          <a:off x="0" y="0"/>
          <a:ext cx="0" cy="0"/>
          <a:chOff x="0" y="0"/>
          <a:chExt cx="0" cy="0"/>
        </a:xfrm>
      </p:grpSpPr>
      <p:sp>
        <p:nvSpPr>
          <p:cNvPr id="2" name="Kicker"/>
          <p:cNvSpPr txBox="1"/>
          <p:nvPr/>
        </p:nvSpPr>
        <p:spPr>
          <a:xfrm>
            <a:off x="548640" y="292608"/>
            <a:ext cx="8076895" cy="274320"/>
          </a:xfrm>
          <a:prstGeom prst="rect">
            <a:avLst/>
          </a:prstGeom>
          <a:noFill/>
          <a:ln/>
        </p:spPr>
        <p:txBody>
          <a:bodyPr wrap="square" lIns="0" tIns="0" rIns="0" bIns="0" rtlCol="0" anchor="ctr"/>
          <a:lstStyle/>
          <a:p>
            <a:pPr indent="0" marL="0">
              <a:buNone/>
            </a:pPr>
            <a:r>
              <a:rPr lang="en-US" sz="1200" b="1" spc="100" kern="0" dirty="0">
                <a:solidFill>
                  <a:srgbClr val="4472C4"/>
                </a:solidFill>
              </a:rPr>
              <a:t>BONE PHARMACOLOGY &amp; OSTEOPOROSIS</a:t>
            </a:r>
            <a:endParaRPr lang="en-US" sz="1200" dirty="0"/>
          </a:p>
        </p:txBody>
      </p:sp>
      <p:sp>
        <p:nvSpPr>
          <p:cNvPr id="3" name="Title"/>
          <p:cNvSpPr txBox="1"/>
          <p:nvPr/>
        </p:nvSpPr>
        <p:spPr>
          <a:xfrm>
            <a:off x="548640" y="566928"/>
            <a:ext cx="8076895" cy="713232"/>
          </a:xfrm>
          <a:prstGeom prst="rect">
            <a:avLst/>
          </a:prstGeom>
          <a:noFill/>
          <a:ln/>
        </p:spPr>
        <p:txBody>
          <a:bodyPr wrap="square" lIns="0" tIns="0" rIns="0" bIns="0" rtlCol="0" anchor="t"/>
          <a:lstStyle/>
          <a:p>
            <a:pPr indent="0" marL="0">
              <a:buNone/>
            </a:pPr>
            <a:r>
              <a:rPr lang="en-US" sz="3000" b="1" dirty="0">
                <a:solidFill>
                  <a:srgbClr val="1F1F1F"/>
                </a:solidFill>
                <a:latin typeface="Calibri" pitchFamily="34" charset="0"/>
                <a:ea typeface="Calibri" pitchFamily="34" charset="-122"/>
                <a:cs typeface="Calibri" pitchFamily="34" charset="-120"/>
              </a:rPr>
              <a:t>Class</a:t>
            </a:r>
            <a:endParaRPr lang="en-US" sz="3000" dirty="0"/>
          </a:p>
        </p:txBody>
      </p:sp>
      <p:sp>
        <p:nvSpPr>
          <p:cNvPr id="4" name="Objective chip"/>
          <p:cNvSpPr/>
          <p:nvPr/>
        </p:nvSpPr>
        <p:spPr>
          <a:xfrm>
            <a:off x="8899855" y="365760"/>
            <a:ext cx="2743200" cy="384048"/>
          </a:xfrm>
          <a:prstGeom prst="roundRect">
            <a:avLst>
              <a:gd name="adj" fmla="val 35714"/>
            </a:avLst>
          </a:prstGeom>
          <a:solidFill>
            <a:srgbClr val="E3EBF8"/>
          </a:solidFill>
          <a:ln/>
        </p:spPr>
        <p:txBody>
          <a:bodyPr wrap="square" lIns="25400" tIns="25400" rIns="25400" bIns="25400" rtlCol="0" anchor="ctr"/>
          <a:lstStyle/>
          <a:p>
            <a:pPr algn="ctr" indent="0" marL="0">
              <a:buNone/>
            </a:pPr>
            <a:r>
              <a:rPr lang="en-US" sz="800" b="1" dirty="0">
                <a:solidFill>
                  <a:srgbClr val="2F4F8A"/>
                </a:solidFill>
              </a:rPr>
              <a:t>Objectives: SO3 · SO4 · IO2.1 · IO2.2 · IO2.3 · IO2.4 · IO2.5 · IO2.6</a:t>
            </a:r>
            <a:endParaRPr lang="en-US" sz="800" dirty="0"/>
          </a:p>
        </p:txBody>
      </p:sp>
      <p:sp>
        <p:nvSpPr>
          <p:cNvPr id="5" name="Footer"/>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1000" dirty="0">
                <a:solidFill>
                  <a:srgbClr val="666666"/>
                </a:solidFill>
              </a:rPr>
              <a:t>L04 · Musculoskeletal Pharmacology — Session 2</a:t>
            </a:r>
            <a:endParaRPr lang="en-US" sz="1000" dirty="0"/>
          </a:p>
        </p:txBody>
      </p:sp>
      <p:sp>
        <p:nvSpPr>
          <p:cNvPr id="6" name="Slide number"/>
          <p:cNvSpPr txBox="1"/>
          <p:nvPr/>
        </p:nvSpPr>
        <p:spPr>
          <a:xfrm>
            <a:off x="10728655" y="6419088"/>
            <a:ext cx="914400" cy="274320"/>
          </a:xfrm>
          <a:prstGeom prst="rect">
            <a:avLst/>
          </a:prstGeom>
          <a:noFill/>
          <a:ln/>
        </p:spPr>
        <p:txBody>
          <a:bodyPr wrap="square" lIns="0" tIns="0" rIns="0" bIns="0" rtlCol="0" anchor="ctr"/>
          <a:lstStyle/>
          <a:p>
            <a:pPr algn="r" indent="0" marL="0">
              <a:buNone/>
            </a:pPr>
            <a:r>
              <a:rPr lang="en-US" sz="1000" dirty="0">
                <a:solidFill>
                  <a:srgbClr val="666666"/>
                </a:solidFill>
              </a:rPr>
              <a:t>69</a:t>
            </a:r>
            <a:endParaRPr lang="en-US" sz="1000" dirty="0"/>
          </a:p>
        </p:txBody>
      </p:sp>
      <p:sp>
        <p:nvSpPr>
          <p:cNvPr id="7" name="Class (1/3) card"/>
          <p:cNvSpPr/>
          <p:nvPr/>
        </p:nvSpPr>
        <p:spPr>
          <a:xfrm>
            <a:off x="548640" y="1325880"/>
            <a:ext cx="11094415" cy="3442716"/>
          </a:xfrm>
          <a:prstGeom prst="roundRect">
            <a:avLst>
              <a:gd name="adj" fmla="val 3187"/>
            </a:avLst>
          </a:prstGeom>
          <a:solidFill>
            <a:srgbClr val="F2F4F7"/>
          </a:solidFill>
          <a:ln w="12700">
            <a:solidFill>
              <a:srgbClr val="F2F4F7"/>
            </a:solidFill>
            <a:prstDash val="solid"/>
          </a:ln>
        </p:spPr>
      </p:sp>
      <p:sp>
        <p:nvSpPr>
          <p:cNvPr id="8" name="Class (1/3) icon circle"/>
          <p:cNvSpPr/>
          <p:nvPr/>
        </p:nvSpPr>
        <p:spPr>
          <a:xfrm>
            <a:off x="777240" y="1508760"/>
            <a:ext cx="438912" cy="438912"/>
          </a:xfrm>
          <a:prstGeom prst="ellipse">
            <a:avLst/>
          </a:prstGeom>
          <a:solidFill>
            <a:srgbClr val="44546A"/>
          </a:solidFill>
          <a:ln w="12700">
            <a:solidFill>
              <a:srgbClr val="44546A"/>
            </a:solidFill>
            <a:prstDash val="solid"/>
          </a:ln>
        </p:spPr>
      </p:sp>
      <p:pic>
        <p:nvPicPr>
          <p:cNvPr id="9" name="Class (1/3) icon" descr="preencoded.png">    </p:cNvPr>
          <p:cNvPicPr>
            <a:picLocks noChangeAspect="1"/>
          </p:cNvPicPr>
          <p:nvPr/>
        </p:nvPicPr>
        <p:blipFill>
          <a:blip r:embed="rId1"/>
          <a:stretch>
            <a:fillRect/>
          </a:stretch>
        </p:blipFill>
        <p:spPr>
          <a:xfrm>
            <a:off x="877824" y="1609344"/>
            <a:ext cx="237744" cy="237744"/>
          </a:xfrm>
          <a:prstGeom prst="rect">
            <a:avLst/>
          </a:prstGeom>
        </p:spPr>
      </p:pic>
      <p:sp>
        <p:nvSpPr>
          <p:cNvPr id="10" name="Class (1/3) heading"/>
          <p:cNvSpPr txBox="1"/>
          <p:nvPr/>
        </p:nvSpPr>
        <p:spPr>
          <a:xfrm>
            <a:off x="1353312" y="1508760"/>
            <a:ext cx="10088575" cy="438912"/>
          </a:xfrm>
          <a:prstGeom prst="rect">
            <a:avLst/>
          </a:prstGeom>
          <a:noFill/>
          <a:ln/>
        </p:spPr>
        <p:txBody>
          <a:bodyPr wrap="square" lIns="0" tIns="0" rIns="0" bIns="0" rtlCol="0" anchor="ctr"/>
          <a:lstStyle/>
          <a:p>
            <a:pPr indent="0" marL="0">
              <a:buNone/>
            </a:pPr>
            <a:r>
              <a:rPr lang="en-US" sz="1800" b="1" dirty="0">
                <a:solidFill>
                  <a:srgbClr val="44546A"/>
                </a:solidFill>
              </a:rPr>
              <a:t>Class (1/3)</a:t>
            </a:r>
            <a:endParaRPr lang="en-US" sz="1800" dirty="0"/>
          </a:p>
        </p:txBody>
      </p:sp>
      <p:sp>
        <p:nvSpPr>
          <p:cNvPr id="11" name="Class (1/3) body"/>
          <p:cNvSpPr txBox="1"/>
          <p:nvPr/>
        </p:nvSpPr>
        <p:spPr>
          <a:xfrm>
            <a:off x="777240" y="2075688"/>
            <a:ext cx="10637215" cy="2574036"/>
          </a:xfrm>
          <a:prstGeom prst="rect">
            <a:avLst/>
          </a:prstGeom>
          <a:noFill/>
          <a:ln/>
        </p:spPr>
        <p:txBody>
          <a:bodyPr wrap="square" lIns="0" tIns="0" rIns="0" bIns="0" rtlCol="0" anchor="t"/>
          <a:lstStyle/>
          <a:p>
            <a:pPr marL="228600" indent="-228600">
              <a:spcAft>
                <a:spcPts val="800"/>
              </a:spcAft>
              <a:buSzPct val="100000"/>
              <a:buChar char="•"/>
            </a:pPr>
            <a:r>
              <a:rPr lang="en-US" sz="1800" dirty="0">
                <a:solidFill>
                  <a:srgbClr val="1F1F1F"/>
                </a:solidFill>
              </a:rPr>
              <a:t>Bone pharmacology is about </a:t>
            </a:r>
            <a:r>
              <a:rPr lang="en-US" sz="1800" b="1" dirty="0">
                <a:solidFill>
                  <a:srgbClr val="1F1F1F"/>
                </a:solidFill>
              </a:rPr>
              <a:t>balancing bone formation and bone resorption</a:t>
            </a:r>
            <a:r>
              <a:rPr lang="en-US" sz="1800" dirty="0">
                <a:solidFill>
                  <a:srgbClr val="1F1F1F"/>
                </a:solidFill>
              </a:rPr>
              <a:t>.</a:t>
            </a:r>
            <a:r>
              <a:rPr lang="en-US" sz="1300" dirty="0">
                <a:solidFill>
                  <a:srgbClr val="666666"/>
                </a:solidFill>
              </a:rPr>
              <a:t>  S39; S67</a:t>
            </a:r>
            <a:endParaRPr lang="en-US" sz="1800" dirty="0"/>
          </a:p>
          <a:p>
            <a:pPr marL="228600" indent="-228600">
              <a:spcAft>
                <a:spcPts val="800"/>
              </a:spcAft>
              <a:buSzPct val="100000"/>
              <a:buChar char="•"/>
            </a:pPr>
            <a:r>
              <a:rPr lang="en-US" sz="1800" b="1" dirty="0">
                <a:solidFill>
                  <a:srgbClr val="1F1F1F"/>
                </a:solidFill>
              </a:rPr>
              <a:t>Osteoblasts</a:t>
            </a:r>
            <a:r>
              <a:rPr lang="en-US" sz="1800" dirty="0">
                <a:solidFill>
                  <a:srgbClr val="1F1F1F"/>
                </a:solidFill>
              </a:rPr>
              <a:t> build new bone matrix (promoted by several osteoporosis therapies); </a:t>
            </a:r>
            <a:r>
              <a:rPr lang="en-US" sz="1800" b="1" dirty="0">
                <a:solidFill>
                  <a:srgbClr val="1F1F1F"/>
                </a:solidFill>
              </a:rPr>
              <a:t>osteoclasts</a:t>
            </a:r>
            <a:r>
              <a:rPr lang="en-US" sz="1800" dirty="0">
                <a:solidFill>
                  <a:srgbClr val="1F1F1F"/>
                </a:solidFill>
              </a:rPr>
              <a:t> resorb existing bone (suppressed by most osteoporosis therapies).</a:t>
            </a:r>
            <a:r>
              <a:rPr lang="en-US" sz="1300" dirty="0">
                <a:solidFill>
                  <a:srgbClr val="666666"/>
                </a:solidFill>
              </a:rPr>
              <a:t>  S40</a:t>
            </a:r>
            <a:endParaRPr lang="en-US" sz="1800" dirty="0"/>
          </a:p>
          <a:p>
            <a:pPr marL="228600" indent="-228600">
              <a:spcAft>
                <a:spcPts val="800"/>
              </a:spcAft>
              <a:buSzPct val="100000"/>
              <a:buChar char="•"/>
            </a:pPr>
            <a:r>
              <a:rPr lang="en-US" sz="1800" dirty="0">
                <a:solidFill>
                  <a:srgbClr val="1F1F1F"/>
                </a:solidFill>
              </a:rPr>
              <a:t>Nearly every osteoporosis drug shifts this balance one way or the other — slowing osteoclasts or stimulating osteoblasts.</a:t>
            </a:r>
            <a:r>
              <a:rPr lang="en-US" sz="1300" dirty="0">
                <a:solidFill>
                  <a:srgbClr val="666666"/>
                </a:solidFill>
              </a:rPr>
              <a:t>  S40 (notes)</a:t>
            </a:r>
            <a:endParaRPr lang="en-US" sz="1800" dirty="0"/>
          </a:p>
          <a:p>
            <a:pPr marL="228600" indent="-228600">
              <a:spcAft>
                <a:spcPts val="800"/>
              </a:spcAft>
              <a:buSzPct val="100000"/>
              <a:buChar char="•"/>
            </a:pPr>
            <a:r>
              <a:rPr lang="en-US" sz="1800" b="1" dirty="0">
                <a:solidFill>
                  <a:srgbClr val="1F1F1F"/>
                </a:solidFill>
              </a:rPr>
              <a:t>RANKL/OPG:</a:t>
            </a:r>
            <a:r>
              <a:rPr lang="en-US" sz="1800" dirty="0">
                <a:solidFill>
                  <a:srgbClr val="1F1F1F"/>
                </a:solidFill>
              </a:rPr>
              <a:t> osteoblasts or stromal cells express RANKL → RANKL binds RANK on osteoclast precursors → osteoclast differentiation and activation → bone resorption releases calcium.</a:t>
            </a:r>
            <a:r>
              <a:rPr lang="en-US" sz="1300" dirty="0">
                <a:solidFill>
                  <a:srgbClr val="666666"/>
                </a:solidFill>
              </a:rPr>
              <a:t>  S41</a:t>
            </a:r>
            <a:endParaRPr lang="en-US" sz="1800"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bg>
      <p:bgPr>
        <a:solidFill>
          <a:srgbClr val="FFFFFF"/>
        </a:solidFill>
      </p:bgPr>
    </p:bg>
    <p:spTree>
      <p:nvGrpSpPr>
        <p:cNvPr id="1" name=""/>
        <p:cNvGrpSpPr/>
        <p:nvPr/>
      </p:nvGrpSpPr>
      <p:grpSpPr>
        <a:xfrm>
          <a:off x="0" y="0"/>
          <a:ext cx="0" cy="0"/>
          <a:chOff x="0" y="0"/>
          <a:chExt cx="0" cy="0"/>
        </a:xfrm>
      </p:grpSpPr>
      <p:sp>
        <p:nvSpPr>
          <p:cNvPr id="2" name="Kicker"/>
          <p:cNvSpPr txBox="1"/>
          <p:nvPr/>
        </p:nvSpPr>
        <p:spPr>
          <a:xfrm>
            <a:off x="548640" y="292608"/>
            <a:ext cx="8076895" cy="274320"/>
          </a:xfrm>
          <a:prstGeom prst="rect">
            <a:avLst/>
          </a:prstGeom>
          <a:noFill/>
          <a:ln/>
        </p:spPr>
        <p:txBody>
          <a:bodyPr wrap="square" lIns="0" tIns="0" rIns="0" bIns="0" rtlCol="0" anchor="ctr"/>
          <a:lstStyle/>
          <a:p>
            <a:pPr indent="0" marL="0">
              <a:buNone/>
            </a:pPr>
            <a:r>
              <a:rPr lang="en-US" sz="1200" b="1" spc="100" kern="0" dirty="0">
                <a:solidFill>
                  <a:srgbClr val="4472C4"/>
                </a:solidFill>
              </a:rPr>
              <a:t>BONE PHARMACOLOGY &amp; OSTEOPOROSIS</a:t>
            </a:r>
            <a:endParaRPr lang="en-US" sz="1200" dirty="0"/>
          </a:p>
        </p:txBody>
      </p:sp>
      <p:sp>
        <p:nvSpPr>
          <p:cNvPr id="3" name="Title"/>
          <p:cNvSpPr txBox="1"/>
          <p:nvPr/>
        </p:nvSpPr>
        <p:spPr>
          <a:xfrm>
            <a:off x="548640" y="566928"/>
            <a:ext cx="8076895" cy="713232"/>
          </a:xfrm>
          <a:prstGeom prst="rect">
            <a:avLst/>
          </a:prstGeom>
          <a:noFill/>
          <a:ln/>
        </p:spPr>
        <p:txBody>
          <a:bodyPr wrap="square" lIns="0" tIns="0" rIns="0" bIns="0" rtlCol="0" anchor="t"/>
          <a:lstStyle/>
          <a:p>
            <a:pPr indent="0" marL="0">
              <a:buNone/>
            </a:pPr>
            <a:r>
              <a:rPr lang="en-US" sz="3000" b="1" dirty="0">
                <a:solidFill>
                  <a:srgbClr val="1F1F1F"/>
                </a:solidFill>
                <a:latin typeface="Calibri" pitchFamily="34" charset="0"/>
                <a:ea typeface="Calibri" pitchFamily="34" charset="-122"/>
                <a:cs typeface="Calibri" pitchFamily="34" charset="-120"/>
              </a:rPr>
              <a:t>Class (cont.)</a:t>
            </a:r>
            <a:endParaRPr lang="en-US" sz="3000" dirty="0"/>
          </a:p>
        </p:txBody>
      </p:sp>
      <p:sp>
        <p:nvSpPr>
          <p:cNvPr id="4" name="Objective chip"/>
          <p:cNvSpPr/>
          <p:nvPr/>
        </p:nvSpPr>
        <p:spPr>
          <a:xfrm>
            <a:off x="8899855" y="365760"/>
            <a:ext cx="2743200" cy="384048"/>
          </a:xfrm>
          <a:prstGeom prst="roundRect">
            <a:avLst>
              <a:gd name="adj" fmla="val 35714"/>
            </a:avLst>
          </a:prstGeom>
          <a:solidFill>
            <a:srgbClr val="E3EBF8"/>
          </a:solidFill>
          <a:ln/>
        </p:spPr>
        <p:txBody>
          <a:bodyPr wrap="square" lIns="25400" tIns="25400" rIns="25400" bIns="25400" rtlCol="0" anchor="ctr"/>
          <a:lstStyle/>
          <a:p>
            <a:pPr algn="ctr" indent="0" marL="0">
              <a:buNone/>
            </a:pPr>
            <a:r>
              <a:rPr lang="en-US" sz="800" b="1" dirty="0">
                <a:solidFill>
                  <a:srgbClr val="2F4F8A"/>
                </a:solidFill>
              </a:rPr>
              <a:t>Objectives: SO3 · SO4 · IO2.1 · IO2.2 · IO2.3 · IO2.4 · IO2.5 · IO2.6</a:t>
            </a:r>
            <a:endParaRPr lang="en-US" sz="800" dirty="0"/>
          </a:p>
        </p:txBody>
      </p:sp>
      <p:sp>
        <p:nvSpPr>
          <p:cNvPr id="5" name="Footer"/>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1000" dirty="0">
                <a:solidFill>
                  <a:srgbClr val="666666"/>
                </a:solidFill>
              </a:rPr>
              <a:t>L04 · Musculoskeletal Pharmacology — Session 2</a:t>
            </a:r>
            <a:endParaRPr lang="en-US" sz="1000" dirty="0"/>
          </a:p>
        </p:txBody>
      </p:sp>
      <p:sp>
        <p:nvSpPr>
          <p:cNvPr id="6" name="Slide number"/>
          <p:cNvSpPr txBox="1"/>
          <p:nvPr/>
        </p:nvSpPr>
        <p:spPr>
          <a:xfrm>
            <a:off x="10728655" y="6419088"/>
            <a:ext cx="914400" cy="274320"/>
          </a:xfrm>
          <a:prstGeom prst="rect">
            <a:avLst/>
          </a:prstGeom>
          <a:noFill/>
          <a:ln/>
        </p:spPr>
        <p:txBody>
          <a:bodyPr wrap="square" lIns="0" tIns="0" rIns="0" bIns="0" rtlCol="0" anchor="ctr"/>
          <a:lstStyle/>
          <a:p>
            <a:pPr algn="r" indent="0" marL="0">
              <a:buNone/>
            </a:pPr>
            <a:r>
              <a:rPr lang="en-US" sz="1000" dirty="0">
                <a:solidFill>
                  <a:srgbClr val="666666"/>
                </a:solidFill>
              </a:rPr>
              <a:t>70</a:t>
            </a:r>
            <a:endParaRPr lang="en-US" sz="1000" dirty="0"/>
          </a:p>
        </p:txBody>
      </p:sp>
      <p:sp>
        <p:nvSpPr>
          <p:cNvPr id="7" name="Class (2/3) card"/>
          <p:cNvSpPr/>
          <p:nvPr/>
        </p:nvSpPr>
        <p:spPr>
          <a:xfrm>
            <a:off x="548640" y="1325880"/>
            <a:ext cx="11094415" cy="3721608"/>
          </a:xfrm>
          <a:prstGeom prst="roundRect">
            <a:avLst>
              <a:gd name="adj" fmla="val 2948"/>
            </a:avLst>
          </a:prstGeom>
          <a:solidFill>
            <a:srgbClr val="F2F4F7"/>
          </a:solidFill>
          <a:ln w="12700">
            <a:solidFill>
              <a:srgbClr val="F2F4F7"/>
            </a:solidFill>
            <a:prstDash val="solid"/>
          </a:ln>
        </p:spPr>
      </p:sp>
      <p:sp>
        <p:nvSpPr>
          <p:cNvPr id="8" name="Class (2/3) icon circle"/>
          <p:cNvSpPr/>
          <p:nvPr/>
        </p:nvSpPr>
        <p:spPr>
          <a:xfrm>
            <a:off x="777240" y="1508760"/>
            <a:ext cx="438912" cy="438912"/>
          </a:xfrm>
          <a:prstGeom prst="ellipse">
            <a:avLst/>
          </a:prstGeom>
          <a:solidFill>
            <a:srgbClr val="44546A"/>
          </a:solidFill>
          <a:ln w="12700">
            <a:solidFill>
              <a:srgbClr val="44546A"/>
            </a:solidFill>
            <a:prstDash val="solid"/>
          </a:ln>
        </p:spPr>
      </p:sp>
      <p:pic>
        <p:nvPicPr>
          <p:cNvPr id="9" name="Class (2/3) icon" descr="preencoded.png">    </p:cNvPr>
          <p:cNvPicPr>
            <a:picLocks noChangeAspect="1"/>
          </p:cNvPicPr>
          <p:nvPr/>
        </p:nvPicPr>
        <p:blipFill>
          <a:blip r:embed="rId1"/>
          <a:stretch>
            <a:fillRect/>
          </a:stretch>
        </p:blipFill>
        <p:spPr>
          <a:xfrm>
            <a:off x="877824" y="1609344"/>
            <a:ext cx="237744" cy="237744"/>
          </a:xfrm>
          <a:prstGeom prst="rect">
            <a:avLst/>
          </a:prstGeom>
        </p:spPr>
      </p:pic>
      <p:sp>
        <p:nvSpPr>
          <p:cNvPr id="10" name="Class (2/3) heading"/>
          <p:cNvSpPr txBox="1"/>
          <p:nvPr/>
        </p:nvSpPr>
        <p:spPr>
          <a:xfrm>
            <a:off x="1353312" y="1508760"/>
            <a:ext cx="10088575" cy="438912"/>
          </a:xfrm>
          <a:prstGeom prst="rect">
            <a:avLst/>
          </a:prstGeom>
          <a:noFill/>
          <a:ln/>
        </p:spPr>
        <p:txBody>
          <a:bodyPr wrap="square" lIns="0" tIns="0" rIns="0" bIns="0" rtlCol="0" anchor="ctr"/>
          <a:lstStyle/>
          <a:p>
            <a:pPr indent="0" marL="0">
              <a:buNone/>
            </a:pPr>
            <a:r>
              <a:rPr lang="en-US" sz="1800" b="1" dirty="0">
                <a:solidFill>
                  <a:srgbClr val="44546A"/>
                </a:solidFill>
              </a:rPr>
              <a:t>Class (2/3)</a:t>
            </a:r>
            <a:endParaRPr lang="en-US" sz="1800" dirty="0"/>
          </a:p>
        </p:txBody>
      </p:sp>
      <p:sp>
        <p:nvSpPr>
          <p:cNvPr id="11" name="Class (2/3) body"/>
          <p:cNvSpPr txBox="1"/>
          <p:nvPr/>
        </p:nvSpPr>
        <p:spPr>
          <a:xfrm>
            <a:off x="777240" y="2075688"/>
            <a:ext cx="10637215" cy="2852928"/>
          </a:xfrm>
          <a:prstGeom prst="rect">
            <a:avLst/>
          </a:prstGeom>
          <a:noFill/>
          <a:ln/>
        </p:spPr>
        <p:txBody>
          <a:bodyPr wrap="square" lIns="0" tIns="0" rIns="0" bIns="0" rtlCol="0" anchor="t"/>
          <a:lstStyle/>
          <a:p>
            <a:pPr marL="228600" indent="-228600">
              <a:spcAft>
                <a:spcPts val="800"/>
              </a:spcAft>
              <a:buSzPct val="100000"/>
              <a:buChar char="•"/>
            </a:pPr>
            <a:r>
              <a:rPr lang="en-US" sz="1800" b="1" dirty="0">
                <a:solidFill>
                  <a:srgbClr val="1F1F1F"/>
                </a:solidFill>
              </a:rPr>
              <a:t>OPG</a:t>
            </a:r>
            <a:r>
              <a:rPr lang="en-US" sz="1800" dirty="0">
                <a:solidFill>
                  <a:srgbClr val="1F1F1F"/>
                </a:solidFill>
              </a:rPr>
              <a:t> is a decoy receptor that blocks RANKL. Estrogen increases OPG; denosumab mimics OPG. Sclerostin inhibits Wnt signaling in osteoblasts.</a:t>
            </a:r>
            <a:r>
              <a:rPr lang="en-US" sz="1300" dirty="0">
                <a:solidFill>
                  <a:srgbClr val="666666"/>
                </a:solidFill>
              </a:rPr>
              <a:t>  S41</a:t>
            </a:r>
            <a:endParaRPr lang="en-US" sz="1800" dirty="0"/>
          </a:p>
          <a:p>
            <a:pPr marL="228600" indent="-228600">
              <a:spcAft>
                <a:spcPts val="800"/>
              </a:spcAft>
              <a:buSzPct val="100000"/>
              <a:buChar char="•"/>
            </a:pPr>
            <a:r>
              <a:rPr lang="en-US" sz="1800" b="1" dirty="0">
                <a:solidFill>
                  <a:srgbClr val="1F1F1F"/>
                </a:solidFill>
              </a:rPr>
              <a:t>PTH:</a:t>
            </a:r>
            <a:r>
              <a:rPr lang="en-US" sz="1800" dirty="0">
                <a:solidFill>
                  <a:srgbClr val="1F1F1F"/>
                </a:solidFill>
              </a:rPr>
              <a:t> intermittent dosing favors formation; continuous exposure raises RANKL and resorption.</a:t>
            </a:r>
            <a:r>
              <a:rPr lang="en-US" sz="1300" dirty="0">
                <a:solidFill>
                  <a:srgbClr val="666666"/>
                </a:solidFill>
              </a:rPr>
              <a:t>  S41</a:t>
            </a:r>
            <a:endParaRPr lang="en-US" sz="1800" dirty="0"/>
          </a:p>
          <a:p>
            <a:pPr marL="228600" indent="-228600">
              <a:spcAft>
                <a:spcPts val="800"/>
              </a:spcAft>
              <a:buSzPct val="100000"/>
              <a:buChar char="•"/>
            </a:pPr>
            <a:r>
              <a:rPr lang="en-US" sz="1800" b="1" dirty="0">
                <a:solidFill>
                  <a:srgbClr val="1F1F1F"/>
                </a:solidFill>
              </a:rPr>
              <a:t>Calcium homeostasis:</a:t>
            </a:r>
            <a:r>
              <a:rPr lang="en-US" sz="1800" dirty="0">
                <a:solidFill>
                  <a:srgbClr val="1F1F1F"/>
                </a:solidFill>
              </a:rPr>
              <a:t> PTH raises serum calcium (mobilizes bone calcium when levels drop); vitamin D increases intestinal calcium absorption; calcitonin lowers serum calcium and opposes PTH; calcium is the substrate being regulated (intake, bone storage, excretion).</a:t>
            </a:r>
            <a:r>
              <a:rPr lang="en-US" sz="1300" dirty="0">
                <a:solidFill>
                  <a:srgbClr val="666666"/>
                </a:solidFill>
              </a:rPr>
              <a:t>  S42</a:t>
            </a:r>
            <a:endParaRPr lang="en-US" sz="1800" dirty="0"/>
          </a:p>
          <a:p>
            <a:pPr marL="228600" indent="-228600">
              <a:spcAft>
                <a:spcPts val="800"/>
              </a:spcAft>
              <a:buSzPct val="100000"/>
              <a:buChar char="•"/>
            </a:pPr>
            <a:r>
              <a:rPr lang="en-US" sz="1800" b="1" dirty="0">
                <a:solidFill>
                  <a:srgbClr val="1F1F1F"/>
                </a:solidFill>
              </a:rPr>
              <a:t>PTH feedback loop:</a:t>
            </a:r>
            <a:r>
              <a:rPr lang="en-US" sz="1800" dirty="0">
                <a:solidFill>
                  <a:srgbClr val="1F1F1F"/>
                </a:solidFill>
              </a:rPr>
              <a:t> falling serum calcium → PTH → raises calcium via bone resorption, renal reabsorption, and (via vitamin D activation) intestinal absorption; restored calcium inhibits further PTH.</a:t>
            </a:r>
            <a:r>
              <a:rPr lang="en-US" sz="1300" dirty="0">
                <a:solidFill>
                  <a:srgbClr val="666666"/>
                </a:solidFill>
              </a:rPr>
              <a:t>  S43; SG U2-R12</a:t>
            </a:r>
            <a:endParaRPr lang="en-US" sz="1800"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bg>
      <p:bgPr>
        <a:solidFill>
          <a:srgbClr val="FFFFFF"/>
        </a:solidFill>
      </p:bgPr>
    </p:bg>
    <p:spTree>
      <p:nvGrpSpPr>
        <p:cNvPr id="1" name=""/>
        <p:cNvGrpSpPr/>
        <p:nvPr/>
      </p:nvGrpSpPr>
      <p:grpSpPr>
        <a:xfrm>
          <a:off x="0" y="0"/>
          <a:ext cx="0" cy="0"/>
          <a:chOff x="0" y="0"/>
          <a:chExt cx="0" cy="0"/>
        </a:xfrm>
      </p:grpSpPr>
      <p:sp>
        <p:nvSpPr>
          <p:cNvPr id="2" name="Kicker"/>
          <p:cNvSpPr txBox="1"/>
          <p:nvPr/>
        </p:nvSpPr>
        <p:spPr>
          <a:xfrm>
            <a:off x="548640" y="292608"/>
            <a:ext cx="8076895" cy="274320"/>
          </a:xfrm>
          <a:prstGeom prst="rect">
            <a:avLst/>
          </a:prstGeom>
          <a:noFill/>
          <a:ln/>
        </p:spPr>
        <p:txBody>
          <a:bodyPr wrap="square" lIns="0" tIns="0" rIns="0" bIns="0" rtlCol="0" anchor="ctr"/>
          <a:lstStyle/>
          <a:p>
            <a:pPr indent="0" marL="0">
              <a:buNone/>
            </a:pPr>
            <a:r>
              <a:rPr lang="en-US" sz="1200" b="1" spc="100" kern="0" dirty="0">
                <a:solidFill>
                  <a:srgbClr val="4472C4"/>
                </a:solidFill>
              </a:rPr>
              <a:t>BONE PHARMACOLOGY &amp; OSTEOPOROSIS</a:t>
            </a:r>
            <a:endParaRPr lang="en-US" sz="1200" dirty="0"/>
          </a:p>
        </p:txBody>
      </p:sp>
      <p:sp>
        <p:nvSpPr>
          <p:cNvPr id="3" name="Title"/>
          <p:cNvSpPr txBox="1"/>
          <p:nvPr/>
        </p:nvSpPr>
        <p:spPr>
          <a:xfrm>
            <a:off x="548640" y="566928"/>
            <a:ext cx="8076895" cy="713232"/>
          </a:xfrm>
          <a:prstGeom prst="rect">
            <a:avLst/>
          </a:prstGeom>
          <a:noFill/>
          <a:ln/>
        </p:spPr>
        <p:txBody>
          <a:bodyPr wrap="square" lIns="0" tIns="0" rIns="0" bIns="0" rtlCol="0" anchor="t"/>
          <a:lstStyle/>
          <a:p>
            <a:pPr indent="0" marL="0">
              <a:buNone/>
            </a:pPr>
            <a:r>
              <a:rPr lang="en-US" sz="3000" b="1" dirty="0">
                <a:solidFill>
                  <a:srgbClr val="1F1F1F"/>
                </a:solidFill>
                <a:latin typeface="Calibri" pitchFamily="34" charset="0"/>
                <a:ea typeface="Calibri" pitchFamily="34" charset="-122"/>
                <a:cs typeface="Calibri" pitchFamily="34" charset="-120"/>
              </a:rPr>
              <a:t>Class (cont.)</a:t>
            </a:r>
            <a:endParaRPr lang="en-US" sz="3000" dirty="0"/>
          </a:p>
        </p:txBody>
      </p:sp>
      <p:sp>
        <p:nvSpPr>
          <p:cNvPr id="4" name="Objective chip"/>
          <p:cNvSpPr/>
          <p:nvPr/>
        </p:nvSpPr>
        <p:spPr>
          <a:xfrm>
            <a:off x="8899855" y="365760"/>
            <a:ext cx="2743200" cy="384048"/>
          </a:xfrm>
          <a:prstGeom prst="roundRect">
            <a:avLst>
              <a:gd name="adj" fmla="val 35714"/>
            </a:avLst>
          </a:prstGeom>
          <a:solidFill>
            <a:srgbClr val="E3EBF8"/>
          </a:solidFill>
          <a:ln/>
        </p:spPr>
        <p:txBody>
          <a:bodyPr wrap="square" lIns="25400" tIns="25400" rIns="25400" bIns="25400" rtlCol="0" anchor="ctr"/>
          <a:lstStyle/>
          <a:p>
            <a:pPr algn="ctr" indent="0" marL="0">
              <a:buNone/>
            </a:pPr>
            <a:r>
              <a:rPr lang="en-US" sz="800" b="1" dirty="0">
                <a:solidFill>
                  <a:srgbClr val="2F4F8A"/>
                </a:solidFill>
              </a:rPr>
              <a:t>Objectives: SO3 · SO4 · IO2.1 · IO2.2 · IO2.3 · IO2.4 · IO2.5 · IO2.6</a:t>
            </a:r>
            <a:endParaRPr lang="en-US" sz="800" dirty="0"/>
          </a:p>
        </p:txBody>
      </p:sp>
      <p:sp>
        <p:nvSpPr>
          <p:cNvPr id="5" name="Footer"/>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1000" dirty="0">
                <a:solidFill>
                  <a:srgbClr val="666666"/>
                </a:solidFill>
              </a:rPr>
              <a:t>L04 · Musculoskeletal Pharmacology — Session 2</a:t>
            </a:r>
            <a:endParaRPr lang="en-US" sz="1000" dirty="0"/>
          </a:p>
        </p:txBody>
      </p:sp>
      <p:sp>
        <p:nvSpPr>
          <p:cNvPr id="6" name="Slide number"/>
          <p:cNvSpPr txBox="1"/>
          <p:nvPr/>
        </p:nvSpPr>
        <p:spPr>
          <a:xfrm>
            <a:off x="10728655" y="6419088"/>
            <a:ext cx="914400" cy="274320"/>
          </a:xfrm>
          <a:prstGeom prst="rect">
            <a:avLst/>
          </a:prstGeom>
          <a:noFill/>
          <a:ln/>
        </p:spPr>
        <p:txBody>
          <a:bodyPr wrap="square" lIns="0" tIns="0" rIns="0" bIns="0" rtlCol="0" anchor="ctr"/>
          <a:lstStyle/>
          <a:p>
            <a:pPr algn="r" indent="0" marL="0">
              <a:buNone/>
            </a:pPr>
            <a:r>
              <a:rPr lang="en-US" sz="1000" dirty="0">
                <a:solidFill>
                  <a:srgbClr val="666666"/>
                </a:solidFill>
              </a:rPr>
              <a:t>71</a:t>
            </a:r>
            <a:endParaRPr lang="en-US" sz="1000" dirty="0"/>
          </a:p>
        </p:txBody>
      </p:sp>
      <p:sp>
        <p:nvSpPr>
          <p:cNvPr id="7" name="Class (3/3) card"/>
          <p:cNvSpPr/>
          <p:nvPr/>
        </p:nvSpPr>
        <p:spPr>
          <a:xfrm>
            <a:off x="548640" y="1325880"/>
            <a:ext cx="11094415" cy="3721608"/>
          </a:xfrm>
          <a:prstGeom prst="roundRect">
            <a:avLst>
              <a:gd name="adj" fmla="val 2948"/>
            </a:avLst>
          </a:prstGeom>
          <a:solidFill>
            <a:srgbClr val="F2F4F7"/>
          </a:solidFill>
          <a:ln w="12700">
            <a:solidFill>
              <a:srgbClr val="F2F4F7"/>
            </a:solidFill>
            <a:prstDash val="solid"/>
          </a:ln>
        </p:spPr>
      </p:sp>
      <p:sp>
        <p:nvSpPr>
          <p:cNvPr id="8" name="Class (3/3) icon circle"/>
          <p:cNvSpPr/>
          <p:nvPr/>
        </p:nvSpPr>
        <p:spPr>
          <a:xfrm>
            <a:off x="777240" y="1508760"/>
            <a:ext cx="438912" cy="438912"/>
          </a:xfrm>
          <a:prstGeom prst="ellipse">
            <a:avLst/>
          </a:prstGeom>
          <a:solidFill>
            <a:srgbClr val="44546A"/>
          </a:solidFill>
          <a:ln w="12700">
            <a:solidFill>
              <a:srgbClr val="44546A"/>
            </a:solidFill>
            <a:prstDash val="solid"/>
          </a:ln>
        </p:spPr>
      </p:sp>
      <p:pic>
        <p:nvPicPr>
          <p:cNvPr id="9" name="Class (3/3) icon" descr="preencoded.png">    </p:cNvPr>
          <p:cNvPicPr>
            <a:picLocks noChangeAspect="1"/>
          </p:cNvPicPr>
          <p:nvPr/>
        </p:nvPicPr>
        <p:blipFill>
          <a:blip r:embed="rId1"/>
          <a:stretch>
            <a:fillRect/>
          </a:stretch>
        </p:blipFill>
        <p:spPr>
          <a:xfrm>
            <a:off x="877824" y="1609344"/>
            <a:ext cx="237744" cy="237744"/>
          </a:xfrm>
          <a:prstGeom prst="rect">
            <a:avLst/>
          </a:prstGeom>
        </p:spPr>
      </p:pic>
      <p:sp>
        <p:nvSpPr>
          <p:cNvPr id="10" name="Class (3/3) heading"/>
          <p:cNvSpPr txBox="1"/>
          <p:nvPr/>
        </p:nvSpPr>
        <p:spPr>
          <a:xfrm>
            <a:off x="1353312" y="1508760"/>
            <a:ext cx="10088575" cy="438912"/>
          </a:xfrm>
          <a:prstGeom prst="rect">
            <a:avLst/>
          </a:prstGeom>
          <a:noFill/>
          <a:ln/>
        </p:spPr>
        <p:txBody>
          <a:bodyPr wrap="square" lIns="0" tIns="0" rIns="0" bIns="0" rtlCol="0" anchor="ctr"/>
          <a:lstStyle/>
          <a:p>
            <a:pPr indent="0" marL="0">
              <a:buNone/>
            </a:pPr>
            <a:r>
              <a:rPr lang="en-US" sz="1800" b="1" dirty="0">
                <a:solidFill>
                  <a:srgbClr val="44546A"/>
                </a:solidFill>
              </a:rPr>
              <a:t>Class (3/3)</a:t>
            </a:r>
            <a:endParaRPr lang="en-US" sz="1800" dirty="0"/>
          </a:p>
        </p:txBody>
      </p:sp>
      <p:sp>
        <p:nvSpPr>
          <p:cNvPr id="11" name="Class (3/3) body"/>
          <p:cNvSpPr txBox="1"/>
          <p:nvPr/>
        </p:nvSpPr>
        <p:spPr>
          <a:xfrm>
            <a:off x="777240" y="2075688"/>
            <a:ext cx="10637215" cy="2852928"/>
          </a:xfrm>
          <a:prstGeom prst="rect">
            <a:avLst/>
          </a:prstGeom>
          <a:noFill/>
          <a:ln/>
        </p:spPr>
        <p:txBody>
          <a:bodyPr wrap="square" lIns="0" tIns="0" rIns="0" bIns="0" rtlCol="0" anchor="t"/>
          <a:lstStyle/>
          <a:p>
            <a:pPr marL="228600" indent="-228600">
              <a:spcAft>
                <a:spcPts val="800"/>
              </a:spcAft>
              <a:buSzPct val="100000"/>
              <a:buChar char="•"/>
            </a:pPr>
            <a:r>
              <a:rPr lang="en-US" sz="1800" b="1" dirty="0">
                <a:solidFill>
                  <a:srgbClr val="1F1F1F"/>
                </a:solidFill>
              </a:rPr>
              <a:t>Risk factors:</a:t>
            </a:r>
            <a:r>
              <a:rPr lang="en-US" sz="1800" dirty="0">
                <a:solidFill>
                  <a:srgbClr val="1F1F1F"/>
                </a:solidFill>
              </a:rPr>
              <a:t> aging; estrogen deficiency (e.g., postmenopausal status); </a:t>
            </a:r>
            <a:r>
              <a:rPr lang="en-US" sz="1800" b="1" dirty="0">
                <a:solidFill>
                  <a:srgbClr val="1F1F1F"/>
                </a:solidFill>
              </a:rPr>
              <a:t>chronic glucocorticoid use</a:t>
            </a:r>
            <a:r>
              <a:rPr lang="en-US" sz="1800" dirty="0">
                <a:solidFill>
                  <a:srgbClr val="1F1F1F"/>
                </a:solidFill>
              </a:rPr>
              <a:t>; low calcium or vitamin D intake; low physical activity.</a:t>
            </a:r>
            <a:r>
              <a:rPr lang="en-US" sz="1300" dirty="0">
                <a:solidFill>
                  <a:srgbClr val="666666"/>
                </a:solidFill>
              </a:rPr>
              <a:t>  S46</a:t>
            </a:r>
            <a:endParaRPr lang="en-US" sz="1800" dirty="0"/>
          </a:p>
          <a:p>
            <a:pPr marL="228600" indent="-228600">
              <a:spcAft>
                <a:spcPts val="800"/>
              </a:spcAft>
              <a:buSzPct val="100000"/>
              <a:buChar char="•"/>
            </a:pPr>
            <a:r>
              <a:rPr lang="en-US" sz="1400" b="1" dirty="0">
                <a:solidFill>
                  <a:srgbClr val="000000"/>
                </a:solidFill>
                <a:highlight>
                  <a:srgbClr val="FFC000"/>
                </a:highlight>
              </a:rPr>
              <a:t> TB </a:t>
            </a:r>
            <a:r>
              <a:rPr lang="en-US" sz="1800" dirty="0">
                <a:solidFill>
                  <a:srgbClr val="000000"/>
                </a:solidFill>
              </a:rPr>
              <a:t> </a:t>
            </a:r>
            <a:r>
              <a:rPr lang="en-US" sz="1800" dirty="0">
                <a:solidFill>
                  <a:srgbClr val="1F1F1F"/>
                </a:solidFill>
              </a:rPr>
              <a:t>About 98% of the body’s calcium is in bone; PTH, FGF23, and 1,25-dihydroxyvitamin D are the principal regulators.</a:t>
            </a:r>
            <a:r>
              <a:rPr lang="en-US" sz="1300" dirty="0">
                <a:solidFill>
                  <a:srgbClr val="666666"/>
                </a:solidFill>
              </a:rPr>
              <a:t>  p. 811; p. 812</a:t>
            </a:r>
            <a:endParaRPr lang="en-US" sz="1800" dirty="0"/>
          </a:p>
          <a:p>
            <a:pPr marL="228600" indent="-228600">
              <a:spcAft>
                <a:spcPts val="800"/>
              </a:spcAft>
              <a:buSzPct val="100000"/>
              <a:buChar char="•"/>
            </a:pPr>
            <a:r>
              <a:rPr lang="en-US" sz="1400" b="1" dirty="0">
                <a:solidFill>
                  <a:srgbClr val="000000"/>
                </a:solidFill>
                <a:highlight>
                  <a:srgbClr val="FFC000"/>
                </a:highlight>
              </a:rPr>
              <a:t> TB </a:t>
            </a:r>
            <a:r>
              <a:rPr lang="en-US" sz="1800" dirty="0">
                <a:solidFill>
                  <a:srgbClr val="000000"/>
                </a:solidFill>
              </a:rPr>
              <a:t> </a:t>
            </a:r>
            <a:r>
              <a:rPr lang="en-US" sz="1800" dirty="0">
                <a:solidFill>
                  <a:srgbClr val="1F1F1F"/>
                </a:solidFill>
              </a:rPr>
              <a:t>Excess endogenous PTH nets bone resorption, but low intermittent doses build bone first — the basis for teriparatide.</a:t>
            </a:r>
            <a:r>
              <a:rPr lang="en-US" sz="1300" dirty="0">
                <a:solidFill>
                  <a:srgbClr val="666666"/>
                </a:solidFill>
              </a:rPr>
              <a:t>  p. 815</a:t>
            </a:r>
            <a:endParaRPr lang="en-US" sz="1800" dirty="0"/>
          </a:p>
          <a:p>
            <a:pPr marL="228600" indent="-228600">
              <a:spcAft>
                <a:spcPts val="800"/>
              </a:spcAft>
              <a:buSzPct val="100000"/>
              <a:buChar char="•"/>
            </a:pPr>
            <a:r>
              <a:rPr lang="en-US" sz="1400" b="1" dirty="0">
                <a:solidFill>
                  <a:srgbClr val="000000"/>
                </a:solidFill>
                <a:highlight>
                  <a:srgbClr val="FFC000"/>
                </a:highlight>
              </a:rPr>
              <a:t> TB </a:t>
            </a:r>
            <a:r>
              <a:rPr lang="en-US" sz="1800" dirty="0">
                <a:solidFill>
                  <a:srgbClr val="000000"/>
                </a:solidFill>
              </a:rPr>
              <a:t> </a:t>
            </a:r>
            <a:r>
              <a:rPr lang="en-US" sz="1800" dirty="0">
                <a:solidFill>
                  <a:srgbClr val="1F1F1F"/>
                </a:solidFill>
              </a:rPr>
              <a:t>Glucocorticoids block vitamin D–driven gut calcium transport, raise renal calcium loss, block formation, and initially stimulate resorption.</a:t>
            </a:r>
            <a:r>
              <a:rPr lang="en-US" sz="1300" dirty="0">
                <a:solidFill>
                  <a:srgbClr val="666666"/>
                </a:solidFill>
              </a:rPr>
              <a:t>  p. 818</a:t>
            </a:r>
            <a:endParaRPr lang="en-US" sz="1800"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bg>
      <p:bgPr>
        <a:solidFill>
          <a:srgbClr val="FFFFFF"/>
        </a:solidFill>
      </p:bgPr>
    </p:bg>
    <p:spTree>
      <p:nvGrpSpPr>
        <p:cNvPr id="1" name=""/>
        <p:cNvGrpSpPr/>
        <p:nvPr/>
      </p:nvGrpSpPr>
      <p:grpSpPr>
        <a:xfrm>
          <a:off x="0" y="0"/>
          <a:ext cx="0" cy="0"/>
          <a:chOff x="0" y="0"/>
          <a:chExt cx="0" cy="0"/>
        </a:xfrm>
      </p:grpSpPr>
      <p:sp>
        <p:nvSpPr>
          <p:cNvPr id="2" name="Kicker"/>
          <p:cNvSpPr txBox="1"/>
          <p:nvPr/>
        </p:nvSpPr>
        <p:spPr>
          <a:xfrm>
            <a:off x="548640" y="292608"/>
            <a:ext cx="8076895" cy="274320"/>
          </a:xfrm>
          <a:prstGeom prst="rect">
            <a:avLst/>
          </a:prstGeom>
          <a:noFill/>
          <a:ln/>
        </p:spPr>
        <p:txBody>
          <a:bodyPr wrap="square" lIns="0" tIns="0" rIns="0" bIns="0" rtlCol="0" anchor="ctr"/>
          <a:lstStyle/>
          <a:p>
            <a:pPr indent="0" marL="0">
              <a:buNone/>
            </a:pPr>
            <a:r>
              <a:rPr lang="en-US" sz="1200" b="1" spc="100" kern="0" dirty="0">
                <a:solidFill>
                  <a:srgbClr val="4472C4"/>
                </a:solidFill>
              </a:rPr>
              <a:t>BONE PHARMACOLOGY &amp; OSTEOPOROSIS</a:t>
            </a:r>
            <a:endParaRPr lang="en-US" sz="1200" dirty="0"/>
          </a:p>
        </p:txBody>
      </p:sp>
      <p:sp>
        <p:nvSpPr>
          <p:cNvPr id="3" name="Title"/>
          <p:cNvSpPr txBox="1"/>
          <p:nvPr/>
        </p:nvSpPr>
        <p:spPr>
          <a:xfrm>
            <a:off x="548640" y="566928"/>
            <a:ext cx="8076895" cy="713232"/>
          </a:xfrm>
          <a:prstGeom prst="rect">
            <a:avLst/>
          </a:prstGeom>
          <a:noFill/>
          <a:ln/>
        </p:spPr>
        <p:txBody>
          <a:bodyPr wrap="square" lIns="0" tIns="0" rIns="0" bIns="0" rtlCol="0" anchor="t"/>
          <a:lstStyle/>
          <a:p>
            <a:pPr indent="0" marL="0">
              <a:buNone/>
            </a:pPr>
            <a:r>
              <a:rPr lang="en-US" sz="3000" b="1" dirty="0">
                <a:solidFill>
                  <a:srgbClr val="1F1F1F"/>
                </a:solidFill>
                <a:latin typeface="Calibri" pitchFamily="34" charset="0"/>
                <a:ea typeface="Calibri" pitchFamily="34" charset="-122"/>
                <a:cs typeface="Calibri" pitchFamily="34" charset="-120"/>
              </a:rPr>
              <a:t>Prototype + other drugs named</a:t>
            </a:r>
            <a:endParaRPr lang="en-US" sz="3000" dirty="0"/>
          </a:p>
        </p:txBody>
      </p:sp>
      <p:sp>
        <p:nvSpPr>
          <p:cNvPr id="4" name="Objective chip"/>
          <p:cNvSpPr/>
          <p:nvPr/>
        </p:nvSpPr>
        <p:spPr>
          <a:xfrm>
            <a:off x="8899855" y="365760"/>
            <a:ext cx="2743200" cy="384048"/>
          </a:xfrm>
          <a:prstGeom prst="roundRect">
            <a:avLst>
              <a:gd name="adj" fmla="val 35714"/>
            </a:avLst>
          </a:prstGeom>
          <a:solidFill>
            <a:srgbClr val="E3EBF8"/>
          </a:solidFill>
          <a:ln/>
        </p:spPr>
        <p:txBody>
          <a:bodyPr wrap="square" lIns="25400" tIns="25400" rIns="25400" bIns="25400" rtlCol="0" anchor="ctr"/>
          <a:lstStyle/>
          <a:p>
            <a:pPr algn="ctr" indent="0" marL="0">
              <a:buNone/>
            </a:pPr>
            <a:r>
              <a:rPr lang="en-US" sz="800" b="1" dirty="0">
                <a:solidFill>
                  <a:srgbClr val="2F4F8A"/>
                </a:solidFill>
              </a:rPr>
              <a:t>Objectives: SO3 · SO4 · IO2.1 · IO2.2 · IO2.3 · IO2.4 · IO2.5 · IO2.6</a:t>
            </a:r>
            <a:endParaRPr lang="en-US" sz="800" dirty="0"/>
          </a:p>
        </p:txBody>
      </p:sp>
      <p:sp>
        <p:nvSpPr>
          <p:cNvPr id="5" name="Footer"/>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1000" dirty="0">
                <a:solidFill>
                  <a:srgbClr val="666666"/>
                </a:solidFill>
              </a:rPr>
              <a:t>L04 · Musculoskeletal Pharmacology — Session 2</a:t>
            </a:r>
            <a:endParaRPr lang="en-US" sz="1000" dirty="0"/>
          </a:p>
        </p:txBody>
      </p:sp>
      <p:sp>
        <p:nvSpPr>
          <p:cNvPr id="6" name="Slide number"/>
          <p:cNvSpPr txBox="1"/>
          <p:nvPr/>
        </p:nvSpPr>
        <p:spPr>
          <a:xfrm>
            <a:off x="10728655" y="6419088"/>
            <a:ext cx="914400" cy="274320"/>
          </a:xfrm>
          <a:prstGeom prst="rect">
            <a:avLst/>
          </a:prstGeom>
          <a:noFill/>
          <a:ln/>
        </p:spPr>
        <p:txBody>
          <a:bodyPr wrap="square" lIns="0" tIns="0" rIns="0" bIns="0" rtlCol="0" anchor="ctr"/>
          <a:lstStyle/>
          <a:p>
            <a:pPr algn="r" indent="0" marL="0">
              <a:buNone/>
            </a:pPr>
            <a:r>
              <a:rPr lang="en-US" sz="1000" dirty="0">
                <a:solidFill>
                  <a:srgbClr val="666666"/>
                </a:solidFill>
              </a:rPr>
              <a:t>72</a:t>
            </a:r>
            <a:endParaRPr lang="en-US" sz="1000" dirty="0"/>
          </a:p>
        </p:txBody>
      </p:sp>
      <p:sp>
        <p:nvSpPr>
          <p:cNvPr id="7" name="Prototype + other drugs named card"/>
          <p:cNvSpPr/>
          <p:nvPr/>
        </p:nvSpPr>
        <p:spPr>
          <a:xfrm>
            <a:off x="548640" y="1325880"/>
            <a:ext cx="11094415" cy="2606040"/>
          </a:xfrm>
          <a:prstGeom prst="roundRect">
            <a:avLst>
              <a:gd name="adj" fmla="val 4211"/>
            </a:avLst>
          </a:prstGeom>
          <a:solidFill>
            <a:srgbClr val="F2F4F7"/>
          </a:solidFill>
          <a:ln w="12700">
            <a:solidFill>
              <a:srgbClr val="F2F4F7"/>
            </a:solidFill>
            <a:prstDash val="solid"/>
          </a:ln>
        </p:spPr>
      </p:sp>
      <p:sp>
        <p:nvSpPr>
          <p:cNvPr id="8" name="Prototype + other drugs named icon circle"/>
          <p:cNvSpPr/>
          <p:nvPr/>
        </p:nvSpPr>
        <p:spPr>
          <a:xfrm>
            <a:off x="777240" y="1508760"/>
            <a:ext cx="438912" cy="438912"/>
          </a:xfrm>
          <a:prstGeom prst="ellipse">
            <a:avLst/>
          </a:prstGeom>
          <a:solidFill>
            <a:srgbClr val="4472C4"/>
          </a:solidFill>
          <a:ln w="12700">
            <a:solidFill>
              <a:srgbClr val="4472C4"/>
            </a:solidFill>
            <a:prstDash val="solid"/>
          </a:ln>
        </p:spPr>
      </p:sp>
      <p:pic>
        <p:nvPicPr>
          <p:cNvPr id="9" name="Prototype + other drugs named icon" descr="preencoded.png">    </p:cNvPr>
          <p:cNvPicPr>
            <a:picLocks noChangeAspect="1"/>
          </p:cNvPicPr>
          <p:nvPr/>
        </p:nvPicPr>
        <p:blipFill>
          <a:blip r:embed="rId1"/>
          <a:stretch>
            <a:fillRect/>
          </a:stretch>
        </p:blipFill>
        <p:spPr>
          <a:xfrm>
            <a:off x="877824" y="1609344"/>
            <a:ext cx="237744" cy="237744"/>
          </a:xfrm>
          <a:prstGeom prst="rect">
            <a:avLst/>
          </a:prstGeom>
        </p:spPr>
      </p:pic>
      <p:sp>
        <p:nvSpPr>
          <p:cNvPr id="10" name="Prototype + other drugs named heading"/>
          <p:cNvSpPr txBox="1"/>
          <p:nvPr/>
        </p:nvSpPr>
        <p:spPr>
          <a:xfrm>
            <a:off x="1353312" y="1508760"/>
            <a:ext cx="10088575" cy="438912"/>
          </a:xfrm>
          <a:prstGeom prst="rect">
            <a:avLst/>
          </a:prstGeom>
          <a:noFill/>
          <a:ln/>
        </p:spPr>
        <p:txBody>
          <a:bodyPr wrap="square" lIns="0" tIns="0" rIns="0" bIns="0" rtlCol="0" anchor="ctr"/>
          <a:lstStyle/>
          <a:p>
            <a:pPr indent="0" marL="0">
              <a:buNone/>
            </a:pPr>
            <a:r>
              <a:rPr lang="en-US" sz="1800" b="1" dirty="0">
                <a:solidFill>
                  <a:srgbClr val="4472C4"/>
                </a:solidFill>
              </a:rPr>
              <a:t>Prototype + other drugs named</a:t>
            </a:r>
            <a:endParaRPr lang="en-US" sz="1800" dirty="0"/>
          </a:p>
        </p:txBody>
      </p:sp>
      <p:sp>
        <p:nvSpPr>
          <p:cNvPr id="11" name="Prototype + other drugs named body"/>
          <p:cNvSpPr txBox="1"/>
          <p:nvPr/>
        </p:nvSpPr>
        <p:spPr>
          <a:xfrm>
            <a:off x="777240" y="2075688"/>
            <a:ext cx="10637215" cy="1737360"/>
          </a:xfrm>
          <a:prstGeom prst="rect">
            <a:avLst/>
          </a:prstGeom>
          <a:noFill/>
          <a:ln/>
        </p:spPr>
        <p:txBody>
          <a:bodyPr wrap="square" lIns="0" tIns="0" rIns="0" bIns="0" rtlCol="0" anchor="t"/>
          <a:lstStyle/>
          <a:p>
            <a:pPr marL="228600" indent="-228600">
              <a:spcAft>
                <a:spcPts val="800"/>
              </a:spcAft>
              <a:buSzPct val="100000"/>
              <a:buChar char="•"/>
            </a:pPr>
            <a:r>
              <a:rPr lang="en-US" sz="1800" dirty="0">
                <a:solidFill>
                  <a:srgbClr val="1F1F1F"/>
                </a:solidFill>
              </a:rPr>
              <a:t>Alendronate — oral bisphosphonate (first-line).</a:t>
            </a:r>
            <a:r>
              <a:rPr lang="en-US" sz="1300" dirty="0">
                <a:solidFill>
                  <a:srgbClr val="666666"/>
                </a:solidFill>
              </a:rPr>
              <a:t>  S47</a:t>
            </a:r>
            <a:endParaRPr lang="en-US" sz="1800" dirty="0"/>
          </a:p>
          <a:p>
            <a:pPr marL="228600" indent="-228600">
              <a:spcAft>
                <a:spcPts val="800"/>
              </a:spcAft>
              <a:buSzPct val="100000"/>
              <a:buChar char="•"/>
            </a:pPr>
            <a:r>
              <a:rPr lang="en-US" sz="1800" dirty="0">
                <a:solidFill>
                  <a:srgbClr val="1F1F1F"/>
                </a:solidFill>
              </a:rPr>
              <a:t>Denosumab — RANKL monoclonal antibody.</a:t>
            </a:r>
            <a:r>
              <a:rPr lang="en-US" sz="1300" dirty="0">
                <a:solidFill>
                  <a:srgbClr val="666666"/>
                </a:solidFill>
              </a:rPr>
              <a:t>  S54</a:t>
            </a:r>
            <a:endParaRPr lang="en-US" sz="1800" dirty="0"/>
          </a:p>
          <a:p>
            <a:pPr marL="228600" indent="-228600">
              <a:spcAft>
                <a:spcPts val="800"/>
              </a:spcAft>
              <a:buSzPct val="100000"/>
              <a:buChar char="•"/>
            </a:pPr>
            <a:r>
              <a:rPr lang="en-US" sz="1800" dirty="0">
                <a:solidFill>
                  <a:srgbClr val="1F1F1F"/>
                </a:solidFill>
              </a:rPr>
              <a:t>Teriparatide — PTH analog (anabolic).</a:t>
            </a:r>
            <a:r>
              <a:rPr lang="en-US" sz="1300" dirty="0">
                <a:solidFill>
                  <a:srgbClr val="666666"/>
                </a:solidFill>
              </a:rPr>
              <a:t>  S54</a:t>
            </a:r>
            <a:endParaRPr lang="en-US" sz="1800" dirty="0"/>
          </a:p>
          <a:p>
            <a:pPr marL="228600" indent="-228600">
              <a:spcAft>
                <a:spcPts val="800"/>
              </a:spcAft>
              <a:buSzPct val="100000"/>
              <a:buChar char="•"/>
            </a:pPr>
            <a:r>
              <a:rPr lang="en-US" sz="1800" dirty="0">
                <a:solidFill>
                  <a:srgbClr val="1F1F1F"/>
                </a:solidFill>
              </a:rPr>
              <a:t>Raloxifene — SERM; romosozumab — sclerostin antibody.</a:t>
            </a:r>
            <a:r>
              <a:rPr lang="en-US" sz="1300" dirty="0">
                <a:solidFill>
                  <a:srgbClr val="666666"/>
                </a:solidFill>
              </a:rPr>
              <a:t>  S54</a:t>
            </a:r>
            <a:endParaRPr lang="en-US" sz="1800" dirty="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bg>
      <p:bgPr>
        <a:solidFill>
          <a:srgbClr val="FFFFFF"/>
        </a:solidFill>
      </p:bgPr>
    </p:bg>
    <p:spTree>
      <p:nvGrpSpPr>
        <p:cNvPr id="1" name=""/>
        <p:cNvGrpSpPr/>
        <p:nvPr/>
      </p:nvGrpSpPr>
      <p:grpSpPr>
        <a:xfrm>
          <a:off x="0" y="0"/>
          <a:ext cx="0" cy="0"/>
          <a:chOff x="0" y="0"/>
          <a:chExt cx="0" cy="0"/>
        </a:xfrm>
      </p:grpSpPr>
      <p:sp>
        <p:nvSpPr>
          <p:cNvPr id="2" name="Kicker"/>
          <p:cNvSpPr txBox="1"/>
          <p:nvPr/>
        </p:nvSpPr>
        <p:spPr>
          <a:xfrm>
            <a:off x="548640" y="292608"/>
            <a:ext cx="8076895" cy="274320"/>
          </a:xfrm>
          <a:prstGeom prst="rect">
            <a:avLst/>
          </a:prstGeom>
          <a:noFill/>
          <a:ln/>
        </p:spPr>
        <p:txBody>
          <a:bodyPr wrap="square" lIns="0" tIns="0" rIns="0" bIns="0" rtlCol="0" anchor="ctr"/>
          <a:lstStyle/>
          <a:p>
            <a:pPr indent="0" marL="0">
              <a:buNone/>
            </a:pPr>
            <a:r>
              <a:rPr lang="en-US" sz="1200" b="1" spc="100" kern="0" dirty="0">
                <a:solidFill>
                  <a:srgbClr val="4472C4"/>
                </a:solidFill>
              </a:rPr>
              <a:t>BONE PHARMACOLOGY &amp; OSTEOPOROSIS</a:t>
            </a:r>
            <a:endParaRPr lang="en-US" sz="1200" dirty="0"/>
          </a:p>
        </p:txBody>
      </p:sp>
      <p:sp>
        <p:nvSpPr>
          <p:cNvPr id="3" name="Title"/>
          <p:cNvSpPr txBox="1"/>
          <p:nvPr/>
        </p:nvSpPr>
        <p:spPr>
          <a:xfrm>
            <a:off x="548640" y="566928"/>
            <a:ext cx="8076895" cy="713232"/>
          </a:xfrm>
          <a:prstGeom prst="rect">
            <a:avLst/>
          </a:prstGeom>
          <a:noFill/>
          <a:ln/>
        </p:spPr>
        <p:txBody>
          <a:bodyPr wrap="square" lIns="0" tIns="0" rIns="0" bIns="0" rtlCol="0" anchor="t"/>
          <a:lstStyle/>
          <a:p>
            <a:pPr indent="0" marL="0">
              <a:buNone/>
            </a:pPr>
            <a:r>
              <a:rPr lang="en-US" sz="3000" b="1" dirty="0">
                <a:solidFill>
                  <a:srgbClr val="1F1F1F"/>
                </a:solidFill>
                <a:latin typeface="Calibri" pitchFamily="34" charset="0"/>
                <a:ea typeface="Calibri" pitchFamily="34" charset="-122"/>
                <a:cs typeface="Calibri" pitchFamily="34" charset="-120"/>
              </a:rPr>
              <a:t>Mechanism of action</a:t>
            </a:r>
            <a:endParaRPr lang="en-US" sz="3000" dirty="0"/>
          </a:p>
        </p:txBody>
      </p:sp>
      <p:sp>
        <p:nvSpPr>
          <p:cNvPr id="4" name="Objective chip"/>
          <p:cNvSpPr/>
          <p:nvPr/>
        </p:nvSpPr>
        <p:spPr>
          <a:xfrm>
            <a:off x="8899855" y="365760"/>
            <a:ext cx="2743200" cy="384048"/>
          </a:xfrm>
          <a:prstGeom prst="roundRect">
            <a:avLst>
              <a:gd name="adj" fmla="val 35714"/>
            </a:avLst>
          </a:prstGeom>
          <a:solidFill>
            <a:srgbClr val="E3EBF8"/>
          </a:solidFill>
          <a:ln/>
        </p:spPr>
        <p:txBody>
          <a:bodyPr wrap="square" lIns="25400" tIns="25400" rIns="25400" bIns="25400" rtlCol="0" anchor="ctr"/>
          <a:lstStyle/>
          <a:p>
            <a:pPr algn="ctr" indent="0" marL="0">
              <a:buNone/>
            </a:pPr>
            <a:r>
              <a:rPr lang="en-US" sz="800" b="1" dirty="0">
                <a:solidFill>
                  <a:srgbClr val="2F4F8A"/>
                </a:solidFill>
              </a:rPr>
              <a:t>Objectives: SO3 · SO4 · IO2.1 · IO2.2 · IO2.3 · IO2.4 · IO2.5 · IO2.6</a:t>
            </a:r>
            <a:endParaRPr lang="en-US" sz="800" dirty="0"/>
          </a:p>
        </p:txBody>
      </p:sp>
      <p:sp>
        <p:nvSpPr>
          <p:cNvPr id="5" name="Footer"/>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1000" dirty="0">
                <a:solidFill>
                  <a:srgbClr val="666666"/>
                </a:solidFill>
              </a:rPr>
              <a:t>L04 · Musculoskeletal Pharmacology — Session 2</a:t>
            </a:r>
            <a:endParaRPr lang="en-US" sz="1000" dirty="0"/>
          </a:p>
        </p:txBody>
      </p:sp>
      <p:sp>
        <p:nvSpPr>
          <p:cNvPr id="6" name="Slide number"/>
          <p:cNvSpPr txBox="1"/>
          <p:nvPr/>
        </p:nvSpPr>
        <p:spPr>
          <a:xfrm>
            <a:off x="10728655" y="6419088"/>
            <a:ext cx="914400" cy="274320"/>
          </a:xfrm>
          <a:prstGeom prst="rect">
            <a:avLst/>
          </a:prstGeom>
          <a:noFill/>
          <a:ln/>
        </p:spPr>
        <p:txBody>
          <a:bodyPr wrap="square" lIns="0" tIns="0" rIns="0" bIns="0" rtlCol="0" anchor="ctr"/>
          <a:lstStyle/>
          <a:p>
            <a:pPr algn="r" indent="0" marL="0">
              <a:buNone/>
            </a:pPr>
            <a:r>
              <a:rPr lang="en-US" sz="1000" dirty="0">
                <a:solidFill>
                  <a:srgbClr val="666666"/>
                </a:solidFill>
              </a:rPr>
              <a:t>73</a:t>
            </a:r>
            <a:endParaRPr lang="en-US" sz="1000" dirty="0"/>
          </a:p>
        </p:txBody>
      </p:sp>
      <p:sp>
        <p:nvSpPr>
          <p:cNvPr id="7" name="Mechanism of action (1/2) card"/>
          <p:cNvSpPr/>
          <p:nvPr/>
        </p:nvSpPr>
        <p:spPr>
          <a:xfrm>
            <a:off x="548640" y="1325880"/>
            <a:ext cx="11094415" cy="3721608"/>
          </a:xfrm>
          <a:prstGeom prst="roundRect">
            <a:avLst>
              <a:gd name="adj" fmla="val 2948"/>
            </a:avLst>
          </a:prstGeom>
          <a:solidFill>
            <a:srgbClr val="F2F4F7"/>
          </a:solidFill>
          <a:ln w="12700">
            <a:solidFill>
              <a:srgbClr val="F2F4F7"/>
            </a:solidFill>
            <a:prstDash val="solid"/>
          </a:ln>
        </p:spPr>
      </p:sp>
      <p:sp>
        <p:nvSpPr>
          <p:cNvPr id="8" name="Mechanism of action (1/2) icon circle"/>
          <p:cNvSpPr/>
          <p:nvPr/>
        </p:nvSpPr>
        <p:spPr>
          <a:xfrm>
            <a:off x="777240" y="1508760"/>
            <a:ext cx="438912" cy="438912"/>
          </a:xfrm>
          <a:prstGeom prst="ellipse">
            <a:avLst/>
          </a:prstGeom>
          <a:solidFill>
            <a:srgbClr val="7030A0"/>
          </a:solidFill>
          <a:ln w="12700">
            <a:solidFill>
              <a:srgbClr val="7030A0"/>
            </a:solidFill>
            <a:prstDash val="solid"/>
          </a:ln>
        </p:spPr>
      </p:sp>
      <p:pic>
        <p:nvPicPr>
          <p:cNvPr id="9" name="Mechanism of action (1/2) icon" descr="preencoded.png">    </p:cNvPr>
          <p:cNvPicPr>
            <a:picLocks noChangeAspect="1"/>
          </p:cNvPicPr>
          <p:nvPr/>
        </p:nvPicPr>
        <p:blipFill>
          <a:blip r:embed="rId1"/>
          <a:stretch>
            <a:fillRect/>
          </a:stretch>
        </p:blipFill>
        <p:spPr>
          <a:xfrm>
            <a:off x="877824" y="1609344"/>
            <a:ext cx="237744" cy="237744"/>
          </a:xfrm>
          <a:prstGeom prst="rect">
            <a:avLst/>
          </a:prstGeom>
        </p:spPr>
      </p:pic>
      <p:sp>
        <p:nvSpPr>
          <p:cNvPr id="10" name="Mechanism of action (1/2) heading"/>
          <p:cNvSpPr txBox="1"/>
          <p:nvPr/>
        </p:nvSpPr>
        <p:spPr>
          <a:xfrm>
            <a:off x="1353312" y="1508760"/>
            <a:ext cx="10088575" cy="438912"/>
          </a:xfrm>
          <a:prstGeom prst="rect">
            <a:avLst/>
          </a:prstGeom>
          <a:noFill/>
          <a:ln/>
        </p:spPr>
        <p:txBody>
          <a:bodyPr wrap="square" lIns="0" tIns="0" rIns="0" bIns="0" rtlCol="0" anchor="ctr"/>
          <a:lstStyle/>
          <a:p>
            <a:pPr indent="0" marL="0">
              <a:buNone/>
            </a:pPr>
            <a:r>
              <a:rPr lang="en-US" sz="1800" b="1" dirty="0">
                <a:solidFill>
                  <a:srgbClr val="7030A0"/>
                </a:solidFill>
              </a:rPr>
              <a:t>Mechanism of action (1/2)</a:t>
            </a:r>
            <a:endParaRPr lang="en-US" sz="1800" dirty="0"/>
          </a:p>
        </p:txBody>
      </p:sp>
      <p:sp>
        <p:nvSpPr>
          <p:cNvPr id="11" name="Mechanism of action (1/2) body"/>
          <p:cNvSpPr txBox="1"/>
          <p:nvPr/>
        </p:nvSpPr>
        <p:spPr>
          <a:xfrm>
            <a:off x="777240" y="2075688"/>
            <a:ext cx="10637215" cy="2852928"/>
          </a:xfrm>
          <a:prstGeom prst="rect">
            <a:avLst/>
          </a:prstGeom>
          <a:noFill/>
          <a:ln/>
        </p:spPr>
        <p:txBody>
          <a:bodyPr wrap="square" lIns="0" tIns="0" rIns="0" bIns="0" rtlCol="0" anchor="t"/>
          <a:lstStyle/>
          <a:p>
            <a:pPr marL="228600" indent="-228600">
              <a:spcAft>
                <a:spcPts val="800"/>
              </a:spcAft>
              <a:buSzPct val="100000"/>
              <a:buChar char="•"/>
            </a:pPr>
            <a:r>
              <a:rPr lang="en-US" sz="1800" dirty="0">
                <a:solidFill>
                  <a:srgbClr val="1F1F1F"/>
                </a:solidFill>
              </a:rPr>
              <a:t>Bisphosphonates — </a:t>
            </a:r>
            <a:r>
              <a:rPr lang="en-US" sz="1800" b="1" dirty="0">
                <a:solidFill>
                  <a:srgbClr val="1F1F1F"/>
                </a:solidFill>
              </a:rPr>
              <a:t>mechanism: inhibit osteoclast-mediated bone resorption.</a:t>
            </a:r>
            <a:r>
              <a:rPr lang="en-US" sz="1800" dirty="0">
                <a:solidFill>
                  <a:srgbClr val="1F1F1F"/>
                </a:solidFill>
              </a:rPr>
              <a:t> They bind hydroxyapatite at resorption sites → osteoclasts take them up → nitrogen-containing agents inhibit </a:t>
            </a:r>
            <a:r>
              <a:rPr lang="en-US" sz="1800" b="1" dirty="0">
                <a:solidFill>
                  <a:srgbClr val="1F1F1F"/>
                </a:solidFill>
              </a:rPr>
              <a:t>FPP synthase</a:t>
            </a:r>
            <a:r>
              <a:rPr lang="en-US" sz="1800" dirty="0">
                <a:solidFill>
                  <a:srgbClr val="1F1F1F"/>
                </a:solidFill>
              </a:rPr>
              <a:t> (mevalonate pathway) → loss of prenylation of small GTPases → </a:t>
            </a:r>
            <a:r>
              <a:rPr lang="en-US" sz="1800" b="1" dirty="0">
                <a:solidFill>
                  <a:srgbClr val="1F1F1F"/>
                </a:solidFill>
              </a:rPr>
              <a:t>osteoclast apoptosis</a:t>
            </a:r>
            <a:r>
              <a:rPr lang="en-US" sz="1800" dirty="0">
                <a:solidFill>
                  <a:srgbClr val="1F1F1F"/>
                </a:solidFill>
              </a:rPr>
              <a:t>.</a:t>
            </a:r>
            <a:r>
              <a:rPr lang="en-US" sz="1300" dirty="0">
                <a:solidFill>
                  <a:srgbClr val="666666"/>
                </a:solidFill>
              </a:rPr>
              <a:t>  S47; S48</a:t>
            </a:r>
            <a:endParaRPr lang="en-US" sz="1800" dirty="0"/>
          </a:p>
          <a:p>
            <a:pPr marL="228600" indent="-228600">
              <a:spcAft>
                <a:spcPts val="800"/>
              </a:spcAft>
              <a:buSzPct val="100000"/>
              <a:buChar char="•"/>
            </a:pPr>
            <a:r>
              <a:rPr lang="en-US" sz="1800" b="1" dirty="0">
                <a:solidFill>
                  <a:srgbClr val="1F1F1F"/>
                </a:solidFill>
              </a:rPr>
              <a:t>Denosumab:</a:t>
            </a:r>
            <a:r>
              <a:rPr lang="en-US" sz="1800" dirty="0">
                <a:solidFill>
                  <a:srgbClr val="1F1F1F"/>
                </a:solidFill>
              </a:rPr>
              <a:t> monoclonal antibody, </a:t>
            </a:r>
            <a:r>
              <a:rPr lang="en-US" sz="1800" b="1" dirty="0">
                <a:solidFill>
                  <a:srgbClr val="1F1F1F"/>
                </a:solidFill>
              </a:rPr>
              <a:t>RANKL inhibitor</a:t>
            </a:r>
            <a:r>
              <a:rPr lang="en-US" sz="1800" dirty="0">
                <a:solidFill>
                  <a:srgbClr val="1F1F1F"/>
                </a:solidFill>
              </a:rPr>
              <a:t> — blocks osteoclast formation.</a:t>
            </a:r>
            <a:r>
              <a:rPr lang="en-US" sz="1300" dirty="0">
                <a:solidFill>
                  <a:srgbClr val="666666"/>
                </a:solidFill>
              </a:rPr>
              <a:t>  S54; S55; SG U2-M</a:t>
            </a:r>
            <a:endParaRPr lang="en-US" sz="1800" dirty="0"/>
          </a:p>
          <a:p>
            <a:pPr marL="228600" indent="-228600">
              <a:spcAft>
                <a:spcPts val="800"/>
              </a:spcAft>
              <a:buSzPct val="100000"/>
              <a:buChar char="•"/>
            </a:pPr>
            <a:r>
              <a:rPr lang="en-US" sz="1800" b="1" dirty="0">
                <a:solidFill>
                  <a:srgbClr val="1F1F1F"/>
                </a:solidFill>
              </a:rPr>
              <a:t>Teriparatide</a:t>
            </a:r>
            <a:r>
              <a:rPr lang="en-US" sz="1800" dirty="0">
                <a:solidFill>
                  <a:srgbClr val="1F1F1F"/>
                </a:solidFill>
              </a:rPr>
              <a:t> (PTH 1-34, daily injection) / </a:t>
            </a:r>
            <a:r>
              <a:rPr lang="en-US" sz="1800" b="1" dirty="0">
                <a:solidFill>
                  <a:srgbClr val="1F1F1F"/>
                </a:solidFill>
              </a:rPr>
              <a:t>abaloparatide:</a:t>
            </a:r>
            <a:r>
              <a:rPr lang="en-US" sz="1800" dirty="0">
                <a:solidFill>
                  <a:srgbClr val="1F1F1F"/>
                </a:solidFill>
              </a:rPr>
              <a:t> PTH-analog “anabolic” agents that stimulate osteoblasts and new bone formation.</a:t>
            </a:r>
            <a:r>
              <a:rPr lang="en-US" sz="1300" dirty="0">
                <a:solidFill>
                  <a:srgbClr val="666666"/>
                </a:solidFill>
              </a:rPr>
              <a:t>  S54; S55; SG U2-M</a:t>
            </a:r>
            <a:endParaRPr lang="en-US" sz="1800" dirty="0"/>
          </a:p>
          <a:p>
            <a:pPr marL="228600" indent="-228600">
              <a:spcAft>
                <a:spcPts val="800"/>
              </a:spcAft>
              <a:buSzPct val="100000"/>
              <a:buChar char="•"/>
            </a:pPr>
            <a:r>
              <a:rPr lang="en-US" sz="1800" b="1" dirty="0">
                <a:solidFill>
                  <a:srgbClr val="1F1F1F"/>
                </a:solidFill>
              </a:rPr>
              <a:t>Romosozumab:</a:t>
            </a:r>
            <a:r>
              <a:rPr lang="en-US" sz="1800" dirty="0">
                <a:solidFill>
                  <a:srgbClr val="1F1F1F"/>
                </a:solidFill>
              </a:rPr>
              <a:t> sclerostin antibody that both builds bone and limits resorption — increases formation, decreases resorption → BMD up, fracture risk down.</a:t>
            </a:r>
            <a:r>
              <a:rPr lang="en-US" sz="1300" dirty="0">
                <a:solidFill>
                  <a:srgbClr val="666666"/>
                </a:solidFill>
              </a:rPr>
              <a:t>  S54; S55</a:t>
            </a:r>
            <a:endParaRPr lang="en-US" sz="1800"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4">
    <p:bg>
      <p:bgPr>
        <a:solidFill>
          <a:srgbClr val="FFFFFF"/>
        </a:solidFill>
      </p:bgPr>
    </p:bg>
    <p:spTree>
      <p:nvGrpSpPr>
        <p:cNvPr id="1" name=""/>
        <p:cNvGrpSpPr/>
        <p:nvPr/>
      </p:nvGrpSpPr>
      <p:grpSpPr>
        <a:xfrm>
          <a:off x="0" y="0"/>
          <a:ext cx="0" cy="0"/>
          <a:chOff x="0" y="0"/>
          <a:chExt cx="0" cy="0"/>
        </a:xfrm>
      </p:grpSpPr>
      <p:sp>
        <p:nvSpPr>
          <p:cNvPr id="2" name="Kicker"/>
          <p:cNvSpPr txBox="1"/>
          <p:nvPr/>
        </p:nvSpPr>
        <p:spPr>
          <a:xfrm>
            <a:off x="548640" y="292608"/>
            <a:ext cx="8076895" cy="274320"/>
          </a:xfrm>
          <a:prstGeom prst="rect">
            <a:avLst/>
          </a:prstGeom>
          <a:noFill/>
          <a:ln/>
        </p:spPr>
        <p:txBody>
          <a:bodyPr wrap="square" lIns="0" tIns="0" rIns="0" bIns="0" rtlCol="0" anchor="ctr"/>
          <a:lstStyle/>
          <a:p>
            <a:pPr indent="0" marL="0">
              <a:buNone/>
            </a:pPr>
            <a:r>
              <a:rPr lang="en-US" sz="1200" b="1" spc="100" kern="0" dirty="0">
                <a:solidFill>
                  <a:srgbClr val="4472C4"/>
                </a:solidFill>
              </a:rPr>
              <a:t>BONE PHARMACOLOGY &amp; OSTEOPOROSIS</a:t>
            </a:r>
            <a:endParaRPr lang="en-US" sz="1200" dirty="0"/>
          </a:p>
        </p:txBody>
      </p:sp>
      <p:sp>
        <p:nvSpPr>
          <p:cNvPr id="3" name="Title"/>
          <p:cNvSpPr txBox="1"/>
          <p:nvPr/>
        </p:nvSpPr>
        <p:spPr>
          <a:xfrm>
            <a:off x="548640" y="566928"/>
            <a:ext cx="8076895" cy="713232"/>
          </a:xfrm>
          <a:prstGeom prst="rect">
            <a:avLst/>
          </a:prstGeom>
          <a:noFill/>
          <a:ln/>
        </p:spPr>
        <p:txBody>
          <a:bodyPr wrap="square" lIns="0" tIns="0" rIns="0" bIns="0" rtlCol="0" anchor="t"/>
          <a:lstStyle/>
          <a:p>
            <a:pPr indent="0" marL="0">
              <a:buNone/>
            </a:pPr>
            <a:r>
              <a:rPr lang="en-US" sz="3000" b="1" dirty="0">
                <a:solidFill>
                  <a:srgbClr val="1F1F1F"/>
                </a:solidFill>
                <a:latin typeface="Calibri" pitchFamily="34" charset="0"/>
                <a:ea typeface="Calibri" pitchFamily="34" charset="-122"/>
                <a:cs typeface="Calibri" pitchFamily="34" charset="-120"/>
              </a:rPr>
              <a:t>Mechanism of action (cont.)</a:t>
            </a:r>
            <a:endParaRPr lang="en-US" sz="3000" dirty="0"/>
          </a:p>
        </p:txBody>
      </p:sp>
      <p:sp>
        <p:nvSpPr>
          <p:cNvPr id="4" name="Objective chip"/>
          <p:cNvSpPr/>
          <p:nvPr/>
        </p:nvSpPr>
        <p:spPr>
          <a:xfrm>
            <a:off x="8899855" y="365760"/>
            <a:ext cx="2743200" cy="384048"/>
          </a:xfrm>
          <a:prstGeom prst="roundRect">
            <a:avLst>
              <a:gd name="adj" fmla="val 35714"/>
            </a:avLst>
          </a:prstGeom>
          <a:solidFill>
            <a:srgbClr val="E3EBF8"/>
          </a:solidFill>
          <a:ln/>
        </p:spPr>
        <p:txBody>
          <a:bodyPr wrap="square" lIns="25400" tIns="25400" rIns="25400" bIns="25400" rtlCol="0" anchor="ctr"/>
          <a:lstStyle/>
          <a:p>
            <a:pPr algn="ctr" indent="0" marL="0">
              <a:buNone/>
            </a:pPr>
            <a:r>
              <a:rPr lang="en-US" sz="800" b="1" dirty="0">
                <a:solidFill>
                  <a:srgbClr val="2F4F8A"/>
                </a:solidFill>
              </a:rPr>
              <a:t>Objectives: SO3 · SO4 · IO2.1 · IO2.2 · IO2.3 · IO2.4 · IO2.5 · IO2.6</a:t>
            </a:r>
            <a:endParaRPr lang="en-US" sz="800" dirty="0"/>
          </a:p>
        </p:txBody>
      </p:sp>
      <p:sp>
        <p:nvSpPr>
          <p:cNvPr id="5" name="Footer"/>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1000" dirty="0">
                <a:solidFill>
                  <a:srgbClr val="666666"/>
                </a:solidFill>
              </a:rPr>
              <a:t>L04 · Musculoskeletal Pharmacology — Session 2</a:t>
            </a:r>
            <a:endParaRPr lang="en-US" sz="1000" dirty="0"/>
          </a:p>
        </p:txBody>
      </p:sp>
      <p:sp>
        <p:nvSpPr>
          <p:cNvPr id="6" name="Slide number"/>
          <p:cNvSpPr txBox="1"/>
          <p:nvPr/>
        </p:nvSpPr>
        <p:spPr>
          <a:xfrm>
            <a:off x="10728655" y="6419088"/>
            <a:ext cx="914400" cy="274320"/>
          </a:xfrm>
          <a:prstGeom prst="rect">
            <a:avLst/>
          </a:prstGeom>
          <a:noFill/>
          <a:ln/>
        </p:spPr>
        <p:txBody>
          <a:bodyPr wrap="square" lIns="0" tIns="0" rIns="0" bIns="0" rtlCol="0" anchor="ctr"/>
          <a:lstStyle/>
          <a:p>
            <a:pPr algn="r" indent="0" marL="0">
              <a:buNone/>
            </a:pPr>
            <a:r>
              <a:rPr lang="en-US" sz="1000" dirty="0">
                <a:solidFill>
                  <a:srgbClr val="666666"/>
                </a:solidFill>
              </a:rPr>
              <a:t>74</a:t>
            </a:r>
            <a:endParaRPr lang="en-US" sz="1000" dirty="0"/>
          </a:p>
        </p:txBody>
      </p:sp>
      <p:sp>
        <p:nvSpPr>
          <p:cNvPr id="7" name="Mechanism of action (2/2) card"/>
          <p:cNvSpPr/>
          <p:nvPr/>
        </p:nvSpPr>
        <p:spPr>
          <a:xfrm>
            <a:off x="548640" y="1325880"/>
            <a:ext cx="11094415" cy="3721608"/>
          </a:xfrm>
          <a:prstGeom prst="roundRect">
            <a:avLst>
              <a:gd name="adj" fmla="val 2948"/>
            </a:avLst>
          </a:prstGeom>
          <a:solidFill>
            <a:srgbClr val="F2F4F7"/>
          </a:solidFill>
          <a:ln w="12700">
            <a:solidFill>
              <a:srgbClr val="F2F4F7"/>
            </a:solidFill>
            <a:prstDash val="solid"/>
          </a:ln>
        </p:spPr>
      </p:sp>
      <p:sp>
        <p:nvSpPr>
          <p:cNvPr id="8" name="Mechanism of action (2/2) icon circle"/>
          <p:cNvSpPr/>
          <p:nvPr/>
        </p:nvSpPr>
        <p:spPr>
          <a:xfrm>
            <a:off x="777240" y="1508760"/>
            <a:ext cx="438912" cy="438912"/>
          </a:xfrm>
          <a:prstGeom prst="ellipse">
            <a:avLst/>
          </a:prstGeom>
          <a:solidFill>
            <a:srgbClr val="7030A0"/>
          </a:solidFill>
          <a:ln w="12700">
            <a:solidFill>
              <a:srgbClr val="7030A0"/>
            </a:solidFill>
            <a:prstDash val="solid"/>
          </a:ln>
        </p:spPr>
      </p:sp>
      <p:pic>
        <p:nvPicPr>
          <p:cNvPr id="9" name="Mechanism of action (2/2) icon" descr="preencoded.png">    </p:cNvPr>
          <p:cNvPicPr>
            <a:picLocks noChangeAspect="1"/>
          </p:cNvPicPr>
          <p:nvPr/>
        </p:nvPicPr>
        <p:blipFill>
          <a:blip r:embed="rId1"/>
          <a:stretch>
            <a:fillRect/>
          </a:stretch>
        </p:blipFill>
        <p:spPr>
          <a:xfrm>
            <a:off x="877824" y="1609344"/>
            <a:ext cx="237744" cy="237744"/>
          </a:xfrm>
          <a:prstGeom prst="rect">
            <a:avLst/>
          </a:prstGeom>
        </p:spPr>
      </p:pic>
      <p:sp>
        <p:nvSpPr>
          <p:cNvPr id="10" name="Mechanism of action (2/2) heading"/>
          <p:cNvSpPr txBox="1"/>
          <p:nvPr/>
        </p:nvSpPr>
        <p:spPr>
          <a:xfrm>
            <a:off x="1353312" y="1508760"/>
            <a:ext cx="10088575" cy="438912"/>
          </a:xfrm>
          <a:prstGeom prst="rect">
            <a:avLst/>
          </a:prstGeom>
          <a:noFill/>
          <a:ln/>
        </p:spPr>
        <p:txBody>
          <a:bodyPr wrap="square" lIns="0" tIns="0" rIns="0" bIns="0" rtlCol="0" anchor="ctr"/>
          <a:lstStyle/>
          <a:p>
            <a:pPr indent="0" marL="0">
              <a:buNone/>
            </a:pPr>
            <a:r>
              <a:rPr lang="en-US" sz="1800" b="1" dirty="0">
                <a:solidFill>
                  <a:srgbClr val="7030A0"/>
                </a:solidFill>
              </a:rPr>
              <a:t>Mechanism of action (2/2)</a:t>
            </a:r>
            <a:endParaRPr lang="en-US" sz="1800" dirty="0"/>
          </a:p>
        </p:txBody>
      </p:sp>
      <p:sp>
        <p:nvSpPr>
          <p:cNvPr id="11" name="Mechanism of action (2/2) body"/>
          <p:cNvSpPr txBox="1"/>
          <p:nvPr/>
        </p:nvSpPr>
        <p:spPr>
          <a:xfrm>
            <a:off x="777240" y="2075688"/>
            <a:ext cx="10637215" cy="2852928"/>
          </a:xfrm>
          <a:prstGeom prst="rect">
            <a:avLst/>
          </a:prstGeom>
          <a:noFill/>
          <a:ln/>
        </p:spPr>
        <p:txBody>
          <a:bodyPr wrap="square" lIns="0" tIns="0" rIns="0" bIns="0" rtlCol="0" anchor="t"/>
          <a:lstStyle/>
          <a:p>
            <a:pPr marL="228600" indent="-228600">
              <a:spcAft>
                <a:spcPts val="800"/>
              </a:spcAft>
              <a:buSzPct val="100000"/>
              <a:buChar char="•"/>
            </a:pPr>
            <a:r>
              <a:rPr lang="en-US" sz="1800" b="1" dirty="0">
                <a:solidFill>
                  <a:srgbClr val="1F1F1F"/>
                </a:solidFill>
              </a:rPr>
              <a:t>SERMs</a:t>
            </a:r>
            <a:r>
              <a:rPr lang="en-US" sz="1800" dirty="0">
                <a:solidFill>
                  <a:srgbClr val="1F1F1F"/>
                </a:solidFill>
              </a:rPr>
              <a:t> — selective estrogen receptor modulators (raloxifene): estrogen-like effect on bone — antiresorptive, like calcitonin.</a:t>
            </a:r>
            <a:r>
              <a:rPr lang="en-US" sz="1300" dirty="0">
                <a:solidFill>
                  <a:srgbClr val="666666"/>
                </a:solidFill>
              </a:rPr>
              <a:t>  S54; S55</a:t>
            </a:r>
            <a:endParaRPr lang="en-US" sz="1800" dirty="0"/>
          </a:p>
          <a:p>
            <a:pPr marL="228600" indent="-228600">
              <a:spcAft>
                <a:spcPts val="800"/>
              </a:spcAft>
              <a:buSzPct val="100000"/>
              <a:buChar char="•"/>
            </a:pPr>
            <a:r>
              <a:rPr lang="en-US" sz="1800" b="1" dirty="0">
                <a:solidFill>
                  <a:srgbClr val="1F1F1F"/>
                </a:solidFill>
              </a:rPr>
              <a:t>Glucocorticoid-induced osteoporosis:</a:t>
            </a:r>
            <a:r>
              <a:rPr lang="en-US" sz="1800" dirty="0">
                <a:solidFill>
                  <a:srgbClr val="1F1F1F"/>
                </a:solidFill>
              </a:rPr>
              <a:t> glucocorticoids increase osteoclast-mediated resorption and suppress osteoblast-driven formation.</a:t>
            </a:r>
            <a:r>
              <a:rPr lang="en-US" sz="1300" dirty="0">
                <a:solidFill>
                  <a:srgbClr val="666666"/>
                </a:solidFill>
              </a:rPr>
              <a:t>  S71</a:t>
            </a:r>
            <a:endParaRPr lang="en-US" sz="1800" dirty="0"/>
          </a:p>
          <a:p>
            <a:pPr marL="228600" indent="-228600">
              <a:spcAft>
                <a:spcPts val="800"/>
              </a:spcAft>
              <a:buSzPct val="100000"/>
              <a:buChar char="•"/>
            </a:pPr>
            <a:r>
              <a:rPr lang="en-US" sz="1400" b="1" dirty="0">
                <a:solidFill>
                  <a:srgbClr val="000000"/>
                </a:solidFill>
                <a:highlight>
                  <a:srgbClr val="FFC000"/>
                </a:highlight>
              </a:rPr>
              <a:t> TB </a:t>
            </a:r>
            <a:r>
              <a:rPr lang="en-US" sz="1800" dirty="0">
                <a:solidFill>
                  <a:srgbClr val="000000"/>
                </a:solidFill>
              </a:rPr>
              <a:t> </a:t>
            </a:r>
            <a:r>
              <a:rPr lang="en-US" sz="1800" dirty="0">
                <a:solidFill>
                  <a:srgbClr val="1F1F1F"/>
                </a:solidFill>
              </a:rPr>
              <a:t>Amino-bisphosphonates (alendronate, risedronate) inhibit farnesyl pyrophosphate synthase in the mevalonate pathway.</a:t>
            </a:r>
            <a:r>
              <a:rPr lang="en-US" sz="1300" dirty="0">
                <a:solidFill>
                  <a:srgbClr val="666666"/>
                </a:solidFill>
              </a:rPr>
              <a:t>  p. 820</a:t>
            </a:r>
            <a:endParaRPr lang="en-US" sz="1800" dirty="0"/>
          </a:p>
          <a:p>
            <a:pPr marL="228600" indent="-228600">
              <a:spcAft>
                <a:spcPts val="800"/>
              </a:spcAft>
              <a:buSzPct val="100000"/>
              <a:buChar char="•"/>
            </a:pPr>
            <a:r>
              <a:rPr lang="en-US" sz="1400" b="1" dirty="0">
                <a:solidFill>
                  <a:srgbClr val="000000"/>
                </a:solidFill>
                <a:highlight>
                  <a:srgbClr val="FFC000"/>
                </a:highlight>
              </a:rPr>
              <a:t> TB </a:t>
            </a:r>
            <a:r>
              <a:rPr lang="en-US" sz="1800" dirty="0">
                <a:solidFill>
                  <a:srgbClr val="000000"/>
                </a:solidFill>
              </a:rPr>
              <a:t> </a:t>
            </a:r>
            <a:r>
              <a:rPr lang="en-US" sz="1800" dirty="0">
                <a:solidFill>
                  <a:srgbClr val="1F1F1F"/>
                </a:solidFill>
              </a:rPr>
              <a:t>Denosumab does not kill osteoclasts and does not deposit in bone, so its effect reverses when stopped.</a:t>
            </a:r>
            <a:r>
              <a:rPr lang="en-US" sz="1300" dirty="0">
                <a:solidFill>
                  <a:srgbClr val="666666"/>
                </a:solidFill>
              </a:rPr>
              <a:t>  p. 820</a:t>
            </a:r>
            <a:endParaRPr lang="en-US" sz="1800" dirty="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5">
    <p:bg>
      <p:bgPr>
        <a:solidFill>
          <a:srgbClr val="FFFFFF"/>
        </a:solidFill>
      </p:bgPr>
    </p:bg>
    <p:spTree>
      <p:nvGrpSpPr>
        <p:cNvPr id="1" name=""/>
        <p:cNvGrpSpPr/>
        <p:nvPr/>
      </p:nvGrpSpPr>
      <p:grpSpPr>
        <a:xfrm>
          <a:off x="0" y="0"/>
          <a:ext cx="0" cy="0"/>
          <a:chOff x="0" y="0"/>
          <a:chExt cx="0" cy="0"/>
        </a:xfrm>
      </p:grpSpPr>
      <p:sp>
        <p:nvSpPr>
          <p:cNvPr id="2" name="Kicker"/>
          <p:cNvSpPr txBox="1"/>
          <p:nvPr/>
        </p:nvSpPr>
        <p:spPr>
          <a:xfrm>
            <a:off x="548640" y="292608"/>
            <a:ext cx="8076895" cy="274320"/>
          </a:xfrm>
          <a:prstGeom prst="rect">
            <a:avLst/>
          </a:prstGeom>
          <a:noFill/>
          <a:ln/>
        </p:spPr>
        <p:txBody>
          <a:bodyPr wrap="square" lIns="0" tIns="0" rIns="0" bIns="0" rtlCol="0" anchor="ctr"/>
          <a:lstStyle/>
          <a:p>
            <a:pPr indent="0" marL="0">
              <a:buNone/>
            </a:pPr>
            <a:r>
              <a:rPr lang="en-US" sz="1200" b="1" spc="100" kern="0" dirty="0">
                <a:solidFill>
                  <a:srgbClr val="4472C4"/>
                </a:solidFill>
              </a:rPr>
              <a:t>BONE PHARMACOLOGY &amp; OSTEOPOROSIS</a:t>
            </a:r>
            <a:endParaRPr lang="en-US" sz="1200" dirty="0"/>
          </a:p>
        </p:txBody>
      </p:sp>
      <p:sp>
        <p:nvSpPr>
          <p:cNvPr id="3" name="Title"/>
          <p:cNvSpPr txBox="1"/>
          <p:nvPr/>
        </p:nvSpPr>
        <p:spPr>
          <a:xfrm>
            <a:off x="548640" y="566928"/>
            <a:ext cx="8076895" cy="713232"/>
          </a:xfrm>
          <a:prstGeom prst="rect">
            <a:avLst/>
          </a:prstGeom>
          <a:noFill/>
          <a:ln/>
        </p:spPr>
        <p:txBody>
          <a:bodyPr wrap="square" lIns="0" tIns="0" rIns="0" bIns="0" rtlCol="0" anchor="t"/>
          <a:lstStyle/>
          <a:p>
            <a:pPr indent="0" marL="0">
              <a:buNone/>
            </a:pPr>
            <a:r>
              <a:rPr lang="en-US" sz="3000" b="1" dirty="0">
                <a:solidFill>
                  <a:srgbClr val="1F1F1F"/>
                </a:solidFill>
                <a:latin typeface="Calibri" pitchFamily="34" charset="0"/>
                <a:ea typeface="Calibri" pitchFamily="34" charset="-122"/>
                <a:cs typeface="Calibri" pitchFamily="34" charset="-120"/>
              </a:rPr>
              <a:t>Indications</a:t>
            </a:r>
            <a:endParaRPr lang="en-US" sz="3000" dirty="0"/>
          </a:p>
        </p:txBody>
      </p:sp>
      <p:sp>
        <p:nvSpPr>
          <p:cNvPr id="4" name="Objective chip"/>
          <p:cNvSpPr/>
          <p:nvPr/>
        </p:nvSpPr>
        <p:spPr>
          <a:xfrm>
            <a:off x="8899855" y="365760"/>
            <a:ext cx="2743200" cy="384048"/>
          </a:xfrm>
          <a:prstGeom prst="roundRect">
            <a:avLst>
              <a:gd name="adj" fmla="val 35714"/>
            </a:avLst>
          </a:prstGeom>
          <a:solidFill>
            <a:srgbClr val="E3EBF8"/>
          </a:solidFill>
          <a:ln/>
        </p:spPr>
        <p:txBody>
          <a:bodyPr wrap="square" lIns="25400" tIns="25400" rIns="25400" bIns="25400" rtlCol="0" anchor="ctr"/>
          <a:lstStyle/>
          <a:p>
            <a:pPr algn="ctr" indent="0" marL="0">
              <a:buNone/>
            </a:pPr>
            <a:r>
              <a:rPr lang="en-US" sz="800" b="1" dirty="0">
                <a:solidFill>
                  <a:srgbClr val="2F4F8A"/>
                </a:solidFill>
              </a:rPr>
              <a:t>Objectives: SO3 · SO4 · IO2.1 · IO2.2 · IO2.3 · IO2.4 · IO2.5 · IO2.6</a:t>
            </a:r>
            <a:endParaRPr lang="en-US" sz="800" dirty="0"/>
          </a:p>
        </p:txBody>
      </p:sp>
      <p:sp>
        <p:nvSpPr>
          <p:cNvPr id="5" name="Footer"/>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1000" dirty="0">
                <a:solidFill>
                  <a:srgbClr val="666666"/>
                </a:solidFill>
              </a:rPr>
              <a:t>L04 · Musculoskeletal Pharmacology — Session 2</a:t>
            </a:r>
            <a:endParaRPr lang="en-US" sz="1000" dirty="0"/>
          </a:p>
        </p:txBody>
      </p:sp>
      <p:sp>
        <p:nvSpPr>
          <p:cNvPr id="6" name="Slide number"/>
          <p:cNvSpPr txBox="1"/>
          <p:nvPr/>
        </p:nvSpPr>
        <p:spPr>
          <a:xfrm>
            <a:off x="10728655" y="6419088"/>
            <a:ext cx="914400" cy="274320"/>
          </a:xfrm>
          <a:prstGeom prst="rect">
            <a:avLst/>
          </a:prstGeom>
          <a:noFill/>
          <a:ln/>
        </p:spPr>
        <p:txBody>
          <a:bodyPr wrap="square" lIns="0" tIns="0" rIns="0" bIns="0" rtlCol="0" anchor="ctr"/>
          <a:lstStyle/>
          <a:p>
            <a:pPr algn="r" indent="0" marL="0">
              <a:buNone/>
            </a:pPr>
            <a:r>
              <a:rPr lang="en-US" sz="1000" dirty="0">
                <a:solidFill>
                  <a:srgbClr val="666666"/>
                </a:solidFill>
              </a:rPr>
              <a:t>75</a:t>
            </a:r>
            <a:endParaRPr lang="en-US" sz="1000" dirty="0"/>
          </a:p>
        </p:txBody>
      </p:sp>
      <p:sp>
        <p:nvSpPr>
          <p:cNvPr id="7" name="Indications card"/>
          <p:cNvSpPr/>
          <p:nvPr/>
        </p:nvSpPr>
        <p:spPr>
          <a:xfrm>
            <a:off x="548640" y="1325880"/>
            <a:ext cx="11094415" cy="4219956"/>
          </a:xfrm>
          <a:prstGeom prst="roundRect">
            <a:avLst>
              <a:gd name="adj" fmla="val 2600"/>
            </a:avLst>
          </a:prstGeom>
          <a:solidFill>
            <a:srgbClr val="F2F4F7"/>
          </a:solidFill>
          <a:ln w="12700">
            <a:solidFill>
              <a:srgbClr val="F2F4F7"/>
            </a:solidFill>
            <a:prstDash val="solid"/>
          </a:ln>
        </p:spPr>
      </p:sp>
      <p:sp>
        <p:nvSpPr>
          <p:cNvPr id="8" name="Indications icon circle"/>
          <p:cNvSpPr/>
          <p:nvPr/>
        </p:nvSpPr>
        <p:spPr>
          <a:xfrm>
            <a:off x="777240" y="1508760"/>
            <a:ext cx="438912" cy="438912"/>
          </a:xfrm>
          <a:prstGeom prst="ellipse">
            <a:avLst/>
          </a:prstGeom>
          <a:solidFill>
            <a:srgbClr val="548235"/>
          </a:solidFill>
          <a:ln w="12700">
            <a:solidFill>
              <a:srgbClr val="548235"/>
            </a:solidFill>
            <a:prstDash val="solid"/>
          </a:ln>
        </p:spPr>
      </p:sp>
      <p:pic>
        <p:nvPicPr>
          <p:cNvPr id="9" name="Indications icon" descr="preencoded.png">    </p:cNvPr>
          <p:cNvPicPr>
            <a:picLocks noChangeAspect="1"/>
          </p:cNvPicPr>
          <p:nvPr/>
        </p:nvPicPr>
        <p:blipFill>
          <a:blip r:embed="rId1"/>
          <a:stretch>
            <a:fillRect/>
          </a:stretch>
        </p:blipFill>
        <p:spPr>
          <a:xfrm>
            <a:off x="877824" y="1609344"/>
            <a:ext cx="237744" cy="237744"/>
          </a:xfrm>
          <a:prstGeom prst="rect">
            <a:avLst/>
          </a:prstGeom>
        </p:spPr>
      </p:pic>
      <p:sp>
        <p:nvSpPr>
          <p:cNvPr id="10" name="Indications heading"/>
          <p:cNvSpPr txBox="1"/>
          <p:nvPr/>
        </p:nvSpPr>
        <p:spPr>
          <a:xfrm>
            <a:off x="1353312" y="1508760"/>
            <a:ext cx="10088575" cy="438912"/>
          </a:xfrm>
          <a:prstGeom prst="rect">
            <a:avLst/>
          </a:prstGeom>
          <a:noFill/>
          <a:ln/>
        </p:spPr>
        <p:txBody>
          <a:bodyPr wrap="square" lIns="0" tIns="0" rIns="0" bIns="0" rtlCol="0" anchor="ctr"/>
          <a:lstStyle/>
          <a:p>
            <a:pPr indent="0" marL="0">
              <a:buNone/>
            </a:pPr>
            <a:r>
              <a:rPr lang="en-US" sz="1800" b="1" dirty="0">
                <a:solidFill>
                  <a:srgbClr val="548235"/>
                </a:solidFill>
              </a:rPr>
              <a:t>Indications</a:t>
            </a:r>
            <a:endParaRPr lang="en-US" sz="1800" dirty="0"/>
          </a:p>
        </p:txBody>
      </p:sp>
      <p:sp>
        <p:nvSpPr>
          <p:cNvPr id="11" name="Indications body"/>
          <p:cNvSpPr txBox="1"/>
          <p:nvPr/>
        </p:nvSpPr>
        <p:spPr>
          <a:xfrm>
            <a:off x="777240" y="2075688"/>
            <a:ext cx="10637215" cy="3351276"/>
          </a:xfrm>
          <a:prstGeom prst="rect">
            <a:avLst/>
          </a:prstGeom>
          <a:noFill/>
          <a:ln/>
        </p:spPr>
        <p:txBody>
          <a:bodyPr wrap="square" lIns="0" tIns="0" rIns="0" bIns="0" rtlCol="0" anchor="t"/>
          <a:lstStyle/>
          <a:p>
            <a:pPr marL="228600" indent="-228600">
              <a:spcAft>
                <a:spcPts val="800"/>
              </a:spcAft>
              <a:buSzPct val="100000"/>
              <a:buChar char="•"/>
            </a:pPr>
            <a:r>
              <a:rPr lang="en-US" sz="1800" b="1" dirty="0">
                <a:solidFill>
                  <a:srgbClr val="1F1F1F"/>
                </a:solidFill>
              </a:rPr>
              <a:t>Bisphosphonates are first-line for most patients with osteoporosis.</a:t>
            </a:r>
            <a:r>
              <a:rPr lang="en-US" sz="1300" dirty="0">
                <a:solidFill>
                  <a:srgbClr val="666666"/>
                </a:solidFill>
              </a:rPr>
              <a:t>  S47</a:t>
            </a:r>
            <a:endParaRPr lang="en-US" sz="1800" dirty="0"/>
          </a:p>
          <a:p>
            <a:pPr marL="228600" indent="-228600">
              <a:spcAft>
                <a:spcPts val="800"/>
              </a:spcAft>
              <a:buSzPct val="100000"/>
              <a:buChar char="•"/>
            </a:pPr>
            <a:r>
              <a:rPr lang="en-US" sz="1800" dirty="0">
                <a:solidFill>
                  <a:srgbClr val="1F1F1F"/>
                </a:solidFill>
              </a:rPr>
              <a:t>Higher-risk patients may need an </a:t>
            </a:r>
            <a:r>
              <a:rPr lang="en-US" sz="1800" b="1" dirty="0">
                <a:solidFill>
                  <a:srgbClr val="1F1F1F"/>
                </a:solidFill>
              </a:rPr>
              <a:t>anabolic agent first</a:t>
            </a:r>
            <a:r>
              <a:rPr lang="en-US" sz="1800" dirty="0">
                <a:solidFill>
                  <a:srgbClr val="1F1F1F"/>
                </a:solidFill>
              </a:rPr>
              <a:t>.</a:t>
            </a:r>
            <a:r>
              <a:rPr lang="en-US" sz="1300" dirty="0">
                <a:solidFill>
                  <a:srgbClr val="666666"/>
                </a:solidFill>
              </a:rPr>
              <a:t>  S59</a:t>
            </a:r>
            <a:endParaRPr lang="en-US" sz="1800" dirty="0"/>
          </a:p>
          <a:p>
            <a:pPr marL="228600" indent="-228600">
              <a:spcAft>
                <a:spcPts val="800"/>
              </a:spcAft>
              <a:buSzPct val="100000"/>
              <a:buChar char="•"/>
            </a:pPr>
            <a:r>
              <a:rPr lang="en-US" sz="1800" dirty="0">
                <a:solidFill>
                  <a:srgbClr val="1F1F1F"/>
                </a:solidFill>
              </a:rPr>
              <a:t>Raloxifene also reduces breast cancer risk.</a:t>
            </a:r>
            <a:r>
              <a:rPr lang="en-US" sz="1300" dirty="0">
                <a:solidFill>
                  <a:srgbClr val="666666"/>
                </a:solidFill>
              </a:rPr>
              <a:t>  S54; S55</a:t>
            </a:r>
            <a:endParaRPr lang="en-US" sz="1800" dirty="0"/>
          </a:p>
          <a:p>
            <a:pPr marL="228600" indent="-228600">
              <a:spcAft>
                <a:spcPts val="800"/>
              </a:spcAft>
              <a:buSzPct val="100000"/>
              <a:buChar char="•"/>
            </a:pPr>
            <a:r>
              <a:rPr lang="en-US" sz="1400" b="1" dirty="0">
                <a:solidFill>
                  <a:srgbClr val="000000"/>
                </a:solidFill>
                <a:highlight>
                  <a:srgbClr val="FFC000"/>
                </a:highlight>
              </a:rPr>
              <a:t> TB </a:t>
            </a:r>
            <a:r>
              <a:rPr lang="en-US" sz="1800" dirty="0">
                <a:solidFill>
                  <a:srgbClr val="000000"/>
                </a:solidFill>
              </a:rPr>
              <a:t> </a:t>
            </a:r>
            <a:r>
              <a:rPr lang="en-US" sz="1800" dirty="0">
                <a:solidFill>
                  <a:srgbClr val="1F1F1F"/>
                </a:solidFill>
              </a:rPr>
              <a:t>Raloxifene protects against spine fractures but not hip fractures; bisphosphonates, denosumab, and teriparatide protect both.</a:t>
            </a:r>
            <a:r>
              <a:rPr lang="en-US" sz="1300" dirty="0">
                <a:solidFill>
                  <a:srgbClr val="666666"/>
                </a:solidFill>
              </a:rPr>
              <a:t>  p. 827</a:t>
            </a:r>
            <a:endParaRPr lang="en-US" sz="1800" dirty="0"/>
          </a:p>
          <a:p>
            <a:pPr marL="228600" indent="-228600">
              <a:spcAft>
                <a:spcPts val="800"/>
              </a:spcAft>
              <a:buSzPct val="100000"/>
              <a:buChar char="•"/>
            </a:pPr>
            <a:r>
              <a:rPr lang="en-US" sz="1400" b="1" dirty="0">
                <a:solidFill>
                  <a:srgbClr val="000000"/>
                </a:solidFill>
                <a:highlight>
                  <a:srgbClr val="FFC000"/>
                </a:highlight>
              </a:rPr>
              <a:t> TB </a:t>
            </a:r>
            <a:r>
              <a:rPr lang="en-US" sz="1800" dirty="0">
                <a:solidFill>
                  <a:srgbClr val="000000"/>
                </a:solidFill>
              </a:rPr>
              <a:t> </a:t>
            </a:r>
            <a:r>
              <a:rPr lang="en-US" sz="1800" dirty="0">
                <a:solidFill>
                  <a:srgbClr val="1F1F1F"/>
                </a:solidFill>
              </a:rPr>
              <a:t>Vitamin D (800 IU/d) with calcium improves bone density, reduces falls, and prevents fractures — the base under every osteoporosis drug.</a:t>
            </a:r>
            <a:r>
              <a:rPr lang="en-US" sz="1300" dirty="0">
                <a:solidFill>
                  <a:srgbClr val="666666"/>
                </a:solidFill>
              </a:rPr>
              <a:t>  p. 827</a:t>
            </a:r>
            <a:endParaRPr lang="en-US" sz="1800" dirty="0"/>
          </a:p>
          <a:p>
            <a:pPr marL="228600" indent="-228600">
              <a:spcAft>
                <a:spcPts val="800"/>
              </a:spcAft>
              <a:buSzPct val="100000"/>
              <a:buChar char="•"/>
            </a:pPr>
            <a:r>
              <a:rPr lang="en-US" sz="1400" b="1" dirty="0">
                <a:solidFill>
                  <a:srgbClr val="000000"/>
                </a:solidFill>
                <a:highlight>
                  <a:srgbClr val="FFC000"/>
                </a:highlight>
              </a:rPr>
              <a:t> TB </a:t>
            </a:r>
            <a:r>
              <a:rPr lang="en-US" sz="1800" dirty="0">
                <a:solidFill>
                  <a:srgbClr val="000000"/>
                </a:solidFill>
              </a:rPr>
              <a:t> </a:t>
            </a:r>
            <a:r>
              <a:rPr lang="en-US" sz="1800" dirty="0">
                <a:solidFill>
                  <a:srgbClr val="1F1F1F"/>
                </a:solidFill>
              </a:rPr>
              <a:t>Calcitonin is less effective (spine fractures only); bisphosphonates and calcitonin are first-line for Paget disease.</a:t>
            </a:r>
            <a:r>
              <a:rPr lang="en-US" sz="1300" dirty="0">
                <a:solidFill>
                  <a:srgbClr val="666666"/>
                </a:solidFill>
              </a:rPr>
              <a:t>  p. 828; p. 829</a:t>
            </a:r>
            <a:endParaRPr lang="en-US" sz="1800" dirty="0"/>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76">
    <p:bg>
      <p:bgPr>
        <a:solidFill>
          <a:srgbClr val="FFFFFF"/>
        </a:solidFill>
      </p:bgPr>
    </p:bg>
    <p:spTree>
      <p:nvGrpSpPr>
        <p:cNvPr id="1" name=""/>
        <p:cNvGrpSpPr/>
        <p:nvPr/>
      </p:nvGrpSpPr>
      <p:grpSpPr>
        <a:xfrm>
          <a:off x="0" y="0"/>
          <a:ext cx="0" cy="0"/>
          <a:chOff x="0" y="0"/>
          <a:chExt cx="0" cy="0"/>
        </a:xfrm>
      </p:grpSpPr>
      <p:sp>
        <p:nvSpPr>
          <p:cNvPr id="2" name="Kicker"/>
          <p:cNvSpPr txBox="1"/>
          <p:nvPr/>
        </p:nvSpPr>
        <p:spPr>
          <a:xfrm>
            <a:off x="548640" y="292608"/>
            <a:ext cx="8076895" cy="274320"/>
          </a:xfrm>
          <a:prstGeom prst="rect">
            <a:avLst/>
          </a:prstGeom>
          <a:noFill/>
          <a:ln/>
        </p:spPr>
        <p:txBody>
          <a:bodyPr wrap="square" lIns="0" tIns="0" rIns="0" bIns="0" rtlCol="0" anchor="ctr"/>
          <a:lstStyle/>
          <a:p>
            <a:pPr indent="0" marL="0">
              <a:buNone/>
            </a:pPr>
            <a:r>
              <a:rPr lang="en-US" sz="1200" b="1" spc="100" kern="0" dirty="0">
                <a:solidFill>
                  <a:srgbClr val="4472C4"/>
                </a:solidFill>
              </a:rPr>
              <a:t>BONE PHARMACOLOGY &amp; OSTEOPOROSIS</a:t>
            </a:r>
            <a:endParaRPr lang="en-US" sz="1200" dirty="0"/>
          </a:p>
        </p:txBody>
      </p:sp>
      <p:sp>
        <p:nvSpPr>
          <p:cNvPr id="3" name="Title"/>
          <p:cNvSpPr txBox="1"/>
          <p:nvPr/>
        </p:nvSpPr>
        <p:spPr>
          <a:xfrm>
            <a:off x="548640" y="566928"/>
            <a:ext cx="8076895" cy="713232"/>
          </a:xfrm>
          <a:prstGeom prst="rect">
            <a:avLst/>
          </a:prstGeom>
          <a:noFill/>
          <a:ln/>
        </p:spPr>
        <p:txBody>
          <a:bodyPr wrap="square" lIns="0" tIns="0" rIns="0" bIns="0" rtlCol="0" anchor="t"/>
          <a:lstStyle/>
          <a:p>
            <a:pPr indent="0" marL="0">
              <a:buNone/>
            </a:pPr>
            <a:r>
              <a:rPr lang="en-US" sz="3000" b="1" dirty="0">
                <a:solidFill>
                  <a:srgbClr val="1F1F1F"/>
                </a:solidFill>
                <a:latin typeface="Calibri" pitchFamily="34" charset="0"/>
                <a:ea typeface="Calibri" pitchFamily="34" charset="-122"/>
                <a:cs typeface="Calibri" pitchFamily="34" charset="-120"/>
              </a:rPr>
              <a:t>Adverse effects (boxed warnings first)</a:t>
            </a:r>
            <a:endParaRPr lang="en-US" sz="3000" dirty="0"/>
          </a:p>
        </p:txBody>
      </p:sp>
      <p:sp>
        <p:nvSpPr>
          <p:cNvPr id="4" name="Objective chip"/>
          <p:cNvSpPr/>
          <p:nvPr/>
        </p:nvSpPr>
        <p:spPr>
          <a:xfrm>
            <a:off x="8899855" y="365760"/>
            <a:ext cx="2743200" cy="384048"/>
          </a:xfrm>
          <a:prstGeom prst="roundRect">
            <a:avLst>
              <a:gd name="adj" fmla="val 35714"/>
            </a:avLst>
          </a:prstGeom>
          <a:solidFill>
            <a:srgbClr val="E3EBF8"/>
          </a:solidFill>
          <a:ln/>
        </p:spPr>
        <p:txBody>
          <a:bodyPr wrap="square" lIns="25400" tIns="25400" rIns="25400" bIns="25400" rtlCol="0" anchor="ctr"/>
          <a:lstStyle/>
          <a:p>
            <a:pPr algn="ctr" indent="0" marL="0">
              <a:buNone/>
            </a:pPr>
            <a:r>
              <a:rPr lang="en-US" sz="800" b="1" dirty="0">
                <a:solidFill>
                  <a:srgbClr val="2F4F8A"/>
                </a:solidFill>
              </a:rPr>
              <a:t>Objectives: SO3 · SO4 · IO2.1 · IO2.2 · IO2.3 · IO2.4 · IO2.5 · IO2.6</a:t>
            </a:r>
            <a:endParaRPr lang="en-US" sz="800" dirty="0"/>
          </a:p>
        </p:txBody>
      </p:sp>
      <p:sp>
        <p:nvSpPr>
          <p:cNvPr id="5" name="Footer"/>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1000" dirty="0">
                <a:solidFill>
                  <a:srgbClr val="666666"/>
                </a:solidFill>
              </a:rPr>
              <a:t>L04 · Musculoskeletal Pharmacology — Session 2</a:t>
            </a:r>
            <a:endParaRPr lang="en-US" sz="1000" dirty="0"/>
          </a:p>
        </p:txBody>
      </p:sp>
      <p:sp>
        <p:nvSpPr>
          <p:cNvPr id="6" name="Slide number"/>
          <p:cNvSpPr txBox="1"/>
          <p:nvPr/>
        </p:nvSpPr>
        <p:spPr>
          <a:xfrm>
            <a:off x="10728655" y="6419088"/>
            <a:ext cx="914400" cy="274320"/>
          </a:xfrm>
          <a:prstGeom prst="rect">
            <a:avLst/>
          </a:prstGeom>
          <a:noFill/>
          <a:ln/>
        </p:spPr>
        <p:txBody>
          <a:bodyPr wrap="square" lIns="0" tIns="0" rIns="0" bIns="0" rtlCol="0" anchor="ctr"/>
          <a:lstStyle/>
          <a:p>
            <a:pPr algn="r" indent="0" marL="0">
              <a:buNone/>
            </a:pPr>
            <a:r>
              <a:rPr lang="en-US" sz="1000" dirty="0">
                <a:solidFill>
                  <a:srgbClr val="666666"/>
                </a:solidFill>
              </a:rPr>
              <a:t>76</a:t>
            </a:r>
            <a:endParaRPr lang="en-US" sz="1000" dirty="0"/>
          </a:p>
        </p:txBody>
      </p:sp>
      <p:sp>
        <p:nvSpPr>
          <p:cNvPr id="7" name="Adverse effects (boxed warnings first) (1/2) card"/>
          <p:cNvSpPr/>
          <p:nvPr/>
        </p:nvSpPr>
        <p:spPr>
          <a:xfrm>
            <a:off x="548640" y="1325880"/>
            <a:ext cx="11094415" cy="2884932"/>
          </a:xfrm>
          <a:prstGeom prst="roundRect">
            <a:avLst>
              <a:gd name="adj" fmla="val 3803"/>
            </a:avLst>
          </a:prstGeom>
          <a:solidFill>
            <a:srgbClr val="F2F4F7"/>
          </a:solidFill>
          <a:ln w="12700">
            <a:solidFill>
              <a:srgbClr val="F2F4F7"/>
            </a:solidFill>
            <a:prstDash val="solid"/>
          </a:ln>
        </p:spPr>
      </p:sp>
      <p:sp>
        <p:nvSpPr>
          <p:cNvPr id="8" name="Adverse effects (boxed warnings first) (1/2) icon circle"/>
          <p:cNvSpPr/>
          <p:nvPr/>
        </p:nvSpPr>
        <p:spPr>
          <a:xfrm>
            <a:off x="777240" y="1508760"/>
            <a:ext cx="438912" cy="438912"/>
          </a:xfrm>
          <a:prstGeom prst="ellipse">
            <a:avLst/>
          </a:prstGeom>
          <a:solidFill>
            <a:srgbClr val="C55A11"/>
          </a:solidFill>
          <a:ln w="12700">
            <a:solidFill>
              <a:srgbClr val="C55A11"/>
            </a:solidFill>
            <a:prstDash val="solid"/>
          </a:ln>
        </p:spPr>
      </p:sp>
      <p:pic>
        <p:nvPicPr>
          <p:cNvPr id="9" name="Adverse effects (boxed warnings first) (1/2) icon" descr="preencoded.png">    </p:cNvPr>
          <p:cNvPicPr>
            <a:picLocks noChangeAspect="1"/>
          </p:cNvPicPr>
          <p:nvPr/>
        </p:nvPicPr>
        <p:blipFill>
          <a:blip r:embed="rId1"/>
          <a:stretch>
            <a:fillRect/>
          </a:stretch>
        </p:blipFill>
        <p:spPr>
          <a:xfrm>
            <a:off x="877824" y="1609344"/>
            <a:ext cx="237744" cy="237744"/>
          </a:xfrm>
          <a:prstGeom prst="rect">
            <a:avLst/>
          </a:prstGeom>
        </p:spPr>
      </p:pic>
      <p:sp>
        <p:nvSpPr>
          <p:cNvPr id="10" name="Adverse effects (boxed warnings first) (1/2) heading"/>
          <p:cNvSpPr txBox="1"/>
          <p:nvPr/>
        </p:nvSpPr>
        <p:spPr>
          <a:xfrm>
            <a:off x="1353312" y="1508760"/>
            <a:ext cx="10088575" cy="438912"/>
          </a:xfrm>
          <a:prstGeom prst="rect">
            <a:avLst/>
          </a:prstGeom>
          <a:noFill/>
          <a:ln/>
        </p:spPr>
        <p:txBody>
          <a:bodyPr wrap="square" lIns="0" tIns="0" rIns="0" bIns="0" rtlCol="0" anchor="ctr"/>
          <a:lstStyle/>
          <a:p>
            <a:pPr indent="0" marL="0">
              <a:buNone/>
            </a:pPr>
            <a:r>
              <a:rPr lang="en-US" sz="1800" b="1" dirty="0">
                <a:solidFill>
                  <a:srgbClr val="C55A11"/>
                </a:solidFill>
              </a:rPr>
              <a:t>Adverse effects (boxed warnings first) (1/2)</a:t>
            </a:r>
            <a:endParaRPr lang="en-US" sz="1800" dirty="0"/>
          </a:p>
        </p:txBody>
      </p:sp>
      <p:sp>
        <p:nvSpPr>
          <p:cNvPr id="11" name="Adverse effects (boxed warnings first) (1/2) body"/>
          <p:cNvSpPr txBox="1"/>
          <p:nvPr/>
        </p:nvSpPr>
        <p:spPr>
          <a:xfrm>
            <a:off x="777240" y="2075688"/>
            <a:ext cx="10637215" cy="2016252"/>
          </a:xfrm>
          <a:prstGeom prst="rect">
            <a:avLst/>
          </a:prstGeom>
          <a:noFill/>
          <a:ln/>
        </p:spPr>
        <p:txBody>
          <a:bodyPr wrap="square" lIns="0" tIns="0" rIns="0" bIns="0" rtlCol="0" anchor="t"/>
          <a:lstStyle/>
          <a:p>
            <a:pPr marL="228600" indent="-228600">
              <a:spcAft>
                <a:spcPts val="800"/>
              </a:spcAft>
              <a:buSzPct val="100000"/>
              <a:buChar char="•"/>
            </a:pPr>
            <a:r>
              <a:rPr lang="en-US" sz="1800" b="1" dirty="0">
                <a:solidFill>
                  <a:srgbClr val="1F1F1F"/>
                </a:solidFill>
              </a:rPr>
              <a:t>Romosozumab: boxed warning for MI, stroke, and cardiovascular death.</a:t>
            </a:r>
            <a:r>
              <a:rPr lang="en-US" sz="1300" dirty="0">
                <a:solidFill>
                  <a:srgbClr val="666666"/>
                </a:solidFill>
              </a:rPr>
              <a:t>  S55</a:t>
            </a:r>
            <a:endParaRPr lang="en-US" sz="1800" dirty="0"/>
          </a:p>
          <a:p>
            <a:pPr marL="228600" indent="-228600">
              <a:spcAft>
                <a:spcPts val="800"/>
              </a:spcAft>
              <a:buSzPct val="100000"/>
              <a:buChar char="•"/>
            </a:pPr>
            <a:r>
              <a:rPr lang="en-US" sz="1400" b="1" dirty="0">
                <a:solidFill>
                  <a:srgbClr val="000000"/>
                </a:solidFill>
                <a:highlight>
                  <a:srgbClr val="FFC000"/>
                </a:highlight>
              </a:rPr>
              <a:t> TB </a:t>
            </a:r>
            <a:r>
              <a:rPr lang="en-US" sz="1800" dirty="0">
                <a:solidFill>
                  <a:srgbClr val="000000"/>
                </a:solidFill>
              </a:rPr>
              <a:t> </a:t>
            </a:r>
            <a:r>
              <a:rPr lang="en-US" sz="1800" dirty="0">
                <a:solidFill>
                  <a:srgbClr val="1F1F1F"/>
                </a:solidFill>
              </a:rPr>
              <a:t>Romosozumab: black box — contraindicated after MI or stroke within the past year.</a:t>
            </a:r>
            <a:r>
              <a:rPr lang="en-US" sz="1300" dirty="0">
                <a:solidFill>
                  <a:srgbClr val="666666"/>
                </a:solidFill>
              </a:rPr>
              <a:t>  p. 820</a:t>
            </a:r>
            <a:endParaRPr lang="en-US" sz="1800" dirty="0"/>
          </a:p>
          <a:p>
            <a:pPr marL="228600" indent="-228600">
              <a:spcAft>
                <a:spcPts val="800"/>
              </a:spcAft>
              <a:buSzPct val="100000"/>
              <a:buChar char="•"/>
            </a:pPr>
            <a:r>
              <a:rPr lang="en-US" sz="1800" b="1" dirty="0">
                <a:solidFill>
                  <a:srgbClr val="1F1F1F"/>
                </a:solidFill>
              </a:rPr>
              <a:t>Bisphosphonates:</a:t>
            </a:r>
            <a:r>
              <a:rPr lang="en-US" sz="1800" dirty="0">
                <a:solidFill>
                  <a:srgbClr val="1F1F1F"/>
                </a:solidFill>
              </a:rPr>
              <a:t> esophageal irritation; hypocalcemia; osteonecrosis of the jaw (rare); atypical femoral fractures (rare, with long-term use).</a:t>
            </a:r>
            <a:r>
              <a:rPr lang="en-US" sz="1300" dirty="0">
                <a:solidFill>
                  <a:srgbClr val="666666"/>
                </a:solidFill>
              </a:rPr>
              <a:t>  S48; S52</a:t>
            </a:r>
            <a:endParaRPr lang="en-US" sz="1800" dirty="0"/>
          </a:p>
          <a:p>
            <a:pPr marL="228600" indent="-228600">
              <a:spcAft>
                <a:spcPts val="800"/>
              </a:spcAft>
              <a:buSzPct val="100000"/>
              <a:buChar char="•"/>
            </a:pPr>
            <a:r>
              <a:rPr lang="en-US" sz="1800" b="1" dirty="0">
                <a:solidFill>
                  <a:srgbClr val="1F1F1F"/>
                </a:solidFill>
              </a:rPr>
              <a:t>IV zoledronic acid:</a:t>
            </a:r>
            <a:r>
              <a:rPr lang="en-US" sz="1800" dirty="0">
                <a:solidFill>
                  <a:srgbClr val="1F1F1F"/>
                </a:solidFill>
              </a:rPr>
              <a:t> acute-phase reaction (flu-like), mitigated with acetaminophen.</a:t>
            </a:r>
            <a:r>
              <a:rPr lang="en-US" sz="1300" dirty="0">
                <a:solidFill>
                  <a:srgbClr val="666666"/>
                </a:solidFill>
              </a:rPr>
              <a:t>  S53</a:t>
            </a:r>
            <a:endParaRPr lang="en-US" sz="1800" dirty="0"/>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name="Slide 77">
    <p:bg>
      <p:bgPr>
        <a:solidFill>
          <a:srgbClr val="FFFFFF"/>
        </a:solidFill>
      </p:bgPr>
    </p:bg>
    <p:spTree>
      <p:nvGrpSpPr>
        <p:cNvPr id="1" name=""/>
        <p:cNvGrpSpPr/>
        <p:nvPr/>
      </p:nvGrpSpPr>
      <p:grpSpPr>
        <a:xfrm>
          <a:off x="0" y="0"/>
          <a:ext cx="0" cy="0"/>
          <a:chOff x="0" y="0"/>
          <a:chExt cx="0" cy="0"/>
        </a:xfrm>
      </p:grpSpPr>
      <p:sp>
        <p:nvSpPr>
          <p:cNvPr id="2" name="Kicker"/>
          <p:cNvSpPr txBox="1"/>
          <p:nvPr/>
        </p:nvSpPr>
        <p:spPr>
          <a:xfrm>
            <a:off x="548640" y="292608"/>
            <a:ext cx="8076895" cy="274320"/>
          </a:xfrm>
          <a:prstGeom prst="rect">
            <a:avLst/>
          </a:prstGeom>
          <a:noFill/>
          <a:ln/>
        </p:spPr>
        <p:txBody>
          <a:bodyPr wrap="square" lIns="0" tIns="0" rIns="0" bIns="0" rtlCol="0" anchor="ctr"/>
          <a:lstStyle/>
          <a:p>
            <a:pPr indent="0" marL="0">
              <a:buNone/>
            </a:pPr>
            <a:r>
              <a:rPr lang="en-US" sz="1200" b="1" spc="100" kern="0" dirty="0">
                <a:solidFill>
                  <a:srgbClr val="4472C4"/>
                </a:solidFill>
              </a:rPr>
              <a:t>BONE PHARMACOLOGY &amp; OSTEOPOROSIS</a:t>
            </a:r>
            <a:endParaRPr lang="en-US" sz="1200" dirty="0"/>
          </a:p>
        </p:txBody>
      </p:sp>
      <p:sp>
        <p:nvSpPr>
          <p:cNvPr id="3" name="Title"/>
          <p:cNvSpPr txBox="1"/>
          <p:nvPr/>
        </p:nvSpPr>
        <p:spPr>
          <a:xfrm>
            <a:off x="548640" y="566928"/>
            <a:ext cx="8076895" cy="713232"/>
          </a:xfrm>
          <a:prstGeom prst="rect">
            <a:avLst/>
          </a:prstGeom>
          <a:noFill/>
          <a:ln/>
        </p:spPr>
        <p:txBody>
          <a:bodyPr wrap="square" lIns="0" tIns="0" rIns="0" bIns="0" rtlCol="0" anchor="t"/>
          <a:lstStyle/>
          <a:p>
            <a:pPr indent="0" marL="0">
              <a:buNone/>
            </a:pPr>
            <a:r>
              <a:rPr lang="en-US" sz="3000" b="1" dirty="0">
                <a:solidFill>
                  <a:srgbClr val="1F1F1F"/>
                </a:solidFill>
                <a:latin typeface="Calibri" pitchFamily="34" charset="0"/>
                <a:ea typeface="Calibri" pitchFamily="34" charset="-122"/>
                <a:cs typeface="Calibri" pitchFamily="34" charset="-120"/>
              </a:rPr>
              <a:t>Adverse effects (boxed warnings first) (cont.)</a:t>
            </a:r>
            <a:endParaRPr lang="en-US" sz="3000" dirty="0"/>
          </a:p>
        </p:txBody>
      </p:sp>
      <p:sp>
        <p:nvSpPr>
          <p:cNvPr id="4" name="Objective chip"/>
          <p:cNvSpPr/>
          <p:nvPr/>
        </p:nvSpPr>
        <p:spPr>
          <a:xfrm>
            <a:off x="8899855" y="365760"/>
            <a:ext cx="2743200" cy="384048"/>
          </a:xfrm>
          <a:prstGeom prst="roundRect">
            <a:avLst>
              <a:gd name="adj" fmla="val 35714"/>
            </a:avLst>
          </a:prstGeom>
          <a:solidFill>
            <a:srgbClr val="E3EBF8"/>
          </a:solidFill>
          <a:ln/>
        </p:spPr>
        <p:txBody>
          <a:bodyPr wrap="square" lIns="25400" tIns="25400" rIns="25400" bIns="25400" rtlCol="0" anchor="ctr"/>
          <a:lstStyle/>
          <a:p>
            <a:pPr algn="ctr" indent="0" marL="0">
              <a:buNone/>
            </a:pPr>
            <a:r>
              <a:rPr lang="en-US" sz="800" b="1" dirty="0">
                <a:solidFill>
                  <a:srgbClr val="2F4F8A"/>
                </a:solidFill>
              </a:rPr>
              <a:t>Objectives: SO3 · SO4 · IO2.1 · IO2.2 · IO2.3 · IO2.4 · IO2.5 · IO2.6</a:t>
            </a:r>
            <a:endParaRPr lang="en-US" sz="800" dirty="0"/>
          </a:p>
        </p:txBody>
      </p:sp>
      <p:sp>
        <p:nvSpPr>
          <p:cNvPr id="5" name="Footer"/>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1000" dirty="0">
                <a:solidFill>
                  <a:srgbClr val="666666"/>
                </a:solidFill>
              </a:rPr>
              <a:t>L04 · Musculoskeletal Pharmacology — Session 2</a:t>
            </a:r>
            <a:endParaRPr lang="en-US" sz="1000" dirty="0"/>
          </a:p>
        </p:txBody>
      </p:sp>
      <p:sp>
        <p:nvSpPr>
          <p:cNvPr id="6" name="Slide number"/>
          <p:cNvSpPr txBox="1"/>
          <p:nvPr/>
        </p:nvSpPr>
        <p:spPr>
          <a:xfrm>
            <a:off x="10728655" y="6419088"/>
            <a:ext cx="914400" cy="274320"/>
          </a:xfrm>
          <a:prstGeom prst="rect">
            <a:avLst/>
          </a:prstGeom>
          <a:noFill/>
          <a:ln/>
        </p:spPr>
        <p:txBody>
          <a:bodyPr wrap="square" lIns="0" tIns="0" rIns="0" bIns="0" rtlCol="0" anchor="ctr"/>
          <a:lstStyle/>
          <a:p>
            <a:pPr algn="r" indent="0" marL="0">
              <a:buNone/>
            </a:pPr>
            <a:r>
              <a:rPr lang="en-US" sz="1000" dirty="0">
                <a:solidFill>
                  <a:srgbClr val="666666"/>
                </a:solidFill>
              </a:rPr>
              <a:t>77</a:t>
            </a:r>
            <a:endParaRPr lang="en-US" sz="1000" dirty="0"/>
          </a:p>
        </p:txBody>
      </p:sp>
      <p:sp>
        <p:nvSpPr>
          <p:cNvPr id="7" name="Adverse effects (boxed warnings first) (2/2) card"/>
          <p:cNvSpPr/>
          <p:nvPr/>
        </p:nvSpPr>
        <p:spPr>
          <a:xfrm>
            <a:off x="548640" y="1325880"/>
            <a:ext cx="11094415" cy="3163824"/>
          </a:xfrm>
          <a:prstGeom prst="roundRect">
            <a:avLst>
              <a:gd name="adj" fmla="val 3468"/>
            </a:avLst>
          </a:prstGeom>
          <a:solidFill>
            <a:srgbClr val="F2F4F7"/>
          </a:solidFill>
          <a:ln w="12700">
            <a:solidFill>
              <a:srgbClr val="F2F4F7"/>
            </a:solidFill>
            <a:prstDash val="solid"/>
          </a:ln>
        </p:spPr>
      </p:sp>
      <p:sp>
        <p:nvSpPr>
          <p:cNvPr id="8" name="Adverse effects (boxed warnings first) (2/2) icon circle"/>
          <p:cNvSpPr/>
          <p:nvPr/>
        </p:nvSpPr>
        <p:spPr>
          <a:xfrm>
            <a:off x="777240" y="1508760"/>
            <a:ext cx="438912" cy="438912"/>
          </a:xfrm>
          <a:prstGeom prst="ellipse">
            <a:avLst/>
          </a:prstGeom>
          <a:solidFill>
            <a:srgbClr val="C55A11"/>
          </a:solidFill>
          <a:ln w="12700">
            <a:solidFill>
              <a:srgbClr val="C55A11"/>
            </a:solidFill>
            <a:prstDash val="solid"/>
          </a:ln>
        </p:spPr>
      </p:sp>
      <p:pic>
        <p:nvPicPr>
          <p:cNvPr id="9" name="Adverse effects (boxed warnings first) (2/2) icon" descr="preencoded.png">    </p:cNvPr>
          <p:cNvPicPr>
            <a:picLocks noChangeAspect="1"/>
          </p:cNvPicPr>
          <p:nvPr/>
        </p:nvPicPr>
        <p:blipFill>
          <a:blip r:embed="rId1"/>
          <a:stretch>
            <a:fillRect/>
          </a:stretch>
        </p:blipFill>
        <p:spPr>
          <a:xfrm>
            <a:off x="877824" y="1609344"/>
            <a:ext cx="237744" cy="237744"/>
          </a:xfrm>
          <a:prstGeom prst="rect">
            <a:avLst/>
          </a:prstGeom>
        </p:spPr>
      </p:pic>
      <p:sp>
        <p:nvSpPr>
          <p:cNvPr id="10" name="Adverse effects (boxed warnings first) (2/2) heading"/>
          <p:cNvSpPr txBox="1"/>
          <p:nvPr/>
        </p:nvSpPr>
        <p:spPr>
          <a:xfrm>
            <a:off x="1353312" y="1508760"/>
            <a:ext cx="10088575" cy="438912"/>
          </a:xfrm>
          <a:prstGeom prst="rect">
            <a:avLst/>
          </a:prstGeom>
          <a:noFill/>
          <a:ln/>
        </p:spPr>
        <p:txBody>
          <a:bodyPr wrap="square" lIns="0" tIns="0" rIns="0" bIns="0" rtlCol="0" anchor="ctr"/>
          <a:lstStyle/>
          <a:p>
            <a:pPr indent="0" marL="0">
              <a:buNone/>
            </a:pPr>
            <a:r>
              <a:rPr lang="en-US" sz="1800" b="1" dirty="0">
                <a:solidFill>
                  <a:srgbClr val="C55A11"/>
                </a:solidFill>
              </a:rPr>
              <a:t>Adverse effects (boxed warnings first) (2/2)</a:t>
            </a:r>
            <a:endParaRPr lang="en-US" sz="1800" dirty="0"/>
          </a:p>
        </p:txBody>
      </p:sp>
      <p:sp>
        <p:nvSpPr>
          <p:cNvPr id="11" name="Adverse effects (boxed warnings first) (2/2) body"/>
          <p:cNvSpPr txBox="1"/>
          <p:nvPr/>
        </p:nvSpPr>
        <p:spPr>
          <a:xfrm>
            <a:off x="777240" y="2075688"/>
            <a:ext cx="10637215" cy="2295144"/>
          </a:xfrm>
          <a:prstGeom prst="rect">
            <a:avLst/>
          </a:prstGeom>
          <a:noFill/>
          <a:ln/>
        </p:spPr>
        <p:txBody>
          <a:bodyPr wrap="square" lIns="0" tIns="0" rIns="0" bIns="0" rtlCol="0" anchor="t"/>
          <a:lstStyle/>
          <a:p>
            <a:pPr marL="228600" indent="-228600">
              <a:spcAft>
                <a:spcPts val="800"/>
              </a:spcAft>
              <a:buSzPct val="100000"/>
              <a:buChar char="•"/>
            </a:pPr>
            <a:r>
              <a:rPr lang="en-US" sz="1800" b="1" dirty="0">
                <a:solidFill>
                  <a:srgbClr val="1F1F1F"/>
                </a:solidFill>
              </a:rPr>
              <a:t>Raloxifene:</a:t>
            </a:r>
            <a:r>
              <a:rPr lang="en-US" sz="1800" dirty="0">
                <a:solidFill>
                  <a:srgbClr val="1F1F1F"/>
                </a:solidFill>
              </a:rPr>
              <a:t> raises VTE risk; hot flashes.</a:t>
            </a:r>
            <a:r>
              <a:rPr lang="en-US" sz="1300" dirty="0">
                <a:solidFill>
                  <a:srgbClr val="666666"/>
                </a:solidFill>
              </a:rPr>
              <a:t>  S55</a:t>
            </a:r>
            <a:endParaRPr lang="en-US" sz="1800" dirty="0"/>
          </a:p>
          <a:p>
            <a:pPr marL="228600" indent="-228600">
              <a:spcAft>
                <a:spcPts val="800"/>
              </a:spcAft>
              <a:buSzPct val="100000"/>
              <a:buChar char="•"/>
            </a:pPr>
            <a:r>
              <a:rPr lang="en-US" sz="1800" b="1" dirty="0">
                <a:solidFill>
                  <a:srgbClr val="1F1F1F"/>
                </a:solidFill>
              </a:rPr>
              <a:t>Denosumab discontinuation causes rebound vertebral fractures</a:t>
            </a:r>
            <a:r>
              <a:rPr lang="en-US" sz="1800" dirty="0">
                <a:solidFill>
                  <a:srgbClr val="1F1F1F"/>
                </a:solidFill>
              </a:rPr>
              <a:t> — transition to a bisphosphonate.</a:t>
            </a:r>
            <a:r>
              <a:rPr lang="en-US" sz="1300" dirty="0">
                <a:solidFill>
                  <a:srgbClr val="666666"/>
                </a:solidFill>
              </a:rPr>
              <a:t>  S55</a:t>
            </a:r>
            <a:endParaRPr lang="en-US" sz="1800" dirty="0"/>
          </a:p>
          <a:p>
            <a:pPr marL="228600" indent="-228600">
              <a:spcAft>
                <a:spcPts val="800"/>
              </a:spcAft>
              <a:buSzPct val="100000"/>
              <a:buChar char="•"/>
            </a:pPr>
            <a:r>
              <a:rPr lang="en-US" sz="1400" b="1" dirty="0">
                <a:solidFill>
                  <a:srgbClr val="000000"/>
                </a:solidFill>
                <a:highlight>
                  <a:srgbClr val="FFC000"/>
                </a:highlight>
              </a:rPr>
              <a:t> TB </a:t>
            </a:r>
            <a:r>
              <a:rPr lang="en-US" sz="1800" dirty="0">
                <a:solidFill>
                  <a:srgbClr val="000000"/>
                </a:solidFill>
              </a:rPr>
              <a:t> </a:t>
            </a:r>
            <a:r>
              <a:rPr lang="en-US" sz="1800" dirty="0">
                <a:solidFill>
                  <a:srgbClr val="1F1F1F"/>
                </a:solidFill>
              </a:rPr>
              <a:t>Osteonecrosis of the jaw is rare at osteoporosis doses (~1/100,000 patient-years), more common with high-dose IV zoledronate for cancer.</a:t>
            </a:r>
            <a:r>
              <a:rPr lang="en-US" sz="1300" dirty="0">
                <a:solidFill>
                  <a:srgbClr val="666666"/>
                </a:solidFill>
              </a:rPr>
              <a:t>  p. 820</a:t>
            </a:r>
            <a:endParaRPr lang="en-US" sz="1800" dirty="0"/>
          </a:p>
          <a:p>
            <a:pPr marL="228600" indent="-228600">
              <a:spcAft>
                <a:spcPts val="800"/>
              </a:spcAft>
              <a:buSzPct val="100000"/>
              <a:buChar char="•"/>
            </a:pPr>
            <a:r>
              <a:rPr lang="en-US" sz="1400" b="1" dirty="0">
                <a:solidFill>
                  <a:srgbClr val="000000"/>
                </a:solidFill>
                <a:highlight>
                  <a:srgbClr val="FFC000"/>
                </a:highlight>
              </a:rPr>
              <a:t> TB </a:t>
            </a:r>
            <a:r>
              <a:rPr lang="en-US" sz="1800" dirty="0">
                <a:solidFill>
                  <a:srgbClr val="000000"/>
                </a:solidFill>
              </a:rPr>
              <a:t> </a:t>
            </a:r>
            <a:r>
              <a:rPr lang="en-US" sz="1800" dirty="0">
                <a:solidFill>
                  <a:srgbClr val="1F1F1F"/>
                </a:solidFill>
              </a:rPr>
              <a:t>Denosumab: possible infection risk, transient hypocalcemia (CKD, vitamin D deficiency), and rebound resorption if interrupted.</a:t>
            </a:r>
            <a:r>
              <a:rPr lang="en-US" sz="1300" dirty="0">
                <a:solidFill>
                  <a:srgbClr val="666666"/>
                </a:solidFill>
              </a:rPr>
              <a:t>  p. 820</a:t>
            </a:r>
            <a:endParaRPr lang="en-US" sz="1800" dirty="0"/>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name="Slide 78">
    <p:bg>
      <p:bgPr>
        <a:solidFill>
          <a:srgbClr val="FFFFFF"/>
        </a:solidFill>
      </p:bgPr>
    </p:bg>
    <p:spTree>
      <p:nvGrpSpPr>
        <p:cNvPr id="1" name=""/>
        <p:cNvGrpSpPr/>
        <p:nvPr/>
      </p:nvGrpSpPr>
      <p:grpSpPr>
        <a:xfrm>
          <a:off x="0" y="0"/>
          <a:ext cx="0" cy="0"/>
          <a:chOff x="0" y="0"/>
          <a:chExt cx="0" cy="0"/>
        </a:xfrm>
      </p:grpSpPr>
      <p:sp>
        <p:nvSpPr>
          <p:cNvPr id="2" name="Kicker"/>
          <p:cNvSpPr txBox="1"/>
          <p:nvPr/>
        </p:nvSpPr>
        <p:spPr>
          <a:xfrm>
            <a:off x="548640" y="292608"/>
            <a:ext cx="8076895" cy="274320"/>
          </a:xfrm>
          <a:prstGeom prst="rect">
            <a:avLst/>
          </a:prstGeom>
          <a:noFill/>
          <a:ln/>
        </p:spPr>
        <p:txBody>
          <a:bodyPr wrap="square" lIns="0" tIns="0" rIns="0" bIns="0" rtlCol="0" anchor="ctr"/>
          <a:lstStyle/>
          <a:p>
            <a:pPr indent="0" marL="0">
              <a:buNone/>
            </a:pPr>
            <a:r>
              <a:rPr lang="en-US" sz="1200" b="1" spc="100" kern="0" dirty="0">
                <a:solidFill>
                  <a:srgbClr val="4472C4"/>
                </a:solidFill>
              </a:rPr>
              <a:t>BONE PHARMACOLOGY &amp; OSTEOPOROSIS</a:t>
            </a:r>
            <a:endParaRPr lang="en-US" sz="1200" dirty="0"/>
          </a:p>
        </p:txBody>
      </p:sp>
      <p:sp>
        <p:nvSpPr>
          <p:cNvPr id="3" name="Title"/>
          <p:cNvSpPr txBox="1"/>
          <p:nvPr/>
        </p:nvSpPr>
        <p:spPr>
          <a:xfrm>
            <a:off x="548640" y="566928"/>
            <a:ext cx="8076895" cy="713232"/>
          </a:xfrm>
          <a:prstGeom prst="rect">
            <a:avLst/>
          </a:prstGeom>
          <a:noFill/>
          <a:ln/>
        </p:spPr>
        <p:txBody>
          <a:bodyPr wrap="square" lIns="0" tIns="0" rIns="0" bIns="0" rtlCol="0" anchor="t"/>
          <a:lstStyle/>
          <a:p>
            <a:pPr indent="0" marL="0">
              <a:buNone/>
            </a:pPr>
            <a:r>
              <a:rPr lang="en-US" sz="3000" b="1" dirty="0">
                <a:solidFill>
                  <a:srgbClr val="1F1F1F"/>
                </a:solidFill>
                <a:latin typeface="Calibri" pitchFamily="34" charset="0"/>
                <a:ea typeface="Calibri" pitchFamily="34" charset="-122"/>
                <a:cs typeface="Calibri" pitchFamily="34" charset="-120"/>
              </a:rPr>
              <a:t>Contraindications · Drug interactions</a:t>
            </a:r>
            <a:endParaRPr lang="en-US" sz="3000" dirty="0"/>
          </a:p>
        </p:txBody>
      </p:sp>
      <p:sp>
        <p:nvSpPr>
          <p:cNvPr id="4" name="Objective chip"/>
          <p:cNvSpPr/>
          <p:nvPr/>
        </p:nvSpPr>
        <p:spPr>
          <a:xfrm>
            <a:off x="8899855" y="365760"/>
            <a:ext cx="2743200" cy="384048"/>
          </a:xfrm>
          <a:prstGeom prst="roundRect">
            <a:avLst>
              <a:gd name="adj" fmla="val 35714"/>
            </a:avLst>
          </a:prstGeom>
          <a:solidFill>
            <a:srgbClr val="E3EBF8"/>
          </a:solidFill>
          <a:ln/>
        </p:spPr>
        <p:txBody>
          <a:bodyPr wrap="square" lIns="25400" tIns="25400" rIns="25400" bIns="25400" rtlCol="0" anchor="ctr"/>
          <a:lstStyle/>
          <a:p>
            <a:pPr algn="ctr" indent="0" marL="0">
              <a:buNone/>
            </a:pPr>
            <a:r>
              <a:rPr lang="en-US" sz="800" b="1" dirty="0">
                <a:solidFill>
                  <a:srgbClr val="2F4F8A"/>
                </a:solidFill>
              </a:rPr>
              <a:t>Objectives: SO3 · SO4 · IO2.1 · IO2.2 · IO2.3 · IO2.4 · IO2.5 · IO2.6</a:t>
            </a:r>
            <a:endParaRPr lang="en-US" sz="800" dirty="0"/>
          </a:p>
        </p:txBody>
      </p:sp>
      <p:sp>
        <p:nvSpPr>
          <p:cNvPr id="5" name="Footer"/>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1000" dirty="0">
                <a:solidFill>
                  <a:srgbClr val="666666"/>
                </a:solidFill>
              </a:rPr>
              <a:t>L04 · Musculoskeletal Pharmacology — Session 2</a:t>
            </a:r>
            <a:endParaRPr lang="en-US" sz="1000" dirty="0"/>
          </a:p>
        </p:txBody>
      </p:sp>
      <p:sp>
        <p:nvSpPr>
          <p:cNvPr id="6" name="Slide number"/>
          <p:cNvSpPr txBox="1"/>
          <p:nvPr/>
        </p:nvSpPr>
        <p:spPr>
          <a:xfrm>
            <a:off x="10728655" y="6419088"/>
            <a:ext cx="914400" cy="274320"/>
          </a:xfrm>
          <a:prstGeom prst="rect">
            <a:avLst/>
          </a:prstGeom>
          <a:noFill/>
          <a:ln/>
        </p:spPr>
        <p:txBody>
          <a:bodyPr wrap="square" lIns="0" tIns="0" rIns="0" bIns="0" rtlCol="0" anchor="ctr"/>
          <a:lstStyle/>
          <a:p>
            <a:pPr algn="r" indent="0" marL="0">
              <a:buNone/>
            </a:pPr>
            <a:r>
              <a:rPr lang="en-US" sz="1000" dirty="0">
                <a:solidFill>
                  <a:srgbClr val="666666"/>
                </a:solidFill>
              </a:rPr>
              <a:t>78</a:t>
            </a:r>
            <a:endParaRPr lang="en-US" sz="1000" dirty="0"/>
          </a:p>
        </p:txBody>
      </p:sp>
      <p:sp>
        <p:nvSpPr>
          <p:cNvPr id="7" name="Contraindications card"/>
          <p:cNvSpPr/>
          <p:nvPr/>
        </p:nvSpPr>
        <p:spPr>
          <a:xfrm>
            <a:off x="548640" y="1325880"/>
            <a:ext cx="5410048" cy="3890772"/>
          </a:xfrm>
          <a:prstGeom prst="roundRect">
            <a:avLst>
              <a:gd name="adj" fmla="val 2820"/>
            </a:avLst>
          </a:prstGeom>
          <a:solidFill>
            <a:srgbClr val="F2F4F7"/>
          </a:solidFill>
          <a:ln w="12700">
            <a:solidFill>
              <a:srgbClr val="F2F4F7"/>
            </a:solidFill>
            <a:prstDash val="solid"/>
          </a:ln>
        </p:spPr>
      </p:sp>
      <p:sp>
        <p:nvSpPr>
          <p:cNvPr id="8" name="Contraindications icon circle"/>
          <p:cNvSpPr/>
          <p:nvPr/>
        </p:nvSpPr>
        <p:spPr>
          <a:xfrm>
            <a:off x="777240" y="1508760"/>
            <a:ext cx="438912" cy="438912"/>
          </a:xfrm>
          <a:prstGeom prst="ellipse">
            <a:avLst/>
          </a:prstGeom>
          <a:solidFill>
            <a:srgbClr val="C00000"/>
          </a:solidFill>
          <a:ln w="12700">
            <a:solidFill>
              <a:srgbClr val="C00000"/>
            </a:solidFill>
            <a:prstDash val="solid"/>
          </a:ln>
        </p:spPr>
      </p:sp>
      <p:pic>
        <p:nvPicPr>
          <p:cNvPr id="9" name="Contraindications icon" descr="preencoded.png">    </p:cNvPr>
          <p:cNvPicPr>
            <a:picLocks noChangeAspect="1"/>
          </p:cNvPicPr>
          <p:nvPr/>
        </p:nvPicPr>
        <p:blipFill>
          <a:blip r:embed="rId1"/>
          <a:stretch>
            <a:fillRect/>
          </a:stretch>
        </p:blipFill>
        <p:spPr>
          <a:xfrm>
            <a:off x="877824" y="1609344"/>
            <a:ext cx="237744" cy="237744"/>
          </a:xfrm>
          <a:prstGeom prst="rect">
            <a:avLst/>
          </a:prstGeom>
        </p:spPr>
      </p:pic>
      <p:sp>
        <p:nvSpPr>
          <p:cNvPr id="10" name="Contraindications heading"/>
          <p:cNvSpPr txBox="1"/>
          <p:nvPr/>
        </p:nvSpPr>
        <p:spPr>
          <a:xfrm>
            <a:off x="1353312" y="1508760"/>
            <a:ext cx="4404208" cy="438912"/>
          </a:xfrm>
          <a:prstGeom prst="rect">
            <a:avLst/>
          </a:prstGeom>
          <a:noFill/>
          <a:ln/>
        </p:spPr>
        <p:txBody>
          <a:bodyPr wrap="square" lIns="0" tIns="0" rIns="0" bIns="0" rtlCol="0" anchor="ctr"/>
          <a:lstStyle/>
          <a:p>
            <a:pPr indent="0" marL="0">
              <a:buNone/>
            </a:pPr>
            <a:r>
              <a:rPr lang="en-US" sz="1800" b="1" dirty="0">
                <a:solidFill>
                  <a:srgbClr val="C00000"/>
                </a:solidFill>
              </a:rPr>
              <a:t>Contraindications</a:t>
            </a:r>
            <a:endParaRPr lang="en-US" sz="1800" dirty="0"/>
          </a:p>
        </p:txBody>
      </p:sp>
      <p:sp>
        <p:nvSpPr>
          <p:cNvPr id="11" name="Contraindications body"/>
          <p:cNvSpPr txBox="1"/>
          <p:nvPr/>
        </p:nvSpPr>
        <p:spPr>
          <a:xfrm>
            <a:off x="777240" y="2075688"/>
            <a:ext cx="4952848" cy="3022092"/>
          </a:xfrm>
          <a:prstGeom prst="rect">
            <a:avLst/>
          </a:prstGeom>
          <a:noFill/>
          <a:ln/>
        </p:spPr>
        <p:txBody>
          <a:bodyPr wrap="square" lIns="0" tIns="0" rIns="0" bIns="0" rtlCol="0" anchor="t"/>
          <a:lstStyle/>
          <a:p>
            <a:pPr marL="228600" indent="-228600">
              <a:spcAft>
                <a:spcPts val="800"/>
              </a:spcAft>
              <a:buSzPct val="100000"/>
              <a:buChar char="•"/>
            </a:pPr>
            <a:r>
              <a:rPr lang="en-US" sz="1800" dirty="0">
                <a:solidFill>
                  <a:srgbClr val="1F1F1F"/>
                </a:solidFill>
              </a:rPr>
              <a:t>Bisphosphonates: contraindicated with severe renal impairment (CrCl below 30–35 mL/min) — some are avoided in significant renal impairment.</a:t>
            </a:r>
            <a:r>
              <a:rPr lang="en-US" sz="1300" dirty="0">
                <a:solidFill>
                  <a:srgbClr val="666666"/>
                </a:solidFill>
              </a:rPr>
              <a:t>  S48; S59</a:t>
            </a:r>
            <a:endParaRPr lang="en-US" sz="1800" dirty="0"/>
          </a:p>
          <a:p>
            <a:pPr marL="228600" indent="-228600">
              <a:spcAft>
                <a:spcPts val="800"/>
              </a:spcAft>
              <a:buSzPct val="100000"/>
              <a:buChar char="•"/>
            </a:pPr>
            <a:r>
              <a:rPr lang="en-US" sz="1800" dirty="0">
                <a:solidFill>
                  <a:srgbClr val="1F1F1F"/>
                </a:solidFill>
              </a:rPr>
              <a:t>Oral bisphosphonates: avoid in esophageal stricture, achalasia, or inability to sit upright.</a:t>
            </a:r>
            <a:r>
              <a:rPr lang="en-US" sz="1300" dirty="0">
                <a:solidFill>
                  <a:srgbClr val="666666"/>
                </a:solidFill>
              </a:rPr>
              <a:t>  S53</a:t>
            </a:r>
            <a:endParaRPr lang="en-US" sz="1800" dirty="0"/>
          </a:p>
          <a:p>
            <a:pPr marL="228600" indent="-228600">
              <a:spcAft>
                <a:spcPts val="800"/>
              </a:spcAft>
              <a:buSzPct val="100000"/>
              <a:buChar char="•"/>
            </a:pPr>
            <a:r>
              <a:rPr lang="en-US" sz="1400" b="1" dirty="0">
                <a:solidFill>
                  <a:srgbClr val="000000"/>
                </a:solidFill>
                <a:highlight>
                  <a:srgbClr val="FFC000"/>
                </a:highlight>
              </a:rPr>
              <a:t> TB </a:t>
            </a:r>
            <a:r>
              <a:rPr lang="en-US" sz="1800" dirty="0">
                <a:solidFill>
                  <a:srgbClr val="000000"/>
                </a:solidFill>
              </a:rPr>
              <a:t> </a:t>
            </a:r>
            <a:r>
              <a:rPr lang="en-US" sz="1800" dirty="0">
                <a:solidFill>
                  <a:srgbClr val="1F1F1F"/>
                </a:solidFill>
              </a:rPr>
              <a:t>Unlike bisphosphonates, denosumab can be used in advanced renal disease (not renally cleared) — watch calcium.</a:t>
            </a:r>
            <a:r>
              <a:rPr lang="en-US" sz="1300" dirty="0">
                <a:solidFill>
                  <a:srgbClr val="666666"/>
                </a:solidFill>
              </a:rPr>
              <a:t>  p. 820</a:t>
            </a:r>
            <a:endParaRPr lang="en-US" sz="1800" dirty="0"/>
          </a:p>
        </p:txBody>
      </p:sp>
      <p:sp>
        <p:nvSpPr>
          <p:cNvPr id="12" name="Drug interactions card"/>
          <p:cNvSpPr/>
          <p:nvPr/>
        </p:nvSpPr>
        <p:spPr>
          <a:xfrm>
            <a:off x="6233008" y="1325880"/>
            <a:ext cx="5410048" cy="3890772"/>
          </a:xfrm>
          <a:prstGeom prst="roundRect">
            <a:avLst>
              <a:gd name="adj" fmla="val 2820"/>
            </a:avLst>
          </a:prstGeom>
          <a:solidFill>
            <a:srgbClr val="F2F4F7"/>
          </a:solidFill>
          <a:ln w="12700">
            <a:solidFill>
              <a:srgbClr val="F2F4F7"/>
            </a:solidFill>
            <a:prstDash val="solid"/>
          </a:ln>
        </p:spPr>
      </p:sp>
      <p:sp>
        <p:nvSpPr>
          <p:cNvPr id="13" name="Drug interactions icon circle"/>
          <p:cNvSpPr/>
          <p:nvPr/>
        </p:nvSpPr>
        <p:spPr>
          <a:xfrm>
            <a:off x="6461608" y="1508760"/>
            <a:ext cx="438912" cy="438912"/>
          </a:xfrm>
          <a:prstGeom prst="ellipse">
            <a:avLst/>
          </a:prstGeom>
          <a:solidFill>
            <a:srgbClr val="7F6000"/>
          </a:solidFill>
          <a:ln w="12700">
            <a:solidFill>
              <a:srgbClr val="7F6000"/>
            </a:solidFill>
            <a:prstDash val="solid"/>
          </a:ln>
        </p:spPr>
      </p:sp>
      <p:pic>
        <p:nvPicPr>
          <p:cNvPr id="14" name="Drug interactions icon" descr="preencoded.png">    </p:cNvPr>
          <p:cNvPicPr>
            <a:picLocks noChangeAspect="1"/>
          </p:cNvPicPr>
          <p:nvPr/>
        </p:nvPicPr>
        <p:blipFill>
          <a:blip r:embed="rId2"/>
          <a:stretch>
            <a:fillRect/>
          </a:stretch>
        </p:blipFill>
        <p:spPr>
          <a:xfrm>
            <a:off x="6562192" y="1609344"/>
            <a:ext cx="237744" cy="237744"/>
          </a:xfrm>
          <a:prstGeom prst="rect">
            <a:avLst/>
          </a:prstGeom>
        </p:spPr>
      </p:pic>
      <p:sp>
        <p:nvSpPr>
          <p:cNvPr id="15" name="Drug interactions heading"/>
          <p:cNvSpPr txBox="1"/>
          <p:nvPr/>
        </p:nvSpPr>
        <p:spPr>
          <a:xfrm>
            <a:off x="7037680" y="1508760"/>
            <a:ext cx="4404208" cy="438912"/>
          </a:xfrm>
          <a:prstGeom prst="rect">
            <a:avLst/>
          </a:prstGeom>
          <a:noFill/>
          <a:ln/>
        </p:spPr>
        <p:txBody>
          <a:bodyPr wrap="square" lIns="0" tIns="0" rIns="0" bIns="0" rtlCol="0" anchor="ctr"/>
          <a:lstStyle/>
          <a:p>
            <a:pPr indent="0" marL="0">
              <a:buNone/>
            </a:pPr>
            <a:r>
              <a:rPr lang="en-US" sz="1800" b="1" dirty="0">
                <a:solidFill>
                  <a:srgbClr val="7F6000"/>
                </a:solidFill>
              </a:rPr>
              <a:t>Drug interactions</a:t>
            </a:r>
            <a:endParaRPr lang="en-US" sz="1800" dirty="0"/>
          </a:p>
        </p:txBody>
      </p:sp>
      <p:sp>
        <p:nvSpPr>
          <p:cNvPr id="16" name="Drug interactions body"/>
          <p:cNvSpPr txBox="1"/>
          <p:nvPr/>
        </p:nvSpPr>
        <p:spPr>
          <a:xfrm>
            <a:off x="6461608" y="2075688"/>
            <a:ext cx="4952848" cy="3022092"/>
          </a:xfrm>
          <a:prstGeom prst="rect">
            <a:avLst/>
          </a:prstGeom>
          <a:noFill/>
          <a:ln/>
        </p:spPr>
        <p:txBody>
          <a:bodyPr wrap="square" lIns="0" tIns="0" rIns="0" bIns="0" rtlCol="0" anchor="t"/>
          <a:lstStyle/>
          <a:p>
            <a:pPr marL="228600" indent="-228600">
              <a:spcAft>
                <a:spcPts val="800"/>
              </a:spcAft>
              <a:buSzPct val="100000"/>
              <a:buChar char="•"/>
            </a:pPr>
            <a:r>
              <a:rPr lang="en-US" sz="1800" dirty="0">
                <a:solidFill>
                  <a:srgbClr val="1F1F1F"/>
                </a:solidFill>
              </a:rPr>
              <a:t>Food, calcium, coffee, and antacids reduce oral bisphosphonate absorption further.</a:t>
            </a:r>
            <a:r>
              <a:rPr lang="en-US" sz="1300" dirty="0">
                <a:solidFill>
                  <a:srgbClr val="666666"/>
                </a:solidFill>
              </a:rPr>
              <a:t>  S53</a:t>
            </a:r>
            <a:endParaRPr lang="en-US" sz="1800" dirty="0"/>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name="Slide 79">
    <p:bg>
      <p:bgPr>
        <a:solidFill>
          <a:srgbClr val="FFFFFF"/>
        </a:solidFill>
      </p:bgPr>
    </p:bg>
    <p:spTree>
      <p:nvGrpSpPr>
        <p:cNvPr id="1" name=""/>
        <p:cNvGrpSpPr/>
        <p:nvPr/>
      </p:nvGrpSpPr>
      <p:grpSpPr>
        <a:xfrm>
          <a:off x="0" y="0"/>
          <a:ext cx="0" cy="0"/>
          <a:chOff x="0" y="0"/>
          <a:chExt cx="0" cy="0"/>
        </a:xfrm>
      </p:grpSpPr>
      <p:sp>
        <p:nvSpPr>
          <p:cNvPr id="2" name="Kicker"/>
          <p:cNvSpPr txBox="1"/>
          <p:nvPr/>
        </p:nvSpPr>
        <p:spPr>
          <a:xfrm>
            <a:off x="548640" y="292608"/>
            <a:ext cx="8076895" cy="274320"/>
          </a:xfrm>
          <a:prstGeom prst="rect">
            <a:avLst/>
          </a:prstGeom>
          <a:noFill/>
          <a:ln/>
        </p:spPr>
        <p:txBody>
          <a:bodyPr wrap="square" lIns="0" tIns="0" rIns="0" bIns="0" rtlCol="0" anchor="ctr"/>
          <a:lstStyle/>
          <a:p>
            <a:pPr indent="0" marL="0">
              <a:buNone/>
            </a:pPr>
            <a:r>
              <a:rPr lang="en-US" sz="1200" b="1" spc="100" kern="0" dirty="0">
                <a:solidFill>
                  <a:srgbClr val="4472C4"/>
                </a:solidFill>
              </a:rPr>
              <a:t>BONE PHARMACOLOGY &amp; OSTEOPOROSIS</a:t>
            </a:r>
            <a:endParaRPr lang="en-US" sz="1200" dirty="0"/>
          </a:p>
        </p:txBody>
      </p:sp>
      <p:sp>
        <p:nvSpPr>
          <p:cNvPr id="3" name="Title"/>
          <p:cNvSpPr txBox="1"/>
          <p:nvPr/>
        </p:nvSpPr>
        <p:spPr>
          <a:xfrm>
            <a:off x="548640" y="566928"/>
            <a:ext cx="8076895" cy="713232"/>
          </a:xfrm>
          <a:prstGeom prst="rect">
            <a:avLst/>
          </a:prstGeom>
          <a:noFill/>
          <a:ln/>
        </p:spPr>
        <p:txBody>
          <a:bodyPr wrap="square" lIns="0" tIns="0" rIns="0" bIns="0" rtlCol="0" anchor="t"/>
          <a:lstStyle/>
          <a:p>
            <a:pPr indent="0" marL="0">
              <a:buNone/>
            </a:pPr>
            <a:r>
              <a:rPr lang="en-US" sz="3000" b="1" dirty="0">
                <a:solidFill>
                  <a:srgbClr val="1F1F1F"/>
                </a:solidFill>
                <a:latin typeface="Calibri" pitchFamily="34" charset="0"/>
                <a:ea typeface="Calibri" pitchFamily="34" charset="-122"/>
                <a:cs typeface="Calibri" pitchFamily="34" charset="-120"/>
              </a:rPr>
              <a:t>Pharmacokinetics</a:t>
            </a:r>
            <a:endParaRPr lang="en-US" sz="3000" dirty="0"/>
          </a:p>
        </p:txBody>
      </p:sp>
      <p:sp>
        <p:nvSpPr>
          <p:cNvPr id="4" name="Objective chip"/>
          <p:cNvSpPr/>
          <p:nvPr/>
        </p:nvSpPr>
        <p:spPr>
          <a:xfrm>
            <a:off x="8899855" y="365760"/>
            <a:ext cx="2743200" cy="384048"/>
          </a:xfrm>
          <a:prstGeom prst="roundRect">
            <a:avLst>
              <a:gd name="adj" fmla="val 35714"/>
            </a:avLst>
          </a:prstGeom>
          <a:solidFill>
            <a:srgbClr val="E3EBF8"/>
          </a:solidFill>
          <a:ln/>
        </p:spPr>
        <p:txBody>
          <a:bodyPr wrap="square" lIns="25400" tIns="25400" rIns="25400" bIns="25400" rtlCol="0" anchor="ctr"/>
          <a:lstStyle/>
          <a:p>
            <a:pPr algn="ctr" indent="0" marL="0">
              <a:buNone/>
            </a:pPr>
            <a:r>
              <a:rPr lang="en-US" sz="800" b="1" dirty="0">
                <a:solidFill>
                  <a:srgbClr val="2F4F8A"/>
                </a:solidFill>
              </a:rPr>
              <a:t>Objectives: SO3 · SO4 · IO2.1 · IO2.2 · IO2.3 · IO2.4 · IO2.5 · IO2.6</a:t>
            </a:r>
            <a:endParaRPr lang="en-US" sz="800" dirty="0"/>
          </a:p>
        </p:txBody>
      </p:sp>
      <p:sp>
        <p:nvSpPr>
          <p:cNvPr id="5" name="Footer"/>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1000" dirty="0">
                <a:solidFill>
                  <a:srgbClr val="666666"/>
                </a:solidFill>
              </a:rPr>
              <a:t>L04 · Musculoskeletal Pharmacology — Session 2</a:t>
            </a:r>
            <a:endParaRPr lang="en-US" sz="1000" dirty="0"/>
          </a:p>
        </p:txBody>
      </p:sp>
      <p:sp>
        <p:nvSpPr>
          <p:cNvPr id="6" name="Slide number"/>
          <p:cNvSpPr txBox="1"/>
          <p:nvPr/>
        </p:nvSpPr>
        <p:spPr>
          <a:xfrm>
            <a:off x="10728655" y="6419088"/>
            <a:ext cx="914400" cy="274320"/>
          </a:xfrm>
          <a:prstGeom prst="rect">
            <a:avLst/>
          </a:prstGeom>
          <a:noFill/>
          <a:ln/>
        </p:spPr>
        <p:txBody>
          <a:bodyPr wrap="square" lIns="0" tIns="0" rIns="0" bIns="0" rtlCol="0" anchor="ctr"/>
          <a:lstStyle/>
          <a:p>
            <a:pPr algn="r" indent="0" marL="0">
              <a:buNone/>
            </a:pPr>
            <a:r>
              <a:rPr lang="en-US" sz="1000" dirty="0">
                <a:solidFill>
                  <a:srgbClr val="666666"/>
                </a:solidFill>
              </a:rPr>
              <a:t>79</a:t>
            </a:r>
            <a:endParaRPr lang="en-US" sz="1000" dirty="0"/>
          </a:p>
        </p:txBody>
      </p:sp>
      <p:sp>
        <p:nvSpPr>
          <p:cNvPr id="7" name="Pharmacokinetics card"/>
          <p:cNvSpPr/>
          <p:nvPr/>
        </p:nvSpPr>
        <p:spPr>
          <a:xfrm>
            <a:off x="548640" y="1325880"/>
            <a:ext cx="11094415" cy="4219956"/>
          </a:xfrm>
          <a:prstGeom prst="roundRect">
            <a:avLst>
              <a:gd name="adj" fmla="val 2600"/>
            </a:avLst>
          </a:prstGeom>
          <a:solidFill>
            <a:srgbClr val="F2F4F7"/>
          </a:solidFill>
          <a:ln w="12700">
            <a:solidFill>
              <a:srgbClr val="F2F4F7"/>
            </a:solidFill>
            <a:prstDash val="solid"/>
          </a:ln>
        </p:spPr>
      </p:sp>
      <p:sp>
        <p:nvSpPr>
          <p:cNvPr id="8" name="Pharmacokinetics icon circle"/>
          <p:cNvSpPr/>
          <p:nvPr/>
        </p:nvSpPr>
        <p:spPr>
          <a:xfrm>
            <a:off x="777240" y="1508760"/>
            <a:ext cx="438912" cy="438912"/>
          </a:xfrm>
          <a:prstGeom prst="ellipse">
            <a:avLst/>
          </a:prstGeom>
          <a:solidFill>
            <a:srgbClr val="2E75B6"/>
          </a:solidFill>
          <a:ln w="12700">
            <a:solidFill>
              <a:srgbClr val="2E75B6"/>
            </a:solidFill>
            <a:prstDash val="solid"/>
          </a:ln>
        </p:spPr>
      </p:sp>
      <p:pic>
        <p:nvPicPr>
          <p:cNvPr id="9" name="Pharmacokinetics icon" descr="preencoded.png">    </p:cNvPr>
          <p:cNvPicPr>
            <a:picLocks noChangeAspect="1"/>
          </p:cNvPicPr>
          <p:nvPr/>
        </p:nvPicPr>
        <p:blipFill>
          <a:blip r:embed="rId1"/>
          <a:stretch>
            <a:fillRect/>
          </a:stretch>
        </p:blipFill>
        <p:spPr>
          <a:xfrm>
            <a:off x="877824" y="1609344"/>
            <a:ext cx="237744" cy="237744"/>
          </a:xfrm>
          <a:prstGeom prst="rect">
            <a:avLst/>
          </a:prstGeom>
        </p:spPr>
      </p:pic>
      <p:sp>
        <p:nvSpPr>
          <p:cNvPr id="10" name="Pharmacokinetics heading"/>
          <p:cNvSpPr txBox="1"/>
          <p:nvPr/>
        </p:nvSpPr>
        <p:spPr>
          <a:xfrm>
            <a:off x="1353312" y="1508760"/>
            <a:ext cx="10088575" cy="438912"/>
          </a:xfrm>
          <a:prstGeom prst="rect">
            <a:avLst/>
          </a:prstGeom>
          <a:noFill/>
          <a:ln/>
        </p:spPr>
        <p:txBody>
          <a:bodyPr wrap="square" lIns="0" tIns="0" rIns="0" bIns="0" rtlCol="0" anchor="ctr"/>
          <a:lstStyle/>
          <a:p>
            <a:pPr indent="0" marL="0">
              <a:buNone/>
            </a:pPr>
            <a:r>
              <a:rPr lang="en-US" sz="1800" b="1" dirty="0">
                <a:solidFill>
                  <a:srgbClr val="2E75B6"/>
                </a:solidFill>
              </a:rPr>
              <a:t>Pharmacokinetics</a:t>
            </a:r>
            <a:endParaRPr lang="en-US" sz="1800" dirty="0"/>
          </a:p>
        </p:txBody>
      </p:sp>
      <p:sp>
        <p:nvSpPr>
          <p:cNvPr id="11" name="Pharmacokinetics body"/>
          <p:cNvSpPr txBox="1"/>
          <p:nvPr/>
        </p:nvSpPr>
        <p:spPr>
          <a:xfrm>
            <a:off x="777240" y="2075688"/>
            <a:ext cx="10637215" cy="3351276"/>
          </a:xfrm>
          <a:prstGeom prst="rect">
            <a:avLst/>
          </a:prstGeom>
          <a:noFill/>
          <a:ln/>
        </p:spPr>
        <p:txBody>
          <a:bodyPr wrap="square" lIns="0" tIns="0" rIns="0" bIns="0" rtlCol="0" anchor="t"/>
          <a:lstStyle/>
          <a:p>
            <a:pPr marL="228600" indent="-228600">
              <a:spcAft>
                <a:spcPts val="800"/>
              </a:spcAft>
              <a:buSzPct val="100000"/>
              <a:buChar char="•"/>
            </a:pPr>
            <a:r>
              <a:rPr lang="en-US" sz="1800" dirty="0">
                <a:solidFill>
                  <a:srgbClr val="1F1F1F"/>
                </a:solidFill>
              </a:rPr>
              <a:t>Bisphosphonates have a long skeletal half-life — the effect persists after stopping.</a:t>
            </a:r>
            <a:r>
              <a:rPr lang="en-US" sz="1300" dirty="0">
                <a:solidFill>
                  <a:srgbClr val="666666"/>
                </a:solidFill>
              </a:rPr>
              <a:t>  S48</a:t>
            </a:r>
            <a:endParaRPr lang="en-US" sz="1800" dirty="0"/>
          </a:p>
          <a:p>
            <a:pPr marL="228600" indent="-228600">
              <a:spcAft>
                <a:spcPts val="800"/>
              </a:spcAft>
              <a:buSzPct val="100000"/>
              <a:buChar char="•"/>
            </a:pPr>
            <a:r>
              <a:rPr lang="en-US" sz="1800" dirty="0">
                <a:solidFill>
                  <a:srgbClr val="1F1F1F"/>
                </a:solidFill>
              </a:rPr>
              <a:t>Poor oral absorption (under 1%) → take fasting with plain water.</a:t>
            </a:r>
            <a:r>
              <a:rPr lang="en-US" sz="1300" dirty="0">
                <a:solidFill>
                  <a:srgbClr val="666666"/>
                </a:solidFill>
              </a:rPr>
              <a:t>  S53</a:t>
            </a:r>
            <a:endParaRPr lang="en-US" sz="1800" dirty="0"/>
          </a:p>
          <a:p>
            <a:pPr marL="228600" indent="-228600">
              <a:spcAft>
                <a:spcPts val="800"/>
              </a:spcAft>
              <a:buSzPct val="100000"/>
              <a:buChar char="•"/>
            </a:pPr>
            <a:r>
              <a:rPr lang="en-US" sz="1800" b="1" dirty="0">
                <a:solidFill>
                  <a:srgbClr val="1F1F1F"/>
                </a:solidFill>
              </a:rPr>
              <a:t>Dosing:</a:t>
            </a:r>
            <a:r>
              <a:rPr lang="en-US" sz="1800" dirty="0">
                <a:solidFill>
                  <a:srgbClr val="1F1F1F"/>
                </a:solidFill>
              </a:rPr>
              <a:t> alendronate, risedronate — oral, typically weekly; ibandronate — oral, monthly; zoledronic acid — IV, as infrequently as once yearly.</a:t>
            </a:r>
            <a:r>
              <a:rPr lang="en-US" sz="1300" dirty="0">
                <a:solidFill>
                  <a:srgbClr val="666666"/>
                </a:solidFill>
              </a:rPr>
              <a:t>  S47; S49</a:t>
            </a:r>
            <a:endParaRPr lang="en-US" sz="1800" dirty="0"/>
          </a:p>
          <a:p>
            <a:pPr marL="228600" indent="-228600">
              <a:spcAft>
                <a:spcPts val="800"/>
              </a:spcAft>
              <a:buSzPct val="100000"/>
              <a:buChar char="•"/>
            </a:pPr>
            <a:r>
              <a:rPr lang="en-US" sz="1800" dirty="0">
                <a:solidFill>
                  <a:srgbClr val="1F1F1F"/>
                </a:solidFill>
              </a:rPr>
              <a:t>Teriparatide is limited to 2 years lifetime, then follow with an antiresorptive.</a:t>
            </a:r>
            <a:r>
              <a:rPr lang="en-US" sz="1300" dirty="0">
                <a:solidFill>
                  <a:srgbClr val="666666"/>
                </a:solidFill>
              </a:rPr>
              <a:t>  S55</a:t>
            </a:r>
            <a:endParaRPr lang="en-US" sz="1800" dirty="0"/>
          </a:p>
          <a:p>
            <a:pPr marL="228600" indent="-228600">
              <a:spcAft>
                <a:spcPts val="800"/>
              </a:spcAft>
              <a:buSzPct val="100000"/>
              <a:buChar char="•"/>
            </a:pPr>
            <a:r>
              <a:rPr lang="en-US" sz="1400" b="1" dirty="0">
                <a:solidFill>
                  <a:srgbClr val="000000"/>
                </a:solidFill>
                <a:highlight>
                  <a:srgbClr val="FFC000"/>
                </a:highlight>
              </a:rPr>
              <a:t> TB </a:t>
            </a:r>
            <a:r>
              <a:rPr lang="en-US" sz="1800" dirty="0">
                <a:solidFill>
                  <a:srgbClr val="000000"/>
                </a:solidFill>
              </a:rPr>
              <a:t> </a:t>
            </a:r>
            <a:r>
              <a:rPr lang="en-US" sz="1800" dirty="0">
                <a:solidFill>
                  <a:srgbClr val="1F1F1F"/>
                </a:solidFill>
              </a:rPr>
              <a:t>Bisphosphonates: less than 10% of an oral dose is absorbed; about half goes to bone, the rest is excreted unchanged in urine.</a:t>
            </a:r>
            <a:r>
              <a:rPr lang="en-US" sz="1300" dirty="0">
                <a:solidFill>
                  <a:srgbClr val="666666"/>
                </a:solidFill>
              </a:rPr>
              <a:t>  p. 819</a:t>
            </a:r>
            <a:endParaRPr lang="en-US" sz="1800" dirty="0"/>
          </a:p>
          <a:p>
            <a:pPr marL="228600" indent="-228600">
              <a:spcAft>
                <a:spcPts val="800"/>
              </a:spcAft>
              <a:buSzPct val="100000"/>
              <a:buChar char="•"/>
            </a:pPr>
            <a:r>
              <a:rPr lang="en-US" sz="1400" b="1" dirty="0">
                <a:solidFill>
                  <a:srgbClr val="000000"/>
                </a:solidFill>
                <a:highlight>
                  <a:srgbClr val="FFC000"/>
                </a:highlight>
              </a:rPr>
              <a:t> TB </a:t>
            </a:r>
            <a:r>
              <a:rPr lang="en-US" sz="1800" dirty="0">
                <a:solidFill>
                  <a:srgbClr val="000000"/>
                </a:solidFill>
              </a:rPr>
              <a:t> </a:t>
            </a:r>
            <a:r>
              <a:rPr lang="en-US" sz="1800" dirty="0">
                <a:solidFill>
                  <a:srgbClr val="1F1F1F"/>
                </a:solidFill>
              </a:rPr>
              <a:t>Denosumab 60 mg SC every 6 months; teriparatide 20 mcg SC daily; romosozumab 210 mg SC monthly for one year, then an antiresorptive.</a:t>
            </a:r>
            <a:r>
              <a:rPr lang="en-US" sz="1300" dirty="0">
                <a:solidFill>
                  <a:srgbClr val="666666"/>
                </a:solidFill>
              </a:rPr>
              <a:t>  p. 819; p. 827</a:t>
            </a:r>
            <a:endParaRPr lang="en-US" sz="1800" dirty="0"/>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name="Slide 80">
    <p:bg>
      <p:bgPr>
        <a:solidFill>
          <a:srgbClr val="FFFFFF"/>
        </a:solidFill>
      </p:bgPr>
    </p:bg>
    <p:spTree>
      <p:nvGrpSpPr>
        <p:cNvPr id="1" name=""/>
        <p:cNvGrpSpPr/>
        <p:nvPr/>
      </p:nvGrpSpPr>
      <p:grpSpPr>
        <a:xfrm>
          <a:off x="0" y="0"/>
          <a:ext cx="0" cy="0"/>
          <a:chOff x="0" y="0"/>
          <a:chExt cx="0" cy="0"/>
        </a:xfrm>
      </p:grpSpPr>
      <p:sp>
        <p:nvSpPr>
          <p:cNvPr id="2" name="Kicker"/>
          <p:cNvSpPr txBox="1"/>
          <p:nvPr/>
        </p:nvSpPr>
        <p:spPr>
          <a:xfrm>
            <a:off x="548640" y="292608"/>
            <a:ext cx="8076895" cy="274320"/>
          </a:xfrm>
          <a:prstGeom prst="rect">
            <a:avLst/>
          </a:prstGeom>
          <a:noFill/>
          <a:ln/>
        </p:spPr>
        <p:txBody>
          <a:bodyPr wrap="square" lIns="0" tIns="0" rIns="0" bIns="0" rtlCol="0" anchor="ctr"/>
          <a:lstStyle/>
          <a:p>
            <a:pPr indent="0" marL="0">
              <a:buNone/>
            </a:pPr>
            <a:r>
              <a:rPr lang="en-US" sz="1200" b="1" spc="100" kern="0" dirty="0">
                <a:solidFill>
                  <a:srgbClr val="4472C4"/>
                </a:solidFill>
              </a:rPr>
              <a:t>BONE PHARMACOLOGY &amp; OSTEOPOROSIS</a:t>
            </a:r>
            <a:endParaRPr lang="en-US" sz="1200" dirty="0"/>
          </a:p>
        </p:txBody>
      </p:sp>
      <p:sp>
        <p:nvSpPr>
          <p:cNvPr id="3" name="Title"/>
          <p:cNvSpPr txBox="1"/>
          <p:nvPr/>
        </p:nvSpPr>
        <p:spPr>
          <a:xfrm>
            <a:off x="548640" y="566928"/>
            <a:ext cx="8076895" cy="713232"/>
          </a:xfrm>
          <a:prstGeom prst="rect">
            <a:avLst/>
          </a:prstGeom>
          <a:noFill/>
          <a:ln/>
        </p:spPr>
        <p:txBody>
          <a:bodyPr wrap="square" lIns="0" tIns="0" rIns="0" bIns="0" rtlCol="0" anchor="t"/>
          <a:lstStyle/>
          <a:p>
            <a:pPr indent="0" marL="0">
              <a:buNone/>
            </a:pPr>
            <a:r>
              <a:rPr lang="en-US" sz="3000" b="1" dirty="0">
                <a:solidFill>
                  <a:srgbClr val="1F1F1F"/>
                </a:solidFill>
                <a:latin typeface="Calibri" pitchFamily="34" charset="0"/>
                <a:ea typeface="Calibri" pitchFamily="34" charset="-122"/>
                <a:cs typeface="Calibri" pitchFamily="34" charset="-120"/>
              </a:rPr>
              <a:t>Monitoring</a:t>
            </a:r>
            <a:endParaRPr lang="en-US" sz="3000" dirty="0"/>
          </a:p>
        </p:txBody>
      </p:sp>
      <p:sp>
        <p:nvSpPr>
          <p:cNvPr id="4" name="Objective chip"/>
          <p:cNvSpPr/>
          <p:nvPr/>
        </p:nvSpPr>
        <p:spPr>
          <a:xfrm>
            <a:off x="8899855" y="365760"/>
            <a:ext cx="2743200" cy="384048"/>
          </a:xfrm>
          <a:prstGeom prst="roundRect">
            <a:avLst>
              <a:gd name="adj" fmla="val 35714"/>
            </a:avLst>
          </a:prstGeom>
          <a:solidFill>
            <a:srgbClr val="E3EBF8"/>
          </a:solidFill>
          <a:ln/>
        </p:spPr>
        <p:txBody>
          <a:bodyPr wrap="square" lIns="25400" tIns="25400" rIns="25400" bIns="25400" rtlCol="0" anchor="ctr"/>
          <a:lstStyle/>
          <a:p>
            <a:pPr algn="ctr" indent="0" marL="0">
              <a:buNone/>
            </a:pPr>
            <a:r>
              <a:rPr lang="en-US" sz="800" b="1" dirty="0">
                <a:solidFill>
                  <a:srgbClr val="2F4F8A"/>
                </a:solidFill>
              </a:rPr>
              <a:t>Objectives: SO3 · SO4 · IO2.1 · IO2.2 · IO2.3 · IO2.4 · IO2.5 · IO2.6</a:t>
            </a:r>
            <a:endParaRPr lang="en-US" sz="800" dirty="0"/>
          </a:p>
        </p:txBody>
      </p:sp>
      <p:sp>
        <p:nvSpPr>
          <p:cNvPr id="5" name="Footer"/>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1000" dirty="0">
                <a:solidFill>
                  <a:srgbClr val="666666"/>
                </a:solidFill>
              </a:rPr>
              <a:t>L04 · Musculoskeletal Pharmacology — Session 2</a:t>
            </a:r>
            <a:endParaRPr lang="en-US" sz="1000" dirty="0"/>
          </a:p>
        </p:txBody>
      </p:sp>
      <p:sp>
        <p:nvSpPr>
          <p:cNvPr id="6" name="Slide number"/>
          <p:cNvSpPr txBox="1"/>
          <p:nvPr/>
        </p:nvSpPr>
        <p:spPr>
          <a:xfrm>
            <a:off x="10728655" y="6419088"/>
            <a:ext cx="914400" cy="274320"/>
          </a:xfrm>
          <a:prstGeom prst="rect">
            <a:avLst/>
          </a:prstGeom>
          <a:noFill/>
          <a:ln/>
        </p:spPr>
        <p:txBody>
          <a:bodyPr wrap="square" lIns="0" tIns="0" rIns="0" bIns="0" rtlCol="0" anchor="ctr"/>
          <a:lstStyle/>
          <a:p>
            <a:pPr algn="r" indent="0" marL="0">
              <a:buNone/>
            </a:pPr>
            <a:r>
              <a:rPr lang="en-US" sz="1000" dirty="0">
                <a:solidFill>
                  <a:srgbClr val="666666"/>
                </a:solidFill>
              </a:rPr>
              <a:t>80</a:t>
            </a:r>
            <a:endParaRPr lang="en-US" sz="1000" dirty="0"/>
          </a:p>
        </p:txBody>
      </p:sp>
      <p:sp>
        <p:nvSpPr>
          <p:cNvPr id="7" name="Monitoring card"/>
          <p:cNvSpPr/>
          <p:nvPr/>
        </p:nvSpPr>
        <p:spPr>
          <a:xfrm>
            <a:off x="548640" y="1325880"/>
            <a:ext cx="11094415" cy="3442716"/>
          </a:xfrm>
          <a:prstGeom prst="roundRect">
            <a:avLst>
              <a:gd name="adj" fmla="val 3187"/>
            </a:avLst>
          </a:prstGeom>
          <a:solidFill>
            <a:srgbClr val="F2F4F7"/>
          </a:solidFill>
          <a:ln w="12700">
            <a:solidFill>
              <a:srgbClr val="F2F4F7"/>
            </a:solidFill>
            <a:prstDash val="solid"/>
          </a:ln>
        </p:spPr>
      </p:sp>
      <p:sp>
        <p:nvSpPr>
          <p:cNvPr id="8" name="Monitoring icon circle"/>
          <p:cNvSpPr/>
          <p:nvPr/>
        </p:nvSpPr>
        <p:spPr>
          <a:xfrm>
            <a:off x="777240" y="1508760"/>
            <a:ext cx="438912" cy="438912"/>
          </a:xfrm>
          <a:prstGeom prst="ellipse">
            <a:avLst/>
          </a:prstGeom>
          <a:solidFill>
            <a:srgbClr val="1F7A7A"/>
          </a:solidFill>
          <a:ln w="12700">
            <a:solidFill>
              <a:srgbClr val="1F7A7A"/>
            </a:solidFill>
            <a:prstDash val="solid"/>
          </a:ln>
        </p:spPr>
      </p:sp>
      <p:pic>
        <p:nvPicPr>
          <p:cNvPr id="9" name="Monitoring icon" descr="preencoded.png">    </p:cNvPr>
          <p:cNvPicPr>
            <a:picLocks noChangeAspect="1"/>
          </p:cNvPicPr>
          <p:nvPr/>
        </p:nvPicPr>
        <p:blipFill>
          <a:blip r:embed="rId1"/>
          <a:stretch>
            <a:fillRect/>
          </a:stretch>
        </p:blipFill>
        <p:spPr>
          <a:xfrm>
            <a:off x="877824" y="1609344"/>
            <a:ext cx="237744" cy="237744"/>
          </a:xfrm>
          <a:prstGeom prst="rect">
            <a:avLst/>
          </a:prstGeom>
        </p:spPr>
      </p:pic>
      <p:sp>
        <p:nvSpPr>
          <p:cNvPr id="10" name="Monitoring heading"/>
          <p:cNvSpPr txBox="1"/>
          <p:nvPr/>
        </p:nvSpPr>
        <p:spPr>
          <a:xfrm>
            <a:off x="1353312" y="1508760"/>
            <a:ext cx="10088575" cy="438912"/>
          </a:xfrm>
          <a:prstGeom prst="rect">
            <a:avLst/>
          </a:prstGeom>
          <a:noFill/>
          <a:ln/>
        </p:spPr>
        <p:txBody>
          <a:bodyPr wrap="square" lIns="0" tIns="0" rIns="0" bIns="0" rtlCol="0" anchor="ctr"/>
          <a:lstStyle/>
          <a:p>
            <a:pPr indent="0" marL="0">
              <a:buNone/>
            </a:pPr>
            <a:r>
              <a:rPr lang="en-US" sz="1800" b="1" dirty="0">
                <a:solidFill>
                  <a:srgbClr val="1F7A7A"/>
                </a:solidFill>
              </a:rPr>
              <a:t>Monitoring</a:t>
            </a:r>
            <a:endParaRPr lang="en-US" sz="1800" dirty="0"/>
          </a:p>
        </p:txBody>
      </p:sp>
      <p:sp>
        <p:nvSpPr>
          <p:cNvPr id="11" name="Monitoring body"/>
          <p:cNvSpPr txBox="1"/>
          <p:nvPr/>
        </p:nvSpPr>
        <p:spPr>
          <a:xfrm>
            <a:off x="777240" y="2075688"/>
            <a:ext cx="10637215" cy="2574036"/>
          </a:xfrm>
          <a:prstGeom prst="rect">
            <a:avLst/>
          </a:prstGeom>
          <a:noFill/>
          <a:ln/>
        </p:spPr>
        <p:txBody>
          <a:bodyPr wrap="square" lIns="0" tIns="0" rIns="0" bIns="0" rtlCol="0" anchor="t"/>
          <a:lstStyle/>
          <a:p>
            <a:pPr marL="228600" indent="-228600">
              <a:spcAft>
                <a:spcPts val="800"/>
              </a:spcAft>
              <a:buSzPct val="100000"/>
              <a:buChar char="•"/>
            </a:pPr>
            <a:r>
              <a:rPr lang="en-US" sz="1800" b="1" dirty="0">
                <a:solidFill>
                  <a:srgbClr val="1F1F1F"/>
                </a:solidFill>
              </a:rPr>
              <a:t>Oral counseling:</a:t>
            </a:r>
            <a:r>
              <a:rPr lang="en-US" sz="1800" dirty="0">
                <a:solidFill>
                  <a:srgbClr val="1F1F1F"/>
                </a:solidFill>
              </a:rPr>
              <a:t> take with a </a:t>
            </a:r>
            <a:r>
              <a:rPr lang="en-US" sz="1800" b="1" dirty="0">
                <a:solidFill>
                  <a:srgbClr val="1F1F1F"/>
                </a:solidFill>
              </a:rPr>
              <a:t>full glass of water</a:t>
            </a:r>
            <a:r>
              <a:rPr lang="en-US" sz="1800" dirty="0">
                <a:solidFill>
                  <a:srgbClr val="1F1F1F"/>
                </a:solidFill>
              </a:rPr>
              <a:t>, first thing in the morning, on an empty stomach well before food, and </a:t>
            </a:r>
            <a:r>
              <a:rPr lang="en-US" sz="1800" b="1" dirty="0">
                <a:solidFill>
                  <a:srgbClr val="1F1F1F"/>
                </a:solidFill>
              </a:rPr>
              <a:t>remain upright</a:t>
            </a:r>
            <a:r>
              <a:rPr lang="en-US" sz="1800" dirty="0">
                <a:solidFill>
                  <a:srgbClr val="1F1F1F"/>
                </a:solidFill>
              </a:rPr>
              <a:t> (sitting or standing) for the specified period after dosing (30 minutes).</a:t>
            </a:r>
            <a:r>
              <a:rPr lang="en-US" sz="1300" dirty="0">
                <a:solidFill>
                  <a:srgbClr val="666666"/>
                </a:solidFill>
              </a:rPr>
              <a:t>  S52; S53; SG U2-R13</a:t>
            </a:r>
            <a:endParaRPr lang="en-US" sz="1800" dirty="0"/>
          </a:p>
          <a:p>
            <a:pPr marL="228600" indent="-228600">
              <a:spcAft>
                <a:spcPts val="800"/>
              </a:spcAft>
              <a:buSzPct val="100000"/>
              <a:buChar char="•"/>
            </a:pPr>
            <a:r>
              <a:rPr lang="en-US" sz="1800" dirty="0">
                <a:solidFill>
                  <a:srgbClr val="1F1F1F"/>
                </a:solidFill>
              </a:rPr>
              <a:t>Ensure calcium and vitamin D repletion before starting; correct hypocalcemia first.</a:t>
            </a:r>
            <a:r>
              <a:rPr lang="en-US" sz="1300" dirty="0">
                <a:solidFill>
                  <a:srgbClr val="666666"/>
                </a:solidFill>
              </a:rPr>
              <a:t>  S48; S53</a:t>
            </a:r>
            <a:endParaRPr lang="en-US" sz="1800" dirty="0"/>
          </a:p>
          <a:p>
            <a:pPr marL="228600" indent="-228600">
              <a:spcAft>
                <a:spcPts val="800"/>
              </a:spcAft>
              <a:buSzPct val="100000"/>
              <a:buChar char="•"/>
            </a:pPr>
            <a:r>
              <a:rPr lang="en-US" sz="1800" dirty="0">
                <a:solidFill>
                  <a:srgbClr val="1F1F1F"/>
                </a:solidFill>
              </a:rPr>
              <a:t>Consider a </a:t>
            </a:r>
            <a:r>
              <a:rPr lang="en-US" sz="1800" b="1" dirty="0">
                <a:solidFill>
                  <a:srgbClr val="1F1F1F"/>
                </a:solidFill>
              </a:rPr>
              <a:t>drug holiday after 3–5 years</a:t>
            </a:r>
            <a:r>
              <a:rPr lang="en-US" sz="1800" dirty="0">
                <a:solidFill>
                  <a:srgbClr val="1F1F1F"/>
                </a:solidFill>
              </a:rPr>
              <a:t> of oral therapy (osteonecrosis of the jaw, atypical femur fracture with long-term use).</a:t>
            </a:r>
            <a:r>
              <a:rPr lang="en-US" sz="1300" dirty="0">
                <a:solidFill>
                  <a:srgbClr val="666666"/>
                </a:solidFill>
              </a:rPr>
              <a:t>  S48</a:t>
            </a:r>
            <a:endParaRPr lang="en-US" sz="1800" dirty="0"/>
          </a:p>
          <a:p>
            <a:pPr marL="228600" indent="-228600">
              <a:spcAft>
                <a:spcPts val="800"/>
              </a:spcAft>
              <a:buSzPct val="100000"/>
              <a:buChar char="•"/>
            </a:pPr>
            <a:r>
              <a:rPr lang="en-US" sz="1400" b="1" dirty="0">
                <a:solidFill>
                  <a:srgbClr val="000000"/>
                </a:solidFill>
                <a:highlight>
                  <a:srgbClr val="FFC000"/>
                </a:highlight>
              </a:rPr>
              <a:t> TB </a:t>
            </a:r>
            <a:r>
              <a:rPr lang="en-US" sz="1800" dirty="0">
                <a:solidFill>
                  <a:srgbClr val="000000"/>
                </a:solidFill>
              </a:rPr>
              <a:t> </a:t>
            </a:r>
            <a:r>
              <a:rPr lang="en-US" sz="1800" dirty="0">
                <a:solidFill>
                  <a:srgbClr val="1F1F1F"/>
                </a:solidFill>
              </a:rPr>
              <a:t>Reassess after 5 years of bisphosphonate (3 for zoledronate); a drug holiday if fracture risk allows.</a:t>
            </a:r>
            <a:r>
              <a:rPr lang="en-US" sz="1300" dirty="0">
                <a:solidFill>
                  <a:srgbClr val="666666"/>
                </a:solidFill>
              </a:rPr>
              <a:t>  p. 820</a:t>
            </a:r>
            <a:endParaRPr lang="en-US" sz="1800" dirty="0"/>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name="Slide 81">
    <p:bg>
      <p:bgPr>
        <a:solidFill>
          <a:srgbClr val="FFFFFF"/>
        </a:solidFill>
      </p:bgPr>
    </p:bg>
    <p:spTree>
      <p:nvGrpSpPr>
        <p:cNvPr id="1" name=""/>
        <p:cNvGrpSpPr/>
        <p:nvPr/>
      </p:nvGrpSpPr>
      <p:grpSpPr>
        <a:xfrm>
          <a:off x="0" y="0"/>
          <a:ext cx="0" cy="0"/>
          <a:chOff x="0" y="0"/>
          <a:chExt cx="0" cy="0"/>
        </a:xfrm>
      </p:grpSpPr>
      <p:sp>
        <p:nvSpPr>
          <p:cNvPr id="2" name="Kicker"/>
          <p:cNvSpPr txBox="1"/>
          <p:nvPr/>
        </p:nvSpPr>
        <p:spPr>
          <a:xfrm>
            <a:off x="548640" y="292608"/>
            <a:ext cx="8076895" cy="274320"/>
          </a:xfrm>
          <a:prstGeom prst="rect">
            <a:avLst/>
          </a:prstGeom>
          <a:noFill/>
          <a:ln/>
        </p:spPr>
        <p:txBody>
          <a:bodyPr wrap="square" lIns="0" tIns="0" rIns="0" bIns="0" rtlCol="0" anchor="ctr"/>
          <a:lstStyle/>
          <a:p>
            <a:pPr indent="0" marL="0">
              <a:buNone/>
            </a:pPr>
            <a:r>
              <a:rPr lang="en-US" sz="1200" b="1" spc="100" kern="0" dirty="0">
                <a:solidFill>
                  <a:srgbClr val="4472C4"/>
                </a:solidFill>
              </a:rPr>
              <a:t>BONE PHARMACOLOGY &amp; OSTEOPOROSIS</a:t>
            </a:r>
            <a:endParaRPr lang="en-US" sz="1200" dirty="0"/>
          </a:p>
        </p:txBody>
      </p:sp>
      <p:sp>
        <p:nvSpPr>
          <p:cNvPr id="3" name="Title"/>
          <p:cNvSpPr txBox="1"/>
          <p:nvPr/>
        </p:nvSpPr>
        <p:spPr>
          <a:xfrm>
            <a:off x="548640" y="566928"/>
            <a:ext cx="8076895" cy="713232"/>
          </a:xfrm>
          <a:prstGeom prst="rect">
            <a:avLst/>
          </a:prstGeom>
          <a:noFill/>
          <a:ln/>
        </p:spPr>
        <p:txBody>
          <a:bodyPr wrap="square" lIns="0" tIns="0" rIns="0" bIns="0" rtlCol="0" anchor="t"/>
          <a:lstStyle/>
          <a:p>
            <a:pPr indent="0" marL="0">
              <a:buNone/>
            </a:pPr>
            <a:r>
              <a:rPr lang="en-US" sz="3000" b="1" dirty="0">
                <a:solidFill>
                  <a:srgbClr val="1F1F1F"/>
                </a:solidFill>
                <a:latin typeface="Calibri" pitchFamily="34" charset="0"/>
                <a:ea typeface="Calibri" pitchFamily="34" charset="-122"/>
                <a:cs typeface="Calibri" pitchFamily="34" charset="-120"/>
              </a:rPr>
              <a:t>Clinical pearls / "why" hook</a:t>
            </a:r>
            <a:endParaRPr lang="en-US" sz="3000" dirty="0"/>
          </a:p>
        </p:txBody>
      </p:sp>
      <p:sp>
        <p:nvSpPr>
          <p:cNvPr id="4" name="Objective chip"/>
          <p:cNvSpPr/>
          <p:nvPr/>
        </p:nvSpPr>
        <p:spPr>
          <a:xfrm>
            <a:off x="8899855" y="365760"/>
            <a:ext cx="2743200" cy="384048"/>
          </a:xfrm>
          <a:prstGeom prst="roundRect">
            <a:avLst>
              <a:gd name="adj" fmla="val 35714"/>
            </a:avLst>
          </a:prstGeom>
          <a:solidFill>
            <a:srgbClr val="E3EBF8"/>
          </a:solidFill>
          <a:ln/>
        </p:spPr>
        <p:txBody>
          <a:bodyPr wrap="square" lIns="25400" tIns="25400" rIns="25400" bIns="25400" rtlCol="0" anchor="ctr"/>
          <a:lstStyle/>
          <a:p>
            <a:pPr algn="ctr" indent="0" marL="0">
              <a:buNone/>
            </a:pPr>
            <a:r>
              <a:rPr lang="en-US" sz="800" b="1" dirty="0">
                <a:solidFill>
                  <a:srgbClr val="2F4F8A"/>
                </a:solidFill>
              </a:rPr>
              <a:t>Objectives: SO3 · SO4 · IO2.1 · IO2.2 · IO2.3 · IO2.4 · IO2.5 · IO2.6</a:t>
            </a:r>
            <a:endParaRPr lang="en-US" sz="800" dirty="0"/>
          </a:p>
        </p:txBody>
      </p:sp>
      <p:sp>
        <p:nvSpPr>
          <p:cNvPr id="5" name="Footer"/>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1000" dirty="0">
                <a:solidFill>
                  <a:srgbClr val="666666"/>
                </a:solidFill>
              </a:rPr>
              <a:t>L04 · Musculoskeletal Pharmacology — Session 2</a:t>
            </a:r>
            <a:endParaRPr lang="en-US" sz="1000" dirty="0"/>
          </a:p>
        </p:txBody>
      </p:sp>
      <p:sp>
        <p:nvSpPr>
          <p:cNvPr id="6" name="Slide number"/>
          <p:cNvSpPr txBox="1"/>
          <p:nvPr/>
        </p:nvSpPr>
        <p:spPr>
          <a:xfrm>
            <a:off x="10728655" y="6419088"/>
            <a:ext cx="914400" cy="274320"/>
          </a:xfrm>
          <a:prstGeom prst="rect">
            <a:avLst/>
          </a:prstGeom>
          <a:noFill/>
          <a:ln/>
        </p:spPr>
        <p:txBody>
          <a:bodyPr wrap="square" lIns="0" tIns="0" rIns="0" bIns="0" rtlCol="0" anchor="ctr"/>
          <a:lstStyle/>
          <a:p>
            <a:pPr algn="r" indent="0" marL="0">
              <a:buNone/>
            </a:pPr>
            <a:r>
              <a:rPr lang="en-US" sz="1000" dirty="0">
                <a:solidFill>
                  <a:srgbClr val="666666"/>
                </a:solidFill>
              </a:rPr>
              <a:t>81</a:t>
            </a:r>
            <a:endParaRPr lang="en-US" sz="1000" dirty="0"/>
          </a:p>
        </p:txBody>
      </p:sp>
      <p:sp>
        <p:nvSpPr>
          <p:cNvPr id="7" name="Clinical pearls / &quot;why&quot; hook (1/2) card"/>
          <p:cNvSpPr/>
          <p:nvPr/>
        </p:nvSpPr>
        <p:spPr>
          <a:xfrm>
            <a:off x="548640" y="1325880"/>
            <a:ext cx="11094415" cy="3721608"/>
          </a:xfrm>
          <a:prstGeom prst="roundRect">
            <a:avLst>
              <a:gd name="adj" fmla="val 2948"/>
            </a:avLst>
          </a:prstGeom>
          <a:solidFill>
            <a:srgbClr val="F2F4F7"/>
          </a:solidFill>
          <a:ln w="12700">
            <a:solidFill>
              <a:srgbClr val="F2F4F7"/>
            </a:solidFill>
            <a:prstDash val="solid"/>
          </a:ln>
        </p:spPr>
      </p:sp>
      <p:sp>
        <p:nvSpPr>
          <p:cNvPr id="8" name="Clinical pearls / &quot;why&quot; hook (1/2) icon circle"/>
          <p:cNvSpPr/>
          <p:nvPr/>
        </p:nvSpPr>
        <p:spPr>
          <a:xfrm>
            <a:off x="777240" y="1508760"/>
            <a:ext cx="438912" cy="438912"/>
          </a:xfrm>
          <a:prstGeom prst="ellipse">
            <a:avLst/>
          </a:prstGeom>
          <a:solidFill>
            <a:srgbClr val="2E75B6"/>
          </a:solidFill>
          <a:ln w="12700">
            <a:solidFill>
              <a:srgbClr val="2E75B6"/>
            </a:solidFill>
            <a:prstDash val="solid"/>
          </a:ln>
        </p:spPr>
      </p:sp>
      <p:pic>
        <p:nvPicPr>
          <p:cNvPr id="9" name="Clinical pearls / &quot;why&quot; hook (1/2) icon" descr="preencoded.png">    </p:cNvPr>
          <p:cNvPicPr>
            <a:picLocks noChangeAspect="1"/>
          </p:cNvPicPr>
          <p:nvPr/>
        </p:nvPicPr>
        <p:blipFill>
          <a:blip r:embed="rId1"/>
          <a:stretch>
            <a:fillRect/>
          </a:stretch>
        </p:blipFill>
        <p:spPr>
          <a:xfrm>
            <a:off x="877824" y="1609344"/>
            <a:ext cx="237744" cy="237744"/>
          </a:xfrm>
          <a:prstGeom prst="rect">
            <a:avLst/>
          </a:prstGeom>
        </p:spPr>
      </p:pic>
      <p:sp>
        <p:nvSpPr>
          <p:cNvPr id="10" name="Clinical pearls / &amp;quot;why&amp;quot; hook (1/2) heading"/>
          <p:cNvSpPr txBox="1"/>
          <p:nvPr/>
        </p:nvSpPr>
        <p:spPr>
          <a:xfrm>
            <a:off x="1353312" y="1508760"/>
            <a:ext cx="10088575" cy="438912"/>
          </a:xfrm>
          <a:prstGeom prst="rect">
            <a:avLst/>
          </a:prstGeom>
          <a:noFill/>
          <a:ln/>
        </p:spPr>
        <p:txBody>
          <a:bodyPr wrap="square" lIns="0" tIns="0" rIns="0" bIns="0" rtlCol="0" anchor="ctr"/>
          <a:lstStyle/>
          <a:p>
            <a:pPr indent="0" marL="0">
              <a:buNone/>
            </a:pPr>
            <a:r>
              <a:rPr lang="en-US" sz="1800" b="1" dirty="0">
                <a:solidFill>
                  <a:srgbClr val="2E75B6"/>
                </a:solidFill>
              </a:rPr>
              <a:t>Clinical pearls / "why" hook (1/2)</a:t>
            </a:r>
            <a:endParaRPr lang="en-US" sz="1800" dirty="0"/>
          </a:p>
        </p:txBody>
      </p:sp>
      <p:sp>
        <p:nvSpPr>
          <p:cNvPr id="11" name="Clinical pearls / &quot;why&quot; hook (1/2) body"/>
          <p:cNvSpPr txBox="1"/>
          <p:nvPr/>
        </p:nvSpPr>
        <p:spPr>
          <a:xfrm>
            <a:off x="777240" y="2075688"/>
            <a:ext cx="10637215" cy="2852928"/>
          </a:xfrm>
          <a:prstGeom prst="rect">
            <a:avLst/>
          </a:prstGeom>
          <a:noFill/>
          <a:ln/>
        </p:spPr>
        <p:txBody>
          <a:bodyPr wrap="square" lIns="0" tIns="0" rIns="0" bIns="0" rtlCol="0" anchor="t"/>
          <a:lstStyle/>
          <a:p>
            <a:pPr marL="228600" indent="-228600">
              <a:spcAft>
                <a:spcPts val="800"/>
              </a:spcAft>
              <a:buSzPct val="100000"/>
              <a:buChar char="•"/>
            </a:pPr>
            <a:r>
              <a:rPr lang="en-US" sz="1800" dirty="0">
                <a:solidFill>
                  <a:srgbClr val="1F1F1F"/>
                </a:solidFill>
              </a:rPr>
              <a:t>The “remain upright” point is extremely high-yield: esophageal injury is largely preventable with correct administration.</a:t>
            </a:r>
            <a:r>
              <a:rPr lang="en-US" sz="1300" dirty="0">
                <a:solidFill>
                  <a:srgbClr val="666666"/>
                </a:solidFill>
              </a:rPr>
              <a:t>  S52 (notes); S53</a:t>
            </a:r>
            <a:endParaRPr lang="en-US" sz="1800" dirty="0"/>
          </a:p>
          <a:p>
            <a:pPr marL="228600" indent="-228600">
              <a:spcAft>
                <a:spcPts val="800"/>
              </a:spcAft>
              <a:buSzPct val="100000"/>
              <a:buChar char="•"/>
            </a:pPr>
            <a:r>
              <a:rPr lang="en-US" sz="1800" b="1" dirty="0">
                <a:solidFill>
                  <a:srgbClr val="1F1F1F"/>
                </a:solidFill>
              </a:rPr>
              <a:t>Can’t swallow pills?</a:t>
            </a:r>
            <a:r>
              <a:rPr lang="en-US" sz="1800" dirty="0">
                <a:solidFill>
                  <a:srgbClr val="1F1F1F"/>
                </a:solidFill>
              </a:rPr>
              <a:t> Yearly IV zoledronic acid or a subcutaneous injectable (e.g., denosumab) avoids the oral route.</a:t>
            </a:r>
            <a:r>
              <a:rPr lang="en-US" sz="1300" dirty="0">
                <a:solidFill>
                  <a:srgbClr val="666666"/>
                </a:solidFill>
              </a:rPr>
              <a:t>  S66; S59</a:t>
            </a:r>
            <a:endParaRPr lang="en-US" sz="1800" dirty="0"/>
          </a:p>
          <a:p>
            <a:pPr marL="228600" indent="-228600">
              <a:spcAft>
                <a:spcPts val="800"/>
              </a:spcAft>
              <a:buSzPct val="100000"/>
              <a:buChar char="•"/>
            </a:pPr>
            <a:r>
              <a:rPr lang="en-US" sz="1800" dirty="0">
                <a:solidFill>
                  <a:srgbClr val="1F1F1F"/>
                </a:solidFill>
              </a:rPr>
              <a:t>Dosing frequency is a major real-world driver of which bisphosphonate a patient actually takes consistently.</a:t>
            </a:r>
            <a:r>
              <a:rPr lang="en-US" sz="1300" dirty="0">
                <a:solidFill>
                  <a:srgbClr val="666666"/>
                </a:solidFill>
              </a:rPr>
              <a:t>  S49 (notes)</a:t>
            </a:r>
            <a:endParaRPr lang="en-US" sz="1800" dirty="0"/>
          </a:p>
          <a:p>
            <a:pPr marL="228600" indent="-228600">
              <a:spcAft>
                <a:spcPts val="800"/>
              </a:spcAft>
              <a:buSzPct val="100000"/>
              <a:buChar char="•"/>
            </a:pPr>
            <a:r>
              <a:rPr lang="en-US" sz="1800" dirty="0">
                <a:solidFill>
                  <a:srgbClr val="1F1F1F"/>
                </a:solidFill>
              </a:rPr>
              <a:t>Teriparatide, abaloparatide, and romosozumab are the </a:t>
            </a:r>
            <a:r>
              <a:rPr lang="en-US" sz="1800" b="1" dirty="0">
                <a:solidFill>
                  <a:srgbClr val="1F1F1F"/>
                </a:solidFill>
              </a:rPr>
              <a:t>anabolic exception</a:t>
            </a:r>
            <a:r>
              <a:rPr lang="en-US" sz="1800" dirty="0">
                <a:solidFill>
                  <a:srgbClr val="1F1F1F"/>
                </a:solidFill>
              </a:rPr>
              <a:t> — they actively build new bone; most other osteoporosis drugs just slow resorption.</a:t>
            </a:r>
            <a:r>
              <a:rPr lang="en-US" sz="1300" dirty="0">
                <a:solidFill>
                  <a:srgbClr val="666666"/>
                </a:solidFill>
              </a:rPr>
              <a:t>  S54 (notes); S56</a:t>
            </a:r>
            <a:endParaRPr lang="en-US" sz="1800" dirty="0"/>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name="Slide 82">
    <p:bg>
      <p:bgPr>
        <a:solidFill>
          <a:srgbClr val="FFFFFF"/>
        </a:solidFill>
      </p:bgPr>
    </p:bg>
    <p:spTree>
      <p:nvGrpSpPr>
        <p:cNvPr id="1" name=""/>
        <p:cNvGrpSpPr/>
        <p:nvPr/>
      </p:nvGrpSpPr>
      <p:grpSpPr>
        <a:xfrm>
          <a:off x="0" y="0"/>
          <a:ext cx="0" cy="0"/>
          <a:chOff x="0" y="0"/>
          <a:chExt cx="0" cy="0"/>
        </a:xfrm>
      </p:grpSpPr>
      <p:sp>
        <p:nvSpPr>
          <p:cNvPr id="2" name="Kicker"/>
          <p:cNvSpPr txBox="1"/>
          <p:nvPr/>
        </p:nvSpPr>
        <p:spPr>
          <a:xfrm>
            <a:off x="548640" y="292608"/>
            <a:ext cx="8076895" cy="274320"/>
          </a:xfrm>
          <a:prstGeom prst="rect">
            <a:avLst/>
          </a:prstGeom>
          <a:noFill/>
          <a:ln/>
        </p:spPr>
        <p:txBody>
          <a:bodyPr wrap="square" lIns="0" tIns="0" rIns="0" bIns="0" rtlCol="0" anchor="ctr"/>
          <a:lstStyle/>
          <a:p>
            <a:pPr indent="0" marL="0">
              <a:buNone/>
            </a:pPr>
            <a:r>
              <a:rPr lang="en-US" sz="1200" b="1" spc="100" kern="0" dirty="0">
                <a:solidFill>
                  <a:srgbClr val="4472C4"/>
                </a:solidFill>
              </a:rPr>
              <a:t>BONE PHARMACOLOGY &amp; OSTEOPOROSIS</a:t>
            </a:r>
            <a:endParaRPr lang="en-US" sz="1200" dirty="0"/>
          </a:p>
        </p:txBody>
      </p:sp>
      <p:sp>
        <p:nvSpPr>
          <p:cNvPr id="3" name="Title"/>
          <p:cNvSpPr txBox="1"/>
          <p:nvPr/>
        </p:nvSpPr>
        <p:spPr>
          <a:xfrm>
            <a:off x="548640" y="566928"/>
            <a:ext cx="8076895" cy="713232"/>
          </a:xfrm>
          <a:prstGeom prst="rect">
            <a:avLst/>
          </a:prstGeom>
          <a:noFill/>
          <a:ln/>
        </p:spPr>
        <p:txBody>
          <a:bodyPr wrap="square" lIns="0" tIns="0" rIns="0" bIns="0" rtlCol="0" anchor="t"/>
          <a:lstStyle/>
          <a:p>
            <a:pPr indent="0" marL="0">
              <a:buNone/>
            </a:pPr>
            <a:r>
              <a:rPr lang="en-US" sz="3000" b="1" dirty="0">
                <a:solidFill>
                  <a:srgbClr val="1F1F1F"/>
                </a:solidFill>
                <a:latin typeface="Calibri" pitchFamily="34" charset="0"/>
                <a:ea typeface="Calibri" pitchFamily="34" charset="-122"/>
                <a:cs typeface="Calibri" pitchFamily="34" charset="-120"/>
              </a:rPr>
              <a:t>Clinical pearls / "why" hook (cont.)</a:t>
            </a:r>
            <a:endParaRPr lang="en-US" sz="3000" dirty="0"/>
          </a:p>
        </p:txBody>
      </p:sp>
      <p:sp>
        <p:nvSpPr>
          <p:cNvPr id="4" name="Objective chip"/>
          <p:cNvSpPr/>
          <p:nvPr/>
        </p:nvSpPr>
        <p:spPr>
          <a:xfrm>
            <a:off x="8899855" y="365760"/>
            <a:ext cx="2743200" cy="384048"/>
          </a:xfrm>
          <a:prstGeom prst="roundRect">
            <a:avLst>
              <a:gd name="adj" fmla="val 35714"/>
            </a:avLst>
          </a:prstGeom>
          <a:solidFill>
            <a:srgbClr val="E3EBF8"/>
          </a:solidFill>
          <a:ln/>
        </p:spPr>
        <p:txBody>
          <a:bodyPr wrap="square" lIns="25400" tIns="25400" rIns="25400" bIns="25400" rtlCol="0" anchor="ctr"/>
          <a:lstStyle/>
          <a:p>
            <a:pPr algn="ctr" indent="0" marL="0">
              <a:buNone/>
            </a:pPr>
            <a:r>
              <a:rPr lang="en-US" sz="800" b="1" dirty="0">
                <a:solidFill>
                  <a:srgbClr val="2F4F8A"/>
                </a:solidFill>
              </a:rPr>
              <a:t>Objectives: SO3 · SO4 · IO2.1 · IO2.2 · IO2.3 · IO2.4 · IO2.5 · IO2.6</a:t>
            </a:r>
            <a:endParaRPr lang="en-US" sz="800" dirty="0"/>
          </a:p>
        </p:txBody>
      </p:sp>
      <p:sp>
        <p:nvSpPr>
          <p:cNvPr id="5" name="Footer"/>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1000" dirty="0">
                <a:solidFill>
                  <a:srgbClr val="666666"/>
                </a:solidFill>
              </a:rPr>
              <a:t>L04 · Musculoskeletal Pharmacology — Session 2</a:t>
            </a:r>
            <a:endParaRPr lang="en-US" sz="1000" dirty="0"/>
          </a:p>
        </p:txBody>
      </p:sp>
      <p:sp>
        <p:nvSpPr>
          <p:cNvPr id="6" name="Slide number"/>
          <p:cNvSpPr txBox="1"/>
          <p:nvPr/>
        </p:nvSpPr>
        <p:spPr>
          <a:xfrm>
            <a:off x="10728655" y="6419088"/>
            <a:ext cx="914400" cy="274320"/>
          </a:xfrm>
          <a:prstGeom prst="rect">
            <a:avLst/>
          </a:prstGeom>
          <a:noFill/>
          <a:ln/>
        </p:spPr>
        <p:txBody>
          <a:bodyPr wrap="square" lIns="0" tIns="0" rIns="0" bIns="0" rtlCol="0" anchor="ctr"/>
          <a:lstStyle/>
          <a:p>
            <a:pPr algn="r" indent="0" marL="0">
              <a:buNone/>
            </a:pPr>
            <a:r>
              <a:rPr lang="en-US" sz="1000" dirty="0">
                <a:solidFill>
                  <a:srgbClr val="666666"/>
                </a:solidFill>
              </a:rPr>
              <a:t>82</a:t>
            </a:r>
            <a:endParaRPr lang="en-US" sz="1000" dirty="0"/>
          </a:p>
        </p:txBody>
      </p:sp>
      <p:sp>
        <p:nvSpPr>
          <p:cNvPr id="7" name="Clinical pearls / &quot;why&quot; hook (2/2) card"/>
          <p:cNvSpPr/>
          <p:nvPr/>
        </p:nvSpPr>
        <p:spPr>
          <a:xfrm>
            <a:off x="548640" y="1325880"/>
            <a:ext cx="11094415" cy="3611880"/>
          </a:xfrm>
          <a:prstGeom prst="roundRect">
            <a:avLst>
              <a:gd name="adj" fmla="val 3038"/>
            </a:avLst>
          </a:prstGeom>
          <a:solidFill>
            <a:srgbClr val="F2F4F7"/>
          </a:solidFill>
          <a:ln w="12700">
            <a:solidFill>
              <a:srgbClr val="F2F4F7"/>
            </a:solidFill>
            <a:prstDash val="solid"/>
          </a:ln>
        </p:spPr>
      </p:sp>
      <p:sp>
        <p:nvSpPr>
          <p:cNvPr id="8" name="Clinical pearls / &quot;why&quot; hook (2/2) icon circle"/>
          <p:cNvSpPr/>
          <p:nvPr/>
        </p:nvSpPr>
        <p:spPr>
          <a:xfrm>
            <a:off x="777240" y="1508760"/>
            <a:ext cx="438912" cy="438912"/>
          </a:xfrm>
          <a:prstGeom prst="ellipse">
            <a:avLst/>
          </a:prstGeom>
          <a:solidFill>
            <a:srgbClr val="2E75B6"/>
          </a:solidFill>
          <a:ln w="12700">
            <a:solidFill>
              <a:srgbClr val="2E75B6"/>
            </a:solidFill>
            <a:prstDash val="solid"/>
          </a:ln>
        </p:spPr>
      </p:sp>
      <p:pic>
        <p:nvPicPr>
          <p:cNvPr id="9" name="Clinical pearls / &quot;why&quot; hook (2/2) icon" descr="preencoded.png">    </p:cNvPr>
          <p:cNvPicPr>
            <a:picLocks noChangeAspect="1"/>
          </p:cNvPicPr>
          <p:nvPr/>
        </p:nvPicPr>
        <p:blipFill>
          <a:blip r:embed="rId1"/>
          <a:stretch>
            <a:fillRect/>
          </a:stretch>
        </p:blipFill>
        <p:spPr>
          <a:xfrm>
            <a:off x="877824" y="1609344"/>
            <a:ext cx="237744" cy="237744"/>
          </a:xfrm>
          <a:prstGeom prst="rect">
            <a:avLst/>
          </a:prstGeom>
        </p:spPr>
      </p:pic>
      <p:sp>
        <p:nvSpPr>
          <p:cNvPr id="10" name="Clinical pearls / &amp;quot;why&amp;quot; hook (2/2) heading"/>
          <p:cNvSpPr txBox="1"/>
          <p:nvPr/>
        </p:nvSpPr>
        <p:spPr>
          <a:xfrm>
            <a:off x="1353312" y="1508760"/>
            <a:ext cx="10088575" cy="438912"/>
          </a:xfrm>
          <a:prstGeom prst="rect">
            <a:avLst/>
          </a:prstGeom>
          <a:noFill/>
          <a:ln/>
        </p:spPr>
        <p:txBody>
          <a:bodyPr wrap="square" lIns="0" tIns="0" rIns="0" bIns="0" rtlCol="0" anchor="ctr"/>
          <a:lstStyle/>
          <a:p>
            <a:pPr indent="0" marL="0">
              <a:buNone/>
            </a:pPr>
            <a:r>
              <a:rPr lang="en-US" sz="1800" b="1" dirty="0">
                <a:solidFill>
                  <a:srgbClr val="2E75B6"/>
                </a:solidFill>
              </a:rPr>
              <a:t>Clinical pearls / "why" hook (2/2)</a:t>
            </a:r>
            <a:endParaRPr lang="en-US" sz="1800" dirty="0"/>
          </a:p>
        </p:txBody>
      </p:sp>
      <p:sp>
        <p:nvSpPr>
          <p:cNvPr id="11" name="Clinical pearls / &quot;why&quot; hook (2/2) body"/>
          <p:cNvSpPr txBox="1"/>
          <p:nvPr/>
        </p:nvSpPr>
        <p:spPr>
          <a:xfrm>
            <a:off x="777240" y="2075688"/>
            <a:ext cx="10637215" cy="2743200"/>
          </a:xfrm>
          <a:prstGeom prst="rect">
            <a:avLst/>
          </a:prstGeom>
          <a:noFill/>
          <a:ln/>
        </p:spPr>
        <p:txBody>
          <a:bodyPr wrap="square" lIns="0" tIns="0" rIns="0" bIns="0" rtlCol="0" anchor="t"/>
          <a:lstStyle/>
          <a:p>
            <a:pPr marL="228600" indent="-228600">
              <a:spcAft>
                <a:spcPts val="800"/>
              </a:spcAft>
              <a:buSzPct val="100000"/>
              <a:buChar char="•"/>
            </a:pPr>
            <a:r>
              <a:rPr lang="en-US" sz="1800" dirty="0">
                <a:solidFill>
                  <a:srgbClr val="1F1F1F"/>
                </a:solidFill>
              </a:rPr>
              <a:t>Glucocorticoid-induced osteoporosis is especially high-yield — it connects to the corticosteroid use for OA/RA in Session 1.</a:t>
            </a:r>
            <a:r>
              <a:rPr lang="en-US" sz="1300" dirty="0">
                <a:solidFill>
                  <a:srgbClr val="666666"/>
                </a:solidFill>
              </a:rPr>
              <a:t>  S46 (notes)</a:t>
            </a:r>
            <a:endParaRPr lang="en-US" sz="1800" dirty="0"/>
          </a:p>
          <a:p>
            <a:pPr marL="228600" indent="-228600">
              <a:spcAft>
                <a:spcPts val="800"/>
              </a:spcAft>
              <a:buSzPct val="100000"/>
              <a:buChar char="•"/>
            </a:pPr>
            <a:r>
              <a:rPr lang="en-US" sz="1800" b="1" dirty="0">
                <a:solidFill>
                  <a:srgbClr val="1F1F1F"/>
                </a:solidFill>
              </a:rPr>
              <a:t>Choosing therapy:</a:t>
            </a:r>
            <a:r>
              <a:rPr lang="en-US" sz="1800" dirty="0">
                <a:solidFill>
                  <a:srgbClr val="1F1F1F"/>
                </a:solidFill>
              </a:rPr>
              <a:t> fracture risk, renal function, previous fracture history, glucocorticoid exposure, adherence (weekly oral vs. yearly IV vs. injectable), and route preference. This checklist is a direct echo of Lecture 1’s clinical decision-making framework.</a:t>
            </a:r>
            <a:r>
              <a:rPr lang="en-US" sz="1300" dirty="0">
                <a:solidFill>
                  <a:srgbClr val="666666"/>
                </a:solidFill>
              </a:rPr>
              <a:t>  S59; S59 (notes)</a:t>
            </a:r>
            <a:endParaRPr lang="en-US" sz="1800" dirty="0"/>
          </a:p>
          <a:p>
            <a:pPr marL="228600" indent="-228600">
              <a:spcAft>
                <a:spcPts val="800"/>
              </a:spcAft>
              <a:buSzPct val="100000"/>
              <a:buChar char="•"/>
            </a:pPr>
            <a:r>
              <a:rPr lang="en-US" sz="1800" dirty="0">
                <a:solidFill>
                  <a:srgbClr val="1F1F1F"/>
                </a:solidFill>
              </a:rPr>
              <a:t>Name clues: </a:t>
            </a:r>
            <a:r>
              <a:rPr lang="en-US" sz="1800" b="1" dirty="0">
                <a:solidFill>
                  <a:srgbClr val="1F1F1F"/>
                </a:solidFill>
              </a:rPr>
              <a:t>-dronate</a:t>
            </a:r>
            <a:r>
              <a:rPr lang="en-US" sz="1800" dirty="0">
                <a:solidFill>
                  <a:srgbClr val="1F1F1F"/>
                </a:solidFill>
              </a:rPr>
              <a:t> bisphosphonates (zoledronic acid = zoledronate); </a:t>
            </a:r>
            <a:r>
              <a:rPr lang="en-US" sz="1800" b="1" dirty="0">
                <a:solidFill>
                  <a:srgbClr val="1F1F1F"/>
                </a:solidFill>
              </a:rPr>
              <a:t>-sumab</a:t>
            </a:r>
            <a:r>
              <a:rPr lang="en-US" sz="1800" dirty="0">
                <a:solidFill>
                  <a:srgbClr val="1F1F1F"/>
                </a:solidFill>
              </a:rPr>
              <a:t> bone monoclonal antibodies (denosumab RANKL, romosozumab sclerostin); </a:t>
            </a:r>
            <a:r>
              <a:rPr lang="en-US" sz="1800" b="1" dirty="0">
                <a:solidFill>
                  <a:srgbClr val="1F1F1F"/>
                </a:solidFill>
              </a:rPr>
              <a:t>-fene</a:t>
            </a:r>
            <a:r>
              <a:rPr lang="en-US" sz="1800" dirty="0">
                <a:solidFill>
                  <a:srgbClr val="1F1F1F"/>
                </a:solidFill>
              </a:rPr>
              <a:t> SERM (raloxifene); </a:t>
            </a:r>
            <a:r>
              <a:rPr lang="en-US" sz="1800" b="1" dirty="0">
                <a:solidFill>
                  <a:srgbClr val="1F1F1F"/>
                </a:solidFill>
              </a:rPr>
              <a:t>-tide</a:t>
            </a:r>
            <a:r>
              <a:rPr lang="en-US" sz="1800" dirty="0">
                <a:solidFill>
                  <a:srgbClr val="1F1F1F"/>
                </a:solidFill>
              </a:rPr>
              <a:t> PTH analogs (teriparatide, abaloparatide); calcitonin has no shared stem (hormone).</a:t>
            </a:r>
            <a:r>
              <a:rPr lang="en-US" sz="1300" dirty="0">
                <a:solidFill>
                  <a:srgbClr val="666666"/>
                </a:solidFill>
              </a:rPr>
              <a:t>  S62</a:t>
            </a:r>
            <a:endParaRPr lang="en-US" sz="1800" dirty="0"/>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name="Slide 83">
    <p:bg>
      <p:bgPr>
        <a:solidFill>
          <a:srgbClr val="FFFFFF"/>
        </a:solidFill>
      </p:bgPr>
    </p:bg>
    <p:spTree>
      <p:nvGrpSpPr>
        <p:cNvPr id="1" name=""/>
        <p:cNvGrpSpPr/>
        <p:nvPr/>
      </p:nvGrpSpPr>
      <p:grpSpPr>
        <a:xfrm>
          <a:off x="0" y="0"/>
          <a:ext cx="0" cy="0"/>
          <a:chOff x="0" y="0"/>
          <a:chExt cx="0" cy="0"/>
        </a:xfrm>
      </p:grpSpPr>
      <p:sp>
        <p:nvSpPr>
          <p:cNvPr id="2" name="Kicker"/>
          <p:cNvSpPr txBox="1"/>
          <p:nvPr/>
        </p:nvSpPr>
        <p:spPr>
          <a:xfrm>
            <a:off x="548640" y="292608"/>
            <a:ext cx="8076895" cy="274320"/>
          </a:xfrm>
          <a:prstGeom prst="rect">
            <a:avLst/>
          </a:prstGeom>
          <a:noFill/>
          <a:ln/>
        </p:spPr>
        <p:txBody>
          <a:bodyPr wrap="square" lIns="0" tIns="0" rIns="0" bIns="0" rtlCol="0" anchor="ctr"/>
          <a:lstStyle/>
          <a:p>
            <a:pPr indent="0" marL="0">
              <a:buNone/>
            </a:pPr>
            <a:r>
              <a:rPr lang="en-US" sz="1200" b="1" spc="100" kern="0" dirty="0">
                <a:solidFill>
                  <a:srgbClr val="4472C4"/>
                </a:solidFill>
              </a:rPr>
              <a:t>BONE PHARMACOLOGY &amp; OSTEOPOROSIS</a:t>
            </a:r>
            <a:endParaRPr lang="en-US" sz="1200" dirty="0"/>
          </a:p>
        </p:txBody>
      </p:sp>
      <p:sp>
        <p:nvSpPr>
          <p:cNvPr id="3" name="Title"/>
          <p:cNvSpPr txBox="1"/>
          <p:nvPr/>
        </p:nvSpPr>
        <p:spPr>
          <a:xfrm>
            <a:off x="548640" y="566928"/>
            <a:ext cx="8076895" cy="713232"/>
          </a:xfrm>
          <a:prstGeom prst="rect">
            <a:avLst/>
          </a:prstGeom>
          <a:noFill/>
          <a:ln/>
        </p:spPr>
        <p:txBody>
          <a:bodyPr wrap="square" lIns="0" tIns="0" rIns="0" bIns="0" rtlCol="0" anchor="t"/>
          <a:lstStyle/>
          <a:p>
            <a:pPr indent="0" marL="0">
              <a:buNone/>
            </a:pPr>
            <a:r>
              <a:rPr lang="en-US" sz="2800" b="1" dirty="0">
                <a:solidFill>
                  <a:srgbClr val="1F1F1F"/>
                </a:solidFill>
                <a:latin typeface="Calibri" pitchFamily="34" charset="0"/>
                <a:ea typeface="Calibri" pitchFamily="34" charset="-122"/>
                <a:cs typeface="Calibri" pitchFamily="34" charset="-120"/>
              </a:rPr>
              <a:t>Figure 6 · Calcium homeostasis: the PTH feedback loop</a:t>
            </a:r>
            <a:endParaRPr lang="en-US" sz="2800" dirty="0"/>
          </a:p>
        </p:txBody>
      </p:sp>
      <p:sp>
        <p:nvSpPr>
          <p:cNvPr id="4" name="Objective chip"/>
          <p:cNvSpPr/>
          <p:nvPr/>
        </p:nvSpPr>
        <p:spPr>
          <a:xfrm>
            <a:off x="8899855" y="365760"/>
            <a:ext cx="2743200" cy="384048"/>
          </a:xfrm>
          <a:prstGeom prst="roundRect">
            <a:avLst>
              <a:gd name="adj" fmla="val 35714"/>
            </a:avLst>
          </a:prstGeom>
          <a:solidFill>
            <a:srgbClr val="E3EBF8"/>
          </a:solidFill>
          <a:ln/>
        </p:spPr>
        <p:txBody>
          <a:bodyPr wrap="square" lIns="25400" tIns="25400" rIns="25400" bIns="25400" rtlCol="0" anchor="ctr"/>
          <a:lstStyle/>
          <a:p>
            <a:pPr algn="ctr" indent="0" marL="0">
              <a:buNone/>
            </a:pPr>
            <a:r>
              <a:rPr lang="en-US" sz="800" b="1" dirty="0">
                <a:solidFill>
                  <a:srgbClr val="2F4F8A"/>
                </a:solidFill>
              </a:rPr>
              <a:t>Objectives: SO3 · SO4 · IO2.1 · IO2.2 · IO2.3 · IO2.4 · IO2.5 · IO2.6</a:t>
            </a:r>
            <a:endParaRPr lang="en-US" sz="800" dirty="0"/>
          </a:p>
        </p:txBody>
      </p:sp>
      <p:sp>
        <p:nvSpPr>
          <p:cNvPr id="5" name="Footer"/>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1000" dirty="0">
                <a:solidFill>
                  <a:srgbClr val="666666"/>
                </a:solidFill>
              </a:rPr>
              <a:t>L04 · Musculoskeletal Pharmacology — Session 2</a:t>
            </a:r>
            <a:endParaRPr lang="en-US" sz="1000" dirty="0"/>
          </a:p>
        </p:txBody>
      </p:sp>
      <p:sp>
        <p:nvSpPr>
          <p:cNvPr id="6" name="Slide number"/>
          <p:cNvSpPr txBox="1"/>
          <p:nvPr/>
        </p:nvSpPr>
        <p:spPr>
          <a:xfrm>
            <a:off x="10728655" y="6419088"/>
            <a:ext cx="914400" cy="274320"/>
          </a:xfrm>
          <a:prstGeom prst="rect">
            <a:avLst/>
          </a:prstGeom>
          <a:noFill/>
          <a:ln/>
        </p:spPr>
        <p:txBody>
          <a:bodyPr wrap="square" lIns="0" tIns="0" rIns="0" bIns="0" rtlCol="0" anchor="ctr"/>
          <a:lstStyle/>
          <a:p>
            <a:pPr algn="r" indent="0" marL="0">
              <a:buNone/>
            </a:pPr>
            <a:r>
              <a:rPr lang="en-US" sz="1000" dirty="0">
                <a:solidFill>
                  <a:srgbClr val="666666"/>
                </a:solidFill>
              </a:rPr>
              <a:t>83</a:t>
            </a:r>
            <a:endParaRPr lang="en-US" sz="1000" dirty="0"/>
          </a:p>
        </p:txBody>
      </p:sp>
      <p:pic>
        <p:nvPicPr>
          <p:cNvPr id="7" name="Figure S43_1.jpg" descr="/home/user/dpas-pharm/work/L04/figures/S43_1.jpg">    </p:cNvPr>
          <p:cNvPicPr>
            <a:picLocks noChangeAspect="1"/>
          </p:cNvPicPr>
          <p:nvPr/>
        </p:nvPicPr>
        <p:blipFill>
          <a:blip r:embed="rId1"/>
          <a:stretch>
            <a:fillRect/>
          </a:stretch>
        </p:blipFill>
        <p:spPr>
          <a:xfrm>
            <a:off x="2768520" y="1325880"/>
            <a:ext cx="6654656" cy="3671824"/>
          </a:xfrm>
          <a:prstGeom prst="rect">
            <a:avLst/>
          </a:prstGeom>
        </p:spPr>
      </p:pic>
      <p:sp>
        <p:nvSpPr>
          <p:cNvPr id="8" name="Figure caption"/>
          <p:cNvSpPr txBox="1"/>
          <p:nvPr/>
        </p:nvSpPr>
        <p:spPr>
          <a:xfrm>
            <a:off x="548640" y="5180584"/>
            <a:ext cx="11094415" cy="1083056"/>
          </a:xfrm>
          <a:prstGeom prst="rect">
            <a:avLst/>
          </a:prstGeom>
          <a:noFill/>
          <a:ln/>
        </p:spPr>
        <p:txBody>
          <a:bodyPr wrap="square" lIns="0" tIns="0" rIns="0" bIns="0" rtlCol="0" anchor="t"/>
          <a:lstStyle/>
          <a:p>
            <a:pPr indent="0" marL="0">
              <a:buNone/>
            </a:pPr>
            <a:r>
              <a:rPr lang="en-US" sz="1600" dirty="0">
                <a:solidFill>
                  <a:srgbClr val="1F1F1F"/>
                </a:solidFill>
              </a:rPr>
              <a:t>Original illustrative diagram (not from Katzung): ↓ serum calcium → parathyroid gland releases PTH → bone (↑ osteoclast resorption), kidney (↑ Ca²⁺ reabsorption, activates vitamin D), intestine (↑ Ca²⁺ absorption via vitamin D) → ↑ serum calcium (restored). Negative feedback restores calcium, which inhibits further PTH release; calcitonin opposes PTH (lowers serum calcium when it is elevated). This loop is the physiologic backdrop for every osteoporosis drug.</a:t>
            </a:r>
            <a:r>
              <a:rPr lang="en-US" sz="1100" dirty="0">
                <a:solidFill>
                  <a:srgbClr val="666666"/>
                </a:solidFill>
              </a:rPr>
              <a:t>  S43; S43 (notes)</a:t>
            </a:r>
            <a:endParaRPr lang="en-US" sz="1600" dirty="0"/>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name="Slide 84">
    <p:bg>
      <p:bgPr>
        <a:solidFill>
          <a:srgbClr val="FFFFFF"/>
        </a:solidFill>
      </p:bgPr>
    </p:bg>
    <p:spTree>
      <p:nvGrpSpPr>
        <p:cNvPr id="1" name=""/>
        <p:cNvGrpSpPr/>
        <p:nvPr/>
      </p:nvGrpSpPr>
      <p:grpSpPr>
        <a:xfrm>
          <a:off x="0" y="0"/>
          <a:ext cx="0" cy="0"/>
          <a:chOff x="0" y="0"/>
          <a:chExt cx="0" cy="0"/>
        </a:xfrm>
      </p:grpSpPr>
      <p:sp>
        <p:nvSpPr>
          <p:cNvPr id="2" name="Kicker"/>
          <p:cNvSpPr txBox="1"/>
          <p:nvPr/>
        </p:nvSpPr>
        <p:spPr>
          <a:xfrm>
            <a:off x="548640" y="292608"/>
            <a:ext cx="8076895" cy="274320"/>
          </a:xfrm>
          <a:prstGeom prst="rect">
            <a:avLst/>
          </a:prstGeom>
          <a:noFill/>
          <a:ln/>
        </p:spPr>
        <p:txBody>
          <a:bodyPr wrap="square" lIns="0" tIns="0" rIns="0" bIns="0" rtlCol="0" anchor="ctr"/>
          <a:lstStyle/>
          <a:p>
            <a:pPr indent="0" marL="0">
              <a:buNone/>
            </a:pPr>
            <a:r>
              <a:rPr lang="en-US" sz="1200" b="1" spc="100" kern="0" dirty="0">
                <a:solidFill>
                  <a:srgbClr val="4472C4"/>
                </a:solidFill>
              </a:rPr>
              <a:t>BONE PHARMACOLOGY &amp; OSTEOPOROSIS</a:t>
            </a:r>
            <a:endParaRPr lang="en-US" sz="1200" dirty="0"/>
          </a:p>
        </p:txBody>
      </p:sp>
      <p:sp>
        <p:nvSpPr>
          <p:cNvPr id="3" name="Title"/>
          <p:cNvSpPr txBox="1"/>
          <p:nvPr/>
        </p:nvSpPr>
        <p:spPr>
          <a:xfrm>
            <a:off x="548640" y="566928"/>
            <a:ext cx="8076895" cy="713232"/>
          </a:xfrm>
          <a:prstGeom prst="rect">
            <a:avLst/>
          </a:prstGeom>
          <a:noFill/>
          <a:ln/>
        </p:spPr>
        <p:txBody>
          <a:bodyPr wrap="square" lIns="0" tIns="0" rIns="0" bIns="0" rtlCol="0" anchor="t"/>
          <a:lstStyle/>
          <a:p>
            <a:pPr indent="0" marL="0">
              <a:buNone/>
            </a:pPr>
            <a:r>
              <a:rPr lang="en-US" sz="3000" b="1" dirty="0">
                <a:solidFill>
                  <a:srgbClr val="1F1F1F"/>
                </a:solidFill>
                <a:latin typeface="Calibri" pitchFamily="34" charset="0"/>
                <a:ea typeface="Calibri" pitchFamily="34" charset="-122"/>
                <a:cs typeface="Calibri" pitchFamily="34" charset="-120"/>
              </a:rPr>
              <a:t>Figure 7 · Bisphosphonate dosing frequency</a:t>
            </a:r>
            <a:endParaRPr lang="en-US" sz="3000" dirty="0"/>
          </a:p>
        </p:txBody>
      </p:sp>
      <p:sp>
        <p:nvSpPr>
          <p:cNvPr id="4" name="Objective chip"/>
          <p:cNvSpPr/>
          <p:nvPr/>
        </p:nvSpPr>
        <p:spPr>
          <a:xfrm>
            <a:off x="8899855" y="365760"/>
            <a:ext cx="2743200" cy="384048"/>
          </a:xfrm>
          <a:prstGeom prst="roundRect">
            <a:avLst>
              <a:gd name="adj" fmla="val 35714"/>
            </a:avLst>
          </a:prstGeom>
          <a:solidFill>
            <a:srgbClr val="E3EBF8"/>
          </a:solidFill>
          <a:ln/>
        </p:spPr>
        <p:txBody>
          <a:bodyPr wrap="square" lIns="25400" tIns="25400" rIns="25400" bIns="25400" rtlCol="0" anchor="ctr"/>
          <a:lstStyle/>
          <a:p>
            <a:pPr algn="ctr" indent="0" marL="0">
              <a:buNone/>
            </a:pPr>
            <a:r>
              <a:rPr lang="en-US" sz="800" b="1" dirty="0">
                <a:solidFill>
                  <a:srgbClr val="2F4F8A"/>
                </a:solidFill>
              </a:rPr>
              <a:t>Objectives: SO3 · SO4 · IO2.1 · IO2.2 · IO2.3 · IO2.4 · IO2.5 · IO2.6</a:t>
            </a:r>
            <a:endParaRPr lang="en-US" sz="800" dirty="0"/>
          </a:p>
        </p:txBody>
      </p:sp>
      <p:sp>
        <p:nvSpPr>
          <p:cNvPr id="5" name="Footer"/>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1000" dirty="0">
                <a:solidFill>
                  <a:srgbClr val="666666"/>
                </a:solidFill>
              </a:rPr>
              <a:t>L04 · Musculoskeletal Pharmacology — Session 2</a:t>
            </a:r>
            <a:endParaRPr lang="en-US" sz="1000" dirty="0"/>
          </a:p>
        </p:txBody>
      </p:sp>
      <p:sp>
        <p:nvSpPr>
          <p:cNvPr id="6" name="Slide number"/>
          <p:cNvSpPr txBox="1"/>
          <p:nvPr/>
        </p:nvSpPr>
        <p:spPr>
          <a:xfrm>
            <a:off x="10728655" y="6419088"/>
            <a:ext cx="914400" cy="274320"/>
          </a:xfrm>
          <a:prstGeom prst="rect">
            <a:avLst/>
          </a:prstGeom>
          <a:noFill/>
          <a:ln/>
        </p:spPr>
        <p:txBody>
          <a:bodyPr wrap="square" lIns="0" tIns="0" rIns="0" bIns="0" rtlCol="0" anchor="ctr"/>
          <a:lstStyle/>
          <a:p>
            <a:pPr algn="r" indent="0" marL="0">
              <a:buNone/>
            </a:pPr>
            <a:r>
              <a:rPr lang="en-US" sz="1000" dirty="0">
                <a:solidFill>
                  <a:srgbClr val="666666"/>
                </a:solidFill>
              </a:rPr>
              <a:t>84</a:t>
            </a:r>
            <a:endParaRPr lang="en-US" sz="1000" dirty="0"/>
          </a:p>
        </p:txBody>
      </p:sp>
      <p:pic>
        <p:nvPicPr>
          <p:cNvPr id="7" name="Figure S49_1.jpg" descr="/home/user/dpas-pharm/work/L04/figures/S49_1.jpg">    </p:cNvPr>
          <p:cNvPicPr>
            <a:picLocks noChangeAspect="1"/>
          </p:cNvPicPr>
          <p:nvPr/>
        </p:nvPicPr>
        <p:blipFill>
          <a:blip r:embed="rId1"/>
          <a:stretch>
            <a:fillRect/>
          </a:stretch>
        </p:blipFill>
        <p:spPr>
          <a:xfrm>
            <a:off x="2853327" y="1325880"/>
            <a:ext cx="6485042" cy="3919728"/>
          </a:xfrm>
          <a:prstGeom prst="rect">
            <a:avLst/>
          </a:prstGeom>
        </p:spPr>
      </p:pic>
      <p:sp>
        <p:nvSpPr>
          <p:cNvPr id="8" name="Figure caption"/>
          <p:cNvSpPr txBox="1"/>
          <p:nvPr/>
        </p:nvSpPr>
        <p:spPr>
          <a:xfrm>
            <a:off x="548640" y="5428488"/>
            <a:ext cx="11094415" cy="835152"/>
          </a:xfrm>
          <a:prstGeom prst="rect">
            <a:avLst/>
          </a:prstGeom>
          <a:noFill/>
          <a:ln/>
        </p:spPr>
        <p:txBody>
          <a:bodyPr wrap="square" lIns="0" tIns="0" rIns="0" bIns="0" rtlCol="0" anchor="t"/>
          <a:lstStyle/>
          <a:p>
            <a:pPr indent="0" marL="0">
              <a:buNone/>
            </a:pPr>
            <a:r>
              <a:rPr lang="en-US" sz="1600" dirty="0">
                <a:solidFill>
                  <a:srgbClr val="1F1F1F"/>
                </a:solidFill>
              </a:rPr>
              <a:t>Original illustrative comparison (illustrative dosing-frequency values, not from Katzung): alendronate/risedronate (oral, weekly) 52 doses per year; ibandronate (oral, monthly) 12 per year; zoledronic acid (IV, yearly) 1 per year. Dosing frequency drives adherence.</a:t>
            </a:r>
            <a:r>
              <a:rPr lang="en-US" sz="1100" dirty="0">
                <a:solidFill>
                  <a:srgbClr val="666666"/>
                </a:solidFill>
              </a:rPr>
              <a:t>  S49; S49 (notes)</a:t>
            </a:r>
            <a:endParaRPr lang="en-US" sz="1600" dirty="0"/>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name="Slide 85">
    <p:bg>
      <p:bgPr>
        <a:solidFill>
          <a:srgbClr val="FFFFFF"/>
        </a:solidFill>
      </p:bgPr>
    </p:bg>
    <p:spTree>
      <p:nvGrpSpPr>
        <p:cNvPr id="1" name=""/>
        <p:cNvGrpSpPr/>
        <p:nvPr/>
      </p:nvGrpSpPr>
      <p:grpSpPr>
        <a:xfrm>
          <a:off x="0" y="0"/>
          <a:ext cx="0" cy="0"/>
          <a:chOff x="0" y="0"/>
          <a:chExt cx="0" cy="0"/>
        </a:xfrm>
      </p:grpSpPr>
      <p:sp>
        <p:nvSpPr>
          <p:cNvPr id="2" name="Kicker"/>
          <p:cNvSpPr txBox="1"/>
          <p:nvPr/>
        </p:nvSpPr>
        <p:spPr>
          <a:xfrm>
            <a:off x="548640" y="292608"/>
            <a:ext cx="8076895" cy="274320"/>
          </a:xfrm>
          <a:prstGeom prst="rect">
            <a:avLst/>
          </a:prstGeom>
          <a:noFill/>
          <a:ln/>
        </p:spPr>
        <p:txBody>
          <a:bodyPr wrap="square" lIns="0" tIns="0" rIns="0" bIns="0" rtlCol="0" anchor="ctr"/>
          <a:lstStyle/>
          <a:p>
            <a:pPr indent="0" marL="0">
              <a:buNone/>
            </a:pPr>
            <a:r>
              <a:rPr lang="en-US" sz="1200" b="1" spc="100" kern="0" dirty="0">
                <a:solidFill>
                  <a:srgbClr val="4472C4"/>
                </a:solidFill>
              </a:rPr>
              <a:t>BONE PHARMACOLOGY &amp; OSTEOPOROSIS</a:t>
            </a:r>
            <a:endParaRPr lang="en-US" sz="1200" dirty="0"/>
          </a:p>
        </p:txBody>
      </p:sp>
      <p:sp>
        <p:nvSpPr>
          <p:cNvPr id="3" name="Title"/>
          <p:cNvSpPr txBox="1"/>
          <p:nvPr/>
        </p:nvSpPr>
        <p:spPr>
          <a:xfrm>
            <a:off x="548640" y="566928"/>
            <a:ext cx="8076895" cy="713232"/>
          </a:xfrm>
          <a:prstGeom prst="rect">
            <a:avLst/>
          </a:prstGeom>
          <a:noFill/>
          <a:ln/>
        </p:spPr>
        <p:txBody>
          <a:bodyPr wrap="square" lIns="0" tIns="0" rIns="0" bIns="0" rtlCol="0" anchor="t"/>
          <a:lstStyle/>
          <a:p>
            <a:pPr indent="0" marL="0">
              <a:buNone/>
            </a:pPr>
            <a:r>
              <a:rPr lang="en-US" sz="2400" b="1" dirty="0">
                <a:solidFill>
                  <a:srgbClr val="1F1F1F"/>
                </a:solidFill>
                <a:latin typeface="Calibri" pitchFamily="34" charset="0"/>
                <a:ea typeface="Calibri" pitchFamily="34" charset="-122"/>
                <a:cs typeface="Calibri" pitchFamily="34" charset="-120"/>
              </a:rPr>
              <a:t>Figure 8 · How osteoporosis drugs shift the remodeling balance</a:t>
            </a:r>
            <a:endParaRPr lang="en-US" sz="2400" dirty="0"/>
          </a:p>
        </p:txBody>
      </p:sp>
      <p:sp>
        <p:nvSpPr>
          <p:cNvPr id="4" name="Objective chip"/>
          <p:cNvSpPr/>
          <p:nvPr/>
        </p:nvSpPr>
        <p:spPr>
          <a:xfrm>
            <a:off x="8899855" y="365760"/>
            <a:ext cx="2743200" cy="384048"/>
          </a:xfrm>
          <a:prstGeom prst="roundRect">
            <a:avLst>
              <a:gd name="adj" fmla="val 35714"/>
            </a:avLst>
          </a:prstGeom>
          <a:solidFill>
            <a:srgbClr val="E3EBF8"/>
          </a:solidFill>
          <a:ln/>
        </p:spPr>
        <p:txBody>
          <a:bodyPr wrap="square" lIns="25400" tIns="25400" rIns="25400" bIns="25400" rtlCol="0" anchor="ctr"/>
          <a:lstStyle/>
          <a:p>
            <a:pPr algn="ctr" indent="0" marL="0">
              <a:buNone/>
            </a:pPr>
            <a:r>
              <a:rPr lang="en-US" sz="800" b="1" dirty="0">
                <a:solidFill>
                  <a:srgbClr val="2F4F8A"/>
                </a:solidFill>
              </a:rPr>
              <a:t>Objectives: SO3 · SO4 · IO2.1 · IO2.2 · IO2.3 · IO2.4 · IO2.5 · IO2.6</a:t>
            </a:r>
            <a:endParaRPr lang="en-US" sz="800" dirty="0"/>
          </a:p>
        </p:txBody>
      </p:sp>
      <p:sp>
        <p:nvSpPr>
          <p:cNvPr id="5" name="Footer"/>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1000" dirty="0">
                <a:solidFill>
                  <a:srgbClr val="666666"/>
                </a:solidFill>
              </a:rPr>
              <a:t>L04 · Musculoskeletal Pharmacology — Session 2</a:t>
            </a:r>
            <a:endParaRPr lang="en-US" sz="1000" dirty="0"/>
          </a:p>
        </p:txBody>
      </p:sp>
      <p:sp>
        <p:nvSpPr>
          <p:cNvPr id="6" name="Slide number"/>
          <p:cNvSpPr txBox="1"/>
          <p:nvPr/>
        </p:nvSpPr>
        <p:spPr>
          <a:xfrm>
            <a:off x="10728655" y="6419088"/>
            <a:ext cx="914400" cy="274320"/>
          </a:xfrm>
          <a:prstGeom prst="rect">
            <a:avLst/>
          </a:prstGeom>
          <a:noFill/>
          <a:ln/>
        </p:spPr>
        <p:txBody>
          <a:bodyPr wrap="square" lIns="0" tIns="0" rIns="0" bIns="0" rtlCol="0" anchor="ctr"/>
          <a:lstStyle/>
          <a:p>
            <a:pPr algn="r" indent="0" marL="0">
              <a:buNone/>
            </a:pPr>
            <a:r>
              <a:rPr lang="en-US" sz="1000" dirty="0">
                <a:solidFill>
                  <a:srgbClr val="666666"/>
                </a:solidFill>
              </a:rPr>
              <a:t>85</a:t>
            </a:r>
            <a:endParaRPr lang="en-US" sz="1000" dirty="0"/>
          </a:p>
        </p:txBody>
      </p:sp>
      <p:pic>
        <p:nvPicPr>
          <p:cNvPr id="7" name="Figure S56_1.jpg" descr="/home/user/dpas-pharm/work/L04/figures/S56_1.jpg">    </p:cNvPr>
          <p:cNvPicPr>
            <a:picLocks noChangeAspect="1"/>
          </p:cNvPicPr>
          <p:nvPr/>
        </p:nvPicPr>
        <p:blipFill>
          <a:blip r:embed="rId1"/>
          <a:stretch>
            <a:fillRect/>
          </a:stretch>
        </p:blipFill>
        <p:spPr>
          <a:xfrm>
            <a:off x="2633571" y="1325880"/>
            <a:ext cx="6924554" cy="3919728"/>
          </a:xfrm>
          <a:prstGeom prst="rect">
            <a:avLst/>
          </a:prstGeom>
        </p:spPr>
      </p:pic>
      <p:sp>
        <p:nvSpPr>
          <p:cNvPr id="8" name="Figure caption"/>
          <p:cNvSpPr txBox="1"/>
          <p:nvPr/>
        </p:nvSpPr>
        <p:spPr>
          <a:xfrm>
            <a:off x="548640" y="5428488"/>
            <a:ext cx="11094415" cy="835152"/>
          </a:xfrm>
          <a:prstGeom prst="rect">
            <a:avLst/>
          </a:prstGeom>
          <a:noFill/>
          <a:ln/>
        </p:spPr>
        <p:txBody>
          <a:bodyPr wrap="square" lIns="0" tIns="0" rIns="0" bIns="0" rtlCol="0" anchor="t"/>
          <a:lstStyle/>
          <a:p>
            <a:pPr indent="0" marL="0">
              <a:buNone/>
            </a:pPr>
            <a:r>
              <a:rPr lang="en-US" sz="1600" dirty="0">
                <a:solidFill>
                  <a:srgbClr val="1F1F1F"/>
                </a:solidFill>
              </a:rPr>
              <a:t>Original illustrative diagram (not from Katzung): a bone remodeling balance — bone resorption (osteoclasts) is inhibited by bisphosphonates, denosumab, SERMs (raloxifene), and calcitonin; bone formation (osteoblasts) is stimulated by teriparatide, abaloparatide, and romosozumab. The capstone bone figure: every drug lands on one side or the other.</a:t>
            </a:r>
            <a:r>
              <a:rPr lang="en-US" sz="1100" dirty="0">
                <a:solidFill>
                  <a:srgbClr val="666666"/>
                </a:solidFill>
              </a:rPr>
              <a:t>  S56; S56 (notes)</a:t>
            </a:r>
            <a:endParaRPr lang="en-US" sz="1600" dirty="0"/>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name="Slide 86">
    <p:bg>
      <p:bgPr>
        <a:solidFill>
          <a:srgbClr val="FFFFFF"/>
        </a:solidFill>
      </p:bgPr>
    </p:bg>
    <p:spTree>
      <p:nvGrpSpPr>
        <p:cNvPr id="1" name=""/>
        <p:cNvGrpSpPr/>
        <p:nvPr/>
      </p:nvGrpSpPr>
      <p:grpSpPr>
        <a:xfrm>
          <a:off x="0" y="0"/>
          <a:ext cx="0" cy="0"/>
          <a:chOff x="0" y="0"/>
          <a:chExt cx="0" cy="0"/>
        </a:xfrm>
      </p:grpSpPr>
      <p:sp>
        <p:nvSpPr>
          <p:cNvPr id="2" name="Kicker"/>
          <p:cNvSpPr txBox="1"/>
          <p:nvPr/>
        </p:nvSpPr>
        <p:spPr>
          <a:xfrm>
            <a:off x="548640" y="292608"/>
            <a:ext cx="8076895" cy="274320"/>
          </a:xfrm>
          <a:prstGeom prst="rect">
            <a:avLst/>
          </a:prstGeom>
          <a:noFill/>
          <a:ln/>
        </p:spPr>
        <p:txBody>
          <a:bodyPr wrap="square" lIns="0" tIns="0" rIns="0" bIns="0" rtlCol="0" anchor="ctr"/>
          <a:lstStyle/>
          <a:p>
            <a:pPr indent="0" marL="0">
              <a:buNone/>
            </a:pPr>
            <a:r>
              <a:rPr lang="en-US" sz="1200" b="1" spc="100" kern="0" dirty="0">
                <a:solidFill>
                  <a:srgbClr val="4472C4"/>
                </a:solidFill>
              </a:rPr>
              <a:t>BONE PHARMACOLOGY &amp; OSTEOPOROSIS</a:t>
            </a:r>
            <a:endParaRPr lang="en-US" sz="1200" dirty="0"/>
          </a:p>
        </p:txBody>
      </p:sp>
      <p:sp>
        <p:nvSpPr>
          <p:cNvPr id="3" name="Title"/>
          <p:cNvSpPr txBox="1"/>
          <p:nvPr/>
        </p:nvSpPr>
        <p:spPr>
          <a:xfrm>
            <a:off x="548640" y="566928"/>
            <a:ext cx="8076895" cy="713232"/>
          </a:xfrm>
          <a:prstGeom prst="rect">
            <a:avLst/>
          </a:prstGeom>
          <a:noFill/>
          <a:ln/>
        </p:spPr>
        <p:txBody>
          <a:bodyPr wrap="square" lIns="0" tIns="0" rIns="0" bIns="0" rtlCol="0" anchor="t"/>
          <a:lstStyle/>
          <a:p>
            <a:pPr indent="0" marL="0">
              <a:buNone/>
            </a:pPr>
            <a:r>
              <a:rPr lang="en-US" sz="2900" b="1" dirty="0">
                <a:solidFill>
                  <a:srgbClr val="1F1F1F"/>
                </a:solidFill>
                <a:latin typeface="Calibri" pitchFamily="34" charset="0"/>
                <a:ea typeface="Calibri" pitchFamily="34" charset="-122"/>
                <a:cs typeface="Calibri" pitchFamily="34" charset="-120"/>
              </a:rPr>
              <a:t>⚠ Sources disagree: Oral bisphosphonate absorption</a:t>
            </a:r>
            <a:endParaRPr lang="en-US" sz="2900" dirty="0"/>
          </a:p>
        </p:txBody>
      </p:sp>
      <p:sp>
        <p:nvSpPr>
          <p:cNvPr id="4" name="Objective chip"/>
          <p:cNvSpPr/>
          <p:nvPr/>
        </p:nvSpPr>
        <p:spPr>
          <a:xfrm>
            <a:off x="8899855" y="365760"/>
            <a:ext cx="2743200" cy="384048"/>
          </a:xfrm>
          <a:prstGeom prst="roundRect">
            <a:avLst>
              <a:gd name="adj" fmla="val 35714"/>
            </a:avLst>
          </a:prstGeom>
          <a:solidFill>
            <a:srgbClr val="E3EBF8"/>
          </a:solidFill>
          <a:ln/>
        </p:spPr>
        <p:txBody>
          <a:bodyPr wrap="square" lIns="25400" tIns="25400" rIns="25400" bIns="25400" rtlCol="0" anchor="ctr"/>
          <a:lstStyle/>
          <a:p>
            <a:pPr algn="ctr" indent="0" marL="0">
              <a:buNone/>
            </a:pPr>
            <a:r>
              <a:rPr lang="en-US" sz="800" b="1" dirty="0">
                <a:solidFill>
                  <a:srgbClr val="2F4F8A"/>
                </a:solidFill>
              </a:rPr>
              <a:t>Objectives: SO3 · SO4 · IO2.1 · IO2.2 · IO2.3 · IO2.4 · IO2.5 · IO2.6</a:t>
            </a:r>
            <a:endParaRPr lang="en-US" sz="800" dirty="0"/>
          </a:p>
        </p:txBody>
      </p:sp>
      <p:sp>
        <p:nvSpPr>
          <p:cNvPr id="5" name="Footer"/>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1000" dirty="0">
                <a:solidFill>
                  <a:srgbClr val="666666"/>
                </a:solidFill>
              </a:rPr>
              <a:t>L04 · Musculoskeletal Pharmacology — Session 2</a:t>
            </a:r>
            <a:endParaRPr lang="en-US" sz="1000" dirty="0"/>
          </a:p>
        </p:txBody>
      </p:sp>
      <p:sp>
        <p:nvSpPr>
          <p:cNvPr id="6" name="Slide number"/>
          <p:cNvSpPr txBox="1"/>
          <p:nvPr/>
        </p:nvSpPr>
        <p:spPr>
          <a:xfrm>
            <a:off x="10728655" y="6419088"/>
            <a:ext cx="914400" cy="274320"/>
          </a:xfrm>
          <a:prstGeom prst="rect">
            <a:avLst/>
          </a:prstGeom>
          <a:noFill/>
          <a:ln/>
        </p:spPr>
        <p:txBody>
          <a:bodyPr wrap="square" lIns="0" tIns="0" rIns="0" bIns="0" rtlCol="0" anchor="ctr"/>
          <a:lstStyle/>
          <a:p>
            <a:pPr algn="r" indent="0" marL="0">
              <a:buNone/>
            </a:pPr>
            <a:r>
              <a:rPr lang="en-US" sz="1000" dirty="0">
                <a:solidFill>
                  <a:srgbClr val="666666"/>
                </a:solidFill>
              </a:rPr>
              <a:t>86</a:t>
            </a:r>
            <a:endParaRPr lang="en-US" sz="1000" dirty="0"/>
          </a:p>
        </p:txBody>
      </p:sp>
      <p:sp>
        <p:nvSpPr>
          <p:cNvPr id="7" name="Lecture slides say card"/>
          <p:cNvSpPr/>
          <p:nvPr/>
        </p:nvSpPr>
        <p:spPr>
          <a:xfrm>
            <a:off x="548640" y="1325880"/>
            <a:ext cx="5364328" cy="2011680"/>
          </a:xfrm>
          <a:prstGeom prst="roundRect">
            <a:avLst>
              <a:gd name="adj" fmla="val 5455"/>
            </a:avLst>
          </a:prstGeom>
          <a:solidFill>
            <a:srgbClr val="F2F4F7"/>
          </a:solidFill>
          <a:ln w="12700">
            <a:solidFill>
              <a:srgbClr val="F2F4F7"/>
            </a:solidFill>
            <a:prstDash val="solid"/>
          </a:ln>
        </p:spPr>
      </p:sp>
      <p:sp>
        <p:nvSpPr>
          <p:cNvPr id="8" name="Lecture slides say icon circle"/>
          <p:cNvSpPr/>
          <p:nvPr/>
        </p:nvSpPr>
        <p:spPr>
          <a:xfrm>
            <a:off x="777240" y="1508760"/>
            <a:ext cx="438912" cy="438912"/>
          </a:xfrm>
          <a:prstGeom prst="ellipse">
            <a:avLst/>
          </a:prstGeom>
          <a:solidFill>
            <a:srgbClr val="4472C4"/>
          </a:solidFill>
          <a:ln w="12700">
            <a:solidFill>
              <a:srgbClr val="4472C4"/>
            </a:solidFill>
            <a:prstDash val="solid"/>
          </a:ln>
        </p:spPr>
      </p:sp>
      <p:pic>
        <p:nvPicPr>
          <p:cNvPr id="9" name="Lecture slides say icon" descr="preencoded.png">    </p:cNvPr>
          <p:cNvPicPr>
            <a:picLocks noChangeAspect="1"/>
          </p:cNvPicPr>
          <p:nvPr/>
        </p:nvPicPr>
        <p:blipFill>
          <a:blip r:embed="rId1"/>
          <a:stretch>
            <a:fillRect/>
          </a:stretch>
        </p:blipFill>
        <p:spPr>
          <a:xfrm>
            <a:off x="877824" y="1609344"/>
            <a:ext cx="237744" cy="237744"/>
          </a:xfrm>
          <a:prstGeom prst="rect">
            <a:avLst/>
          </a:prstGeom>
        </p:spPr>
      </p:pic>
      <p:sp>
        <p:nvSpPr>
          <p:cNvPr id="10" name="Lecture slides say heading"/>
          <p:cNvSpPr txBox="1"/>
          <p:nvPr/>
        </p:nvSpPr>
        <p:spPr>
          <a:xfrm>
            <a:off x="1353312" y="1508760"/>
            <a:ext cx="4358488" cy="438912"/>
          </a:xfrm>
          <a:prstGeom prst="rect">
            <a:avLst/>
          </a:prstGeom>
          <a:noFill/>
          <a:ln/>
        </p:spPr>
        <p:txBody>
          <a:bodyPr wrap="square" lIns="0" tIns="0" rIns="0" bIns="0" rtlCol="0" anchor="ctr"/>
          <a:lstStyle/>
          <a:p>
            <a:pPr indent="0" marL="0">
              <a:buNone/>
            </a:pPr>
            <a:r>
              <a:rPr lang="en-US" sz="1800" b="1" dirty="0">
                <a:solidFill>
                  <a:srgbClr val="4472C4"/>
                </a:solidFill>
              </a:rPr>
              <a:t>Lecture slides say</a:t>
            </a:r>
            <a:endParaRPr lang="en-US" sz="1800" dirty="0"/>
          </a:p>
        </p:txBody>
      </p:sp>
      <p:sp>
        <p:nvSpPr>
          <p:cNvPr id="11" name="Lecture slides say body"/>
          <p:cNvSpPr txBox="1"/>
          <p:nvPr/>
        </p:nvSpPr>
        <p:spPr>
          <a:xfrm>
            <a:off x="777240" y="2075688"/>
            <a:ext cx="4907128" cy="1143000"/>
          </a:xfrm>
          <a:prstGeom prst="rect">
            <a:avLst/>
          </a:prstGeom>
          <a:noFill/>
          <a:ln/>
        </p:spPr>
        <p:txBody>
          <a:bodyPr wrap="square" lIns="0" tIns="0" rIns="0" bIns="0" rtlCol="0" anchor="t"/>
          <a:lstStyle/>
          <a:p>
            <a:pPr marL="228600" indent="-228600">
              <a:spcAft>
                <a:spcPts val="800"/>
              </a:spcAft>
              <a:buSzPct val="100000"/>
              <a:buChar char="•"/>
            </a:pPr>
            <a:r>
              <a:rPr lang="en-US" sz="1800" dirty="0">
                <a:solidFill>
                  <a:srgbClr val="1F1F1F"/>
                </a:solidFill>
              </a:rPr>
              <a:t>Poor oral absorption (under 1%).</a:t>
            </a:r>
            <a:r>
              <a:rPr lang="en-US" sz="1300" dirty="0">
                <a:solidFill>
                  <a:srgbClr val="666666"/>
                </a:solidFill>
              </a:rPr>
              <a:t>  S53</a:t>
            </a:r>
            <a:endParaRPr lang="en-US" sz="1800" dirty="0"/>
          </a:p>
        </p:txBody>
      </p:sp>
      <p:sp>
        <p:nvSpPr>
          <p:cNvPr id="12" name="Textbook says card"/>
          <p:cNvSpPr/>
          <p:nvPr/>
        </p:nvSpPr>
        <p:spPr>
          <a:xfrm>
            <a:off x="6278728" y="1325880"/>
            <a:ext cx="5364328" cy="2011680"/>
          </a:xfrm>
          <a:prstGeom prst="roundRect">
            <a:avLst>
              <a:gd name="adj" fmla="val 5455"/>
            </a:avLst>
          </a:prstGeom>
          <a:solidFill>
            <a:srgbClr val="F2F4F7"/>
          </a:solidFill>
          <a:ln w="12700">
            <a:solidFill>
              <a:srgbClr val="F2F4F7"/>
            </a:solidFill>
            <a:prstDash val="solid"/>
          </a:ln>
        </p:spPr>
      </p:sp>
      <p:sp>
        <p:nvSpPr>
          <p:cNvPr id="13" name="Textbook says icon circle"/>
          <p:cNvSpPr/>
          <p:nvPr/>
        </p:nvSpPr>
        <p:spPr>
          <a:xfrm>
            <a:off x="6507328" y="1508760"/>
            <a:ext cx="438912" cy="438912"/>
          </a:xfrm>
          <a:prstGeom prst="ellipse">
            <a:avLst/>
          </a:prstGeom>
          <a:solidFill>
            <a:srgbClr val="B07D00"/>
          </a:solidFill>
          <a:ln w="12700">
            <a:solidFill>
              <a:srgbClr val="B07D00"/>
            </a:solidFill>
            <a:prstDash val="solid"/>
          </a:ln>
        </p:spPr>
      </p:sp>
      <p:pic>
        <p:nvPicPr>
          <p:cNvPr id="14" name="Textbook says icon" descr="preencoded.png">    </p:cNvPr>
          <p:cNvPicPr>
            <a:picLocks noChangeAspect="1"/>
          </p:cNvPicPr>
          <p:nvPr/>
        </p:nvPicPr>
        <p:blipFill>
          <a:blip r:embed="rId2"/>
          <a:stretch>
            <a:fillRect/>
          </a:stretch>
        </p:blipFill>
        <p:spPr>
          <a:xfrm>
            <a:off x="6607912" y="1609344"/>
            <a:ext cx="237744" cy="237744"/>
          </a:xfrm>
          <a:prstGeom prst="rect">
            <a:avLst/>
          </a:prstGeom>
        </p:spPr>
      </p:pic>
      <p:sp>
        <p:nvSpPr>
          <p:cNvPr id="15" name="Textbook says heading"/>
          <p:cNvSpPr txBox="1"/>
          <p:nvPr/>
        </p:nvSpPr>
        <p:spPr>
          <a:xfrm>
            <a:off x="7083400" y="1508760"/>
            <a:ext cx="4358488" cy="438912"/>
          </a:xfrm>
          <a:prstGeom prst="rect">
            <a:avLst/>
          </a:prstGeom>
          <a:noFill/>
          <a:ln/>
        </p:spPr>
        <p:txBody>
          <a:bodyPr wrap="square" lIns="0" tIns="0" rIns="0" bIns="0" rtlCol="0" anchor="ctr"/>
          <a:lstStyle/>
          <a:p>
            <a:pPr indent="0" marL="0">
              <a:buNone/>
            </a:pPr>
            <a:r>
              <a:rPr lang="en-US" sz="1800" b="1" dirty="0">
                <a:solidFill>
                  <a:srgbClr val="B07D00"/>
                </a:solidFill>
              </a:rPr>
              <a:t>Textbook says</a:t>
            </a:r>
            <a:endParaRPr lang="en-US" sz="1800" dirty="0"/>
          </a:p>
        </p:txBody>
      </p:sp>
      <p:sp>
        <p:nvSpPr>
          <p:cNvPr id="16" name="Textbook says body"/>
          <p:cNvSpPr txBox="1"/>
          <p:nvPr/>
        </p:nvSpPr>
        <p:spPr>
          <a:xfrm>
            <a:off x="6507328" y="2075688"/>
            <a:ext cx="4907128" cy="1143000"/>
          </a:xfrm>
          <a:prstGeom prst="rect">
            <a:avLst/>
          </a:prstGeom>
          <a:noFill/>
          <a:ln/>
        </p:spPr>
        <p:txBody>
          <a:bodyPr wrap="square" lIns="0" tIns="0" rIns="0" bIns="0" rtlCol="0" anchor="t"/>
          <a:lstStyle/>
          <a:p>
            <a:pPr marL="228600" indent="-228600">
              <a:spcAft>
                <a:spcPts val="800"/>
              </a:spcAft>
              <a:buSzPct val="100000"/>
              <a:buChar char="•"/>
            </a:pPr>
            <a:r>
              <a:rPr lang="en-US" sz="1400" b="1" dirty="0">
                <a:solidFill>
                  <a:srgbClr val="000000"/>
                </a:solidFill>
                <a:highlight>
                  <a:srgbClr val="FFC000"/>
                </a:highlight>
              </a:rPr>
              <a:t> TB </a:t>
            </a:r>
            <a:r>
              <a:rPr lang="en-US" sz="1800" dirty="0">
                <a:solidFill>
                  <a:srgbClr val="000000"/>
                </a:solidFill>
              </a:rPr>
              <a:t> </a:t>
            </a:r>
            <a:r>
              <a:rPr lang="en-US" sz="1800" dirty="0">
                <a:solidFill>
                  <a:srgbClr val="1F1F1F"/>
                </a:solidFill>
              </a:rPr>
              <a:t>Less than 10% of an oral dose is absorbed.</a:t>
            </a:r>
            <a:r>
              <a:rPr lang="en-US" sz="1300" dirty="0">
                <a:solidFill>
                  <a:srgbClr val="666666"/>
                </a:solidFill>
              </a:rPr>
              <a:t>  p. 819</a:t>
            </a:r>
            <a:endParaRPr lang="en-US" sz="1400" dirty="0"/>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name="Slide 87">
    <p:bg>
      <p:bgPr>
        <a:solidFill>
          <a:srgbClr val="FFFFFF"/>
        </a:solidFill>
      </p:bgPr>
    </p:bg>
    <p:spTree>
      <p:nvGrpSpPr>
        <p:cNvPr id="1" name=""/>
        <p:cNvGrpSpPr/>
        <p:nvPr/>
      </p:nvGrpSpPr>
      <p:grpSpPr>
        <a:xfrm>
          <a:off x="0" y="0"/>
          <a:ext cx="0" cy="0"/>
          <a:chOff x="0" y="0"/>
          <a:chExt cx="0" cy="0"/>
        </a:xfrm>
      </p:grpSpPr>
      <p:sp>
        <p:nvSpPr>
          <p:cNvPr id="2" name="Kicker"/>
          <p:cNvSpPr txBox="1"/>
          <p:nvPr/>
        </p:nvSpPr>
        <p:spPr>
          <a:xfrm>
            <a:off x="548640" y="292608"/>
            <a:ext cx="8076895" cy="274320"/>
          </a:xfrm>
          <a:prstGeom prst="rect">
            <a:avLst/>
          </a:prstGeom>
          <a:noFill/>
          <a:ln/>
        </p:spPr>
        <p:txBody>
          <a:bodyPr wrap="square" lIns="0" tIns="0" rIns="0" bIns="0" rtlCol="0" anchor="ctr"/>
          <a:lstStyle/>
          <a:p>
            <a:pPr indent="0" marL="0">
              <a:buNone/>
            </a:pPr>
            <a:r>
              <a:rPr lang="en-US" sz="1200" b="1" spc="100" kern="0" dirty="0">
                <a:solidFill>
                  <a:srgbClr val="4472C4"/>
                </a:solidFill>
              </a:rPr>
              <a:t>BONE PHARMACOLOGY &amp; OSTEOPOROSIS</a:t>
            </a:r>
            <a:endParaRPr lang="en-US" sz="1200" dirty="0"/>
          </a:p>
        </p:txBody>
      </p:sp>
      <p:sp>
        <p:nvSpPr>
          <p:cNvPr id="3" name="Title"/>
          <p:cNvSpPr txBox="1"/>
          <p:nvPr/>
        </p:nvSpPr>
        <p:spPr>
          <a:xfrm>
            <a:off x="548640" y="566928"/>
            <a:ext cx="8076895" cy="713232"/>
          </a:xfrm>
          <a:prstGeom prst="rect">
            <a:avLst/>
          </a:prstGeom>
          <a:noFill/>
          <a:ln/>
        </p:spPr>
        <p:txBody>
          <a:bodyPr wrap="square" lIns="0" tIns="0" rIns="0" bIns="0" rtlCol="0" anchor="t"/>
          <a:lstStyle/>
          <a:p>
            <a:pPr indent="0" marL="0">
              <a:buNone/>
            </a:pPr>
            <a:r>
              <a:rPr lang="en-US" sz="3000" b="1" dirty="0">
                <a:solidFill>
                  <a:srgbClr val="1F1F1F"/>
                </a:solidFill>
                <a:latin typeface="Calibri" pitchFamily="34" charset="0"/>
                <a:ea typeface="Calibri" pitchFamily="34" charset="-122"/>
                <a:cs typeface="Calibri" pitchFamily="34" charset="-120"/>
              </a:rPr>
              <a:t>Compare: Osteoporosis drugs at a glance</a:t>
            </a:r>
            <a:endParaRPr lang="en-US" sz="3000" dirty="0"/>
          </a:p>
        </p:txBody>
      </p:sp>
      <p:sp>
        <p:nvSpPr>
          <p:cNvPr id="4" name="Objective chip"/>
          <p:cNvSpPr/>
          <p:nvPr/>
        </p:nvSpPr>
        <p:spPr>
          <a:xfrm>
            <a:off x="8899855" y="365760"/>
            <a:ext cx="2743200" cy="384048"/>
          </a:xfrm>
          <a:prstGeom prst="roundRect">
            <a:avLst>
              <a:gd name="adj" fmla="val 35714"/>
            </a:avLst>
          </a:prstGeom>
          <a:solidFill>
            <a:srgbClr val="E3EBF8"/>
          </a:solidFill>
          <a:ln/>
        </p:spPr>
        <p:txBody>
          <a:bodyPr wrap="square" lIns="25400" tIns="25400" rIns="25400" bIns="25400" rtlCol="0" anchor="ctr"/>
          <a:lstStyle/>
          <a:p>
            <a:pPr algn="ctr" indent="0" marL="0">
              <a:buNone/>
            </a:pPr>
            <a:r>
              <a:rPr lang="en-US" sz="800" b="1" dirty="0">
                <a:solidFill>
                  <a:srgbClr val="2F4F8A"/>
                </a:solidFill>
              </a:rPr>
              <a:t>Objectives: SO3 · SO4 · IO2.1 · IO2.2 · IO2.3 · IO2.4 · IO2.5 · IO2.6</a:t>
            </a:r>
            <a:endParaRPr lang="en-US" sz="800" dirty="0"/>
          </a:p>
        </p:txBody>
      </p:sp>
      <p:sp>
        <p:nvSpPr>
          <p:cNvPr id="5" name="Footer"/>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1000" dirty="0">
                <a:solidFill>
                  <a:srgbClr val="666666"/>
                </a:solidFill>
              </a:rPr>
              <a:t>L04 · Musculoskeletal Pharmacology — Session 2</a:t>
            </a:r>
            <a:endParaRPr lang="en-US" sz="1000" dirty="0"/>
          </a:p>
        </p:txBody>
      </p:sp>
      <p:sp>
        <p:nvSpPr>
          <p:cNvPr id="6" name="Slide number"/>
          <p:cNvSpPr txBox="1"/>
          <p:nvPr/>
        </p:nvSpPr>
        <p:spPr>
          <a:xfrm>
            <a:off x="10728655" y="6419088"/>
            <a:ext cx="914400" cy="274320"/>
          </a:xfrm>
          <a:prstGeom prst="rect">
            <a:avLst/>
          </a:prstGeom>
          <a:noFill/>
          <a:ln/>
        </p:spPr>
        <p:txBody>
          <a:bodyPr wrap="square" lIns="0" tIns="0" rIns="0" bIns="0" rtlCol="0" anchor="ctr"/>
          <a:lstStyle/>
          <a:p>
            <a:pPr algn="r" indent="0" marL="0">
              <a:buNone/>
            </a:pPr>
            <a:r>
              <a:rPr lang="en-US" sz="1000" dirty="0">
                <a:solidFill>
                  <a:srgbClr val="666666"/>
                </a:solidFill>
              </a:rPr>
              <a:t>87</a:t>
            </a:r>
            <a:endParaRPr lang="en-US" sz="1000" dirty="0"/>
          </a:p>
        </p:txBody>
      </p:sp>
      <p:graphicFrame>
        <p:nvGraphicFramePr>
          <p:cNvPr id="88" name="Comparison table"/>
          <p:cNvGraphicFramePr>
            <a:graphicFrameLocks noGrp="1"/>
          </p:cNvGraphicFramePr>
          <p:nvPr>
            <p:extLst>
              <p:ext uri="{D42A27DB-BD31-4B8C-83A1-F6EECF244321}">
                <p14:modId xmlns:p14="http://schemas.microsoft.com/office/powerpoint/2010/main" val="1579011935"/>
              </p:ext>
            </p:extLst>
          </p:nvPr>
        </p:nvGraphicFramePr>
        <p:xfrm>
          <a:off x="548640" y="1325880"/>
          <a:ext cx="11094415" cy="914400"/>
        </p:xfrm>
        <a:graphic>
          <a:graphicData uri="http://schemas.openxmlformats.org/drawingml/2006/table">
            <a:tbl>
              <a:tblPr/>
              <a:tblGrid>
                <a:gridCol w="2377440"/>
                <a:gridCol w="2905658"/>
                <a:gridCol w="2905658"/>
                <a:gridCol w="2905658"/>
              </a:tblGrid>
              <a:tr h="0">
                <a:tc>
                  <a:txBody>
                    <a:bodyPr/>
                    <a:lstStyle/>
                    <a:p>
                      <a:pPr indent="0" marL="0">
                        <a:buNone/>
                      </a:pPr>
                      <a:r>
                        <a:rPr lang="en-US" sz="1400" b="1" dirty="0">
                          <a:solidFill>
                            <a:srgbClr val="FFFFFF"/>
                          </a:solidFill>
                        </a:rPr>
                        <a:t>Drug</a:t>
                      </a:r>
                      <a:endParaRPr lang="en-US" sz="14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4472C4"/>
                    </a:solidFill>
                  </a:tcPr>
                </a:tc>
                <a:tc>
                  <a:txBody>
                    <a:bodyPr/>
                    <a:lstStyle/>
                    <a:p>
                      <a:pPr indent="0" marL="0">
                        <a:buNone/>
                      </a:pPr>
                      <a:r>
                        <a:rPr lang="en-US" sz="1400" b="1" dirty="0">
                          <a:solidFill>
                            <a:srgbClr val="FFFFFF"/>
                          </a:solidFill>
                        </a:rPr>
                        <a:t>Side of the balance</a:t>
                      </a:r>
                      <a:endParaRPr lang="en-US" sz="14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4472C4"/>
                    </a:solidFill>
                  </a:tcPr>
                </a:tc>
                <a:tc>
                  <a:txBody>
                    <a:bodyPr/>
                    <a:lstStyle/>
                    <a:p>
                      <a:pPr indent="0" marL="0">
                        <a:buNone/>
                      </a:pPr>
                      <a:r>
                        <a:rPr lang="en-US" sz="1400" b="1" dirty="0">
                          <a:solidFill>
                            <a:srgbClr val="FFFFFF"/>
                          </a:solidFill>
                        </a:rPr>
                        <a:t>Route · schedule</a:t>
                      </a:r>
                      <a:endParaRPr lang="en-US" sz="14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4472C4"/>
                    </a:solidFill>
                  </a:tcPr>
                </a:tc>
                <a:tc>
                  <a:txBody>
                    <a:bodyPr/>
                    <a:lstStyle/>
                    <a:p>
                      <a:pPr indent="0" marL="0">
                        <a:buNone/>
                      </a:pPr>
                      <a:r>
                        <a:rPr lang="en-US" sz="1400" b="1" dirty="0">
                          <a:solidFill>
                            <a:srgbClr val="FFFFFF"/>
                          </a:solidFill>
                        </a:rPr>
                        <a:t>Key safety point</a:t>
                      </a:r>
                      <a:endParaRPr lang="en-US" sz="14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4472C4"/>
                    </a:solidFill>
                  </a:tcPr>
                </a:tc>
              </a:tr>
              <a:tr h="0">
                <a:tc>
                  <a:txBody>
                    <a:bodyPr/>
                    <a:lstStyle/>
                    <a:p>
                      <a:pPr indent="0" marL="0">
                        <a:buNone/>
                      </a:pPr>
                      <a:r>
                        <a:rPr lang="en-US" sz="1400" b="1" dirty="0">
                          <a:solidFill>
                            <a:srgbClr val="1F1F1F"/>
                          </a:solidFill>
                        </a:rPr>
                        <a:t>Alendronate, risedronate</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2F4F7"/>
                    </a:solidFill>
                  </a:tcPr>
                </a:tc>
                <a:tc>
                  <a:txBody>
                    <a:bodyPr/>
                    <a:lstStyle/>
                    <a:p>
                      <a:pPr indent="0" marL="0">
                        <a:buNone/>
                      </a:pPr>
                      <a:r>
                        <a:rPr lang="en-US" sz="1400" dirty="0">
                          <a:solidFill>
                            <a:srgbClr val="1F1F1F"/>
                          </a:solidFill>
                        </a:rPr>
                        <a:t>Antiresorptive (osteoclast apoptosis)</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2F4F7"/>
                    </a:solidFill>
                  </a:tcPr>
                </a:tc>
                <a:tc>
                  <a:txBody>
                    <a:bodyPr/>
                    <a:lstStyle/>
                    <a:p>
                      <a:pPr indent="0" marL="0">
                        <a:buNone/>
                      </a:pPr>
                      <a:r>
                        <a:rPr lang="en-US" sz="1400" dirty="0">
                          <a:solidFill>
                            <a:srgbClr val="1F1F1F"/>
                          </a:solidFill>
                        </a:rPr>
                        <a:t>Oral, weekly</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2F4F7"/>
                    </a:solidFill>
                  </a:tcPr>
                </a:tc>
                <a:tc>
                  <a:txBody>
                    <a:bodyPr/>
                    <a:lstStyle/>
                    <a:p>
                      <a:pPr indent="0" marL="0">
                        <a:buNone/>
                      </a:pPr>
                      <a:r>
                        <a:rPr lang="en-US" sz="1400" dirty="0">
                          <a:solidFill>
                            <a:srgbClr val="1F1F1F"/>
                          </a:solidFill>
                        </a:rPr>
                        <a:t>Full glass of water, upright 30 min, fasting; esophagitis</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2F4F7"/>
                    </a:solidFill>
                  </a:tcPr>
                </a:tc>
              </a:tr>
              <a:tr h="0">
                <a:tc>
                  <a:txBody>
                    <a:bodyPr/>
                    <a:lstStyle/>
                    <a:p>
                      <a:pPr indent="0" marL="0">
                        <a:buNone/>
                      </a:pPr>
                      <a:r>
                        <a:rPr lang="en-US" sz="1400" b="1" dirty="0">
                          <a:solidFill>
                            <a:srgbClr val="1F1F1F"/>
                          </a:solidFill>
                        </a:rPr>
                        <a:t>Ibandronate</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FFFFF"/>
                    </a:solidFill>
                  </a:tcPr>
                </a:tc>
                <a:tc>
                  <a:txBody>
                    <a:bodyPr/>
                    <a:lstStyle/>
                    <a:p>
                      <a:pPr indent="0" marL="0">
                        <a:buNone/>
                      </a:pPr>
                      <a:r>
                        <a:rPr lang="en-US" sz="1400" dirty="0">
                          <a:solidFill>
                            <a:srgbClr val="1F1F1F"/>
                          </a:solidFill>
                        </a:rPr>
                        <a:t>Antiresorptive</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FFFFF"/>
                    </a:solidFill>
                  </a:tcPr>
                </a:tc>
                <a:tc>
                  <a:txBody>
                    <a:bodyPr/>
                    <a:lstStyle/>
                    <a:p>
                      <a:pPr indent="0" marL="0">
                        <a:buNone/>
                      </a:pPr>
                      <a:r>
                        <a:rPr lang="en-US" sz="1400" dirty="0">
                          <a:solidFill>
                            <a:srgbClr val="1F1F1F"/>
                          </a:solidFill>
                        </a:rPr>
                        <a:t>Oral, monthly</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FFFFF"/>
                    </a:solidFill>
                  </a:tcPr>
                </a:tc>
                <a:tc>
                  <a:txBody>
                    <a:bodyPr/>
                    <a:lstStyle/>
                    <a:p>
                      <a:pPr indent="0" marL="0">
                        <a:buNone/>
                      </a:pPr>
                      <a:r>
                        <a:rPr lang="en-US" sz="1400" dirty="0">
                          <a:solidFill>
                            <a:srgbClr val="1F1F1F"/>
                          </a:solidFill>
                        </a:rPr>
                        <a:t>Same oral rules</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FFFFF"/>
                    </a:solidFill>
                  </a:tcPr>
                </a:tc>
              </a:tr>
              <a:tr h="0">
                <a:tc>
                  <a:txBody>
                    <a:bodyPr/>
                    <a:lstStyle/>
                    <a:p>
                      <a:pPr indent="0" marL="0">
                        <a:buNone/>
                      </a:pPr>
                      <a:r>
                        <a:rPr lang="en-US" sz="1400" b="1" dirty="0">
                          <a:solidFill>
                            <a:srgbClr val="1F1F1F"/>
                          </a:solidFill>
                        </a:rPr>
                        <a:t>Zoledronic acid</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2F4F7"/>
                    </a:solidFill>
                  </a:tcPr>
                </a:tc>
                <a:tc>
                  <a:txBody>
                    <a:bodyPr/>
                    <a:lstStyle/>
                    <a:p>
                      <a:pPr indent="0" marL="0">
                        <a:buNone/>
                      </a:pPr>
                      <a:r>
                        <a:rPr lang="en-US" sz="1400" dirty="0">
                          <a:solidFill>
                            <a:srgbClr val="1F1F1F"/>
                          </a:solidFill>
                        </a:rPr>
                        <a:t>Antiresorptive</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2F4F7"/>
                    </a:solidFill>
                  </a:tcPr>
                </a:tc>
                <a:tc>
                  <a:txBody>
                    <a:bodyPr/>
                    <a:lstStyle/>
                    <a:p>
                      <a:pPr indent="0" marL="0">
                        <a:buNone/>
                      </a:pPr>
                      <a:r>
                        <a:rPr lang="en-US" sz="1400" dirty="0">
                          <a:solidFill>
                            <a:srgbClr val="1F1F1F"/>
                          </a:solidFill>
                        </a:rPr>
                        <a:t>IV, yearly</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2F4F7"/>
                    </a:solidFill>
                  </a:tcPr>
                </a:tc>
                <a:tc>
                  <a:txBody>
                    <a:bodyPr/>
                    <a:lstStyle/>
                    <a:p>
                      <a:pPr indent="0" marL="0">
                        <a:buNone/>
                      </a:pPr>
                      <a:r>
                        <a:rPr lang="en-US" sz="1400" dirty="0">
                          <a:solidFill>
                            <a:srgbClr val="1F1F1F"/>
                          </a:solidFill>
                        </a:rPr>
                        <a:t>Flu-like acute-phase reaction; avoid if CrCl &lt; 30–35</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2F4F7"/>
                    </a:solidFill>
                  </a:tcPr>
                </a:tc>
              </a:tr>
              <a:tr h="0">
                <a:tc>
                  <a:txBody>
                    <a:bodyPr/>
                    <a:lstStyle/>
                    <a:p>
                      <a:pPr indent="0" marL="0">
                        <a:buNone/>
                      </a:pPr>
                      <a:r>
                        <a:rPr lang="en-US" sz="1400" b="1" dirty="0">
                          <a:solidFill>
                            <a:srgbClr val="1F1F1F"/>
                          </a:solidFill>
                        </a:rPr>
                        <a:t>Denosumab</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FFFFF"/>
                    </a:solidFill>
                  </a:tcPr>
                </a:tc>
                <a:tc>
                  <a:txBody>
                    <a:bodyPr/>
                    <a:lstStyle/>
                    <a:p>
                      <a:pPr indent="0" marL="0">
                        <a:buNone/>
                      </a:pPr>
                      <a:r>
                        <a:rPr lang="en-US" sz="1400" dirty="0">
                          <a:solidFill>
                            <a:srgbClr val="1F1F1F"/>
                          </a:solidFill>
                        </a:rPr>
                        <a:t>Antiresorptive (RANKL antibody, mimics OPG)</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FFFFF"/>
                    </a:solidFill>
                  </a:tcPr>
                </a:tc>
                <a:tc>
                  <a:txBody>
                    <a:bodyPr/>
                    <a:lstStyle/>
                    <a:p>
                      <a:pPr indent="0" marL="0">
                        <a:buNone/>
                      </a:pPr>
                      <a:r>
                        <a:rPr lang="en-US" sz="1400" dirty="0">
                          <a:solidFill>
                            <a:srgbClr val="1F1F1F"/>
                          </a:solidFill>
                        </a:rPr>
                        <a:t>Injection</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FFFFF"/>
                    </a:solidFill>
                  </a:tcPr>
                </a:tc>
                <a:tc>
                  <a:txBody>
                    <a:bodyPr/>
                    <a:lstStyle/>
                    <a:p>
                      <a:pPr indent="0" marL="0">
                        <a:buNone/>
                      </a:pPr>
                      <a:r>
                        <a:rPr lang="en-US" sz="1400" dirty="0">
                          <a:solidFill>
                            <a:srgbClr val="1F1F1F"/>
                          </a:solidFill>
                        </a:rPr>
                        <a:t>Rebound vertebral fractures if stopped → bisphosphonate</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FFFFF"/>
                    </a:solidFill>
                  </a:tcPr>
                </a:tc>
              </a:tr>
              <a:tr h="0">
                <a:tc>
                  <a:txBody>
                    <a:bodyPr/>
                    <a:lstStyle/>
                    <a:p>
                      <a:pPr indent="0" marL="0">
                        <a:buNone/>
                      </a:pPr>
                      <a:r>
                        <a:rPr lang="en-US" sz="1400" b="1" dirty="0">
                          <a:solidFill>
                            <a:srgbClr val="1F1F1F"/>
                          </a:solidFill>
                        </a:rPr>
                        <a:t>Raloxifene</a:t>
                      </a:r>
                      <a:r>
                        <a:rPr lang="en-US" sz="1400" b="1" dirty="0">
                          <a:solidFill>
                            <a:srgbClr val="1F1F1F"/>
                          </a:solidFill>
                        </a:rPr>
                        <a:t> (SERM)</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2F4F7"/>
                    </a:solidFill>
                  </a:tcPr>
                </a:tc>
                <a:tc>
                  <a:txBody>
                    <a:bodyPr/>
                    <a:lstStyle/>
                    <a:p>
                      <a:pPr indent="0" marL="0">
                        <a:buNone/>
                      </a:pPr>
                      <a:r>
                        <a:rPr lang="en-US" sz="1400" dirty="0">
                          <a:solidFill>
                            <a:srgbClr val="1F1F1F"/>
                          </a:solidFill>
                        </a:rPr>
                        <a:t>Antiresorptive (estrogen-like on bone)</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2F4F7"/>
                    </a:solidFill>
                  </a:tcPr>
                </a:tc>
                <a:tc>
                  <a:txBody>
                    <a:bodyPr/>
                    <a:lstStyle/>
                    <a:p>
                      <a:pPr indent="0" marL="0">
                        <a:buNone/>
                      </a:pPr>
                      <a:r>
                        <a:rPr lang="en-US" sz="1400" dirty="0">
                          <a:solidFill>
                            <a:srgbClr val="1F1F1F"/>
                          </a:solidFill>
                        </a:rPr>
                        <a:t>Oral</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2F4F7"/>
                    </a:solidFill>
                  </a:tcPr>
                </a:tc>
                <a:tc>
                  <a:txBody>
                    <a:bodyPr/>
                    <a:lstStyle/>
                    <a:p>
                      <a:pPr indent="0" marL="0">
                        <a:buNone/>
                      </a:pPr>
                      <a:r>
                        <a:rPr lang="en-US" sz="1400" dirty="0">
                          <a:solidFill>
                            <a:srgbClr val="1F1F1F"/>
                          </a:solidFill>
                        </a:rPr>
                        <a:t>VTE; hot flashes; may ↓ breast cancer risk</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2F4F7"/>
                    </a:solidFill>
                  </a:tcPr>
                </a:tc>
              </a:tr>
              <a:tr h="0">
                <a:tc>
                  <a:txBody>
                    <a:bodyPr/>
                    <a:lstStyle/>
                    <a:p>
                      <a:pPr indent="0" marL="0">
                        <a:buNone/>
                      </a:pPr>
                      <a:r>
                        <a:rPr lang="en-US" sz="1400" b="1" dirty="0">
                          <a:solidFill>
                            <a:srgbClr val="1F1F1F"/>
                          </a:solidFill>
                        </a:rPr>
                        <a:t>Calcitonin</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FFFFF"/>
                    </a:solidFill>
                  </a:tcPr>
                </a:tc>
                <a:tc>
                  <a:txBody>
                    <a:bodyPr/>
                    <a:lstStyle/>
                    <a:p>
                      <a:pPr indent="0" marL="0">
                        <a:buNone/>
                      </a:pPr>
                      <a:r>
                        <a:rPr lang="en-US" sz="1400" dirty="0">
                          <a:solidFill>
                            <a:srgbClr val="1F1F1F"/>
                          </a:solidFill>
                        </a:rPr>
                        <a:t>Antiresorptive (opposes PTH)</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FFFFF"/>
                    </a:solidFill>
                  </a:tcPr>
                </a:tc>
                <a:tc>
                  <a:txBody>
                    <a:bodyPr/>
                    <a:lstStyle/>
                    <a:p>
                      <a:pPr indent="0" marL="0">
                        <a:buNone/>
                      </a:pPr>
                      <a:r>
                        <a:rPr lang="en-US" sz="1400" dirty="0">
                          <a:solidFill>
                            <a:srgbClr val="1F1F1F"/>
                          </a:solidFill>
                        </a:rPr>
                        <a:t>Not covered in materials</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FFFFF"/>
                    </a:solidFill>
                  </a:tcPr>
                </a:tc>
                <a:tc>
                  <a:txBody>
                    <a:bodyPr/>
                    <a:lstStyle/>
                    <a:p>
                      <a:pPr indent="0" marL="0">
                        <a:buNone/>
                      </a:pPr>
                      <a:r>
                        <a:rPr lang="en-US" sz="1400" dirty="0">
                          <a:solidFill>
                            <a:srgbClr val="1F1F1F"/>
                          </a:solidFill>
                        </a:rPr>
                        <a:t>Not covered in materials</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FFFFF"/>
                    </a:solidFill>
                  </a:tcPr>
                </a:tc>
              </a:tr>
              <a:tr h="0">
                <a:tc>
                  <a:txBody>
                    <a:bodyPr/>
                    <a:lstStyle/>
                    <a:p>
                      <a:pPr indent="0" marL="0">
                        <a:buNone/>
                      </a:pPr>
                      <a:r>
                        <a:rPr lang="en-US" sz="1400" b="1" dirty="0">
                          <a:solidFill>
                            <a:srgbClr val="1F1F1F"/>
                          </a:solidFill>
                        </a:rPr>
                        <a:t>Teriparatide</a:t>
                      </a:r>
                      <a:r>
                        <a:rPr lang="en-US" sz="1400" b="1" dirty="0">
                          <a:solidFill>
                            <a:srgbClr val="1F1F1F"/>
                          </a:solidFill>
                        </a:rPr>
                        <a:t>, abaloparatide</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2F4F7"/>
                    </a:solidFill>
                  </a:tcPr>
                </a:tc>
                <a:tc>
                  <a:txBody>
                    <a:bodyPr/>
                    <a:lstStyle/>
                    <a:p>
                      <a:pPr indent="0" marL="0">
                        <a:buNone/>
                      </a:pPr>
                      <a:r>
                        <a:rPr lang="en-US" sz="1400" b="1" dirty="0">
                          <a:solidFill>
                            <a:srgbClr val="1F1F1F"/>
                          </a:solidFill>
                        </a:rPr>
                        <a:t>Anabolic</a:t>
                      </a:r>
                      <a:r>
                        <a:rPr lang="en-US" sz="1400" dirty="0">
                          <a:solidFill>
                            <a:srgbClr val="1F1F1F"/>
                          </a:solidFill>
                        </a:rPr>
                        <a:t> (PTH analog)</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2F4F7"/>
                    </a:solidFill>
                  </a:tcPr>
                </a:tc>
                <a:tc>
                  <a:txBody>
                    <a:bodyPr/>
                    <a:lstStyle/>
                    <a:p>
                      <a:pPr indent="0" marL="0">
                        <a:buNone/>
                      </a:pPr>
                      <a:r>
                        <a:rPr lang="en-US" sz="1400" dirty="0">
                          <a:solidFill>
                            <a:srgbClr val="1F1F1F"/>
                          </a:solidFill>
                        </a:rPr>
                        <a:t>Daily injection</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2F4F7"/>
                    </a:solidFill>
                  </a:tcPr>
                </a:tc>
                <a:tc>
                  <a:txBody>
                    <a:bodyPr/>
                    <a:lstStyle/>
                    <a:p>
                      <a:pPr indent="0" marL="0">
                        <a:buNone/>
                      </a:pPr>
                      <a:r>
                        <a:rPr lang="en-US" sz="1400" dirty="0">
                          <a:solidFill>
                            <a:srgbClr val="1F1F1F"/>
                          </a:solidFill>
                        </a:rPr>
                        <a:t>2-year lifetime limit, then antiresorptive</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2F4F7"/>
                    </a:solidFill>
                  </a:tcPr>
                </a:tc>
              </a:tr>
              <a:tr h="0">
                <a:tc>
                  <a:txBody>
                    <a:bodyPr/>
                    <a:lstStyle/>
                    <a:p>
                      <a:pPr indent="0" marL="0">
                        <a:buNone/>
                      </a:pPr>
                      <a:r>
                        <a:rPr lang="en-US" sz="1400" b="1" dirty="0">
                          <a:solidFill>
                            <a:srgbClr val="1F1F1F"/>
                          </a:solidFill>
                        </a:rPr>
                        <a:t>Romosozumab</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FFFFF"/>
                    </a:solidFill>
                  </a:tcPr>
                </a:tc>
                <a:tc>
                  <a:txBody>
                    <a:bodyPr/>
                    <a:lstStyle/>
                    <a:p>
                      <a:pPr indent="0" marL="0">
                        <a:buNone/>
                      </a:pPr>
                      <a:r>
                        <a:rPr lang="en-US" sz="1400" b="1" dirty="0">
                          <a:solidFill>
                            <a:srgbClr val="1F1F1F"/>
                          </a:solidFill>
                        </a:rPr>
                        <a:t>Anabolic + antiresorptive</a:t>
                      </a:r>
                      <a:r>
                        <a:rPr lang="en-US" sz="1400" dirty="0">
                          <a:solidFill>
                            <a:srgbClr val="1F1F1F"/>
                          </a:solidFill>
                        </a:rPr>
                        <a:t> (sclerostin antibody)</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FFFFF"/>
                    </a:solidFill>
                  </a:tcPr>
                </a:tc>
                <a:tc>
                  <a:txBody>
                    <a:bodyPr/>
                    <a:lstStyle/>
                    <a:p>
                      <a:pPr indent="0" marL="0">
                        <a:buNone/>
                      </a:pPr>
                      <a:r>
                        <a:rPr lang="en-US" sz="1400" dirty="0">
                          <a:solidFill>
                            <a:srgbClr val="1F1F1F"/>
                          </a:solidFill>
                        </a:rPr>
                        <a:t>Injection</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FFFFF"/>
                    </a:solidFill>
                  </a:tcPr>
                </a:tc>
                <a:tc>
                  <a:txBody>
                    <a:bodyPr/>
                    <a:lstStyle/>
                    <a:p>
                      <a:pPr indent="0" marL="0">
                        <a:buNone/>
                      </a:pPr>
                      <a:r>
                        <a:rPr lang="en-US" sz="1400" b="1" dirty="0">
                          <a:solidFill>
                            <a:srgbClr val="1F1F1F"/>
                          </a:solidFill>
                        </a:rPr>
                        <a:t>Boxed: MI, stroke, CV death</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FFFFF"/>
                    </a:solidFill>
                  </a:tcPr>
                </a:tc>
              </a:tr>
            </a:tbl>
          </a:graphicData>
        </a:graphic>
      </p:graphicFrame>
      <p:sp>
        <p:nvSpPr>
          <p:cNvPr id="8" name="Table sources"/>
          <p:cNvSpPr txBox="1"/>
          <p:nvPr/>
        </p:nvSpPr>
        <p:spPr>
          <a:xfrm>
            <a:off x="548640" y="5868924"/>
            <a:ext cx="11094415" cy="274320"/>
          </a:xfrm>
          <a:prstGeom prst="rect">
            <a:avLst/>
          </a:prstGeom>
          <a:noFill/>
          <a:ln/>
        </p:spPr>
        <p:txBody>
          <a:bodyPr wrap="square" lIns="0" tIns="0" rIns="0" bIns="0" rtlCol="0" anchor="ctr"/>
          <a:lstStyle/>
          <a:p>
            <a:pPr indent="0" marL="0">
              <a:buNone/>
            </a:pPr>
            <a:r>
              <a:rPr lang="en-US" sz="1100" dirty="0">
                <a:solidFill>
                  <a:srgbClr val="666666"/>
                </a:solidFill>
              </a:rPr>
              <a:t>Focus: what tells these apart.  Sources: S47–S56</a:t>
            </a:r>
            <a:endParaRPr lang="en-US" sz="1100" dirty="0"/>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name="Slide 88">
    <p:bg>
      <p:bgPr>
        <a:solidFill>
          <a:srgbClr val="FFFFFF"/>
        </a:solidFill>
      </p:bgPr>
    </p:bg>
    <p:spTree>
      <p:nvGrpSpPr>
        <p:cNvPr id="1" name=""/>
        <p:cNvGrpSpPr/>
        <p:nvPr/>
      </p:nvGrpSpPr>
      <p:grpSpPr>
        <a:xfrm>
          <a:off x="0" y="0"/>
          <a:ext cx="0" cy="0"/>
          <a:chOff x="0" y="0"/>
          <a:chExt cx="0" cy="0"/>
        </a:xfrm>
      </p:grpSpPr>
      <p:sp>
        <p:nvSpPr>
          <p:cNvPr id="2" name="Kicker"/>
          <p:cNvSpPr txBox="1"/>
          <p:nvPr/>
        </p:nvSpPr>
        <p:spPr>
          <a:xfrm>
            <a:off x="548640" y="292608"/>
            <a:ext cx="8076895" cy="274320"/>
          </a:xfrm>
          <a:prstGeom prst="rect">
            <a:avLst/>
          </a:prstGeom>
          <a:noFill/>
          <a:ln/>
        </p:spPr>
        <p:txBody>
          <a:bodyPr wrap="square" lIns="0" tIns="0" rIns="0" bIns="0" rtlCol="0" anchor="ctr"/>
          <a:lstStyle/>
          <a:p>
            <a:pPr indent="0" marL="0">
              <a:buNone/>
            </a:pPr>
            <a:r>
              <a:rPr lang="en-US" sz="1200" b="1" spc="100" kern="0" dirty="0">
                <a:solidFill>
                  <a:srgbClr val="4472C4"/>
                </a:solidFill>
              </a:rPr>
              <a:t>BONE PHARMACOLOGY &amp; OSTEOPOROSIS</a:t>
            </a:r>
            <a:endParaRPr lang="en-US" sz="1200" dirty="0"/>
          </a:p>
        </p:txBody>
      </p:sp>
      <p:sp>
        <p:nvSpPr>
          <p:cNvPr id="3" name="Title"/>
          <p:cNvSpPr txBox="1"/>
          <p:nvPr/>
        </p:nvSpPr>
        <p:spPr>
          <a:xfrm>
            <a:off x="548640" y="566928"/>
            <a:ext cx="8076895" cy="713232"/>
          </a:xfrm>
          <a:prstGeom prst="rect">
            <a:avLst/>
          </a:prstGeom>
          <a:noFill/>
          <a:ln/>
        </p:spPr>
        <p:txBody>
          <a:bodyPr wrap="square" lIns="0" tIns="0" rIns="0" bIns="0" rtlCol="0" anchor="t"/>
          <a:lstStyle/>
          <a:p>
            <a:pPr indent="0" marL="0">
              <a:buNone/>
            </a:pPr>
            <a:r>
              <a:rPr lang="en-US" sz="3000" b="1" dirty="0">
                <a:solidFill>
                  <a:srgbClr val="1F1F1F"/>
                </a:solidFill>
                <a:latin typeface="Calibri" pitchFamily="34" charset="0"/>
                <a:ea typeface="Calibri" pitchFamily="34" charset="-122"/>
                <a:cs typeface="Calibri" pitchFamily="34" charset="-120"/>
              </a:rPr>
              <a:t>Compare: Oral bisphosphonate rules — and why</a:t>
            </a:r>
            <a:endParaRPr lang="en-US" sz="3000" dirty="0"/>
          </a:p>
        </p:txBody>
      </p:sp>
      <p:sp>
        <p:nvSpPr>
          <p:cNvPr id="4" name="Objective chip"/>
          <p:cNvSpPr/>
          <p:nvPr/>
        </p:nvSpPr>
        <p:spPr>
          <a:xfrm>
            <a:off x="8899855" y="365760"/>
            <a:ext cx="2743200" cy="384048"/>
          </a:xfrm>
          <a:prstGeom prst="roundRect">
            <a:avLst>
              <a:gd name="adj" fmla="val 35714"/>
            </a:avLst>
          </a:prstGeom>
          <a:solidFill>
            <a:srgbClr val="E3EBF8"/>
          </a:solidFill>
          <a:ln/>
        </p:spPr>
        <p:txBody>
          <a:bodyPr wrap="square" lIns="25400" tIns="25400" rIns="25400" bIns="25400" rtlCol="0" anchor="ctr"/>
          <a:lstStyle/>
          <a:p>
            <a:pPr algn="ctr" indent="0" marL="0">
              <a:buNone/>
            </a:pPr>
            <a:r>
              <a:rPr lang="en-US" sz="800" b="1" dirty="0">
                <a:solidFill>
                  <a:srgbClr val="2F4F8A"/>
                </a:solidFill>
              </a:rPr>
              <a:t>Objectives: SO3 · SO4 · IO2.1 · IO2.2 · IO2.3 · IO2.4 · IO2.5 · IO2.6</a:t>
            </a:r>
            <a:endParaRPr lang="en-US" sz="800" dirty="0"/>
          </a:p>
        </p:txBody>
      </p:sp>
      <p:sp>
        <p:nvSpPr>
          <p:cNvPr id="5" name="Footer"/>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1000" dirty="0">
                <a:solidFill>
                  <a:srgbClr val="666666"/>
                </a:solidFill>
              </a:rPr>
              <a:t>L04 · Musculoskeletal Pharmacology — Session 2</a:t>
            </a:r>
            <a:endParaRPr lang="en-US" sz="1000" dirty="0"/>
          </a:p>
        </p:txBody>
      </p:sp>
      <p:sp>
        <p:nvSpPr>
          <p:cNvPr id="6" name="Slide number"/>
          <p:cNvSpPr txBox="1"/>
          <p:nvPr/>
        </p:nvSpPr>
        <p:spPr>
          <a:xfrm>
            <a:off x="10728655" y="6419088"/>
            <a:ext cx="914400" cy="274320"/>
          </a:xfrm>
          <a:prstGeom prst="rect">
            <a:avLst/>
          </a:prstGeom>
          <a:noFill/>
          <a:ln/>
        </p:spPr>
        <p:txBody>
          <a:bodyPr wrap="square" lIns="0" tIns="0" rIns="0" bIns="0" rtlCol="0" anchor="ctr"/>
          <a:lstStyle/>
          <a:p>
            <a:pPr algn="r" indent="0" marL="0">
              <a:buNone/>
            </a:pPr>
            <a:r>
              <a:rPr lang="en-US" sz="1000" dirty="0">
                <a:solidFill>
                  <a:srgbClr val="666666"/>
                </a:solidFill>
              </a:rPr>
              <a:t>88</a:t>
            </a:r>
            <a:endParaRPr lang="en-US" sz="1000" dirty="0"/>
          </a:p>
        </p:txBody>
      </p:sp>
      <p:graphicFrame>
        <p:nvGraphicFramePr>
          <p:cNvPr id="89" name="Comparison table"/>
          <p:cNvGraphicFramePr>
            <a:graphicFrameLocks noGrp="1"/>
          </p:cNvGraphicFramePr>
          <p:nvPr>
            <p:extLst>
              <p:ext uri="{D42A27DB-BD31-4B8C-83A1-F6EECF244321}">
                <p14:modId xmlns:p14="http://schemas.microsoft.com/office/powerpoint/2010/main" val="1579011935"/>
              </p:ext>
            </p:extLst>
          </p:nvPr>
        </p:nvGraphicFramePr>
        <p:xfrm>
          <a:off x="548640" y="1325880"/>
          <a:ext cx="11094415" cy="914400"/>
        </p:xfrm>
        <a:graphic>
          <a:graphicData uri="http://schemas.openxmlformats.org/drawingml/2006/table">
            <a:tbl>
              <a:tblPr/>
              <a:tblGrid>
                <a:gridCol w="2377440"/>
                <a:gridCol w="8716975"/>
              </a:tblGrid>
              <a:tr h="0">
                <a:tc>
                  <a:txBody>
                    <a:bodyPr/>
                    <a:lstStyle/>
                    <a:p>
                      <a:pPr indent="0" marL="0">
                        <a:buNone/>
                      </a:pPr>
                      <a:r>
                        <a:rPr lang="en-US" sz="1600" b="1" dirty="0">
                          <a:solidFill>
                            <a:srgbClr val="FFFFFF"/>
                          </a:solidFill>
                        </a:rPr>
                        <a:t>Rule</a:t>
                      </a:r>
                      <a:endParaRPr lang="en-US" sz="16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4472C4"/>
                    </a:solidFill>
                  </a:tcPr>
                </a:tc>
                <a:tc>
                  <a:txBody>
                    <a:bodyPr/>
                    <a:lstStyle/>
                    <a:p>
                      <a:pPr indent="0" marL="0">
                        <a:buNone/>
                      </a:pPr>
                      <a:r>
                        <a:rPr lang="en-US" sz="1600" b="1" dirty="0">
                          <a:solidFill>
                            <a:srgbClr val="FFFFFF"/>
                          </a:solidFill>
                        </a:rPr>
                        <a:t>Why</a:t>
                      </a:r>
                      <a:endParaRPr lang="en-US" sz="16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4472C4"/>
                    </a:solidFill>
                  </a:tcPr>
                </a:tc>
              </a:tr>
              <a:tr h="0">
                <a:tc>
                  <a:txBody>
                    <a:bodyPr/>
                    <a:lstStyle/>
                    <a:p>
                      <a:pPr indent="0" marL="0">
                        <a:buNone/>
                      </a:pPr>
                      <a:r>
                        <a:rPr lang="en-US" sz="1600" b="1" dirty="0">
                          <a:solidFill>
                            <a:srgbClr val="1F1F1F"/>
                          </a:solidFill>
                        </a:rPr>
                        <a:t>Fasting, first thing in the morning, plain water</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2F4F7"/>
                    </a:solidFill>
                  </a:tcPr>
                </a:tc>
                <a:tc>
                  <a:txBody>
                    <a:bodyPr/>
                    <a:lstStyle/>
                    <a:p>
                      <a:pPr indent="0" marL="0">
                        <a:buNone/>
                      </a:pPr>
                      <a:r>
                        <a:rPr lang="en-US" sz="1600" dirty="0">
                          <a:solidFill>
                            <a:srgbClr val="1F1F1F"/>
                          </a:solidFill>
                        </a:rPr>
                        <a:t>Absorption is under 1%; food, calcium, coffee and antacids cut it further</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2F4F7"/>
                    </a:solidFill>
                  </a:tcPr>
                </a:tc>
              </a:tr>
              <a:tr h="0">
                <a:tc>
                  <a:txBody>
                    <a:bodyPr/>
                    <a:lstStyle/>
                    <a:p>
                      <a:pPr indent="0" marL="0">
                        <a:buNone/>
                      </a:pPr>
                      <a:r>
                        <a:rPr lang="en-US" sz="1600" b="1" dirty="0">
                          <a:solidFill>
                            <a:srgbClr val="1F1F1F"/>
                          </a:solidFill>
                        </a:rPr>
                        <a:t>Full glass of water</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FFFFF"/>
                    </a:solidFill>
                  </a:tcPr>
                </a:tc>
                <a:tc>
                  <a:txBody>
                    <a:bodyPr/>
                    <a:lstStyle/>
                    <a:p>
                      <a:pPr indent="0" marL="0">
                        <a:buNone/>
                      </a:pPr>
                      <a:r>
                        <a:rPr lang="en-US" sz="1600" dirty="0">
                          <a:solidFill>
                            <a:srgbClr val="1F1F1F"/>
                          </a:solidFill>
                        </a:rPr>
                        <a:t>Washes the tablet past the esophagus</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FFFFF"/>
                    </a:solidFill>
                  </a:tcPr>
                </a:tc>
              </a:tr>
              <a:tr h="0">
                <a:tc>
                  <a:txBody>
                    <a:bodyPr/>
                    <a:lstStyle/>
                    <a:p>
                      <a:pPr indent="0" marL="0">
                        <a:buNone/>
                      </a:pPr>
                      <a:r>
                        <a:rPr lang="en-US" sz="1600" b="1" dirty="0">
                          <a:solidFill>
                            <a:srgbClr val="1F1F1F"/>
                          </a:solidFill>
                        </a:rPr>
                        <a:t>Stay upright 30 minutes</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2F4F7"/>
                    </a:solidFill>
                  </a:tcPr>
                </a:tc>
                <a:tc>
                  <a:txBody>
                    <a:bodyPr/>
                    <a:lstStyle/>
                    <a:p>
                      <a:pPr indent="0" marL="0">
                        <a:buNone/>
                      </a:pPr>
                      <a:r>
                        <a:rPr lang="en-US" sz="1600" dirty="0">
                          <a:solidFill>
                            <a:srgbClr val="1F1F1F"/>
                          </a:solidFill>
                        </a:rPr>
                        <a:t>Lowers esophageal contact time and irritation</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2F4F7"/>
                    </a:solidFill>
                  </a:tcPr>
                </a:tc>
              </a:tr>
              <a:tr h="0">
                <a:tc>
                  <a:txBody>
                    <a:bodyPr/>
                    <a:lstStyle/>
                    <a:p>
                      <a:pPr indent="0" marL="0">
                        <a:buNone/>
                      </a:pPr>
                      <a:r>
                        <a:rPr lang="en-US" sz="1600" b="1" dirty="0">
                          <a:solidFill>
                            <a:srgbClr val="1F1F1F"/>
                          </a:solidFill>
                        </a:rPr>
                        <a:t>Not with stricture, achalasia, or inability to sit up</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FFFFF"/>
                    </a:solidFill>
                  </a:tcPr>
                </a:tc>
                <a:tc>
                  <a:txBody>
                    <a:bodyPr/>
                    <a:lstStyle/>
                    <a:p>
                      <a:pPr indent="0" marL="0">
                        <a:buNone/>
                      </a:pPr>
                      <a:r>
                        <a:rPr lang="en-US" sz="1600" dirty="0">
                          <a:solidFill>
                            <a:srgbClr val="1F1F1F"/>
                          </a:solidFill>
                        </a:rPr>
                        <a:t>Tablet would sit in the esophagus</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FFFFF"/>
                    </a:solidFill>
                  </a:tcPr>
                </a:tc>
              </a:tr>
              <a:tr h="0">
                <a:tc>
                  <a:txBody>
                    <a:bodyPr/>
                    <a:lstStyle/>
                    <a:p>
                      <a:pPr indent="0" marL="0">
                        <a:buNone/>
                      </a:pPr>
                      <a:r>
                        <a:rPr lang="en-US" sz="1600" b="1" dirty="0">
                          <a:solidFill>
                            <a:srgbClr val="1F1F1F"/>
                          </a:solidFill>
                        </a:rPr>
                        <a:t>Correct calcium and vitamin D first</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2F4F7"/>
                    </a:solidFill>
                  </a:tcPr>
                </a:tc>
                <a:tc>
                  <a:txBody>
                    <a:bodyPr/>
                    <a:lstStyle/>
                    <a:p>
                      <a:pPr indent="0" marL="0">
                        <a:buNone/>
                      </a:pPr>
                      <a:r>
                        <a:rPr lang="en-US" sz="1600" dirty="0">
                          <a:solidFill>
                            <a:srgbClr val="1F1F1F"/>
                          </a:solidFill>
                        </a:rPr>
                        <a:t>Shutting down resorption can drop calcium</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2F4F7"/>
                    </a:solidFill>
                  </a:tcPr>
                </a:tc>
              </a:tr>
            </a:tbl>
          </a:graphicData>
        </a:graphic>
      </p:graphicFrame>
      <p:sp>
        <p:nvSpPr>
          <p:cNvPr id="8" name="Table sources"/>
          <p:cNvSpPr txBox="1"/>
          <p:nvPr/>
        </p:nvSpPr>
        <p:spPr>
          <a:xfrm>
            <a:off x="548640" y="4710176"/>
            <a:ext cx="11094415" cy="274320"/>
          </a:xfrm>
          <a:prstGeom prst="rect">
            <a:avLst/>
          </a:prstGeom>
          <a:noFill/>
          <a:ln/>
        </p:spPr>
        <p:txBody>
          <a:bodyPr wrap="square" lIns="0" tIns="0" rIns="0" bIns="0" rtlCol="0" anchor="ctr"/>
          <a:lstStyle/>
          <a:p>
            <a:pPr indent="0" marL="0">
              <a:buNone/>
            </a:pPr>
            <a:r>
              <a:rPr lang="en-US" sz="1100" dirty="0">
                <a:solidFill>
                  <a:srgbClr val="666666"/>
                </a:solidFill>
              </a:rPr>
              <a:t>Focus: what tells these apart.  Sources: S52; S53; SG U2-R13</a:t>
            </a:r>
            <a:endParaRPr lang="en-US" sz="1100" dirty="0"/>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name="Slide 89">
    <p:bg>
      <p:bgPr>
        <a:solidFill>
          <a:srgbClr val="FFFFFF"/>
        </a:solidFill>
      </p:bgPr>
    </p:bg>
    <p:spTree>
      <p:nvGrpSpPr>
        <p:cNvPr id="1" name=""/>
        <p:cNvGrpSpPr/>
        <p:nvPr/>
      </p:nvGrpSpPr>
      <p:grpSpPr>
        <a:xfrm>
          <a:off x="0" y="0"/>
          <a:ext cx="0" cy="0"/>
          <a:chOff x="0" y="0"/>
          <a:chExt cx="0" cy="0"/>
        </a:xfrm>
      </p:grpSpPr>
      <p:sp>
        <p:nvSpPr>
          <p:cNvPr id="2" name="Kicker"/>
          <p:cNvSpPr txBox="1"/>
          <p:nvPr/>
        </p:nvSpPr>
        <p:spPr>
          <a:xfrm>
            <a:off x="548640" y="292608"/>
            <a:ext cx="8076895" cy="274320"/>
          </a:xfrm>
          <a:prstGeom prst="rect">
            <a:avLst/>
          </a:prstGeom>
          <a:noFill/>
          <a:ln/>
        </p:spPr>
        <p:txBody>
          <a:bodyPr wrap="square" lIns="0" tIns="0" rIns="0" bIns="0" rtlCol="0" anchor="ctr"/>
          <a:lstStyle/>
          <a:p>
            <a:pPr indent="0" marL="0">
              <a:buNone/>
            </a:pPr>
            <a:r>
              <a:rPr lang="en-US" sz="1200" b="1" spc="100" kern="0" dirty="0">
                <a:solidFill>
                  <a:srgbClr val="4472C4"/>
                </a:solidFill>
              </a:rPr>
              <a:t>BONE PHARMACOLOGY &amp; OSTEOPOROSIS</a:t>
            </a:r>
            <a:endParaRPr lang="en-US" sz="1200" dirty="0"/>
          </a:p>
        </p:txBody>
      </p:sp>
      <p:sp>
        <p:nvSpPr>
          <p:cNvPr id="3" name="Title"/>
          <p:cNvSpPr txBox="1"/>
          <p:nvPr/>
        </p:nvSpPr>
        <p:spPr>
          <a:xfrm>
            <a:off x="548640" y="566928"/>
            <a:ext cx="8076895" cy="713232"/>
          </a:xfrm>
          <a:prstGeom prst="rect">
            <a:avLst/>
          </a:prstGeom>
          <a:noFill/>
          <a:ln/>
        </p:spPr>
        <p:txBody>
          <a:bodyPr wrap="square" lIns="0" tIns="0" rIns="0" bIns="0" rtlCol="0" anchor="t"/>
          <a:lstStyle/>
          <a:p>
            <a:pPr indent="0" marL="0">
              <a:buNone/>
            </a:pPr>
            <a:r>
              <a:rPr lang="en-US" sz="3000" b="1" dirty="0">
                <a:solidFill>
                  <a:srgbClr val="1F1F1F"/>
                </a:solidFill>
                <a:latin typeface="Calibri" pitchFamily="34" charset="0"/>
                <a:ea typeface="Calibri" pitchFamily="34" charset="-122"/>
                <a:cs typeface="Calibri" pitchFamily="34" charset="-120"/>
              </a:rPr>
              <a:t>Compare: Name clues: bone</a:t>
            </a:r>
            <a:endParaRPr lang="en-US" sz="3000" dirty="0"/>
          </a:p>
        </p:txBody>
      </p:sp>
      <p:sp>
        <p:nvSpPr>
          <p:cNvPr id="4" name="Objective chip"/>
          <p:cNvSpPr/>
          <p:nvPr/>
        </p:nvSpPr>
        <p:spPr>
          <a:xfrm>
            <a:off x="8899855" y="365760"/>
            <a:ext cx="2743200" cy="384048"/>
          </a:xfrm>
          <a:prstGeom prst="roundRect">
            <a:avLst>
              <a:gd name="adj" fmla="val 35714"/>
            </a:avLst>
          </a:prstGeom>
          <a:solidFill>
            <a:srgbClr val="E3EBF8"/>
          </a:solidFill>
          <a:ln/>
        </p:spPr>
        <p:txBody>
          <a:bodyPr wrap="square" lIns="25400" tIns="25400" rIns="25400" bIns="25400" rtlCol="0" anchor="ctr"/>
          <a:lstStyle/>
          <a:p>
            <a:pPr algn="ctr" indent="0" marL="0">
              <a:buNone/>
            </a:pPr>
            <a:r>
              <a:rPr lang="en-US" sz="800" b="1" dirty="0">
                <a:solidFill>
                  <a:srgbClr val="2F4F8A"/>
                </a:solidFill>
              </a:rPr>
              <a:t>Objectives: SO3 · SO4 · IO2.1 · IO2.2 · IO2.3 · IO2.4 · IO2.5 · IO2.6</a:t>
            </a:r>
            <a:endParaRPr lang="en-US" sz="800" dirty="0"/>
          </a:p>
        </p:txBody>
      </p:sp>
      <p:sp>
        <p:nvSpPr>
          <p:cNvPr id="5" name="Footer"/>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1000" dirty="0">
                <a:solidFill>
                  <a:srgbClr val="666666"/>
                </a:solidFill>
              </a:rPr>
              <a:t>L04 · Musculoskeletal Pharmacology — Session 2</a:t>
            </a:r>
            <a:endParaRPr lang="en-US" sz="1000" dirty="0"/>
          </a:p>
        </p:txBody>
      </p:sp>
      <p:sp>
        <p:nvSpPr>
          <p:cNvPr id="6" name="Slide number"/>
          <p:cNvSpPr txBox="1"/>
          <p:nvPr/>
        </p:nvSpPr>
        <p:spPr>
          <a:xfrm>
            <a:off x="10728655" y="6419088"/>
            <a:ext cx="914400" cy="274320"/>
          </a:xfrm>
          <a:prstGeom prst="rect">
            <a:avLst/>
          </a:prstGeom>
          <a:noFill/>
          <a:ln/>
        </p:spPr>
        <p:txBody>
          <a:bodyPr wrap="square" lIns="0" tIns="0" rIns="0" bIns="0" rtlCol="0" anchor="ctr"/>
          <a:lstStyle/>
          <a:p>
            <a:pPr algn="r" indent="0" marL="0">
              <a:buNone/>
            </a:pPr>
            <a:r>
              <a:rPr lang="en-US" sz="1000" dirty="0">
                <a:solidFill>
                  <a:srgbClr val="666666"/>
                </a:solidFill>
              </a:rPr>
              <a:t>89</a:t>
            </a:r>
            <a:endParaRPr lang="en-US" sz="1000" dirty="0"/>
          </a:p>
        </p:txBody>
      </p:sp>
      <p:graphicFrame>
        <p:nvGraphicFramePr>
          <p:cNvPr id="90" name="Comparison table"/>
          <p:cNvGraphicFramePr>
            <a:graphicFrameLocks noGrp="1"/>
          </p:cNvGraphicFramePr>
          <p:nvPr>
            <p:extLst>
              <p:ext uri="{D42A27DB-BD31-4B8C-83A1-F6EECF244321}">
                <p14:modId xmlns:p14="http://schemas.microsoft.com/office/powerpoint/2010/main" val="1579011935"/>
              </p:ext>
            </p:extLst>
          </p:nvPr>
        </p:nvGraphicFramePr>
        <p:xfrm>
          <a:off x="548640" y="1325880"/>
          <a:ext cx="11094415" cy="914400"/>
        </p:xfrm>
        <a:graphic>
          <a:graphicData uri="http://schemas.openxmlformats.org/drawingml/2006/table">
            <a:tbl>
              <a:tblPr/>
              <a:tblGrid>
                <a:gridCol w="2377440"/>
                <a:gridCol w="4358488"/>
                <a:gridCol w="4358488"/>
              </a:tblGrid>
              <a:tr h="0">
                <a:tc>
                  <a:txBody>
                    <a:bodyPr/>
                    <a:lstStyle/>
                    <a:p>
                      <a:pPr indent="0" marL="0">
                        <a:buNone/>
                      </a:pPr>
                      <a:r>
                        <a:rPr lang="en-US" sz="1600" b="1" dirty="0">
                          <a:solidFill>
                            <a:srgbClr val="FFFFFF"/>
                          </a:solidFill>
                        </a:rPr>
                        <a:t>Name clue</a:t>
                      </a:r>
                      <a:endParaRPr lang="en-US" sz="16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4472C4"/>
                    </a:solidFill>
                  </a:tcPr>
                </a:tc>
                <a:tc>
                  <a:txBody>
                    <a:bodyPr/>
                    <a:lstStyle/>
                    <a:p>
                      <a:pPr indent="0" marL="0">
                        <a:buNone/>
                      </a:pPr>
                      <a:r>
                        <a:rPr lang="en-US" sz="1600" b="1" dirty="0">
                          <a:solidFill>
                            <a:srgbClr val="FFFFFF"/>
                          </a:solidFill>
                        </a:rPr>
                        <a:t>Class</a:t>
                      </a:r>
                      <a:endParaRPr lang="en-US" sz="16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4472C4"/>
                    </a:solidFill>
                  </a:tcPr>
                </a:tc>
                <a:tc>
                  <a:txBody>
                    <a:bodyPr/>
                    <a:lstStyle/>
                    <a:p>
                      <a:pPr indent="0" marL="0">
                        <a:buNone/>
                      </a:pPr>
                      <a:r>
                        <a:rPr lang="en-US" sz="1600" b="1" dirty="0">
                          <a:solidFill>
                            <a:srgbClr val="FFFFFF"/>
                          </a:solidFill>
                        </a:rPr>
                        <a:t>Examples</a:t>
                      </a:r>
                      <a:endParaRPr lang="en-US" sz="16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4472C4"/>
                    </a:solidFill>
                  </a:tcPr>
                </a:tc>
              </a:tr>
              <a:tr h="0">
                <a:tc>
                  <a:txBody>
                    <a:bodyPr/>
                    <a:lstStyle/>
                    <a:p>
                      <a:pPr indent="0" marL="0">
                        <a:buNone/>
                      </a:pPr>
                      <a:r>
                        <a:rPr lang="en-US" sz="1600" b="1" dirty="0">
                          <a:solidFill>
                            <a:srgbClr val="1F1F1F"/>
                          </a:solidFill>
                        </a:rPr>
                        <a:t>-dronate</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2F4F7"/>
                    </a:solidFill>
                  </a:tcPr>
                </a:tc>
                <a:tc>
                  <a:txBody>
                    <a:bodyPr/>
                    <a:lstStyle/>
                    <a:p>
                      <a:pPr indent="0" marL="0">
                        <a:buNone/>
                      </a:pPr>
                      <a:r>
                        <a:rPr lang="en-US" sz="1600" dirty="0">
                          <a:solidFill>
                            <a:srgbClr val="1F1F1F"/>
                          </a:solidFill>
                        </a:rPr>
                        <a:t>Bisphosphonates (inhibit osteoclast resorption)</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2F4F7"/>
                    </a:solidFill>
                  </a:tcPr>
                </a:tc>
                <a:tc>
                  <a:txBody>
                    <a:bodyPr/>
                    <a:lstStyle/>
                    <a:p>
                      <a:pPr indent="0" marL="0">
                        <a:buNone/>
                      </a:pPr>
                      <a:r>
                        <a:rPr lang="en-US" sz="1600" dirty="0">
                          <a:solidFill>
                            <a:srgbClr val="1F1F1F"/>
                          </a:solidFill>
                        </a:rPr>
                        <a:t>Alendronate, risedronate, ibandronate; zoledronic acid (zoledronate)</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2F4F7"/>
                    </a:solidFill>
                  </a:tcPr>
                </a:tc>
              </a:tr>
              <a:tr h="0">
                <a:tc>
                  <a:txBody>
                    <a:bodyPr/>
                    <a:lstStyle/>
                    <a:p>
                      <a:pPr indent="0" marL="0">
                        <a:buNone/>
                      </a:pPr>
                      <a:r>
                        <a:rPr lang="en-US" sz="1600" b="1" dirty="0">
                          <a:solidFill>
                            <a:srgbClr val="1F1F1F"/>
                          </a:solidFill>
                        </a:rPr>
                        <a:t>-sumab</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FFFFF"/>
                    </a:solidFill>
                  </a:tcPr>
                </a:tc>
                <a:tc>
                  <a:txBody>
                    <a:bodyPr/>
                    <a:lstStyle/>
                    <a:p>
                      <a:pPr indent="0" marL="0">
                        <a:buNone/>
                      </a:pPr>
                      <a:r>
                        <a:rPr lang="en-US" sz="1600" dirty="0">
                          <a:solidFill>
                            <a:srgbClr val="1F1F1F"/>
                          </a:solidFill>
                        </a:rPr>
                        <a:t>Monoclonal antibodies (-mab) targeting bone</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FFFFF"/>
                    </a:solidFill>
                  </a:tcPr>
                </a:tc>
                <a:tc>
                  <a:txBody>
                    <a:bodyPr/>
                    <a:lstStyle/>
                    <a:p>
                      <a:pPr indent="0" marL="0">
                        <a:buNone/>
                      </a:pPr>
                      <a:r>
                        <a:rPr lang="en-US" sz="1600" dirty="0">
                          <a:solidFill>
                            <a:srgbClr val="1F1F1F"/>
                          </a:solidFill>
                        </a:rPr>
                        <a:t>Denosumab (RANKL), romosozumab (sclerostin)</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FFFFF"/>
                    </a:solidFill>
                  </a:tcPr>
                </a:tc>
              </a:tr>
              <a:tr h="0">
                <a:tc>
                  <a:txBody>
                    <a:bodyPr/>
                    <a:lstStyle/>
                    <a:p>
                      <a:pPr indent="0" marL="0">
                        <a:buNone/>
                      </a:pPr>
                      <a:r>
                        <a:rPr lang="en-US" sz="1600" b="1" dirty="0">
                          <a:solidFill>
                            <a:srgbClr val="1F1F1F"/>
                          </a:solidFill>
                        </a:rPr>
                        <a:t>-fene</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2F4F7"/>
                    </a:solidFill>
                  </a:tcPr>
                </a:tc>
                <a:tc>
                  <a:txBody>
                    <a:bodyPr/>
                    <a:lstStyle/>
                    <a:p>
                      <a:pPr indent="0" marL="0">
                        <a:buNone/>
                      </a:pPr>
                      <a:r>
                        <a:rPr lang="en-US" sz="1600" dirty="0">
                          <a:solidFill>
                            <a:srgbClr val="1F1F1F"/>
                          </a:solidFill>
                        </a:rPr>
                        <a:t>Selective estrogen receptor modulator (SERM)</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2F4F7"/>
                    </a:solidFill>
                  </a:tcPr>
                </a:tc>
                <a:tc>
                  <a:txBody>
                    <a:bodyPr/>
                    <a:lstStyle/>
                    <a:p>
                      <a:pPr indent="0" marL="0">
                        <a:buNone/>
                      </a:pPr>
                      <a:r>
                        <a:rPr lang="en-US" sz="1600" dirty="0">
                          <a:solidFill>
                            <a:srgbClr val="1F1F1F"/>
                          </a:solidFill>
                        </a:rPr>
                        <a:t>Raloxifene</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2F4F7"/>
                    </a:solidFill>
                  </a:tcPr>
                </a:tc>
              </a:tr>
              <a:tr h="0">
                <a:tc>
                  <a:txBody>
                    <a:bodyPr/>
                    <a:lstStyle/>
                    <a:p>
                      <a:pPr indent="0" marL="0">
                        <a:buNone/>
                      </a:pPr>
                      <a:r>
                        <a:rPr lang="en-US" sz="1600" b="1" dirty="0">
                          <a:solidFill>
                            <a:srgbClr val="1F1F1F"/>
                          </a:solidFill>
                        </a:rPr>
                        <a:t>-tide (peptide)</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FFFFF"/>
                    </a:solidFill>
                  </a:tcPr>
                </a:tc>
                <a:tc>
                  <a:txBody>
                    <a:bodyPr/>
                    <a:lstStyle/>
                    <a:p>
                      <a:pPr indent="0" marL="0">
                        <a:buNone/>
                      </a:pPr>
                      <a:r>
                        <a:rPr lang="en-US" sz="1600" dirty="0">
                          <a:solidFill>
                            <a:srgbClr val="1F1F1F"/>
                          </a:solidFill>
                        </a:rPr>
                        <a:t>PTH analogs (anabolic)</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FFFFF"/>
                    </a:solidFill>
                  </a:tcPr>
                </a:tc>
                <a:tc>
                  <a:txBody>
                    <a:bodyPr/>
                    <a:lstStyle/>
                    <a:p>
                      <a:pPr indent="0" marL="0">
                        <a:buNone/>
                      </a:pPr>
                      <a:r>
                        <a:rPr lang="en-US" sz="1600" dirty="0">
                          <a:solidFill>
                            <a:srgbClr val="1F1F1F"/>
                          </a:solidFill>
                        </a:rPr>
                        <a:t>Teriparatide, abaloparatide</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FFFFF"/>
                    </a:solidFill>
                  </a:tcPr>
                </a:tc>
              </a:tr>
              <a:tr h="0">
                <a:tc>
                  <a:txBody>
                    <a:bodyPr/>
                    <a:lstStyle/>
                    <a:p>
                      <a:pPr indent="0" marL="0">
                        <a:buNone/>
                      </a:pPr>
                      <a:r>
                        <a:rPr lang="en-US" sz="1600" b="1" dirty="0">
                          <a:solidFill>
                            <a:srgbClr val="1F1F1F"/>
                          </a:solidFill>
                        </a:rPr>
                        <a:t>No shared stem</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2F4F7"/>
                    </a:solidFill>
                  </a:tcPr>
                </a:tc>
                <a:tc>
                  <a:txBody>
                    <a:bodyPr/>
                    <a:lstStyle/>
                    <a:p>
                      <a:pPr indent="0" marL="0">
                        <a:buNone/>
                      </a:pPr>
                      <a:r>
                        <a:rPr lang="en-US" sz="1600" dirty="0">
                          <a:solidFill>
                            <a:srgbClr val="1F1F1F"/>
                          </a:solidFill>
                        </a:rPr>
                        <a:t>Calcitonin (hormone)</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2F4F7"/>
                    </a:solidFill>
                  </a:tcPr>
                </a:tc>
                <a:tc>
                  <a:txBody>
                    <a:bodyPr/>
                    <a:lstStyle/>
                    <a:p>
                      <a:pPr indent="0" marL="0">
                        <a:buNone/>
                      </a:pPr>
                      <a:r>
                        <a:rPr lang="en-US" sz="1600" dirty="0">
                          <a:solidFill>
                            <a:srgbClr val="1F1F1F"/>
                          </a:solidFill>
                        </a:rPr>
                        <a:t>Calcitonin</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2F4F7"/>
                    </a:solidFill>
                  </a:tcPr>
                </a:tc>
              </a:tr>
            </a:tbl>
          </a:graphicData>
        </a:graphic>
      </p:graphicFrame>
      <p:sp>
        <p:nvSpPr>
          <p:cNvPr id="8" name="Table sources"/>
          <p:cNvSpPr txBox="1"/>
          <p:nvPr/>
        </p:nvSpPr>
        <p:spPr>
          <a:xfrm>
            <a:off x="548640" y="3966464"/>
            <a:ext cx="11094415" cy="274320"/>
          </a:xfrm>
          <a:prstGeom prst="rect">
            <a:avLst/>
          </a:prstGeom>
          <a:noFill/>
          <a:ln/>
        </p:spPr>
        <p:txBody>
          <a:bodyPr wrap="square" lIns="0" tIns="0" rIns="0" bIns="0" rtlCol="0" anchor="ctr"/>
          <a:lstStyle/>
          <a:p>
            <a:pPr indent="0" marL="0">
              <a:buNone/>
            </a:pPr>
            <a:r>
              <a:rPr lang="en-US" sz="1100" dirty="0">
                <a:solidFill>
                  <a:srgbClr val="666666"/>
                </a:solidFill>
              </a:rPr>
              <a:t>Focus: what tells these apart.  Sources: S62</a:t>
            </a:r>
            <a:endParaRPr lang="en-US" sz="1100" dirty="0"/>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name="Slide 90">
    <p:bg>
      <p:bgPr>
        <a:solidFill>
          <a:srgbClr val="FFFFFF"/>
        </a:solidFill>
      </p:bgPr>
    </p:bg>
    <p:spTree>
      <p:nvGrpSpPr>
        <p:cNvPr id="1" name=""/>
        <p:cNvGrpSpPr/>
        <p:nvPr/>
      </p:nvGrpSpPr>
      <p:grpSpPr>
        <a:xfrm>
          <a:off x="0" y="0"/>
          <a:ext cx="0" cy="0"/>
          <a:chOff x="0" y="0"/>
          <a:chExt cx="0" cy="0"/>
        </a:xfrm>
      </p:grpSpPr>
      <p:sp>
        <p:nvSpPr>
          <p:cNvPr id="2" name="Kicker"/>
          <p:cNvSpPr txBox="1"/>
          <p:nvPr/>
        </p:nvSpPr>
        <p:spPr>
          <a:xfrm>
            <a:off x="548640" y="292608"/>
            <a:ext cx="8076895" cy="274320"/>
          </a:xfrm>
          <a:prstGeom prst="rect">
            <a:avLst/>
          </a:prstGeom>
          <a:noFill/>
          <a:ln/>
        </p:spPr>
        <p:txBody>
          <a:bodyPr wrap="square" lIns="0" tIns="0" rIns="0" bIns="0" rtlCol="0" anchor="ctr"/>
          <a:lstStyle/>
          <a:p>
            <a:pPr indent="0" marL="0">
              <a:buNone/>
            </a:pPr>
            <a:r>
              <a:rPr lang="en-US" sz="1200" b="1" spc="100" kern="0" dirty="0">
                <a:solidFill>
                  <a:srgbClr val="4472C4"/>
                </a:solidFill>
              </a:rPr>
              <a:t>BONE PHARMACOLOGY &amp; OSTEOPOROSIS</a:t>
            </a:r>
            <a:endParaRPr lang="en-US" sz="1200" dirty="0"/>
          </a:p>
        </p:txBody>
      </p:sp>
      <p:sp>
        <p:nvSpPr>
          <p:cNvPr id="3" name="Title"/>
          <p:cNvSpPr txBox="1"/>
          <p:nvPr/>
        </p:nvSpPr>
        <p:spPr>
          <a:xfrm>
            <a:off x="548640" y="566928"/>
            <a:ext cx="8076895" cy="713232"/>
          </a:xfrm>
          <a:prstGeom prst="rect">
            <a:avLst/>
          </a:prstGeom>
          <a:noFill/>
          <a:ln/>
        </p:spPr>
        <p:txBody>
          <a:bodyPr wrap="square" lIns="0" tIns="0" rIns="0" bIns="0" rtlCol="0" anchor="t"/>
          <a:lstStyle/>
          <a:p>
            <a:pPr indent="0" marL="0">
              <a:buNone/>
            </a:pPr>
            <a:r>
              <a:rPr lang="en-US" sz="2100" b="1" dirty="0">
                <a:solidFill>
                  <a:srgbClr val="1F1F1F"/>
                </a:solidFill>
                <a:latin typeface="Calibri" pitchFamily="34" charset="0"/>
                <a:ea typeface="Calibri" pitchFamily="34" charset="-122"/>
                <a:cs typeface="Calibri" pitchFamily="34" charset="-120"/>
              </a:rPr>
              <a:t>Compare: Hormones and drugs in bone mineral homeostasis (textbook)</a:t>
            </a:r>
            <a:endParaRPr lang="en-US" sz="2100" dirty="0"/>
          </a:p>
        </p:txBody>
      </p:sp>
      <p:sp>
        <p:nvSpPr>
          <p:cNvPr id="4" name="Objective chip"/>
          <p:cNvSpPr/>
          <p:nvPr/>
        </p:nvSpPr>
        <p:spPr>
          <a:xfrm>
            <a:off x="8899855" y="365760"/>
            <a:ext cx="2743200" cy="384048"/>
          </a:xfrm>
          <a:prstGeom prst="roundRect">
            <a:avLst>
              <a:gd name="adj" fmla="val 35714"/>
            </a:avLst>
          </a:prstGeom>
          <a:solidFill>
            <a:srgbClr val="E3EBF8"/>
          </a:solidFill>
          <a:ln/>
        </p:spPr>
        <p:txBody>
          <a:bodyPr wrap="square" lIns="25400" tIns="25400" rIns="25400" bIns="25400" rtlCol="0" anchor="ctr"/>
          <a:lstStyle/>
          <a:p>
            <a:pPr algn="ctr" indent="0" marL="0">
              <a:buNone/>
            </a:pPr>
            <a:r>
              <a:rPr lang="en-US" sz="800" b="1" dirty="0">
                <a:solidFill>
                  <a:srgbClr val="2F4F8A"/>
                </a:solidFill>
              </a:rPr>
              <a:t>Objectives: SO3 · SO4 · IO2.1 · IO2.2 · IO2.3 · IO2.4 · IO2.5 · IO2.6</a:t>
            </a:r>
            <a:endParaRPr lang="en-US" sz="800" dirty="0"/>
          </a:p>
        </p:txBody>
      </p:sp>
      <p:sp>
        <p:nvSpPr>
          <p:cNvPr id="5" name="Footer"/>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1000" dirty="0">
                <a:solidFill>
                  <a:srgbClr val="666666"/>
                </a:solidFill>
              </a:rPr>
              <a:t>L04 · Musculoskeletal Pharmacology — Session 2</a:t>
            </a:r>
            <a:endParaRPr lang="en-US" sz="1000" dirty="0"/>
          </a:p>
        </p:txBody>
      </p:sp>
      <p:sp>
        <p:nvSpPr>
          <p:cNvPr id="6" name="Slide number"/>
          <p:cNvSpPr txBox="1"/>
          <p:nvPr/>
        </p:nvSpPr>
        <p:spPr>
          <a:xfrm>
            <a:off x="10728655" y="6419088"/>
            <a:ext cx="914400" cy="274320"/>
          </a:xfrm>
          <a:prstGeom prst="rect">
            <a:avLst/>
          </a:prstGeom>
          <a:noFill/>
          <a:ln/>
        </p:spPr>
        <p:txBody>
          <a:bodyPr wrap="square" lIns="0" tIns="0" rIns="0" bIns="0" rtlCol="0" anchor="ctr"/>
          <a:lstStyle/>
          <a:p>
            <a:pPr algn="r" indent="0" marL="0">
              <a:buNone/>
            </a:pPr>
            <a:r>
              <a:rPr lang="en-US" sz="1000" dirty="0">
                <a:solidFill>
                  <a:srgbClr val="666666"/>
                </a:solidFill>
              </a:rPr>
              <a:t>90</a:t>
            </a:r>
            <a:endParaRPr lang="en-US" sz="1000" dirty="0"/>
          </a:p>
        </p:txBody>
      </p:sp>
      <p:graphicFrame>
        <p:nvGraphicFramePr>
          <p:cNvPr id="91" name="Comparison table"/>
          <p:cNvGraphicFramePr>
            <a:graphicFrameLocks noGrp="1"/>
          </p:cNvGraphicFramePr>
          <p:nvPr>
            <p:extLst>
              <p:ext uri="{D42A27DB-BD31-4B8C-83A1-F6EECF244321}">
                <p14:modId xmlns:p14="http://schemas.microsoft.com/office/powerpoint/2010/main" val="1579011935"/>
              </p:ext>
            </p:extLst>
          </p:nvPr>
        </p:nvGraphicFramePr>
        <p:xfrm>
          <a:off x="548640" y="1325880"/>
          <a:ext cx="11094415" cy="914400"/>
        </p:xfrm>
        <a:graphic>
          <a:graphicData uri="http://schemas.openxmlformats.org/drawingml/2006/table">
            <a:tbl>
              <a:tblPr/>
              <a:tblGrid>
                <a:gridCol w="2377440"/>
                <a:gridCol w="4358488"/>
                <a:gridCol w="4358488"/>
              </a:tblGrid>
              <a:tr h="0">
                <a:tc>
                  <a:txBody>
                    <a:bodyPr/>
                    <a:lstStyle/>
                    <a:p>
                      <a:pPr indent="0" marL="0">
                        <a:buNone/>
                      </a:pPr>
                      <a:r>
                        <a:rPr lang="en-US" sz="1400" b="1" dirty="0">
                          <a:solidFill>
                            <a:srgbClr val="FFFFFF"/>
                          </a:solidFill>
                        </a:rPr>
                        <a:t>Regulator / drug</a:t>
                      </a:r>
                      <a:endParaRPr lang="en-US" sz="14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4472C4"/>
                    </a:solidFill>
                  </a:tcPr>
                </a:tc>
                <a:tc>
                  <a:txBody>
                    <a:bodyPr/>
                    <a:lstStyle/>
                    <a:p>
                      <a:pPr indent="0" marL="0">
                        <a:buNone/>
                      </a:pPr>
                      <a:r>
                        <a:rPr lang="en-US" sz="1400" b="1" dirty="0">
                          <a:solidFill>
                            <a:srgbClr val="FFFFFF"/>
                          </a:solidFill>
                        </a:rPr>
                        <a:t>What it does</a:t>
                      </a:r>
                      <a:endParaRPr lang="en-US" sz="14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4472C4"/>
                    </a:solidFill>
                  </a:tcPr>
                </a:tc>
                <a:tc>
                  <a:txBody>
                    <a:bodyPr/>
                    <a:lstStyle/>
                    <a:p>
                      <a:pPr indent="0" marL="0">
                        <a:buNone/>
                      </a:pPr>
                      <a:r>
                        <a:rPr lang="en-US" sz="1400" b="1" dirty="0">
                          <a:solidFill>
                            <a:srgbClr val="FFFFFF"/>
                          </a:solidFill>
                        </a:rPr>
                        <a:t>Clinical use or point</a:t>
                      </a:r>
                      <a:endParaRPr lang="en-US" sz="14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4472C4"/>
                    </a:solidFill>
                  </a:tcPr>
                </a:tc>
              </a:tr>
              <a:tr h="0">
                <a:tc>
                  <a:txBody>
                    <a:bodyPr/>
                    <a:lstStyle/>
                    <a:p>
                      <a:pPr indent="0" marL="0">
                        <a:buNone/>
                      </a:pPr>
                      <a:r>
                        <a:rPr lang="en-US" sz="1400" b="1" dirty="0">
                          <a:solidFill>
                            <a:srgbClr val="1F1F1F"/>
                          </a:solidFill>
                        </a:rPr>
                        <a:t>Parathyroid hormone (PTH)</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2F4F7"/>
                    </a:solidFill>
                  </a:tcPr>
                </a:tc>
                <a:tc>
                  <a:txBody>
                    <a:bodyPr/>
                    <a:lstStyle/>
                    <a:p>
                      <a:pPr indent="0" marL="0">
                        <a:buNone/>
                      </a:pPr>
                      <a:r>
                        <a:rPr lang="en-US" sz="1400" dirty="0">
                          <a:solidFill>
                            <a:srgbClr val="1F1F1F"/>
                          </a:solidFill>
                        </a:rPr>
                        <a:t>↑ serum calcium, ↓ phosphate; ↑ 1,25(OH)₂D; RANKL via osteoblasts</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2F4F7"/>
                    </a:solidFill>
                  </a:tcPr>
                </a:tc>
                <a:tc>
                  <a:txBody>
                    <a:bodyPr/>
                    <a:lstStyle/>
                    <a:p>
                      <a:pPr indent="0" marL="0">
                        <a:buNone/>
                      </a:pPr>
                      <a:r>
                        <a:rPr lang="en-US" sz="1400" dirty="0">
                          <a:solidFill>
                            <a:srgbClr val="1F1F1F"/>
                          </a:solidFill>
                        </a:rPr>
                        <a:t>Intermittent PTH 1-34 (teriparatide) is anabolic; rhPTH 1-84 for hypoparathyroidism</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2F4F7"/>
                    </a:solidFill>
                  </a:tcPr>
                </a:tc>
              </a:tr>
              <a:tr h="0">
                <a:tc>
                  <a:txBody>
                    <a:bodyPr/>
                    <a:lstStyle/>
                    <a:p>
                      <a:pPr indent="0" marL="0">
                        <a:buNone/>
                      </a:pPr>
                      <a:r>
                        <a:rPr lang="en-US" sz="1400" b="1" dirty="0">
                          <a:solidFill>
                            <a:srgbClr val="1F1F1F"/>
                          </a:solidFill>
                        </a:rPr>
                        <a:t>Vitamin D (1,25-dihydroxyvitamin D)</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FFFFF"/>
                    </a:solidFill>
                  </a:tcPr>
                </a:tc>
                <a:tc>
                  <a:txBody>
                    <a:bodyPr/>
                    <a:lstStyle/>
                    <a:p>
                      <a:pPr indent="0" marL="0">
                        <a:buNone/>
                      </a:pPr>
                      <a:r>
                        <a:rPr lang="en-US" sz="1400" dirty="0">
                          <a:solidFill>
                            <a:srgbClr val="1F1F1F"/>
                          </a:solidFill>
                        </a:rPr>
                        <a:t>↑ gut calcium and phosphate absorption</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FFFFF"/>
                    </a:solidFill>
                  </a:tcPr>
                </a:tc>
                <a:tc>
                  <a:txBody>
                    <a:bodyPr/>
                    <a:lstStyle/>
                    <a:p>
                      <a:pPr indent="0" marL="0">
                        <a:buNone/>
                      </a:pPr>
                      <a:r>
                        <a:rPr lang="en-US" sz="1400" dirty="0">
                          <a:solidFill>
                            <a:srgbClr val="1F1F1F"/>
                          </a:solidFill>
                        </a:rPr>
                        <a:t>Vitamin D preparations: D3 preferred; calcitriol when speed matters</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FFFFF"/>
                    </a:solidFill>
                  </a:tcPr>
                </a:tc>
              </a:tr>
              <a:tr h="0">
                <a:tc>
                  <a:txBody>
                    <a:bodyPr/>
                    <a:lstStyle/>
                    <a:p>
                      <a:pPr indent="0" marL="0">
                        <a:buNone/>
                      </a:pPr>
                      <a:r>
                        <a:rPr lang="en-US" sz="1400" b="1" dirty="0">
                          <a:solidFill>
                            <a:srgbClr val="1F1F1F"/>
                          </a:solidFill>
                        </a:rPr>
                        <a:t>Fibroblast growth factor 23</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2F4F7"/>
                    </a:solidFill>
                  </a:tcPr>
                </a:tc>
                <a:tc>
                  <a:txBody>
                    <a:bodyPr/>
                    <a:lstStyle/>
                    <a:p>
                      <a:pPr indent="0" marL="0">
                        <a:buNone/>
                      </a:pPr>
                      <a:r>
                        <a:rPr lang="en-US" sz="1400" dirty="0">
                          <a:solidFill>
                            <a:srgbClr val="1F1F1F"/>
                          </a:solidFill>
                        </a:rPr>
                        <a:t>↓ phosphate reabsorption and 1,25(OH)₂D</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2F4F7"/>
                    </a:solidFill>
                  </a:tcPr>
                </a:tc>
                <a:tc>
                  <a:txBody>
                    <a:bodyPr/>
                    <a:lstStyle/>
                    <a:p>
                      <a:pPr indent="0" marL="0">
                        <a:buNone/>
                      </a:pPr>
                      <a:r>
                        <a:rPr lang="en-US" sz="1400" dirty="0">
                          <a:solidFill>
                            <a:srgbClr val="1F1F1F"/>
                          </a:solidFill>
                        </a:rPr>
                        <a:t>Burosumab (anti-FGF23) for X-linked hypophosphatemia</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2F4F7"/>
                    </a:solidFill>
                  </a:tcPr>
                </a:tc>
              </a:tr>
              <a:tr h="0">
                <a:tc>
                  <a:txBody>
                    <a:bodyPr/>
                    <a:lstStyle/>
                    <a:p>
                      <a:pPr indent="0" marL="0">
                        <a:buNone/>
                      </a:pPr>
                      <a:r>
                        <a:rPr lang="en-US" sz="1400" b="1" dirty="0">
                          <a:solidFill>
                            <a:srgbClr val="1F1F1F"/>
                          </a:solidFill>
                        </a:rPr>
                        <a:t>Calcitonin (secondary regulator)</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FFFFF"/>
                    </a:solidFill>
                  </a:tcPr>
                </a:tc>
                <a:tc>
                  <a:txBody>
                    <a:bodyPr/>
                    <a:lstStyle/>
                    <a:p>
                      <a:pPr indent="0" marL="0">
                        <a:buNone/>
                      </a:pPr>
                      <a:r>
                        <a:rPr lang="en-US" sz="1400" dirty="0">
                          <a:solidFill>
                            <a:srgbClr val="1F1F1F"/>
                          </a:solidFill>
                        </a:rPr>
                        <a:t>Inhibits osteoclasts; ↓ calcium and phosphate</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FFFFF"/>
                    </a:solidFill>
                  </a:tcPr>
                </a:tc>
                <a:tc>
                  <a:txBody>
                    <a:bodyPr/>
                    <a:lstStyle/>
                    <a:p>
                      <a:pPr indent="0" marL="0">
                        <a:buNone/>
                      </a:pPr>
                      <a:r>
                        <a:rPr lang="en-US" sz="1400" dirty="0">
                          <a:solidFill>
                            <a:srgbClr val="1F1F1F"/>
                          </a:solidFill>
                        </a:rPr>
                        <a:t>Salmon form lasts 40–50 min; Paget, hypercalcemia, osteoporosis (weaker)</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FFFFF"/>
                    </a:solidFill>
                  </a:tcPr>
                </a:tc>
              </a:tr>
              <a:tr h="0">
                <a:tc>
                  <a:txBody>
                    <a:bodyPr/>
                    <a:lstStyle/>
                    <a:p>
                      <a:pPr indent="0" marL="0">
                        <a:buNone/>
                      </a:pPr>
                      <a:r>
                        <a:rPr lang="en-US" sz="1400" b="1" dirty="0">
                          <a:solidFill>
                            <a:srgbClr val="1F1F1F"/>
                          </a:solidFill>
                        </a:rPr>
                        <a:t>Glucocorticoids</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2F4F7"/>
                    </a:solidFill>
                  </a:tcPr>
                </a:tc>
                <a:tc>
                  <a:txBody>
                    <a:bodyPr/>
                    <a:lstStyle/>
                    <a:p>
                      <a:pPr indent="0" marL="0">
                        <a:buNone/>
                      </a:pPr>
                      <a:r>
                        <a:rPr lang="en-US" sz="1400" dirty="0">
                          <a:solidFill>
                            <a:srgbClr val="1F1F1F"/>
                          </a:solidFill>
                        </a:rPr>
                        <a:t>Net bone loss</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2F4F7"/>
                    </a:solidFill>
                  </a:tcPr>
                </a:tc>
                <a:tc>
                  <a:txBody>
                    <a:bodyPr/>
                    <a:lstStyle/>
                    <a:p>
                      <a:pPr indent="0" marL="0">
                        <a:buNone/>
                      </a:pPr>
                      <a:r>
                        <a:rPr lang="en-US" sz="1400" dirty="0">
                          <a:solidFill>
                            <a:srgbClr val="1F1F1F"/>
                          </a:solidFill>
                        </a:rPr>
                        <a:t>Common cause of adult osteoporosis; treat sarcoid/vitamin D hypercalcemia</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2F4F7"/>
                    </a:solidFill>
                  </a:tcPr>
                </a:tc>
              </a:tr>
              <a:tr h="0">
                <a:tc>
                  <a:txBody>
                    <a:bodyPr/>
                    <a:lstStyle/>
                    <a:p>
                      <a:pPr indent="0" marL="0">
                        <a:buNone/>
                      </a:pPr>
                      <a:r>
                        <a:rPr lang="en-US" sz="1400" b="1" dirty="0">
                          <a:solidFill>
                            <a:srgbClr val="1F1F1F"/>
                          </a:solidFill>
                        </a:rPr>
                        <a:t>Estrogens</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FFFFF"/>
                    </a:solidFill>
                  </a:tcPr>
                </a:tc>
                <a:tc>
                  <a:txBody>
                    <a:bodyPr/>
                    <a:lstStyle/>
                    <a:p>
                      <a:pPr indent="0" marL="0">
                        <a:buNone/>
                      </a:pPr>
                      <a:r>
                        <a:rPr lang="en-US" sz="1400" dirty="0">
                          <a:solidFill>
                            <a:srgbClr val="1F1F1F"/>
                          </a:solidFill>
                        </a:rPr>
                        <a:t>Reduce PTH-driven resorption</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FFFFF"/>
                    </a:solidFill>
                  </a:tcPr>
                </a:tc>
                <a:tc>
                  <a:txBody>
                    <a:bodyPr/>
                    <a:lstStyle/>
                    <a:p>
                      <a:pPr indent="0" marL="0">
                        <a:buNone/>
                      </a:pPr>
                      <a:r>
                        <a:rPr lang="en-US" sz="1400" dirty="0">
                          <a:solidFill>
                            <a:srgbClr val="1F1F1F"/>
                          </a:solidFill>
                        </a:rPr>
                        <a:t>Prevent postmenopausal loss; long-term use out of favor → SERMs</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FFFFF"/>
                    </a:solidFill>
                  </a:tcPr>
                </a:tc>
              </a:tr>
            </a:tbl>
          </a:graphicData>
        </a:graphic>
      </p:graphicFrame>
      <p:sp>
        <p:nvSpPr>
          <p:cNvPr id="8" name="Table sources"/>
          <p:cNvSpPr txBox="1"/>
          <p:nvPr/>
        </p:nvSpPr>
        <p:spPr>
          <a:xfrm>
            <a:off x="548640" y="4962144"/>
            <a:ext cx="11094415" cy="274320"/>
          </a:xfrm>
          <a:prstGeom prst="rect">
            <a:avLst/>
          </a:prstGeom>
          <a:noFill/>
          <a:ln/>
        </p:spPr>
        <p:txBody>
          <a:bodyPr wrap="square" lIns="0" tIns="0" rIns="0" bIns="0" rtlCol="0" anchor="ctr"/>
          <a:lstStyle/>
          <a:p>
            <a:pPr indent="0" marL="0">
              <a:buNone/>
            </a:pPr>
            <a:r>
              <a:rPr lang="en-US" sz="1100" dirty="0">
                <a:solidFill>
                  <a:srgbClr val="666666"/>
                </a:solidFill>
              </a:rPr>
              <a:t>Focus: what tells these apart.  Sources: p. 813; p. 815; p. 816; p. 817; p. 818; p. 819; p. 820; p. 821; p. 824; p. 825</a:t>
            </a:r>
            <a:endParaRPr lang="en-US" sz="1100" dirty="0"/>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name="Slide 91">
    <p:bg>
      <p:bgPr>
        <a:solidFill>
          <a:srgbClr val="FFFFFF"/>
        </a:solidFill>
      </p:bgPr>
    </p:bg>
    <p:spTree>
      <p:nvGrpSpPr>
        <p:cNvPr id="1" name=""/>
        <p:cNvGrpSpPr/>
        <p:nvPr/>
      </p:nvGrpSpPr>
      <p:grpSpPr>
        <a:xfrm>
          <a:off x="0" y="0"/>
          <a:ext cx="0" cy="0"/>
          <a:chOff x="0" y="0"/>
          <a:chExt cx="0" cy="0"/>
        </a:xfrm>
      </p:grpSpPr>
      <p:sp>
        <p:nvSpPr>
          <p:cNvPr id="2" name="Kicker"/>
          <p:cNvSpPr txBox="1"/>
          <p:nvPr/>
        </p:nvSpPr>
        <p:spPr>
          <a:xfrm>
            <a:off x="548640" y="292608"/>
            <a:ext cx="8076895" cy="274320"/>
          </a:xfrm>
          <a:prstGeom prst="rect">
            <a:avLst/>
          </a:prstGeom>
          <a:noFill/>
          <a:ln/>
        </p:spPr>
        <p:txBody>
          <a:bodyPr wrap="square" lIns="0" tIns="0" rIns="0" bIns="0" rtlCol="0" anchor="ctr"/>
          <a:lstStyle/>
          <a:p>
            <a:pPr indent="0" marL="0">
              <a:buNone/>
            </a:pPr>
            <a:r>
              <a:rPr lang="en-US" sz="1200" b="1" spc="100" kern="0" dirty="0">
                <a:solidFill>
                  <a:srgbClr val="4472C4"/>
                </a:solidFill>
              </a:rPr>
              <a:t>BONE PHARMACOLOGY &amp; OSTEOPOROSIS</a:t>
            </a:r>
            <a:endParaRPr lang="en-US" sz="1200" dirty="0"/>
          </a:p>
        </p:txBody>
      </p:sp>
      <p:sp>
        <p:nvSpPr>
          <p:cNvPr id="3" name="Title"/>
          <p:cNvSpPr txBox="1"/>
          <p:nvPr/>
        </p:nvSpPr>
        <p:spPr>
          <a:xfrm>
            <a:off x="548640" y="566928"/>
            <a:ext cx="8076895" cy="713232"/>
          </a:xfrm>
          <a:prstGeom prst="rect">
            <a:avLst/>
          </a:prstGeom>
          <a:noFill/>
          <a:ln/>
        </p:spPr>
        <p:txBody>
          <a:bodyPr wrap="square" lIns="0" tIns="0" rIns="0" bIns="0" rtlCol="0" anchor="t"/>
          <a:lstStyle/>
          <a:p>
            <a:pPr indent="0" marL="0">
              <a:buNone/>
            </a:pPr>
            <a:r>
              <a:rPr lang="en-US" sz="2200" b="1" dirty="0">
                <a:solidFill>
                  <a:srgbClr val="1F1F1F"/>
                </a:solidFill>
                <a:latin typeface="Calibri" pitchFamily="34" charset="0"/>
                <a:ea typeface="Calibri" pitchFamily="34" charset="-122"/>
                <a:cs typeface="Calibri" pitchFamily="34" charset="-120"/>
              </a:rPr>
              <a:t>Compare: Hormones and drugs in bone mineral homeostasis (textbook) (cont.)</a:t>
            </a:r>
            <a:endParaRPr lang="en-US" sz="2200" dirty="0"/>
          </a:p>
        </p:txBody>
      </p:sp>
      <p:sp>
        <p:nvSpPr>
          <p:cNvPr id="4" name="Objective chip"/>
          <p:cNvSpPr/>
          <p:nvPr/>
        </p:nvSpPr>
        <p:spPr>
          <a:xfrm>
            <a:off x="8899855" y="365760"/>
            <a:ext cx="2743200" cy="384048"/>
          </a:xfrm>
          <a:prstGeom prst="roundRect">
            <a:avLst>
              <a:gd name="adj" fmla="val 35714"/>
            </a:avLst>
          </a:prstGeom>
          <a:solidFill>
            <a:srgbClr val="E3EBF8"/>
          </a:solidFill>
          <a:ln/>
        </p:spPr>
        <p:txBody>
          <a:bodyPr wrap="square" lIns="25400" tIns="25400" rIns="25400" bIns="25400" rtlCol="0" anchor="ctr"/>
          <a:lstStyle/>
          <a:p>
            <a:pPr algn="ctr" indent="0" marL="0">
              <a:buNone/>
            </a:pPr>
            <a:r>
              <a:rPr lang="en-US" sz="800" b="1" dirty="0">
                <a:solidFill>
                  <a:srgbClr val="2F4F8A"/>
                </a:solidFill>
              </a:rPr>
              <a:t>Objectives: SO3 · SO4 · IO2.1 · IO2.2 · IO2.3 · IO2.4 · IO2.5 · IO2.6</a:t>
            </a:r>
            <a:endParaRPr lang="en-US" sz="800" dirty="0"/>
          </a:p>
        </p:txBody>
      </p:sp>
      <p:sp>
        <p:nvSpPr>
          <p:cNvPr id="5" name="Footer"/>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1000" dirty="0">
                <a:solidFill>
                  <a:srgbClr val="666666"/>
                </a:solidFill>
              </a:rPr>
              <a:t>L04 · Musculoskeletal Pharmacology — Session 2</a:t>
            </a:r>
            <a:endParaRPr lang="en-US" sz="1000" dirty="0"/>
          </a:p>
        </p:txBody>
      </p:sp>
      <p:sp>
        <p:nvSpPr>
          <p:cNvPr id="6" name="Slide number"/>
          <p:cNvSpPr txBox="1"/>
          <p:nvPr/>
        </p:nvSpPr>
        <p:spPr>
          <a:xfrm>
            <a:off x="10728655" y="6419088"/>
            <a:ext cx="914400" cy="274320"/>
          </a:xfrm>
          <a:prstGeom prst="rect">
            <a:avLst/>
          </a:prstGeom>
          <a:noFill/>
          <a:ln/>
        </p:spPr>
        <p:txBody>
          <a:bodyPr wrap="square" lIns="0" tIns="0" rIns="0" bIns="0" rtlCol="0" anchor="ctr"/>
          <a:lstStyle/>
          <a:p>
            <a:pPr algn="r" indent="0" marL="0">
              <a:buNone/>
            </a:pPr>
            <a:r>
              <a:rPr lang="en-US" sz="1000" dirty="0">
                <a:solidFill>
                  <a:srgbClr val="666666"/>
                </a:solidFill>
              </a:rPr>
              <a:t>91</a:t>
            </a:r>
            <a:endParaRPr lang="en-US" sz="1000" dirty="0"/>
          </a:p>
        </p:txBody>
      </p:sp>
      <p:graphicFrame>
        <p:nvGraphicFramePr>
          <p:cNvPr id="92" name="Comparison table"/>
          <p:cNvGraphicFramePr>
            <a:graphicFrameLocks noGrp="1"/>
          </p:cNvGraphicFramePr>
          <p:nvPr>
            <p:extLst>
              <p:ext uri="{D42A27DB-BD31-4B8C-83A1-F6EECF244321}">
                <p14:modId xmlns:p14="http://schemas.microsoft.com/office/powerpoint/2010/main" val="1579011935"/>
              </p:ext>
            </p:extLst>
          </p:nvPr>
        </p:nvGraphicFramePr>
        <p:xfrm>
          <a:off x="548640" y="1325880"/>
          <a:ext cx="11094415" cy="914400"/>
        </p:xfrm>
        <a:graphic>
          <a:graphicData uri="http://schemas.openxmlformats.org/drawingml/2006/table">
            <a:tbl>
              <a:tblPr/>
              <a:tblGrid>
                <a:gridCol w="2377440"/>
                <a:gridCol w="4358488"/>
                <a:gridCol w="4358488"/>
              </a:tblGrid>
              <a:tr h="0">
                <a:tc>
                  <a:txBody>
                    <a:bodyPr/>
                    <a:lstStyle/>
                    <a:p>
                      <a:pPr indent="0" marL="0">
                        <a:buNone/>
                      </a:pPr>
                      <a:r>
                        <a:rPr lang="en-US" sz="1400" b="1" dirty="0">
                          <a:solidFill>
                            <a:srgbClr val="FFFFFF"/>
                          </a:solidFill>
                        </a:rPr>
                        <a:t>Regulator / drug</a:t>
                      </a:r>
                      <a:endParaRPr lang="en-US" sz="14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4472C4"/>
                    </a:solidFill>
                  </a:tcPr>
                </a:tc>
                <a:tc>
                  <a:txBody>
                    <a:bodyPr/>
                    <a:lstStyle/>
                    <a:p>
                      <a:pPr indent="0" marL="0">
                        <a:buNone/>
                      </a:pPr>
                      <a:r>
                        <a:rPr lang="en-US" sz="1400" b="1" dirty="0">
                          <a:solidFill>
                            <a:srgbClr val="FFFFFF"/>
                          </a:solidFill>
                        </a:rPr>
                        <a:t>What it does</a:t>
                      </a:r>
                      <a:endParaRPr lang="en-US" sz="14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4472C4"/>
                    </a:solidFill>
                  </a:tcPr>
                </a:tc>
                <a:tc>
                  <a:txBody>
                    <a:bodyPr/>
                    <a:lstStyle/>
                    <a:p>
                      <a:pPr indent="0" marL="0">
                        <a:buNone/>
                      </a:pPr>
                      <a:r>
                        <a:rPr lang="en-US" sz="1400" b="1" dirty="0">
                          <a:solidFill>
                            <a:srgbClr val="FFFFFF"/>
                          </a:solidFill>
                        </a:rPr>
                        <a:t>Clinical use or point</a:t>
                      </a:r>
                      <a:endParaRPr lang="en-US" sz="14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4472C4"/>
                    </a:solidFill>
                  </a:tcPr>
                </a:tc>
              </a:tr>
              <a:tr h="0">
                <a:tc>
                  <a:txBody>
                    <a:bodyPr/>
                    <a:lstStyle/>
                    <a:p>
                      <a:pPr indent="0" marL="0">
                        <a:buNone/>
                      </a:pPr>
                      <a:r>
                        <a:rPr lang="en-US" sz="1400" b="1" dirty="0">
                          <a:solidFill>
                            <a:srgbClr val="1F1F1F"/>
                          </a:solidFill>
                        </a:rPr>
                        <a:t>Sclerostin antibodies (romosozumab)</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2F4F7"/>
                    </a:solidFill>
                  </a:tcPr>
                </a:tc>
                <a:tc>
                  <a:txBody>
                    <a:bodyPr/>
                    <a:lstStyle/>
                    <a:p>
                      <a:pPr indent="0" marL="0">
                        <a:buNone/>
                      </a:pPr>
                      <a:r>
                        <a:rPr lang="en-US" sz="1400" dirty="0">
                          <a:solidFill>
                            <a:srgbClr val="1F1F1F"/>
                          </a:solidFill>
                        </a:rPr>
                        <a:t>Unblock Wnt → osteoblasts; ↓ resorption</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2F4F7"/>
                    </a:solidFill>
                  </a:tcPr>
                </a:tc>
                <a:tc>
                  <a:txBody>
                    <a:bodyPr/>
                    <a:lstStyle/>
                    <a:p>
                      <a:pPr indent="0" marL="0">
                        <a:buNone/>
                      </a:pPr>
                      <a:r>
                        <a:rPr lang="en-US" sz="1400" dirty="0">
                          <a:solidFill>
                            <a:srgbClr val="1F1F1F"/>
                          </a:solidFill>
                        </a:rPr>
                        <a:t>1 year, then antiresorptive; MI/stroke boxed warning</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2F4F7"/>
                    </a:solidFill>
                  </a:tcPr>
                </a:tc>
              </a:tr>
              <a:tr h="0">
                <a:tc>
                  <a:txBody>
                    <a:bodyPr/>
                    <a:lstStyle/>
                    <a:p>
                      <a:pPr indent="0" marL="0">
                        <a:buNone/>
                      </a:pPr>
                      <a:r>
                        <a:rPr lang="en-US" sz="1400" b="1" dirty="0">
                          <a:solidFill>
                            <a:srgbClr val="1F1F1F"/>
                          </a:solidFill>
                        </a:rPr>
                        <a:t>Calcimimetics (cinacalcet, etelcalcetide)</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FFFFF"/>
                    </a:solidFill>
                  </a:tcPr>
                </a:tc>
                <a:tc>
                  <a:txBody>
                    <a:bodyPr/>
                    <a:lstStyle/>
                    <a:p>
                      <a:pPr indent="0" marL="0">
                        <a:buNone/>
                      </a:pPr>
                      <a:r>
                        <a:rPr lang="en-US" sz="1400" dirty="0">
                          <a:solidFill>
                            <a:srgbClr val="1F1F1F"/>
                          </a:solidFill>
                        </a:rPr>
                        <a:t>Activate the calcium-sensing receptor → ↓ PTH</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FFFFF"/>
                    </a:solidFill>
                  </a:tcPr>
                </a:tc>
                <a:tc>
                  <a:txBody>
                    <a:bodyPr/>
                    <a:lstStyle/>
                    <a:p>
                      <a:pPr indent="0" marL="0">
                        <a:buNone/>
                      </a:pPr>
                      <a:r>
                        <a:rPr lang="en-US" sz="1400" dirty="0">
                          <a:solidFill>
                            <a:srgbClr val="1F1F1F"/>
                          </a:solidFill>
                        </a:rPr>
                        <a:t>Secondary hyperparathyroidism in CKD; cinacalcet 30 → 90 mg</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FFFFF"/>
                    </a:solidFill>
                  </a:tcPr>
                </a:tc>
              </a:tr>
              <a:tr h="0">
                <a:tc>
                  <a:txBody>
                    <a:bodyPr/>
                    <a:lstStyle/>
                    <a:p>
                      <a:pPr indent="0" marL="0">
                        <a:buNone/>
                      </a:pPr>
                      <a:r>
                        <a:rPr lang="en-US" sz="1400" b="1" dirty="0">
                          <a:solidFill>
                            <a:srgbClr val="1F1F1F"/>
                          </a:solidFill>
                        </a:rPr>
                        <a:t>Thiazide diuretics</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2F4F7"/>
                    </a:solidFill>
                  </a:tcPr>
                </a:tc>
                <a:tc>
                  <a:txBody>
                    <a:bodyPr/>
                    <a:lstStyle/>
                    <a:p>
                      <a:pPr indent="0" marL="0">
                        <a:buNone/>
                      </a:pPr>
                      <a:r>
                        <a:rPr lang="en-US" sz="1400" dirty="0">
                          <a:solidFill>
                            <a:srgbClr val="1F1F1F"/>
                          </a:solidFill>
                        </a:rPr>
                        <a:t>↓ renal calcium excretion</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2F4F7"/>
                    </a:solidFill>
                  </a:tcPr>
                </a:tc>
                <a:tc>
                  <a:txBody>
                    <a:bodyPr/>
                    <a:lstStyle/>
                    <a:p>
                      <a:pPr indent="0" marL="0">
                        <a:buNone/>
                      </a:pPr>
                      <a:r>
                        <a:rPr lang="en-US" sz="1400" dirty="0">
                          <a:solidFill>
                            <a:srgbClr val="1F1F1F"/>
                          </a:solidFill>
                        </a:rPr>
                        <a:t>Idiopathic hypercalciuria stones; avoid loop diuretics there</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2F4F7"/>
                    </a:solidFill>
                  </a:tcPr>
                </a:tc>
              </a:tr>
              <a:tr h="0">
                <a:tc>
                  <a:txBody>
                    <a:bodyPr/>
                    <a:lstStyle/>
                    <a:p>
                      <a:pPr indent="0" marL="0">
                        <a:buNone/>
                      </a:pPr>
                      <a:r>
                        <a:rPr lang="en-US" sz="1400" b="1" dirty="0">
                          <a:solidFill>
                            <a:srgbClr val="1F1F1F"/>
                          </a:solidFill>
                        </a:rPr>
                        <a:t>Fluoride</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FFFFF"/>
                    </a:solidFill>
                  </a:tcPr>
                </a:tc>
                <a:tc>
                  <a:txBody>
                    <a:bodyPr/>
                    <a:lstStyle/>
                    <a:p>
                      <a:pPr indent="0" marL="0">
                        <a:buNone/>
                      </a:pPr>
                      <a:r>
                        <a:rPr lang="en-US" sz="1400" dirty="0">
                          <a:solidFill>
                            <a:srgbClr val="1F1F1F"/>
                          </a:solidFill>
                        </a:rPr>
                        <a:t>Stabilizes hydroxyapatite</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FFFFF"/>
                    </a:solidFill>
                  </a:tcPr>
                </a:tc>
                <a:tc>
                  <a:txBody>
                    <a:bodyPr/>
                    <a:lstStyle/>
                    <a:p>
                      <a:pPr indent="0" marL="0">
                        <a:buNone/>
                      </a:pPr>
                      <a:r>
                        <a:rPr lang="en-US" sz="1400" dirty="0">
                          <a:solidFill>
                            <a:srgbClr val="1F1F1F"/>
                          </a:solidFill>
                        </a:rPr>
                        <a:t>Dental caries; not FDA approved for osteoporosis (fractures not reduced)</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FFFFF"/>
                    </a:solidFill>
                  </a:tcPr>
                </a:tc>
              </a:tr>
              <a:tr h="0">
                <a:tc>
                  <a:txBody>
                    <a:bodyPr/>
                    <a:lstStyle/>
                    <a:p>
                      <a:pPr indent="0" marL="0">
                        <a:buNone/>
                      </a:pPr>
                      <a:r>
                        <a:rPr lang="en-US" sz="1400" b="1" dirty="0">
                          <a:solidFill>
                            <a:srgbClr val="1F1F1F"/>
                          </a:solidFill>
                        </a:rPr>
                        <a:t>Strontium ranelate</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2F4F7"/>
                    </a:solidFill>
                  </a:tcPr>
                </a:tc>
                <a:tc>
                  <a:txBody>
                    <a:bodyPr/>
                    <a:lstStyle/>
                    <a:p>
                      <a:pPr indent="0" marL="0">
                        <a:buNone/>
                      </a:pPr>
                      <a:r>
                        <a:rPr lang="en-US" sz="1400" dirty="0">
                          <a:solidFill>
                            <a:srgbClr val="1F1F1F"/>
                          </a:solidFill>
                        </a:rPr>
                        <a:t>↓ resorption, ↑ formation</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2F4F7"/>
                    </a:solidFill>
                  </a:tcPr>
                </a:tc>
                <a:tc>
                  <a:txBody>
                    <a:bodyPr/>
                    <a:lstStyle/>
                    <a:p>
                      <a:pPr indent="0" marL="0">
                        <a:buNone/>
                      </a:pPr>
                      <a:r>
                        <a:rPr lang="en-US" sz="1400" dirty="0">
                          <a:solidFill>
                            <a:srgbClr val="1F1F1F"/>
                          </a:solidFill>
                        </a:rPr>
                        <a:t>Europe only; not approved in the USA</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2F4F7"/>
                    </a:solidFill>
                  </a:tcPr>
                </a:tc>
              </a:tr>
            </a:tbl>
          </a:graphicData>
        </a:graphic>
      </p:graphicFrame>
      <p:sp>
        <p:nvSpPr>
          <p:cNvPr id="8" name="Table sources"/>
          <p:cNvSpPr txBox="1"/>
          <p:nvPr/>
        </p:nvSpPr>
        <p:spPr>
          <a:xfrm>
            <a:off x="548640" y="4400296"/>
            <a:ext cx="11094415" cy="274320"/>
          </a:xfrm>
          <a:prstGeom prst="rect">
            <a:avLst/>
          </a:prstGeom>
          <a:noFill/>
          <a:ln/>
        </p:spPr>
        <p:txBody>
          <a:bodyPr wrap="square" lIns="0" tIns="0" rIns="0" bIns="0" rtlCol="0" anchor="ctr"/>
          <a:lstStyle/>
          <a:p>
            <a:pPr indent="0" marL="0">
              <a:buNone/>
            </a:pPr>
            <a:r>
              <a:rPr lang="en-US" sz="1100" dirty="0">
                <a:solidFill>
                  <a:srgbClr val="666666"/>
                </a:solidFill>
              </a:rPr>
              <a:t>Focus: what tells these apart.  Sources: p. 813; p. 815; p. 816; p. 817; p. 818; p. 819; p. 820; p. 821; p. 824; p. 825</a:t>
            </a:r>
            <a:endParaRPr lang="en-US" sz="1100" dirty="0"/>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name="Slide 92">
    <p:bg>
      <p:bgPr>
        <a:solidFill>
          <a:srgbClr val="FFFFFF"/>
        </a:solidFill>
      </p:bgPr>
    </p:bg>
    <p:spTree>
      <p:nvGrpSpPr>
        <p:cNvPr id="1" name=""/>
        <p:cNvGrpSpPr/>
        <p:nvPr/>
      </p:nvGrpSpPr>
      <p:grpSpPr>
        <a:xfrm>
          <a:off x="0" y="0"/>
          <a:ext cx="0" cy="0"/>
          <a:chOff x="0" y="0"/>
          <a:chExt cx="0" cy="0"/>
        </a:xfrm>
      </p:grpSpPr>
      <p:sp>
        <p:nvSpPr>
          <p:cNvPr id="2" name="Kicker"/>
          <p:cNvSpPr txBox="1"/>
          <p:nvPr/>
        </p:nvSpPr>
        <p:spPr>
          <a:xfrm>
            <a:off x="548640" y="292608"/>
            <a:ext cx="8076895" cy="274320"/>
          </a:xfrm>
          <a:prstGeom prst="rect">
            <a:avLst/>
          </a:prstGeom>
          <a:noFill/>
          <a:ln/>
        </p:spPr>
        <p:txBody>
          <a:bodyPr wrap="square" lIns="0" tIns="0" rIns="0" bIns="0" rtlCol="0" anchor="ctr"/>
          <a:lstStyle/>
          <a:p>
            <a:pPr indent="0" marL="0">
              <a:buNone/>
            </a:pPr>
            <a:r>
              <a:rPr lang="en-US" sz="1200" b="1" spc="100" kern="0" dirty="0">
                <a:solidFill>
                  <a:srgbClr val="4472C4"/>
                </a:solidFill>
              </a:rPr>
              <a:t>BONE PHARMACOLOGY &amp; OSTEOPOROSIS</a:t>
            </a:r>
            <a:endParaRPr lang="en-US" sz="1200" dirty="0"/>
          </a:p>
        </p:txBody>
      </p:sp>
      <p:sp>
        <p:nvSpPr>
          <p:cNvPr id="3" name="Title"/>
          <p:cNvSpPr txBox="1"/>
          <p:nvPr/>
        </p:nvSpPr>
        <p:spPr>
          <a:xfrm>
            <a:off x="548640" y="566928"/>
            <a:ext cx="8076895" cy="713232"/>
          </a:xfrm>
          <a:prstGeom prst="rect">
            <a:avLst/>
          </a:prstGeom>
          <a:noFill/>
          <a:ln/>
        </p:spPr>
        <p:txBody>
          <a:bodyPr wrap="square" lIns="0" tIns="0" rIns="0" bIns="0" rtlCol="0" anchor="t"/>
          <a:lstStyle/>
          <a:p>
            <a:pPr indent="0" marL="0">
              <a:buNone/>
            </a:pPr>
            <a:r>
              <a:rPr lang="en-US" sz="2200" b="1" dirty="0">
                <a:solidFill>
                  <a:srgbClr val="1F1F1F"/>
                </a:solidFill>
                <a:latin typeface="Calibri" pitchFamily="34" charset="0"/>
                <a:ea typeface="Calibri" pitchFamily="34" charset="-122"/>
                <a:cs typeface="Calibri" pitchFamily="34" charset="-120"/>
              </a:rPr>
              <a:t>Compare: Calcium and phosphate disorders (textbook, clinical pharmacology)</a:t>
            </a:r>
            <a:endParaRPr lang="en-US" sz="2200" dirty="0"/>
          </a:p>
        </p:txBody>
      </p:sp>
      <p:sp>
        <p:nvSpPr>
          <p:cNvPr id="4" name="Objective chip"/>
          <p:cNvSpPr/>
          <p:nvPr/>
        </p:nvSpPr>
        <p:spPr>
          <a:xfrm>
            <a:off x="8899855" y="365760"/>
            <a:ext cx="2743200" cy="384048"/>
          </a:xfrm>
          <a:prstGeom prst="roundRect">
            <a:avLst>
              <a:gd name="adj" fmla="val 35714"/>
            </a:avLst>
          </a:prstGeom>
          <a:solidFill>
            <a:srgbClr val="E3EBF8"/>
          </a:solidFill>
          <a:ln/>
        </p:spPr>
        <p:txBody>
          <a:bodyPr wrap="square" lIns="25400" tIns="25400" rIns="25400" bIns="25400" rtlCol="0" anchor="ctr"/>
          <a:lstStyle/>
          <a:p>
            <a:pPr algn="ctr" indent="0" marL="0">
              <a:buNone/>
            </a:pPr>
            <a:r>
              <a:rPr lang="en-US" sz="800" b="1" dirty="0">
                <a:solidFill>
                  <a:srgbClr val="2F4F8A"/>
                </a:solidFill>
              </a:rPr>
              <a:t>Objectives: SO3 · SO4 · IO2.1 · IO2.2 · IO2.3 · IO2.4 · IO2.5 · IO2.6</a:t>
            </a:r>
            <a:endParaRPr lang="en-US" sz="800" dirty="0"/>
          </a:p>
        </p:txBody>
      </p:sp>
      <p:sp>
        <p:nvSpPr>
          <p:cNvPr id="5" name="Footer"/>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1000" dirty="0">
                <a:solidFill>
                  <a:srgbClr val="666666"/>
                </a:solidFill>
              </a:rPr>
              <a:t>L04 · Musculoskeletal Pharmacology — Session 2</a:t>
            </a:r>
            <a:endParaRPr lang="en-US" sz="1000" dirty="0"/>
          </a:p>
        </p:txBody>
      </p:sp>
      <p:sp>
        <p:nvSpPr>
          <p:cNvPr id="6" name="Slide number"/>
          <p:cNvSpPr txBox="1"/>
          <p:nvPr/>
        </p:nvSpPr>
        <p:spPr>
          <a:xfrm>
            <a:off x="10728655" y="6419088"/>
            <a:ext cx="914400" cy="274320"/>
          </a:xfrm>
          <a:prstGeom prst="rect">
            <a:avLst/>
          </a:prstGeom>
          <a:noFill/>
          <a:ln/>
        </p:spPr>
        <p:txBody>
          <a:bodyPr wrap="square" lIns="0" tIns="0" rIns="0" bIns="0" rtlCol="0" anchor="ctr"/>
          <a:lstStyle/>
          <a:p>
            <a:pPr algn="r" indent="0" marL="0">
              <a:buNone/>
            </a:pPr>
            <a:r>
              <a:rPr lang="en-US" sz="1000" dirty="0">
                <a:solidFill>
                  <a:srgbClr val="666666"/>
                </a:solidFill>
              </a:rPr>
              <a:t>92</a:t>
            </a:r>
            <a:endParaRPr lang="en-US" sz="1000" dirty="0"/>
          </a:p>
        </p:txBody>
      </p:sp>
      <p:graphicFrame>
        <p:nvGraphicFramePr>
          <p:cNvPr id="93" name="Comparison table"/>
          <p:cNvGraphicFramePr>
            <a:graphicFrameLocks noGrp="1"/>
          </p:cNvGraphicFramePr>
          <p:nvPr>
            <p:extLst>
              <p:ext uri="{D42A27DB-BD31-4B8C-83A1-F6EECF244321}">
                <p14:modId xmlns:p14="http://schemas.microsoft.com/office/powerpoint/2010/main" val="1579011935"/>
              </p:ext>
            </p:extLst>
          </p:nvPr>
        </p:nvGraphicFramePr>
        <p:xfrm>
          <a:off x="548640" y="1325880"/>
          <a:ext cx="11094415" cy="914400"/>
        </p:xfrm>
        <a:graphic>
          <a:graphicData uri="http://schemas.openxmlformats.org/drawingml/2006/table">
            <a:tbl>
              <a:tblPr/>
              <a:tblGrid>
                <a:gridCol w="2377440"/>
                <a:gridCol w="4358488"/>
                <a:gridCol w="4358488"/>
              </a:tblGrid>
              <a:tr h="0">
                <a:tc>
                  <a:txBody>
                    <a:bodyPr/>
                    <a:lstStyle/>
                    <a:p>
                      <a:pPr indent="0" marL="0">
                        <a:buNone/>
                      </a:pPr>
                      <a:r>
                        <a:rPr lang="en-US" sz="1400" b="1" dirty="0">
                          <a:solidFill>
                            <a:srgbClr val="FFFFFF"/>
                          </a:solidFill>
                        </a:rPr>
                        <a:t>Disorder</a:t>
                      </a:r>
                      <a:endParaRPr lang="en-US" sz="14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4472C4"/>
                    </a:solidFill>
                  </a:tcPr>
                </a:tc>
                <a:tc>
                  <a:txBody>
                    <a:bodyPr/>
                    <a:lstStyle/>
                    <a:p>
                      <a:pPr indent="0" marL="0">
                        <a:buNone/>
                      </a:pPr>
                      <a:r>
                        <a:rPr lang="en-US" sz="1400" b="1" dirty="0">
                          <a:solidFill>
                            <a:srgbClr val="FFFFFF"/>
                          </a:solidFill>
                        </a:rPr>
                        <a:t>Drug approach</a:t>
                      </a:r>
                      <a:endParaRPr lang="en-US" sz="14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4472C4"/>
                    </a:solidFill>
                  </a:tcPr>
                </a:tc>
                <a:tc>
                  <a:txBody>
                    <a:bodyPr/>
                    <a:lstStyle/>
                    <a:p>
                      <a:pPr indent="0" marL="0">
                        <a:buNone/>
                      </a:pPr>
                      <a:r>
                        <a:rPr lang="en-US" sz="1400" b="1" dirty="0">
                          <a:solidFill>
                            <a:srgbClr val="FFFFFF"/>
                          </a:solidFill>
                        </a:rPr>
                        <a:t>Pearl</a:t>
                      </a:r>
                      <a:endParaRPr lang="en-US" sz="14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4472C4"/>
                    </a:solidFill>
                  </a:tcPr>
                </a:tc>
              </a:tr>
              <a:tr h="0">
                <a:tc>
                  <a:txBody>
                    <a:bodyPr/>
                    <a:lstStyle/>
                    <a:p>
                      <a:pPr indent="0" marL="0">
                        <a:buNone/>
                      </a:pPr>
                      <a:r>
                        <a:rPr lang="en-US" sz="1400" b="1" dirty="0">
                          <a:solidFill>
                            <a:srgbClr val="1F1F1F"/>
                          </a:solidFill>
                        </a:rPr>
                        <a:t>Hypercalcemia</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2F4F7"/>
                    </a:solidFill>
                  </a:tcPr>
                </a:tc>
                <a:tc>
                  <a:txBody>
                    <a:bodyPr/>
                    <a:lstStyle/>
                    <a:p>
                      <a:pPr indent="0" marL="0">
                        <a:buNone/>
                      </a:pPr>
                      <a:r>
                        <a:rPr lang="en-US" sz="1400" dirty="0">
                          <a:solidFill>
                            <a:srgbClr val="1F1F1F"/>
                          </a:solidFill>
                        </a:rPr>
                        <a:t>Saline diuresis 500–1000 mL/h, then furosemide; pamidronate 60–90 mg or zoledronate 4 mg IV; calcitonin</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2F4F7"/>
                    </a:solidFill>
                  </a:tcPr>
                </a:tc>
                <a:tc>
                  <a:txBody>
                    <a:bodyPr/>
                    <a:lstStyle/>
                    <a:p>
                      <a:pPr indent="0" marL="0">
                        <a:buNone/>
                      </a:pPr>
                      <a:r>
                        <a:rPr lang="en-US" sz="1400" dirty="0">
                          <a:solidFill>
                            <a:srgbClr val="1F1F1F"/>
                          </a:solidFill>
                        </a:rPr>
                        <a:t>Calcitonin acts in 4–6 h; gallium nitrate seldom used; glucocorticoids for sarcoid, vitamin D, myeloma</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2F4F7"/>
                    </a:solidFill>
                  </a:tcPr>
                </a:tc>
              </a:tr>
              <a:tr h="0">
                <a:tc>
                  <a:txBody>
                    <a:bodyPr/>
                    <a:lstStyle/>
                    <a:p>
                      <a:pPr indent="0" marL="0">
                        <a:buNone/>
                      </a:pPr>
                      <a:r>
                        <a:rPr lang="en-US" sz="1400" b="1" dirty="0">
                          <a:solidFill>
                            <a:srgbClr val="1F1F1F"/>
                          </a:solidFill>
                        </a:rPr>
                        <a:t>Hypocalcemia</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FFFFF"/>
                    </a:solidFill>
                  </a:tcPr>
                </a:tc>
                <a:tc>
                  <a:txBody>
                    <a:bodyPr/>
                    <a:lstStyle/>
                    <a:p>
                      <a:pPr indent="0" marL="0">
                        <a:buNone/>
                      </a:pPr>
                      <a:r>
                        <a:rPr lang="en-US" sz="1400" dirty="0">
                          <a:solidFill>
                            <a:srgbClr val="1F1F1F"/>
                          </a:solidFill>
                        </a:rPr>
                        <a:t>IV 10% calcium gluconate slowly; oral 1000–1500 mg elemental/day; calcitriol 0.25–1 mcg</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FFFFF"/>
                    </a:solidFill>
                  </a:tcPr>
                </a:tc>
                <a:tc>
                  <a:txBody>
                    <a:bodyPr/>
                    <a:lstStyle/>
                    <a:p>
                      <a:pPr indent="0" marL="0">
                        <a:buNone/>
                      </a:pPr>
                      <a:r>
                        <a:rPr lang="en-US" sz="1400" dirty="0">
                          <a:solidFill>
                            <a:srgbClr val="1F1F1F"/>
                          </a:solidFill>
                        </a:rPr>
                        <a:t>Calcium carbonate 40% calcium (with meals if achlorhydric) vs. citrate 21%; check magnesium</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FFFFF"/>
                    </a:solidFill>
                  </a:tcPr>
                </a:tc>
              </a:tr>
              <a:tr h="0">
                <a:tc>
                  <a:txBody>
                    <a:bodyPr/>
                    <a:lstStyle/>
                    <a:p>
                      <a:pPr indent="0" marL="0">
                        <a:buNone/>
                      </a:pPr>
                      <a:r>
                        <a:rPr lang="en-US" sz="1400" b="1" dirty="0">
                          <a:solidFill>
                            <a:srgbClr val="1F1F1F"/>
                          </a:solidFill>
                        </a:rPr>
                        <a:t>Hyperphosphatemia</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2F4F7"/>
                    </a:solidFill>
                  </a:tcPr>
                </a:tc>
                <a:tc>
                  <a:txBody>
                    <a:bodyPr/>
                    <a:lstStyle/>
                    <a:p>
                      <a:pPr indent="0" marL="0">
                        <a:buNone/>
                      </a:pPr>
                      <a:r>
                        <a:rPr lang="en-US" sz="1400" dirty="0">
                          <a:solidFill>
                            <a:srgbClr val="1F1F1F"/>
                          </a:solidFill>
                        </a:rPr>
                        <a:t>Diet + binders: sevelamer, lanthanum, calcium</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2F4F7"/>
                    </a:solidFill>
                  </a:tcPr>
                </a:tc>
                <a:tc>
                  <a:txBody>
                    <a:bodyPr/>
                    <a:lstStyle/>
                    <a:p>
                      <a:pPr indent="0" marL="0">
                        <a:buNone/>
                      </a:pPr>
                      <a:r>
                        <a:rPr lang="en-US" sz="1400" dirty="0">
                          <a:solidFill>
                            <a:srgbClr val="1F1F1F"/>
                          </a:solidFill>
                        </a:rPr>
                        <a:t>Aluminum binders sparingly (bone disease)</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2F4F7"/>
                    </a:solidFill>
                  </a:tcPr>
                </a:tc>
              </a:tr>
              <a:tr h="0">
                <a:tc>
                  <a:txBody>
                    <a:bodyPr/>
                    <a:lstStyle/>
                    <a:p>
                      <a:pPr indent="0" marL="0">
                        <a:buNone/>
                      </a:pPr>
                      <a:r>
                        <a:rPr lang="en-US" sz="1400" b="1" dirty="0">
                          <a:solidFill>
                            <a:srgbClr val="1F1F1F"/>
                          </a:solidFill>
                        </a:rPr>
                        <a:t>Hypophosphatemia</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FFFFF"/>
                    </a:solidFill>
                  </a:tcPr>
                </a:tc>
                <a:tc>
                  <a:txBody>
                    <a:bodyPr/>
                    <a:lstStyle/>
                    <a:p>
                      <a:pPr indent="0" marL="0">
                        <a:buNone/>
                      </a:pPr>
                      <a:r>
                        <a:rPr lang="en-US" sz="1400" dirty="0">
                          <a:solidFill>
                            <a:srgbClr val="1F1F1F"/>
                          </a:solidFill>
                        </a:rPr>
                        <a:t>Oral phosphate</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FFFFF"/>
                    </a:solidFill>
                  </a:tcPr>
                </a:tc>
                <a:tc>
                  <a:txBody>
                    <a:bodyPr/>
                    <a:lstStyle/>
                    <a:p>
                      <a:pPr indent="0" marL="0">
                        <a:buNone/>
                      </a:pPr>
                      <a:r>
                        <a:rPr lang="en-US" sz="1400" dirty="0">
                          <a:solidFill>
                            <a:srgbClr val="1F1F1F"/>
                          </a:solidFill>
                        </a:rPr>
                        <a:t>Long term: weakness, osteomalacia</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FFFFF"/>
                    </a:solidFill>
                  </a:tcPr>
                </a:tc>
              </a:tr>
              <a:tr h="0">
                <a:tc>
                  <a:txBody>
                    <a:bodyPr/>
                    <a:lstStyle/>
                    <a:p>
                      <a:pPr indent="0" marL="0">
                        <a:buNone/>
                      </a:pPr>
                      <a:r>
                        <a:rPr lang="en-US" sz="1400" b="1" dirty="0">
                          <a:solidFill>
                            <a:srgbClr val="1F1F1F"/>
                          </a:solidFill>
                        </a:rPr>
                        <a:t>Primary hyperparathyroidism</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2F4F7"/>
                    </a:solidFill>
                  </a:tcPr>
                </a:tc>
                <a:tc>
                  <a:txBody>
                    <a:bodyPr/>
                    <a:lstStyle/>
                    <a:p>
                      <a:pPr indent="0" marL="0">
                        <a:buNone/>
                      </a:pPr>
                      <a:r>
                        <a:rPr lang="en-US" sz="1400" dirty="0">
                          <a:solidFill>
                            <a:srgbClr val="1F1F1F"/>
                          </a:solidFill>
                        </a:rPr>
                        <a:t>Surgery; cinacalcet if not a candidate</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2F4F7"/>
                    </a:solidFill>
                  </a:tcPr>
                </a:tc>
                <a:tc>
                  <a:txBody>
                    <a:bodyPr/>
                    <a:lstStyle/>
                    <a:p>
                      <a:pPr indent="0" marL="0">
                        <a:buNone/>
                      </a:pPr>
                      <a:r>
                        <a:rPr lang="en-US" sz="1400" dirty="0">
                          <a:solidFill>
                            <a:srgbClr val="1F1F1F"/>
                          </a:solidFill>
                        </a:rPr>
                        <a:t>Rule out familial hypocalciuric hypercalcemia</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2F4F7"/>
                    </a:solidFill>
                  </a:tcPr>
                </a:tc>
              </a:tr>
              <a:tr h="0">
                <a:tc>
                  <a:txBody>
                    <a:bodyPr/>
                    <a:lstStyle/>
                    <a:p>
                      <a:pPr indent="0" marL="0">
                        <a:buNone/>
                      </a:pPr>
                      <a:r>
                        <a:rPr lang="en-US" sz="1400" b="1" dirty="0">
                          <a:solidFill>
                            <a:srgbClr val="1F1F1F"/>
                          </a:solidFill>
                        </a:rPr>
                        <a:t>Hypoparathyroidism</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FFFFF"/>
                    </a:solidFill>
                  </a:tcPr>
                </a:tc>
                <a:tc>
                  <a:txBody>
                    <a:bodyPr/>
                    <a:lstStyle/>
                    <a:p>
                      <a:pPr indent="0" marL="0">
                        <a:buNone/>
                      </a:pPr>
                      <a:r>
                        <a:rPr lang="en-US" sz="1400" dirty="0">
                          <a:solidFill>
                            <a:srgbClr val="1F1F1F"/>
                          </a:solidFill>
                        </a:rPr>
                        <a:t>Calcitriol + calcium; rhPTH 1-84</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FFFFF"/>
                    </a:solidFill>
                  </a:tcPr>
                </a:tc>
                <a:tc>
                  <a:txBody>
                    <a:bodyPr/>
                    <a:lstStyle/>
                    <a:p>
                      <a:pPr indent="0" marL="0">
                        <a:buNone/>
                      </a:pPr>
                      <a:r>
                        <a:rPr lang="en-US" sz="1400" dirty="0">
                          <a:solidFill>
                            <a:srgbClr val="1F1F1F"/>
                          </a:solidFill>
                        </a:rPr>
                        <a:t>Hypercalciuria limits standard therapy</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FFFFF"/>
                    </a:solidFill>
                  </a:tcPr>
                </a:tc>
              </a:tr>
            </a:tbl>
          </a:graphicData>
        </a:graphic>
      </p:graphicFrame>
      <p:sp>
        <p:nvSpPr>
          <p:cNvPr id="8" name="Table sources"/>
          <p:cNvSpPr txBox="1"/>
          <p:nvPr/>
        </p:nvSpPr>
        <p:spPr>
          <a:xfrm>
            <a:off x="548640" y="4745228"/>
            <a:ext cx="11094415" cy="274320"/>
          </a:xfrm>
          <a:prstGeom prst="rect">
            <a:avLst/>
          </a:prstGeom>
          <a:noFill/>
          <a:ln/>
        </p:spPr>
        <p:txBody>
          <a:bodyPr wrap="square" lIns="0" tIns="0" rIns="0" bIns="0" rtlCol="0" anchor="ctr"/>
          <a:lstStyle/>
          <a:p>
            <a:pPr indent="0" marL="0">
              <a:buNone/>
            </a:pPr>
            <a:r>
              <a:rPr lang="en-US" sz="1100" dirty="0">
                <a:solidFill>
                  <a:srgbClr val="666666"/>
                </a:solidFill>
              </a:rPr>
              <a:t>Focus: what tells these apart.  Sources: p. 822; p. 823; p. 824; p. 825; p. 826; p. 829</a:t>
            </a:r>
            <a:endParaRPr lang="en-US" sz="1100" dirty="0"/>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name="Slide 93">
    <p:bg>
      <p:bgPr>
        <a:solidFill>
          <a:srgbClr val="FFFFFF"/>
        </a:solidFill>
      </p:bgPr>
    </p:bg>
    <p:spTree>
      <p:nvGrpSpPr>
        <p:cNvPr id="1" name=""/>
        <p:cNvGrpSpPr/>
        <p:nvPr/>
      </p:nvGrpSpPr>
      <p:grpSpPr>
        <a:xfrm>
          <a:off x="0" y="0"/>
          <a:ext cx="0" cy="0"/>
          <a:chOff x="0" y="0"/>
          <a:chExt cx="0" cy="0"/>
        </a:xfrm>
      </p:grpSpPr>
      <p:sp>
        <p:nvSpPr>
          <p:cNvPr id="2" name="Kicker"/>
          <p:cNvSpPr txBox="1"/>
          <p:nvPr/>
        </p:nvSpPr>
        <p:spPr>
          <a:xfrm>
            <a:off x="548640" y="292608"/>
            <a:ext cx="8076895" cy="274320"/>
          </a:xfrm>
          <a:prstGeom prst="rect">
            <a:avLst/>
          </a:prstGeom>
          <a:noFill/>
          <a:ln/>
        </p:spPr>
        <p:txBody>
          <a:bodyPr wrap="square" lIns="0" tIns="0" rIns="0" bIns="0" rtlCol="0" anchor="ctr"/>
          <a:lstStyle/>
          <a:p>
            <a:pPr indent="0" marL="0">
              <a:buNone/>
            </a:pPr>
            <a:r>
              <a:rPr lang="en-US" sz="1200" b="1" spc="100" kern="0" dirty="0">
                <a:solidFill>
                  <a:srgbClr val="4472C4"/>
                </a:solidFill>
              </a:rPr>
              <a:t>BONE PHARMACOLOGY &amp; OSTEOPOROSIS</a:t>
            </a:r>
            <a:endParaRPr lang="en-US" sz="1200" dirty="0"/>
          </a:p>
        </p:txBody>
      </p:sp>
      <p:sp>
        <p:nvSpPr>
          <p:cNvPr id="3" name="Title"/>
          <p:cNvSpPr txBox="1"/>
          <p:nvPr/>
        </p:nvSpPr>
        <p:spPr>
          <a:xfrm>
            <a:off x="548640" y="566928"/>
            <a:ext cx="8076895" cy="713232"/>
          </a:xfrm>
          <a:prstGeom prst="rect">
            <a:avLst/>
          </a:prstGeom>
          <a:noFill/>
          <a:ln/>
        </p:spPr>
        <p:txBody>
          <a:bodyPr wrap="square" lIns="0" tIns="0" rIns="0" bIns="0" rtlCol="0" anchor="t"/>
          <a:lstStyle/>
          <a:p>
            <a:pPr indent="0" marL="0">
              <a:buNone/>
            </a:pPr>
            <a:r>
              <a:rPr lang="en-US" sz="2200" b="1" dirty="0">
                <a:solidFill>
                  <a:srgbClr val="1F1F1F"/>
                </a:solidFill>
                <a:latin typeface="Calibri" pitchFamily="34" charset="0"/>
                <a:ea typeface="Calibri" pitchFamily="34" charset="-122"/>
                <a:cs typeface="Calibri" pitchFamily="34" charset="-120"/>
              </a:rPr>
              <a:t>Compare: Calcium and phosphate disorders (textbook, clinical pharmacology) (cont.)</a:t>
            </a:r>
            <a:endParaRPr lang="en-US" sz="2200" dirty="0"/>
          </a:p>
        </p:txBody>
      </p:sp>
      <p:sp>
        <p:nvSpPr>
          <p:cNvPr id="4" name="Objective chip"/>
          <p:cNvSpPr/>
          <p:nvPr/>
        </p:nvSpPr>
        <p:spPr>
          <a:xfrm>
            <a:off x="8899855" y="365760"/>
            <a:ext cx="2743200" cy="384048"/>
          </a:xfrm>
          <a:prstGeom prst="roundRect">
            <a:avLst>
              <a:gd name="adj" fmla="val 35714"/>
            </a:avLst>
          </a:prstGeom>
          <a:solidFill>
            <a:srgbClr val="E3EBF8"/>
          </a:solidFill>
          <a:ln/>
        </p:spPr>
        <p:txBody>
          <a:bodyPr wrap="square" lIns="25400" tIns="25400" rIns="25400" bIns="25400" rtlCol="0" anchor="ctr"/>
          <a:lstStyle/>
          <a:p>
            <a:pPr algn="ctr" indent="0" marL="0">
              <a:buNone/>
            </a:pPr>
            <a:r>
              <a:rPr lang="en-US" sz="800" b="1" dirty="0">
                <a:solidFill>
                  <a:srgbClr val="2F4F8A"/>
                </a:solidFill>
              </a:rPr>
              <a:t>Objectives: SO3 · SO4 · IO2.1 · IO2.2 · IO2.3 · IO2.4 · IO2.5 · IO2.6</a:t>
            </a:r>
            <a:endParaRPr lang="en-US" sz="800" dirty="0"/>
          </a:p>
        </p:txBody>
      </p:sp>
      <p:sp>
        <p:nvSpPr>
          <p:cNvPr id="5" name="Footer"/>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1000" dirty="0">
                <a:solidFill>
                  <a:srgbClr val="666666"/>
                </a:solidFill>
              </a:rPr>
              <a:t>L04 · Musculoskeletal Pharmacology — Session 2</a:t>
            </a:r>
            <a:endParaRPr lang="en-US" sz="1000" dirty="0"/>
          </a:p>
        </p:txBody>
      </p:sp>
      <p:sp>
        <p:nvSpPr>
          <p:cNvPr id="6" name="Slide number"/>
          <p:cNvSpPr txBox="1"/>
          <p:nvPr/>
        </p:nvSpPr>
        <p:spPr>
          <a:xfrm>
            <a:off x="10728655" y="6419088"/>
            <a:ext cx="914400" cy="274320"/>
          </a:xfrm>
          <a:prstGeom prst="rect">
            <a:avLst/>
          </a:prstGeom>
          <a:noFill/>
          <a:ln/>
        </p:spPr>
        <p:txBody>
          <a:bodyPr wrap="square" lIns="0" tIns="0" rIns="0" bIns="0" rtlCol="0" anchor="ctr"/>
          <a:lstStyle/>
          <a:p>
            <a:pPr algn="r" indent="0" marL="0">
              <a:buNone/>
            </a:pPr>
            <a:r>
              <a:rPr lang="en-US" sz="1000" dirty="0">
                <a:solidFill>
                  <a:srgbClr val="666666"/>
                </a:solidFill>
              </a:rPr>
              <a:t>93</a:t>
            </a:r>
            <a:endParaRPr lang="en-US" sz="1000" dirty="0"/>
          </a:p>
        </p:txBody>
      </p:sp>
      <p:graphicFrame>
        <p:nvGraphicFramePr>
          <p:cNvPr id="94" name="Comparison table"/>
          <p:cNvGraphicFramePr>
            <a:graphicFrameLocks noGrp="1"/>
          </p:cNvGraphicFramePr>
          <p:nvPr>
            <p:extLst>
              <p:ext uri="{D42A27DB-BD31-4B8C-83A1-F6EECF244321}">
                <p14:modId xmlns:p14="http://schemas.microsoft.com/office/powerpoint/2010/main" val="1579011935"/>
              </p:ext>
            </p:extLst>
          </p:nvPr>
        </p:nvGraphicFramePr>
        <p:xfrm>
          <a:off x="548640" y="1325880"/>
          <a:ext cx="11094415" cy="914400"/>
        </p:xfrm>
        <a:graphic>
          <a:graphicData uri="http://schemas.openxmlformats.org/drawingml/2006/table">
            <a:tbl>
              <a:tblPr/>
              <a:tblGrid>
                <a:gridCol w="2377440"/>
                <a:gridCol w="4358488"/>
                <a:gridCol w="4358488"/>
              </a:tblGrid>
              <a:tr h="0">
                <a:tc>
                  <a:txBody>
                    <a:bodyPr/>
                    <a:lstStyle/>
                    <a:p>
                      <a:pPr indent="0" marL="0">
                        <a:buNone/>
                      </a:pPr>
                      <a:r>
                        <a:rPr lang="en-US" sz="1400" b="1" dirty="0">
                          <a:solidFill>
                            <a:srgbClr val="FFFFFF"/>
                          </a:solidFill>
                        </a:rPr>
                        <a:t>Disorder</a:t>
                      </a:r>
                      <a:endParaRPr lang="en-US" sz="14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4472C4"/>
                    </a:solidFill>
                  </a:tcPr>
                </a:tc>
                <a:tc>
                  <a:txBody>
                    <a:bodyPr/>
                    <a:lstStyle/>
                    <a:p>
                      <a:pPr indent="0" marL="0">
                        <a:buNone/>
                      </a:pPr>
                      <a:r>
                        <a:rPr lang="en-US" sz="1400" b="1" dirty="0">
                          <a:solidFill>
                            <a:srgbClr val="FFFFFF"/>
                          </a:solidFill>
                        </a:rPr>
                        <a:t>Drug approach</a:t>
                      </a:r>
                      <a:endParaRPr lang="en-US" sz="14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4472C4"/>
                    </a:solidFill>
                  </a:tcPr>
                </a:tc>
                <a:tc>
                  <a:txBody>
                    <a:bodyPr/>
                    <a:lstStyle/>
                    <a:p>
                      <a:pPr indent="0" marL="0">
                        <a:buNone/>
                      </a:pPr>
                      <a:r>
                        <a:rPr lang="en-US" sz="1400" b="1" dirty="0">
                          <a:solidFill>
                            <a:srgbClr val="FFFFFF"/>
                          </a:solidFill>
                        </a:rPr>
                        <a:t>Pearl</a:t>
                      </a:r>
                      <a:endParaRPr lang="en-US" sz="14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4472C4"/>
                    </a:solidFill>
                  </a:tcPr>
                </a:tc>
              </a:tr>
              <a:tr h="0">
                <a:tc>
                  <a:txBody>
                    <a:bodyPr/>
                    <a:lstStyle/>
                    <a:p>
                      <a:pPr indent="0" marL="0">
                        <a:buNone/>
                      </a:pPr>
                      <a:r>
                        <a:rPr lang="en-US" sz="1400" b="1" dirty="0">
                          <a:solidFill>
                            <a:srgbClr val="1F1F1F"/>
                          </a:solidFill>
                        </a:rPr>
                        <a:t>Nutritional vitamin D deficiency or insufficiency</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2F4F7"/>
                    </a:solidFill>
                  </a:tcPr>
                </a:tc>
                <a:tc>
                  <a:txBody>
                    <a:bodyPr/>
                    <a:lstStyle/>
                    <a:p>
                      <a:pPr indent="0" marL="0">
                        <a:buNone/>
                      </a:pPr>
                      <a:r>
                        <a:rPr lang="en-US" sz="1400" dirty="0">
                          <a:solidFill>
                            <a:srgbClr val="1F1F1F"/>
                          </a:solidFill>
                        </a:rPr>
                        <a:t>D2 or D3 1000–4000 IU/d or 50,000 IU/week</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2F4F7"/>
                    </a:solidFill>
                  </a:tcPr>
                </a:tc>
                <a:tc>
                  <a:txBody>
                    <a:bodyPr/>
                    <a:lstStyle/>
                    <a:p>
                      <a:pPr indent="0" marL="0">
                        <a:buNone/>
                      </a:pPr>
                      <a:r>
                        <a:rPr lang="en-US" sz="1400" dirty="0">
                          <a:solidFill>
                            <a:srgbClr val="1F1F1F"/>
                          </a:solidFill>
                        </a:rPr>
                        <a:t>25(OH)D &gt; 12 ng/mL prevents rickets; 20–30 ng/mL target</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2F4F7"/>
                    </a:solidFill>
                  </a:tcPr>
                </a:tc>
              </a:tr>
              <a:tr h="0">
                <a:tc>
                  <a:txBody>
                    <a:bodyPr/>
                    <a:lstStyle/>
                    <a:p>
                      <a:pPr indent="0" marL="0">
                        <a:buNone/>
                      </a:pPr>
                      <a:r>
                        <a:rPr lang="en-US" sz="1400" b="1" dirty="0">
                          <a:solidFill>
                            <a:srgbClr val="1F1F1F"/>
                          </a:solidFill>
                        </a:rPr>
                        <a:t>Chronic kidney disease</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FFFFF"/>
                    </a:solidFill>
                  </a:tcPr>
                </a:tc>
                <a:tc>
                  <a:txBody>
                    <a:bodyPr/>
                    <a:lstStyle/>
                    <a:p>
                      <a:pPr indent="0" marL="0">
                        <a:buNone/>
                      </a:pPr>
                      <a:r>
                        <a:rPr lang="en-US" sz="1400" dirty="0">
                          <a:solidFill>
                            <a:srgbClr val="1F1F1F"/>
                          </a:solidFill>
                        </a:rPr>
                        <a:t>Calcitriol, doxercalciferol, paricalcitol; binders</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FFFFF"/>
                    </a:solidFill>
                  </a:tcPr>
                </a:tc>
                <a:tc>
                  <a:txBody>
                    <a:bodyPr/>
                    <a:lstStyle/>
                    <a:p>
                      <a:pPr indent="0" marL="0">
                        <a:buNone/>
                      </a:pPr>
                      <a:r>
                        <a:rPr lang="en-US" sz="1400" dirty="0">
                          <a:solidFill>
                            <a:srgbClr val="1F1F1F"/>
                          </a:solidFill>
                        </a:rPr>
                        <a:t>Keep calcium × phosphate &lt; 55</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FFFFF"/>
                    </a:solidFill>
                  </a:tcPr>
                </a:tc>
              </a:tr>
              <a:tr h="0">
                <a:tc>
                  <a:txBody>
                    <a:bodyPr/>
                    <a:lstStyle/>
                    <a:p>
                      <a:pPr indent="0" marL="0">
                        <a:buNone/>
                      </a:pPr>
                      <a:r>
                        <a:rPr lang="en-US" sz="1400" b="1" dirty="0">
                          <a:solidFill>
                            <a:srgbClr val="1F1F1F"/>
                          </a:solidFill>
                        </a:rPr>
                        <a:t>Intestinal osteodystrophy (malabsorption)</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2F4F7"/>
                    </a:solidFill>
                  </a:tcPr>
                </a:tc>
                <a:tc>
                  <a:txBody>
                    <a:bodyPr/>
                    <a:lstStyle/>
                    <a:p>
                      <a:pPr indent="0" marL="0">
                        <a:buNone/>
                      </a:pPr>
                      <a:r>
                        <a:rPr lang="en-US" sz="1400" dirty="0">
                          <a:solidFill>
                            <a:srgbClr val="1F1F1F"/>
                          </a:solidFill>
                        </a:rPr>
                        <a:t>High-dose vitamin D 25,000–50,000 IU</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2F4F7"/>
                    </a:solidFill>
                  </a:tcPr>
                </a:tc>
                <a:tc>
                  <a:txBody>
                    <a:bodyPr/>
                    <a:lstStyle/>
                    <a:p>
                      <a:pPr indent="0" marL="0">
                        <a:buNone/>
                      </a:pPr>
                      <a:r>
                        <a:rPr lang="en-US" sz="1400" dirty="0">
                          <a:solidFill>
                            <a:srgbClr val="1F1F1F"/>
                          </a:solidFill>
                        </a:rPr>
                        <a:t>Osteoporosis + osteomalacia</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2F4F7"/>
                    </a:solidFill>
                  </a:tcPr>
                </a:tc>
              </a:tr>
              <a:tr h="0">
                <a:tc>
                  <a:txBody>
                    <a:bodyPr/>
                    <a:lstStyle/>
                    <a:p>
                      <a:pPr indent="0" marL="0">
                        <a:buNone/>
                      </a:pPr>
                      <a:r>
                        <a:rPr lang="en-US" sz="1400" b="1" dirty="0">
                          <a:solidFill>
                            <a:srgbClr val="1F1F1F"/>
                          </a:solidFill>
                        </a:rPr>
                        <a:t>Idiopathic hypercalciuria</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FFFFF"/>
                    </a:solidFill>
                  </a:tcPr>
                </a:tc>
                <a:tc>
                  <a:txBody>
                    <a:bodyPr/>
                    <a:lstStyle/>
                    <a:p>
                      <a:pPr indent="0" marL="0">
                        <a:buNone/>
                      </a:pPr>
                      <a:r>
                        <a:rPr lang="en-US" sz="1400" dirty="0">
                          <a:solidFill>
                            <a:srgbClr val="1F1F1F"/>
                          </a:solidFill>
                        </a:rPr>
                        <a:t>Hydrochlorothiazide up to 50 mg twice daily</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FFFFF"/>
                    </a:solidFill>
                  </a:tcPr>
                </a:tc>
                <a:tc>
                  <a:txBody>
                    <a:bodyPr/>
                    <a:lstStyle/>
                    <a:p>
                      <a:pPr indent="0" marL="0">
                        <a:buNone/>
                      </a:pPr>
                      <a:r>
                        <a:rPr lang="en-US" sz="1400" dirty="0">
                          <a:solidFill>
                            <a:srgbClr val="1F1F1F"/>
                          </a:solidFill>
                        </a:rPr>
                        <a:t>Not loop diuretics; allopurinol an alternative</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FFFFF"/>
                    </a:solidFill>
                  </a:tcPr>
                </a:tc>
              </a:tr>
              <a:tr h="0">
                <a:tc>
                  <a:txBody>
                    <a:bodyPr/>
                    <a:lstStyle/>
                    <a:p>
                      <a:pPr indent="0" marL="0">
                        <a:buNone/>
                      </a:pPr>
                      <a:r>
                        <a:rPr lang="en-US" sz="1400" b="1" dirty="0">
                          <a:solidFill>
                            <a:srgbClr val="1F1F1F"/>
                          </a:solidFill>
                        </a:rPr>
                        <a:t>Paget disease of bone</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2F4F7"/>
                    </a:solidFill>
                  </a:tcPr>
                </a:tc>
                <a:tc>
                  <a:txBody>
                    <a:bodyPr/>
                    <a:lstStyle/>
                    <a:p>
                      <a:pPr indent="0" marL="0">
                        <a:buNone/>
                      </a:pPr>
                      <a:r>
                        <a:rPr lang="en-US" sz="1400" dirty="0">
                          <a:solidFill>
                            <a:srgbClr val="1F1F1F"/>
                          </a:solidFill>
                        </a:rPr>
                        <a:t>Bisphosphonates (higher doses), calcitonin</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2F4F7"/>
                    </a:solidFill>
                  </a:tcPr>
                </a:tc>
                <a:tc>
                  <a:txBody>
                    <a:bodyPr/>
                    <a:lstStyle/>
                    <a:p>
                      <a:pPr indent="0" marL="0">
                        <a:buNone/>
                      </a:pPr>
                      <a:r>
                        <a:rPr lang="en-US" sz="1400" dirty="0">
                          <a:solidFill>
                            <a:srgbClr val="1F1F1F"/>
                          </a:solidFill>
                        </a:rPr>
                        <a:t>Follow alkaline phosphatase</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2F4F7"/>
                    </a:solidFill>
                  </a:tcPr>
                </a:tc>
              </a:tr>
              <a:tr h="0">
                <a:tc>
                  <a:txBody>
                    <a:bodyPr/>
                    <a:lstStyle/>
                    <a:p>
                      <a:pPr indent="0" marL="0">
                        <a:buNone/>
                      </a:pPr>
                      <a:r>
                        <a:rPr lang="en-US" sz="1400" b="1" dirty="0">
                          <a:solidFill>
                            <a:srgbClr val="1F1F1F"/>
                          </a:solidFill>
                        </a:rPr>
                        <a:t>Enteric oxaluria</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FFFFF"/>
                    </a:solidFill>
                  </a:tcPr>
                </a:tc>
                <a:tc>
                  <a:txBody>
                    <a:bodyPr/>
                    <a:lstStyle/>
                    <a:p>
                      <a:pPr indent="0" marL="0">
                        <a:buNone/>
                      </a:pPr>
                      <a:r>
                        <a:rPr lang="en-US" sz="1400" dirty="0">
                          <a:solidFill>
                            <a:srgbClr val="1F1F1F"/>
                          </a:solidFill>
                        </a:rPr>
                        <a:t>Calcium carbonate 1–2 g/day</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FFFFF"/>
                    </a:solidFill>
                  </a:tcPr>
                </a:tc>
                <a:tc>
                  <a:txBody>
                    <a:bodyPr/>
                    <a:lstStyle/>
                    <a:p>
                      <a:pPr indent="0" marL="0">
                        <a:buNone/>
                      </a:pPr>
                      <a:r>
                        <a:rPr lang="en-US" sz="1400" dirty="0">
                          <a:solidFill>
                            <a:srgbClr val="1F1F1F"/>
                          </a:solidFill>
                        </a:rPr>
                        <a:t>Calcium binds gut oxalate</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FFFFF"/>
                    </a:solidFill>
                  </a:tcPr>
                </a:tc>
              </a:tr>
            </a:tbl>
          </a:graphicData>
        </a:graphic>
      </p:graphicFrame>
      <p:sp>
        <p:nvSpPr>
          <p:cNvPr id="8" name="Table sources"/>
          <p:cNvSpPr txBox="1"/>
          <p:nvPr/>
        </p:nvSpPr>
        <p:spPr>
          <a:xfrm>
            <a:off x="548640" y="4311396"/>
            <a:ext cx="11094415" cy="274320"/>
          </a:xfrm>
          <a:prstGeom prst="rect">
            <a:avLst/>
          </a:prstGeom>
          <a:noFill/>
          <a:ln/>
        </p:spPr>
        <p:txBody>
          <a:bodyPr wrap="square" lIns="0" tIns="0" rIns="0" bIns="0" rtlCol="0" anchor="ctr"/>
          <a:lstStyle/>
          <a:p>
            <a:pPr indent="0" marL="0">
              <a:buNone/>
            </a:pPr>
            <a:r>
              <a:rPr lang="en-US" sz="1100" dirty="0">
                <a:solidFill>
                  <a:srgbClr val="666666"/>
                </a:solidFill>
              </a:rPr>
              <a:t>Focus: what tells these apart.  Sources: p. 822; p. 823; p. 824; p. 825; p. 826; p. 829</a:t>
            </a:r>
            <a:endParaRPr lang="en-US" sz="1100" dirty="0"/>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name="Slide 94">
    <p:bg>
      <p:bgPr>
        <a:solidFill>
          <a:srgbClr val="FFFFFF"/>
        </a:solidFill>
      </p:bgPr>
    </p:bg>
    <p:spTree>
      <p:nvGrpSpPr>
        <p:cNvPr id="1" name=""/>
        <p:cNvGrpSpPr/>
        <p:nvPr/>
      </p:nvGrpSpPr>
      <p:grpSpPr>
        <a:xfrm>
          <a:off x="0" y="0"/>
          <a:ext cx="0" cy="0"/>
          <a:chOff x="0" y="0"/>
          <a:chExt cx="0" cy="0"/>
        </a:xfrm>
      </p:grpSpPr>
      <p:sp>
        <p:nvSpPr>
          <p:cNvPr id="2" name="Kicker"/>
          <p:cNvSpPr txBox="1"/>
          <p:nvPr/>
        </p:nvSpPr>
        <p:spPr>
          <a:xfrm>
            <a:off x="548640" y="292608"/>
            <a:ext cx="8076895" cy="274320"/>
          </a:xfrm>
          <a:prstGeom prst="rect">
            <a:avLst/>
          </a:prstGeom>
          <a:noFill/>
          <a:ln/>
        </p:spPr>
        <p:txBody>
          <a:bodyPr wrap="square" lIns="0" tIns="0" rIns="0" bIns="0" rtlCol="0" anchor="ctr"/>
          <a:lstStyle/>
          <a:p>
            <a:pPr indent="0" marL="0">
              <a:buNone/>
            </a:pPr>
            <a:r>
              <a:rPr lang="en-US" sz="1200" b="1" spc="100" kern="0" dirty="0">
                <a:solidFill>
                  <a:srgbClr val="4472C4"/>
                </a:solidFill>
              </a:rPr>
              <a:t>BONE PHARMACOLOGY &amp; OSTEOPOROSIS</a:t>
            </a:r>
            <a:endParaRPr lang="en-US" sz="1200" dirty="0"/>
          </a:p>
        </p:txBody>
      </p:sp>
      <p:sp>
        <p:nvSpPr>
          <p:cNvPr id="3" name="Title"/>
          <p:cNvSpPr txBox="1"/>
          <p:nvPr/>
        </p:nvSpPr>
        <p:spPr>
          <a:xfrm>
            <a:off x="548640" y="566928"/>
            <a:ext cx="8076895" cy="713232"/>
          </a:xfrm>
          <a:prstGeom prst="rect">
            <a:avLst/>
          </a:prstGeom>
          <a:noFill/>
          <a:ln/>
        </p:spPr>
        <p:txBody>
          <a:bodyPr wrap="square" lIns="0" tIns="0" rIns="0" bIns="0" rtlCol="0" anchor="t"/>
          <a:lstStyle/>
          <a:p>
            <a:pPr indent="0" marL="0">
              <a:buNone/>
            </a:pPr>
            <a:r>
              <a:rPr lang="en-US" sz="3000" b="1" dirty="0">
                <a:solidFill>
                  <a:srgbClr val="1F1F1F"/>
                </a:solidFill>
                <a:latin typeface="Calibri" pitchFamily="34" charset="0"/>
                <a:ea typeface="Calibri" pitchFamily="34" charset="-122"/>
                <a:cs typeface="Calibri" pitchFamily="34" charset="-120"/>
              </a:rPr>
              <a:t>Memory hooks</a:t>
            </a:r>
            <a:endParaRPr lang="en-US" sz="3000" dirty="0"/>
          </a:p>
        </p:txBody>
      </p:sp>
      <p:sp>
        <p:nvSpPr>
          <p:cNvPr id="4" name="Objective chip"/>
          <p:cNvSpPr/>
          <p:nvPr/>
        </p:nvSpPr>
        <p:spPr>
          <a:xfrm>
            <a:off x="8899855" y="365760"/>
            <a:ext cx="2743200" cy="384048"/>
          </a:xfrm>
          <a:prstGeom prst="roundRect">
            <a:avLst>
              <a:gd name="adj" fmla="val 35714"/>
            </a:avLst>
          </a:prstGeom>
          <a:solidFill>
            <a:srgbClr val="E3EBF8"/>
          </a:solidFill>
          <a:ln/>
        </p:spPr>
        <p:txBody>
          <a:bodyPr wrap="square" lIns="25400" tIns="25400" rIns="25400" bIns="25400" rtlCol="0" anchor="ctr"/>
          <a:lstStyle/>
          <a:p>
            <a:pPr algn="ctr" indent="0" marL="0">
              <a:buNone/>
            </a:pPr>
            <a:r>
              <a:rPr lang="en-US" sz="800" b="1" dirty="0">
                <a:solidFill>
                  <a:srgbClr val="2F4F8A"/>
                </a:solidFill>
              </a:rPr>
              <a:t>Objectives: SO3 · SO4 · IO2.1 · IO2.2 · IO2.3 · IO2.4 · IO2.5 · IO2.6</a:t>
            </a:r>
            <a:endParaRPr lang="en-US" sz="800" dirty="0"/>
          </a:p>
        </p:txBody>
      </p:sp>
      <p:sp>
        <p:nvSpPr>
          <p:cNvPr id="5" name="Footer"/>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1000" dirty="0">
                <a:solidFill>
                  <a:srgbClr val="666666"/>
                </a:solidFill>
              </a:rPr>
              <a:t>L04 · Musculoskeletal Pharmacology — Session 2</a:t>
            </a:r>
            <a:endParaRPr lang="en-US" sz="1000" dirty="0"/>
          </a:p>
        </p:txBody>
      </p:sp>
      <p:sp>
        <p:nvSpPr>
          <p:cNvPr id="6" name="Slide number"/>
          <p:cNvSpPr txBox="1"/>
          <p:nvPr/>
        </p:nvSpPr>
        <p:spPr>
          <a:xfrm>
            <a:off x="10728655" y="6419088"/>
            <a:ext cx="914400" cy="274320"/>
          </a:xfrm>
          <a:prstGeom prst="rect">
            <a:avLst/>
          </a:prstGeom>
          <a:noFill/>
          <a:ln/>
        </p:spPr>
        <p:txBody>
          <a:bodyPr wrap="square" lIns="0" tIns="0" rIns="0" bIns="0" rtlCol="0" anchor="ctr"/>
          <a:lstStyle/>
          <a:p>
            <a:pPr algn="r" indent="0" marL="0">
              <a:buNone/>
            </a:pPr>
            <a:r>
              <a:rPr lang="en-US" sz="1000" dirty="0">
                <a:solidFill>
                  <a:srgbClr val="666666"/>
                </a:solidFill>
              </a:rPr>
              <a:t>94</a:t>
            </a:r>
            <a:endParaRPr lang="en-US" sz="1000" dirty="0"/>
          </a:p>
        </p:txBody>
      </p:sp>
      <p:sp>
        <p:nvSpPr>
          <p:cNvPr id="7" name="Why it happens card"/>
          <p:cNvSpPr/>
          <p:nvPr/>
        </p:nvSpPr>
        <p:spPr>
          <a:xfrm>
            <a:off x="548640" y="1325880"/>
            <a:ext cx="5364328" cy="2276856"/>
          </a:xfrm>
          <a:prstGeom prst="roundRect">
            <a:avLst>
              <a:gd name="adj" fmla="val 4819"/>
            </a:avLst>
          </a:prstGeom>
          <a:solidFill>
            <a:srgbClr val="F2F4F7"/>
          </a:solidFill>
          <a:ln w="12700">
            <a:solidFill>
              <a:srgbClr val="F2F4F7"/>
            </a:solidFill>
            <a:prstDash val="solid"/>
          </a:ln>
        </p:spPr>
      </p:sp>
      <p:sp>
        <p:nvSpPr>
          <p:cNvPr id="8" name="Why it happens icon circle"/>
          <p:cNvSpPr/>
          <p:nvPr/>
        </p:nvSpPr>
        <p:spPr>
          <a:xfrm>
            <a:off x="777240" y="1508760"/>
            <a:ext cx="438912" cy="438912"/>
          </a:xfrm>
          <a:prstGeom prst="ellipse">
            <a:avLst/>
          </a:prstGeom>
          <a:solidFill>
            <a:srgbClr val="4472C4"/>
          </a:solidFill>
          <a:ln w="12700">
            <a:solidFill>
              <a:srgbClr val="4472C4"/>
            </a:solidFill>
            <a:prstDash val="solid"/>
          </a:ln>
        </p:spPr>
      </p:sp>
      <p:pic>
        <p:nvPicPr>
          <p:cNvPr id="9" name="Why it happens icon" descr="preencoded.png">    </p:cNvPr>
          <p:cNvPicPr>
            <a:picLocks noChangeAspect="1"/>
          </p:cNvPicPr>
          <p:nvPr/>
        </p:nvPicPr>
        <p:blipFill>
          <a:blip r:embed="rId1"/>
          <a:stretch>
            <a:fillRect/>
          </a:stretch>
        </p:blipFill>
        <p:spPr>
          <a:xfrm>
            <a:off x="877824" y="1609344"/>
            <a:ext cx="237744" cy="237744"/>
          </a:xfrm>
          <a:prstGeom prst="rect">
            <a:avLst/>
          </a:prstGeom>
        </p:spPr>
      </p:pic>
      <p:sp>
        <p:nvSpPr>
          <p:cNvPr id="10" name="Why it happens heading"/>
          <p:cNvSpPr txBox="1"/>
          <p:nvPr/>
        </p:nvSpPr>
        <p:spPr>
          <a:xfrm>
            <a:off x="1353312" y="1508760"/>
            <a:ext cx="4358488" cy="438912"/>
          </a:xfrm>
          <a:prstGeom prst="rect">
            <a:avLst/>
          </a:prstGeom>
          <a:noFill/>
          <a:ln/>
        </p:spPr>
        <p:txBody>
          <a:bodyPr wrap="square" lIns="0" tIns="0" rIns="0" bIns="0" rtlCol="0" anchor="ctr"/>
          <a:lstStyle/>
          <a:p>
            <a:pPr indent="0" marL="0">
              <a:buNone/>
            </a:pPr>
            <a:r>
              <a:rPr lang="en-US" sz="1800" b="1" dirty="0">
                <a:solidFill>
                  <a:srgbClr val="4472C4"/>
                </a:solidFill>
              </a:rPr>
              <a:t>Why it happens</a:t>
            </a:r>
            <a:endParaRPr lang="en-US" sz="1800" dirty="0"/>
          </a:p>
        </p:txBody>
      </p:sp>
      <p:sp>
        <p:nvSpPr>
          <p:cNvPr id="11" name="Why it happens body"/>
          <p:cNvSpPr txBox="1"/>
          <p:nvPr/>
        </p:nvSpPr>
        <p:spPr>
          <a:xfrm>
            <a:off x="777240" y="2075688"/>
            <a:ext cx="4907128" cy="1408176"/>
          </a:xfrm>
          <a:prstGeom prst="rect">
            <a:avLst/>
          </a:prstGeom>
          <a:noFill/>
          <a:ln/>
        </p:spPr>
        <p:txBody>
          <a:bodyPr wrap="square" lIns="0" tIns="0" rIns="0" bIns="0" rtlCol="0" anchor="t"/>
          <a:lstStyle/>
          <a:p>
            <a:pPr marL="228600" indent="-228600">
              <a:spcAft>
                <a:spcPts val="800"/>
              </a:spcAft>
              <a:buSzPct val="100000"/>
              <a:buChar char="•"/>
            </a:pPr>
            <a:r>
              <a:rPr lang="en-US" sz="1800" dirty="0">
                <a:solidFill>
                  <a:srgbClr val="1F1F1F"/>
                </a:solidFill>
              </a:rPr>
              <a:t>Why does stopping denosumab cause fractures? It blocks osteoclast formation without killing them; stop it and resorption rebounds — so hand off to a bisphosphonate.</a:t>
            </a:r>
            <a:r>
              <a:rPr lang="en-US" sz="1300" dirty="0">
                <a:solidFill>
                  <a:srgbClr val="666666"/>
                </a:solidFill>
              </a:rPr>
              <a:t>  S55</a:t>
            </a:r>
            <a:endParaRPr lang="en-US" sz="1800" dirty="0"/>
          </a:p>
        </p:txBody>
      </p:sp>
      <p:sp>
        <p:nvSpPr>
          <p:cNvPr id="12" name="Mnemonic (memory aid) card"/>
          <p:cNvSpPr/>
          <p:nvPr/>
        </p:nvSpPr>
        <p:spPr>
          <a:xfrm>
            <a:off x="548640" y="3831336"/>
            <a:ext cx="5364328" cy="1997964"/>
          </a:xfrm>
          <a:prstGeom prst="roundRect">
            <a:avLst>
              <a:gd name="adj" fmla="val 5492"/>
            </a:avLst>
          </a:prstGeom>
          <a:solidFill>
            <a:srgbClr val="F2F4F7"/>
          </a:solidFill>
          <a:ln w="12700">
            <a:solidFill>
              <a:srgbClr val="F2F4F7"/>
            </a:solidFill>
            <a:prstDash val="solid"/>
          </a:ln>
        </p:spPr>
      </p:sp>
      <p:sp>
        <p:nvSpPr>
          <p:cNvPr id="13" name="Mnemonic (memory aid) icon circle"/>
          <p:cNvSpPr/>
          <p:nvPr/>
        </p:nvSpPr>
        <p:spPr>
          <a:xfrm>
            <a:off x="777240" y="4014216"/>
            <a:ext cx="438912" cy="438912"/>
          </a:xfrm>
          <a:prstGeom prst="ellipse">
            <a:avLst/>
          </a:prstGeom>
          <a:solidFill>
            <a:srgbClr val="7030A0"/>
          </a:solidFill>
          <a:ln w="12700">
            <a:solidFill>
              <a:srgbClr val="7030A0"/>
            </a:solidFill>
            <a:prstDash val="solid"/>
          </a:ln>
        </p:spPr>
      </p:sp>
      <p:pic>
        <p:nvPicPr>
          <p:cNvPr id="14" name="Mnemonic (memory aid) icon" descr="preencoded.png">    </p:cNvPr>
          <p:cNvPicPr>
            <a:picLocks noChangeAspect="1"/>
          </p:cNvPicPr>
          <p:nvPr/>
        </p:nvPicPr>
        <p:blipFill>
          <a:blip r:embed="rId2"/>
          <a:stretch>
            <a:fillRect/>
          </a:stretch>
        </p:blipFill>
        <p:spPr>
          <a:xfrm>
            <a:off x="877824" y="4114800"/>
            <a:ext cx="237744" cy="237744"/>
          </a:xfrm>
          <a:prstGeom prst="rect">
            <a:avLst/>
          </a:prstGeom>
        </p:spPr>
      </p:pic>
      <p:sp>
        <p:nvSpPr>
          <p:cNvPr id="15" name="Mnemonic (memory aid) heading"/>
          <p:cNvSpPr txBox="1"/>
          <p:nvPr/>
        </p:nvSpPr>
        <p:spPr>
          <a:xfrm>
            <a:off x="1353312" y="4014216"/>
            <a:ext cx="4358488" cy="438912"/>
          </a:xfrm>
          <a:prstGeom prst="rect">
            <a:avLst/>
          </a:prstGeom>
          <a:noFill/>
          <a:ln/>
        </p:spPr>
        <p:txBody>
          <a:bodyPr wrap="square" lIns="0" tIns="0" rIns="0" bIns="0" rtlCol="0" anchor="ctr"/>
          <a:lstStyle/>
          <a:p>
            <a:pPr indent="0" marL="0">
              <a:buNone/>
            </a:pPr>
            <a:r>
              <a:rPr lang="en-US" sz="1800" b="1" dirty="0">
                <a:solidFill>
                  <a:srgbClr val="7030A0"/>
                </a:solidFill>
              </a:rPr>
              <a:t>Mnemonic (memory aid)</a:t>
            </a:r>
            <a:endParaRPr lang="en-US" sz="1800" dirty="0"/>
          </a:p>
        </p:txBody>
      </p:sp>
      <p:sp>
        <p:nvSpPr>
          <p:cNvPr id="16" name="Mnemonic (memory aid) body"/>
          <p:cNvSpPr txBox="1"/>
          <p:nvPr/>
        </p:nvSpPr>
        <p:spPr>
          <a:xfrm>
            <a:off x="777240" y="4581144"/>
            <a:ext cx="4907128" cy="1129284"/>
          </a:xfrm>
          <a:prstGeom prst="rect">
            <a:avLst/>
          </a:prstGeom>
          <a:noFill/>
          <a:ln/>
        </p:spPr>
        <p:txBody>
          <a:bodyPr wrap="square" lIns="0" tIns="0" rIns="0" bIns="0" rtlCol="0" anchor="t"/>
          <a:lstStyle/>
          <a:p>
            <a:pPr marL="228600" indent="-228600">
              <a:spcAft>
                <a:spcPts val="800"/>
              </a:spcAft>
              <a:buSzPct val="100000"/>
              <a:buChar char="•"/>
            </a:pPr>
            <a:r>
              <a:rPr lang="en-US" sz="1800" b="1" dirty="0">
                <a:solidFill>
                  <a:srgbClr val="1F1F1F"/>
                </a:solidFill>
              </a:rPr>
              <a:t>PTH pulls from three: Bone, Kidney, Gut.</a:t>
            </a:r>
            <a:r>
              <a:rPr lang="en-US" sz="1800" dirty="0">
                <a:solidFill>
                  <a:srgbClr val="1F1F1F"/>
                </a:solidFill>
              </a:rPr>
              <a:t> Intermittent PTH builds; continuous PTH breaks down.</a:t>
            </a:r>
            <a:r>
              <a:rPr lang="en-US" sz="1300" dirty="0">
                <a:solidFill>
                  <a:srgbClr val="666666"/>
                </a:solidFill>
              </a:rPr>
              <a:t>  S41; S43; SG U2-R12</a:t>
            </a:r>
            <a:endParaRPr lang="en-US" sz="1800" dirty="0"/>
          </a:p>
        </p:txBody>
      </p:sp>
      <p:sp>
        <p:nvSpPr>
          <p:cNvPr id="17" name="Why it happens card"/>
          <p:cNvSpPr/>
          <p:nvPr/>
        </p:nvSpPr>
        <p:spPr>
          <a:xfrm>
            <a:off x="6278728" y="1325880"/>
            <a:ext cx="5364328" cy="2276856"/>
          </a:xfrm>
          <a:prstGeom prst="roundRect">
            <a:avLst>
              <a:gd name="adj" fmla="val 4819"/>
            </a:avLst>
          </a:prstGeom>
          <a:solidFill>
            <a:srgbClr val="F2F4F7"/>
          </a:solidFill>
          <a:ln w="12700">
            <a:solidFill>
              <a:srgbClr val="F2F4F7"/>
            </a:solidFill>
            <a:prstDash val="solid"/>
          </a:ln>
        </p:spPr>
      </p:sp>
      <p:sp>
        <p:nvSpPr>
          <p:cNvPr id="18" name="Why it happens icon circle"/>
          <p:cNvSpPr/>
          <p:nvPr/>
        </p:nvSpPr>
        <p:spPr>
          <a:xfrm>
            <a:off x="6507328" y="1508760"/>
            <a:ext cx="438912" cy="438912"/>
          </a:xfrm>
          <a:prstGeom prst="ellipse">
            <a:avLst/>
          </a:prstGeom>
          <a:solidFill>
            <a:srgbClr val="4472C4"/>
          </a:solidFill>
          <a:ln w="12700">
            <a:solidFill>
              <a:srgbClr val="4472C4"/>
            </a:solidFill>
            <a:prstDash val="solid"/>
          </a:ln>
        </p:spPr>
      </p:sp>
      <p:pic>
        <p:nvPicPr>
          <p:cNvPr id="19" name="Why it happens icon" descr="preencoded.png">    </p:cNvPr>
          <p:cNvPicPr>
            <a:picLocks noChangeAspect="1"/>
          </p:cNvPicPr>
          <p:nvPr/>
        </p:nvPicPr>
        <p:blipFill>
          <a:blip r:embed="rId3"/>
          <a:stretch>
            <a:fillRect/>
          </a:stretch>
        </p:blipFill>
        <p:spPr>
          <a:xfrm>
            <a:off x="6607912" y="1609344"/>
            <a:ext cx="237744" cy="237744"/>
          </a:xfrm>
          <a:prstGeom prst="rect">
            <a:avLst/>
          </a:prstGeom>
        </p:spPr>
      </p:pic>
      <p:sp>
        <p:nvSpPr>
          <p:cNvPr id="20" name="Why it happens heading"/>
          <p:cNvSpPr txBox="1"/>
          <p:nvPr/>
        </p:nvSpPr>
        <p:spPr>
          <a:xfrm>
            <a:off x="7083400" y="1508760"/>
            <a:ext cx="4358488" cy="438912"/>
          </a:xfrm>
          <a:prstGeom prst="rect">
            <a:avLst/>
          </a:prstGeom>
          <a:noFill/>
          <a:ln/>
        </p:spPr>
        <p:txBody>
          <a:bodyPr wrap="square" lIns="0" tIns="0" rIns="0" bIns="0" rtlCol="0" anchor="ctr"/>
          <a:lstStyle/>
          <a:p>
            <a:pPr indent="0" marL="0">
              <a:buNone/>
            </a:pPr>
            <a:r>
              <a:rPr lang="en-US" sz="1800" b="1" dirty="0">
                <a:solidFill>
                  <a:srgbClr val="4472C4"/>
                </a:solidFill>
              </a:rPr>
              <a:t>Why it happens</a:t>
            </a:r>
            <a:endParaRPr lang="en-US" sz="1800" dirty="0"/>
          </a:p>
        </p:txBody>
      </p:sp>
      <p:sp>
        <p:nvSpPr>
          <p:cNvPr id="21" name="Why it happens body"/>
          <p:cNvSpPr txBox="1"/>
          <p:nvPr/>
        </p:nvSpPr>
        <p:spPr>
          <a:xfrm>
            <a:off x="6507328" y="2075688"/>
            <a:ext cx="4907128" cy="1408176"/>
          </a:xfrm>
          <a:prstGeom prst="rect">
            <a:avLst/>
          </a:prstGeom>
          <a:noFill/>
          <a:ln/>
        </p:spPr>
        <p:txBody>
          <a:bodyPr wrap="square" lIns="0" tIns="0" rIns="0" bIns="0" rtlCol="0" anchor="t"/>
          <a:lstStyle/>
          <a:p>
            <a:pPr marL="228600" indent="-228600">
              <a:spcAft>
                <a:spcPts val="800"/>
              </a:spcAft>
              <a:buSzPct val="100000"/>
              <a:buChar char="•"/>
            </a:pPr>
            <a:r>
              <a:rPr lang="en-US" sz="1800" dirty="0">
                <a:solidFill>
                  <a:srgbClr val="1F1F1F"/>
                </a:solidFill>
              </a:rPr>
              <a:t>Why the strict bisphosphonate rules? Under 1% is absorbed, and a tablet lodged in the esophagus burns it — fasting, plain water, upright.</a:t>
            </a:r>
            <a:r>
              <a:rPr lang="en-US" sz="1300" dirty="0">
                <a:solidFill>
                  <a:srgbClr val="666666"/>
                </a:solidFill>
              </a:rPr>
              <a:t>  S53; SG U2-R13</a:t>
            </a:r>
            <a:endParaRPr lang="en-US" sz="1800" dirty="0"/>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name="Slide 95">
    <p:bg>
      <p:bgPr>
        <a:solidFill>
          <a:srgbClr val="FFFFFF"/>
        </a:solidFill>
      </p:bgPr>
    </p:bg>
    <p:spTree>
      <p:nvGrpSpPr>
        <p:cNvPr id="1" name=""/>
        <p:cNvGrpSpPr/>
        <p:nvPr/>
      </p:nvGrpSpPr>
      <p:grpSpPr>
        <a:xfrm>
          <a:off x="0" y="0"/>
          <a:ext cx="0" cy="0"/>
          <a:chOff x="0" y="0"/>
          <a:chExt cx="0" cy="0"/>
        </a:xfrm>
      </p:grpSpPr>
      <p:sp>
        <p:nvSpPr>
          <p:cNvPr id="2" name="Kicker"/>
          <p:cNvSpPr txBox="1"/>
          <p:nvPr/>
        </p:nvSpPr>
        <p:spPr>
          <a:xfrm>
            <a:off x="548640" y="292608"/>
            <a:ext cx="8076895" cy="274320"/>
          </a:xfrm>
          <a:prstGeom prst="rect">
            <a:avLst/>
          </a:prstGeom>
          <a:noFill/>
          <a:ln/>
        </p:spPr>
        <p:txBody>
          <a:bodyPr wrap="square" lIns="0" tIns="0" rIns="0" bIns="0" rtlCol="0" anchor="ctr"/>
          <a:lstStyle/>
          <a:p>
            <a:pPr indent="0" marL="0">
              <a:buNone/>
            </a:pPr>
            <a:r>
              <a:rPr lang="en-US" sz="1200" b="1" spc="100" kern="0" dirty="0">
                <a:solidFill>
                  <a:srgbClr val="4472C4"/>
                </a:solidFill>
              </a:rPr>
              <a:t>BONE PHARMACOLOGY &amp; OSTEOPOROSIS</a:t>
            </a:r>
            <a:endParaRPr lang="en-US" sz="1200" dirty="0"/>
          </a:p>
        </p:txBody>
      </p:sp>
      <p:sp>
        <p:nvSpPr>
          <p:cNvPr id="3" name="Title"/>
          <p:cNvSpPr txBox="1"/>
          <p:nvPr/>
        </p:nvSpPr>
        <p:spPr>
          <a:xfrm>
            <a:off x="548640" y="566928"/>
            <a:ext cx="8076895" cy="713232"/>
          </a:xfrm>
          <a:prstGeom prst="rect">
            <a:avLst/>
          </a:prstGeom>
          <a:noFill/>
          <a:ln/>
        </p:spPr>
        <p:txBody>
          <a:bodyPr wrap="square" lIns="0" tIns="0" rIns="0" bIns="0" rtlCol="0" anchor="t"/>
          <a:lstStyle/>
          <a:p>
            <a:pPr indent="0" marL="0">
              <a:buNone/>
            </a:pPr>
            <a:r>
              <a:rPr lang="en-US" sz="3000" b="1" dirty="0">
                <a:solidFill>
                  <a:srgbClr val="1F1F1F"/>
                </a:solidFill>
                <a:latin typeface="Calibri" pitchFamily="34" charset="0"/>
                <a:ea typeface="Calibri" pitchFamily="34" charset="-122"/>
                <a:cs typeface="Calibri" pitchFamily="34" charset="-120"/>
              </a:rPr>
              <a:t>High-yield summary</a:t>
            </a:r>
            <a:endParaRPr lang="en-US" sz="3000" dirty="0"/>
          </a:p>
        </p:txBody>
      </p:sp>
      <p:sp>
        <p:nvSpPr>
          <p:cNvPr id="4" name="Objective chip"/>
          <p:cNvSpPr/>
          <p:nvPr/>
        </p:nvSpPr>
        <p:spPr>
          <a:xfrm>
            <a:off x="8899855" y="365760"/>
            <a:ext cx="2743200" cy="384048"/>
          </a:xfrm>
          <a:prstGeom prst="roundRect">
            <a:avLst>
              <a:gd name="adj" fmla="val 35714"/>
            </a:avLst>
          </a:prstGeom>
          <a:solidFill>
            <a:srgbClr val="E3EBF8"/>
          </a:solidFill>
          <a:ln/>
        </p:spPr>
        <p:txBody>
          <a:bodyPr wrap="square" lIns="25400" tIns="25400" rIns="25400" bIns="25400" rtlCol="0" anchor="ctr"/>
          <a:lstStyle/>
          <a:p>
            <a:pPr algn="ctr" indent="0" marL="0">
              <a:buNone/>
            </a:pPr>
            <a:r>
              <a:rPr lang="en-US" sz="800" b="1" dirty="0">
                <a:solidFill>
                  <a:srgbClr val="2F4F8A"/>
                </a:solidFill>
              </a:rPr>
              <a:t>Objectives: SO3 · SO4 · IO2.1 · IO2.2 · IO2.3 · IO2.4 · IO2.5 · IO2.6</a:t>
            </a:r>
            <a:endParaRPr lang="en-US" sz="800" dirty="0"/>
          </a:p>
        </p:txBody>
      </p:sp>
      <p:sp>
        <p:nvSpPr>
          <p:cNvPr id="5" name="Footer"/>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1000" dirty="0">
                <a:solidFill>
                  <a:srgbClr val="666666"/>
                </a:solidFill>
              </a:rPr>
              <a:t>L04 · Musculoskeletal Pharmacology — Session 2</a:t>
            </a:r>
            <a:endParaRPr lang="en-US" sz="1000" dirty="0"/>
          </a:p>
        </p:txBody>
      </p:sp>
      <p:sp>
        <p:nvSpPr>
          <p:cNvPr id="6" name="Slide number"/>
          <p:cNvSpPr txBox="1"/>
          <p:nvPr/>
        </p:nvSpPr>
        <p:spPr>
          <a:xfrm>
            <a:off x="10728655" y="6419088"/>
            <a:ext cx="914400" cy="274320"/>
          </a:xfrm>
          <a:prstGeom prst="rect">
            <a:avLst/>
          </a:prstGeom>
          <a:noFill/>
          <a:ln/>
        </p:spPr>
        <p:txBody>
          <a:bodyPr wrap="square" lIns="0" tIns="0" rIns="0" bIns="0" rtlCol="0" anchor="ctr"/>
          <a:lstStyle/>
          <a:p>
            <a:pPr algn="r" indent="0" marL="0">
              <a:buNone/>
            </a:pPr>
            <a:r>
              <a:rPr lang="en-US" sz="1000" dirty="0">
                <a:solidFill>
                  <a:srgbClr val="666666"/>
                </a:solidFill>
              </a:rPr>
              <a:t>95</a:t>
            </a:r>
            <a:endParaRPr lang="en-US" sz="1000" dirty="0"/>
          </a:p>
        </p:txBody>
      </p:sp>
      <p:sp>
        <p:nvSpPr>
          <p:cNvPr id="7" name="If you remember nothing else card"/>
          <p:cNvSpPr/>
          <p:nvPr/>
        </p:nvSpPr>
        <p:spPr>
          <a:xfrm>
            <a:off x="548640" y="1325880"/>
            <a:ext cx="11094415" cy="3662172"/>
          </a:xfrm>
          <a:prstGeom prst="roundRect">
            <a:avLst>
              <a:gd name="adj" fmla="val 2996"/>
            </a:avLst>
          </a:prstGeom>
          <a:solidFill>
            <a:srgbClr val="F2F4F7"/>
          </a:solidFill>
          <a:ln w="12700">
            <a:solidFill>
              <a:srgbClr val="F2F4F7"/>
            </a:solidFill>
            <a:prstDash val="solid"/>
          </a:ln>
        </p:spPr>
      </p:sp>
      <p:sp>
        <p:nvSpPr>
          <p:cNvPr id="8" name="If you remember nothing else icon circle"/>
          <p:cNvSpPr/>
          <p:nvPr/>
        </p:nvSpPr>
        <p:spPr>
          <a:xfrm>
            <a:off x="777240" y="1508760"/>
            <a:ext cx="438912" cy="438912"/>
          </a:xfrm>
          <a:prstGeom prst="ellipse">
            <a:avLst/>
          </a:prstGeom>
          <a:solidFill>
            <a:srgbClr val="C55A11"/>
          </a:solidFill>
          <a:ln w="12700">
            <a:solidFill>
              <a:srgbClr val="C55A11"/>
            </a:solidFill>
            <a:prstDash val="solid"/>
          </a:ln>
        </p:spPr>
      </p:sp>
      <p:pic>
        <p:nvPicPr>
          <p:cNvPr id="9" name="If you remember nothing else icon" descr="preencoded.png">    </p:cNvPr>
          <p:cNvPicPr>
            <a:picLocks noChangeAspect="1"/>
          </p:cNvPicPr>
          <p:nvPr/>
        </p:nvPicPr>
        <p:blipFill>
          <a:blip r:embed="rId1"/>
          <a:stretch>
            <a:fillRect/>
          </a:stretch>
        </p:blipFill>
        <p:spPr>
          <a:xfrm>
            <a:off x="877824" y="1609344"/>
            <a:ext cx="237744" cy="237744"/>
          </a:xfrm>
          <a:prstGeom prst="rect">
            <a:avLst/>
          </a:prstGeom>
        </p:spPr>
      </p:pic>
      <p:sp>
        <p:nvSpPr>
          <p:cNvPr id="10" name="If you remember nothing else heading"/>
          <p:cNvSpPr txBox="1"/>
          <p:nvPr/>
        </p:nvSpPr>
        <p:spPr>
          <a:xfrm>
            <a:off x="1353312" y="1508760"/>
            <a:ext cx="10088575" cy="438912"/>
          </a:xfrm>
          <a:prstGeom prst="rect">
            <a:avLst/>
          </a:prstGeom>
          <a:noFill/>
          <a:ln/>
        </p:spPr>
        <p:txBody>
          <a:bodyPr wrap="square" lIns="0" tIns="0" rIns="0" bIns="0" rtlCol="0" anchor="ctr"/>
          <a:lstStyle/>
          <a:p>
            <a:pPr indent="0" marL="0">
              <a:buNone/>
            </a:pPr>
            <a:r>
              <a:rPr lang="en-US" sz="1800" b="1" dirty="0">
                <a:solidFill>
                  <a:srgbClr val="C55A11"/>
                </a:solidFill>
              </a:rPr>
              <a:t>If you remember nothing else</a:t>
            </a:r>
            <a:endParaRPr lang="en-US" sz="1800" dirty="0"/>
          </a:p>
        </p:txBody>
      </p:sp>
      <p:sp>
        <p:nvSpPr>
          <p:cNvPr id="11" name="If you remember nothing else body"/>
          <p:cNvSpPr txBox="1"/>
          <p:nvPr/>
        </p:nvSpPr>
        <p:spPr>
          <a:xfrm>
            <a:off x="777240" y="2075688"/>
            <a:ext cx="10637215" cy="2793492"/>
          </a:xfrm>
          <a:prstGeom prst="rect">
            <a:avLst/>
          </a:prstGeom>
          <a:noFill/>
          <a:ln/>
        </p:spPr>
        <p:txBody>
          <a:bodyPr wrap="square" lIns="0" tIns="0" rIns="0" bIns="0" rtlCol="0" anchor="t"/>
          <a:lstStyle/>
          <a:p>
            <a:pPr marL="228600" indent="-228600">
              <a:spcAft>
                <a:spcPts val="800"/>
              </a:spcAft>
              <a:buSzPct val="100000"/>
              <a:buChar char="•"/>
            </a:pPr>
            <a:r>
              <a:rPr lang="en-US" sz="1800" dirty="0">
                <a:solidFill>
                  <a:srgbClr val="1F1F1F"/>
                </a:solidFill>
              </a:rPr>
              <a:t>Bone pharmacology is fundamentally about the balance between osteoblast and osteoclast activity.</a:t>
            </a:r>
            <a:r>
              <a:rPr lang="en-US" sz="1300" dirty="0">
                <a:solidFill>
                  <a:srgbClr val="666666"/>
                </a:solidFill>
              </a:rPr>
              <a:t>  S67; S40</a:t>
            </a:r>
            <a:endParaRPr lang="en-US" sz="1800" dirty="0"/>
          </a:p>
          <a:p>
            <a:pPr marL="228600" indent="-228600">
              <a:spcAft>
                <a:spcPts val="800"/>
              </a:spcAft>
              <a:buSzPct val="100000"/>
              <a:buChar char="•"/>
            </a:pPr>
            <a:r>
              <a:rPr lang="en-US" sz="1800" dirty="0">
                <a:solidFill>
                  <a:srgbClr val="1F1F1F"/>
                </a:solidFill>
              </a:rPr>
              <a:t>PTH: falling calcium → bone resorption, renal reabsorption, vitamin D–mediated gut absorption.</a:t>
            </a:r>
            <a:r>
              <a:rPr lang="en-US" sz="1300" dirty="0">
                <a:solidFill>
                  <a:srgbClr val="666666"/>
                </a:solidFill>
              </a:rPr>
              <a:t>  S43; SG U2-R12</a:t>
            </a:r>
            <a:endParaRPr lang="en-US" sz="1800" dirty="0"/>
          </a:p>
          <a:p>
            <a:pPr marL="228600" indent="-228600">
              <a:spcAft>
                <a:spcPts val="800"/>
              </a:spcAft>
              <a:buSzPct val="100000"/>
              <a:buChar char="•"/>
            </a:pPr>
            <a:r>
              <a:rPr lang="en-US" sz="1800" dirty="0">
                <a:solidFill>
                  <a:srgbClr val="1F1F1F"/>
                </a:solidFill>
              </a:rPr>
              <a:t>Bisphosphonates first-line; full glass of water, upright 30 minutes.</a:t>
            </a:r>
            <a:r>
              <a:rPr lang="en-US" sz="1300" dirty="0">
                <a:solidFill>
                  <a:srgbClr val="666666"/>
                </a:solidFill>
              </a:rPr>
              <a:t>  S47; S52; SG U2-R13</a:t>
            </a:r>
            <a:endParaRPr lang="en-US" sz="1800" dirty="0"/>
          </a:p>
          <a:p>
            <a:pPr marL="228600" indent="-228600">
              <a:spcAft>
                <a:spcPts val="800"/>
              </a:spcAft>
              <a:buSzPct val="100000"/>
              <a:buChar char="•"/>
            </a:pPr>
            <a:r>
              <a:rPr lang="en-US" sz="1800" dirty="0">
                <a:solidFill>
                  <a:srgbClr val="1F1F1F"/>
                </a:solidFill>
              </a:rPr>
              <a:t>Anabolic: teriparatide/abaloparatide (2-year limit), romosozumab (boxed CV).</a:t>
            </a:r>
            <a:r>
              <a:rPr lang="en-US" sz="1300" dirty="0">
                <a:solidFill>
                  <a:srgbClr val="666666"/>
                </a:solidFill>
              </a:rPr>
              <a:t>  S54; S55</a:t>
            </a:r>
            <a:endParaRPr lang="en-US" sz="1800" dirty="0"/>
          </a:p>
          <a:p>
            <a:pPr marL="228600" indent="-228600">
              <a:spcAft>
                <a:spcPts val="800"/>
              </a:spcAft>
              <a:buSzPct val="100000"/>
              <a:buChar char="•"/>
            </a:pPr>
            <a:r>
              <a:rPr lang="en-US" sz="1800" dirty="0">
                <a:solidFill>
                  <a:srgbClr val="1F1F1F"/>
                </a:solidFill>
              </a:rPr>
              <a:t>Denosumab = RANKL antibody; stopping → rebound vertebral fractures.</a:t>
            </a:r>
            <a:r>
              <a:rPr lang="en-US" sz="1300" dirty="0">
                <a:solidFill>
                  <a:srgbClr val="666666"/>
                </a:solidFill>
              </a:rPr>
              <a:t>  S54; S55</a:t>
            </a:r>
            <a:endParaRPr lang="en-US" sz="1800" dirty="0"/>
          </a:p>
          <a:p>
            <a:pPr marL="228600" indent="-228600">
              <a:spcAft>
                <a:spcPts val="800"/>
              </a:spcAft>
              <a:buSzPct val="100000"/>
              <a:buChar char="•"/>
            </a:pPr>
            <a:r>
              <a:rPr lang="en-US" sz="1800" dirty="0">
                <a:solidFill>
                  <a:srgbClr val="1F1F1F"/>
                </a:solidFill>
              </a:rPr>
              <a:t>Glucocorticoids: ↑ resorption, ↓ formation → osteoporosis.</a:t>
            </a:r>
            <a:r>
              <a:rPr lang="en-US" sz="1300" dirty="0">
                <a:solidFill>
                  <a:srgbClr val="666666"/>
                </a:solidFill>
              </a:rPr>
              <a:t>  S46; S71</a:t>
            </a:r>
            <a:endParaRPr lang="en-US" sz="1800" dirty="0"/>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name="Slide 96">
    <p:bg>
      <p:bgPr>
        <a:solidFill>
          <a:srgbClr val="FFFFFF"/>
        </a:solidFill>
      </p:bgPr>
    </p:bg>
    <p:spTree>
      <p:nvGrpSpPr>
        <p:cNvPr id="1" name=""/>
        <p:cNvGrpSpPr/>
        <p:nvPr/>
      </p:nvGrpSpPr>
      <p:grpSpPr>
        <a:xfrm>
          <a:off x="0" y="0"/>
          <a:ext cx="0" cy="0"/>
          <a:chOff x="0" y="0"/>
          <a:chExt cx="0" cy="0"/>
        </a:xfrm>
      </p:grpSpPr>
      <p:sp>
        <p:nvSpPr>
          <p:cNvPr id="2" name="Kicker"/>
          <p:cNvSpPr txBox="1"/>
          <p:nvPr/>
        </p:nvSpPr>
        <p:spPr>
          <a:xfrm>
            <a:off x="548640" y="292608"/>
            <a:ext cx="8076895" cy="274320"/>
          </a:xfrm>
          <a:prstGeom prst="rect">
            <a:avLst/>
          </a:prstGeom>
          <a:noFill/>
          <a:ln/>
        </p:spPr>
        <p:txBody>
          <a:bodyPr wrap="square" lIns="0" tIns="0" rIns="0" bIns="0" rtlCol="0" anchor="ctr"/>
          <a:lstStyle/>
          <a:p>
            <a:pPr indent="0" marL="0">
              <a:buNone/>
            </a:pPr>
            <a:r>
              <a:rPr lang="en-US" sz="1200" b="1" spc="100" kern="0" dirty="0">
                <a:solidFill>
                  <a:srgbClr val="4472C4"/>
                </a:solidFill>
              </a:rPr>
              <a:t>CLINICAL VIGNETTE</a:t>
            </a:r>
            <a:endParaRPr lang="en-US" sz="1200" dirty="0"/>
          </a:p>
        </p:txBody>
      </p:sp>
      <p:sp>
        <p:nvSpPr>
          <p:cNvPr id="3" name="Title"/>
          <p:cNvSpPr txBox="1"/>
          <p:nvPr/>
        </p:nvSpPr>
        <p:spPr>
          <a:xfrm>
            <a:off x="548640" y="566928"/>
            <a:ext cx="8076895" cy="713232"/>
          </a:xfrm>
          <a:prstGeom prst="rect">
            <a:avLst/>
          </a:prstGeom>
          <a:noFill/>
          <a:ln/>
        </p:spPr>
        <p:txBody>
          <a:bodyPr wrap="square" lIns="0" tIns="0" rIns="0" bIns="0" rtlCol="0" anchor="t"/>
          <a:lstStyle/>
          <a:p>
            <a:pPr indent="0" marL="0">
              <a:buNone/>
            </a:pPr>
            <a:r>
              <a:rPr lang="en-US" sz="3000" b="1" dirty="0">
                <a:solidFill>
                  <a:srgbClr val="1F1F1F"/>
                </a:solidFill>
                <a:latin typeface="Calibri" pitchFamily="34" charset="0"/>
                <a:ea typeface="Calibri" pitchFamily="34" charset="-122"/>
                <a:cs typeface="Calibri" pitchFamily="34" charset="-120"/>
              </a:rPr>
              <a:t>Question 17</a:t>
            </a:r>
            <a:endParaRPr lang="en-US" sz="3000" dirty="0"/>
          </a:p>
        </p:txBody>
      </p:sp>
      <p:sp>
        <p:nvSpPr>
          <p:cNvPr id="4" name="Objective chip"/>
          <p:cNvSpPr/>
          <p:nvPr/>
        </p:nvSpPr>
        <p:spPr>
          <a:xfrm>
            <a:off x="8899855" y="365760"/>
            <a:ext cx="2743200" cy="384048"/>
          </a:xfrm>
          <a:prstGeom prst="roundRect">
            <a:avLst>
              <a:gd name="adj" fmla="val 35714"/>
            </a:avLst>
          </a:prstGeom>
          <a:solidFill>
            <a:srgbClr val="E3EBF8"/>
          </a:solidFill>
          <a:ln/>
        </p:spPr>
        <p:txBody>
          <a:bodyPr wrap="square" lIns="25400" tIns="25400" rIns="25400" bIns="25400" rtlCol="0" anchor="ctr"/>
          <a:lstStyle/>
          <a:p>
            <a:pPr algn="ctr" indent="0" marL="0">
              <a:buNone/>
            </a:pPr>
            <a:r>
              <a:rPr lang="en-US" sz="800" b="1" dirty="0">
                <a:solidFill>
                  <a:srgbClr val="2F4F8A"/>
                </a:solidFill>
              </a:rPr>
              <a:t>Objectives: SO3 · SO4 · IO2.1 · IO2.2 · IO2.3 · IO2.4 · IO2.5 · IO2.6</a:t>
            </a:r>
            <a:endParaRPr lang="en-US" sz="800" dirty="0"/>
          </a:p>
        </p:txBody>
      </p:sp>
      <p:sp>
        <p:nvSpPr>
          <p:cNvPr id="5" name="Footer"/>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1000" dirty="0">
                <a:solidFill>
                  <a:srgbClr val="666666"/>
                </a:solidFill>
              </a:rPr>
              <a:t>L04 · Musculoskeletal Pharmacology — Session 2</a:t>
            </a:r>
            <a:endParaRPr lang="en-US" sz="1000" dirty="0"/>
          </a:p>
        </p:txBody>
      </p:sp>
      <p:sp>
        <p:nvSpPr>
          <p:cNvPr id="6" name="Slide number"/>
          <p:cNvSpPr txBox="1"/>
          <p:nvPr/>
        </p:nvSpPr>
        <p:spPr>
          <a:xfrm>
            <a:off x="10728655" y="6419088"/>
            <a:ext cx="914400" cy="274320"/>
          </a:xfrm>
          <a:prstGeom prst="rect">
            <a:avLst/>
          </a:prstGeom>
          <a:noFill/>
          <a:ln/>
        </p:spPr>
        <p:txBody>
          <a:bodyPr wrap="square" lIns="0" tIns="0" rIns="0" bIns="0" rtlCol="0" anchor="ctr"/>
          <a:lstStyle/>
          <a:p>
            <a:pPr algn="r" indent="0" marL="0">
              <a:buNone/>
            </a:pPr>
            <a:r>
              <a:rPr lang="en-US" sz="1000" dirty="0">
                <a:solidFill>
                  <a:srgbClr val="666666"/>
                </a:solidFill>
              </a:rPr>
              <a:t>96</a:t>
            </a:r>
            <a:endParaRPr lang="en-US" sz="1000" dirty="0"/>
          </a:p>
        </p:txBody>
      </p:sp>
      <p:sp>
        <p:nvSpPr>
          <p:cNvPr id="7" name="Question stem card"/>
          <p:cNvSpPr/>
          <p:nvPr/>
        </p:nvSpPr>
        <p:spPr>
          <a:xfrm>
            <a:off x="548640" y="1325880"/>
            <a:ext cx="11094415" cy="923544"/>
          </a:xfrm>
          <a:prstGeom prst="roundRect">
            <a:avLst>
              <a:gd name="adj" fmla="val 9901"/>
            </a:avLst>
          </a:prstGeom>
          <a:solidFill>
            <a:srgbClr val="F2F4F7"/>
          </a:solidFill>
          <a:ln w="12700">
            <a:solidFill>
              <a:srgbClr val="F2F4F7"/>
            </a:solidFill>
            <a:prstDash val="solid"/>
          </a:ln>
        </p:spPr>
      </p:sp>
      <p:sp>
        <p:nvSpPr>
          <p:cNvPr id="8" name="Question stem"/>
          <p:cNvSpPr txBox="1"/>
          <p:nvPr/>
        </p:nvSpPr>
        <p:spPr>
          <a:xfrm>
            <a:off x="777240" y="1325880"/>
            <a:ext cx="10637215" cy="923544"/>
          </a:xfrm>
          <a:prstGeom prst="rect">
            <a:avLst/>
          </a:prstGeom>
          <a:noFill/>
          <a:ln/>
        </p:spPr>
        <p:txBody>
          <a:bodyPr wrap="square" lIns="0" tIns="0" rIns="0" bIns="0" rtlCol="0" anchor="ctr"/>
          <a:lstStyle/>
          <a:p>
            <a:pPr indent="0" marL="0">
              <a:buNone/>
            </a:pPr>
            <a:r>
              <a:rPr lang="en-US" sz="1800" dirty="0">
                <a:solidFill>
                  <a:srgbClr val="1F1F1F"/>
                </a:solidFill>
              </a:rPr>
              <a:t>A 66-year-old woman starts weekly alendronate. Which counseling point most reduces her risk of esophageal injury?</a:t>
            </a:r>
            <a:endParaRPr lang="en-US" sz="1800" dirty="0"/>
          </a:p>
        </p:txBody>
      </p:sp>
      <p:sp>
        <p:nvSpPr>
          <p:cNvPr id="9" name="Shape 7"/>
          <p:cNvSpPr/>
          <p:nvPr/>
        </p:nvSpPr>
        <p:spPr>
          <a:xfrm>
            <a:off x="548640" y="2459736"/>
            <a:ext cx="402336" cy="402336"/>
          </a:xfrm>
          <a:prstGeom prst="ellipse">
            <a:avLst/>
          </a:prstGeom>
          <a:solidFill>
            <a:srgbClr val="FFFFFF"/>
          </a:solidFill>
          <a:ln w="19050">
            <a:solidFill>
              <a:srgbClr val="4472C4"/>
            </a:solidFill>
            <a:prstDash val="solid"/>
          </a:ln>
        </p:spPr>
      </p:sp>
      <p:sp>
        <p:nvSpPr>
          <p:cNvPr id="10" name="Text 8"/>
          <p:cNvSpPr txBox="1"/>
          <p:nvPr/>
        </p:nvSpPr>
        <p:spPr>
          <a:xfrm>
            <a:off x="548640" y="2459736"/>
            <a:ext cx="402336" cy="402336"/>
          </a:xfrm>
          <a:prstGeom prst="rect">
            <a:avLst/>
          </a:prstGeom>
          <a:noFill/>
          <a:ln/>
        </p:spPr>
        <p:txBody>
          <a:bodyPr wrap="square" lIns="0" tIns="0" rIns="0" bIns="0" rtlCol="0" anchor="ctr"/>
          <a:lstStyle/>
          <a:p>
            <a:pPr algn="ctr" indent="0" marL="0">
              <a:buNone/>
            </a:pPr>
            <a:r>
              <a:rPr lang="en-US" sz="1400" b="1" dirty="0">
                <a:solidFill>
                  <a:srgbClr val="4472C4"/>
                </a:solidFill>
              </a:rPr>
              <a:t>A</a:t>
            </a:r>
            <a:endParaRPr lang="en-US" sz="1400" dirty="0"/>
          </a:p>
        </p:txBody>
      </p:sp>
      <p:sp>
        <p:nvSpPr>
          <p:cNvPr id="11" name="Option A"/>
          <p:cNvSpPr txBox="1"/>
          <p:nvPr/>
        </p:nvSpPr>
        <p:spPr>
          <a:xfrm>
            <a:off x="1188720" y="2432304"/>
            <a:ext cx="10271455" cy="457200"/>
          </a:xfrm>
          <a:prstGeom prst="rect">
            <a:avLst/>
          </a:prstGeom>
          <a:noFill/>
          <a:ln/>
        </p:spPr>
        <p:txBody>
          <a:bodyPr wrap="square" lIns="0" tIns="0" rIns="0" bIns="0" rtlCol="0" anchor="ctr"/>
          <a:lstStyle/>
          <a:p>
            <a:pPr indent="0" marL="0">
              <a:buNone/>
            </a:pPr>
            <a:r>
              <a:rPr lang="en-US" sz="1800" dirty="0">
                <a:solidFill>
                  <a:srgbClr val="1F1F1F"/>
                </a:solidFill>
              </a:rPr>
              <a:t>Take it with breakfast to protect the stomach</a:t>
            </a:r>
            <a:endParaRPr lang="en-US" sz="1800" dirty="0"/>
          </a:p>
        </p:txBody>
      </p:sp>
      <p:sp>
        <p:nvSpPr>
          <p:cNvPr id="12" name="Shape 10"/>
          <p:cNvSpPr/>
          <p:nvPr/>
        </p:nvSpPr>
        <p:spPr>
          <a:xfrm>
            <a:off x="548640" y="3008376"/>
            <a:ext cx="402336" cy="402336"/>
          </a:xfrm>
          <a:prstGeom prst="ellipse">
            <a:avLst/>
          </a:prstGeom>
          <a:solidFill>
            <a:srgbClr val="FFFFFF"/>
          </a:solidFill>
          <a:ln w="19050">
            <a:solidFill>
              <a:srgbClr val="4472C4"/>
            </a:solidFill>
            <a:prstDash val="solid"/>
          </a:ln>
        </p:spPr>
      </p:sp>
      <p:sp>
        <p:nvSpPr>
          <p:cNvPr id="13" name="Text 11"/>
          <p:cNvSpPr txBox="1"/>
          <p:nvPr/>
        </p:nvSpPr>
        <p:spPr>
          <a:xfrm>
            <a:off x="548640" y="3008376"/>
            <a:ext cx="402336" cy="402336"/>
          </a:xfrm>
          <a:prstGeom prst="rect">
            <a:avLst/>
          </a:prstGeom>
          <a:noFill/>
          <a:ln/>
        </p:spPr>
        <p:txBody>
          <a:bodyPr wrap="square" lIns="0" tIns="0" rIns="0" bIns="0" rtlCol="0" anchor="ctr"/>
          <a:lstStyle/>
          <a:p>
            <a:pPr algn="ctr" indent="0" marL="0">
              <a:buNone/>
            </a:pPr>
            <a:r>
              <a:rPr lang="en-US" sz="1400" b="1" dirty="0">
                <a:solidFill>
                  <a:srgbClr val="4472C4"/>
                </a:solidFill>
              </a:rPr>
              <a:t>B</a:t>
            </a:r>
            <a:endParaRPr lang="en-US" sz="1400" dirty="0"/>
          </a:p>
        </p:txBody>
      </p:sp>
      <p:sp>
        <p:nvSpPr>
          <p:cNvPr id="14" name="Option B"/>
          <p:cNvSpPr txBox="1"/>
          <p:nvPr/>
        </p:nvSpPr>
        <p:spPr>
          <a:xfrm>
            <a:off x="1188720" y="2980944"/>
            <a:ext cx="10271455" cy="457200"/>
          </a:xfrm>
          <a:prstGeom prst="rect">
            <a:avLst/>
          </a:prstGeom>
          <a:noFill/>
          <a:ln/>
        </p:spPr>
        <p:txBody>
          <a:bodyPr wrap="square" lIns="0" tIns="0" rIns="0" bIns="0" rtlCol="0" anchor="ctr"/>
          <a:lstStyle/>
          <a:p>
            <a:pPr indent="0" marL="0">
              <a:buNone/>
            </a:pPr>
            <a:r>
              <a:rPr lang="en-US" sz="1800" dirty="0">
                <a:solidFill>
                  <a:srgbClr val="1F1F1F"/>
                </a:solidFill>
              </a:rPr>
              <a:t>Take it at bedtime with a calcium supplement</a:t>
            </a:r>
            <a:endParaRPr lang="en-US" sz="1800" dirty="0"/>
          </a:p>
        </p:txBody>
      </p:sp>
      <p:sp>
        <p:nvSpPr>
          <p:cNvPr id="15" name="Shape 13"/>
          <p:cNvSpPr/>
          <p:nvPr/>
        </p:nvSpPr>
        <p:spPr>
          <a:xfrm>
            <a:off x="548640" y="3557016"/>
            <a:ext cx="402336" cy="402336"/>
          </a:xfrm>
          <a:prstGeom prst="ellipse">
            <a:avLst/>
          </a:prstGeom>
          <a:solidFill>
            <a:srgbClr val="FFFFFF"/>
          </a:solidFill>
          <a:ln w="19050">
            <a:solidFill>
              <a:srgbClr val="4472C4"/>
            </a:solidFill>
            <a:prstDash val="solid"/>
          </a:ln>
        </p:spPr>
      </p:sp>
      <p:sp>
        <p:nvSpPr>
          <p:cNvPr id="16" name="Text 14"/>
          <p:cNvSpPr txBox="1"/>
          <p:nvPr/>
        </p:nvSpPr>
        <p:spPr>
          <a:xfrm>
            <a:off x="548640" y="3557016"/>
            <a:ext cx="402336" cy="402336"/>
          </a:xfrm>
          <a:prstGeom prst="rect">
            <a:avLst/>
          </a:prstGeom>
          <a:noFill/>
          <a:ln/>
        </p:spPr>
        <p:txBody>
          <a:bodyPr wrap="square" lIns="0" tIns="0" rIns="0" bIns="0" rtlCol="0" anchor="ctr"/>
          <a:lstStyle/>
          <a:p>
            <a:pPr algn="ctr" indent="0" marL="0">
              <a:buNone/>
            </a:pPr>
            <a:r>
              <a:rPr lang="en-US" sz="1400" b="1" dirty="0">
                <a:solidFill>
                  <a:srgbClr val="4472C4"/>
                </a:solidFill>
              </a:rPr>
              <a:t>C</a:t>
            </a:r>
            <a:endParaRPr lang="en-US" sz="1400" dirty="0"/>
          </a:p>
        </p:txBody>
      </p:sp>
      <p:sp>
        <p:nvSpPr>
          <p:cNvPr id="17" name="Option C"/>
          <p:cNvSpPr txBox="1"/>
          <p:nvPr/>
        </p:nvSpPr>
        <p:spPr>
          <a:xfrm>
            <a:off x="1188720" y="3529584"/>
            <a:ext cx="10271455" cy="457200"/>
          </a:xfrm>
          <a:prstGeom prst="rect">
            <a:avLst/>
          </a:prstGeom>
          <a:noFill/>
          <a:ln/>
        </p:spPr>
        <p:txBody>
          <a:bodyPr wrap="square" lIns="0" tIns="0" rIns="0" bIns="0" rtlCol="0" anchor="ctr"/>
          <a:lstStyle/>
          <a:p>
            <a:pPr indent="0" marL="0">
              <a:buNone/>
            </a:pPr>
            <a:r>
              <a:rPr lang="en-US" sz="1800" dirty="0">
                <a:solidFill>
                  <a:srgbClr val="1F1F1F"/>
                </a:solidFill>
              </a:rPr>
              <a:t>Lie down for 30 minutes after the dose</a:t>
            </a:r>
            <a:endParaRPr lang="en-US" sz="1800" dirty="0"/>
          </a:p>
        </p:txBody>
      </p:sp>
      <p:sp>
        <p:nvSpPr>
          <p:cNvPr id="18" name="Shape 16"/>
          <p:cNvSpPr/>
          <p:nvPr/>
        </p:nvSpPr>
        <p:spPr>
          <a:xfrm>
            <a:off x="548640" y="4105656"/>
            <a:ext cx="402336" cy="402336"/>
          </a:xfrm>
          <a:prstGeom prst="ellipse">
            <a:avLst/>
          </a:prstGeom>
          <a:solidFill>
            <a:srgbClr val="FFFFFF"/>
          </a:solidFill>
          <a:ln w="19050">
            <a:solidFill>
              <a:srgbClr val="4472C4"/>
            </a:solidFill>
            <a:prstDash val="solid"/>
          </a:ln>
        </p:spPr>
      </p:sp>
      <p:sp>
        <p:nvSpPr>
          <p:cNvPr id="19" name="Text 17"/>
          <p:cNvSpPr txBox="1"/>
          <p:nvPr/>
        </p:nvSpPr>
        <p:spPr>
          <a:xfrm>
            <a:off x="548640" y="4105656"/>
            <a:ext cx="402336" cy="402336"/>
          </a:xfrm>
          <a:prstGeom prst="rect">
            <a:avLst/>
          </a:prstGeom>
          <a:noFill/>
          <a:ln/>
        </p:spPr>
        <p:txBody>
          <a:bodyPr wrap="square" lIns="0" tIns="0" rIns="0" bIns="0" rtlCol="0" anchor="ctr"/>
          <a:lstStyle/>
          <a:p>
            <a:pPr algn="ctr" indent="0" marL="0">
              <a:buNone/>
            </a:pPr>
            <a:r>
              <a:rPr lang="en-US" sz="1400" b="1" dirty="0">
                <a:solidFill>
                  <a:srgbClr val="4472C4"/>
                </a:solidFill>
              </a:rPr>
              <a:t>D</a:t>
            </a:r>
            <a:endParaRPr lang="en-US" sz="1400" dirty="0"/>
          </a:p>
        </p:txBody>
      </p:sp>
      <p:sp>
        <p:nvSpPr>
          <p:cNvPr id="20" name="Option D"/>
          <p:cNvSpPr txBox="1"/>
          <p:nvPr/>
        </p:nvSpPr>
        <p:spPr>
          <a:xfrm>
            <a:off x="1188720" y="4078224"/>
            <a:ext cx="10271455" cy="457200"/>
          </a:xfrm>
          <a:prstGeom prst="rect">
            <a:avLst/>
          </a:prstGeom>
          <a:noFill/>
          <a:ln/>
        </p:spPr>
        <p:txBody>
          <a:bodyPr wrap="square" lIns="0" tIns="0" rIns="0" bIns="0" rtlCol="0" anchor="ctr"/>
          <a:lstStyle/>
          <a:p>
            <a:pPr indent="0" marL="0">
              <a:buNone/>
            </a:pPr>
            <a:r>
              <a:rPr lang="en-US" sz="1800" dirty="0">
                <a:solidFill>
                  <a:srgbClr val="1F1F1F"/>
                </a:solidFill>
              </a:rPr>
              <a:t>Take it with coffee to speed gastric emptying</a:t>
            </a:r>
            <a:endParaRPr lang="en-US" sz="1800" dirty="0"/>
          </a:p>
        </p:txBody>
      </p:sp>
      <p:sp>
        <p:nvSpPr>
          <p:cNvPr id="21" name="Shape 19"/>
          <p:cNvSpPr/>
          <p:nvPr/>
        </p:nvSpPr>
        <p:spPr>
          <a:xfrm>
            <a:off x="548640" y="4654296"/>
            <a:ext cx="402336" cy="402336"/>
          </a:xfrm>
          <a:prstGeom prst="ellipse">
            <a:avLst/>
          </a:prstGeom>
          <a:solidFill>
            <a:srgbClr val="FFFFFF"/>
          </a:solidFill>
          <a:ln w="19050">
            <a:solidFill>
              <a:srgbClr val="4472C4"/>
            </a:solidFill>
            <a:prstDash val="solid"/>
          </a:ln>
        </p:spPr>
      </p:sp>
      <p:sp>
        <p:nvSpPr>
          <p:cNvPr id="22" name="Text 20"/>
          <p:cNvSpPr txBox="1"/>
          <p:nvPr/>
        </p:nvSpPr>
        <p:spPr>
          <a:xfrm>
            <a:off x="548640" y="4654296"/>
            <a:ext cx="402336" cy="402336"/>
          </a:xfrm>
          <a:prstGeom prst="rect">
            <a:avLst/>
          </a:prstGeom>
          <a:noFill/>
          <a:ln/>
        </p:spPr>
        <p:txBody>
          <a:bodyPr wrap="square" lIns="0" tIns="0" rIns="0" bIns="0" rtlCol="0" anchor="ctr"/>
          <a:lstStyle/>
          <a:p>
            <a:pPr algn="ctr" indent="0" marL="0">
              <a:buNone/>
            </a:pPr>
            <a:r>
              <a:rPr lang="en-US" sz="1400" b="1" dirty="0">
                <a:solidFill>
                  <a:srgbClr val="4472C4"/>
                </a:solidFill>
              </a:rPr>
              <a:t>E</a:t>
            </a:r>
            <a:endParaRPr lang="en-US" sz="1400" dirty="0"/>
          </a:p>
        </p:txBody>
      </p:sp>
      <p:sp>
        <p:nvSpPr>
          <p:cNvPr id="23" name="Option E"/>
          <p:cNvSpPr txBox="1"/>
          <p:nvPr/>
        </p:nvSpPr>
        <p:spPr>
          <a:xfrm>
            <a:off x="1188720" y="4626864"/>
            <a:ext cx="10271455" cy="457200"/>
          </a:xfrm>
          <a:prstGeom prst="rect">
            <a:avLst/>
          </a:prstGeom>
          <a:noFill/>
          <a:ln/>
        </p:spPr>
        <p:txBody>
          <a:bodyPr wrap="square" lIns="0" tIns="0" rIns="0" bIns="0" rtlCol="0" anchor="ctr"/>
          <a:lstStyle/>
          <a:p>
            <a:pPr indent="0" marL="0">
              <a:buNone/>
            </a:pPr>
            <a:r>
              <a:rPr lang="en-US" sz="1800" dirty="0">
                <a:solidFill>
                  <a:srgbClr val="1F1F1F"/>
                </a:solidFill>
              </a:rPr>
              <a:t>Full glass of plain water, then stay upright 30 minutes</a:t>
            </a:r>
            <a:endParaRPr lang="en-US" sz="1800" dirty="0"/>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name="Slide 97">
    <p:bg>
      <p:bgPr>
        <a:solidFill>
          <a:srgbClr val="FFFFFF"/>
        </a:solidFill>
      </p:bgPr>
    </p:bg>
    <p:spTree>
      <p:nvGrpSpPr>
        <p:cNvPr id="1" name=""/>
        <p:cNvGrpSpPr/>
        <p:nvPr/>
      </p:nvGrpSpPr>
      <p:grpSpPr>
        <a:xfrm>
          <a:off x="0" y="0"/>
          <a:ext cx="0" cy="0"/>
          <a:chOff x="0" y="0"/>
          <a:chExt cx="0" cy="0"/>
        </a:xfrm>
      </p:grpSpPr>
      <p:sp>
        <p:nvSpPr>
          <p:cNvPr id="2" name="Kicker"/>
          <p:cNvSpPr txBox="1"/>
          <p:nvPr/>
        </p:nvSpPr>
        <p:spPr>
          <a:xfrm>
            <a:off x="548640" y="292608"/>
            <a:ext cx="8076895" cy="274320"/>
          </a:xfrm>
          <a:prstGeom prst="rect">
            <a:avLst/>
          </a:prstGeom>
          <a:noFill/>
          <a:ln/>
        </p:spPr>
        <p:txBody>
          <a:bodyPr wrap="square" lIns="0" tIns="0" rIns="0" bIns="0" rtlCol="0" anchor="ctr"/>
          <a:lstStyle/>
          <a:p>
            <a:pPr indent="0" marL="0">
              <a:buNone/>
            </a:pPr>
            <a:r>
              <a:rPr lang="en-US" sz="1200" b="1" spc="100" kern="0" dirty="0">
                <a:solidFill>
                  <a:srgbClr val="4472C4"/>
                </a:solidFill>
              </a:rPr>
              <a:t>CLINICAL VIGNETTE · ANSWER</a:t>
            </a:r>
            <a:endParaRPr lang="en-US" sz="1200" dirty="0"/>
          </a:p>
        </p:txBody>
      </p:sp>
      <p:sp>
        <p:nvSpPr>
          <p:cNvPr id="3" name="Title"/>
          <p:cNvSpPr txBox="1"/>
          <p:nvPr/>
        </p:nvSpPr>
        <p:spPr>
          <a:xfrm>
            <a:off x="548640" y="566928"/>
            <a:ext cx="8076895" cy="713232"/>
          </a:xfrm>
          <a:prstGeom prst="rect">
            <a:avLst/>
          </a:prstGeom>
          <a:noFill/>
          <a:ln/>
        </p:spPr>
        <p:txBody>
          <a:bodyPr wrap="square" lIns="0" tIns="0" rIns="0" bIns="0" rtlCol="0" anchor="t"/>
          <a:lstStyle/>
          <a:p>
            <a:pPr indent="0" marL="0">
              <a:buNone/>
            </a:pPr>
            <a:r>
              <a:rPr lang="en-US" sz="3000" b="1" dirty="0">
                <a:solidFill>
                  <a:srgbClr val="1F1F1F"/>
                </a:solidFill>
                <a:latin typeface="Calibri" pitchFamily="34" charset="0"/>
                <a:ea typeface="Calibri" pitchFamily="34" charset="-122"/>
                <a:cs typeface="Calibri" pitchFamily="34" charset="-120"/>
              </a:rPr>
              <a:t>Answer 17: E</a:t>
            </a:r>
            <a:endParaRPr lang="en-US" sz="3000" dirty="0"/>
          </a:p>
        </p:txBody>
      </p:sp>
      <p:sp>
        <p:nvSpPr>
          <p:cNvPr id="4" name="Objective chip"/>
          <p:cNvSpPr/>
          <p:nvPr/>
        </p:nvSpPr>
        <p:spPr>
          <a:xfrm>
            <a:off x="8899855" y="365760"/>
            <a:ext cx="2743200" cy="384048"/>
          </a:xfrm>
          <a:prstGeom prst="roundRect">
            <a:avLst>
              <a:gd name="adj" fmla="val 35714"/>
            </a:avLst>
          </a:prstGeom>
          <a:solidFill>
            <a:srgbClr val="E3EBF8"/>
          </a:solidFill>
          <a:ln/>
        </p:spPr>
        <p:txBody>
          <a:bodyPr wrap="square" lIns="25400" tIns="25400" rIns="25400" bIns="25400" rtlCol="0" anchor="ctr"/>
          <a:lstStyle/>
          <a:p>
            <a:pPr algn="ctr" indent="0" marL="0">
              <a:buNone/>
            </a:pPr>
            <a:r>
              <a:rPr lang="en-US" sz="800" b="1" dirty="0">
                <a:solidFill>
                  <a:srgbClr val="2F4F8A"/>
                </a:solidFill>
              </a:rPr>
              <a:t>Objectives: SO3 · SO4 · IO2.1 · IO2.2 · IO2.3 · IO2.4 · IO2.5 · IO2.6</a:t>
            </a:r>
            <a:endParaRPr lang="en-US" sz="800" dirty="0"/>
          </a:p>
        </p:txBody>
      </p:sp>
      <p:sp>
        <p:nvSpPr>
          <p:cNvPr id="5" name="Footer"/>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1000" dirty="0">
                <a:solidFill>
                  <a:srgbClr val="666666"/>
                </a:solidFill>
              </a:rPr>
              <a:t>L04 · Musculoskeletal Pharmacology — Session 2</a:t>
            </a:r>
            <a:endParaRPr lang="en-US" sz="1000" dirty="0"/>
          </a:p>
        </p:txBody>
      </p:sp>
      <p:sp>
        <p:nvSpPr>
          <p:cNvPr id="6" name="Slide number"/>
          <p:cNvSpPr txBox="1"/>
          <p:nvPr/>
        </p:nvSpPr>
        <p:spPr>
          <a:xfrm>
            <a:off x="10728655" y="6419088"/>
            <a:ext cx="914400" cy="274320"/>
          </a:xfrm>
          <a:prstGeom prst="rect">
            <a:avLst/>
          </a:prstGeom>
          <a:noFill/>
          <a:ln/>
        </p:spPr>
        <p:txBody>
          <a:bodyPr wrap="square" lIns="0" tIns="0" rIns="0" bIns="0" rtlCol="0" anchor="ctr"/>
          <a:lstStyle/>
          <a:p>
            <a:pPr algn="r" indent="0" marL="0">
              <a:buNone/>
            </a:pPr>
            <a:r>
              <a:rPr lang="en-US" sz="1000" dirty="0">
                <a:solidFill>
                  <a:srgbClr val="666666"/>
                </a:solidFill>
              </a:rPr>
              <a:t>97</a:t>
            </a:r>
            <a:endParaRPr lang="en-US" sz="1000" dirty="0"/>
          </a:p>
        </p:txBody>
      </p:sp>
      <p:sp>
        <p:nvSpPr>
          <p:cNvPr id="7" name="Correct answer"/>
          <p:cNvSpPr/>
          <p:nvPr/>
        </p:nvSpPr>
        <p:spPr>
          <a:xfrm>
            <a:off x="548640" y="1325880"/>
            <a:ext cx="11094415" cy="548640"/>
          </a:xfrm>
          <a:prstGeom prst="roundRect">
            <a:avLst>
              <a:gd name="adj" fmla="val 16667"/>
            </a:avLst>
          </a:prstGeom>
          <a:solidFill>
            <a:srgbClr val="E2F0D9"/>
          </a:solidFill>
          <a:ln w="19050">
            <a:solidFill>
              <a:srgbClr val="548235"/>
            </a:solidFill>
            <a:prstDash val="solid"/>
          </a:ln>
        </p:spPr>
      </p:sp>
      <p:pic>
        <p:nvPicPr>
          <p:cNvPr id="8" name="Image 0" descr="preencoded.png">    </p:cNvPr>
          <p:cNvPicPr>
            <a:picLocks noChangeAspect="1"/>
          </p:cNvPicPr>
          <p:nvPr/>
        </p:nvPicPr>
        <p:blipFill>
          <a:blip r:embed="rId1"/>
          <a:stretch>
            <a:fillRect/>
          </a:stretch>
        </p:blipFill>
        <p:spPr>
          <a:xfrm>
            <a:off x="731520" y="1435608"/>
            <a:ext cx="329184" cy="329184"/>
          </a:xfrm>
          <a:prstGeom prst="rect">
            <a:avLst/>
          </a:prstGeom>
        </p:spPr>
      </p:pic>
      <p:sp>
        <p:nvSpPr>
          <p:cNvPr id="9" name="Text 6"/>
          <p:cNvSpPr txBox="1"/>
          <p:nvPr/>
        </p:nvSpPr>
        <p:spPr>
          <a:xfrm>
            <a:off x="1234440" y="1325880"/>
            <a:ext cx="10180015" cy="548640"/>
          </a:xfrm>
          <a:prstGeom prst="rect">
            <a:avLst/>
          </a:prstGeom>
          <a:noFill/>
          <a:ln/>
        </p:spPr>
        <p:txBody>
          <a:bodyPr wrap="square" lIns="0" tIns="0" rIns="0" bIns="0" rtlCol="0" anchor="ctr"/>
          <a:lstStyle/>
          <a:p>
            <a:pPr indent="0" marL="0">
              <a:buNone/>
            </a:pPr>
            <a:r>
              <a:rPr lang="en-US" sz="1600" b="1" dirty="0">
                <a:solidFill>
                  <a:srgbClr val="1F1F1F"/>
                </a:solidFill>
              </a:rPr>
              <a:t>E. </a:t>
            </a:r>
            <a:r>
              <a:rPr lang="en-US" sz="1600" b="1" dirty="0">
                <a:solidFill>
                  <a:srgbClr val="1F1F1F"/>
                </a:solidFill>
              </a:rPr>
              <a:t>Full glass of plain water, then stay upright 30 minutes</a:t>
            </a:r>
            <a:endParaRPr lang="en-US" sz="1600" dirty="0"/>
          </a:p>
        </p:txBody>
      </p:sp>
      <p:sp>
        <p:nvSpPr>
          <p:cNvPr id="10" name="Why correct"/>
          <p:cNvSpPr txBox="1"/>
          <p:nvPr/>
        </p:nvSpPr>
        <p:spPr>
          <a:xfrm>
            <a:off x="777240" y="2011680"/>
            <a:ext cx="10637215" cy="724408"/>
          </a:xfrm>
          <a:prstGeom prst="rect">
            <a:avLst/>
          </a:prstGeom>
          <a:noFill/>
          <a:ln/>
        </p:spPr>
        <p:txBody>
          <a:bodyPr wrap="square" lIns="0" tIns="0" rIns="0" bIns="0" rtlCol="0" anchor="t"/>
          <a:lstStyle/>
          <a:p>
            <a:pPr indent="0" marL="0">
              <a:buNone/>
            </a:pPr>
            <a:r>
              <a:rPr lang="en-US" sz="1600" dirty="0">
                <a:solidFill>
                  <a:srgbClr val="1F1F1F"/>
                </a:solidFill>
              </a:rPr>
              <a:t>Take with a full glass of water first thing in the morning, fasting, and remain upright — this reduces esophageal contact time and irritation (S52; S53; SG U2-R13).</a:t>
            </a:r>
            <a:r>
              <a:rPr lang="en-US" sz="1100" dirty="0">
                <a:solidFill>
                  <a:srgbClr val="666666"/>
                </a:solidFill>
              </a:rPr>
              <a:t>  S52; S53; SG U2-R13</a:t>
            </a:r>
            <a:endParaRPr lang="en-US" sz="1600" dirty="0"/>
          </a:p>
        </p:txBody>
      </p:sp>
      <p:sp>
        <p:nvSpPr>
          <p:cNvPr id="11" name="Why others wrong card"/>
          <p:cNvSpPr/>
          <p:nvPr/>
        </p:nvSpPr>
        <p:spPr>
          <a:xfrm>
            <a:off x="548640" y="2873248"/>
            <a:ext cx="11094415" cy="1704848"/>
          </a:xfrm>
          <a:prstGeom prst="roundRect">
            <a:avLst>
              <a:gd name="adj" fmla="val 5364"/>
            </a:avLst>
          </a:prstGeom>
          <a:solidFill>
            <a:srgbClr val="F2F4F7"/>
          </a:solidFill>
          <a:ln w="12700">
            <a:solidFill>
              <a:srgbClr val="F2F4F7"/>
            </a:solidFill>
            <a:prstDash val="solid"/>
          </a:ln>
        </p:spPr>
      </p:sp>
      <p:sp>
        <p:nvSpPr>
          <p:cNvPr id="12" name="Why others wrong"/>
          <p:cNvSpPr txBox="1"/>
          <p:nvPr/>
        </p:nvSpPr>
        <p:spPr>
          <a:xfrm>
            <a:off x="777240" y="2982976"/>
            <a:ext cx="10637215" cy="1521968"/>
          </a:xfrm>
          <a:prstGeom prst="rect">
            <a:avLst/>
          </a:prstGeom>
          <a:noFill/>
          <a:ln/>
        </p:spPr>
        <p:txBody>
          <a:bodyPr wrap="square" lIns="0" tIns="0" rIns="0" bIns="0" rtlCol="0" anchor="t"/>
          <a:lstStyle/>
          <a:p>
            <a:pPr indent="0" marL="0">
              <a:spcAft>
                <a:spcPts val="400"/>
              </a:spcAft>
              <a:buNone/>
            </a:pPr>
            <a:r>
              <a:rPr lang="en-US" sz="1600" b="1" dirty="0">
                <a:solidFill>
                  <a:srgbClr val="C00000"/>
                </a:solidFill>
              </a:rPr>
              <a:t>Why the other choices are wrong</a:t>
            </a:r>
            <a:endParaRPr lang="en-US" sz="1600" dirty="0"/>
          </a:p>
          <a:p>
            <a:pPr indent="0" marL="0">
              <a:buNone/>
            </a:pPr>
            <a:r>
              <a:rPr lang="en-US" sz="1600" b="1" dirty="0">
                <a:solidFill>
                  <a:srgbClr val="1F1F1F"/>
                </a:solidFill>
              </a:rPr>
              <a:t>A. Take it with breakfast to protect the stomach — </a:t>
            </a:r>
            <a:r>
              <a:rPr lang="en-US" sz="1600" dirty="0">
                <a:solidFill>
                  <a:srgbClr val="1F1F1F"/>
                </a:solidFill>
              </a:rPr>
              <a:t>Food cuts the already poor absorption; take it fasting (S53).</a:t>
            </a:r>
            <a:endParaRPr lang="en-US" sz="1600" dirty="0"/>
          </a:p>
          <a:p>
            <a:pPr indent="0" marL="0">
              <a:buNone/>
            </a:pPr>
            <a:r>
              <a:rPr lang="en-US" sz="1600" b="1" dirty="0">
                <a:solidFill>
                  <a:srgbClr val="1F1F1F"/>
                </a:solidFill>
              </a:rPr>
              <a:t>B. Take it at bedtime with a calcium supplement — </a:t>
            </a:r>
            <a:r>
              <a:rPr lang="en-US" sz="1600" dirty="0">
                <a:solidFill>
                  <a:srgbClr val="1F1F1F"/>
                </a:solidFill>
              </a:rPr>
              <a:t>Calcium blocks absorption, and lying down raises esophageal risk (S53).</a:t>
            </a:r>
            <a:endParaRPr lang="en-US" sz="1600" dirty="0"/>
          </a:p>
          <a:p>
            <a:pPr indent="0" marL="0">
              <a:buNone/>
            </a:pPr>
            <a:r>
              <a:rPr lang="en-US" sz="1600" b="1" dirty="0">
                <a:solidFill>
                  <a:srgbClr val="1F1F1F"/>
                </a:solidFill>
              </a:rPr>
              <a:t>C. Lie down for 30 minutes after the dose — </a:t>
            </a:r>
            <a:r>
              <a:rPr lang="en-US" sz="1600" dirty="0">
                <a:solidFill>
                  <a:srgbClr val="1F1F1F"/>
                </a:solidFill>
              </a:rPr>
              <a:t>Remaining upright is the key counseling point (S52).</a:t>
            </a:r>
            <a:endParaRPr lang="en-US" sz="1600" dirty="0"/>
          </a:p>
          <a:p>
            <a:pPr indent="0" marL="0">
              <a:buNone/>
            </a:pPr>
            <a:r>
              <a:rPr lang="en-US" sz="1600" b="1" dirty="0">
                <a:solidFill>
                  <a:srgbClr val="1F1F1F"/>
                </a:solidFill>
              </a:rPr>
              <a:t>D. Take it with coffee to speed gastric emptying — </a:t>
            </a:r>
            <a:r>
              <a:rPr lang="en-US" sz="1600" dirty="0">
                <a:solidFill>
                  <a:srgbClr val="1F1F1F"/>
                </a:solidFill>
              </a:rPr>
              <a:t>Coffee reduces absorption (S53).</a:t>
            </a:r>
            <a:endParaRPr lang="en-US" sz="1600" dirty="0"/>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name="Slide 98">
    <p:bg>
      <p:bgPr>
        <a:solidFill>
          <a:srgbClr val="FFFFFF"/>
        </a:solidFill>
      </p:bgPr>
    </p:bg>
    <p:spTree>
      <p:nvGrpSpPr>
        <p:cNvPr id="1" name=""/>
        <p:cNvGrpSpPr/>
        <p:nvPr/>
      </p:nvGrpSpPr>
      <p:grpSpPr>
        <a:xfrm>
          <a:off x="0" y="0"/>
          <a:ext cx="0" cy="0"/>
          <a:chOff x="0" y="0"/>
          <a:chExt cx="0" cy="0"/>
        </a:xfrm>
      </p:grpSpPr>
      <p:sp>
        <p:nvSpPr>
          <p:cNvPr id="2" name="Kicker"/>
          <p:cNvSpPr txBox="1"/>
          <p:nvPr/>
        </p:nvSpPr>
        <p:spPr>
          <a:xfrm>
            <a:off x="548640" y="292608"/>
            <a:ext cx="8076895" cy="274320"/>
          </a:xfrm>
          <a:prstGeom prst="rect">
            <a:avLst/>
          </a:prstGeom>
          <a:noFill/>
          <a:ln/>
        </p:spPr>
        <p:txBody>
          <a:bodyPr wrap="square" lIns="0" tIns="0" rIns="0" bIns="0" rtlCol="0" anchor="ctr"/>
          <a:lstStyle/>
          <a:p>
            <a:pPr indent="0" marL="0">
              <a:buNone/>
            </a:pPr>
            <a:r>
              <a:rPr lang="en-US" sz="1200" b="1" spc="100" kern="0" dirty="0">
                <a:solidFill>
                  <a:srgbClr val="4472C4"/>
                </a:solidFill>
              </a:rPr>
              <a:t>MECHANISM · LECTURE QUICK CHECK S44; S45</a:t>
            </a:r>
            <a:endParaRPr lang="en-US" sz="1200" dirty="0"/>
          </a:p>
        </p:txBody>
      </p:sp>
      <p:sp>
        <p:nvSpPr>
          <p:cNvPr id="3" name="Title"/>
          <p:cNvSpPr txBox="1"/>
          <p:nvPr/>
        </p:nvSpPr>
        <p:spPr>
          <a:xfrm>
            <a:off x="548640" y="566928"/>
            <a:ext cx="8076895" cy="713232"/>
          </a:xfrm>
          <a:prstGeom prst="rect">
            <a:avLst/>
          </a:prstGeom>
          <a:noFill/>
          <a:ln/>
        </p:spPr>
        <p:txBody>
          <a:bodyPr wrap="square" lIns="0" tIns="0" rIns="0" bIns="0" rtlCol="0" anchor="t"/>
          <a:lstStyle/>
          <a:p>
            <a:pPr indent="0" marL="0">
              <a:buNone/>
            </a:pPr>
            <a:r>
              <a:rPr lang="en-US" sz="3000" b="1" dirty="0">
                <a:solidFill>
                  <a:srgbClr val="1F1F1F"/>
                </a:solidFill>
                <a:latin typeface="Calibri" pitchFamily="34" charset="0"/>
                <a:ea typeface="Calibri" pitchFamily="34" charset="-122"/>
                <a:cs typeface="Calibri" pitchFamily="34" charset="-120"/>
              </a:rPr>
              <a:t>Question 23</a:t>
            </a:r>
            <a:endParaRPr lang="en-US" sz="3000" dirty="0"/>
          </a:p>
        </p:txBody>
      </p:sp>
      <p:sp>
        <p:nvSpPr>
          <p:cNvPr id="4" name="Objective chip"/>
          <p:cNvSpPr/>
          <p:nvPr/>
        </p:nvSpPr>
        <p:spPr>
          <a:xfrm>
            <a:off x="8899855" y="365760"/>
            <a:ext cx="2743200" cy="384048"/>
          </a:xfrm>
          <a:prstGeom prst="roundRect">
            <a:avLst>
              <a:gd name="adj" fmla="val 35714"/>
            </a:avLst>
          </a:prstGeom>
          <a:solidFill>
            <a:srgbClr val="E3EBF8"/>
          </a:solidFill>
          <a:ln/>
        </p:spPr>
        <p:txBody>
          <a:bodyPr wrap="square" lIns="25400" tIns="25400" rIns="25400" bIns="25400" rtlCol="0" anchor="ctr"/>
          <a:lstStyle/>
          <a:p>
            <a:pPr algn="ctr" indent="0" marL="0">
              <a:buNone/>
            </a:pPr>
            <a:r>
              <a:rPr lang="en-US" sz="800" b="1" dirty="0">
                <a:solidFill>
                  <a:srgbClr val="2F4F8A"/>
                </a:solidFill>
              </a:rPr>
              <a:t>Objectives: SO3 · SO4 · IO2.1 · IO2.2 · IO2.3 · IO2.4 · IO2.5 · IO2.6</a:t>
            </a:r>
            <a:endParaRPr lang="en-US" sz="800" dirty="0"/>
          </a:p>
        </p:txBody>
      </p:sp>
      <p:sp>
        <p:nvSpPr>
          <p:cNvPr id="5" name="Footer"/>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1000" dirty="0">
                <a:solidFill>
                  <a:srgbClr val="666666"/>
                </a:solidFill>
              </a:rPr>
              <a:t>L04 · Musculoskeletal Pharmacology — Session 2</a:t>
            </a:r>
            <a:endParaRPr lang="en-US" sz="1000" dirty="0"/>
          </a:p>
        </p:txBody>
      </p:sp>
      <p:sp>
        <p:nvSpPr>
          <p:cNvPr id="6" name="Slide number"/>
          <p:cNvSpPr txBox="1"/>
          <p:nvPr/>
        </p:nvSpPr>
        <p:spPr>
          <a:xfrm>
            <a:off x="10728655" y="6419088"/>
            <a:ext cx="914400" cy="274320"/>
          </a:xfrm>
          <a:prstGeom prst="rect">
            <a:avLst/>
          </a:prstGeom>
          <a:noFill/>
          <a:ln/>
        </p:spPr>
        <p:txBody>
          <a:bodyPr wrap="square" lIns="0" tIns="0" rIns="0" bIns="0" rtlCol="0" anchor="ctr"/>
          <a:lstStyle/>
          <a:p>
            <a:pPr algn="r" indent="0" marL="0">
              <a:buNone/>
            </a:pPr>
            <a:r>
              <a:rPr lang="en-US" sz="1000" dirty="0">
                <a:solidFill>
                  <a:srgbClr val="666666"/>
                </a:solidFill>
              </a:rPr>
              <a:t>98</a:t>
            </a:r>
            <a:endParaRPr lang="en-US" sz="1000" dirty="0"/>
          </a:p>
        </p:txBody>
      </p:sp>
      <p:sp>
        <p:nvSpPr>
          <p:cNvPr id="7" name="Question stem card"/>
          <p:cNvSpPr/>
          <p:nvPr/>
        </p:nvSpPr>
        <p:spPr>
          <a:xfrm>
            <a:off x="548640" y="1325880"/>
            <a:ext cx="11094415" cy="644652"/>
          </a:xfrm>
          <a:prstGeom prst="roundRect">
            <a:avLst>
              <a:gd name="adj" fmla="val 14184"/>
            </a:avLst>
          </a:prstGeom>
          <a:solidFill>
            <a:srgbClr val="F2F4F7"/>
          </a:solidFill>
          <a:ln w="12700">
            <a:solidFill>
              <a:srgbClr val="F2F4F7"/>
            </a:solidFill>
            <a:prstDash val="solid"/>
          </a:ln>
        </p:spPr>
      </p:sp>
      <p:sp>
        <p:nvSpPr>
          <p:cNvPr id="8" name="Question stem"/>
          <p:cNvSpPr txBox="1"/>
          <p:nvPr/>
        </p:nvSpPr>
        <p:spPr>
          <a:xfrm>
            <a:off x="777240" y="1325880"/>
            <a:ext cx="10637215" cy="644652"/>
          </a:xfrm>
          <a:prstGeom prst="rect">
            <a:avLst/>
          </a:prstGeom>
          <a:noFill/>
          <a:ln/>
        </p:spPr>
        <p:txBody>
          <a:bodyPr wrap="square" lIns="0" tIns="0" rIns="0" bIns="0" rtlCol="0" anchor="ctr"/>
          <a:lstStyle/>
          <a:p>
            <a:pPr indent="0" marL="0">
              <a:buNone/>
            </a:pPr>
            <a:r>
              <a:rPr lang="en-US" sz="1800" dirty="0">
                <a:solidFill>
                  <a:srgbClr val="1F1F1F"/>
                </a:solidFill>
              </a:rPr>
              <a:t>In Figure 6, PTH release raises serum calcium through three parallel actions. Which organ is NOT part of this loop?</a:t>
            </a:r>
            <a:endParaRPr lang="en-US" sz="1800" dirty="0"/>
          </a:p>
        </p:txBody>
      </p:sp>
      <p:sp>
        <p:nvSpPr>
          <p:cNvPr id="9" name="Shape 7"/>
          <p:cNvSpPr/>
          <p:nvPr/>
        </p:nvSpPr>
        <p:spPr>
          <a:xfrm>
            <a:off x="548640" y="2180844"/>
            <a:ext cx="402336" cy="402336"/>
          </a:xfrm>
          <a:prstGeom prst="ellipse">
            <a:avLst/>
          </a:prstGeom>
          <a:solidFill>
            <a:srgbClr val="FFFFFF"/>
          </a:solidFill>
          <a:ln w="19050">
            <a:solidFill>
              <a:srgbClr val="4472C4"/>
            </a:solidFill>
            <a:prstDash val="solid"/>
          </a:ln>
        </p:spPr>
      </p:sp>
      <p:sp>
        <p:nvSpPr>
          <p:cNvPr id="10" name="Text 8"/>
          <p:cNvSpPr txBox="1"/>
          <p:nvPr/>
        </p:nvSpPr>
        <p:spPr>
          <a:xfrm>
            <a:off x="548640" y="2180844"/>
            <a:ext cx="402336" cy="402336"/>
          </a:xfrm>
          <a:prstGeom prst="rect">
            <a:avLst/>
          </a:prstGeom>
          <a:noFill/>
          <a:ln/>
        </p:spPr>
        <p:txBody>
          <a:bodyPr wrap="square" lIns="0" tIns="0" rIns="0" bIns="0" rtlCol="0" anchor="ctr"/>
          <a:lstStyle/>
          <a:p>
            <a:pPr algn="ctr" indent="0" marL="0">
              <a:buNone/>
            </a:pPr>
            <a:r>
              <a:rPr lang="en-US" sz="1400" b="1" dirty="0">
                <a:solidFill>
                  <a:srgbClr val="4472C4"/>
                </a:solidFill>
              </a:rPr>
              <a:t>A</a:t>
            </a:r>
            <a:endParaRPr lang="en-US" sz="1400" dirty="0"/>
          </a:p>
        </p:txBody>
      </p:sp>
      <p:sp>
        <p:nvSpPr>
          <p:cNvPr id="11" name="Option A"/>
          <p:cNvSpPr txBox="1"/>
          <p:nvPr/>
        </p:nvSpPr>
        <p:spPr>
          <a:xfrm>
            <a:off x="1188720" y="2153412"/>
            <a:ext cx="10271455" cy="457200"/>
          </a:xfrm>
          <a:prstGeom prst="rect">
            <a:avLst/>
          </a:prstGeom>
          <a:noFill/>
          <a:ln/>
        </p:spPr>
        <p:txBody>
          <a:bodyPr wrap="square" lIns="0" tIns="0" rIns="0" bIns="0" rtlCol="0" anchor="ctr"/>
          <a:lstStyle/>
          <a:p>
            <a:pPr indent="0" marL="0">
              <a:buNone/>
            </a:pPr>
            <a:r>
              <a:rPr lang="en-US" sz="1800" dirty="0">
                <a:solidFill>
                  <a:srgbClr val="1F1F1F"/>
                </a:solidFill>
              </a:rPr>
              <a:t>The bone</a:t>
            </a:r>
            <a:endParaRPr lang="en-US" sz="1800" dirty="0"/>
          </a:p>
        </p:txBody>
      </p:sp>
      <p:sp>
        <p:nvSpPr>
          <p:cNvPr id="12" name="Shape 10"/>
          <p:cNvSpPr/>
          <p:nvPr/>
        </p:nvSpPr>
        <p:spPr>
          <a:xfrm>
            <a:off x="548640" y="2729484"/>
            <a:ext cx="402336" cy="402336"/>
          </a:xfrm>
          <a:prstGeom prst="ellipse">
            <a:avLst/>
          </a:prstGeom>
          <a:solidFill>
            <a:srgbClr val="FFFFFF"/>
          </a:solidFill>
          <a:ln w="19050">
            <a:solidFill>
              <a:srgbClr val="4472C4"/>
            </a:solidFill>
            <a:prstDash val="solid"/>
          </a:ln>
        </p:spPr>
      </p:sp>
      <p:sp>
        <p:nvSpPr>
          <p:cNvPr id="13" name="Text 11"/>
          <p:cNvSpPr txBox="1"/>
          <p:nvPr/>
        </p:nvSpPr>
        <p:spPr>
          <a:xfrm>
            <a:off x="548640" y="2729484"/>
            <a:ext cx="402336" cy="402336"/>
          </a:xfrm>
          <a:prstGeom prst="rect">
            <a:avLst/>
          </a:prstGeom>
          <a:noFill/>
          <a:ln/>
        </p:spPr>
        <p:txBody>
          <a:bodyPr wrap="square" lIns="0" tIns="0" rIns="0" bIns="0" rtlCol="0" anchor="ctr"/>
          <a:lstStyle/>
          <a:p>
            <a:pPr algn="ctr" indent="0" marL="0">
              <a:buNone/>
            </a:pPr>
            <a:r>
              <a:rPr lang="en-US" sz="1400" b="1" dirty="0">
                <a:solidFill>
                  <a:srgbClr val="4472C4"/>
                </a:solidFill>
              </a:rPr>
              <a:t>B</a:t>
            </a:r>
            <a:endParaRPr lang="en-US" sz="1400" dirty="0"/>
          </a:p>
        </p:txBody>
      </p:sp>
      <p:sp>
        <p:nvSpPr>
          <p:cNvPr id="14" name="Option B"/>
          <p:cNvSpPr txBox="1"/>
          <p:nvPr/>
        </p:nvSpPr>
        <p:spPr>
          <a:xfrm>
            <a:off x="1188720" y="2702052"/>
            <a:ext cx="10271455" cy="457200"/>
          </a:xfrm>
          <a:prstGeom prst="rect">
            <a:avLst/>
          </a:prstGeom>
          <a:noFill/>
          <a:ln/>
        </p:spPr>
        <p:txBody>
          <a:bodyPr wrap="square" lIns="0" tIns="0" rIns="0" bIns="0" rtlCol="0" anchor="ctr"/>
          <a:lstStyle/>
          <a:p>
            <a:pPr indent="0" marL="0">
              <a:buNone/>
            </a:pPr>
            <a:r>
              <a:rPr lang="en-US" sz="1800" dirty="0">
                <a:solidFill>
                  <a:srgbClr val="1F1F1F"/>
                </a:solidFill>
              </a:rPr>
              <a:t>The kidney</a:t>
            </a:r>
            <a:endParaRPr lang="en-US" sz="1800" dirty="0"/>
          </a:p>
        </p:txBody>
      </p:sp>
      <p:sp>
        <p:nvSpPr>
          <p:cNvPr id="15" name="Shape 13"/>
          <p:cNvSpPr/>
          <p:nvPr/>
        </p:nvSpPr>
        <p:spPr>
          <a:xfrm>
            <a:off x="548640" y="3278124"/>
            <a:ext cx="402336" cy="402336"/>
          </a:xfrm>
          <a:prstGeom prst="ellipse">
            <a:avLst/>
          </a:prstGeom>
          <a:solidFill>
            <a:srgbClr val="FFFFFF"/>
          </a:solidFill>
          <a:ln w="19050">
            <a:solidFill>
              <a:srgbClr val="4472C4"/>
            </a:solidFill>
            <a:prstDash val="solid"/>
          </a:ln>
        </p:spPr>
      </p:sp>
      <p:sp>
        <p:nvSpPr>
          <p:cNvPr id="16" name="Text 14"/>
          <p:cNvSpPr txBox="1"/>
          <p:nvPr/>
        </p:nvSpPr>
        <p:spPr>
          <a:xfrm>
            <a:off x="548640" y="3278124"/>
            <a:ext cx="402336" cy="402336"/>
          </a:xfrm>
          <a:prstGeom prst="rect">
            <a:avLst/>
          </a:prstGeom>
          <a:noFill/>
          <a:ln/>
        </p:spPr>
        <p:txBody>
          <a:bodyPr wrap="square" lIns="0" tIns="0" rIns="0" bIns="0" rtlCol="0" anchor="ctr"/>
          <a:lstStyle/>
          <a:p>
            <a:pPr algn="ctr" indent="0" marL="0">
              <a:buNone/>
            </a:pPr>
            <a:r>
              <a:rPr lang="en-US" sz="1400" b="1" dirty="0">
                <a:solidFill>
                  <a:srgbClr val="4472C4"/>
                </a:solidFill>
              </a:rPr>
              <a:t>C</a:t>
            </a:r>
            <a:endParaRPr lang="en-US" sz="1400" dirty="0"/>
          </a:p>
        </p:txBody>
      </p:sp>
      <p:sp>
        <p:nvSpPr>
          <p:cNvPr id="17" name="Option C"/>
          <p:cNvSpPr txBox="1"/>
          <p:nvPr/>
        </p:nvSpPr>
        <p:spPr>
          <a:xfrm>
            <a:off x="1188720" y="3250692"/>
            <a:ext cx="10271455" cy="457200"/>
          </a:xfrm>
          <a:prstGeom prst="rect">
            <a:avLst/>
          </a:prstGeom>
          <a:noFill/>
          <a:ln/>
        </p:spPr>
        <p:txBody>
          <a:bodyPr wrap="square" lIns="0" tIns="0" rIns="0" bIns="0" rtlCol="0" anchor="ctr"/>
          <a:lstStyle/>
          <a:p>
            <a:pPr indent="0" marL="0">
              <a:buNone/>
            </a:pPr>
            <a:r>
              <a:rPr lang="en-US" sz="1800" dirty="0">
                <a:solidFill>
                  <a:srgbClr val="1F1F1F"/>
                </a:solidFill>
              </a:rPr>
              <a:t>The intestine</a:t>
            </a:r>
            <a:endParaRPr lang="en-US" sz="1800" dirty="0"/>
          </a:p>
        </p:txBody>
      </p:sp>
      <p:sp>
        <p:nvSpPr>
          <p:cNvPr id="18" name="Shape 16"/>
          <p:cNvSpPr/>
          <p:nvPr/>
        </p:nvSpPr>
        <p:spPr>
          <a:xfrm>
            <a:off x="548640" y="3826764"/>
            <a:ext cx="402336" cy="402336"/>
          </a:xfrm>
          <a:prstGeom prst="ellipse">
            <a:avLst/>
          </a:prstGeom>
          <a:solidFill>
            <a:srgbClr val="FFFFFF"/>
          </a:solidFill>
          <a:ln w="19050">
            <a:solidFill>
              <a:srgbClr val="4472C4"/>
            </a:solidFill>
            <a:prstDash val="solid"/>
          </a:ln>
        </p:spPr>
      </p:sp>
      <p:sp>
        <p:nvSpPr>
          <p:cNvPr id="19" name="Text 17"/>
          <p:cNvSpPr txBox="1"/>
          <p:nvPr/>
        </p:nvSpPr>
        <p:spPr>
          <a:xfrm>
            <a:off x="548640" y="3826764"/>
            <a:ext cx="402336" cy="402336"/>
          </a:xfrm>
          <a:prstGeom prst="rect">
            <a:avLst/>
          </a:prstGeom>
          <a:noFill/>
          <a:ln/>
        </p:spPr>
        <p:txBody>
          <a:bodyPr wrap="square" lIns="0" tIns="0" rIns="0" bIns="0" rtlCol="0" anchor="ctr"/>
          <a:lstStyle/>
          <a:p>
            <a:pPr algn="ctr" indent="0" marL="0">
              <a:buNone/>
            </a:pPr>
            <a:r>
              <a:rPr lang="en-US" sz="1400" b="1" dirty="0">
                <a:solidFill>
                  <a:srgbClr val="4472C4"/>
                </a:solidFill>
              </a:rPr>
              <a:t>D</a:t>
            </a:r>
            <a:endParaRPr lang="en-US" sz="1400" dirty="0"/>
          </a:p>
        </p:txBody>
      </p:sp>
      <p:sp>
        <p:nvSpPr>
          <p:cNvPr id="20" name="Option D"/>
          <p:cNvSpPr txBox="1"/>
          <p:nvPr/>
        </p:nvSpPr>
        <p:spPr>
          <a:xfrm>
            <a:off x="1188720" y="3799332"/>
            <a:ext cx="10271455" cy="457200"/>
          </a:xfrm>
          <a:prstGeom prst="rect">
            <a:avLst/>
          </a:prstGeom>
          <a:noFill/>
          <a:ln/>
        </p:spPr>
        <p:txBody>
          <a:bodyPr wrap="square" lIns="0" tIns="0" rIns="0" bIns="0" rtlCol="0" anchor="ctr"/>
          <a:lstStyle/>
          <a:p>
            <a:pPr indent="0" marL="0">
              <a:buNone/>
            </a:pPr>
            <a:r>
              <a:rPr lang="en-US" sz="1800" dirty="0">
                <a:solidFill>
                  <a:srgbClr val="1F1F1F"/>
                </a:solidFill>
              </a:rPr>
              <a:t>The lung</a:t>
            </a:r>
            <a:endParaRPr lang="en-US" sz="1800" dirty="0"/>
          </a:p>
        </p:txBody>
      </p:sp>
      <p:sp>
        <p:nvSpPr>
          <p:cNvPr id="21" name="Shape 19"/>
          <p:cNvSpPr/>
          <p:nvPr/>
        </p:nvSpPr>
        <p:spPr>
          <a:xfrm>
            <a:off x="548640" y="4375404"/>
            <a:ext cx="402336" cy="402336"/>
          </a:xfrm>
          <a:prstGeom prst="ellipse">
            <a:avLst/>
          </a:prstGeom>
          <a:solidFill>
            <a:srgbClr val="FFFFFF"/>
          </a:solidFill>
          <a:ln w="19050">
            <a:solidFill>
              <a:srgbClr val="4472C4"/>
            </a:solidFill>
            <a:prstDash val="solid"/>
          </a:ln>
        </p:spPr>
      </p:sp>
      <p:sp>
        <p:nvSpPr>
          <p:cNvPr id="22" name="Text 20"/>
          <p:cNvSpPr txBox="1"/>
          <p:nvPr/>
        </p:nvSpPr>
        <p:spPr>
          <a:xfrm>
            <a:off x="548640" y="4375404"/>
            <a:ext cx="402336" cy="402336"/>
          </a:xfrm>
          <a:prstGeom prst="rect">
            <a:avLst/>
          </a:prstGeom>
          <a:noFill/>
          <a:ln/>
        </p:spPr>
        <p:txBody>
          <a:bodyPr wrap="square" lIns="0" tIns="0" rIns="0" bIns="0" rtlCol="0" anchor="ctr"/>
          <a:lstStyle/>
          <a:p>
            <a:pPr algn="ctr" indent="0" marL="0">
              <a:buNone/>
            </a:pPr>
            <a:r>
              <a:rPr lang="en-US" sz="1400" b="1" dirty="0">
                <a:solidFill>
                  <a:srgbClr val="4472C4"/>
                </a:solidFill>
              </a:rPr>
              <a:t>E</a:t>
            </a:r>
            <a:endParaRPr lang="en-US" sz="1400" dirty="0"/>
          </a:p>
        </p:txBody>
      </p:sp>
      <p:sp>
        <p:nvSpPr>
          <p:cNvPr id="23" name="Option E"/>
          <p:cNvSpPr txBox="1"/>
          <p:nvPr/>
        </p:nvSpPr>
        <p:spPr>
          <a:xfrm>
            <a:off x="1188720" y="4347972"/>
            <a:ext cx="10271455" cy="457200"/>
          </a:xfrm>
          <a:prstGeom prst="rect">
            <a:avLst/>
          </a:prstGeom>
          <a:noFill/>
          <a:ln/>
        </p:spPr>
        <p:txBody>
          <a:bodyPr wrap="square" lIns="0" tIns="0" rIns="0" bIns="0" rtlCol="0" anchor="ctr"/>
          <a:lstStyle/>
          <a:p>
            <a:pPr indent="0" marL="0">
              <a:buNone/>
            </a:pPr>
            <a:r>
              <a:rPr lang="en-US" sz="1800" dirty="0">
                <a:solidFill>
                  <a:srgbClr val="1F1F1F"/>
                </a:solidFill>
              </a:rPr>
              <a:t>The parathyroid</a:t>
            </a:r>
            <a:endParaRPr lang="en-US" sz="1800" dirty="0"/>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name="Slide 99">
    <p:bg>
      <p:bgPr>
        <a:solidFill>
          <a:srgbClr val="FFFFFF"/>
        </a:solidFill>
      </p:bgPr>
    </p:bg>
    <p:spTree>
      <p:nvGrpSpPr>
        <p:cNvPr id="1" name=""/>
        <p:cNvGrpSpPr/>
        <p:nvPr/>
      </p:nvGrpSpPr>
      <p:grpSpPr>
        <a:xfrm>
          <a:off x="0" y="0"/>
          <a:ext cx="0" cy="0"/>
          <a:chOff x="0" y="0"/>
          <a:chExt cx="0" cy="0"/>
        </a:xfrm>
      </p:grpSpPr>
      <p:sp>
        <p:nvSpPr>
          <p:cNvPr id="2" name="Kicker"/>
          <p:cNvSpPr txBox="1"/>
          <p:nvPr/>
        </p:nvSpPr>
        <p:spPr>
          <a:xfrm>
            <a:off x="548640" y="292608"/>
            <a:ext cx="8076895" cy="274320"/>
          </a:xfrm>
          <a:prstGeom prst="rect">
            <a:avLst/>
          </a:prstGeom>
          <a:noFill/>
          <a:ln/>
        </p:spPr>
        <p:txBody>
          <a:bodyPr wrap="square" lIns="0" tIns="0" rIns="0" bIns="0" rtlCol="0" anchor="ctr"/>
          <a:lstStyle/>
          <a:p>
            <a:pPr indent="0" marL="0">
              <a:buNone/>
            </a:pPr>
            <a:r>
              <a:rPr lang="en-US" sz="1200" b="1" spc="100" kern="0" dirty="0">
                <a:solidFill>
                  <a:srgbClr val="4472C4"/>
                </a:solidFill>
              </a:rPr>
              <a:t>MECHANISM · ANSWER</a:t>
            </a:r>
            <a:endParaRPr lang="en-US" sz="1200" dirty="0"/>
          </a:p>
        </p:txBody>
      </p:sp>
      <p:sp>
        <p:nvSpPr>
          <p:cNvPr id="3" name="Title"/>
          <p:cNvSpPr txBox="1"/>
          <p:nvPr/>
        </p:nvSpPr>
        <p:spPr>
          <a:xfrm>
            <a:off x="548640" y="566928"/>
            <a:ext cx="8076895" cy="713232"/>
          </a:xfrm>
          <a:prstGeom prst="rect">
            <a:avLst/>
          </a:prstGeom>
          <a:noFill/>
          <a:ln/>
        </p:spPr>
        <p:txBody>
          <a:bodyPr wrap="square" lIns="0" tIns="0" rIns="0" bIns="0" rtlCol="0" anchor="t"/>
          <a:lstStyle/>
          <a:p>
            <a:pPr indent="0" marL="0">
              <a:buNone/>
            </a:pPr>
            <a:r>
              <a:rPr lang="en-US" sz="3000" b="1" dirty="0">
                <a:solidFill>
                  <a:srgbClr val="1F1F1F"/>
                </a:solidFill>
                <a:latin typeface="Calibri" pitchFamily="34" charset="0"/>
                <a:ea typeface="Calibri" pitchFamily="34" charset="-122"/>
                <a:cs typeface="Calibri" pitchFamily="34" charset="-120"/>
              </a:rPr>
              <a:t>Answer 23: D</a:t>
            </a:r>
            <a:endParaRPr lang="en-US" sz="3000" dirty="0"/>
          </a:p>
        </p:txBody>
      </p:sp>
      <p:sp>
        <p:nvSpPr>
          <p:cNvPr id="4" name="Objective chip"/>
          <p:cNvSpPr/>
          <p:nvPr/>
        </p:nvSpPr>
        <p:spPr>
          <a:xfrm>
            <a:off x="8899855" y="365760"/>
            <a:ext cx="2743200" cy="384048"/>
          </a:xfrm>
          <a:prstGeom prst="roundRect">
            <a:avLst>
              <a:gd name="adj" fmla="val 35714"/>
            </a:avLst>
          </a:prstGeom>
          <a:solidFill>
            <a:srgbClr val="E3EBF8"/>
          </a:solidFill>
          <a:ln/>
        </p:spPr>
        <p:txBody>
          <a:bodyPr wrap="square" lIns="25400" tIns="25400" rIns="25400" bIns="25400" rtlCol="0" anchor="ctr"/>
          <a:lstStyle/>
          <a:p>
            <a:pPr algn="ctr" indent="0" marL="0">
              <a:buNone/>
            </a:pPr>
            <a:r>
              <a:rPr lang="en-US" sz="800" b="1" dirty="0">
                <a:solidFill>
                  <a:srgbClr val="2F4F8A"/>
                </a:solidFill>
              </a:rPr>
              <a:t>Objectives: SO3 · SO4 · IO2.1 · IO2.2 · IO2.3 · IO2.4 · IO2.5 · IO2.6</a:t>
            </a:r>
            <a:endParaRPr lang="en-US" sz="800" dirty="0"/>
          </a:p>
        </p:txBody>
      </p:sp>
      <p:sp>
        <p:nvSpPr>
          <p:cNvPr id="5" name="Footer"/>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1000" dirty="0">
                <a:solidFill>
                  <a:srgbClr val="666666"/>
                </a:solidFill>
              </a:rPr>
              <a:t>L04 · Musculoskeletal Pharmacology — Session 2</a:t>
            </a:r>
            <a:endParaRPr lang="en-US" sz="1000" dirty="0"/>
          </a:p>
        </p:txBody>
      </p:sp>
      <p:sp>
        <p:nvSpPr>
          <p:cNvPr id="6" name="Slide number"/>
          <p:cNvSpPr txBox="1"/>
          <p:nvPr/>
        </p:nvSpPr>
        <p:spPr>
          <a:xfrm>
            <a:off x="10728655" y="6419088"/>
            <a:ext cx="914400" cy="274320"/>
          </a:xfrm>
          <a:prstGeom prst="rect">
            <a:avLst/>
          </a:prstGeom>
          <a:noFill/>
          <a:ln/>
        </p:spPr>
        <p:txBody>
          <a:bodyPr wrap="square" lIns="0" tIns="0" rIns="0" bIns="0" rtlCol="0" anchor="ctr"/>
          <a:lstStyle/>
          <a:p>
            <a:pPr algn="r" indent="0" marL="0">
              <a:buNone/>
            </a:pPr>
            <a:r>
              <a:rPr lang="en-US" sz="1000" dirty="0">
                <a:solidFill>
                  <a:srgbClr val="666666"/>
                </a:solidFill>
              </a:rPr>
              <a:t>99</a:t>
            </a:r>
            <a:endParaRPr lang="en-US" sz="1000" dirty="0"/>
          </a:p>
        </p:txBody>
      </p:sp>
      <p:sp>
        <p:nvSpPr>
          <p:cNvPr id="7" name="Correct answer"/>
          <p:cNvSpPr/>
          <p:nvPr/>
        </p:nvSpPr>
        <p:spPr>
          <a:xfrm>
            <a:off x="548640" y="1325880"/>
            <a:ext cx="11094415" cy="548640"/>
          </a:xfrm>
          <a:prstGeom prst="roundRect">
            <a:avLst>
              <a:gd name="adj" fmla="val 16667"/>
            </a:avLst>
          </a:prstGeom>
          <a:solidFill>
            <a:srgbClr val="E2F0D9"/>
          </a:solidFill>
          <a:ln w="19050">
            <a:solidFill>
              <a:srgbClr val="548235"/>
            </a:solidFill>
            <a:prstDash val="solid"/>
          </a:ln>
        </p:spPr>
      </p:sp>
      <p:pic>
        <p:nvPicPr>
          <p:cNvPr id="8" name="Image 0" descr="preencoded.png">    </p:cNvPr>
          <p:cNvPicPr>
            <a:picLocks noChangeAspect="1"/>
          </p:cNvPicPr>
          <p:nvPr/>
        </p:nvPicPr>
        <p:blipFill>
          <a:blip r:embed="rId1"/>
          <a:stretch>
            <a:fillRect/>
          </a:stretch>
        </p:blipFill>
        <p:spPr>
          <a:xfrm>
            <a:off x="731520" y="1435608"/>
            <a:ext cx="329184" cy="329184"/>
          </a:xfrm>
          <a:prstGeom prst="rect">
            <a:avLst/>
          </a:prstGeom>
        </p:spPr>
      </p:pic>
      <p:sp>
        <p:nvSpPr>
          <p:cNvPr id="9" name="Text 6"/>
          <p:cNvSpPr txBox="1"/>
          <p:nvPr/>
        </p:nvSpPr>
        <p:spPr>
          <a:xfrm>
            <a:off x="1234440" y="1325880"/>
            <a:ext cx="10180015" cy="548640"/>
          </a:xfrm>
          <a:prstGeom prst="rect">
            <a:avLst/>
          </a:prstGeom>
          <a:noFill/>
          <a:ln/>
        </p:spPr>
        <p:txBody>
          <a:bodyPr wrap="square" lIns="0" tIns="0" rIns="0" bIns="0" rtlCol="0" anchor="ctr"/>
          <a:lstStyle/>
          <a:p>
            <a:pPr indent="0" marL="0">
              <a:buNone/>
            </a:pPr>
            <a:r>
              <a:rPr lang="en-US" sz="1600" b="1" dirty="0">
                <a:solidFill>
                  <a:srgbClr val="1F1F1F"/>
                </a:solidFill>
              </a:rPr>
              <a:t>D. </a:t>
            </a:r>
            <a:r>
              <a:rPr lang="en-US" sz="1600" b="1" dirty="0">
                <a:solidFill>
                  <a:srgbClr val="1F1F1F"/>
                </a:solidFill>
              </a:rPr>
              <a:t>The lung</a:t>
            </a:r>
            <a:endParaRPr lang="en-US" sz="1600" dirty="0"/>
          </a:p>
        </p:txBody>
      </p:sp>
      <p:sp>
        <p:nvSpPr>
          <p:cNvPr id="10" name="Why correct"/>
          <p:cNvSpPr txBox="1"/>
          <p:nvPr/>
        </p:nvSpPr>
        <p:spPr>
          <a:xfrm>
            <a:off x="777240" y="2011680"/>
            <a:ext cx="10637215" cy="724408"/>
          </a:xfrm>
          <a:prstGeom prst="rect">
            <a:avLst/>
          </a:prstGeom>
          <a:noFill/>
          <a:ln/>
        </p:spPr>
        <p:txBody>
          <a:bodyPr wrap="square" lIns="0" tIns="0" rIns="0" bIns="0" rtlCol="0" anchor="t"/>
          <a:lstStyle/>
          <a:p>
            <a:pPr indent="0" marL="0">
              <a:buNone/>
            </a:pPr>
            <a:r>
              <a:rPr lang="en-US" sz="1600" dirty="0">
                <a:solidFill>
                  <a:srgbClr val="1F1F1F"/>
                </a:solidFill>
              </a:rPr>
              <a:t>PTH acts directly on bone (↑ osteoclast resorption) and kidney (↑ calcium reabsorption, activates vitamin D); its intestinal effect is indirect, through activated vitamin D. The lung is not part of the loop (S45).</a:t>
            </a:r>
            <a:r>
              <a:rPr lang="en-US" sz="1100" dirty="0">
                <a:solidFill>
                  <a:srgbClr val="666666"/>
                </a:solidFill>
              </a:rPr>
              <a:t>  S43; S45; SG U2-R12</a:t>
            </a:r>
            <a:endParaRPr lang="en-US" sz="1600" dirty="0"/>
          </a:p>
        </p:txBody>
      </p:sp>
      <p:sp>
        <p:nvSpPr>
          <p:cNvPr id="11" name="Why others wrong card"/>
          <p:cNvSpPr/>
          <p:nvPr/>
        </p:nvSpPr>
        <p:spPr>
          <a:xfrm>
            <a:off x="548640" y="2873248"/>
            <a:ext cx="11094415" cy="1704848"/>
          </a:xfrm>
          <a:prstGeom prst="roundRect">
            <a:avLst>
              <a:gd name="adj" fmla="val 5364"/>
            </a:avLst>
          </a:prstGeom>
          <a:solidFill>
            <a:srgbClr val="F2F4F7"/>
          </a:solidFill>
          <a:ln w="12700">
            <a:solidFill>
              <a:srgbClr val="F2F4F7"/>
            </a:solidFill>
            <a:prstDash val="solid"/>
          </a:ln>
        </p:spPr>
      </p:sp>
      <p:sp>
        <p:nvSpPr>
          <p:cNvPr id="12" name="Why others wrong"/>
          <p:cNvSpPr txBox="1"/>
          <p:nvPr/>
        </p:nvSpPr>
        <p:spPr>
          <a:xfrm>
            <a:off x="777240" y="2982976"/>
            <a:ext cx="10637215" cy="1521968"/>
          </a:xfrm>
          <a:prstGeom prst="rect">
            <a:avLst/>
          </a:prstGeom>
          <a:noFill/>
          <a:ln/>
        </p:spPr>
        <p:txBody>
          <a:bodyPr wrap="square" lIns="0" tIns="0" rIns="0" bIns="0" rtlCol="0" anchor="t"/>
          <a:lstStyle/>
          <a:p>
            <a:pPr indent="0" marL="0">
              <a:spcAft>
                <a:spcPts val="400"/>
              </a:spcAft>
              <a:buNone/>
            </a:pPr>
            <a:r>
              <a:rPr lang="en-US" sz="1600" b="1" dirty="0">
                <a:solidFill>
                  <a:srgbClr val="C00000"/>
                </a:solidFill>
              </a:rPr>
              <a:t>Why the other choices are wrong</a:t>
            </a:r>
            <a:endParaRPr lang="en-US" sz="1600" dirty="0"/>
          </a:p>
          <a:p>
            <a:pPr indent="0" marL="0">
              <a:buNone/>
            </a:pPr>
            <a:r>
              <a:rPr lang="en-US" sz="1600" b="1" dirty="0">
                <a:solidFill>
                  <a:srgbClr val="1F1F1F"/>
                </a:solidFill>
              </a:rPr>
              <a:t>A. The bone — </a:t>
            </a:r>
            <a:r>
              <a:rPr lang="en-US" sz="1600" dirty="0">
                <a:solidFill>
                  <a:srgbClr val="1F1F1F"/>
                </a:solidFill>
              </a:rPr>
              <a:t>Bone is a direct PTH target: ↑ osteoclast resorption (S43).</a:t>
            </a:r>
            <a:endParaRPr lang="en-US" sz="1600" dirty="0"/>
          </a:p>
          <a:p>
            <a:pPr indent="0" marL="0">
              <a:buNone/>
            </a:pPr>
            <a:r>
              <a:rPr lang="en-US" sz="1600" b="1" dirty="0">
                <a:solidFill>
                  <a:srgbClr val="1F1F1F"/>
                </a:solidFill>
              </a:rPr>
              <a:t>B. The kidney — </a:t>
            </a:r>
            <a:r>
              <a:rPr lang="en-US" sz="1600" dirty="0">
                <a:solidFill>
                  <a:srgbClr val="1F1F1F"/>
                </a:solidFill>
              </a:rPr>
              <a:t>Kidney is a direct target: ↑ calcium reabsorption, activates vitamin D (S43).</a:t>
            </a:r>
            <a:endParaRPr lang="en-US" sz="1600" dirty="0"/>
          </a:p>
          <a:p>
            <a:pPr indent="0" marL="0">
              <a:buNone/>
            </a:pPr>
            <a:r>
              <a:rPr lang="en-US" sz="1600" b="1" dirty="0">
                <a:solidFill>
                  <a:srgbClr val="1F1F1F"/>
                </a:solidFill>
              </a:rPr>
              <a:t>C. The intestine — </a:t>
            </a:r>
            <a:r>
              <a:rPr lang="en-US" sz="1600" dirty="0">
                <a:solidFill>
                  <a:srgbClr val="1F1F1F"/>
                </a:solidFill>
              </a:rPr>
              <a:t>The gut is part of the loop, indirectly via vitamin D (S45).</a:t>
            </a:r>
            <a:endParaRPr lang="en-US" sz="1600" dirty="0"/>
          </a:p>
          <a:p>
            <a:pPr indent="0" marL="0">
              <a:buNone/>
            </a:pPr>
            <a:r>
              <a:rPr lang="en-US" sz="1600" b="1" dirty="0">
                <a:solidFill>
                  <a:srgbClr val="1F1F1F"/>
                </a:solidFill>
              </a:rPr>
              <a:t>E. The parathyroid — </a:t>
            </a:r>
            <a:r>
              <a:rPr lang="en-US" sz="1600" dirty="0">
                <a:solidFill>
                  <a:srgbClr val="1F1F1F"/>
                </a:solidFill>
              </a:rPr>
              <a:t>The parathyroid gland releases PTH — the start of the loop (S43).</a:t>
            </a:r>
            <a:endParaRPr lang="en-US" sz="1600" dirty="0"/>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name="Slide 100">
    <p:bg>
      <p:bgPr>
        <a:solidFill>
          <a:srgbClr val="FFFFFF"/>
        </a:solidFill>
      </p:bgPr>
    </p:bg>
    <p:spTree>
      <p:nvGrpSpPr>
        <p:cNvPr id="1" name=""/>
        <p:cNvGrpSpPr/>
        <p:nvPr/>
      </p:nvGrpSpPr>
      <p:grpSpPr>
        <a:xfrm>
          <a:off x="0" y="0"/>
          <a:ext cx="0" cy="0"/>
          <a:chOff x="0" y="0"/>
          <a:chExt cx="0" cy="0"/>
        </a:xfrm>
      </p:grpSpPr>
      <p:sp>
        <p:nvSpPr>
          <p:cNvPr id="2" name="Kicker"/>
          <p:cNvSpPr txBox="1"/>
          <p:nvPr/>
        </p:nvSpPr>
        <p:spPr>
          <a:xfrm>
            <a:off x="548640" y="292608"/>
            <a:ext cx="8076895" cy="274320"/>
          </a:xfrm>
          <a:prstGeom prst="rect">
            <a:avLst/>
          </a:prstGeom>
          <a:noFill/>
          <a:ln/>
        </p:spPr>
        <p:txBody>
          <a:bodyPr wrap="square" lIns="0" tIns="0" rIns="0" bIns="0" rtlCol="0" anchor="ctr"/>
          <a:lstStyle/>
          <a:p>
            <a:pPr indent="0" marL="0">
              <a:buNone/>
            </a:pPr>
            <a:r>
              <a:rPr lang="en-US" sz="1200" b="1" spc="100" kern="0" dirty="0">
                <a:solidFill>
                  <a:srgbClr val="4472C4"/>
                </a:solidFill>
              </a:rPr>
              <a:t>MECHANISM · LECTURE QUICK CHECK S57; S58</a:t>
            </a:r>
            <a:endParaRPr lang="en-US" sz="1200" dirty="0"/>
          </a:p>
        </p:txBody>
      </p:sp>
      <p:sp>
        <p:nvSpPr>
          <p:cNvPr id="3" name="Title"/>
          <p:cNvSpPr txBox="1"/>
          <p:nvPr/>
        </p:nvSpPr>
        <p:spPr>
          <a:xfrm>
            <a:off x="548640" y="566928"/>
            <a:ext cx="8076895" cy="713232"/>
          </a:xfrm>
          <a:prstGeom prst="rect">
            <a:avLst/>
          </a:prstGeom>
          <a:noFill/>
          <a:ln/>
        </p:spPr>
        <p:txBody>
          <a:bodyPr wrap="square" lIns="0" tIns="0" rIns="0" bIns="0" rtlCol="0" anchor="t"/>
          <a:lstStyle/>
          <a:p>
            <a:pPr indent="0" marL="0">
              <a:buNone/>
            </a:pPr>
            <a:r>
              <a:rPr lang="en-US" sz="3000" b="1" dirty="0">
                <a:solidFill>
                  <a:srgbClr val="1F1F1F"/>
                </a:solidFill>
                <a:latin typeface="Calibri" pitchFamily="34" charset="0"/>
                <a:ea typeface="Calibri" pitchFamily="34" charset="-122"/>
                <a:cs typeface="Calibri" pitchFamily="34" charset="-120"/>
              </a:rPr>
              <a:t>Question 24</a:t>
            </a:r>
            <a:endParaRPr lang="en-US" sz="3000" dirty="0"/>
          </a:p>
        </p:txBody>
      </p:sp>
      <p:sp>
        <p:nvSpPr>
          <p:cNvPr id="4" name="Objective chip"/>
          <p:cNvSpPr/>
          <p:nvPr/>
        </p:nvSpPr>
        <p:spPr>
          <a:xfrm>
            <a:off x="8899855" y="365760"/>
            <a:ext cx="2743200" cy="384048"/>
          </a:xfrm>
          <a:prstGeom prst="roundRect">
            <a:avLst>
              <a:gd name="adj" fmla="val 35714"/>
            </a:avLst>
          </a:prstGeom>
          <a:solidFill>
            <a:srgbClr val="E3EBF8"/>
          </a:solidFill>
          <a:ln/>
        </p:spPr>
        <p:txBody>
          <a:bodyPr wrap="square" lIns="25400" tIns="25400" rIns="25400" bIns="25400" rtlCol="0" anchor="ctr"/>
          <a:lstStyle/>
          <a:p>
            <a:pPr algn="ctr" indent="0" marL="0">
              <a:buNone/>
            </a:pPr>
            <a:r>
              <a:rPr lang="en-US" sz="800" b="1" dirty="0">
                <a:solidFill>
                  <a:srgbClr val="2F4F8A"/>
                </a:solidFill>
              </a:rPr>
              <a:t>Objectives: SO3 · SO4 · IO2.1 · IO2.2 · IO2.3 · IO2.4 · IO2.5 · IO2.6</a:t>
            </a:r>
            <a:endParaRPr lang="en-US" sz="800" dirty="0"/>
          </a:p>
        </p:txBody>
      </p:sp>
      <p:sp>
        <p:nvSpPr>
          <p:cNvPr id="5" name="Footer"/>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1000" dirty="0">
                <a:solidFill>
                  <a:srgbClr val="666666"/>
                </a:solidFill>
              </a:rPr>
              <a:t>L04 · Musculoskeletal Pharmacology — Session 2</a:t>
            </a:r>
            <a:endParaRPr lang="en-US" sz="1000" dirty="0"/>
          </a:p>
        </p:txBody>
      </p:sp>
      <p:sp>
        <p:nvSpPr>
          <p:cNvPr id="6" name="Slide number"/>
          <p:cNvSpPr txBox="1"/>
          <p:nvPr/>
        </p:nvSpPr>
        <p:spPr>
          <a:xfrm>
            <a:off x="10728655" y="6419088"/>
            <a:ext cx="914400" cy="274320"/>
          </a:xfrm>
          <a:prstGeom prst="rect">
            <a:avLst/>
          </a:prstGeom>
          <a:noFill/>
          <a:ln/>
        </p:spPr>
        <p:txBody>
          <a:bodyPr wrap="square" lIns="0" tIns="0" rIns="0" bIns="0" rtlCol="0" anchor="ctr"/>
          <a:lstStyle/>
          <a:p>
            <a:pPr algn="r" indent="0" marL="0">
              <a:buNone/>
            </a:pPr>
            <a:r>
              <a:rPr lang="en-US" sz="1000" dirty="0">
                <a:solidFill>
                  <a:srgbClr val="666666"/>
                </a:solidFill>
              </a:rPr>
              <a:t>100</a:t>
            </a:r>
            <a:endParaRPr lang="en-US" sz="1000" dirty="0"/>
          </a:p>
        </p:txBody>
      </p:sp>
      <p:sp>
        <p:nvSpPr>
          <p:cNvPr id="7" name="Question stem card"/>
          <p:cNvSpPr/>
          <p:nvPr/>
        </p:nvSpPr>
        <p:spPr>
          <a:xfrm>
            <a:off x="548640" y="1325880"/>
            <a:ext cx="11094415" cy="923544"/>
          </a:xfrm>
          <a:prstGeom prst="roundRect">
            <a:avLst>
              <a:gd name="adj" fmla="val 9901"/>
            </a:avLst>
          </a:prstGeom>
          <a:solidFill>
            <a:srgbClr val="F2F4F7"/>
          </a:solidFill>
          <a:ln w="12700">
            <a:solidFill>
              <a:srgbClr val="F2F4F7"/>
            </a:solidFill>
            <a:prstDash val="solid"/>
          </a:ln>
        </p:spPr>
      </p:sp>
      <p:sp>
        <p:nvSpPr>
          <p:cNvPr id="8" name="Question stem"/>
          <p:cNvSpPr txBox="1"/>
          <p:nvPr/>
        </p:nvSpPr>
        <p:spPr>
          <a:xfrm>
            <a:off x="777240" y="1325880"/>
            <a:ext cx="10637215" cy="923544"/>
          </a:xfrm>
          <a:prstGeom prst="rect">
            <a:avLst/>
          </a:prstGeom>
          <a:noFill/>
          <a:ln/>
        </p:spPr>
        <p:txBody>
          <a:bodyPr wrap="square" lIns="0" tIns="0" rIns="0" bIns="0" rtlCol="0" anchor="ctr"/>
          <a:lstStyle/>
          <a:p>
            <a:pPr indent="0" marL="0">
              <a:buNone/>
            </a:pPr>
            <a:r>
              <a:rPr lang="en-US" sz="1800" dirty="0">
                <a:solidFill>
                  <a:srgbClr val="1F1F1F"/>
                </a:solidFill>
              </a:rPr>
              <a:t>In Figure 8, teriparatide and romosozumab sit on the bone-formation side, while alendronate and raloxifene sit on the bone-resorption side. What does this grouping represent?</a:t>
            </a:r>
            <a:endParaRPr lang="en-US" sz="1800" dirty="0"/>
          </a:p>
        </p:txBody>
      </p:sp>
      <p:sp>
        <p:nvSpPr>
          <p:cNvPr id="9" name="Shape 7"/>
          <p:cNvSpPr/>
          <p:nvPr/>
        </p:nvSpPr>
        <p:spPr>
          <a:xfrm>
            <a:off x="548640" y="2459736"/>
            <a:ext cx="402336" cy="402336"/>
          </a:xfrm>
          <a:prstGeom prst="ellipse">
            <a:avLst/>
          </a:prstGeom>
          <a:solidFill>
            <a:srgbClr val="FFFFFF"/>
          </a:solidFill>
          <a:ln w="19050">
            <a:solidFill>
              <a:srgbClr val="4472C4"/>
            </a:solidFill>
            <a:prstDash val="solid"/>
          </a:ln>
        </p:spPr>
      </p:sp>
      <p:sp>
        <p:nvSpPr>
          <p:cNvPr id="10" name="Text 8"/>
          <p:cNvSpPr txBox="1"/>
          <p:nvPr/>
        </p:nvSpPr>
        <p:spPr>
          <a:xfrm>
            <a:off x="548640" y="2459736"/>
            <a:ext cx="402336" cy="402336"/>
          </a:xfrm>
          <a:prstGeom prst="rect">
            <a:avLst/>
          </a:prstGeom>
          <a:noFill/>
          <a:ln/>
        </p:spPr>
        <p:txBody>
          <a:bodyPr wrap="square" lIns="0" tIns="0" rIns="0" bIns="0" rtlCol="0" anchor="ctr"/>
          <a:lstStyle/>
          <a:p>
            <a:pPr algn="ctr" indent="0" marL="0">
              <a:buNone/>
            </a:pPr>
            <a:r>
              <a:rPr lang="en-US" sz="1400" b="1" dirty="0">
                <a:solidFill>
                  <a:srgbClr val="4472C4"/>
                </a:solidFill>
              </a:rPr>
              <a:t>A</a:t>
            </a:r>
            <a:endParaRPr lang="en-US" sz="1400" dirty="0"/>
          </a:p>
        </p:txBody>
      </p:sp>
      <p:sp>
        <p:nvSpPr>
          <p:cNvPr id="11" name="Option A"/>
          <p:cNvSpPr txBox="1"/>
          <p:nvPr/>
        </p:nvSpPr>
        <p:spPr>
          <a:xfrm>
            <a:off x="1188720" y="2432304"/>
            <a:ext cx="10271455" cy="457200"/>
          </a:xfrm>
          <a:prstGeom prst="rect">
            <a:avLst/>
          </a:prstGeom>
          <a:noFill/>
          <a:ln/>
        </p:spPr>
        <p:txBody>
          <a:bodyPr wrap="square" lIns="0" tIns="0" rIns="0" bIns="0" rtlCol="0" anchor="ctr"/>
          <a:lstStyle/>
          <a:p>
            <a:pPr indent="0" marL="0">
              <a:buNone/>
            </a:pPr>
            <a:r>
              <a:rPr lang="en-US" sz="1800" dirty="0">
                <a:solidFill>
                  <a:srgbClr val="1F1F1F"/>
                </a:solidFill>
              </a:rPr>
              <a:t>The grouping shows route of administration, not mechanism</a:t>
            </a:r>
            <a:endParaRPr lang="en-US" sz="1800" dirty="0"/>
          </a:p>
        </p:txBody>
      </p:sp>
      <p:sp>
        <p:nvSpPr>
          <p:cNvPr id="12" name="Shape 10"/>
          <p:cNvSpPr/>
          <p:nvPr/>
        </p:nvSpPr>
        <p:spPr>
          <a:xfrm>
            <a:off x="548640" y="3008376"/>
            <a:ext cx="402336" cy="402336"/>
          </a:xfrm>
          <a:prstGeom prst="ellipse">
            <a:avLst/>
          </a:prstGeom>
          <a:solidFill>
            <a:srgbClr val="FFFFFF"/>
          </a:solidFill>
          <a:ln w="19050">
            <a:solidFill>
              <a:srgbClr val="4472C4"/>
            </a:solidFill>
            <a:prstDash val="solid"/>
          </a:ln>
        </p:spPr>
      </p:sp>
      <p:sp>
        <p:nvSpPr>
          <p:cNvPr id="13" name="Text 11"/>
          <p:cNvSpPr txBox="1"/>
          <p:nvPr/>
        </p:nvSpPr>
        <p:spPr>
          <a:xfrm>
            <a:off x="548640" y="3008376"/>
            <a:ext cx="402336" cy="402336"/>
          </a:xfrm>
          <a:prstGeom prst="rect">
            <a:avLst/>
          </a:prstGeom>
          <a:noFill/>
          <a:ln/>
        </p:spPr>
        <p:txBody>
          <a:bodyPr wrap="square" lIns="0" tIns="0" rIns="0" bIns="0" rtlCol="0" anchor="ctr"/>
          <a:lstStyle/>
          <a:p>
            <a:pPr algn="ctr" indent="0" marL="0">
              <a:buNone/>
            </a:pPr>
            <a:r>
              <a:rPr lang="en-US" sz="1400" b="1" dirty="0">
                <a:solidFill>
                  <a:srgbClr val="4472C4"/>
                </a:solidFill>
              </a:rPr>
              <a:t>B</a:t>
            </a:r>
            <a:endParaRPr lang="en-US" sz="1400" dirty="0"/>
          </a:p>
        </p:txBody>
      </p:sp>
      <p:sp>
        <p:nvSpPr>
          <p:cNvPr id="14" name="Option B"/>
          <p:cNvSpPr txBox="1"/>
          <p:nvPr/>
        </p:nvSpPr>
        <p:spPr>
          <a:xfrm>
            <a:off x="1188720" y="2980944"/>
            <a:ext cx="10271455" cy="457200"/>
          </a:xfrm>
          <a:prstGeom prst="rect">
            <a:avLst/>
          </a:prstGeom>
          <a:noFill/>
          <a:ln/>
        </p:spPr>
        <p:txBody>
          <a:bodyPr wrap="square" lIns="0" tIns="0" rIns="0" bIns="0" rtlCol="0" anchor="ctr"/>
          <a:lstStyle/>
          <a:p>
            <a:pPr indent="0" marL="0">
              <a:buNone/>
            </a:pPr>
            <a:r>
              <a:rPr lang="en-US" sz="1800" dirty="0">
                <a:solidFill>
                  <a:srgbClr val="1F1F1F"/>
                </a:solidFill>
              </a:rPr>
              <a:t>The first two inhibit osteoclasts; the last two stimulate osteoblasts</a:t>
            </a:r>
            <a:endParaRPr lang="en-US" sz="1800" dirty="0"/>
          </a:p>
        </p:txBody>
      </p:sp>
      <p:sp>
        <p:nvSpPr>
          <p:cNvPr id="15" name="Shape 13"/>
          <p:cNvSpPr/>
          <p:nvPr/>
        </p:nvSpPr>
        <p:spPr>
          <a:xfrm>
            <a:off x="548640" y="3557016"/>
            <a:ext cx="402336" cy="402336"/>
          </a:xfrm>
          <a:prstGeom prst="ellipse">
            <a:avLst/>
          </a:prstGeom>
          <a:solidFill>
            <a:srgbClr val="FFFFFF"/>
          </a:solidFill>
          <a:ln w="19050">
            <a:solidFill>
              <a:srgbClr val="4472C4"/>
            </a:solidFill>
            <a:prstDash val="solid"/>
          </a:ln>
        </p:spPr>
      </p:sp>
      <p:sp>
        <p:nvSpPr>
          <p:cNvPr id="16" name="Text 14"/>
          <p:cNvSpPr txBox="1"/>
          <p:nvPr/>
        </p:nvSpPr>
        <p:spPr>
          <a:xfrm>
            <a:off x="548640" y="3557016"/>
            <a:ext cx="402336" cy="402336"/>
          </a:xfrm>
          <a:prstGeom prst="rect">
            <a:avLst/>
          </a:prstGeom>
          <a:noFill/>
          <a:ln/>
        </p:spPr>
        <p:txBody>
          <a:bodyPr wrap="square" lIns="0" tIns="0" rIns="0" bIns="0" rtlCol="0" anchor="ctr"/>
          <a:lstStyle/>
          <a:p>
            <a:pPr algn="ctr" indent="0" marL="0">
              <a:buNone/>
            </a:pPr>
            <a:r>
              <a:rPr lang="en-US" sz="1400" b="1" dirty="0">
                <a:solidFill>
                  <a:srgbClr val="4472C4"/>
                </a:solidFill>
              </a:rPr>
              <a:t>C</a:t>
            </a:r>
            <a:endParaRPr lang="en-US" sz="1400" dirty="0"/>
          </a:p>
        </p:txBody>
      </p:sp>
      <p:sp>
        <p:nvSpPr>
          <p:cNvPr id="17" name="Option C"/>
          <p:cNvSpPr txBox="1"/>
          <p:nvPr/>
        </p:nvSpPr>
        <p:spPr>
          <a:xfrm>
            <a:off x="1188720" y="3529584"/>
            <a:ext cx="10271455" cy="457200"/>
          </a:xfrm>
          <a:prstGeom prst="rect">
            <a:avLst/>
          </a:prstGeom>
          <a:noFill/>
          <a:ln/>
        </p:spPr>
        <p:txBody>
          <a:bodyPr wrap="square" lIns="0" tIns="0" rIns="0" bIns="0" rtlCol="0" anchor="ctr"/>
          <a:lstStyle/>
          <a:p>
            <a:pPr indent="0" marL="0">
              <a:buNone/>
            </a:pPr>
            <a:r>
              <a:rPr lang="en-US" sz="1800" dirty="0">
                <a:solidFill>
                  <a:srgbClr val="1F1F1F"/>
                </a:solidFill>
              </a:rPr>
              <a:t>All four are antiresorptives differing only in potency</a:t>
            </a:r>
            <a:endParaRPr lang="en-US" sz="1800" dirty="0"/>
          </a:p>
        </p:txBody>
      </p:sp>
      <p:sp>
        <p:nvSpPr>
          <p:cNvPr id="18" name="Shape 16"/>
          <p:cNvSpPr/>
          <p:nvPr/>
        </p:nvSpPr>
        <p:spPr>
          <a:xfrm>
            <a:off x="548640" y="4105656"/>
            <a:ext cx="402336" cy="402336"/>
          </a:xfrm>
          <a:prstGeom prst="ellipse">
            <a:avLst/>
          </a:prstGeom>
          <a:solidFill>
            <a:srgbClr val="FFFFFF"/>
          </a:solidFill>
          <a:ln w="19050">
            <a:solidFill>
              <a:srgbClr val="4472C4"/>
            </a:solidFill>
            <a:prstDash val="solid"/>
          </a:ln>
        </p:spPr>
      </p:sp>
      <p:sp>
        <p:nvSpPr>
          <p:cNvPr id="19" name="Text 17"/>
          <p:cNvSpPr txBox="1"/>
          <p:nvPr/>
        </p:nvSpPr>
        <p:spPr>
          <a:xfrm>
            <a:off x="548640" y="4105656"/>
            <a:ext cx="402336" cy="402336"/>
          </a:xfrm>
          <a:prstGeom prst="rect">
            <a:avLst/>
          </a:prstGeom>
          <a:noFill/>
          <a:ln/>
        </p:spPr>
        <p:txBody>
          <a:bodyPr wrap="square" lIns="0" tIns="0" rIns="0" bIns="0" rtlCol="0" anchor="ctr"/>
          <a:lstStyle/>
          <a:p>
            <a:pPr algn="ctr" indent="0" marL="0">
              <a:buNone/>
            </a:pPr>
            <a:r>
              <a:rPr lang="en-US" sz="1400" b="1" dirty="0">
                <a:solidFill>
                  <a:srgbClr val="4472C4"/>
                </a:solidFill>
              </a:rPr>
              <a:t>D</a:t>
            </a:r>
            <a:endParaRPr lang="en-US" sz="1400" dirty="0"/>
          </a:p>
        </p:txBody>
      </p:sp>
      <p:sp>
        <p:nvSpPr>
          <p:cNvPr id="20" name="Option D"/>
          <p:cNvSpPr txBox="1"/>
          <p:nvPr/>
        </p:nvSpPr>
        <p:spPr>
          <a:xfrm>
            <a:off x="1188720" y="4078224"/>
            <a:ext cx="10271455" cy="457200"/>
          </a:xfrm>
          <a:prstGeom prst="rect">
            <a:avLst/>
          </a:prstGeom>
          <a:noFill/>
          <a:ln/>
        </p:spPr>
        <p:txBody>
          <a:bodyPr wrap="square" lIns="0" tIns="0" rIns="0" bIns="0" rtlCol="0" anchor="ctr"/>
          <a:lstStyle/>
          <a:p>
            <a:pPr indent="0" marL="0">
              <a:buNone/>
            </a:pPr>
            <a:r>
              <a:rPr lang="en-US" sz="1800" dirty="0">
                <a:solidFill>
                  <a:srgbClr val="1F1F1F"/>
                </a:solidFill>
              </a:rPr>
              <a:t>All four drugs work through one identical mechanism</a:t>
            </a:r>
            <a:endParaRPr lang="en-US" sz="1800" dirty="0"/>
          </a:p>
        </p:txBody>
      </p:sp>
      <p:sp>
        <p:nvSpPr>
          <p:cNvPr id="21" name="Shape 19"/>
          <p:cNvSpPr/>
          <p:nvPr/>
        </p:nvSpPr>
        <p:spPr>
          <a:xfrm>
            <a:off x="548640" y="4654296"/>
            <a:ext cx="402336" cy="402336"/>
          </a:xfrm>
          <a:prstGeom prst="ellipse">
            <a:avLst/>
          </a:prstGeom>
          <a:solidFill>
            <a:srgbClr val="FFFFFF"/>
          </a:solidFill>
          <a:ln w="19050">
            <a:solidFill>
              <a:srgbClr val="4472C4"/>
            </a:solidFill>
            <a:prstDash val="solid"/>
          </a:ln>
        </p:spPr>
      </p:sp>
      <p:sp>
        <p:nvSpPr>
          <p:cNvPr id="22" name="Text 20"/>
          <p:cNvSpPr txBox="1"/>
          <p:nvPr/>
        </p:nvSpPr>
        <p:spPr>
          <a:xfrm>
            <a:off x="548640" y="4654296"/>
            <a:ext cx="402336" cy="402336"/>
          </a:xfrm>
          <a:prstGeom prst="rect">
            <a:avLst/>
          </a:prstGeom>
          <a:noFill/>
          <a:ln/>
        </p:spPr>
        <p:txBody>
          <a:bodyPr wrap="square" lIns="0" tIns="0" rIns="0" bIns="0" rtlCol="0" anchor="ctr"/>
          <a:lstStyle/>
          <a:p>
            <a:pPr algn="ctr" indent="0" marL="0">
              <a:buNone/>
            </a:pPr>
            <a:r>
              <a:rPr lang="en-US" sz="1400" b="1" dirty="0">
                <a:solidFill>
                  <a:srgbClr val="4472C4"/>
                </a:solidFill>
              </a:rPr>
              <a:t>E</a:t>
            </a:r>
            <a:endParaRPr lang="en-US" sz="1400" dirty="0"/>
          </a:p>
        </p:txBody>
      </p:sp>
      <p:sp>
        <p:nvSpPr>
          <p:cNvPr id="23" name="Option E"/>
          <p:cNvSpPr txBox="1"/>
          <p:nvPr/>
        </p:nvSpPr>
        <p:spPr>
          <a:xfrm>
            <a:off x="1188720" y="4626864"/>
            <a:ext cx="10271455" cy="457200"/>
          </a:xfrm>
          <a:prstGeom prst="rect">
            <a:avLst/>
          </a:prstGeom>
          <a:noFill/>
          <a:ln/>
        </p:spPr>
        <p:txBody>
          <a:bodyPr wrap="square" lIns="0" tIns="0" rIns="0" bIns="0" rtlCol="0" anchor="ctr"/>
          <a:lstStyle/>
          <a:p>
            <a:pPr indent="0" marL="0">
              <a:buNone/>
            </a:pPr>
            <a:r>
              <a:rPr lang="en-US" sz="1800" dirty="0">
                <a:solidFill>
                  <a:srgbClr val="1F1F1F"/>
                </a:solidFill>
              </a:rPr>
              <a:t>The first two stimulate osteoblasts; the last two inhibit osteoclasts</a:t>
            </a:r>
            <a:endParaRPr lang="en-US" sz="1800" dirty="0"/>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name="Slide 101">
    <p:bg>
      <p:bgPr>
        <a:solidFill>
          <a:srgbClr val="FFFFFF"/>
        </a:solidFill>
      </p:bgPr>
    </p:bg>
    <p:spTree>
      <p:nvGrpSpPr>
        <p:cNvPr id="1" name=""/>
        <p:cNvGrpSpPr/>
        <p:nvPr/>
      </p:nvGrpSpPr>
      <p:grpSpPr>
        <a:xfrm>
          <a:off x="0" y="0"/>
          <a:ext cx="0" cy="0"/>
          <a:chOff x="0" y="0"/>
          <a:chExt cx="0" cy="0"/>
        </a:xfrm>
      </p:grpSpPr>
      <p:sp>
        <p:nvSpPr>
          <p:cNvPr id="2" name="Kicker"/>
          <p:cNvSpPr txBox="1"/>
          <p:nvPr/>
        </p:nvSpPr>
        <p:spPr>
          <a:xfrm>
            <a:off x="548640" y="292608"/>
            <a:ext cx="8076895" cy="274320"/>
          </a:xfrm>
          <a:prstGeom prst="rect">
            <a:avLst/>
          </a:prstGeom>
          <a:noFill/>
          <a:ln/>
        </p:spPr>
        <p:txBody>
          <a:bodyPr wrap="square" lIns="0" tIns="0" rIns="0" bIns="0" rtlCol="0" anchor="ctr"/>
          <a:lstStyle/>
          <a:p>
            <a:pPr indent="0" marL="0">
              <a:buNone/>
            </a:pPr>
            <a:r>
              <a:rPr lang="en-US" sz="1200" b="1" spc="100" kern="0" dirty="0">
                <a:solidFill>
                  <a:srgbClr val="4472C4"/>
                </a:solidFill>
              </a:rPr>
              <a:t>MECHANISM · ANSWER</a:t>
            </a:r>
            <a:endParaRPr lang="en-US" sz="1200" dirty="0"/>
          </a:p>
        </p:txBody>
      </p:sp>
      <p:sp>
        <p:nvSpPr>
          <p:cNvPr id="3" name="Title"/>
          <p:cNvSpPr txBox="1"/>
          <p:nvPr/>
        </p:nvSpPr>
        <p:spPr>
          <a:xfrm>
            <a:off x="548640" y="566928"/>
            <a:ext cx="8076895" cy="713232"/>
          </a:xfrm>
          <a:prstGeom prst="rect">
            <a:avLst/>
          </a:prstGeom>
          <a:noFill/>
          <a:ln/>
        </p:spPr>
        <p:txBody>
          <a:bodyPr wrap="square" lIns="0" tIns="0" rIns="0" bIns="0" rtlCol="0" anchor="t"/>
          <a:lstStyle/>
          <a:p>
            <a:pPr indent="0" marL="0">
              <a:buNone/>
            </a:pPr>
            <a:r>
              <a:rPr lang="en-US" sz="3000" b="1" dirty="0">
                <a:solidFill>
                  <a:srgbClr val="1F1F1F"/>
                </a:solidFill>
                <a:latin typeface="Calibri" pitchFamily="34" charset="0"/>
                <a:ea typeface="Calibri" pitchFamily="34" charset="-122"/>
                <a:cs typeface="Calibri" pitchFamily="34" charset="-120"/>
              </a:rPr>
              <a:t>Answer 24: E</a:t>
            </a:r>
            <a:endParaRPr lang="en-US" sz="3000" dirty="0"/>
          </a:p>
        </p:txBody>
      </p:sp>
      <p:sp>
        <p:nvSpPr>
          <p:cNvPr id="4" name="Objective chip"/>
          <p:cNvSpPr/>
          <p:nvPr/>
        </p:nvSpPr>
        <p:spPr>
          <a:xfrm>
            <a:off x="8899855" y="365760"/>
            <a:ext cx="2743200" cy="384048"/>
          </a:xfrm>
          <a:prstGeom prst="roundRect">
            <a:avLst>
              <a:gd name="adj" fmla="val 35714"/>
            </a:avLst>
          </a:prstGeom>
          <a:solidFill>
            <a:srgbClr val="E3EBF8"/>
          </a:solidFill>
          <a:ln/>
        </p:spPr>
        <p:txBody>
          <a:bodyPr wrap="square" lIns="25400" tIns="25400" rIns="25400" bIns="25400" rtlCol="0" anchor="ctr"/>
          <a:lstStyle/>
          <a:p>
            <a:pPr algn="ctr" indent="0" marL="0">
              <a:buNone/>
            </a:pPr>
            <a:r>
              <a:rPr lang="en-US" sz="800" b="1" dirty="0">
                <a:solidFill>
                  <a:srgbClr val="2F4F8A"/>
                </a:solidFill>
              </a:rPr>
              <a:t>Objectives: SO3 · SO4 · IO2.1 · IO2.2 · IO2.3 · IO2.4 · IO2.5 · IO2.6</a:t>
            </a:r>
            <a:endParaRPr lang="en-US" sz="800" dirty="0"/>
          </a:p>
        </p:txBody>
      </p:sp>
      <p:sp>
        <p:nvSpPr>
          <p:cNvPr id="5" name="Footer"/>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1000" dirty="0">
                <a:solidFill>
                  <a:srgbClr val="666666"/>
                </a:solidFill>
              </a:rPr>
              <a:t>L04 · Musculoskeletal Pharmacology — Session 2</a:t>
            </a:r>
            <a:endParaRPr lang="en-US" sz="1000" dirty="0"/>
          </a:p>
        </p:txBody>
      </p:sp>
      <p:sp>
        <p:nvSpPr>
          <p:cNvPr id="6" name="Slide number"/>
          <p:cNvSpPr txBox="1"/>
          <p:nvPr/>
        </p:nvSpPr>
        <p:spPr>
          <a:xfrm>
            <a:off x="10728655" y="6419088"/>
            <a:ext cx="914400" cy="274320"/>
          </a:xfrm>
          <a:prstGeom prst="rect">
            <a:avLst/>
          </a:prstGeom>
          <a:noFill/>
          <a:ln/>
        </p:spPr>
        <p:txBody>
          <a:bodyPr wrap="square" lIns="0" tIns="0" rIns="0" bIns="0" rtlCol="0" anchor="ctr"/>
          <a:lstStyle/>
          <a:p>
            <a:pPr algn="r" indent="0" marL="0">
              <a:buNone/>
            </a:pPr>
            <a:r>
              <a:rPr lang="en-US" sz="1000" dirty="0">
                <a:solidFill>
                  <a:srgbClr val="666666"/>
                </a:solidFill>
              </a:rPr>
              <a:t>101</a:t>
            </a:r>
            <a:endParaRPr lang="en-US" sz="1000" dirty="0"/>
          </a:p>
        </p:txBody>
      </p:sp>
      <p:sp>
        <p:nvSpPr>
          <p:cNvPr id="7" name="Correct answer"/>
          <p:cNvSpPr/>
          <p:nvPr/>
        </p:nvSpPr>
        <p:spPr>
          <a:xfrm>
            <a:off x="548640" y="1325880"/>
            <a:ext cx="11094415" cy="548640"/>
          </a:xfrm>
          <a:prstGeom prst="roundRect">
            <a:avLst>
              <a:gd name="adj" fmla="val 16667"/>
            </a:avLst>
          </a:prstGeom>
          <a:solidFill>
            <a:srgbClr val="E2F0D9"/>
          </a:solidFill>
          <a:ln w="19050">
            <a:solidFill>
              <a:srgbClr val="548235"/>
            </a:solidFill>
            <a:prstDash val="solid"/>
          </a:ln>
        </p:spPr>
      </p:sp>
      <p:pic>
        <p:nvPicPr>
          <p:cNvPr id="8" name="Image 0" descr="preencoded.png">    </p:cNvPr>
          <p:cNvPicPr>
            <a:picLocks noChangeAspect="1"/>
          </p:cNvPicPr>
          <p:nvPr/>
        </p:nvPicPr>
        <p:blipFill>
          <a:blip r:embed="rId1"/>
          <a:stretch>
            <a:fillRect/>
          </a:stretch>
        </p:blipFill>
        <p:spPr>
          <a:xfrm>
            <a:off x="731520" y="1435608"/>
            <a:ext cx="329184" cy="329184"/>
          </a:xfrm>
          <a:prstGeom prst="rect">
            <a:avLst/>
          </a:prstGeom>
        </p:spPr>
      </p:pic>
      <p:sp>
        <p:nvSpPr>
          <p:cNvPr id="9" name="Text 6"/>
          <p:cNvSpPr txBox="1"/>
          <p:nvPr/>
        </p:nvSpPr>
        <p:spPr>
          <a:xfrm>
            <a:off x="1234440" y="1325880"/>
            <a:ext cx="10180015" cy="548640"/>
          </a:xfrm>
          <a:prstGeom prst="rect">
            <a:avLst/>
          </a:prstGeom>
          <a:noFill/>
          <a:ln/>
        </p:spPr>
        <p:txBody>
          <a:bodyPr wrap="square" lIns="0" tIns="0" rIns="0" bIns="0" rtlCol="0" anchor="ctr"/>
          <a:lstStyle/>
          <a:p>
            <a:pPr indent="0" marL="0">
              <a:buNone/>
            </a:pPr>
            <a:r>
              <a:rPr lang="en-US" sz="1600" b="1" dirty="0">
                <a:solidFill>
                  <a:srgbClr val="1F1F1F"/>
                </a:solidFill>
              </a:rPr>
              <a:t>E. </a:t>
            </a:r>
            <a:r>
              <a:rPr lang="en-US" sz="1600" b="1" dirty="0">
                <a:solidFill>
                  <a:srgbClr val="1F1F1F"/>
                </a:solidFill>
              </a:rPr>
              <a:t>The first two stimulate osteoblasts; the last two inhibit osteoclasts</a:t>
            </a:r>
            <a:endParaRPr lang="en-US" sz="1600" dirty="0"/>
          </a:p>
        </p:txBody>
      </p:sp>
      <p:sp>
        <p:nvSpPr>
          <p:cNvPr id="10" name="Why correct"/>
          <p:cNvSpPr txBox="1"/>
          <p:nvPr/>
        </p:nvSpPr>
        <p:spPr>
          <a:xfrm>
            <a:off x="777240" y="2011680"/>
            <a:ext cx="10637215" cy="724408"/>
          </a:xfrm>
          <a:prstGeom prst="rect">
            <a:avLst/>
          </a:prstGeom>
          <a:noFill/>
          <a:ln/>
        </p:spPr>
        <p:txBody>
          <a:bodyPr wrap="square" lIns="0" tIns="0" rIns="0" bIns="0" rtlCol="0" anchor="t"/>
          <a:lstStyle/>
          <a:p>
            <a:pPr indent="0" marL="0">
              <a:buNone/>
            </a:pPr>
            <a:r>
              <a:rPr lang="en-US" sz="1600" dirty="0">
                <a:solidFill>
                  <a:srgbClr val="1F1F1F"/>
                </a:solidFill>
              </a:rPr>
              <a:t>Anabolic agents (teriparatide, abaloparatide, romosozumab) stimulate osteoblasts; bisphosphonates, denosumab, SERMs, and calcitonin inhibit osteoclasts — two strategies for one balance (S58).</a:t>
            </a:r>
            <a:r>
              <a:rPr lang="en-US" sz="1100" dirty="0">
                <a:solidFill>
                  <a:srgbClr val="666666"/>
                </a:solidFill>
              </a:rPr>
              <a:t>  S54; S55; S56; S58</a:t>
            </a:r>
            <a:endParaRPr lang="en-US" sz="1600" dirty="0"/>
          </a:p>
        </p:txBody>
      </p:sp>
      <p:sp>
        <p:nvSpPr>
          <p:cNvPr id="11" name="Why others wrong card"/>
          <p:cNvSpPr/>
          <p:nvPr/>
        </p:nvSpPr>
        <p:spPr>
          <a:xfrm>
            <a:off x="548640" y="2873248"/>
            <a:ext cx="11094415" cy="1704848"/>
          </a:xfrm>
          <a:prstGeom prst="roundRect">
            <a:avLst>
              <a:gd name="adj" fmla="val 5364"/>
            </a:avLst>
          </a:prstGeom>
          <a:solidFill>
            <a:srgbClr val="F2F4F7"/>
          </a:solidFill>
          <a:ln w="12700">
            <a:solidFill>
              <a:srgbClr val="F2F4F7"/>
            </a:solidFill>
            <a:prstDash val="solid"/>
          </a:ln>
        </p:spPr>
      </p:sp>
      <p:sp>
        <p:nvSpPr>
          <p:cNvPr id="12" name="Why others wrong"/>
          <p:cNvSpPr txBox="1"/>
          <p:nvPr/>
        </p:nvSpPr>
        <p:spPr>
          <a:xfrm>
            <a:off x="777240" y="2982976"/>
            <a:ext cx="10637215" cy="1521968"/>
          </a:xfrm>
          <a:prstGeom prst="rect">
            <a:avLst/>
          </a:prstGeom>
          <a:noFill/>
          <a:ln/>
        </p:spPr>
        <p:txBody>
          <a:bodyPr wrap="square" lIns="0" tIns="0" rIns="0" bIns="0" rtlCol="0" anchor="t"/>
          <a:lstStyle/>
          <a:p>
            <a:pPr indent="0" marL="0">
              <a:spcAft>
                <a:spcPts val="400"/>
              </a:spcAft>
              <a:buNone/>
            </a:pPr>
            <a:r>
              <a:rPr lang="en-US" sz="1600" b="1" dirty="0">
                <a:solidFill>
                  <a:srgbClr val="C00000"/>
                </a:solidFill>
              </a:rPr>
              <a:t>Why the other choices are wrong</a:t>
            </a:r>
            <a:endParaRPr lang="en-US" sz="1600" dirty="0"/>
          </a:p>
          <a:p>
            <a:pPr indent="0" marL="0">
              <a:buNone/>
            </a:pPr>
            <a:r>
              <a:rPr lang="en-US" sz="1600" b="1" dirty="0">
                <a:solidFill>
                  <a:srgbClr val="1F1F1F"/>
                </a:solidFill>
              </a:rPr>
              <a:t>A. The grouping shows route of administration, not mechanism — </a:t>
            </a:r>
            <a:r>
              <a:rPr lang="en-US" sz="1600" dirty="0">
                <a:solidFill>
                  <a:srgbClr val="1F1F1F"/>
                </a:solidFill>
              </a:rPr>
              <a:t>The balance sorts by mechanism (S58).</a:t>
            </a:r>
            <a:endParaRPr lang="en-US" sz="1600" dirty="0"/>
          </a:p>
          <a:p>
            <a:pPr indent="0" marL="0">
              <a:buNone/>
            </a:pPr>
            <a:r>
              <a:rPr lang="en-US" sz="1600" b="1" dirty="0">
                <a:solidFill>
                  <a:srgbClr val="1F1F1F"/>
                </a:solidFill>
              </a:rPr>
              <a:t>B. The first two inhibit osteoclasts; the last two stimulate osteoblasts — </a:t>
            </a:r>
            <a:r>
              <a:rPr lang="en-US" sz="1600" dirty="0">
                <a:solidFill>
                  <a:srgbClr val="1F1F1F"/>
                </a:solidFill>
              </a:rPr>
              <a:t>Reversed (S58).</a:t>
            </a:r>
            <a:endParaRPr lang="en-US" sz="1600" dirty="0"/>
          </a:p>
          <a:p>
            <a:pPr indent="0" marL="0">
              <a:buNone/>
            </a:pPr>
            <a:r>
              <a:rPr lang="en-US" sz="1600" b="1" dirty="0">
                <a:solidFill>
                  <a:srgbClr val="1F1F1F"/>
                </a:solidFill>
              </a:rPr>
              <a:t>C. All four are antiresorptives differing only in potency — </a:t>
            </a:r>
            <a:r>
              <a:rPr lang="en-US" sz="1600" dirty="0">
                <a:solidFill>
                  <a:srgbClr val="1F1F1F"/>
                </a:solidFill>
              </a:rPr>
              <a:t>Teriparatide and romosozumab are anabolic (S54; S55).</a:t>
            </a:r>
            <a:endParaRPr lang="en-US" sz="1600" dirty="0"/>
          </a:p>
          <a:p>
            <a:pPr indent="0" marL="0">
              <a:buNone/>
            </a:pPr>
            <a:r>
              <a:rPr lang="en-US" sz="1600" b="1" dirty="0">
                <a:solidFill>
                  <a:srgbClr val="1F1F1F"/>
                </a:solidFill>
              </a:rPr>
              <a:t>D. All four drugs work through one identical mechanism — </a:t>
            </a:r>
            <a:r>
              <a:rPr lang="en-US" sz="1600" dirty="0">
                <a:solidFill>
                  <a:srgbClr val="1F1F1F"/>
                </a:solidFill>
              </a:rPr>
              <a:t>They act on opposite sides of the balance (S56).</a:t>
            </a:r>
            <a:endParaRPr lang="en-US" sz="1600" dirty="0"/>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name="Slide 102">
    <p:bg>
      <p:bgPr>
        <a:solidFill>
          <a:srgbClr val="FFFFFF"/>
        </a:solidFill>
      </p:bgPr>
    </p:bg>
    <p:spTree>
      <p:nvGrpSpPr>
        <p:cNvPr id="1" name=""/>
        <p:cNvGrpSpPr/>
        <p:nvPr/>
      </p:nvGrpSpPr>
      <p:grpSpPr>
        <a:xfrm>
          <a:off x="0" y="0"/>
          <a:ext cx="0" cy="0"/>
          <a:chOff x="0" y="0"/>
          <a:chExt cx="0" cy="0"/>
        </a:xfrm>
      </p:grpSpPr>
      <p:sp>
        <p:nvSpPr>
          <p:cNvPr id="2" name="Kicker"/>
          <p:cNvSpPr txBox="1"/>
          <p:nvPr/>
        </p:nvSpPr>
        <p:spPr>
          <a:xfrm>
            <a:off x="548640" y="292608"/>
            <a:ext cx="8076895" cy="274320"/>
          </a:xfrm>
          <a:prstGeom prst="rect">
            <a:avLst/>
          </a:prstGeom>
          <a:noFill/>
          <a:ln/>
        </p:spPr>
        <p:txBody>
          <a:bodyPr wrap="square" lIns="0" tIns="0" rIns="0" bIns="0" rtlCol="0" anchor="ctr"/>
          <a:lstStyle/>
          <a:p>
            <a:pPr indent="0" marL="0">
              <a:buNone/>
            </a:pPr>
            <a:r>
              <a:rPr lang="en-US" sz="1200" b="1" spc="100" kern="0" dirty="0">
                <a:solidFill>
                  <a:srgbClr val="4472C4"/>
                </a:solidFill>
              </a:rPr>
              <a:t>CLINICAL VIGNETTE · LECTURE QUICK CHECK S60; S61</a:t>
            </a:r>
            <a:endParaRPr lang="en-US" sz="1200" dirty="0"/>
          </a:p>
        </p:txBody>
      </p:sp>
      <p:sp>
        <p:nvSpPr>
          <p:cNvPr id="3" name="Title"/>
          <p:cNvSpPr txBox="1"/>
          <p:nvPr/>
        </p:nvSpPr>
        <p:spPr>
          <a:xfrm>
            <a:off x="548640" y="566928"/>
            <a:ext cx="8076895" cy="713232"/>
          </a:xfrm>
          <a:prstGeom prst="rect">
            <a:avLst/>
          </a:prstGeom>
          <a:noFill/>
          <a:ln/>
        </p:spPr>
        <p:txBody>
          <a:bodyPr wrap="square" lIns="0" tIns="0" rIns="0" bIns="0" rtlCol="0" anchor="t"/>
          <a:lstStyle/>
          <a:p>
            <a:pPr indent="0" marL="0">
              <a:buNone/>
            </a:pPr>
            <a:r>
              <a:rPr lang="en-US" sz="3000" b="1" dirty="0">
                <a:solidFill>
                  <a:srgbClr val="1F1F1F"/>
                </a:solidFill>
                <a:latin typeface="Calibri" pitchFamily="34" charset="0"/>
                <a:ea typeface="Calibri" pitchFamily="34" charset="-122"/>
                <a:cs typeface="Calibri" pitchFamily="34" charset="-120"/>
              </a:rPr>
              <a:t>Question 25</a:t>
            </a:r>
            <a:endParaRPr lang="en-US" sz="3000" dirty="0"/>
          </a:p>
        </p:txBody>
      </p:sp>
      <p:sp>
        <p:nvSpPr>
          <p:cNvPr id="4" name="Objective chip"/>
          <p:cNvSpPr/>
          <p:nvPr/>
        </p:nvSpPr>
        <p:spPr>
          <a:xfrm>
            <a:off x="8899855" y="365760"/>
            <a:ext cx="2743200" cy="384048"/>
          </a:xfrm>
          <a:prstGeom prst="roundRect">
            <a:avLst>
              <a:gd name="adj" fmla="val 35714"/>
            </a:avLst>
          </a:prstGeom>
          <a:solidFill>
            <a:srgbClr val="E3EBF8"/>
          </a:solidFill>
          <a:ln/>
        </p:spPr>
        <p:txBody>
          <a:bodyPr wrap="square" lIns="25400" tIns="25400" rIns="25400" bIns="25400" rtlCol="0" anchor="ctr"/>
          <a:lstStyle/>
          <a:p>
            <a:pPr algn="ctr" indent="0" marL="0">
              <a:buNone/>
            </a:pPr>
            <a:r>
              <a:rPr lang="en-US" sz="800" b="1" dirty="0">
                <a:solidFill>
                  <a:srgbClr val="2F4F8A"/>
                </a:solidFill>
              </a:rPr>
              <a:t>Objectives: SO3 · SO4 · IO2.1 · IO2.2 · IO2.3 · IO2.4 · IO2.5 · IO2.6</a:t>
            </a:r>
            <a:endParaRPr lang="en-US" sz="800" dirty="0"/>
          </a:p>
        </p:txBody>
      </p:sp>
      <p:sp>
        <p:nvSpPr>
          <p:cNvPr id="5" name="Footer"/>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1000" dirty="0">
                <a:solidFill>
                  <a:srgbClr val="666666"/>
                </a:solidFill>
              </a:rPr>
              <a:t>L04 · Musculoskeletal Pharmacology — Session 2</a:t>
            </a:r>
            <a:endParaRPr lang="en-US" sz="1000" dirty="0"/>
          </a:p>
        </p:txBody>
      </p:sp>
      <p:sp>
        <p:nvSpPr>
          <p:cNvPr id="6" name="Slide number"/>
          <p:cNvSpPr txBox="1"/>
          <p:nvPr/>
        </p:nvSpPr>
        <p:spPr>
          <a:xfrm>
            <a:off x="10728655" y="6419088"/>
            <a:ext cx="914400" cy="274320"/>
          </a:xfrm>
          <a:prstGeom prst="rect">
            <a:avLst/>
          </a:prstGeom>
          <a:noFill/>
          <a:ln/>
        </p:spPr>
        <p:txBody>
          <a:bodyPr wrap="square" lIns="0" tIns="0" rIns="0" bIns="0" rtlCol="0" anchor="ctr"/>
          <a:lstStyle/>
          <a:p>
            <a:pPr algn="r" indent="0" marL="0">
              <a:buNone/>
            </a:pPr>
            <a:r>
              <a:rPr lang="en-US" sz="1000" dirty="0">
                <a:solidFill>
                  <a:srgbClr val="666666"/>
                </a:solidFill>
              </a:rPr>
              <a:t>102</a:t>
            </a:r>
            <a:endParaRPr lang="en-US" sz="1000" dirty="0"/>
          </a:p>
        </p:txBody>
      </p:sp>
      <p:sp>
        <p:nvSpPr>
          <p:cNvPr id="7" name="Question stem card"/>
          <p:cNvSpPr/>
          <p:nvPr/>
        </p:nvSpPr>
        <p:spPr>
          <a:xfrm>
            <a:off x="548640" y="1325880"/>
            <a:ext cx="11094415" cy="923544"/>
          </a:xfrm>
          <a:prstGeom prst="roundRect">
            <a:avLst>
              <a:gd name="adj" fmla="val 9901"/>
            </a:avLst>
          </a:prstGeom>
          <a:solidFill>
            <a:srgbClr val="F2F4F7"/>
          </a:solidFill>
          <a:ln w="12700">
            <a:solidFill>
              <a:srgbClr val="F2F4F7"/>
            </a:solidFill>
            <a:prstDash val="solid"/>
          </a:ln>
        </p:spPr>
      </p:sp>
      <p:sp>
        <p:nvSpPr>
          <p:cNvPr id="8" name="Question stem"/>
          <p:cNvSpPr txBox="1"/>
          <p:nvPr/>
        </p:nvSpPr>
        <p:spPr>
          <a:xfrm>
            <a:off x="777240" y="1325880"/>
            <a:ext cx="10637215" cy="923544"/>
          </a:xfrm>
          <a:prstGeom prst="rect">
            <a:avLst/>
          </a:prstGeom>
          <a:noFill/>
          <a:ln/>
        </p:spPr>
        <p:txBody>
          <a:bodyPr wrap="square" lIns="0" tIns="0" rIns="0" bIns="0" rtlCol="0" anchor="ctr"/>
          <a:lstStyle/>
          <a:p>
            <a:pPr indent="0" marL="0">
              <a:buNone/>
            </a:pPr>
            <a:r>
              <a:rPr lang="en-US" sz="1800" dirty="0">
                <a:solidFill>
                  <a:srgbClr val="1F1F1F"/>
                </a:solidFill>
              </a:rPr>
              <a:t>A patient is counseled to take an oral bisphosphonate with a full glass of water and remain upright for a specified period. What complication is this counseling primarily meant to prevent?</a:t>
            </a:r>
            <a:endParaRPr lang="en-US" sz="1800" dirty="0"/>
          </a:p>
        </p:txBody>
      </p:sp>
      <p:sp>
        <p:nvSpPr>
          <p:cNvPr id="9" name="Shape 7"/>
          <p:cNvSpPr/>
          <p:nvPr/>
        </p:nvSpPr>
        <p:spPr>
          <a:xfrm>
            <a:off x="548640" y="2459736"/>
            <a:ext cx="402336" cy="402336"/>
          </a:xfrm>
          <a:prstGeom prst="ellipse">
            <a:avLst/>
          </a:prstGeom>
          <a:solidFill>
            <a:srgbClr val="FFFFFF"/>
          </a:solidFill>
          <a:ln w="19050">
            <a:solidFill>
              <a:srgbClr val="4472C4"/>
            </a:solidFill>
            <a:prstDash val="solid"/>
          </a:ln>
        </p:spPr>
      </p:sp>
      <p:sp>
        <p:nvSpPr>
          <p:cNvPr id="10" name="Text 8"/>
          <p:cNvSpPr txBox="1"/>
          <p:nvPr/>
        </p:nvSpPr>
        <p:spPr>
          <a:xfrm>
            <a:off x="548640" y="2459736"/>
            <a:ext cx="402336" cy="402336"/>
          </a:xfrm>
          <a:prstGeom prst="rect">
            <a:avLst/>
          </a:prstGeom>
          <a:noFill/>
          <a:ln/>
        </p:spPr>
        <p:txBody>
          <a:bodyPr wrap="square" lIns="0" tIns="0" rIns="0" bIns="0" rtlCol="0" anchor="ctr"/>
          <a:lstStyle/>
          <a:p>
            <a:pPr algn="ctr" indent="0" marL="0">
              <a:buNone/>
            </a:pPr>
            <a:r>
              <a:rPr lang="en-US" sz="1400" b="1" dirty="0">
                <a:solidFill>
                  <a:srgbClr val="4472C4"/>
                </a:solidFill>
              </a:rPr>
              <a:t>A</a:t>
            </a:r>
            <a:endParaRPr lang="en-US" sz="1400" dirty="0"/>
          </a:p>
        </p:txBody>
      </p:sp>
      <p:sp>
        <p:nvSpPr>
          <p:cNvPr id="11" name="Option A"/>
          <p:cNvSpPr txBox="1"/>
          <p:nvPr/>
        </p:nvSpPr>
        <p:spPr>
          <a:xfrm>
            <a:off x="1188720" y="2432304"/>
            <a:ext cx="10271455" cy="457200"/>
          </a:xfrm>
          <a:prstGeom prst="rect">
            <a:avLst/>
          </a:prstGeom>
          <a:noFill/>
          <a:ln/>
        </p:spPr>
        <p:txBody>
          <a:bodyPr wrap="square" lIns="0" tIns="0" rIns="0" bIns="0" rtlCol="0" anchor="ctr"/>
          <a:lstStyle/>
          <a:p>
            <a:pPr indent="0" marL="0">
              <a:buNone/>
            </a:pPr>
            <a:r>
              <a:rPr lang="en-US" sz="1800" dirty="0">
                <a:solidFill>
                  <a:srgbClr val="1F1F1F"/>
                </a:solidFill>
              </a:rPr>
              <a:t>Hypocalcemia after dosing</a:t>
            </a:r>
            <a:endParaRPr lang="en-US" sz="1800" dirty="0"/>
          </a:p>
        </p:txBody>
      </p:sp>
      <p:sp>
        <p:nvSpPr>
          <p:cNvPr id="12" name="Shape 10"/>
          <p:cNvSpPr/>
          <p:nvPr/>
        </p:nvSpPr>
        <p:spPr>
          <a:xfrm>
            <a:off x="548640" y="3008376"/>
            <a:ext cx="402336" cy="402336"/>
          </a:xfrm>
          <a:prstGeom prst="ellipse">
            <a:avLst/>
          </a:prstGeom>
          <a:solidFill>
            <a:srgbClr val="FFFFFF"/>
          </a:solidFill>
          <a:ln w="19050">
            <a:solidFill>
              <a:srgbClr val="4472C4"/>
            </a:solidFill>
            <a:prstDash val="solid"/>
          </a:ln>
        </p:spPr>
      </p:sp>
      <p:sp>
        <p:nvSpPr>
          <p:cNvPr id="13" name="Text 11"/>
          <p:cNvSpPr txBox="1"/>
          <p:nvPr/>
        </p:nvSpPr>
        <p:spPr>
          <a:xfrm>
            <a:off x="548640" y="3008376"/>
            <a:ext cx="402336" cy="402336"/>
          </a:xfrm>
          <a:prstGeom prst="rect">
            <a:avLst/>
          </a:prstGeom>
          <a:noFill/>
          <a:ln/>
        </p:spPr>
        <p:txBody>
          <a:bodyPr wrap="square" lIns="0" tIns="0" rIns="0" bIns="0" rtlCol="0" anchor="ctr"/>
          <a:lstStyle/>
          <a:p>
            <a:pPr algn="ctr" indent="0" marL="0">
              <a:buNone/>
            </a:pPr>
            <a:r>
              <a:rPr lang="en-US" sz="1400" b="1" dirty="0">
                <a:solidFill>
                  <a:srgbClr val="4472C4"/>
                </a:solidFill>
              </a:rPr>
              <a:t>B</a:t>
            </a:r>
            <a:endParaRPr lang="en-US" sz="1400" dirty="0"/>
          </a:p>
        </p:txBody>
      </p:sp>
      <p:sp>
        <p:nvSpPr>
          <p:cNvPr id="14" name="Option B"/>
          <p:cNvSpPr txBox="1"/>
          <p:nvPr/>
        </p:nvSpPr>
        <p:spPr>
          <a:xfrm>
            <a:off x="1188720" y="2980944"/>
            <a:ext cx="10271455" cy="457200"/>
          </a:xfrm>
          <a:prstGeom prst="rect">
            <a:avLst/>
          </a:prstGeom>
          <a:noFill/>
          <a:ln/>
        </p:spPr>
        <p:txBody>
          <a:bodyPr wrap="square" lIns="0" tIns="0" rIns="0" bIns="0" rtlCol="0" anchor="ctr"/>
          <a:lstStyle/>
          <a:p>
            <a:pPr indent="0" marL="0">
              <a:buNone/>
            </a:pPr>
            <a:r>
              <a:rPr lang="en-US" sz="1800" dirty="0">
                <a:solidFill>
                  <a:srgbClr val="1F1F1F"/>
                </a:solidFill>
              </a:rPr>
              <a:t>Esophageal irritation or injury</a:t>
            </a:r>
            <a:endParaRPr lang="en-US" sz="1800" dirty="0"/>
          </a:p>
        </p:txBody>
      </p:sp>
      <p:sp>
        <p:nvSpPr>
          <p:cNvPr id="15" name="Shape 13"/>
          <p:cNvSpPr/>
          <p:nvPr/>
        </p:nvSpPr>
        <p:spPr>
          <a:xfrm>
            <a:off x="548640" y="3557016"/>
            <a:ext cx="402336" cy="402336"/>
          </a:xfrm>
          <a:prstGeom prst="ellipse">
            <a:avLst/>
          </a:prstGeom>
          <a:solidFill>
            <a:srgbClr val="FFFFFF"/>
          </a:solidFill>
          <a:ln w="19050">
            <a:solidFill>
              <a:srgbClr val="4472C4"/>
            </a:solidFill>
            <a:prstDash val="solid"/>
          </a:ln>
        </p:spPr>
      </p:sp>
      <p:sp>
        <p:nvSpPr>
          <p:cNvPr id="16" name="Text 14"/>
          <p:cNvSpPr txBox="1"/>
          <p:nvPr/>
        </p:nvSpPr>
        <p:spPr>
          <a:xfrm>
            <a:off x="548640" y="3557016"/>
            <a:ext cx="402336" cy="402336"/>
          </a:xfrm>
          <a:prstGeom prst="rect">
            <a:avLst/>
          </a:prstGeom>
          <a:noFill/>
          <a:ln/>
        </p:spPr>
        <p:txBody>
          <a:bodyPr wrap="square" lIns="0" tIns="0" rIns="0" bIns="0" rtlCol="0" anchor="ctr"/>
          <a:lstStyle/>
          <a:p>
            <a:pPr algn="ctr" indent="0" marL="0">
              <a:buNone/>
            </a:pPr>
            <a:r>
              <a:rPr lang="en-US" sz="1400" b="1" dirty="0">
                <a:solidFill>
                  <a:srgbClr val="4472C4"/>
                </a:solidFill>
              </a:rPr>
              <a:t>C</a:t>
            </a:r>
            <a:endParaRPr lang="en-US" sz="1400" dirty="0"/>
          </a:p>
        </p:txBody>
      </p:sp>
      <p:sp>
        <p:nvSpPr>
          <p:cNvPr id="17" name="Option C"/>
          <p:cNvSpPr txBox="1"/>
          <p:nvPr/>
        </p:nvSpPr>
        <p:spPr>
          <a:xfrm>
            <a:off x="1188720" y="3529584"/>
            <a:ext cx="10271455" cy="457200"/>
          </a:xfrm>
          <a:prstGeom prst="rect">
            <a:avLst/>
          </a:prstGeom>
          <a:noFill/>
          <a:ln/>
        </p:spPr>
        <p:txBody>
          <a:bodyPr wrap="square" lIns="0" tIns="0" rIns="0" bIns="0" rtlCol="0" anchor="ctr"/>
          <a:lstStyle/>
          <a:p>
            <a:pPr indent="0" marL="0">
              <a:buNone/>
            </a:pPr>
            <a:r>
              <a:rPr lang="en-US" sz="1800" dirty="0">
                <a:solidFill>
                  <a:srgbClr val="1F1F1F"/>
                </a:solidFill>
              </a:rPr>
              <a:t>Osteonecrosis of the jaw</a:t>
            </a:r>
            <a:endParaRPr lang="en-US" sz="1800" dirty="0"/>
          </a:p>
        </p:txBody>
      </p:sp>
      <p:sp>
        <p:nvSpPr>
          <p:cNvPr id="18" name="Shape 16"/>
          <p:cNvSpPr/>
          <p:nvPr/>
        </p:nvSpPr>
        <p:spPr>
          <a:xfrm>
            <a:off x="548640" y="4105656"/>
            <a:ext cx="402336" cy="402336"/>
          </a:xfrm>
          <a:prstGeom prst="ellipse">
            <a:avLst/>
          </a:prstGeom>
          <a:solidFill>
            <a:srgbClr val="FFFFFF"/>
          </a:solidFill>
          <a:ln w="19050">
            <a:solidFill>
              <a:srgbClr val="4472C4"/>
            </a:solidFill>
            <a:prstDash val="solid"/>
          </a:ln>
        </p:spPr>
      </p:sp>
      <p:sp>
        <p:nvSpPr>
          <p:cNvPr id="19" name="Text 17"/>
          <p:cNvSpPr txBox="1"/>
          <p:nvPr/>
        </p:nvSpPr>
        <p:spPr>
          <a:xfrm>
            <a:off x="548640" y="4105656"/>
            <a:ext cx="402336" cy="402336"/>
          </a:xfrm>
          <a:prstGeom prst="rect">
            <a:avLst/>
          </a:prstGeom>
          <a:noFill/>
          <a:ln/>
        </p:spPr>
        <p:txBody>
          <a:bodyPr wrap="square" lIns="0" tIns="0" rIns="0" bIns="0" rtlCol="0" anchor="ctr"/>
          <a:lstStyle/>
          <a:p>
            <a:pPr algn="ctr" indent="0" marL="0">
              <a:buNone/>
            </a:pPr>
            <a:r>
              <a:rPr lang="en-US" sz="1400" b="1" dirty="0">
                <a:solidFill>
                  <a:srgbClr val="4472C4"/>
                </a:solidFill>
              </a:rPr>
              <a:t>D</a:t>
            </a:r>
            <a:endParaRPr lang="en-US" sz="1400" dirty="0"/>
          </a:p>
        </p:txBody>
      </p:sp>
      <p:sp>
        <p:nvSpPr>
          <p:cNvPr id="20" name="Option D"/>
          <p:cNvSpPr txBox="1"/>
          <p:nvPr/>
        </p:nvSpPr>
        <p:spPr>
          <a:xfrm>
            <a:off x="1188720" y="4078224"/>
            <a:ext cx="10271455" cy="457200"/>
          </a:xfrm>
          <a:prstGeom prst="rect">
            <a:avLst/>
          </a:prstGeom>
          <a:noFill/>
          <a:ln/>
        </p:spPr>
        <p:txBody>
          <a:bodyPr wrap="square" lIns="0" tIns="0" rIns="0" bIns="0" rtlCol="0" anchor="ctr"/>
          <a:lstStyle/>
          <a:p>
            <a:pPr indent="0" marL="0">
              <a:buNone/>
            </a:pPr>
            <a:r>
              <a:rPr lang="en-US" sz="1800" dirty="0">
                <a:solidFill>
                  <a:srgbClr val="1F1F1F"/>
                </a:solidFill>
              </a:rPr>
              <a:t>Atypical femoral fracture</a:t>
            </a:r>
            <a:endParaRPr lang="en-US" sz="1800" dirty="0"/>
          </a:p>
        </p:txBody>
      </p:sp>
      <p:sp>
        <p:nvSpPr>
          <p:cNvPr id="21" name="Shape 19"/>
          <p:cNvSpPr/>
          <p:nvPr/>
        </p:nvSpPr>
        <p:spPr>
          <a:xfrm>
            <a:off x="548640" y="4654296"/>
            <a:ext cx="402336" cy="402336"/>
          </a:xfrm>
          <a:prstGeom prst="ellipse">
            <a:avLst/>
          </a:prstGeom>
          <a:solidFill>
            <a:srgbClr val="FFFFFF"/>
          </a:solidFill>
          <a:ln w="19050">
            <a:solidFill>
              <a:srgbClr val="4472C4"/>
            </a:solidFill>
            <a:prstDash val="solid"/>
          </a:ln>
        </p:spPr>
      </p:sp>
      <p:sp>
        <p:nvSpPr>
          <p:cNvPr id="22" name="Text 20"/>
          <p:cNvSpPr txBox="1"/>
          <p:nvPr/>
        </p:nvSpPr>
        <p:spPr>
          <a:xfrm>
            <a:off x="548640" y="4654296"/>
            <a:ext cx="402336" cy="402336"/>
          </a:xfrm>
          <a:prstGeom prst="rect">
            <a:avLst/>
          </a:prstGeom>
          <a:noFill/>
          <a:ln/>
        </p:spPr>
        <p:txBody>
          <a:bodyPr wrap="square" lIns="0" tIns="0" rIns="0" bIns="0" rtlCol="0" anchor="ctr"/>
          <a:lstStyle/>
          <a:p>
            <a:pPr algn="ctr" indent="0" marL="0">
              <a:buNone/>
            </a:pPr>
            <a:r>
              <a:rPr lang="en-US" sz="1400" b="1" dirty="0">
                <a:solidFill>
                  <a:srgbClr val="4472C4"/>
                </a:solidFill>
              </a:rPr>
              <a:t>E</a:t>
            </a:r>
            <a:endParaRPr lang="en-US" sz="1400" dirty="0"/>
          </a:p>
        </p:txBody>
      </p:sp>
      <p:sp>
        <p:nvSpPr>
          <p:cNvPr id="23" name="Option E"/>
          <p:cNvSpPr txBox="1"/>
          <p:nvPr/>
        </p:nvSpPr>
        <p:spPr>
          <a:xfrm>
            <a:off x="1188720" y="4626864"/>
            <a:ext cx="10271455" cy="457200"/>
          </a:xfrm>
          <a:prstGeom prst="rect">
            <a:avLst/>
          </a:prstGeom>
          <a:noFill/>
          <a:ln/>
        </p:spPr>
        <p:txBody>
          <a:bodyPr wrap="square" lIns="0" tIns="0" rIns="0" bIns="0" rtlCol="0" anchor="ctr"/>
          <a:lstStyle/>
          <a:p>
            <a:pPr indent="0" marL="0">
              <a:buNone/>
            </a:pPr>
            <a:r>
              <a:rPr lang="en-US" sz="1800" dirty="0">
                <a:solidFill>
                  <a:srgbClr val="1F1F1F"/>
                </a:solidFill>
              </a:rPr>
              <a:t>Acute-phase flu-like reaction</a:t>
            </a:r>
            <a:endParaRPr lang="en-US" sz="1800" dirty="0"/>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name="Slide 103">
    <p:bg>
      <p:bgPr>
        <a:solidFill>
          <a:srgbClr val="FFFFFF"/>
        </a:solidFill>
      </p:bgPr>
    </p:bg>
    <p:spTree>
      <p:nvGrpSpPr>
        <p:cNvPr id="1" name=""/>
        <p:cNvGrpSpPr/>
        <p:nvPr/>
      </p:nvGrpSpPr>
      <p:grpSpPr>
        <a:xfrm>
          <a:off x="0" y="0"/>
          <a:ext cx="0" cy="0"/>
          <a:chOff x="0" y="0"/>
          <a:chExt cx="0" cy="0"/>
        </a:xfrm>
      </p:grpSpPr>
      <p:sp>
        <p:nvSpPr>
          <p:cNvPr id="2" name="Kicker"/>
          <p:cNvSpPr txBox="1"/>
          <p:nvPr/>
        </p:nvSpPr>
        <p:spPr>
          <a:xfrm>
            <a:off x="548640" y="292608"/>
            <a:ext cx="8076895" cy="274320"/>
          </a:xfrm>
          <a:prstGeom prst="rect">
            <a:avLst/>
          </a:prstGeom>
          <a:noFill/>
          <a:ln/>
        </p:spPr>
        <p:txBody>
          <a:bodyPr wrap="square" lIns="0" tIns="0" rIns="0" bIns="0" rtlCol="0" anchor="ctr"/>
          <a:lstStyle/>
          <a:p>
            <a:pPr indent="0" marL="0">
              <a:buNone/>
            </a:pPr>
            <a:r>
              <a:rPr lang="en-US" sz="1200" b="1" spc="100" kern="0" dirty="0">
                <a:solidFill>
                  <a:srgbClr val="4472C4"/>
                </a:solidFill>
              </a:rPr>
              <a:t>CLINICAL VIGNETTE · ANSWER</a:t>
            </a:r>
            <a:endParaRPr lang="en-US" sz="1200" dirty="0"/>
          </a:p>
        </p:txBody>
      </p:sp>
      <p:sp>
        <p:nvSpPr>
          <p:cNvPr id="3" name="Title"/>
          <p:cNvSpPr txBox="1"/>
          <p:nvPr/>
        </p:nvSpPr>
        <p:spPr>
          <a:xfrm>
            <a:off x="548640" y="566928"/>
            <a:ext cx="8076895" cy="713232"/>
          </a:xfrm>
          <a:prstGeom prst="rect">
            <a:avLst/>
          </a:prstGeom>
          <a:noFill/>
          <a:ln/>
        </p:spPr>
        <p:txBody>
          <a:bodyPr wrap="square" lIns="0" tIns="0" rIns="0" bIns="0" rtlCol="0" anchor="t"/>
          <a:lstStyle/>
          <a:p>
            <a:pPr indent="0" marL="0">
              <a:buNone/>
            </a:pPr>
            <a:r>
              <a:rPr lang="en-US" sz="3000" b="1" dirty="0">
                <a:solidFill>
                  <a:srgbClr val="1F1F1F"/>
                </a:solidFill>
                <a:latin typeface="Calibri" pitchFamily="34" charset="0"/>
                <a:ea typeface="Calibri" pitchFamily="34" charset="-122"/>
                <a:cs typeface="Calibri" pitchFamily="34" charset="-120"/>
              </a:rPr>
              <a:t>Answer 25: B</a:t>
            </a:r>
            <a:endParaRPr lang="en-US" sz="3000" dirty="0"/>
          </a:p>
        </p:txBody>
      </p:sp>
      <p:sp>
        <p:nvSpPr>
          <p:cNvPr id="4" name="Objective chip"/>
          <p:cNvSpPr/>
          <p:nvPr/>
        </p:nvSpPr>
        <p:spPr>
          <a:xfrm>
            <a:off x="8899855" y="365760"/>
            <a:ext cx="2743200" cy="384048"/>
          </a:xfrm>
          <a:prstGeom prst="roundRect">
            <a:avLst>
              <a:gd name="adj" fmla="val 35714"/>
            </a:avLst>
          </a:prstGeom>
          <a:solidFill>
            <a:srgbClr val="E3EBF8"/>
          </a:solidFill>
          <a:ln/>
        </p:spPr>
        <p:txBody>
          <a:bodyPr wrap="square" lIns="25400" tIns="25400" rIns="25400" bIns="25400" rtlCol="0" anchor="ctr"/>
          <a:lstStyle/>
          <a:p>
            <a:pPr algn="ctr" indent="0" marL="0">
              <a:buNone/>
            </a:pPr>
            <a:r>
              <a:rPr lang="en-US" sz="800" b="1" dirty="0">
                <a:solidFill>
                  <a:srgbClr val="2F4F8A"/>
                </a:solidFill>
              </a:rPr>
              <a:t>Objectives: SO3 · SO4 · IO2.1 · IO2.2 · IO2.3 · IO2.4 · IO2.5 · IO2.6</a:t>
            </a:r>
            <a:endParaRPr lang="en-US" sz="800" dirty="0"/>
          </a:p>
        </p:txBody>
      </p:sp>
      <p:sp>
        <p:nvSpPr>
          <p:cNvPr id="5" name="Footer"/>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1000" dirty="0">
                <a:solidFill>
                  <a:srgbClr val="666666"/>
                </a:solidFill>
              </a:rPr>
              <a:t>L04 · Musculoskeletal Pharmacology — Session 2</a:t>
            </a:r>
            <a:endParaRPr lang="en-US" sz="1000" dirty="0"/>
          </a:p>
        </p:txBody>
      </p:sp>
      <p:sp>
        <p:nvSpPr>
          <p:cNvPr id="6" name="Slide number"/>
          <p:cNvSpPr txBox="1"/>
          <p:nvPr/>
        </p:nvSpPr>
        <p:spPr>
          <a:xfrm>
            <a:off x="10728655" y="6419088"/>
            <a:ext cx="914400" cy="274320"/>
          </a:xfrm>
          <a:prstGeom prst="rect">
            <a:avLst/>
          </a:prstGeom>
          <a:noFill/>
          <a:ln/>
        </p:spPr>
        <p:txBody>
          <a:bodyPr wrap="square" lIns="0" tIns="0" rIns="0" bIns="0" rtlCol="0" anchor="ctr"/>
          <a:lstStyle/>
          <a:p>
            <a:pPr algn="r" indent="0" marL="0">
              <a:buNone/>
            </a:pPr>
            <a:r>
              <a:rPr lang="en-US" sz="1000" dirty="0">
                <a:solidFill>
                  <a:srgbClr val="666666"/>
                </a:solidFill>
              </a:rPr>
              <a:t>103</a:t>
            </a:r>
            <a:endParaRPr lang="en-US" sz="1000" dirty="0"/>
          </a:p>
        </p:txBody>
      </p:sp>
      <p:sp>
        <p:nvSpPr>
          <p:cNvPr id="7" name="Correct answer"/>
          <p:cNvSpPr/>
          <p:nvPr/>
        </p:nvSpPr>
        <p:spPr>
          <a:xfrm>
            <a:off x="548640" y="1325880"/>
            <a:ext cx="11094415" cy="548640"/>
          </a:xfrm>
          <a:prstGeom prst="roundRect">
            <a:avLst>
              <a:gd name="adj" fmla="val 16667"/>
            </a:avLst>
          </a:prstGeom>
          <a:solidFill>
            <a:srgbClr val="E2F0D9"/>
          </a:solidFill>
          <a:ln w="19050">
            <a:solidFill>
              <a:srgbClr val="548235"/>
            </a:solidFill>
            <a:prstDash val="solid"/>
          </a:ln>
        </p:spPr>
      </p:sp>
      <p:pic>
        <p:nvPicPr>
          <p:cNvPr id="8" name="Image 0" descr="preencoded.png">    </p:cNvPr>
          <p:cNvPicPr>
            <a:picLocks noChangeAspect="1"/>
          </p:cNvPicPr>
          <p:nvPr/>
        </p:nvPicPr>
        <p:blipFill>
          <a:blip r:embed="rId1"/>
          <a:stretch>
            <a:fillRect/>
          </a:stretch>
        </p:blipFill>
        <p:spPr>
          <a:xfrm>
            <a:off x="731520" y="1435608"/>
            <a:ext cx="329184" cy="329184"/>
          </a:xfrm>
          <a:prstGeom prst="rect">
            <a:avLst/>
          </a:prstGeom>
        </p:spPr>
      </p:pic>
      <p:sp>
        <p:nvSpPr>
          <p:cNvPr id="9" name="Text 6"/>
          <p:cNvSpPr txBox="1"/>
          <p:nvPr/>
        </p:nvSpPr>
        <p:spPr>
          <a:xfrm>
            <a:off x="1234440" y="1325880"/>
            <a:ext cx="10180015" cy="548640"/>
          </a:xfrm>
          <a:prstGeom prst="rect">
            <a:avLst/>
          </a:prstGeom>
          <a:noFill/>
          <a:ln/>
        </p:spPr>
        <p:txBody>
          <a:bodyPr wrap="square" lIns="0" tIns="0" rIns="0" bIns="0" rtlCol="0" anchor="ctr"/>
          <a:lstStyle/>
          <a:p>
            <a:pPr indent="0" marL="0">
              <a:buNone/>
            </a:pPr>
            <a:r>
              <a:rPr lang="en-US" sz="1600" b="1" dirty="0">
                <a:solidFill>
                  <a:srgbClr val="1F1F1F"/>
                </a:solidFill>
              </a:rPr>
              <a:t>B. </a:t>
            </a:r>
            <a:r>
              <a:rPr lang="en-US" sz="1600" b="1" dirty="0">
                <a:solidFill>
                  <a:srgbClr val="1F1F1F"/>
                </a:solidFill>
              </a:rPr>
              <a:t>Esophageal irritation or injury</a:t>
            </a:r>
            <a:endParaRPr lang="en-US" sz="1600" dirty="0"/>
          </a:p>
        </p:txBody>
      </p:sp>
      <p:sp>
        <p:nvSpPr>
          <p:cNvPr id="10" name="Why correct"/>
          <p:cNvSpPr txBox="1"/>
          <p:nvPr/>
        </p:nvSpPr>
        <p:spPr>
          <a:xfrm>
            <a:off x="777240" y="2011680"/>
            <a:ext cx="10637215" cy="724408"/>
          </a:xfrm>
          <a:prstGeom prst="rect">
            <a:avLst/>
          </a:prstGeom>
          <a:noFill/>
          <a:ln/>
        </p:spPr>
        <p:txBody>
          <a:bodyPr wrap="square" lIns="0" tIns="0" rIns="0" bIns="0" rtlCol="0" anchor="t"/>
          <a:lstStyle/>
          <a:p>
            <a:pPr indent="0" marL="0">
              <a:buNone/>
            </a:pPr>
            <a:r>
              <a:rPr lang="en-US" sz="1600" dirty="0">
                <a:solidFill>
                  <a:srgbClr val="1F1F1F"/>
                </a:solidFill>
              </a:rPr>
              <a:t>Water and staying upright reduce the time the tablet contacts the esophageal mucosa, lowering the risk of esophageal irritation or injury (S61; SG U2-R13).</a:t>
            </a:r>
            <a:r>
              <a:rPr lang="en-US" sz="1100" dirty="0">
                <a:solidFill>
                  <a:srgbClr val="666666"/>
                </a:solidFill>
              </a:rPr>
              <a:t>  S52; S53; S61; SG U2-R13</a:t>
            </a:r>
            <a:endParaRPr lang="en-US" sz="1600" dirty="0"/>
          </a:p>
        </p:txBody>
      </p:sp>
      <p:sp>
        <p:nvSpPr>
          <p:cNvPr id="11" name="Why others wrong card"/>
          <p:cNvSpPr/>
          <p:nvPr/>
        </p:nvSpPr>
        <p:spPr>
          <a:xfrm>
            <a:off x="548640" y="2873248"/>
            <a:ext cx="11094415" cy="1704848"/>
          </a:xfrm>
          <a:prstGeom prst="roundRect">
            <a:avLst>
              <a:gd name="adj" fmla="val 5364"/>
            </a:avLst>
          </a:prstGeom>
          <a:solidFill>
            <a:srgbClr val="F2F4F7"/>
          </a:solidFill>
          <a:ln w="12700">
            <a:solidFill>
              <a:srgbClr val="F2F4F7"/>
            </a:solidFill>
            <a:prstDash val="solid"/>
          </a:ln>
        </p:spPr>
      </p:sp>
      <p:sp>
        <p:nvSpPr>
          <p:cNvPr id="12" name="Why others wrong"/>
          <p:cNvSpPr txBox="1"/>
          <p:nvPr/>
        </p:nvSpPr>
        <p:spPr>
          <a:xfrm>
            <a:off x="777240" y="2982976"/>
            <a:ext cx="10637215" cy="1521968"/>
          </a:xfrm>
          <a:prstGeom prst="rect">
            <a:avLst/>
          </a:prstGeom>
          <a:noFill/>
          <a:ln/>
        </p:spPr>
        <p:txBody>
          <a:bodyPr wrap="square" lIns="0" tIns="0" rIns="0" bIns="0" rtlCol="0" anchor="t"/>
          <a:lstStyle/>
          <a:p>
            <a:pPr indent="0" marL="0">
              <a:spcAft>
                <a:spcPts val="400"/>
              </a:spcAft>
              <a:buNone/>
            </a:pPr>
            <a:r>
              <a:rPr lang="en-US" sz="1600" b="1" dirty="0">
                <a:solidFill>
                  <a:srgbClr val="C00000"/>
                </a:solidFill>
              </a:rPr>
              <a:t>Why the other choices are wrong</a:t>
            </a:r>
            <a:endParaRPr lang="en-US" sz="1600" dirty="0"/>
          </a:p>
          <a:p>
            <a:pPr indent="0" marL="0">
              <a:buNone/>
            </a:pPr>
            <a:r>
              <a:rPr lang="en-US" sz="1600" b="1" dirty="0">
                <a:solidFill>
                  <a:srgbClr val="1F1F1F"/>
                </a:solidFill>
              </a:rPr>
              <a:t>A. Hypocalcemia after dosing — </a:t>
            </a:r>
            <a:r>
              <a:rPr lang="en-US" sz="1600" dirty="0">
                <a:solidFill>
                  <a:srgbClr val="1F1F1F"/>
                </a:solidFill>
              </a:rPr>
              <a:t>Prevented by repleting calcium and vitamin D first (S48).</a:t>
            </a:r>
            <a:endParaRPr lang="en-US" sz="1600" dirty="0"/>
          </a:p>
          <a:p>
            <a:pPr indent="0" marL="0">
              <a:buNone/>
            </a:pPr>
            <a:r>
              <a:rPr lang="en-US" sz="1600" b="1" dirty="0">
                <a:solidFill>
                  <a:srgbClr val="1F1F1F"/>
                </a:solidFill>
              </a:rPr>
              <a:t>C. Osteonecrosis of the jaw — </a:t>
            </a:r>
            <a:r>
              <a:rPr lang="en-US" sz="1600" dirty="0">
                <a:solidFill>
                  <a:srgbClr val="1F1F1F"/>
                </a:solidFill>
              </a:rPr>
              <a:t>A rare long-term effect, unrelated to how the dose is swallowed (S52).</a:t>
            </a:r>
            <a:endParaRPr lang="en-US" sz="1600" dirty="0"/>
          </a:p>
          <a:p>
            <a:pPr indent="0" marL="0">
              <a:buNone/>
            </a:pPr>
            <a:r>
              <a:rPr lang="en-US" sz="1600" b="1" dirty="0">
                <a:solidFill>
                  <a:srgbClr val="1F1F1F"/>
                </a:solidFill>
              </a:rPr>
              <a:t>D. Atypical femoral fracture — </a:t>
            </a:r>
            <a:r>
              <a:rPr lang="en-US" sz="1600" dirty="0">
                <a:solidFill>
                  <a:srgbClr val="1F1F1F"/>
                </a:solidFill>
              </a:rPr>
              <a:t>Linked to long-term use; addressed by a drug holiday (S48).</a:t>
            </a:r>
            <a:endParaRPr lang="en-US" sz="1600" dirty="0"/>
          </a:p>
          <a:p>
            <a:pPr indent="0" marL="0">
              <a:buNone/>
            </a:pPr>
            <a:r>
              <a:rPr lang="en-US" sz="1600" b="1" dirty="0">
                <a:solidFill>
                  <a:srgbClr val="1F1F1F"/>
                </a:solidFill>
              </a:rPr>
              <a:t>E. Acute-phase flu-like reaction — </a:t>
            </a:r>
            <a:r>
              <a:rPr lang="en-US" sz="1600" dirty="0">
                <a:solidFill>
                  <a:srgbClr val="1F1F1F"/>
                </a:solidFill>
              </a:rPr>
              <a:t>That follows IV zoledronic acid (S53).</a:t>
            </a:r>
            <a:endParaRPr lang="en-US" sz="1600" dirty="0"/>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name="Slide 104">
    <p:bg>
      <p:bgPr>
        <a:solidFill>
          <a:srgbClr val="FFFFFF"/>
        </a:solidFill>
      </p:bgPr>
    </p:bg>
    <p:spTree>
      <p:nvGrpSpPr>
        <p:cNvPr id="1" name=""/>
        <p:cNvGrpSpPr/>
        <p:nvPr/>
      </p:nvGrpSpPr>
      <p:grpSpPr>
        <a:xfrm>
          <a:off x="0" y="0"/>
          <a:ext cx="0" cy="0"/>
          <a:chOff x="0" y="0"/>
          <a:chExt cx="0" cy="0"/>
        </a:xfrm>
      </p:grpSpPr>
      <p:sp>
        <p:nvSpPr>
          <p:cNvPr id="2" name="Kicker"/>
          <p:cNvSpPr txBox="1"/>
          <p:nvPr/>
        </p:nvSpPr>
        <p:spPr>
          <a:xfrm>
            <a:off x="548640" y="292608"/>
            <a:ext cx="8076895" cy="274320"/>
          </a:xfrm>
          <a:prstGeom prst="rect">
            <a:avLst/>
          </a:prstGeom>
          <a:noFill/>
          <a:ln/>
        </p:spPr>
        <p:txBody>
          <a:bodyPr wrap="square" lIns="0" tIns="0" rIns="0" bIns="0" rtlCol="0" anchor="ctr"/>
          <a:lstStyle/>
          <a:p>
            <a:pPr indent="0" marL="0">
              <a:buNone/>
            </a:pPr>
            <a:r>
              <a:rPr lang="en-US" sz="1200" b="1" spc="100" kern="0" dirty="0">
                <a:solidFill>
                  <a:srgbClr val="4472C4"/>
                </a:solidFill>
              </a:rPr>
              <a:t>MECHANISM · LECTURE QUICK CHECK S50; S51</a:t>
            </a:r>
            <a:endParaRPr lang="en-US" sz="1200" dirty="0"/>
          </a:p>
        </p:txBody>
      </p:sp>
      <p:sp>
        <p:nvSpPr>
          <p:cNvPr id="3" name="Title"/>
          <p:cNvSpPr txBox="1"/>
          <p:nvPr/>
        </p:nvSpPr>
        <p:spPr>
          <a:xfrm>
            <a:off x="548640" y="566928"/>
            <a:ext cx="8076895" cy="713232"/>
          </a:xfrm>
          <a:prstGeom prst="rect">
            <a:avLst/>
          </a:prstGeom>
          <a:noFill/>
          <a:ln/>
        </p:spPr>
        <p:txBody>
          <a:bodyPr wrap="square" lIns="0" tIns="0" rIns="0" bIns="0" rtlCol="0" anchor="t"/>
          <a:lstStyle/>
          <a:p>
            <a:pPr indent="0" marL="0">
              <a:buNone/>
            </a:pPr>
            <a:r>
              <a:rPr lang="en-US" sz="3000" b="1" dirty="0">
                <a:solidFill>
                  <a:srgbClr val="1F1F1F"/>
                </a:solidFill>
                <a:latin typeface="Calibri" pitchFamily="34" charset="0"/>
                <a:ea typeface="Calibri" pitchFamily="34" charset="-122"/>
                <a:cs typeface="Calibri" pitchFamily="34" charset="-120"/>
              </a:rPr>
              <a:t>Question 26</a:t>
            </a:r>
            <a:endParaRPr lang="en-US" sz="3000" dirty="0"/>
          </a:p>
        </p:txBody>
      </p:sp>
      <p:sp>
        <p:nvSpPr>
          <p:cNvPr id="4" name="Objective chip"/>
          <p:cNvSpPr/>
          <p:nvPr/>
        </p:nvSpPr>
        <p:spPr>
          <a:xfrm>
            <a:off x="8899855" y="365760"/>
            <a:ext cx="2743200" cy="384048"/>
          </a:xfrm>
          <a:prstGeom prst="roundRect">
            <a:avLst>
              <a:gd name="adj" fmla="val 35714"/>
            </a:avLst>
          </a:prstGeom>
          <a:solidFill>
            <a:srgbClr val="E3EBF8"/>
          </a:solidFill>
          <a:ln/>
        </p:spPr>
        <p:txBody>
          <a:bodyPr wrap="square" lIns="25400" tIns="25400" rIns="25400" bIns="25400" rtlCol="0" anchor="ctr"/>
          <a:lstStyle/>
          <a:p>
            <a:pPr algn="ctr" indent="0" marL="0">
              <a:buNone/>
            </a:pPr>
            <a:r>
              <a:rPr lang="en-US" sz="800" b="1" dirty="0">
                <a:solidFill>
                  <a:srgbClr val="2F4F8A"/>
                </a:solidFill>
              </a:rPr>
              <a:t>Objectives: SO3 · SO4 · IO2.1 · IO2.2 · IO2.3 · IO2.4 · IO2.5 · IO2.6</a:t>
            </a:r>
            <a:endParaRPr lang="en-US" sz="800" dirty="0"/>
          </a:p>
        </p:txBody>
      </p:sp>
      <p:sp>
        <p:nvSpPr>
          <p:cNvPr id="5" name="Footer"/>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1000" dirty="0">
                <a:solidFill>
                  <a:srgbClr val="666666"/>
                </a:solidFill>
              </a:rPr>
              <a:t>L04 · Musculoskeletal Pharmacology — Session 2</a:t>
            </a:r>
            <a:endParaRPr lang="en-US" sz="1000" dirty="0"/>
          </a:p>
        </p:txBody>
      </p:sp>
      <p:sp>
        <p:nvSpPr>
          <p:cNvPr id="6" name="Slide number"/>
          <p:cNvSpPr txBox="1"/>
          <p:nvPr/>
        </p:nvSpPr>
        <p:spPr>
          <a:xfrm>
            <a:off x="10728655" y="6419088"/>
            <a:ext cx="914400" cy="274320"/>
          </a:xfrm>
          <a:prstGeom prst="rect">
            <a:avLst/>
          </a:prstGeom>
          <a:noFill/>
          <a:ln/>
        </p:spPr>
        <p:txBody>
          <a:bodyPr wrap="square" lIns="0" tIns="0" rIns="0" bIns="0" rtlCol="0" anchor="ctr"/>
          <a:lstStyle/>
          <a:p>
            <a:pPr algn="r" indent="0" marL="0">
              <a:buNone/>
            </a:pPr>
            <a:r>
              <a:rPr lang="en-US" sz="1000" dirty="0">
                <a:solidFill>
                  <a:srgbClr val="666666"/>
                </a:solidFill>
              </a:rPr>
              <a:t>104</a:t>
            </a:r>
            <a:endParaRPr lang="en-US" sz="1000" dirty="0"/>
          </a:p>
        </p:txBody>
      </p:sp>
      <p:sp>
        <p:nvSpPr>
          <p:cNvPr id="7" name="Question stem card"/>
          <p:cNvSpPr/>
          <p:nvPr/>
        </p:nvSpPr>
        <p:spPr>
          <a:xfrm>
            <a:off x="548640" y="1325880"/>
            <a:ext cx="11094415" cy="644652"/>
          </a:xfrm>
          <a:prstGeom prst="roundRect">
            <a:avLst>
              <a:gd name="adj" fmla="val 14184"/>
            </a:avLst>
          </a:prstGeom>
          <a:solidFill>
            <a:srgbClr val="F2F4F7"/>
          </a:solidFill>
          <a:ln w="12700">
            <a:solidFill>
              <a:srgbClr val="F2F4F7"/>
            </a:solidFill>
            <a:prstDash val="solid"/>
          </a:ln>
        </p:spPr>
      </p:sp>
      <p:sp>
        <p:nvSpPr>
          <p:cNvPr id="8" name="Question stem"/>
          <p:cNvSpPr txBox="1"/>
          <p:nvPr/>
        </p:nvSpPr>
        <p:spPr>
          <a:xfrm>
            <a:off x="777240" y="1325880"/>
            <a:ext cx="10637215" cy="644652"/>
          </a:xfrm>
          <a:prstGeom prst="rect">
            <a:avLst/>
          </a:prstGeom>
          <a:noFill/>
          <a:ln/>
        </p:spPr>
        <p:txBody>
          <a:bodyPr wrap="square" lIns="0" tIns="0" rIns="0" bIns="0" rtlCol="0" anchor="ctr"/>
          <a:lstStyle/>
          <a:p>
            <a:pPr indent="0" marL="0">
              <a:buNone/>
            </a:pPr>
            <a:r>
              <a:rPr lang="en-US" sz="1800" dirty="0">
                <a:solidFill>
                  <a:srgbClr val="1F1F1F"/>
                </a:solidFill>
              </a:rPr>
              <a:t>Based on Figure 7, which bisphosphonate requires the fewest doses per year, and by what route is it given?</a:t>
            </a:r>
            <a:endParaRPr lang="en-US" sz="1800" dirty="0"/>
          </a:p>
        </p:txBody>
      </p:sp>
      <p:sp>
        <p:nvSpPr>
          <p:cNvPr id="9" name="Shape 7"/>
          <p:cNvSpPr/>
          <p:nvPr/>
        </p:nvSpPr>
        <p:spPr>
          <a:xfrm>
            <a:off x="548640" y="2180844"/>
            <a:ext cx="402336" cy="402336"/>
          </a:xfrm>
          <a:prstGeom prst="ellipse">
            <a:avLst/>
          </a:prstGeom>
          <a:solidFill>
            <a:srgbClr val="FFFFFF"/>
          </a:solidFill>
          <a:ln w="19050">
            <a:solidFill>
              <a:srgbClr val="4472C4"/>
            </a:solidFill>
            <a:prstDash val="solid"/>
          </a:ln>
        </p:spPr>
      </p:sp>
      <p:sp>
        <p:nvSpPr>
          <p:cNvPr id="10" name="Text 8"/>
          <p:cNvSpPr txBox="1"/>
          <p:nvPr/>
        </p:nvSpPr>
        <p:spPr>
          <a:xfrm>
            <a:off x="548640" y="2180844"/>
            <a:ext cx="402336" cy="402336"/>
          </a:xfrm>
          <a:prstGeom prst="rect">
            <a:avLst/>
          </a:prstGeom>
          <a:noFill/>
          <a:ln/>
        </p:spPr>
        <p:txBody>
          <a:bodyPr wrap="square" lIns="0" tIns="0" rIns="0" bIns="0" rtlCol="0" anchor="ctr"/>
          <a:lstStyle/>
          <a:p>
            <a:pPr algn="ctr" indent="0" marL="0">
              <a:buNone/>
            </a:pPr>
            <a:r>
              <a:rPr lang="en-US" sz="1400" b="1" dirty="0">
                <a:solidFill>
                  <a:srgbClr val="4472C4"/>
                </a:solidFill>
              </a:rPr>
              <a:t>A</a:t>
            </a:r>
            <a:endParaRPr lang="en-US" sz="1400" dirty="0"/>
          </a:p>
        </p:txBody>
      </p:sp>
      <p:sp>
        <p:nvSpPr>
          <p:cNvPr id="11" name="Option A"/>
          <p:cNvSpPr txBox="1"/>
          <p:nvPr/>
        </p:nvSpPr>
        <p:spPr>
          <a:xfrm>
            <a:off x="1188720" y="2153412"/>
            <a:ext cx="10271455" cy="457200"/>
          </a:xfrm>
          <a:prstGeom prst="rect">
            <a:avLst/>
          </a:prstGeom>
          <a:noFill/>
          <a:ln/>
        </p:spPr>
        <p:txBody>
          <a:bodyPr wrap="square" lIns="0" tIns="0" rIns="0" bIns="0" rtlCol="0" anchor="ctr"/>
          <a:lstStyle/>
          <a:p>
            <a:pPr indent="0" marL="0">
              <a:buNone/>
            </a:pPr>
            <a:r>
              <a:rPr lang="en-US" sz="1800" dirty="0">
                <a:solidFill>
                  <a:srgbClr val="1F1F1F"/>
                </a:solidFill>
              </a:rPr>
              <a:t>Risedronate, given orally once daily</a:t>
            </a:r>
            <a:endParaRPr lang="en-US" sz="1800" dirty="0"/>
          </a:p>
        </p:txBody>
      </p:sp>
      <p:sp>
        <p:nvSpPr>
          <p:cNvPr id="12" name="Shape 10"/>
          <p:cNvSpPr/>
          <p:nvPr/>
        </p:nvSpPr>
        <p:spPr>
          <a:xfrm>
            <a:off x="548640" y="2729484"/>
            <a:ext cx="402336" cy="402336"/>
          </a:xfrm>
          <a:prstGeom prst="ellipse">
            <a:avLst/>
          </a:prstGeom>
          <a:solidFill>
            <a:srgbClr val="FFFFFF"/>
          </a:solidFill>
          <a:ln w="19050">
            <a:solidFill>
              <a:srgbClr val="4472C4"/>
            </a:solidFill>
            <a:prstDash val="solid"/>
          </a:ln>
        </p:spPr>
      </p:sp>
      <p:sp>
        <p:nvSpPr>
          <p:cNvPr id="13" name="Text 11"/>
          <p:cNvSpPr txBox="1"/>
          <p:nvPr/>
        </p:nvSpPr>
        <p:spPr>
          <a:xfrm>
            <a:off x="548640" y="2729484"/>
            <a:ext cx="402336" cy="402336"/>
          </a:xfrm>
          <a:prstGeom prst="rect">
            <a:avLst/>
          </a:prstGeom>
          <a:noFill/>
          <a:ln/>
        </p:spPr>
        <p:txBody>
          <a:bodyPr wrap="square" lIns="0" tIns="0" rIns="0" bIns="0" rtlCol="0" anchor="ctr"/>
          <a:lstStyle/>
          <a:p>
            <a:pPr algn="ctr" indent="0" marL="0">
              <a:buNone/>
            </a:pPr>
            <a:r>
              <a:rPr lang="en-US" sz="1400" b="1" dirty="0">
                <a:solidFill>
                  <a:srgbClr val="4472C4"/>
                </a:solidFill>
              </a:rPr>
              <a:t>B</a:t>
            </a:r>
            <a:endParaRPr lang="en-US" sz="1400" dirty="0"/>
          </a:p>
        </p:txBody>
      </p:sp>
      <p:sp>
        <p:nvSpPr>
          <p:cNvPr id="14" name="Option B"/>
          <p:cNvSpPr txBox="1"/>
          <p:nvPr/>
        </p:nvSpPr>
        <p:spPr>
          <a:xfrm>
            <a:off x="1188720" y="2702052"/>
            <a:ext cx="10271455" cy="457200"/>
          </a:xfrm>
          <a:prstGeom prst="rect">
            <a:avLst/>
          </a:prstGeom>
          <a:noFill/>
          <a:ln/>
        </p:spPr>
        <p:txBody>
          <a:bodyPr wrap="square" lIns="0" tIns="0" rIns="0" bIns="0" rtlCol="0" anchor="ctr"/>
          <a:lstStyle/>
          <a:p>
            <a:pPr indent="0" marL="0">
              <a:buNone/>
            </a:pPr>
            <a:r>
              <a:rPr lang="en-US" sz="1800" dirty="0">
                <a:solidFill>
                  <a:srgbClr val="1F1F1F"/>
                </a:solidFill>
              </a:rPr>
              <a:t>Ibandronate, given orally each month</a:t>
            </a:r>
            <a:endParaRPr lang="en-US" sz="1800" dirty="0"/>
          </a:p>
        </p:txBody>
      </p:sp>
      <p:sp>
        <p:nvSpPr>
          <p:cNvPr id="15" name="Shape 13"/>
          <p:cNvSpPr/>
          <p:nvPr/>
        </p:nvSpPr>
        <p:spPr>
          <a:xfrm>
            <a:off x="548640" y="3278124"/>
            <a:ext cx="402336" cy="402336"/>
          </a:xfrm>
          <a:prstGeom prst="ellipse">
            <a:avLst/>
          </a:prstGeom>
          <a:solidFill>
            <a:srgbClr val="FFFFFF"/>
          </a:solidFill>
          <a:ln w="19050">
            <a:solidFill>
              <a:srgbClr val="4472C4"/>
            </a:solidFill>
            <a:prstDash val="solid"/>
          </a:ln>
        </p:spPr>
      </p:sp>
      <p:sp>
        <p:nvSpPr>
          <p:cNvPr id="16" name="Text 14"/>
          <p:cNvSpPr txBox="1"/>
          <p:nvPr/>
        </p:nvSpPr>
        <p:spPr>
          <a:xfrm>
            <a:off x="548640" y="3278124"/>
            <a:ext cx="402336" cy="402336"/>
          </a:xfrm>
          <a:prstGeom prst="rect">
            <a:avLst/>
          </a:prstGeom>
          <a:noFill/>
          <a:ln/>
        </p:spPr>
        <p:txBody>
          <a:bodyPr wrap="square" lIns="0" tIns="0" rIns="0" bIns="0" rtlCol="0" anchor="ctr"/>
          <a:lstStyle/>
          <a:p>
            <a:pPr algn="ctr" indent="0" marL="0">
              <a:buNone/>
            </a:pPr>
            <a:r>
              <a:rPr lang="en-US" sz="1400" b="1" dirty="0">
                <a:solidFill>
                  <a:srgbClr val="4472C4"/>
                </a:solidFill>
              </a:rPr>
              <a:t>C</a:t>
            </a:r>
            <a:endParaRPr lang="en-US" sz="1400" dirty="0"/>
          </a:p>
        </p:txBody>
      </p:sp>
      <p:sp>
        <p:nvSpPr>
          <p:cNvPr id="17" name="Option C"/>
          <p:cNvSpPr txBox="1"/>
          <p:nvPr/>
        </p:nvSpPr>
        <p:spPr>
          <a:xfrm>
            <a:off x="1188720" y="3250692"/>
            <a:ext cx="10271455" cy="457200"/>
          </a:xfrm>
          <a:prstGeom prst="rect">
            <a:avLst/>
          </a:prstGeom>
          <a:noFill/>
          <a:ln/>
        </p:spPr>
        <p:txBody>
          <a:bodyPr wrap="square" lIns="0" tIns="0" rIns="0" bIns="0" rtlCol="0" anchor="ctr"/>
          <a:lstStyle/>
          <a:p>
            <a:pPr indent="0" marL="0">
              <a:buNone/>
            </a:pPr>
            <a:r>
              <a:rPr lang="en-US" sz="1800" dirty="0">
                <a:solidFill>
                  <a:srgbClr val="1F1F1F"/>
                </a:solidFill>
              </a:rPr>
              <a:t>Zoledronic acid, given intravenously</a:t>
            </a:r>
            <a:endParaRPr lang="en-US" sz="1800" dirty="0"/>
          </a:p>
        </p:txBody>
      </p:sp>
      <p:sp>
        <p:nvSpPr>
          <p:cNvPr id="18" name="Shape 16"/>
          <p:cNvSpPr/>
          <p:nvPr/>
        </p:nvSpPr>
        <p:spPr>
          <a:xfrm>
            <a:off x="548640" y="3826764"/>
            <a:ext cx="402336" cy="402336"/>
          </a:xfrm>
          <a:prstGeom prst="ellipse">
            <a:avLst/>
          </a:prstGeom>
          <a:solidFill>
            <a:srgbClr val="FFFFFF"/>
          </a:solidFill>
          <a:ln w="19050">
            <a:solidFill>
              <a:srgbClr val="4472C4"/>
            </a:solidFill>
            <a:prstDash val="solid"/>
          </a:ln>
        </p:spPr>
      </p:sp>
      <p:sp>
        <p:nvSpPr>
          <p:cNvPr id="19" name="Text 17"/>
          <p:cNvSpPr txBox="1"/>
          <p:nvPr/>
        </p:nvSpPr>
        <p:spPr>
          <a:xfrm>
            <a:off x="548640" y="3826764"/>
            <a:ext cx="402336" cy="402336"/>
          </a:xfrm>
          <a:prstGeom prst="rect">
            <a:avLst/>
          </a:prstGeom>
          <a:noFill/>
          <a:ln/>
        </p:spPr>
        <p:txBody>
          <a:bodyPr wrap="square" lIns="0" tIns="0" rIns="0" bIns="0" rtlCol="0" anchor="ctr"/>
          <a:lstStyle/>
          <a:p>
            <a:pPr algn="ctr" indent="0" marL="0">
              <a:buNone/>
            </a:pPr>
            <a:r>
              <a:rPr lang="en-US" sz="1400" b="1" dirty="0">
                <a:solidFill>
                  <a:srgbClr val="4472C4"/>
                </a:solidFill>
              </a:rPr>
              <a:t>D</a:t>
            </a:r>
            <a:endParaRPr lang="en-US" sz="1400" dirty="0"/>
          </a:p>
        </p:txBody>
      </p:sp>
      <p:sp>
        <p:nvSpPr>
          <p:cNvPr id="20" name="Option D"/>
          <p:cNvSpPr txBox="1"/>
          <p:nvPr/>
        </p:nvSpPr>
        <p:spPr>
          <a:xfrm>
            <a:off x="1188720" y="3799332"/>
            <a:ext cx="10271455" cy="457200"/>
          </a:xfrm>
          <a:prstGeom prst="rect">
            <a:avLst/>
          </a:prstGeom>
          <a:noFill/>
          <a:ln/>
        </p:spPr>
        <p:txBody>
          <a:bodyPr wrap="square" lIns="0" tIns="0" rIns="0" bIns="0" rtlCol="0" anchor="ctr"/>
          <a:lstStyle/>
          <a:p>
            <a:pPr indent="0" marL="0">
              <a:buNone/>
            </a:pPr>
            <a:r>
              <a:rPr lang="en-US" sz="1800" dirty="0">
                <a:solidFill>
                  <a:srgbClr val="1F1F1F"/>
                </a:solidFill>
              </a:rPr>
              <a:t>All of them need the same number of doses</a:t>
            </a:r>
            <a:endParaRPr lang="en-US" sz="1800" dirty="0"/>
          </a:p>
        </p:txBody>
      </p:sp>
      <p:sp>
        <p:nvSpPr>
          <p:cNvPr id="21" name="Shape 19"/>
          <p:cNvSpPr/>
          <p:nvPr/>
        </p:nvSpPr>
        <p:spPr>
          <a:xfrm>
            <a:off x="548640" y="4375404"/>
            <a:ext cx="402336" cy="402336"/>
          </a:xfrm>
          <a:prstGeom prst="ellipse">
            <a:avLst/>
          </a:prstGeom>
          <a:solidFill>
            <a:srgbClr val="FFFFFF"/>
          </a:solidFill>
          <a:ln w="19050">
            <a:solidFill>
              <a:srgbClr val="4472C4"/>
            </a:solidFill>
            <a:prstDash val="solid"/>
          </a:ln>
        </p:spPr>
      </p:sp>
      <p:sp>
        <p:nvSpPr>
          <p:cNvPr id="22" name="Text 20"/>
          <p:cNvSpPr txBox="1"/>
          <p:nvPr/>
        </p:nvSpPr>
        <p:spPr>
          <a:xfrm>
            <a:off x="548640" y="4375404"/>
            <a:ext cx="402336" cy="402336"/>
          </a:xfrm>
          <a:prstGeom prst="rect">
            <a:avLst/>
          </a:prstGeom>
          <a:noFill/>
          <a:ln/>
        </p:spPr>
        <p:txBody>
          <a:bodyPr wrap="square" lIns="0" tIns="0" rIns="0" bIns="0" rtlCol="0" anchor="ctr"/>
          <a:lstStyle/>
          <a:p>
            <a:pPr algn="ctr" indent="0" marL="0">
              <a:buNone/>
            </a:pPr>
            <a:r>
              <a:rPr lang="en-US" sz="1400" b="1" dirty="0">
                <a:solidFill>
                  <a:srgbClr val="4472C4"/>
                </a:solidFill>
              </a:rPr>
              <a:t>E</a:t>
            </a:r>
            <a:endParaRPr lang="en-US" sz="1400" dirty="0"/>
          </a:p>
        </p:txBody>
      </p:sp>
      <p:sp>
        <p:nvSpPr>
          <p:cNvPr id="23" name="Option E"/>
          <p:cNvSpPr txBox="1"/>
          <p:nvPr/>
        </p:nvSpPr>
        <p:spPr>
          <a:xfrm>
            <a:off x="1188720" y="4347972"/>
            <a:ext cx="10271455" cy="457200"/>
          </a:xfrm>
          <a:prstGeom prst="rect">
            <a:avLst/>
          </a:prstGeom>
          <a:noFill/>
          <a:ln/>
        </p:spPr>
        <p:txBody>
          <a:bodyPr wrap="square" lIns="0" tIns="0" rIns="0" bIns="0" rtlCol="0" anchor="ctr"/>
          <a:lstStyle/>
          <a:p>
            <a:pPr indent="0" marL="0">
              <a:buNone/>
            </a:pPr>
            <a:r>
              <a:rPr lang="en-US" sz="1800" dirty="0">
                <a:solidFill>
                  <a:srgbClr val="1F1F1F"/>
                </a:solidFill>
              </a:rPr>
              <a:t>Alendronate or risedronate, given orally</a:t>
            </a:r>
            <a:endParaRPr lang="en-US" sz="1800" dirty="0"/>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name="Slide 105">
    <p:bg>
      <p:bgPr>
        <a:solidFill>
          <a:srgbClr val="FFFFFF"/>
        </a:solidFill>
      </p:bgPr>
    </p:bg>
    <p:spTree>
      <p:nvGrpSpPr>
        <p:cNvPr id="1" name=""/>
        <p:cNvGrpSpPr/>
        <p:nvPr/>
      </p:nvGrpSpPr>
      <p:grpSpPr>
        <a:xfrm>
          <a:off x="0" y="0"/>
          <a:ext cx="0" cy="0"/>
          <a:chOff x="0" y="0"/>
          <a:chExt cx="0" cy="0"/>
        </a:xfrm>
      </p:grpSpPr>
      <p:sp>
        <p:nvSpPr>
          <p:cNvPr id="2" name="Kicker"/>
          <p:cNvSpPr txBox="1"/>
          <p:nvPr/>
        </p:nvSpPr>
        <p:spPr>
          <a:xfrm>
            <a:off x="548640" y="292608"/>
            <a:ext cx="8076895" cy="274320"/>
          </a:xfrm>
          <a:prstGeom prst="rect">
            <a:avLst/>
          </a:prstGeom>
          <a:noFill/>
          <a:ln/>
        </p:spPr>
        <p:txBody>
          <a:bodyPr wrap="square" lIns="0" tIns="0" rIns="0" bIns="0" rtlCol="0" anchor="ctr"/>
          <a:lstStyle/>
          <a:p>
            <a:pPr indent="0" marL="0">
              <a:buNone/>
            </a:pPr>
            <a:r>
              <a:rPr lang="en-US" sz="1200" b="1" spc="100" kern="0" dirty="0">
                <a:solidFill>
                  <a:srgbClr val="4472C4"/>
                </a:solidFill>
              </a:rPr>
              <a:t>MECHANISM · ANSWER</a:t>
            </a:r>
            <a:endParaRPr lang="en-US" sz="1200" dirty="0"/>
          </a:p>
        </p:txBody>
      </p:sp>
      <p:sp>
        <p:nvSpPr>
          <p:cNvPr id="3" name="Title"/>
          <p:cNvSpPr txBox="1"/>
          <p:nvPr/>
        </p:nvSpPr>
        <p:spPr>
          <a:xfrm>
            <a:off x="548640" y="566928"/>
            <a:ext cx="8076895" cy="713232"/>
          </a:xfrm>
          <a:prstGeom prst="rect">
            <a:avLst/>
          </a:prstGeom>
          <a:noFill/>
          <a:ln/>
        </p:spPr>
        <p:txBody>
          <a:bodyPr wrap="square" lIns="0" tIns="0" rIns="0" bIns="0" rtlCol="0" anchor="t"/>
          <a:lstStyle/>
          <a:p>
            <a:pPr indent="0" marL="0">
              <a:buNone/>
            </a:pPr>
            <a:r>
              <a:rPr lang="en-US" sz="3000" b="1" dirty="0">
                <a:solidFill>
                  <a:srgbClr val="1F1F1F"/>
                </a:solidFill>
                <a:latin typeface="Calibri" pitchFamily="34" charset="0"/>
                <a:ea typeface="Calibri" pitchFamily="34" charset="-122"/>
                <a:cs typeface="Calibri" pitchFamily="34" charset="-120"/>
              </a:rPr>
              <a:t>Answer 26: C</a:t>
            </a:r>
            <a:endParaRPr lang="en-US" sz="3000" dirty="0"/>
          </a:p>
        </p:txBody>
      </p:sp>
      <p:sp>
        <p:nvSpPr>
          <p:cNvPr id="4" name="Objective chip"/>
          <p:cNvSpPr/>
          <p:nvPr/>
        </p:nvSpPr>
        <p:spPr>
          <a:xfrm>
            <a:off x="8899855" y="365760"/>
            <a:ext cx="2743200" cy="384048"/>
          </a:xfrm>
          <a:prstGeom prst="roundRect">
            <a:avLst>
              <a:gd name="adj" fmla="val 35714"/>
            </a:avLst>
          </a:prstGeom>
          <a:solidFill>
            <a:srgbClr val="E3EBF8"/>
          </a:solidFill>
          <a:ln/>
        </p:spPr>
        <p:txBody>
          <a:bodyPr wrap="square" lIns="25400" tIns="25400" rIns="25400" bIns="25400" rtlCol="0" anchor="ctr"/>
          <a:lstStyle/>
          <a:p>
            <a:pPr algn="ctr" indent="0" marL="0">
              <a:buNone/>
            </a:pPr>
            <a:r>
              <a:rPr lang="en-US" sz="800" b="1" dirty="0">
                <a:solidFill>
                  <a:srgbClr val="2F4F8A"/>
                </a:solidFill>
              </a:rPr>
              <a:t>Objectives: SO3 · SO4 · IO2.1 · IO2.2 · IO2.3 · IO2.4 · IO2.5 · IO2.6</a:t>
            </a:r>
            <a:endParaRPr lang="en-US" sz="800" dirty="0"/>
          </a:p>
        </p:txBody>
      </p:sp>
      <p:sp>
        <p:nvSpPr>
          <p:cNvPr id="5" name="Footer"/>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1000" dirty="0">
                <a:solidFill>
                  <a:srgbClr val="666666"/>
                </a:solidFill>
              </a:rPr>
              <a:t>L04 · Musculoskeletal Pharmacology — Session 2</a:t>
            </a:r>
            <a:endParaRPr lang="en-US" sz="1000" dirty="0"/>
          </a:p>
        </p:txBody>
      </p:sp>
      <p:sp>
        <p:nvSpPr>
          <p:cNvPr id="6" name="Slide number"/>
          <p:cNvSpPr txBox="1"/>
          <p:nvPr/>
        </p:nvSpPr>
        <p:spPr>
          <a:xfrm>
            <a:off x="10728655" y="6419088"/>
            <a:ext cx="914400" cy="274320"/>
          </a:xfrm>
          <a:prstGeom prst="rect">
            <a:avLst/>
          </a:prstGeom>
          <a:noFill/>
          <a:ln/>
        </p:spPr>
        <p:txBody>
          <a:bodyPr wrap="square" lIns="0" tIns="0" rIns="0" bIns="0" rtlCol="0" anchor="ctr"/>
          <a:lstStyle/>
          <a:p>
            <a:pPr algn="r" indent="0" marL="0">
              <a:buNone/>
            </a:pPr>
            <a:r>
              <a:rPr lang="en-US" sz="1000" dirty="0">
                <a:solidFill>
                  <a:srgbClr val="666666"/>
                </a:solidFill>
              </a:rPr>
              <a:t>105</a:t>
            </a:r>
            <a:endParaRPr lang="en-US" sz="1000" dirty="0"/>
          </a:p>
        </p:txBody>
      </p:sp>
      <p:sp>
        <p:nvSpPr>
          <p:cNvPr id="7" name="Correct answer"/>
          <p:cNvSpPr/>
          <p:nvPr/>
        </p:nvSpPr>
        <p:spPr>
          <a:xfrm>
            <a:off x="548640" y="1325880"/>
            <a:ext cx="11094415" cy="548640"/>
          </a:xfrm>
          <a:prstGeom prst="roundRect">
            <a:avLst>
              <a:gd name="adj" fmla="val 16667"/>
            </a:avLst>
          </a:prstGeom>
          <a:solidFill>
            <a:srgbClr val="E2F0D9"/>
          </a:solidFill>
          <a:ln w="19050">
            <a:solidFill>
              <a:srgbClr val="548235"/>
            </a:solidFill>
            <a:prstDash val="solid"/>
          </a:ln>
        </p:spPr>
      </p:sp>
      <p:pic>
        <p:nvPicPr>
          <p:cNvPr id="8" name="Image 0" descr="preencoded.png">    </p:cNvPr>
          <p:cNvPicPr>
            <a:picLocks noChangeAspect="1"/>
          </p:cNvPicPr>
          <p:nvPr/>
        </p:nvPicPr>
        <p:blipFill>
          <a:blip r:embed="rId1"/>
          <a:stretch>
            <a:fillRect/>
          </a:stretch>
        </p:blipFill>
        <p:spPr>
          <a:xfrm>
            <a:off x="731520" y="1435608"/>
            <a:ext cx="329184" cy="329184"/>
          </a:xfrm>
          <a:prstGeom prst="rect">
            <a:avLst/>
          </a:prstGeom>
        </p:spPr>
      </p:pic>
      <p:sp>
        <p:nvSpPr>
          <p:cNvPr id="9" name="Text 6"/>
          <p:cNvSpPr txBox="1"/>
          <p:nvPr/>
        </p:nvSpPr>
        <p:spPr>
          <a:xfrm>
            <a:off x="1234440" y="1325880"/>
            <a:ext cx="10180015" cy="548640"/>
          </a:xfrm>
          <a:prstGeom prst="rect">
            <a:avLst/>
          </a:prstGeom>
          <a:noFill/>
          <a:ln/>
        </p:spPr>
        <p:txBody>
          <a:bodyPr wrap="square" lIns="0" tIns="0" rIns="0" bIns="0" rtlCol="0" anchor="ctr"/>
          <a:lstStyle/>
          <a:p>
            <a:pPr indent="0" marL="0">
              <a:buNone/>
            </a:pPr>
            <a:r>
              <a:rPr lang="en-US" sz="1600" b="1" dirty="0">
                <a:solidFill>
                  <a:srgbClr val="1F1F1F"/>
                </a:solidFill>
              </a:rPr>
              <a:t>C. </a:t>
            </a:r>
            <a:r>
              <a:rPr lang="en-US" sz="1600" b="1" dirty="0">
                <a:solidFill>
                  <a:srgbClr val="1F1F1F"/>
                </a:solidFill>
              </a:rPr>
              <a:t>Zoledronic acid, given intravenously</a:t>
            </a:r>
            <a:endParaRPr lang="en-US" sz="1600" dirty="0"/>
          </a:p>
        </p:txBody>
      </p:sp>
      <p:sp>
        <p:nvSpPr>
          <p:cNvPr id="10" name="Why correct"/>
          <p:cNvSpPr txBox="1"/>
          <p:nvPr/>
        </p:nvSpPr>
        <p:spPr>
          <a:xfrm>
            <a:off x="777240" y="2011680"/>
            <a:ext cx="10637215" cy="724408"/>
          </a:xfrm>
          <a:prstGeom prst="rect">
            <a:avLst/>
          </a:prstGeom>
          <a:noFill/>
          <a:ln/>
        </p:spPr>
        <p:txBody>
          <a:bodyPr wrap="square" lIns="0" tIns="0" rIns="0" bIns="0" rtlCol="0" anchor="t"/>
          <a:lstStyle/>
          <a:p>
            <a:pPr indent="0" marL="0">
              <a:buNone/>
            </a:pPr>
            <a:r>
              <a:rPr lang="en-US" sz="1600" dirty="0">
                <a:solidFill>
                  <a:srgbClr val="1F1F1F"/>
                </a:solidFill>
              </a:rPr>
              <a:t>Zoledronic acid is dosed as infrequently as once yearly by IV infusion, versus weekly oral alendronate/risedronate and monthly oral ibandronate — important for adherence (S51).</a:t>
            </a:r>
            <a:r>
              <a:rPr lang="en-US" sz="1100" dirty="0">
                <a:solidFill>
                  <a:srgbClr val="666666"/>
                </a:solidFill>
              </a:rPr>
              <a:t>  S47; S49; S51</a:t>
            </a:r>
            <a:endParaRPr lang="en-US" sz="1600" dirty="0"/>
          </a:p>
        </p:txBody>
      </p:sp>
      <p:sp>
        <p:nvSpPr>
          <p:cNvPr id="11" name="Why others wrong card"/>
          <p:cNvSpPr/>
          <p:nvPr/>
        </p:nvSpPr>
        <p:spPr>
          <a:xfrm>
            <a:off x="548640" y="2873248"/>
            <a:ext cx="11094415" cy="1704848"/>
          </a:xfrm>
          <a:prstGeom prst="roundRect">
            <a:avLst>
              <a:gd name="adj" fmla="val 5364"/>
            </a:avLst>
          </a:prstGeom>
          <a:solidFill>
            <a:srgbClr val="F2F4F7"/>
          </a:solidFill>
          <a:ln w="12700">
            <a:solidFill>
              <a:srgbClr val="F2F4F7"/>
            </a:solidFill>
            <a:prstDash val="solid"/>
          </a:ln>
        </p:spPr>
      </p:sp>
      <p:sp>
        <p:nvSpPr>
          <p:cNvPr id="12" name="Why others wrong"/>
          <p:cNvSpPr txBox="1"/>
          <p:nvPr/>
        </p:nvSpPr>
        <p:spPr>
          <a:xfrm>
            <a:off x="777240" y="2982976"/>
            <a:ext cx="10637215" cy="1521968"/>
          </a:xfrm>
          <a:prstGeom prst="rect">
            <a:avLst/>
          </a:prstGeom>
          <a:noFill/>
          <a:ln/>
        </p:spPr>
        <p:txBody>
          <a:bodyPr wrap="square" lIns="0" tIns="0" rIns="0" bIns="0" rtlCol="0" anchor="t"/>
          <a:lstStyle/>
          <a:p>
            <a:pPr indent="0" marL="0">
              <a:spcAft>
                <a:spcPts val="400"/>
              </a:spcAft>
              <a:buNone/>
            </a:pPr>
            <a:r>
              <a:rPr lang="en-US" sz="1600" b="1" dirty="0">
                <a:solidFill>
                  <a:srgbClr val="C00000"/>
                </a:solidFill>
              </a:rPr>
              <a:t>Why the other choices are wrong</a:t>
            </a:r>
            <a:endParaRPr lang="en-US" sz="1600" dirty="0"/>
          </a:p>
          <a:p>
            <a:pPr indent="0" marL="0">
              <a:buNone/>
            </a:pPr>
            <a:r>
              <a:rPr lang="en-US" sz="1600" b="1" dirty="0">
                <a:solidFill>
                  <a:srgbClr val="1F1F1F"/>
                </a:solidFill>
              </a:rPr>
              <a:t>A. Risedronate, given orally once daily — </a:t>
            </a:r>
            <a:r>
              <a:rPr lang="en-US" sz="1600" dirty="0">
                <a:solidFill>
                  <a:srgbClr val="1F1F1F"/>
                </a:solidFill>
              </a:rPr>
              <a:t>Daily oral dosing (textbook 5 mg/d) is the most frequent of all (p. 818).</a:t>
            </a:r>
            <a:endParaRPr lang="en-US" sz="1600" dirty="0"/>
          </a:p>
          <a:p>
            <a:pPr indent="0" marL="0">
              <a:buNone/>
            </a:pPr>
            <a:r>
              <a:rPr lang="en-US" sz="1600" b="1" dirty="0">
                <a:solidFill>
                  <a:srgbClr val="1F1F1F"/>
                </a:solidFill>
              </a:rPr>
              <a:t>B. Ibandronate, given orally each month — </a:t>
            </a:r>
            <a:r>
              <a:rPr lang="en-US" sz="1600" dirty="0">
                <a:solidFill>
                  <a:srgbClr val="1F1F1F"/>
                </a:solidFill>
              </a:rPr>
              <a:t>Monthly oral: 12 doses a year (S49).</a:t>
            </a:r>
            <a:endParaRPr lang="en-US" sz="1600" dirty="0"/>
          </a:p>
          <a:p>
            <a:pPr indent="0" marL="0">
              <a:buNone/>
            </a:pPr>
            <a:r>
              <a:rPr lang="en-US" sz="1600" b="1" dirty="0">
                <a:solidFill>
                  <a:srgbClr val="1F1F1F"/>
                </a:solidFill>
              </a:rPr>
              <a:t>D. All of them need the same number of doses — </a:t>
            </a:r>
            <a:r>
              <a:rPr lang="en-US" sz="1600" dirty="0">
                <a:solidFill>
                  <a:srgbClr val="1F1F1F"/>
                </a:solidFill>
              </a:rPr>
              <a:t>Frequency ranges from weekly to yearly (S49).</a:t>
            </a:r>
            <a:endParaRPr lang="en-US" sz="1600" dirty="0"/>
          </a:p>
          <a:p>
            <a:pPr indent="0" marL="0">
              <a:buNone/>
            </a:pPr>
            <a:r>
              <a:rPr lang="en-US" sz="1600" b="1" dirty="0">
                <a:solidFill>
                  <a:srgbClr val="1F1F1F"/>
                </a:solidFill>
              </a:rPr>
              <a:t>E. Alendronate or risedronate, given orally — </a:t>
            </a:r>
            <a:r>
              <a:rPr lang="en-US" sz="1600" dirty="0">
                <a:solidFill>
                  <a:srgbClr val="1F1F1F"/>
                </a:solidFill>
              </a:rPr>
              <a:t>Weekly oral: about 52 doses a year (S49).</a:t>
            </a:r>
            <a:endParaRPr lang="en-US" sz="1600" dirty="0"/>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name="Slide 106">
    <p:bg>
      <p:bgPr>
        <a:solidFill>
          <a:srgbClr val="2F4F8A"/>
        </a:solidFill>
      </p:bgPr>
    </p:bg>
    <p:spTree>
      <p:nvGrpSpPr>
        <p:cNvPr id="1" name=""/>
        <p:cNvGrpSpPr/>
        <p:nvPr/>
      </p:nvGrpSpPr>
      <p:grpSpPr>
        <a:xfrm>
          <a:off x="0" y="0"/>
          <a:ext cx="0" cy="0"/>
          <a:chOff x="0" y="0"/>
          <a:chExt cx="0" cy="0"/>
        </a:xfrm>
      </p:grpSpPr>
      <p:sp>
        <p:nvSpPr>
          <p:cNvPr id="2" name="Text 0"/>
          <p:cNvSpPr txBox="1"/>
          <p:nvPr/>
        </p:nvSpPr>
        <p:spPr>
          <a:xfrm>
            <a:off x="548640" y="1463040"/>
            <a:ext cx="7315200" cy="365760"/>
          </a:xfrm>
          <a:prstGeom prst="rect">
            <a:avLst/>
          </a:prstGeom>
          <a:noFill/>
          <a:ln/>
        </p:spPr>
        <p:txBody>
          <a:bodyPr wrap="square" lIns="0" tIns="0" rIns="0" bIns="0" rtlCol="0" anchor="ctr"/>
          <a:lstStyle/>
          <a:p>
            <a:pPr indent="0" marL="0">
              <a:buNone/>
            </a:pPr>
            <a:r>
              <a:rPr lang="en-US" sz="1600" b="1" dirty="0">
                <a:solidFill>
                  <a:srgbClr val="D6E0F5"/>
                </a:solidFill>
              </a:rPr>
              <a:t>Topic 4 of 4</a:t>
            </a:r>
            <a:endParaRPr lang="en-US" sz="1600" dirty="0"/>
          </a:p>
        </p:txBody>
      </p:sp>
      <p:sp>
        <p:nvSpPr>
          <p:cNvPr id="3" name="Title"/>
          <p:cNvSpPr txBox="1"/>
          <p:nvPr/>
        </p:nvSpPr>
        <p:spPr>
          <a:xfrm>
            <a:off x="548640" y="1874520"/>
            <a:ext cx="11094415" cy="1188720"/>
          </a:xfrm>
          <a:prstGeom prst="rect">
            <a:avLst/>
          </a:prstGeom>
          <a:noFill/>
          <a:ln/>
        </p:spPr>
        <p:txBody>
          <a:bodyPr wrap="square" lIns="0" tIns="0" rIns="0" bIns="0" rtlCol="0" anchor="t"/>
          <a:lstStyle/>
          <a:p>
            <a:pPr indent="0" marL="0">
              <a:buNone/>
            </a:pPr>
            <a:r>
              <a:rPr lang="en-US" sz="4400" b="1" dirty="0">
                <a:solidFill>
                  <a:srgbClr val="FFFFFF"/>
                </a:solidFill>
                <a:latin typeface="Calibri" pitchFamily="34" charset="0"/>
                <a:ea typeface="Calibri" pitchFamily="34" charset="-122"/>
                <a:cs typeface="Calibri" pitchFamily="34" charset="-120"/>
              </a:rPr>
              <a:t>Putting It All Together: Musculoskeletal Toolkit</a:t>
            </a:r>
            <a:endParaRPr lang="en-US" sz="4400" dirty="0"/>
          </a:p>
        </p:txBody>
      </p:sp>
      <p:sp>
        <p:nvSpPr>
          <p:cNvPr id="4" name="Text 2"/>
          <p:cNvSpPr txBox="1"/>
          <p:nvPr/>
        </p:nvSpPr>
        <p:spPr>
          <a:xfrm>
            <a:off x="548640" y="3108960"/>
            <a:ext cx="9144000" cy="365760"/>
          </a:xfrm>
          <a:prstGeom prst="rect">
            <a:avLst/>
          </a:prstGeom>
          <a:noFill/>
          <a:ln/>
        </p:spPr>
        <p:txBody>
          <a:bodyPr wrap="square" lIns="0" tIns="0" rIns="0" bIns="0" rtlCol="0" anchor="ctr"/>
          <a:lstStyle/>
          <a:p>
            <a:pPr indent="0" marL="0">
              <a:buNone/>
            </a:pPr>
            <a:r>
              <a:rPr lang="en-US" sz="1800" dirty="0">
                <a:solidFill>
                  <a:srgbClr val="D6E0F5"/>
                </a:solidFill>
              </a:rPr>
              <a:t>Covers objectives: SO5 · IO2.3 · IO2.4</a:t>
            </a:r>
            <a:endParaRPr lang="en-US" sz="1800" dirty="0"/>
          </a:p>
        </p:txBody>
      </p:sp>
      <p:sp>
        <p:nvSpPr>
          <p:cNvPr id="5" name="Shape 3"/>
          <p:cNvSpPr/>
          <p:nvPr/>
        </p:nvSpPr>
        <p:spPr>
          <a:xfrm>
            <a:off x="1338042" y="4297680"/>
            <a:ext cx="640080" cy="640080"/>
          </a:xfrm>
          <a:prstGeom prst="ellipse">
            <a:avLst/>
          </a:prstGeom>
          <a:solidFill>
            <a:srgbClr val="44546A"/>
          </a:solidFill>
          <a:ln w="19050">
            <a:solidFill>
              <a:srgbClr val="FFFFFF"/>
            </a:solidFill>
            <a:prstDash val="solid"/>
          </a:ln>
        </p:spPr>
      </p:sp>
      <p:pic>
        <p:nvPicPr>
          <p:cNvPr id="6" name="Image 0" descr="preencoded.png">    </p:cNvPr>
          <p:cNvPicPr>
            <a:picLocks noChangeAspect="1"/>
          </p:cNvPicPr>
          <p:nvPr/>
        </p:nvPicPr>
        <p:blipFill>
          <a:blip r:embed="rId1"/>
          <a:stretch>
            <a:fillRect/>
          </a:stretch>
        </p:blipFill>
        <p:spPr>
          <a:xfrm>
            <a:off x="1493490" y="4453128"/>
            <a:ext cx="329184" cy="329184"/>
          </a:xfrm>
          <a:prstGeom prst="rect">
            <a:avLst/>
          </a:prstGeom>
        </p:spPr>
      </p:pic>
      <p:sp>
        <p:nvSpPr>
          <p:cNvPr id="7" name="Text 4"/>
          <p:cNvSpPr txBox="1"/>
          <p:nvPr/>
        </p:nvSpPr>
        <p:spPr>
          <a:xfrm>
            <a:off x="594360" y="5029200"/>
            <a:ext cx="2127443" cy="640080"/>
          </a:xfrm>
          <a:prstGeom prst="rect">
            <a:avLst/>
          </a:prstGeom>
          <a:noFill/>
          <a:ln/>
        </p:spPr>
        <p:txBody>
          <a:bodyPr wrap="square" lIns="0" tIns="0" rIns="0" bIns="0" rtlCol="0" anchor="t"/>
          <a:lstStyle/>
          <a:p>
            <a:pPr algn="ctr" indent="0" marL="0">
              <a:buNone/>
            </a:pPr>
            <a:r>
              <a:rPr lang="en-US" sz="1200" dirty="0">
                <a:solidFill>
                  <a:srgbClr val="FFFFFF"/>
                </a:solidFill>
              </a:rPr>
              <a:t>Key definitions</a:t>
            </a:r>
            <a:endParaRPr lang="en-US" sz="1200" dirty="0"/>
          </a:p>
        </p:txBody>
      </p:sp>
      <p:sp>
        <p:nvSpPr>
          <p:cNvPr id="8" name="Shape 5"/>
          <p:cNvSpPr/>
          <p:nvPr/>
        </p:nvSpPr>
        <p:spPr>
          <a:xfrm>
            <a:off x="3556925" y="4297680"/>
            <a:ext cx="640080" cy="640080"/>
          </a:xfrm>
          <a:prstGeom prst="ellipse">
            <a:avLst/>
          </a:prstGeom>
          <a:solidFill>
            <a:srgbClr val="7030A0"/>
          </a:solidFill>
          <a:ln w="19050">
            <a:solidFill>
              <a:srgbClr val="FFFFFF"/>
            </a:solidFill>
            <a:prstDash val="solid"/>
          </a:ln>
        </p:spPr>
      </p:sp>
      <p:pic>
        <p:nvPicPr>
          <p:cNvPr id="9" name="Image 1" descr="preencoded.png">    </p:cNvPr>
          <p:cNvPicPr>
            <a:picLocks noChangeAspect="1"/>
          </p:cNvPicPr>
          <p:nvPr/>
        </p:nvPicPr>
        <p:blipFill>
          <a:blip r:embed="rId2"/>
          <a:stretch>
            <a:fillRect/>
          </a:stretch>
        </p:blipFill>
        <p:spPr>
          <a:xfrm>
            <a:off x="3712373" y="4453128"/>
            <a:ext cx="329184" cy="329184"/>
          </a:xfrm>
          <a:prstGeom prst="rect">
            <a:avLst/>
          </a:prstGeom>
        </p:spPr>
      </p:pic>
      <p:sp>
        <p:nvSpPr>
          <p:cNvPr id="10" name="Text 6"/>
          <p:cNvSpPr txBox="1"/>
          <p:nvPr/>
        </p:nvSpPr>
        <p:spPr>
          <a:xfrm>
            <a:off x="2813243" y="5029200"/>
            <a:ext cx="2127443" cy="640080"/>
          </a:xfrm>
          <a:prstGeom prst="rect">
            <a:avLst/>
          </a:prstGeom>
          <a:noFill/>
          <a:ln/>
        </p:spPr>
        <p:txBody>
          <a:bodyPr wrap="square" lIns="0" tIns="0" rIns="0" bIns="0" rtlCol="0" anchor="t"/>
          <a:lstStyle/>
          <a:p>
            <a:pPr algn="ctr" indent="0" marL="0">
              <a:buNone/>
            </a:pPr>
            <a:r>
              <a:rPr lang="en-US" sz="1200" dirty="0">
                <a:solidFill>
                  <a:srgbClr val="FFFFFF"/>
                </a:solidFill>
              </a:rPr>
              <a:t>How it works</a:t>
            </a:r>
            <a:endParaRPr lang="en-US" sz="1200" dirty="0"/>
          </a:p>
        </p:txBody>
      </p:sp>
      <p:sp>
        <p:nvSpPr>
          <p:cNvPr id="11" name="Shape 7"/>
          <p:cNvSpPr/>
          <p:nvPr/>
        </p:nvSpPr>
        <p:spPr>
          <a:xfrm>
            <a:off x="5775808" y="4297680"/>
            <a:ext cx="640080" cy="640080"/>
          </a:xfrm>
          <a:prstGeom prst="ellipse">
            <a:avLst/>
          </a:prstGeom>
          <a:solidFill>
            <a:srgbClr val="548235"/>
          </a:solidFill>
          <a:ln w="19050">
            <a:solidFill>
              <a:srgbClr val="FFFFFF"/>
            </a:solidFill>
            <a:prstDash val="solid"/>
          </a:ln>
        </p:spPr>
      </p:sp>
      <p:pic>
        <p:nvPicPr>
          <p:cNvPr id="12" name="Image 2" descr="preencoded.png">    </p:cNvPr>
          <p:cNvPicPr>
            <a:picLocks noChangeAspect="1"/>
          </p:cNvPicPr>
          <p:nvPr/>
        </p:nvPicPr>
        <p:blipFill>
          <a:blip r:embed="rId3"/>
          <a:stretch>
            <a:fillRect/>
          </a:stretch>
        </p:blipFill>
        <p:spPr>
          <a:xfrm>
            <a:off x="5931256" y="4453128"/>
            <a:ext cx="329184" cy="329184"/>
          </a:xfrm>
          <a:prstGeom prst="rect">
            <a:avLst/>
          </a:prstGeom>
        </p:spPr>
      </p:pic>
      <p:sp>
        <p:nvSpPr>
          <p:cNvPr id="13" name="Text 8"/>
          <p:cNvSpPr txBox="1"/>
          <p:nvPr/>
        </p:nvSpPr>
        <p:spPr>
          <a:xfrm>
            <a:off x="5032126" y="5029200"/>
            <a:ext cx="2127443" cy="640080"/>
          </a:xfrm>
          <a:prstGeom prst="rect">
            <a:avLst/>
          </a:prstGeom>
          <a:noFill/>
          <a:ln/>
        </p:spPr>
        <p:txBody>
          <a:bodyPr wrap="square" lIns="0" tIns="0" rIns="0" bIns="0" rtlCol="0" anchor="t"/>
          <a:lstStyle/>
          <a:p>
            <a:pPr algn="ctr" indent="0" marL="0">
              <a:buNone/>
            </a:pPr>
            <a:r>
              <a:rPr lang="en-US" sz="1200" dirty="0">
                <a:solidFill>
                  <a:srgbClr val="FFFFFF"/>
                </a:solidFill>
              </a:rPr>
              <a:t>Clinical relevance</a:t>
            </a:r>
            <a:endParaRPr lang="en-US" sz="1200" dirty="0"/>
          </a:p>
        </p:txBody>
      </p:sp>
      <p:sp>
        <p:nvSpPr>
          <p:cNvPr id="14" name="Shape 9"/>
          <p:cNvSpPr/>
          <p:nvPr/>
        </p:nvSpPr>
        <p:spPr>
          <a:xfrm>
            <a:off x="7994691" y="4297680"/>
            <a:ext cx="640080" cy="640080"/>
          </a:xfrm>
          <a:prstGeom prst="ellipse">
            <a:avLst/>
          </a:prstGeom>
          <a:solidFill>
            <a:srgbClr val="4472C4"/>
          </a:solidFill>
          <a:ln w="19050">
            <a:solidFill>
              <a:srgbClr val="FFFFFF"/>
            </a:solidFill>
            <a:prstDash val="solid"/>
          </a:ln>
        </p:spPr>
      </p:sp>
      <p:pic>
        <p:nvPicPr>
          <p:cNvPr id="15" name="Image 3" descr="preencoded.png">    </p:cNvPr>
          <p:cNvPicPr>
            <a:picLocks noChangeAspect="1"/>
          </p:cNvPicPr>
          <p:nvPr/>
        </p:nvPicPr>
        <p:blipFill>
          <a:blip r:embed="rId4"/>
          <a:stretch>
            <a:fillRect/>
          </a:stretch>
        </p:blipFill>
        <p:spPr>
          <a:xfrm>
            <a:off x="8150139" y="4453128"/>
            <a:ext cx="329184" cy="329184"/>
          </a:xfrm>
          <a:prstGeom prst="rect">
            <a:avLst/>
          </a:prstGeom>
        </p:spPr>
      </p:pic>
      <p:sp>
        <p:nvSpPr>
          <p:cNvPr id="16" name="Text 10"/>
          <p:cNvSpPr txBox="1"/>
          <p:nvPr/>
        </p:nvSpPr>
        <p:spPr>
          <a:xfrm>
            <a:off x="7251009" y="5029200"/>
            <a:ext cx="2127443" cy="640080"/>
          </a:xfrm>
          <a:prstGeom prst="rect">
            <a:avLst/>
          </a:prstGeom>
          <a:noFill/>
          <a:ln/>
        </p:spPr>
        <p:txBody>
          <a:bodyPr wrap="square" lIns="0" tIns="0" rIns="0" bIns="0" rtlCol="0" anchor="t"/>
          <a:lstStyle/>
          <a:p>
            <a:pPr algn="ctr" indent="0" marL="0">
              <a:buNone/>
            </a:pPr>
            <a:r>
              <a:rPr lang="en-US" sz="1200" dirty="0">
                <a:solidFill>
                  <a:srgbClr val="FFFFFF"/>
                </a:solidFill>
              </a:rPr>
              <a:t>Drugs named as examples</a:t>
            </a:r>
            <a:endParaRPr lang="en-US" sz="1200" dirty="0"/>
          </a:p>
        </p:txBody>
      </p:sp>
      <p:sp>
        <p:nvSpPr>
          <p:cNvPr id="17" name="Shape 11"/>
          <p:cNvSpPr/>
          <p:nvPr/>
        </p:nvSpPr>
        <p:spPr>
          <a:xfrm>
            <a:off x="10213574" y="4297680"/>
            <a:ext cx="640080" cy="640080"/>
          </a:xfrm>
          <a:prstGeom prst="ellipse">
            <a:avLst/>
          </a:prstGeom>
          <a:solidFill>
            <a:srgbClr val="C00000"/>
          </a:solidFill>
          <a:ln w="19050">
            <a:solidFill>
              <a:srgbClr val="FFFFFF"/>
            </a:solidFill>
            <a:prstDash val="solid"/>
          </a:ln>
        </p:spPr>
      </p:sp>
      <p:pic>
        <p:nvPicPr>
          <p:cNvPr id="18" name="Image 4" descr="preencoded.png">    </p:cNvPr>
          <p:cNvPicPr>
            <a:picLocks noChangeAspect="1"/>
          </p:cNvPicPr>
          <p:nvPr/>
        </p:nvPicPr>
        <p:blipFill>
          <a:blip r:embed="rId5"/>
          <a:stretch>
            <a:fillRect/>
          </a:stretch>
        </p:blipFill>
        <p:spPr>
          <a:xfrm>
            <a:off x="10369022" y="4453128"/>
            <a:ext cx="329184" cy="329184"/>
          </a:xfrm>
          <a:prstGeom prst="rect">
            <a:avLst/>
          </a:prstGeom>
        </p:spPr>
      </p:pic>
      <p:sp>
        <p:nvSpPr>
          <p:cNvPr id="19" name="Text 12"/>
          <p:cNvSpPr txBox="1"/>
          <p:nvPr/>
        </p:nvSpPr>
        <p:spPr>
          <a:xfrm>
            <a:off x="9469892" y="5029200"/>
            <a:ext cx="2127443" cy="640080"/>
          </a:xfrm>
          <a:prstGeom prst="rect">
            <a:avLst/>
          </a:prstGeom>
          <a:noFill/>
          <a:ln/>
        </p:spPr>
        <p:txBody>
          <a:bodyPr wrap="square" lIns="0" tIns="0" rIns="0" bIns="0" rtlCol="0" anchor="t"/>
          <a:lstStyle/>
          <a:p>
            <a:pPr algn="ctr" indent="0" marL="0">
              <a:buNone/>
            </a:pPr>
            <a:r>
              <a:rPr lang="en-US" sz="1200" dirty="0">
                <a:solidFill>
                  <a:srgbClr val="FFFFFF"/>
                </a:solidFill>
              </a:rPr>
              <a:t>Exam traps</a:t>
            </a:r>
            <a:endParaRPr lang="en-US" sz="1200" dirty="0"/>
          </a:p>
        </p:txBody>
      </p:sp>
      <p:sp>
        <p:nvSpPr>
          <p:cNvPr id="20" name="Text 13"/>
          <p:cNvSpPr txBox="1"/>
          <p:nvPr/>
        </p:nvSpPr>
        <p:spPr>
          <a:xfrm>
            <a:off x="10728655" y="6419088"/>
            <a:ext cx="914400" cy="274320"/>
          </a:xfrm>
          <a:prstGeom prst="rect">
            <a:avLst/>
          </a:prstGeom>
          <a:noFill/>
          <a:ln/>
        </p:spPr>
        <p:txBody>
          <a:bodyPr wrap="square" lIns="0" tIns="0" rIns="0" bIns="0" rtlCol="0" anchor="ctr"/>
          <a:lstStyle/>
          <a:p>
            <a:pPr algn="r" indent="0" marL="0">
              <a:buNone/>
            </a:pPr>
            <a:r>
              <a:rPr lang="en-US" sz="1000" dirty="0">
                <a:solidFill>
                  <a:srgbClr val="D6E0F5"/>
                </a:solidFill>
              </a:rPr>
              <a:t>106</a:t>
            </a:r>
            <a:endParaRPr lang="en-US" sz="1000" dirty="0"/>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name="Slide 107">
    <p:bg>
      <p:bgPr>
        <a:solidFill>
          <a:srgbClr val="FFFFFF"/>
        </a:solidFill>
      </p:bgPr>
    </p:bg>
    <p:spTree>
      <p:nvGrpSpPr>
        <p:cNvPr id="1" name=""/>
        <p:cNvGrpSpPr/>
        <p:nvPr/>
      </p:nvGrpSpPr>
      <p:grpSpPr>
        <a:xfrm>
          <a:off x="0" y="0"/>
          <a:ext cx="0" cy="0"/>
          <a:chOff x="0" y="0"/>
          <a:chExt cx="0" cy="0"/>
        </a:xfrm>
      </p:grpSpPr>
      <p:sp>
        <p:nvSpPr>
          <p:cNvPr id="2" name="Kicker"/>
          <p:cNvSpPr txBox="1"/>
          <p:nvPr/>
        </p:nvSpPr>
        <p:spPr>
          <a:xfrm>
            <a:off x="548640" y="292608"/>
            <a:ext cx="8076895" cy="274320"/>
          </a:xfrm>
          <a:prstGeom prst="rect">
            <a:avLst/>
          </a:prstGeom>
          <a:noFill/>
          <a:ln/>
        </p:spPr>
        <p:txBody>
          <a:bodyPr wrap="square" lIns="0" tIns="0" rIns="0" bIns="0" rtlCol="0" anchor="ctr"/>
          <a:lstStyle/>
          <a:p>
            <a:pPr indent="0" marL="0">
              <a:buNone/>
            </a:pPr>
            <a:r>
              <a:rPr lang="en-US" sz="1200" b="1" spc="100" kern="0" dirty="0">
                <a:solidFill>
                  <a:srgbClr val="4472C4"/>
                </a:solidFill>
              </a:rPr>
              <a:t>PUTTING IT ALL TOGETHER: MUSCULOSKELETAL TOOLKIT</a:t>
            </a:r>
            <a:endParaRPr lang="en-US" sz="1200" dirty="0"/>
          </a:p>
        </p:txBody>
      </p:sp>
      <p:sp>
        <p:nvSpPr>
          <p:cNvPr id="3" name="Title"/>
          <p:cNvSpPr txBox="1"/>
          <p:nvPr/>
        </p:nvSpPr>
        <p:spPr>
          <a:xfrm>
            <a:off x="548640" y="566928"/>
            <a:ext cx="8076895" cy="713232"/>
          </a:xfrm>
          <a:prstGeom prst="rect">
            <a:avLst/>
          </a:prstGeom>
          <a:noFill/>
          <a:ln/>
        </p:spPr>
        <p:txBody>
          <a:bodyPr wrap="square" lIns="0" tIns="0" rIns="0" bIns="0" rtlCol="0" anchor="t"/>
          <a:lstStyle/>
          <a:p>
            <a:pPr indent="0" marL="0">
              <a:buNone/>
            </a:pPr>
            <a:r>
              <a:rPr lang="en-US" sz="3000" b="1" dirty="0">
                <a:solidFill>
                  <a:srgbClr val="1F1F1F"/>
                </a:solidFill>
                <a:latin typeface="Calibri" pitchFamily="34" charset="0"/>
                <a:ea typeface="Calibri" pitchFamily="34" charset="-122"/>
                <a:cs typeface="Calibri" pitchFamily="34" charset="-120"/>
              </a:rPr>
              <a:t>Key definitions</a:t>
            </a:r>
            <a:endParaRPr lang="en-US" sz="3000" dirty="0"/>
          </a:p>
        </p:txBody>
      </p:sp>
      <p:sp>
        <p:nvSpPr>
          <p:cNvPr id="4" name="Objective chip"/>
          <p:cNvSpPr/>
          <p:nvPr/>
        </p:nvSpPr>
        <p:spPr>
          <a:xfrm>
            <a:off x="8899855" y="365760"/>
            <a:ext cx="2743200" cy="384048"/>
          </a:xfrm>
          <a:prstGeom prst="roundRect">
            <a:avLst>
              <a:gd name="adj" fmla="val 35714"/>
            </a:avLst>
          </a:prstGeom>
          <a:solidFill>
            <a:srgbClr val="E3EBF8"/>
          </a:solidFill>
          <a:ln/>
        </p:spPr>
        <p:txBody>
          <a:bodyPr wrap="square" lIns="25400" tIns="25400" rIns="25400" bIns="25400" rtlCol="0" anchor="ctr"/>
          <a:lstStyle/>
          <a:p>
            <a:pPr algn="ctr" indent="0" marL="0">
              <a:buNone/>
            </a:pPr>
            <a:r>
              <a:rPr lang="en-US" sz="1200" b="1" dirty="0">
                <a:solidFill>
                  <a:srgbClr val="2F4F8A"/>
                </a:solidFill>
              </a:rPr>
              <a:t>Objectives: SO5 · IO2.3 · IO2.4</a:t>
            </a:r>
            <a:endParaRPr lang="en-US" sz="1200" dirty="0"/>
          </a:p>
        </p:txBody>
      </p:sp>
      <p:sp>
        <p:nvSpPr>
          <p:cNvPr id="5" name="Footer"/>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1000" dirty="0">
                <a:solidFill>
                  <a:srgbClr val="666666"/>
                </a:solidFill>
              </a:rPr>
              <a:t>L04 · Musculoskeletal Pharmacology — Session 2</a:t>
            </a:r>
            <a:endParaRPr lang="en-US" sz="1000" dirty="0"/>
          </a:p>
        </p:txBody>
      </p:sp>
      <p:sp>
        <p:nvSpPr>
          <p:cNvPr id="6" name="Slide number"/>
          <p:cNvSpPr txBox="1"/>
          <p:nvPr/>
        </p:nvSpPr>
        <p:spPr>
          <a:xfrm>
            <a:off x="10728655" y="6419088"/>
            <a:ext cx="914400" cy="274320"/>
          </a:xfrm>
          <a:prstGeom prst="rect">
            <a:avLst/>
          </a:prstGeom>
          <a:noFill/>
          <a:ln/>
        </p:spPr>
        <p:txBody>
          <a:bodyPr wrap="square" lIns="0" tIns="0" rIns="0" bIns="0" rtlCol="0" anchor="ctr"/>
          <a:lstStyle/>
          <a:p>
            <a:pPr algn="r" indent="0" marL="0">
              <a:buNone/>
            </a:pPr>
            <a:r>
              <a:rPr lang="en-US" sz="1000" dirty="0">
                <a:solidFill>
                  <a:srgbClr val="666666"/>
                </a:solidFill>
              </a:rPr>
              <a:t>107</a:t>
            </a:r>
            <a:endParaRPr lang="en-US" sz="1000" dirty="0"/>
          </a:p>
        </p:txBody>
      </p:sp>
      <p:sp>
        <p:nvSpPr>
          <p:cNvPr id="7" name="Key definitions card"/>
          <p:cNvSpPr/>
          <p:nvPr/>
        </p:nvSpPr>
        <p:spPr>
          <a:xfrm>
            <a:off x="548640" y="1325880"/>
            <a:ext cx="11094415" cy="2011680"/>
          </a:xfrm>
          <a:prstGeom prst="roundRect">
            <a:avLst>
              <a:gd name="adj" fmla="val 5455"/>
            </a:avLst>
          </a:prstGeom>
          <a:solidFill>
            <a:srgbClr val="F2F4F7"/>
          </a:solidFill>
          <a:ln w="12700">
            <a:solidFill>
              <a:srgbClr val="F2F4F7"/>
            </a:solidFill>
            <a:prstDash val="solid"/>
          </a:ln>
        </p:spPr>
      </p:sp>
      <p:sp>
        <p:nvSpPr>
          <p:cNvPr id="8" name="Key definitions icon circle"/>
          <p:cNvSpPr/>
          <p:nvPr/>
        </p:nvSpPr>
        <p:spPr>
          <a:xfrm>
            <a:off x="777240" y="1508760"/>
            <a:ext cx="438912" cy="438912"/>
          </a:xfrm>
          <a:prstGeom prst="ellipse">
            <a:avLst/>
          </a:prstGeom>
          <a:solidFill>
            <a:srgbClr val="44546A"/>
          </a:solidFill>
          <a:ln w="12700">
            <a:solidFill>
              <a:srgbClr val="44546A"/>
            </a:solidFill>
            <a:prstDash val="solid"/>
          </a:ln>
        </p:spPr>
      </p:sp>
      <p:pic>
        <p:nvPicPr>
          <p:cNvPr id="9" name="Key definitions icon" descr="preencoded.png">    </p:cNvPr>
          <p:cNvPicPr>
            <a:picLocks noChangeAspect="1"/>
          </p:cNvPicPr>
          <p:nvPr/>
        </p:nvPicPr>
        <p:blipFill>
          <a:blip r:embed="rId1"/>
          <a:stretch>
            <a:fillRect/>
          </a:stretch>
        </p:blipFill>
        <p:spPr>
          <a:xfrm>
            <a:off x="877824" y="1609344"/>
            <a:ext cx="237744" cy="237744"/>
          </a:xfrm>
          <a:prstGeom prst="rect">
            <a:avLst/>
          </a:prstGeom>
        </p:spPr>
      </p:pic>
      <p:sp>
        <p:nvSpPr>
          <p:cNvPr id="10" name="Key definitions heading"/>
          <p:cNvSpPr txBox="1"/>
          <p:nvPr/>
        </p:nvSpPr>
        <p:spPr>
          <a:xfrm>
            <a:off x="1353312" y="1508760"/>
            <a:ext cx="10088575" cy="438912"/>
          </a:xfrm>
          <a:prstGeom prst="rect">
            <a:avLst/>
          </a:prstGeom>
          <a:noFill/>
          <a:ln/>
        </p:spPr>
        <p:txBody>
          <a:bodyPr wrap="square" lIns="0" tIns="0" rIns="0" bIns="0" rtlCol="0" anchor="ctr"/>
          <a:lstStyle/>
          <a:p>
            <a:pPr indent="0" marL="0">
              <a:buNone/>
            </a:pPr>
            <a:r>
              <a:rPr lang="en-US" sz="1800" b="1" dirty="0">
                <a:solidFill>
                  <a:srgbClr val="44546A"/>
                </a:solidFill>
              </a:rPr>
              <a:t>Key definitions</a:t>
            </a:r>
            <a:endParaRPr lang="en-US" sz="1800" dirty="0"/>
          </a:p>
        </p:txBody>
      </p:sp>
      <p:sp>
        <p:nvSpPr>
          <p:cNvPr id="11" name="Key definitions body"/>
          <p:cNvSpPr txBox="1"/>
          <p:nvPr/>
        </p:nvSpPr>
        <p:spPr>
          <a:xfrm>
            <a:off x="777240" y="2075688"/>
            <a:ext cx="10637215" cy="1143000"/>
          </a:xfrm>
          <a:prstGeom prst="rect">
            <a:avLst/>
          </a:prstGeom>
          <a:noFill/>
          <a:ln/>
        </p:spPr>
        <p:txBody>
          <a:bodyPr wrap="square" lIns="0" tIns="0" rIns="0" bIns="0" rtlCol="0" anchor="t"/>
          <a:lstStyle/>
          <a:p>
            <a:pPr marL="228600" indent="-228600">
              <a:spcAft>
                <a:spcPts val="800"/>
              </a:spcAft>
              <a:buSzPct val="100000"/>
              <a:buChar char="•"/>
            </a:pPr>
            <a:r>
              <a:rPr lang="en-US" sz="1800" dirty="0">
                <a:solidFill>
                  <a:srgbClr val="1F1F1F"/>
                </a:solidFill>
              </a:rPr>
              <a:t>Applying the whole musculoskeletal pharmacology toolkit: for each patient, name a first-line drug class AND the single biggest safety concern to check before prescribing it.</a:t>
            </a:r>
            <a:r>
              <a:rPr lang="en-US" sz="1300" dirty="0">
                <a:solidFill>
                  <a:srgbClr val="666666"/>
                </a:solidFill>
              </a:rPr>
              <a:t>  S63; S64 (notes)</a:t>
            </a:r>
            <a:endParaRPr lang="en-US" sz="1800" dirty="0"/>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name="Slide 108">
    <p:bg>
      <p:bgPr>
        <a:solidFill>
          <a:srgbClr val="FFFFFF"/>
        </a:solidFill>
      </p:bgPr>
    </p:bg>
    <p:spTree>
      <p:nvGrpSpPr>
        <p:cNvPr id="1" name=""/>
        <p:cNvGrpSpPr/>
        <p:nvPr/>
      </p:nvGrpSpPr>
      <p:grpSpPr>
        <a:xfrm>
          <a:off x="0" y="0"/>
          <a:ext cx="0" cy="0"/>
          <a:chOff x="0" y="0"/>
          <a:chExt cx="0" cy="0"/>
        </a:xfrm>
      </p:grpSpPr>
      <p:sp>
        <p:nvSpPr>
          <p:cNvPr id="2" name="Kicker"/>
          <p:cNvSpPr txBox="1"/>
          <p:nvPr/>
        </p:nvSpPr>
        <p:spPr>
          <a:xfrm>
            <a:off x="548640" y="292608"/>
            <a:ext cx="8076895" cy="274320"/>
          </a:xfrm>
          <a:prstGeom prst="rect">
            <a:avLst/>
          </a:prstGeom>
          <a:noFill/>
          <a:ln/>
        </p:spPr>
        <p:txBody>
          <a:bodyPr wrap="square" lIns="0" tIns="0" rIns="0" bIns="0" rtlCol="0" anchor="ctr"/>
          <a:lstStyle/>
          <a:p>
            <a:pPr indent="0" marL="0">
              <a:buNone/>
            </a:pPr>
            <a:r>
              <a:rPr lang="en-US" sz="1200" b="1" spc="100" kern="0" dirty="0">
                <a:solidFill>
                  <a:srgbClr val="4472C4"/>
                </a:solidFill>
              </a:rPr>
              <a:t>PUTTING IT ALL TOGETHER: MUSCULOSKELETAL TOOLKIT</a:t>
            </a:r>
            <a:endParaRPr lang="en-US" sz="1200" dirty="0"/>
          </a:p>
        </p:txBody>
      </p:sp>
      <p:sp>
        <p:nvSpPr>
          <p:cNvPr id="3" name="Title"/>
          <p:cNvSpPr txBox="1"/>
          <p:nvPr/>
        </p:nvSpPr>
        <p:spPr>
          <a:xfrm>
            <a:off x="548640" y="566928"/>
            <a:ext cx="8076895" cy="713232"/>
          </a:xfrm>
          <a:prstGeom prst="rect">
            <a:avLst/>
          </a:prstGeom>
          <a:noFill/>
          <a:ln/>
        </p:spPr>
        <p:txBody>
          <a:bodyPr wrap="square" lIns="0" tIns="0" rIns="0" bIns="0" rtlCol="0" anchor="t"/>
          <a:lstStyle/>
          <a:p>
            <a:pPr indent="0" marL="0">
              <a:buNone/>
            </a:pPr>
            <a:r>
              <a:rPr lang="en-US" sz="3000" b="1" dirty="0">
                <a:solidFill>
                  <a:srgbClr val="1F1F1F"/>
                </a:solidFill>
                <a:latin typeface="Calibri" pitchFamily="34" charset="0"/>
                <a:ea typeface="Calibri" pitchFamily="34" charset="-122"/>
                <a:cs typeface="Calibri" pitchFamily="34" charset="-120"/>
              </a:rPr>
              <a:t>How it works</a:t>
            </a:r>
            <a:endParaRPr lang="en-US" sz="3000" dirty="0"/>
          </a:p>
        </p:txBody>
      </p:sp>
      <p:sp>
        <p:nvSpPr>
          <p:cNvPr id="4" name="Objective chip"/>
          <p:cNvSpPr/>
          <p:nvPr/>
        </p:nvSpPr>
        <p:spPr>
          <a:xfrm>
            <a:off x="8899855" y="365760"/>
            <a:ext cx="2743200" cy="384048"/>
          </a:xfrm>
          <a:prstGeom prst="roundRect">
            <a:avLst>
              <a:gd name="adj" fmla="val 35714"/>
            </a:avLst>
          </a:prstGeom>
          <a:solidFill>
            <a:srgbClr val="E3EBF8"/>
          </a:solidFill>
          <a:ln/>
        </p:spPr>
        <p:txBody>
          <a:bodyPr wrap="square" lIns="25400" tIns="25400" rIns="25400" bIns="25400" rtlCol="0" anchor="ctr"/>
          <a:lstStyle/>
          <a:p>
            <a:pPr algn="ctr" indent="0" marL="0">
              <a:buNone/>
            </a:pPr>
            <a:r>
              <a:rPr lang="en-US" sz="1200" b="1" dirty="0">
                <a:solidFill>
                  <a:srgbClr val="2F4F8A"/>
                </a:solidFill>
              </a:rPr>
              <a:t>Objectives: SO5 · IO2.3 · IO2.4</a:t>
            </a:r>
            <a:endParaRPr lang="en-US" sz="1200" dirty="0"/>
          </a:p>
        </p:txBody>
      </p:sp>
      <p:sp>
        <p:nvSpPr>
          <p:cNvPr id="5" name="Footer"/>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1000" dirty="0">
                <a:solidFill>
                  <a:srgbClr val="666666"/>
                </a:solidFill>
              </a:rPr>
              <a:t>L04 · Musculoskeletal Pharmacology — Session 2</a:t>
            </a:r>
            <a:endParaRPr lang="en-US" sz="1000" dirty="0"/>
          </a:p>
        </p:txBody>
      </p:sp>
      <p:sp>
        <p:nvSpPr>
          <p:cNvPr id="6" name="Slide number"/>
          <p:cNvSpPr txBox="1"/>
          <p:nvPr/>
        </p:nvSpPr>
        <p:spPr>
          <a:xfrm>
            <a:off x="10728655" y="6419088"/>
            <a:ext cx="914400" cy="274320"/>
          </a:xfrm>
          <a:prstGeom prst="rect">
            <a:avLst/>
          </a:prstGeom>
          <a:noFill/>
          <a:ln/>
        </p:spPr>
        <p:txBody>
          <a:bodyPr wrap="square" lIns="0" tIns="0" rIns="0" bIns="0" rtlCol="0" anchor="ctr"/>
          <a:lstStyle/>
          <a:p>
            <a:pPr algn="r" indent="0" marL="0">
              <a:buNone/>
            </a:pPr>
            <a:r>
              <a:rPr lang="en-US" sz="1000" dirty="0">
                <a:solidFill>
                  <a:srgbClr val="666666"/>
                </a:solidFill>
              </a:rPr>
              <a:t>108</a:t>
            </a:r>
            <a:endParaRPr lang="en-US" sz="1000" dirty="0"/>
          </a:p>
        </p:txBody>
      </p:sp>
      <p:sp>
        <p:nvSpPr>
          <p:cNvPr id="7" name="How it works card"/>
          <p:cNvSpPr/>
          <p:nvPr/>
        </p:nvSpPr>
        <p:spPr>
          <a:xfrm>
            <a:off x="548640" y="1325880"/>
            <a:ext cx="11094415" cy="3662172"/>
          </a:xfrm>
          <a:prstGeom prst="roundRect">
            <a:avLst>
              <a:gd name="adj" fmla="val 2996"/>
            </a:avLst>
          </a:prstGeom>
          <a:solidFill>
            <a:srgbClr val="F2F4F7"/>
          </a:solidFill>
          <a:ln w="12700">
            <a:solidFill>
              <a:srgbClr val="F2F4F7"/>
            </a:solidFill>
            <a:prstDash val="solid"/>
          </a:ln>
        </p:spPr>
      </p:sp>
      <p:sp>
        <p:nvSpPr>
          <p:cNvPr id="8" name="How it works icon circle"/>
          <p:cNvSpPr/>
          <p:nvPr/>
        </p:nvSpPr>
        <p:spPr>
          <a:xfrm>
            <a:off x="777240" y="1508760"/>
            <a:ext cx="438912" cy="438912"/>
          </a:xfrm>
          <a:prstGeom prst="ellipse">
            <a:avLst/>
          </a:prstGeom>
          <a:solidFill>
            <a:srgbClr val="7030A0"/>
          </a:solidFill>
          <a:ln w="12700">
            <a:solidFill>
              <a:srgbClr val="7030A0"/>
            </a:solidFill>
            <a:prstDash val="solid"/>
          </a:ln>
        </p:spPr>
      </p:sp>
      <p:pic>
        <p:nvPicPr>
          <p:cNvPr id="9" name="How it works icon" descr="preencoded.png">    </p:cNvPr>
          <p:cNvPicPr>
            <a:picLocks noChangeAspect="1"/>
          </p:cNvPicPr>
          <p:nvPr/>
        </p:nvPicPr>
        <p:blipFill>
          <a:blip r:embed="rId1"/>
          <a:stretch>
            <a:fillRect/>
          </a:stretch>
        </p:blipFill>
        <p:spPr>
          <a:xfrm>
            <a:off x="877824" y="1609344"/>
            <a:ext cx="237744" cy="237744"/>
          </a:xfrm>
          <a:prstGeom prst="rect">
            <a:avLst/>
          </a:prstGeom>
        </p:spPr>
      </p:pic>
      <p:sp>
        <p:nvSpPr>
          <p:cNvPr id="10" name="How it works heading"/>
          <p:cNvSpPr txBox="1"/>
          <p:nvPr/>
        </p:nvSpPr>
        <p:spPr>
          <a:xfrm>
            <a:off x="1353312" y="1508760"/>
            <a:ext cx="10088575" cy="438912"/>
          </a:xfrm>
          <a:prstGeom prst="rect">
            <a:avLst/>
          </a:prstGeom>
          <a:noFill/>
          <a:ln/>
        </p:spPr>
        <p:txBody>
          <a:bodyPr wrap="square" lIns="0" tIns="0" rIns="0" bIns="0" rtlCol="0" anchor="ctr"/>
          <a:lstStyle/>
          <a:p>
            <a:pPr indent="0" marL="0">
              <a:buNone/>
            </a:pPr>
            <a:r>
              <a:rPr lang="en-US" sz="1800" b="1" dirty="0">
                <a:solidFill>
                  <a:srgbClr val="7030A0"/>
                </a:solidFill>
              </a:rPr>
              <a:t>How it works</a:t>
            </a:r>
            <a:endParaRPr lang="en-US" sz="1800" dirty="0"/>
          </a:p>
        </p:txBody>
      </p:sp>
      <p:sp>
        <p:nvSpPr>
          <p:cNvPr id="11" name="How it works body"/>
          <p:cNvSpPr txBox="1"/>
          <p:nvPr/>
        </p:nvSpPr>
        <p:spPr>
          <a:xfrm>
            <a:off x="777240" y="2075688"/>
            <a:ext cx="10637215" cy="2793492"/>
          </a:xfrm>
          <a:prstGeom prst="rect">
            <a:avLst/>
          </a:prstGeom>
          <a:noFill/>
          <a:ln/>
        </p:spPr>
        <p:txBody>
          <a:bodyPr wrap="square" lIns="0" tIns="0" rIns="0" bIns="0" rtlCol="0" anchor="t"/>
          <a:lstStyle/>
          <a:p>
            <a:pPr marL="228600" indent="-228600">
              <a:spcAft>
                <a:spcPts val="800"/>
              </a:spcAft>
              <a:buSzPct val="100000"/>
              <a:buChar char="•"/>
            </a:pPr>
            <a:r>
              <a:rPr lang="en-US" sz="1800" b="1" dirty="0">
                <a:solidFill>
                  <a:srgbClr val="1F1F1F"/>
                </a:solidFill>
              </a:rPr>
              <a:t>1.</a:t>
            </a:r>
            <a:r>
              <a:rPr lang="en-US" sz="1800" dirty="0">
                <a:solidFill>
                  <a:srgbClr val="1F1F1F"/>
                </a:solidFill>
              </a:rPr>
              <a:t> Pain and inflammation are related but distinct — treat them accordingly.</a:t>
            </a:r>
            <a:r>
              <a:rPr lang="en-US" sz="1300" dirty="0">
                <a:solidFill>
                  <a:srgbClr val="666666"/>
                </a:solidFill>
              </a:rPr>
              <a:t>  S67</a:t>
            </a:r>
            <a:endParaRPr lang="en-US" sz="1800" dirty="0"/>
          </a:p>
          <a:p>
            <a:pPr marL="228600" indent="-228600">
              <a:spcAft>
                <a:spcPts val="800"/>
              </a:spcAft>
              <a:buSzPct val="100000"/>
              <a:buChar char="•"/>
            </a:pPr>
            <a:r>
              <a:rPr lang="en-US" sz="1800" b="1" dirty="0">
                <a:solidFill>
                  <a:srgbClr val="1F1F1F"/>
                </a:solidFill>
              </a:rPr>
              <a:t>2.</a:t>
            </a:r>
            <a:r>
              <a:rPr lang="en-US" sz="1800" dirty="0">
                <a:solidFill>
                  <a:srgbClr val="1F1F1F"/>
                </a:solidFill>
              </a:rPr>
              <a:t> NSAIDs are effective for pain and inflammation, but carry real GI, renal, and cardiovascular risk.</a:t>
            </a:r>
            <a:r>
              <a:rPr lang="en-US" sz="1300" dirty="0">
                <a:solidFill>
                  <a:srgbClr val="666666"/>
                </a:solidFill>
              </a:rPr>
              <a:t>  S67</a:t>
            </a:r>
            <a:endParaRPr lang="en-US" sz="1800" dirty="0"/>
          </a:p>
          <a:p>
            <a:pPr marL="228600" indent="-228600">
              <a:spcAft>
                <a:spcPts val="800"/>
              </a:spcAft>
              <a:buSzPct val="100000"/>
              <a:buChar char="•"/>
            </a:pPr>
            <a:r>
              <a:rPr lang="en-US" sz="1800" b="1" dirty="0">
                <a:solidFill>
                  <a:srgbClr val="1F1F1F"/>
                </a:solidFill>
              </a:rPr>
              <a:t>3.</a:t>
            </a:r>
            <a:r>
              <a:rPr lang="en-US" sz="1800" dirty="0">
                <a:solidFill>
                  <a:srgbClr val="1F1F1F"/>
                </a:solidFill>
              </a:rPr>
              <a:t> DMARDs modify the underlying disease process in RA — they do more than mask symptoms.</a:t>
            </a:r>
            <a:r>
              <a:rPr lang="en-US" sz="1300" dirty="0">
                <a:solidFill>
                  <a:srgbClr val="666666"/>
                </a:solidFill>
              </a:rPr>
              <a:t>  S67</a:t>
            </a:r>
            <a:endParaRPr lang="en-US" sz="1800" dirty="0"/>
          </a:p>
          <a:p>
            <a:pPr marL="228600" indent="-228600">
              <a:spcAft>
                <a:spcPts val="800"/>
              </a:spcAft>
              <a:buSzPct val="100000"/>
              <a:buChar char="•"/>
            </a:pPr>
            <a:r>
              <a:rPr lang="en-US" sz="1800" b="1" dirty="0">
                <a:solidFill>
                  <a:srgbClr val="1F1F1F"/>
                </a:solidFill>
              </a:rPr>
              <a:t>4.</a:t>
            </a:r>
            <a:r>
              <a:rPr lang="en-US" sz="1800" dirty="0">
                <a:solidFill>
                  <a:srgbClr val="1F1F1F"/>
                </a:solidFill>
              </a:rPr>
              <a:t> Acute gout treatment and chronic urate-lowering therapy are different goals, started at different times.</a:t>
            </a:r>
            <a:r>
              <a:rPr lang="en-US" sz="1300" dirty="0">
                <a:solidFill>
                  <a:srgbClr val="666666"/>
                </a:solidFill>
              </a:rPr>
              <a:t>  S67</a:t>
            </a:r>
            <a:endParaRPr lang="en-US" sz="1800" dirty="0"/>
          </a:p>
          <a:p>
            <a:pPr marL="228600" indent="-228600">
              <a:spcAft>
                <a:spcPts val="800"/>
              </a:spcAft>
              <a:buSzPct val="100000"/>
              <a:buChar char="•"/>
            </a:pPr>
            <a:r>
              <a:rPr lang="en-US" sz="1800" b="1" dirty="0">
                <a:solidFill>
                  <a:srgbClr val="1F1F1F"/>
                </a:solidFill>
              </a:rPr>
              <a:t>5.</a:t>
            </a:r>
            <a:r>
              <a:rPr lang="en-US" sz="1800" dirty="0">
                <a:solidFill>
                  <a:srgbClr val="1F1F1F"/>
                </a:solidFill>
              </a:rPr>
              <a:t> Bone pharmacology is fundamentally about the balance between osteoblast and osteoclast activity.</a:t>
            </a:r>
            <a:r>
              <a:rPr lang="en-US" sz="1300" dirty="0">
                <a:solidFill>
                  <a:srgbClr val="666666"/>
                </a:solidFill>
              </a:rPr>
              <a:t>  S67</a:t>
            </a:r>
            <a:endParaRPr lang="en-US" sz="1800" dirty="0"/>
          </a:p>
          <a:p>
            <a:pPr marL="228600" indent="-228600">
              <a:spcAft>
                <a:spcPts val="800"/>
              </a:spcAft>
              <a:buSzPct val="100000"/>
              <a:buChar char="•"/>
            </a:pPr>
            <a:r>
              <a:rPr lang="en-US" sz="1800" dirty="0">
                <a:solidFill>
                  <a:srgbClr val="1F1F1F"/>
                </a:solidFill>
              </a:rPr>
              <a:t>Every mechanism here — COX inhibition, CYP interactions, renal dosing, pharmacogenomics — is Lecture 1’s toolkit applied to one organ system.</a:t>
            </a:r>
            <a:r>
              <a:rPr lang="en-US" sz="1300" dirty="0">
                <a:solidFill>
                  <a:srgbClr val="666666"/>
                </a:solidFill>
              </a:rPr>
              <a:t>  S67 (notes)</a:t>
            </a:r>
            <a:endParaRPr lang="en-US" sz="1800" dirty="0"/>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name="Slide 109">
    <p:bg>
      <p:bgPr>
        <a:solidFill>
          <a:srgbClr val="FFFFFF"/>
        </a:solidFill>
      </p:bgPr>
    </p:bg>
    <p:spTree>
      <p:nvGrpSpPr>
        <p:cNvPr id="1" name=""/>
        <p:cNvGrpSpPr/>
        <p:nvPr/>
      </p:nvGrpSpPr>
      <p:grpSpPr>
        <a:xfrm>
          <a:off x="0" y="0"/>
          <a:ext cx="0" cy="0"/>
          <a:chOff x="0" y="0"/>
          <a:chExt cx="0" cy="0"/>
        </a:xfrm>
      </p:grpSpPr>
      <p:sp>
        <p:nvSpPr>
          <p:cNvPr id="2" name="Kicker"/>
          <p:cNvSpPr txBox="1"/>
          <p:nvPr/>
        </p:nvSpPr>
        <p:spPr>
          <a:xfrm>
            <a:off x="548640" y="292608"/>
            <a:ext cx="8076895" cy="274320"/>
          </a:xfrm>
          <a:prstGeom prst="rect">
            <a:avLst/>
          </a:prstGeom>
          <a:noFill/>
          <a:ln/>
        </p:spPr>
        <p:txBody>
          <a:bodyPr wrap="square" lIns="0" tIns="0" rIns="0" bIns="0" rtlCol="0" anchor="ctr"/>
          <a:lstStyle/>
          <a:p>
            <a:pPr indent="0" marL="0">
              <a:buNone/>
            </a:pPr>
            <a:r>
              <a:rPr lang="en-US" sz="1200" b="1" spc="100" kern="0" dirty="0">
                <a:solidFill>
                  <a:srgbClr val="4472C4"/>
                </a:solidFill>
              </a:rPr>
              <a:t>PUTTING IT ALL TOGETHER: MUSCULOSKELETAL TOOLKIT</a:t>
            </a:r>
            <a:endParaRPr lang="en-US" sz="1200" dirty="0"/>
          </a:p>
        </p:txBody>
      </p:sp>
      <p:sp>
        <p:nvSpPr>
          <p:cNvPr id="3" name="Title"/>
          <p:cNvSpPr txBox="1"/>
          <p:nvPr/>
        </p:nvSpPr>
        <p:spPr>
          <a:xfrm>
            <a:off x="548640" y="566928"/>
            <a:ext cx="8076895" cy="713232"/>
          </a:xfrm>
          <a:prstGeom prst="rect">
            <a:avLst/>
          </a:prstGeom>
          <a:noFill/>
          <a:ln/>
        </p:spPr>
        <p:txBody>
          <a:bodyPr wrap="square" lIns="0" tIns="0" rIns="0" bIns="0" rtlCol="0" anchor="t"/>
          <a:lstStyle/>
          <a:p>
            <a:pPr indent="0" marL="0">
              <a:buNone/>
            </a:pPr>
            <a:r>
              <a:rPr lang="en-US" sz="3000" b="1" dirty="0">
                <a:solidFill>
                  <a:srgbClr val="1F1F1F"/>
                </a:solidFill>
                <a:latin typeface="Calibri" pitchFamily="34" charset="0"/>
                <a:ea typeface="Calibri" pitchFamily="34" charset="-122"/>
                <a:cs typeface="Calibri" pitchFamily="34" charset="-120"/>
              </a:rPr>
              <a:t>Clinical relevance</a:t>
            </a:r>
            <a:endParaRPr lang="en-US" sz="3000" dirty="0"/>
          </a:p>
        </p:txBody>
      </p:sp>
      <p:sp>
        <p:nvSpPr>
          <p:cNvPr id="4" name="Objective chip"/>
          <p:cNvSpPr/>
          <p:nvPr/>
        </p:nvSpPr>
        <p:spPr>
          <a:xfrm>
            <a:off x="8899855" y="365760"/>
            <a:ext cx="2743200" cy="384048"/>
          </a:xfrm>
          <a:prstGeom prst="roundRect">
            <a:avLst>
              <a:gd name="adj" fmla="val 35714"/>
            </a:avLst>
          </a:prstGeom>
          <a:solidFill>
            <a:srgbClr val="E3EBF8"/>
          </a:solidFill>
          <a:ln/>
        </p:spPr>
        <p:txBody>
          <a:bodyPr wrap="square" lIns="25400" tIns="25400" rIns="25400" bIns="25400" rtlCol="0" anchor="ctr"/>
          <a:lstStyle/>
          <a:p>
            <a:pPr algn="ctr" indent="0" marL="0">
              <a:buNone/>
            </a:pPr>
            <a:r>
              <a:rPr lang="en-US" sz="1200" b="1" dirty="0">
                <a:solidFill>
                  <a:srgbClr val="2F4F8A"/>
                </a:solidFill>
              </a:rPr>
              <a:t>Objectives: SO5 · IO2.3 · IO2.4</a:t>
            </a:r>
            <a:endParaRPr lang="en-US" sz="1200" dirty="0"/>
          </a:p>
        </p:txBody>
      </p:sp>
      <p:sp>
        <p:nvSpPr>
          <p:cNvPr id="5" name="Footer"/>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1000" dirty="0">
                <a:solidFill>
                  <a:srgbClr val="666666"/>
                </a:solidFill>
              </a:rPr>
              <a:t>L04 · Musculoskeletal Pharmacology — Session 2</a:t>
            </a:r>
            <a:endParaRPr lang="en-US" sz="1000" dirty="0"/>
          </a:p>
        </p:txBody>
      </p:sp>
      <p:sp>
        <p:nvSpPr>
          <p:cNvPr id="6" name="Slide number"/>
          <p:cNvSpPr txBox="1"/>
          <p:nvPr/>
        </p:nvSpPr>
        <p:spPr>
          <a:xfrm>
            <a:off x="10728655" y="6419088"/>
            <a:ext cx="914400" cy="274320"/>
          </a:xfrm>
          <a:prstGeom prst="rect">
            <a:avLst/>
          </a:prstGeom>
          <a:noFill/>
          <a:ln/>
        </p:spPr>
        <p:txBody>
          <a:bodyPr wrap="square" lIns="0" tIns="0" rIns="0" bIns="0" rtlCol="0" anchor="ctr"/>
          <a:lstStyle/>
          <a:p>
            <a:pPr algn="r" indent="0" marL="0">
              <a:buNone/>
            </a:pPr>
            <a:r>
              <a:rPr lang="en-US" sz="1000" dirty="0">
                <a:solidFill>
                  <a:srgbClr val="666666"/>
                </a:solidFill>
              </a:rPr>
              <a:t>109</a:t>
            </a:r>
            <a:endParaRPr lang="en-US" sz="1000" dirty="0"/>
          </a:p>
        </p:txBody>
      </p:sp>
      <p:sp>
        <p:nvSpPr>
          <p:cNvPr id="7" name="Clinical relevance card"/>
          <p:cNvSpPr/>
          <p:nvPr/>
        </p:nvSpPr>
        <p:spPr>
          <a:xfrm>
            <a:off x="548640" y="1325880"/>
            <a:ext cx="11094415" cy="3721608"/>
          </a:xfrm>
          <a:prstGeom prst="roundRect">
            <a:avLst>
              <a:gd name="adj" fmla="val 2948"/>
            </a:avLst>
          </a:prstGeom>
          <a:solidFill>
            <a:srgbClr val="F2F4F7"/>
          </a:solidFill>
          <a:ln w="12700">
            <a:solidFill>
              <a:srgbClr val="F2F4F7"/>
            </a:solidFill>
            <a:prstDash val="solid"/>
          </a:ln>
        </p:spPr>
      </p:sp>
      <p:sp>
        <p:nvSpPr>
          <p:cNvPr id="8" name="Clinical relevance icon circle"/>
          <p:cNvSpPr/>
          <p:nvPr/>
        </p:nvSpPr>
        <p:spPr>
          <a:xfrm>
            <a:off x="777240" y="1508760"/>
            <a:ext cx="438912" cy="438912"/>
          </a:xfrm>
          <a:prstGeom prst="ellipse">
            <a:avLst/>
          </a:prstGeom>
          <a:solidFill>
            <a:srgbClr val="548235"/>
          </a:solidFill>
          <a:ln w="12700">
            <a:solidFill>
              <a:srgbClr val="548235"/>
            </a:solidFill>
            <a:prstDash val="solid"/>
          </a:ln>
        </p:spPr>
      </p:sp>
      <p:pic>
        <p:nvPicPr>
          <p:cNvPr id="9" name="Clinical relevance icon" descr="preencoded.png">    </p:cNvPr>
          <p:cNvPicPr>
            <a:picLocks noChangeAspect="1"/>
          </p:cNvPicPr>
          <p:nvPr/>
        </p:nvPicPr>
        <p:blipFill>
          <a:blip r:embed="rId1"/>
          <a:stretch>
            <a:fillRect/>
          </a:stretch>
        </p:blipFill>
        <p:spPr>
          <a:xfrm>
            <a:off x="877824" y="1609344"/>
            <a:ext cx="237744" cy="237744"/>
          </a:xfrm>
          <a:prstGeom prst="rect">
            <a:avLst/>
          </a:prstGeom>
        </p:spPr>
      </p:pic>
      <p:sp>
        <p:nvSpPr>
          <p:cNvPr id="10" name="Clinical relevance heading"/>
          <p:cNvSpPr txBox="1"/>
          <p:nvPr/>
        </p:nvSpPr>
        <p:spPr>
          <a:xfrm>
            <a:off x="1353312" y="1508760"/>
            <a:ext cx="10088575" cy="438912"/>
          </a:xfrm>
          <a:prstGeom prst="rect">
            <a:avLst/>
          </a:prstGeom>
          <a:noFill/>
          <a:ln/>
        </p:spPr>
        <p:txBody>
          <a:bodyPr wrap="square" lIns="0" tIns="0" rIns="0" bIns="0" rtlCol="0" anchor="ctr"/>
          <a:lstStyle/>
          <a:p>
            <a:pPr indent="0" marL="0">
              <a:buNone/>
            </a:pPr>
            <a:r>
              <a:rPr lang="en-US" sz="1800" b="1" dirty="0">
                <a:solidFill>
                  <a:srgbClr val="548235"/>
                </a:solidFill>
              </a:rPr>
              <a:t>Clinical relevance</a:t>
            </a:r>
            <a:endParaRPr lang="en-US" sz="1800" dirty="0"/>
          </a:p>
        </p:txBody>
      </p:sp>
      <p:sp>
        <p:nvSpPr>
          <p:cNvPr id="11" name="Clinical relevance body"/>
          <p:cNvSpPr txBox="1"/>
          <p:nvPr/>
        </p:nvSpPr>
        <p:spPr>
          <a:xfrm>
            <a:off x="777240" y="2075688"/>
            <a:ext cx="10637215" cy="2852928"/>
          </a:xfrm>
          <a:prstGeom prst="rect">
            <a:avLst/>
          </a:prstGeom>
          <a:noFill/>
          <a:ln/>
        </p:spPr>
        <p:txBody>
          <a:bodyPr wrap="square" lIns="0" tIns="0" rIns="0" bIns="0" rtlCol="0" anchor="t"/>
          <a:lstStyle/>
          <a:p>
            <a:pPr marL="228600" indent="-228600">
              <a:spcAft>
                <a:spcPts val="800"/>
              </a:spcAft>
              <a:buSzPct val="100000"/>
              <a:buChar char="•"/>
            </a:pPr>
            <a:r>
              <a:rPr lang="en-US" sz="1800" b="1" dirty="0">
                <a:solidFill>
                  <a:srgbClr val="1F1F1F"/>
                </a:solidFill>
              </a:rPr>
              <a:t>Patient A — acute gout flare, first presentation:</a:t>
            </a:r>
            <a:r>
              <a:rPr lang="en-US" sz="1800" dirty="0">
                <a:solidFill>
                  <a:srgbClr val="1F1F1F"/>
                </a:solidFill>
              </a:rPr>
              <a:t> colchicine, NSAID, or corticosteroid; check renal/hepatic function and CYP3A4/P-gp inhibitors (colchicine). No ULT yet.</a:t>
            </a:r>
            <a:r>
              <a:rPr lang="en-US" sz="1300" dirty="0">
                <a:solidFill>
                  <a:srgbClr val="666666"/>
                </a:solidFill>
              </a:rPr>
              <a:t>  S64; S9; S11</a:t>
            </a:r>
            <a:endParaRPr lang="en-US" sz="1800" dirty="0"/>
          </a:p>
          <a:p>
            <a:pPr marL="228600" indent="-228600">
              <a:spcAft>
                <a:spcPts val="800"/>
              </a:spcAft>
              <a:buSzPct val="100000"/>
              <a:buChar char="•"/>
            </a:pPr>
            <a:r>
              <a:rPr lang="en-US" sz="1800" b="1" dirty="0">
                <a:solidFill>
                  <a:srgbClr val="1F1F1F"/>
                </a:solidFill>
              </a:rPr>
              <a:t>Patient B — chronic RA, inadequately controlled:</a:t>
            </a:r>
            <a:r>
              <a:rPr lang="en-US" sz="1800" dirty="0">
                <a:solidFill>
                  <a:srgbClr val="1F1F1F"/>
                </a:solidFill>
              </a:rPr>
              <a:t> escalate DMARD therapy (biologic); check infection risk — TB and hepatitis screening first.</a:t>
            </a:r>
            <a:r>
              <a:rPr lang="en-US" sz="1300" dirty="0">
                <a:solidFill>
                  <a:srgbClr val="666666"/>
                </a:solidFill>
              </a:rPr>
              <a:t>  S64; S70; S71</a:t>
            </a:r>
            <a:endParaRPr lang="en-US" sz="1800" dirty="0"/>
          </a:p>
          <a:p>
            <a:pPr marL="228600" indent="-228600">
              <a:spcAft>
                <a:spcPts val="800"/>
              </a:spcAft>
              <a:buSzPct val="100000"/>
              <a:buChar char="•"/>
            </a:pPr>
            <a:r>
              <a:rPr lang="en-US" sz="1800" b="1" dirty="0">
                <a:solidFill>
                  <a:srgbClr val="1F1F1F"/>
                </a:solidFill>
              </a:rPr>
              <a:t>Patient C — osteoarthritis + chronic kidney disease:</a:t>
            </a:r>
            <a:r>
              <a:rPr lang="en-US" sz="1800" dirty="0">
                <a:solidFill>
                  <a:srgbClr val="1F1F1F"/>
                </a:solidFill>
              </a:rPr>
              <a:t> acetaminophen or a topical NSAID; avoid oral NSAIDs (renal risk).</a:t>
            </a:r>
            <a:r>
              <a:rPr lang="en-US" sz="1300" dirty="0">
                <a:solidFill>
                  <a:srgbClr val="666666"/>
                </a:solidFill>
              </a:rPr>
              <a:t>  S64; S69; S71</a:t>
            </a:r>
            <a:endParaRPr lang="en-US" sz="1800" dirty="0"/>
          </a:p>
          <a:p>
            <a:pPr marL="228600" indent="-228600">
              <a:spcAft>
                <a:spcPts val="800"/>
              </a:spcAft>
              <a:buSzPct val="100000"/>
              <a:buChar char="•"/>
            </a:pPr>
            <a:r>
              <a:rPr lang="en-US" sz="1800" b="1" dirty="0">
                <a:solidFill>
                  <a:srgbClr val="1F1F1F"/>
                </a:solidFill>
              </a:rPr>
              <a:t>Patient D — postmenopausal osteoporosis, high fracture risk:</a:t>
            </a:r>
            <a:r>
              <a:rPr lang="en-US" sz="1800" dirty="0">
                <a:solidFill>
                  <a:srgbClr val="1F1F1F"/>
                </a:solidFill>
              </a:rPr>
              <a:t> consider an anabolic agent first; check its limits (teriparatide 2 years; romosozumab CV boxed warning).</a:t>
            </a:r>
            <a:r>
              <a:rPr lang="en-US" sz="1300" dirty="0">
                <a:solidFill>
                  <a:srgbClr val="666666"/>
                </a:solidFill>
              </a:rPr>
              <a:t>  S64; S59; S55</a:t>
            </a:r>
            <a:endParaRPr lang="en-US" sz="1800" dirty="0"/>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name="Slide 110">
    <p:bg>
      <p:bgPr>
        <a:solidFill>
          <a:srgbClr val="FFFFFF"/>
        </a:solidFill>
      </p:bgPr>
    </p:bg>
    <p:spTree>
      <p:nvGrpSpPr>
        <p:cNvPr id="1" name=""/>
        <p:cNvGrpSpPr/>
        <p:nvPr/>
      </p:nvGrpSpPr>
      <p:grpSpPr>
        <a:xfrm>
          <a:off x="0" y="0"/>
          <a:ext cx="0" cy="0"/>
          <a:chOff x="0" y="0"/>
          <a:chExt cx="0" cy="0"/>
        </a:xfrm>
      </p:grpSpPr>
      <p:sp>
        <p:nvSpPr>
          <p:cNvPr id="2" name="Kicker"/>
          <p:cNvSpPr txBox="1"/>
          <p:nvPr/>
        </p:nvSpPr>
        <p:spPr>
          <a:xfrm>
            <a:off x="548640" y="292608"/>
            <a:ext cx="8076895" cy="274320"/>
          </a:xfrm>
          <a:prstGeom prst="rect">
            <a:avLst/>
          </a:prstGeom>
          <a:noFill/>
          <a:ln/>
        </p:spPr>
        <p:txBody>
          <a:bodyPr wrap="square" lIns="0" tIns="0" rIns="0" bIns="0" rtlCol="0" anchor="ctr"/>
          <a:lstStyle/>
          <a:p>
            <a:pPr indent="0" marL="0">
              <a:buNone/>
            </a:pPr>
            <a:r>
              <a:rPr lang="en-US" sz="1200" b="1" spc="100" kern="0" dirty="0">
                <a:solidFill>
                  <a:srgbClr val="4472C4"/>
                </a:solidFill>
              </a:rPr>
              <a:t>PUTTING IT ALL TOGETHER: MUSCULOSKELETAL TOOLKIT</a:t>
            </a:r>
            <a:endParaRPr lang="en-US" sz="1200" dirty="0"/>
          </a:p>
        </p:txBody>
      </p:sp>
      <p:sp>
        <p:nvSpPr>
          <p:cNvPr id="3" name="Title"/>
          <p:cNvSpPr txBox="1"/>
          <p:nvPr/>
        </p:nvSpPr>
        <p:spPr>
          <a:xfrm>
            <a:off x="548640" y="566928"/>
            <a:ext cx="8076895" cy="713232"/>
          </a:xfrm>
          <a:prstGeom prst="rect">
            <a:avLst/>
          </a:prstGeom>
          <a:noFill/>
          <a:ln/>
        </p:spPr>
        <p:txBody>
          <a:bodyPr wrap="square" lIns="0" tIns="0" rIns="0" bIns="0" rtlCol="0" anchor="t"/>
          <a:lstStyle/>
          <a:p>
            <a:pPr indent="0" marL="0">
              <a:buNone/>
            </a:pPr>
            <a:r>
              <a:rPr lang="en-US" sz="3000" b="1" dirty="0">
                <a:solidFill>
                  <a:srgbClr val="1F1F1F"/>
                </a:solidFill>
                <a:latin typeface="Calibri" pitchFamily="34" charset="0"/>
                <a:ea typeface="Calibri" pitchFamily="34" charset="-122"/>
                <a:cs typeface="Calibri" pitchFamily="34" charset="-120"/>
              </a:rPr>
              <a:t>Drugs named as examples</a:t>
            </a:r>
            <a:endParaRPr lang="en-US" sz="3000" dirty="0"/>
          </a:p>
        </p:txBody>
      </p:sp>
      <p:sp>
        <p:nvSpPr>
          <p:cNvPr id="4" name="Objective chip"/>
          <p:cNvSpPr/>
          <p:nvPr/>
        </p:nvSpPr>
        <p:spPr>
          <a:xfrm>
            <a:off x="8899855" y="365760"/>
            <a:ext cx="2743200" cy="384048"/>
          </a:xfrm>
          <a:prstGeom prst="roundRect">
            <a:avLst>
              <a:gd name="adj" fmla="val 35714"/>
            </a:avLst>
          </a:prstGeom>
          <a:solidFill>
            <a:srgbClr val="E3EBF8"/>
          </a:solidFill>
          <a:ln/>
        </p:spPr>
        <p:txBody>
          <a:bodyPr wrap="square" lIns="25400" tIns="25400" rIns="25400" bIns="25400" rtlCol="0" anchor="ctr"/>
          <a:lstStyle/>
          <a:p>
            <a:pPr algn="ctr" indent="0" marL="0">
              <a:buNone/>
            </a:pPr>
            <a:r>
              <a:rPr lang="en-US" sz="1200" b="1" dirty="0">
                <a:solidFill>
                  <a:srgbClr val="2F4F8A"/>
                </a:solidFill>
              </a:rPr>
              <a:t>Objectives: SO5 · IO2.3 · IO2.4</a:t>
            </a:r>
            <a:endParaRPr lang="en-US" sz="1200" dirty="0"/>
          </a:p>
        </p:txBody>
      </p:sp>
      <p:sp>
        <p:nvSpPr>
          <p:cNvPr id="5" name="Footer"/>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1000" dirty="0">
                <a:solidFill>
                  <a:srgbClr val="666666"/>
                </a:solidFill>
              </a:rPr>
              <a:t>L04 · Musculoskeletal Pharmacology — Session 2</a:t>
            </a:r>
            <a:endParaRPr lang="en-US" sz="1000" dirty="0"/>
          </a:p>
        </p:txBody>
      </p:sp>
      <p:sp>
        <p:nvSpPr>
          <p:cNvPr id="6" name="Slide number"/>
          <p:cNvSpPr txBox="1"/>
          <p:nvPr/>
        </p:nvSpPr>
        <p:spPr>
          <a:xfrm>
            <a:off x="10728655" y="6419088"/>
            <a:ext cx="914400" cy="274320"/>
          </a:xfrm>
          <a:prstGeom prst="rect">
            <a:avLst/>
          </a:prstGeom>
          <a:noFill/>
          <a:ln/>
        </p:spPr>
        <p:txBody>
          <a:bodyPr wrap="square" lIns="0" tIns="0" rIns="0" bIns="0" rtlCol="0" anchor="ctr"/>
          <a:lstStyle/>
          <a:p>
            <a:pPr algn="r" indent="0" marL="0">
              <a:buNone/>
            </a:pPr>
            <a:r>
              <a:rPr lang="en-US" sz="1000" dirty="0">
                <a:solidFill>
                  <a:srgbClr val="666666"/>
                </a:solidFill>
              </a:rPr>
              <a:t>110</a:t>
            </a:r>
            <a:endParaRPr lang="en-US" sz="1000" dirty="0"/>
          </a:p>
        </p:txBody>
      </p:sp>
      <p:sp>
        <p:nvSpPr>
          <p:cNvPr id="7" name="Drugs named as examples (1/2) card"/>
          <p:cNvSpPr/>
          <p:nvPr/>
        </p:nvSpPr>
        <p:spPr>
          <a:xfrm>
            <a:off x="548640" y="1325880"/>
            <a:ext cx="11094415" cy="3054096"/>
          </a:xfrm>
          <a:prstGeom prst="roundRect">
            <a:avLst>
              <a:gd name="adj" fmla="val 3593"/>
            </a:avLst>
          </a:prstGeom>
          <a:solidFill>
            <a:srgbClr val="F2F4F7"/>
          </a:solidFill>
          <a:ln w="12700">
            <a:solidFill>
              <a:srgbClr val="F2F4F7"/>
            </a:solidFill>
            <a:prstDash val="solid"/>
          </a:ln>
        </p:spPr>
      </p:sp>
      <p:sp>
        <p:nvSpPr>
          <p:cNvPr id="8" name="Drugs named as examples (1/2) icon circle"/>
          <p:cNvSpPr/>
          <p:nvPr/>
        </p:nvSpPr>
        <p:spPr>
          <a:xfrm>
            <a:off x="777240" y="1508760"/>
            <a:ext cx="438912" cy="438912"/>
          </a:xfrm>
          <a:prstGeom prst="ellipse">
            <a:avLst/>
          </a:prstGeom>
          <a:solidFill>
            <a:srgbClr val="4472C4"/>
          </a:solidFill>
          <a:ln w="12700">
            <a:solidFill>
              <a:srgbClr val="4472C4"/>
            </a:solidFill>
            <a:prstDash val="solid"/>
          </a:ln>
        </p:spPr>
      </p:sp>
      <p:pic>
        <p:nvPicPr>
          <p:cNvPr id="9" name="Drugs named as examples (1/2) icon" descr="preencoded.png">    </p:cNvPr>
          <p:cNvPicPr>
            <a:picLocks noChangeAspect="1"/>
          </p:cNvPicPr>
          <p:nvPr/>
        </p:nvPicPr>
        <p:blipFill>
          <a:blip r:embed="rId1"/>
          <a:stretch>
            <a:fillRect/>
          </a:stretch>
        </p:blipFill>
        <p:spPr>
          <a:xfrm>
            <a:off x="877824" y="1609344"/>
            <a:ext cx="237744" cy="237744"/>
          </a:xfrm>
          <a:prstGeom prst="rect">
            <a:avLst/>
          </a:prstGeom>
        </p:spPr>
      </p:pic>
      <p:sp>
        <p:nvSpPr>
          <p:cNvPr id="10" name="Drugs named as examples (1/2) heading"/>
          <p:cNvSpPr txBox="1"/>
          <p:nvPr/>
        </p:nvSpPr>
        <p:spPr>
          <a:xfrm>
            <a:off x="1353312" y="1508760"/>
            <a:ext cx="10088575" cy="438912"/>
          </a:xfrm>
          <a:prstGeom prst="rect">
            <a:avLst/>
          </a:prstGeom>
          <a:noFill/>
          <a:ln/>
        </p:spPr>
        <p:txBody>
          <a:bodyPr wrap="square" lIns="0" tIns="0" rIns="0" bIns="0" rtlCol="0" anchor="ctr"/>
          <a:lstStyle/>
          <a:p>
            <a:pPr indent="0" marL="0">
              <a:buNone/>
            </a:pPr>
            <a:r>
              <a:rPr lang="en-US" sz="1800" b="1" dirty="0">
                <a:solidFill>
                  <a:srgbClr val="4472C4"/>
                </a:solidFill>
              </a:rPr>
              <a:t>Drugs named as examples (1/2)</a:t>
            </a:r>
            <a:endParaRPr lang="en-US" sz="1800" dirty="0"/>
          </a:p>
        </p:txBody>
      </p:sp>
      <p:sp>
        <p:nvSpPr>
          <p:cNvPr id="11" name="Drugs named as examples (1/2) body"/>
          <p:cNvSpPr txBox="1"/>
          <p:nvPr/>
        </p:nvSpPr>
        <p:spPr>
          <a:xfrm>
            <a:off x="777240" y="2075688"/>
            <a:ext cx="10637215" cy="2185416"/>
          </a:xfrm>
          <a:prstGeom prst="rect">
            <a:avLst/>
          </a:prstGeom>
          <a:noFill/>
          <a:ln/>
        </p:spPr>
        <p:txBody>
          <a:bodyPr wrap="square" lIns="0" tIns="0" rIns="0" bIns="0" rtlCol="0" anchor="t"/>
          <a:lstStyle/>
          <a:p>
            <a:pPr marL="228600" indent="-228600">
              <a:spcAft>
                <a:spcPts val="800"/>
              </a:spcAft>
              <a:buSzPct val="100000"/>
              <a:buChar char="•"/>
            </a:pPr>
            <a:r>
              <a:rPr lang="en-US" sz="1800" b="1" dirty="0">
                <a:solidFill>
                  <a:srgbClr val="1F1F1F"/>
                </a:solidFill>
              </a:rPr>
              <a:t>Recall Q1:</a:t>
            </a:r>
            <a:r>
              <a:rPr lang="en-US" sz="1800" dirty="0">
                <a:solidFill>
                  <a:srgbClr val="1F1F1F"/>
                </a:solidFill>
              </a:rPr>
              <a:t> acetaminophen is not a reliable first-line choice for an inflammatory joint flare — it has minimal peripheral anti-inflammatory effect; it treats pain and fever, not inflammation itself.</a:t>
            </a:r>
            <a:r>
              <a:rPr lang="en-US" sz="1300" dirty="0">
                <a:solidFill>
                  <a:srgbClr val="666666"/>
                </a:solidFill>
              </a:rPr>
              <a:t>  S69; S71</a:t>
            </a:r>
            <a:endParaRPr lang="en-US" sz="1800" dirty="0"/>
          </a:p>
          <a:p>
            <a:pPr marL="228600" indent="-228600">
              <a:spcAft>
                <a:spcPts val="800"/>
              </a:spcAft>
              <a:buSzPct val="100000"/>
              <a:buChar char="•"/>
            </a:pPr>
            <a:r>
              <a:rPr lang="en-US" sz="1800" b="1" dirty="0">
                <a:solidFill>
                  <a:srgbClr val="1F1F1F"/>
                </a:solidFill>
              </a:rPr>
              <a:t>Recall Q2:</a:t>
            </a:r>
            <a:r>
              <a:rPr lang="en-US" sz="1800" dirty="0">
                <a:solidFill>
                  <a:srgbClr val="1F1F1F"/>
                </a:solidFill>
              </a:rPr>
              <a:t> a 70-year-old with CKD and heart failure needing OA pain control — acetaminophen or a topical NSAID avoids the systemic renal/CV risk of oral NSAIDs.</a:t>
            </a:r>
            <a:r>
              <a:rPr lang="en-US" sz="1300" dirty="0">
                <a:solidFill>
                  <a:srgbClr val="666666"/>
                </a:solidFill>
              </a:rPr>
              <a:t>  S69; S71</a:t>
            </a:r>
            <a:endParaRPr lang="en-US" sz="1800" dirty="0"/>
          </a:p>
          <a:p>
            <a:pPr marL="228600" indent="-228600">
              <a:spcAft>
                <a:spcPts val="800"/>
              </a:spcAft>
              <a:buSzPct val="100000"/>
              <a:buChar char="•"/>
            </a:pPr>
            <a:r>
              <a:rPr lang="en-US" sz="1800" b="1" dirty="0">
                <a:solidFill>
                  <a:srgbClr val="1F1F1F"/>
                </a:solidFill>
              </a:rPr>
              <a:t>Recall Q3:</a:t>
            </a:r>
            <a:r>
              <a:rPr lang="en-US" sz="1800" dirty="0">
                <a:solidFill>
                  <a:srgbClr val="1F1F1F"/>
                </a:solidFill>
              </a:rPr>
              <a:t> methotrexate inhibits dihydrofolate reductase; allopurinol inhibits xanthine oxidase; colchicine disrupts microtubules; baclofen is a GABA-B agonist.</a:t>
            </a:r>
            <a:r>
              <a:rPr lang="en-US" sz="1300" dirty="0">
                <a:solidFill>
                  <a:srgbClr val="666666"/>
                </a:solidFill>
              </a:rPr>
              <a:t>  S69; S71</a:t>
            </a:r>
            <a:endParaRPr lang="en-US" sz="1800" dirty="0"/>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name="Slide 111">
    <p:bg>
      <p:bgPr>
        <a:solidFill>
          <a:srgbClr val="FFFFFF"/>
        </a:solidFill>
      </p:bgPr>
    </p:bg>
    <p:spTree>
      <p:nvGrpSpPr>
        <p:cNvPr id="1" name=""/>
        <p:cNvGrpSpPr/>
        <p:nvPr/>
      </p:nvGrpSpPr>
      <p:grpSpPr>
        <a:xfrm>
          <a:off x="0" y="0"/>
          <a:ext cx="0" cy="0"/>
          <a:chOff x="0" y="0"/>
          <a:chExt cx="0" cy="0"/>
        </a:xfrm>
      </p:grpSpPr>
      <p:sp>
        <p:nvSpPr>
          <p:cNvPr id="2" name="Kicker"/>
          <p:cNvSpPr txBox="1"/>
          <p:nvPr/>
        </p:nvSpPr>
        <p:spPr>
          <a:xfrm>
            <a:off x="548640" y="292608"/>
            <a:ext cx="8076895" cy="274320"/>
          </a:xfrm>
          <a:prstGeom prst="rect">
            <a:avLst/>
          </a:prstGeom>
          <a:noFill/>
          <a:ln/>
        </p:spPr>
        <p:txBody>
          <a:bodyPr wrap="square" lIns="0" tIns="0" rIns="0" bIns="0" rtlCol="0" anchor="ctr"/>
          <a:lstStyle/>
          <a:p>
            <a:pPr indent="0" marL="0">
              <a:buNone/>
            </a:pPr>
            <a:r>
              <a:rPr lang="en-US" sz="1200" b="1" spc="100" kern="0" dirty="0">
                <a:solidFill>
                  <a:srgbClr val="4472C4"/>
                </a:solidFill>
              </a:rPr>
              <a:t>PUTTING IT ALL TOGETHER: MUSCULOSKELETAL TOOLKIT</a:t>
            </a:r>
            <a:endParaRPr lang="en-US" sz="1200" dirty="0"/>
          </a:p>
        </p:txBody>
      </p:sp>
      <p:sp>
        <p:nvSpPr>
          <p:cNvPr id="3" name="Title"/>
          <p:cNvSpPr txBox="1"/>
          <p:nvPr/>
        </p:nvSpPr>
        <p:spPr>
          <a:xfrm>
            <a:off x="548640" y="566928"/>
            <a:ext cx="8076895" cy="713232"/>
          </a:xfrm>
          <a:prstGeom prst="rect">
            <a:avLst/>
          </a:prstGeom>
          <a:noFill/>
          <a:ln/>
        </p:spPr>
        <p:txBody>
          <a:bodyPr wrap="square" lIns="0" tIns="0" rIns="0" bIns="0" rtlCol="0" anchor="t"/>
          <a:lstStyle/>
          <a:p>
            <a:pPr indent="0" marL="0">
              <a:buNone/>
            </a:pPr>
            <a:r>
              <a:rPr lang="en-US" sz="3000" b="1" dirty="0">
                <a:solidFill>
                  <a:srgbClr val="1F1F1F"/>
                </a:solidFill>
                <a:latin typeface="Calibri" pitchFamily="34" charset="0"/>
                <a:ea typeface="Calibri" pitchFamily="34" charset="-122"/>
                <a:cs typeface="Calibri" pitchFamily="34" charset="-120"/>
              </a:rPr>
              <a:t>Drugs named as examples (cont.)</a:t>
            </a:r>
            <a:endParaRPr lang="en-US" sz="3000" dirty="0"/>
          </a:p>
        </p:txBody>
      </p:sp>
      <p:sp>
        <p:nvSpPr>
          <p:cNvPr id="4" name="Objective chip"/>
          <p:cNvSpPr/>
          <p:nvPr/>
        </p:nvSpPr>
        <p:spPr>
          <a:xfrm>
            <a:off x="8899855" y="365760"/>
            <a:ext cx="2743200" cy="384048"/>
          </a:xfrm>
          <a:prstGeom prst="roundRect">
            <a:avLst>
              <a:gd name="adj" fmla="val 35714"/>
            </a:avLst>
          </a:prstGeom>
          <a:solidFill>
            <a:srgbClr val="E3EBF8"/>
          </a:solidFill>
          <a:ln/>
        </p:spPr>
        <p:txBody>
          <a:bodyPr wrap="square" lIns="25400" tIns="25400" rIns="25400" bIns="25400" rtlCol="0" anchor="ctr"/>
          <a:lstStyle/>
          <a:p>
            <a:pPr algn="ctr" indent="0" marL="0">
              <a:buNone/>
            </a:pPr>
            <a:r>
              <a:rPr lang="en-US" sz="1200" b="1" dirty="0">
                <a:solidFill>
                  <a:srgbClr val="2F4F8A"/>
                </a:solidFill>
              </a:rPr>
              <a:t>Objectives: SO5 · IO2.3 · IO2.4</a:t>
            </a:r>
            <a:endParaRPr lang="en-US" sz="1200" dirty="0"/>
          </a:p>
        </p:txBody>
      </p:sp>
      <p:sp>
        <p:nvSpPr>
          <p:cNvPr id="5" name="Footer"/>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1000" dirty="0">
                <a:solidFill>
                  <a:srgbClr val="666666"/>
                </a:solidFill>
              </a:rPr>
              <a:t>L04 · Musculoskeletal Pharmacology — Session 2</a:t>
            </a:r>
            <a:endParaRPr lang="en-US" sz="1000" dirty="0"/>
          </a:p>
        </p:txBody>
      </p:sp>
      <p:sp>
        <p:nvSpPr>
          <p:cNvPr id="6" name="Slide number"/>
          <p:cNvSpPr txBox="1"/>
          <p:nvPr/>
        </p:nvSpPr>
        <p:spPr>
          <a:xfrm>
            <a:off x="10728655" y="6419088"/>
            <a:ext cx="914400" cy="274320"/>
          </a:xfrm>
          <a:prstGeom prst="rect">
            <a:avLst/>
          </a:prstGeom>
          <a:noFill/>
          <a:ln/>
        </p:spPr>
        <p:txBody>
          <a:bodyPr wrap="square" lIns="0" tIns="0" rIns="0" bIns="0" rtlCol="0" anchor="ctr"/>
          <a:lstStyle/>
          <a:p>
            <a:pPr algn="r" indent="0" marL="0">
              <a:buNone/>
            </a:pPr>
            <a:r>
              <a:rPr lang="en-US" sz="1000" dirty="0">
                <a:solidFill>
                  <a:srgbClr val="666666"/>
                </a:solidFill>
              </a:rPr>
              <a:t>111</a:t>
            </a:r>
            <a:endParaRPr lang="en-US" sz="1000" dirty="0"/>
          </a:p>
        </p:txBody>
      </p:sp>
      <p:sp>
        <p:nvSpPr>
          <p:cNvPr id="7" name="Drugs named as examples (2/2) card"/>
          <p:cNvSpPr/>
          <p:nvPr/>
        </p:nvSpPr>
        <p:spPr>
          <a:xfrm>
            <a:off x="548640" y="1325880"/>
            <a:ext cx="11094415" cy="3332988"/>
          </a:xfrm>
          <a:prstGeom prst="roundRect">
            <a:avLst>
              <a:gd name="adj" fmla="val 3292"/>
            </a:avLst>
          </a:prstGeom>
          <a:solidFill>
            <a:srgbClr val="F2F4F7"/>
          </a:solidFill>
          <a:ln w="12700">
            <a:solidFill>
              <a:srgbClr val="F2F4F7"/>
            </a:solidFill>
            <a:prstDash val="solid"/>
          </a:ln>
        </p:spPr>
      </p:sp>
      <p:sp>
        <p:nvSpPr>
          <p:cNvPr id="8" name="Drugs named as examples (2/2) icon circle"/>
          <p:cNvSpPr/>
          <p:nvPr/>
        </p:nvSpPr>
        <p:spPr>
          <a:xfrm>
            <a:off x="777240" y="1508760"/>
            <a:ext cx="438912" cy="438912"/>
          </a:xfrm>
          <a:prstGeom prst="ellipse">
            <a:avLst/>
          </a:prstGeom>
          <a:solidFill>
            <a:srgbClr val="4472C4"/>
          </a:solidFill>
          <a:ln w="12700">
            <a:solidFill>
              <a:srgbClr val="4472C4"/>
            </a:solidFill>
            <a:prstDash val="solid"/>
          </a:ln>
        </p:spPr>
      </p:sp>
      <p:pic>
        <p:nvPicPr>
          <p:cNvPr id="9" name="Drugs named as examples (2/2) icon" descr="preencoded.png">    </p:cNvPr>
          <p:cNvPicPr>
            <a:picLocks noChangeAspect="1"/>
          </p:cNvPicPr>
          <p:nvPr/>
        </p:nvPicPr>
        <p:blipFill>
          <a:blip r:embed="rId1"/>
          <a:stretch>
            <a:fillRect/>
          </a:stretch>
        </p:blipFill>
        <p:spPr>
          <a:xfrm>
            <a:off x="877824" y="1609344"/>
            <a:ext cx="237744" cy="237744"/>
          </a:xfrm>
          <a:prstGeom prst="rect">
            <a:avLst/>
          </a:prstGeom>
        </p:spPr>
      </p:pic>
      <p:sp>
        <p:nvSpPr>
          <p:cNvPr id="10" name="Drugs named as examples (2/2) heading"/>
          <p:cNvSpPr txBox="1"/>
          <p:nvPr/>
        </p:nvSpPr>
        <p:spPr>
          <a:xfrm>
            <a:off x="1353312" y="1508760"/>
            <a:ext cx="10088575" cy="438912"/>
          </a:xfrm>
          <a:prstGeom prst="rect">
            <a:avLst/>
          </a:prstGeom>
          <a:noFill/>
          <a:ln/>
        </p:spPr>
        <p:txBody>
          <a:bodyPr wrap="square" lIns="0" tIns="0" rIns="0" bIns="0" rtlCol="0" anchor="ctr"/>
          <a:lstStyle/>
          <a:p>
            <a:pPr indent="0" marL="0">
              <a:buNone/>
            </a:pPr>
            <a:r>
              <a:rPr lang="en-US" sz="1800" b="1" dirty="0">
                <a:solidFill>
                  <a:srgbClr val="4472C4"/>
                </a:solidFill>
              </a:rPr>
              <a:t>Drugs named as examples (2/2)</a:t>
            </a:r>
            <a:endParaRPr lang="en-US" sz="1800" dirty="0"/>
          </a:p>
        </p:txBody>
      </p:sp>
      <p:sp>
        <p:nvSpPr>
          <p:cNvPr id="11" name="Drugs named as examples (2/2) body"/>
          <p:cNvSpPr txBox="1"/>
          <p:nvPr/>
        </p:nvSpPr>
        <p:spPr>
          <a:xfrm>
            <a:off x="777240" y="2075688"/>
            <a:ext cx="10637215" cy="2464308"/>
          </a:xfrm>
          <a:prstGeom prst="rect">
            <a:avLst/>
          </a:prstGeom>
          <a:noFill/>
          <a:ln/>
        </p:spPr>
        <p:txBody>
          <a:bodyPr wrap="square" lIns="0" tIns="0" rIns="0" bIns="0" rtlCol="0" anchor="t"/>
          <a:lstStyle/>
          <a:p>
            <a:pPr marL="228600" indent="-228600">
              <a:spcAft>
                <a:spcPts val="800"/>
              </a:spcAft>
              <a:buSzPct val="100000"/>
              <a:buChar char="•"/>
            </a:pPr>
            <a:r>
              <a:rPr lang="en-US" sz="1800" b="1" dirty="0">
                <a:solidFill>
                  <a:srgbClr val="1F1F1F"/>
                </a:solidFill>
              </a:rPr>
              <a:t>Recall Q4:</a:t>
            </a:r>
            <a:r>
              <a:rPr lang="en-US" sz="1800" dirty="0">
                <a:solidFill>
                  <a:srgbClr val="1F1F1F"/>
                </a:solidFill>
              </a:rPr>
              <a:t> fever on a biologic DMARD — immunosuppression is the shared major risk across all DMARDs; treat a fever as a possible infection until proven otherwise.</a:t>
            </a:r>
            <a:r>
              <a:rPr lang="en-US" sz="1300" dirty="0">
                <a:solidFill>
                  <a:srgbClr val="666666"/>
                </a:solidFill>
              </a:rPr>
              <a:t>  S70; S71</a:t>
            </a:r>
            <a:endParaRPr lang="en-US" sz="1800" dirty="0"/>
          </a:p>
          <a:p>
            <a:pPr marL="228600" indent="-228600">
              <a:spcAft>
                <a:spcPts val="800"/>
              </a:spcAft>
              <a:buSzPct val="100000"/>
              <a:buChar char="•"/>
            </a:pPr>
            <a:r>
              <a:rPr lang="en-US" sz="1800" b="1" dirty="0">
                <a:solidFill>
                  <a:srgbClr val="1F1F1F"/>
                </a:solidFill>
              </a:rPr>
              <a:t>Recall Q5:</a:t>
            </a:r>
            <a:r>
              <a:rPr lang="en-US" sz="1800" dirty="0">
                <a:solidFill>
                  <a:srgbClr val="1F1F1F"/>
                </a:solidFill>
              </a:rPr>
              <a:t> probenecid is a uricosuric that inhibits renal tubular reabsorption of uric acid. Colchicine does not lower uric acid; febuxostat (not probenecid) is a xanthine oxidase inhibitor; ULT is deferred during a flare.</a:t>
            </a:r>
            <a:r>
              <a:rPr lang="en-US" sz="1300" dirty="0">
                <a:solidFill>
                  <a:srgbClr val="666666"/>
                </a:solidFill>
              </a:rPr>
              <a:t>  S70; S71</a:t>
            </a:r>
            <a:endParaRPr lang="en-US" sz="1800" dirty="0"/>
          </a:p>
          <a:p>
            <a:pPr marL="228600" indent="-228600">
              <a:spcAft>
                <a:spcPts val="800"/>
              </a:spcAft>
              <a:buSzPct val="100000"/>
              <a:buChar char="•"/>
            </a:pPr>
            <a:r>
              <a:rPr lang="en-US" sz="1800" b="1" dirty="0">
                <a:solidFill>
                  <a:srgbClr val="1F1F1F"/>
                </a:solidFill>
              </a:rPr>
              <a:t>Recall Q6:</a:t>
            </a:r>
            <a:r>
              <a:rPr lang="en-US" sz="1800" dirty="0">
                <a:solidFill>
                  <a:srgbClr val="1F1F1F"/>
                </a:solidFill>
              </a:rPr>
              <a:t> glucocorticoids increase osteoclast-mediated bone resorption and suppress osteoblast-driven bone formation — shifting the balance toward bone loss.</a:t>
            </a:r>
            <a:r>
              <a:rPr lang="en-US" sz="1300" dirty="0">
                <a:solidFill>
                  <a:srgbClr val="666666"/>
                </a:solidFill>
              </a:rPr>
              <a:t>  S70; S71</a:t>
            </a:r>
            <a:endParaRPr lang="en-US" sz="1800" dirty="0"/>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name="Slide 112">
    <p:bg>
      <p:bgPr>
        <a:solidFill>
          <a:srgbClr val="FFFFFF"/>
        </a:solidFill>
      </p:bgPr>
    </p:bg>
    <p:spTree>
      <p:nvGrpSpPr>
        <p:cNvPr id="1" name=""/>
        <p:cNvGrpSpPr/>
        <p:nvPr/>
      </p:nvGrpSpPr>
      <p:grpSpPr>
        <a:xfrm>
          <a:off x="0" y="0"/>
          <a:ext cx="0" cy="0"/>
          <a:chOff x="0" y="0"/>
          <a:chExt cx="0" cy="0"/>
        </a:xfrm>
      </p:grpSpPr>
      <p:sp>
        <p:nvSpPr>
          <p:cNvPr id="2" name="Kicker"/>
          <p:cNvSpPr txBox="1"/>
          <p:nvPr/>
        </p:nvSpPr>
        <p:spPr>
          <a:xfrm>
            <a:off x="548640" y="292608"/>
            <a:ext cx="8076895" cy="274320"/>
          </a:xfrm>
          <a:prstGeom prst="rect">
            <a:avLst/>
          </a:prstGeom>
          <a:noFill/>
          <a:ln/>
        </p:spPr>
        <p:txBody>
          <a:bodyPr wrap="square" lIns="0" tIns="0" rIns="0" bIns="0" rtlCol="0" anchor="ctr"/>
          <a:lstStyle/>
          <a:p>
            <a:pPr indent="0" marL="0">
              <a:buNone/>
            </a:pPr>
            <a:r>
              <a:rPr lang="en-US" sz="1200" b="1" spc="100" kern="0" dirty="0">
                <a:solidFill>
                  <a:srgbClr val="4472C4"/>
                </a:solidFill>
              </a:rPr>
              <a:t>PUTTING IT ALL TOGETHER: MUSCULOSKELETAL TOOLKIT</a:t>
            </a:r>
            <a:endParaRPr lang="en-US" sz="1200" dirty="0"/>
          </a:p>
        </p:txBody>
      </p:sp>
      <p:sp>
        <p:nvSpPr>
          <p:cNvPr id="3" name="Title"/>
          <p:cNvSpPr txBox="1"/>
          <p:nvPr/>
        </p:nvSpPr>
        <p:spPr>
          <a:xfrm>
            <a:off x="548640" y="566928"/>
            <a:ext cx="8076895" cy="713232"/>
          </a:xfrm>
          <a:prstGeom prst="rect">
            <a:avLst/>
          </a:prstGeom>
          <a:noFill/>
          <a:ln/>
        </p:spPr>
        <p:txBody>
          <a:bodyPr wrap="square" lIns="0" tIns="0" rIns="0" bIns="0" rtlCol="0" anchor="t"/>
          <a:lstStyle/>
          <a:p>
            <a:pPr indent="0" marL="0">
              <a:buNone/>
            </a:pPr>
            <a:r>
              <a:rPr lang="en-US" sz="3000" b="1" dirty="0">
                <a:solidFill>
                  <a:srgbClr val="1F1F1F"/>
                </a:solidFill>
                <a:latin typeface="Calibri" pitchFamily="34" charset="0"/>
                <a:ea typeface="Calibri" pitchFamily="34" charset="-122"/>
                <a:cs typeface="Calibri" pitchFamily="34" charset="-120"/>
              </a:rPr>
              <a:t>Exam traps</a:t>
            </a:r>
            <a:endParaRPr lang="en-US" sz="3000" dirty="0"/>
          </a:p>
        </p:txBody>
      </p:sp>
      <p:sp>
        <p:nvSpPr>
          <p:cNvPr id="4" name="Objective chip"/>
          <p:cNvSpPr/>
          <p:nvPr/>
        </p:nvSpPr>
        <p:spPr>
          <a:xfrm>
            <a:off x="8899855" y="365760"/>
            <a:ext cx="2743200" cy="384048"/>
          </a:xfrm>
          <a:prstGeom prst="roundRect">
            <a:avLst>
              <a:gd name="adj" fmla="val 35714"/>
            </a:avLst>
          </a:prstGeom>
          <a:solidFill>
            <a:srgbClr val="E3EBF8"/>
          </a:solidFill>
          <a:ln/>
        </p:spPr>
        <p:txBody>
          <a:bodyPr wrap="square" lIns="25400" tIns="25400" rIns="25400" bIns="25400" rtlCol="0" anchor="ctr"/>
          <a:lstStyle/>
          <a:p>
            <a:pPr algn="ctr" indent="0" marL="0">
              <a:buNone/>
            </a:pPr>
            <a:r>
              <a:rPr lang="en-US" sz="1200" b="1" dirty="0">
                <a:solidFill>
                  <a:srgbClr val="2F4F8A"/>
                </a:solidFill>
              </a:rPr>
              <a:t>Objectives: SO5 · IO2.3 · IO2.4</a:t>
            </a:r>
            <a:endParaRPr lang="en-US" sz="1200" dirty="0"/>
          </a:p>
        </p:txBody>
      </p:sp>
      <p:sp>
        <p:nvSpPr>
          <p:cNvPr id="5" name="Footer"/>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1000" dirty="0">
                <a:solidFill>
                  <a:srgbClr val="666666"/>
                </a:solidFill>
              </a:rPr>
              <a:t>L04 · Musculoskeletal Pharmacology — Session 2</a:t>
            </a:r>
            <a:endParaRPr lang="en-US" sz="1000" dirty="0"/>
          </a:p>
        </p:txBody>
      </p:sp>
      <p:sp>
        <p:nvSpPr>
          <p:cNvPr id="6" name="Slide number"/>
          <p:cNvSpPr txBox="1"/>
          <p:nvPr/>
        </p:nvSpPr>
        <p:spPr>
          <a:xfrm>
            <a:off x="10728655" y="6419088"/>
            <a:ext cx="914400" cy="274320"/>
          </a:xfrm>
          <a:prstGeom prst="rect">
            <a:avLst/>
          </a:prstGeom>
          <a:noFill/>
          <a:ln/>
        </p:spPr>
        <p:txBody>
          <a:bodyPr wrap="square" lIns="0" tIns="0" rIns="0" bIns="0" rtlCol="0" anchor="ctr"/>
          <a:lstStyle/>
          <a:p>
            <a:pPr algn="r" indent="0" marL="0">
              <a:buNone/>
            </a:pPr>
            <a:r>
              <a:rPr lang="en-US" sz="1000" dirty="0">
                <a:solidFill>
                  <a:srgbClr val="666666"/>
                </a:solidFill>
              </a:rPr>
              <a:t>112</a:t>
            </a:r>
            <a:endParaRPr lang="en-US" sz="1000" dirty="0"/>
          </a:p>
        </p:txBody>
      </p:sp>
      <p:sp>
        <p:nvSpPr>
          <p:cNvPr id="7" name="Exam traps card"/>
          <p:cNvSpPr/>
          <p:nvPr/>
        </p:nvSpPr>
        <p:spPr>
          <a:xfrm>
            <a:off x="548640" y="1325880"/>
            <a:ext cx="11094415" cy="4000500"/>
          </a:xfrm>
          <a:prstGeom prst="roundRect">
            <a:avLst>
              <a:gd name="adj" fmla="val 2743"/>
            </a:avLst>
          </a:prstGeom>
          <a:solidFill>
            <a:srgbClr val="F2F4F7"/>
          </a:solidFill>
          <a:ln w="12700">
            <a:solidFill>
              <a:srgbClr val="F2F4F7"/>
            </a:solidFill>
            <a:prstDash val="solid"/>
          </a:ln>
        </p:spPr>
      </p:sp>
      <p:sp>
        <p:nvSpPr>
          <p:cNvPr id="8" name="Exam traps icon circle"/>
          <p:cNvSpPr/>
          <p:nvPr/>
        </p:nvSpPr>
        <p:spPr>
          <a:xfrm>
            <a:off x="777240" y="1508760"/>
            <a:ext cx="438912" cy="438912"/>
          </a:xfrm>
          <a:prstGeom prst="ellipse">
            <a:avLst/>
          </a:prstGeom>
          <a:solidFill>
            <a:srgbClr val="C00000"/>
          </a:solidFill>
          <a:ln w="12700">
            <a:solidFill>
              <a:srgbClr val="C00000"/>
            </a:solidFill>
            <a:prstDash val="solid"/>
          </a:ln>
        </p:spPr>
      </p:sp>
      <p:pic>
        <p:nvPicPr>
          <p:cNvPr id="9" name="Exam traps icon" descr="preencoded.png">    </p:cNvPr>
          <p:cNvPicPr>
            <a:picLocks noChangeAspect="1"/>
          </p:cNvPicPr>
          <p:nvPr/>
        </p:nvPicPr>
        <p:blipFill>
          <a:blip r:embed="rId1"/>
          <a:stretch>
            <a:fillRect/>
          </a:stretch>
        </p:blipFill>
        <p:spPr>
          <a:xfrm>
            <a:off x="877824" y="1609344"/>
            <a:ext cx="237744" cy="237744"/>
          </a:xfrm>
          <a:prstGeom prst="rect">
            <a:avLst/>
          </a:prstGeom>
        </p:spPr>
      </p:pic>
      <p:sp>
        <p:nvSpPr>
          <p:cNvPr id="10" name="Exam traps heading"/>
          <p:cNvSpPr txBox="1"/>
          <p:nvPr/>
        </p:nvSpPr>
        <p:spPr>
          <a:xfrm>
            <a:off x="1353312" y="1508760"/>
            <a:ext cx="10088575" cy="438912"/>
          </a:xfrm>
          <a:prstGeom prst="rect">
            <a:avLst/>
          </a:prstGeom>
          <a:noFill/>
          <a:ln/>
        </p:spPr>
        <p:txBody>
          <a:bodyPr wrap="square" lIns="0" tIns="0" rIns="0" bIns="0" rtlCol="0" anchor="ctr"/>
          <a:lstStyle/>
          <a:p>
            <a:pPr indent="0" marL="0">
              <a:buNone/>
            </a:pPr>
            <a:r>
              <a:rPr lang="en-US" sz="1800" b="1" dirty="0">
                <a:solidFill>
                  <a:srgbClr val="C00000"/>
                </a:solidFill>
              </a:rPr>
              <a:t>Exam traps</a:t>
            </a:r>
            <a:endParaRPr lang="en-US" sz="1800" dirty="0"/>
          </a:p>
        </p:txBody>
      </p:sp>
      <p:sp>
        <p:nvSpPr>
          <p:cNvPr id="11" name="Exam traps body"/>
          <p:cNvSpPr txBox="1"/>
          <p:nvPr/>
        </p:nvSpPr>
        <p:spPr>
          <a:xfrm>
            <a:off x="777240" y="2075688"/>
            <a:ext cx="10637215" cy="3131820"/>
          </a:xfrm>
          <a:prstGeom prst="rect">
            <a:avLst/>
          </a:prstGeom>
          <a:noFill/>
          <a:ln/>
        </p:spPr>
        <p:txBody>
          <a:bodyPr wrap="square" lIns="0" tIns="0" rIns="0" bIns="0" rtlCol="0" anchor="t"/>
          <a:lstStyle/>
          <a:p>
            <a:pPr marL="228600" indent="-228600">
              <a:spcAft>
                <a:spcPts val="800"/>
              </a:spcAft>
              <a:buSzPct val="100000"/>
              <a:buChar char="•"/>
            </a:pPr>
            <a:r>
              <a:rPr lang="en-US" sz="1800" dirty="0">
                <a:solidFill>
                  <a:srgbClr val="1F1F1F"/>
                </a:solidFill>
              </a:rPr>
              <a:t>Colchicine treats the flare but </a:t>
            </a:r>
            <a:r>
              <a:rPr lang="en-US" sz="1800" b="1" dirty="0">
                <a:solidFill>
                  <a:srgbClr val="1F1F1F"/>
                </a:solidFill>
              </a:rPr>
              <a:t>does not lower uric acid</a:t>
            </a:r>
            <a:r>
              <a:rPr lang="en-US" sz="1800" dirty="0">
                <a:solidFill>
                  <a:srgbClr val="1F1F1F"/>
                </a:solidFill>
              </a:rPr>
              <a:t>; probenecid is </a:t>
            </a:r>
            <a:r>
              <a:rPr lang="en-US" sz="1800" b="1" dirty="0">
                <a:solidFill>
                  <a:srgbClr val="1F1F1F"/>
                </a:solidFill>
              </a:rPr>
              <a:t>not</a:t>
            </a:r>
            <a:r>
              <a:rPr lang="en-US" sz="1800" dirty="0">
                <a:solidFill>
                  <a:srgbClr val="1F1F1F"/>
                </a:solidFill>
              </a:rPr>
              <a:t> a xanthine oxidase inhibitor.</a:t>
            </a:r>
            <a:r>
              <a:rPr lang="en-US" sz="1300" dirty="0">
                <a:solidFill>
                  <a:srgbClr val="666666"/>
                </a:solidFill>
              </a:rPr>
              <a:t>  S71</a:t>
            </a:r>
            <a:endParaRPr lang="en-US" sz="1800" dirty="0"/>
          </a:p>
          <a:p>
            <a:pPr marL="228600" indent="-228600">
              <a:spcAft>
                <a:spcPts val="800"/>
              </a:spcAft>
              <a:buSzPct val="100000"/>
              <a:buChar char="•"/>
            </a:pPr>
            <a:r>
              <a:rPr lang="en-US" sz="1800" dirty="0">
                <a:solidFill>
                  <a:srgbClr val="1F1F1F"/>
                </a:solidFill>
              </a:rPr>
              <a:t>Baclofen is a GABA-B agonist — not a calcium channel blocker in skeletal muscle (that idea belongs to dantrolene’s RyR1 site).</a:t>
            </a:r>
            <a:r>
              <a:rPr lang="en-US" sz="1300" dirty="0">
                <a:solidFill>
                  <a:srgbClr val="666666"/>
                </a:solidFill>
              </a:rPr>
              <a:t>  S71; S35</a:t>
            </a:r>
            <a:endParaRPr lang="en-US" sz="1800" dirty="0"/>
          </a:p>
          <a:p>
            <a:pPr marL="228600" indent="-228600">
              <a:spcAft>
                <a:spcPts val="800"/>
              </a:spcAft>
              <a:buSzPct val="100000"/>
              <a:buChar char="•"/>
            </a:pPr>
            <a:r>
              <a:rPr lang="en-US" sz="1800" dirty="0">
                <a:solidFill>
                  <a:srgbClr val="1F1F1F"/>
                </a:solidFill>
              </a:rPr>
              <a:t>OA in the CKD + anticoagulant + hypertension patient: oral NSAIDs carry the highest combined risk — CKD (renal/AKI risk), anticoagulant (bleeding risk), hypertension (BP/CV risk); acetaminophen or a topical NSAID is generally safer first-line.</a:t>
            </a:r>
            <a:r>
              <a:rPr lang="en-US" sz="1300" dirty="0">
                <a:solidFill>
                  <a:srgbClr val="666666"/>
                </a:solidFill>
              </a:rPr>
              <a:t>  SG U2-S</a:t>
            </a:r>
            <a:endParaRPr lang="en-US" sz="1800" dirty="0"/>
          </a:p>
          <a:p>
            <a:pPr marL="228600" indent="-228600">
              <a:spcAft>
                <a:spcPts val="800"/>
              </a:spcAft>
              <a:buSzPct val="100000"/>
              <a:buChar char="•"/>
            </a:pPr>
            <a:r>
              <a:rPr lang="en-US" sz="1800" dirty="0">
                <a:solidFill>
                  <a:srgbClr val="1F1F1F"/>
                </a:solidFill>
              </a:rPr>
              <a:t>When that patient flares with gout: an oral NSAID is still relatively contraindicated; a short corticosteroid course (oral or intra-articular) is often preferred, colchicine needs renal dose adjustment. Defer allopurinol/febuxostat until the flare resolves.</a:t>
            </a:r>
            <a:r>
              <a:rPr lang="en-US" sz="1300" dirty="0">
                <a:solidFill>
                  <a:srgbClr val="666666"/>
                </a:solidFill>
              </a:rPr>
              <a:t>  SG U2-S</a:t>
            </a:r>
            <a:endParaRPr lang="en-US" sz="1800" dirty="0"/>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name="Slide 113">
    <p:bg>
      <p:bgPr>
        <a:solidFill>
          <a:srgbClr val="FFFFFF"/>
        </a:solidFill>
      </p:bgPr>
    </p:bg>
    <p:spTree>
      <p:nvGrpSpPr>
        <p:cNvPr id="1" name=""/>
        <p:cNvGrpSpPr/>
        <p:nvPr/>
      </p:nvGrpSpPr>
      <p:grpSpPr>
        <a:xfrm>
          <a:off x="0" y="0"/>
          <a:ext cx="0" cy="0"/>
          <a:chOff x="0" y="0"/>
          <a:chExt cx="0" cy="0"/>
        </a:xfrm>
      </p:grpSpPr>
      <p:sp>
        <p:nvSpPr>
          <p:cNvPr id="2" name="Kicker"/>
          <p:cNvSpPr txBox="1"/>
          <p:nvPr/>
        </p:nvSpPr>
        <p:spPr>
          <a:xfrm>
            <a:off x="548640" y="292608"/>
            <a:ext cx="8076895" cy="274320"/>
          </a:xfrm>
          <a:prstGeom prst="rect">
            <a:avLst/>
          </a:prstGeom>
          <a:noFill/>
          <a:ln/>
        </p:spPr>
        <p:txBody>
          <a:bodyPr wrap="square" lIns="0" tIns="0" rIns="0" bIns="0" rtlCol="0" anchor="ctr"/>
          <a:lstStyle/>
          <a:p>
            <a:pPr indent="0" marL="0">
              <a:buNone/>
            </a:pPr>
            <a:r>
              <a:rPr lang="en-US" sz="1200" b="1" spc="100" kern="0" dirty="0">
                <a:solidFill>
                  <a:srgbClr val="4472C4"/>
                </a:solidFill>
              </a:rPr>
              <a:t>PUTTING IT ALL TOGETHER: MUSCULOSKELETAL TOOLKIT</a:t>
            </a:r>
            <a:endParaRPr lang="en-US" sz="1200" dirty="0"/>
          </a:p>
        </p:txBody>
      </p:sp>
      <p:sp>
        <p:nvSpPr>
          <p:cNvPr id="3" name="Title"/>
          <p:cNvSpPr txBox="1"/>
          <p:nvPr/>
        </p:nvSpPr>
        <p:spPr>
          <a:xfrm>
            <a:off x="548640" y="566928"/>
            <a:ext cx="8076895" cy="713232"/>
          </a:xfrm>
          <a:prstGeom prst="rect">
            <a:avLst/>
          </a:prstGeom>
          <a:noFill/>
          <a:ln/>
        </p:spPr>
        <p:txBody>
          <a:bodyPr wrap="square" lIns="0" tIns="0" rIns="0" bIns="0" rtlCol="0" anchor="t"/>
          <a:lstStyle/>
          <a:p>
            <a:pPr indent="0" marL="0">
              <a:buNone/>
            </a:pPr>
            <a:r>
              <a:rPr lang="en-US" sz="2200" b="1" dirty="0">
                <a:solidFill>
                  <a:srgbClr val="1F1F1F"/>
                </a:solidFill>
                <a:latin typeface="Calibri" pitchFamily="34" charset="0"/>
                <a:ea typeface="Calibri" pitchFamily="34" charset="-122"/>
                <a:cs typeface="Calibri" pitchFamily="34" charset="-120"/>
              </a:rPr>
              <a:t>Compare: Study-guide mechanism drill: for each drug, write its primary mechanism of action</a:t>
            </a:r>
            <a:endParaRPr lang="en-US" sz="2200" dirty="0"/>
          </a:p>
        </p:txBody>
      </p:sp>
      <p:sp>
        <p:nvSpPr>
          <p:cNvPr id="4" name="Objective chip"/>
          <p:cNvSpPr/>
          <p:nvPr/>
        </p:nvSpPr>
        <p:spPr>
          <a:xfrm>
            <a:off x="8899855" y="365760"/>
            <a:ext cx="2743200" cy="384048"/>
          </a:xfrm>
          <a:prstGeom prst="roundRect">
            <a:avLst>
              <a:gd name="adj" fmla="val 35714"/>
            </a:avLst>
          </a:prstGeom>
          <a:solidFill>
            <a:srgbClr val="E3EBF8"/>
          </a:solidFill>
          <a:ln/>
        </p:spPr>
        <p:txBody>
          <a:bodyPr wrap="square" lIns="25400" tIns="25400" rIns="25400" bIns="25400" rtlCol="0" anchor="ctr"/>
          <a:lstStyle/>
          <a:p>
            <a:pPr algn="ctr" indent="0" marL="0">
              <a:buNone/>
            </a:pPr>
            <a:r>
              <a:rPr lang="en-US" sz="1200" b="1" dirty="0">
                <a:solidFill>
                  <a:srgbClr val="2F4F8A"/>
                </a:solidFill>
              </a:rPr>
              <a:t>Objectives: SO5 · IO2.3 · IO2.4</a:t>
            </a:r>
            <a:endParaRPr lang="en-US" sz="1200" dirty="0"/>
          </a:p>
        </p:txBody>
      </p:sp>
      <p:sp>
        <p:nvSpPr>
          <p:cNvPr id="5" name="Footer"/>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1000" dirty="0">
                <a:solidFill>
                  <a:srgbClr val="666666"/>
                </a:solidFill>
              </a:rPr>
              <a:t>L04 · Musculoskeletal Pharmacology — Session 2</a:t>
            </a:r>
            <a:endParaRPr lang="en-US" sz="1000" dirty="0"/>
          </a:p>
        </p:txBody>
      </p:sp>
      <p:sp>
        <p:nvSpPr>
          <p:cNvPr id="6" name="Slide number"/>
          <p:cNvSpPr txBox="1"/>
          <p:nvPr/>
        </p:nvSpPr>
        <p:spPr>
          <a:xfrm>
            <a:off x="10728655" y="6419088"/>
            <a:ext cx="914400" cy="274320"/>
          </a:xfrm>
          <a:prstGeom prst="rect">
            <a:avLst/>
          </a:prstGeom>
          <a:noFill/>
          <a:ln/>
        </p:spPr>
        <p:txBody>
          <a:bodyPr wrap="square" lIns="0" tIns="0" rIns="0" bIns="0" rtlCol="0" anchor="ctr"/>
          <a:lstStyle/>
          <a:p>
            <a:pPr algn="r" indent="0" marL="0">
              <a:buNone/>
            </a:pPr>
            <a:r>
              <a:rPr lang="en-US" sz="1000" dirty="0">
                <a:solidFill>
                  <a:srgbClr val="666666"/>
                </a:solidFill>
              </a:rPr>
              <a:t>113</a:t>
            </a:r>
            <a:endParaRPr lang="en-US" sz="1000" dirty="0"/>
          </a:p>
        </p:txBody>
      </p:sp>
      <p:graphicFrame>
        <p:nvGraphicFramePr>
          <p:cNvPr id="114" name="Comparison table"/>
          <p:cNvGraphicFramePr>
            <a:graphicFrameLocks noGrp="1"/>
          </p:cNvGraphicFramePr>
          <p:nvPr>
            <p:extLst>
              <p:ext uri="{D42A27DB-BD31-4B8C-83A1-F6EECF244321}">
                <p14:modId xmlns:p14="http://schemas.microsoft.com/office/powerpoint/2010/main" val="1579011935"/>
              </p:ext>
            </p:extLst>
          </p:nvPr>
        </p:nvGraphicFramePr>
        <p:xfrm>
          <a:off x="548640" y="1325880"/>
          <a:ext cx="11094415" cy="914400"/>
        </p:xfrm>
        <a:graphic>
          <a:graphicData uri="http://schemas.openxmlformats.org/drawingml/2006/table">
            <a:tbl>
              <a:tblPr/>
              <a:tblGrid>
                <a:gridCol w="2377440"/>
                <a:gridCol w="8716975"/>
              </a:tblGrid>
              <a:tr h="0">
                <a:tc>
                  <a:txBody>
                    <a:bodyPr/>
                    <a:lstStyle/>
                    <a:p>
                      <a:pPr indent="0" marL="0">
                        <a:buNone/>
                      </a:pPr>
                      <a:r>
                        <a:rPr lang="en-US" sz="1600" b="1" dirty="0">
                          <a:solidFill>
                            <a:srgbClr val="FFFFFF"/>
                          </a:solidFill>
                        </a:rPr>
                        <a:t>Drug</a:t>
                      </a:r>
                      <a:endParaRPr lang="en-US" sz="16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4472C4"/>
                    </a:solidFill>
                  </a:tcPr>
                </a:tc>
                <a:tc>
                  <a:txBody>
                    <a:bodyPr/>
                    <a:lstStyle/>
                    <a:p>
                      <a:pPr indent="0" marL="0">
                        <a:buNone/>
                      </a:pPr>
                      <a:r>
                        <a:rPr lang="en-US" sz="1600" b="1" dirty="0">
                          <a:solidFill>
                            <a:srgbClr val="FFFFFF"/>
                          </a:solidFill>
                        </a:rPr>
                        <a:t>Mechanism (your answer)</a:t>
                      </a:r>
                      <a:endParaRPr lang="en-US" sz="16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4472C4"/>
                    </a:solidFill>
                  </a:tcPr>
                </a:tc>
              </a:tr>
              <a:tr h="0">
                <a:tc>
                  <a:txBody>
                    <a:bodyPr/>
                    <a:lstStyle/>
                    <a:p>
                      <a:pPr indent="0" marL="0">
                        <a:buNone/>
                      </a:pPr>
                      <a:r>
                        <a:rPr lang="en-US" sz="1600" b="1" dirty="0">
                          <a:solidFill>
                            <a:srgbClr val="1F1F1F"/>
                          </a:solidFill>
                        </a:rPr>
                        <a:t>Methotrexate</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2F4F7"/>
                    </a:solidFill>
                  </a:tcPr>
                </a:tc>
                <a:tc>
                  <a:txBody>
                    <a:bodyPr/>
                    <a:lstStyle/>
                    <a:p>
                      <a:pPr indent="0" marL="0">
                        <a:buNone/>
                      </a:pPr>
                      <a:r>
                        <a:rPr lang="en-US" sz="1600" dirty="0">
                          <a:solidFill>
                            <a:srgbClr val="1F1F1F"/>
                          </a:solidFill>
                        </a:rPr>
                        <a:t>Inhibits dihydrofolate reductase (Session 1)</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2F4F7"/>
                    </a:solidFill>
                  </a:tcPr>
                </a:tc>
              </a:tr>
              <a:tr h="0">
                <a:tc>
                  <a:txBody>
                    <a:bodyPr/>
                    <a:lstStyle/>
                    <a:p>
                      <a:pPr indent="0" marL="0">
                        <a:buNone/>
                      </a:pPr>
                      <a:r>
                        <a:rPr lang="en-US" sz="1600" b="1" dirty="0">
                          <a:solidFill>
                            <a:srgbClr val="1F1F1F"/>
                          </a:solidFill>
                        </a:rPr>
                        <a:t>Colchicine</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FFFFF"/>
                    </a:solidFill>
                  </a:tcPr>
                </a:tc>
                <a:tc>
                  <a:txBody>
                    <a:bodyPr/>
                    <a:lstStyle/>
                    <a:p>
                      <a:pPr indent="0" marL="0">
                        <a:buNone/>
                      </a:pPr>
                      <a:r>
                        <a:rPr lang="en-US" sz="1600" dirty="0">
                          <a:solidFill>
                            <a:srgbClr val="1F1F1F"/>
                          </a:solidFill>
                        </a:rPr>
                        <a:t>Disrupts neutrophil microtubule formation</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FFFFF"/>
                    </a:solidFill>
                  </a:tcPr>
                </a:tc>
              </a:tr>
              <a:tr h="0">
                <a:tc>
                  <a:txBody>
                    <a:bodyPr/>
                    <a:lstStyle/>
                    <a:p>
                      <a:pPr indent="0" marL="0">
                        <a:buNone/>
                      </a:pPr>
                      <a:r>
                        <a:rPr lang="en-US" sz="1600" b="1" dirty="0">
                          <a:solidFill>
                            <a:srgbClr val="1F1F1F"/>
                          </a:solidFill>
                        </a:rPr>
                        <a:t>Dantrolene</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2F4F7"/>
                    </a:solidFill>
                  </a:tcPr>
                </a:tc>
                <a:tc>
                  <a:txBody>
                    <a:bodyPr/>
                    <a:lstStyle/>
                    <a:p>
                      <a:pPr indent="0" marL="0">
                        <a:buNone/>
                      </a:pPr>
                      <a:r>
                        <a:rPr lang="en-US" sz="1600" dirty="0">
                          <a:solidFill>
                            <a:srgbClr val="1F1F1F"/>
                          </a:solidFill>
                        </a:rPr>
                        <a:t>Decreases SR calcium release</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2F4F7"/>
                    </a:solidFill>
                  </a:tcPr>
                </a:tc>
              </a:tr>
              <a:tr h="0">
                <a:tc>
                  <a:txBody>
                    <a:bodyPr/>
                    <a:lstStyle/>
                    <a:p>
                      <a:pPr indent="0" marL="0">
                        <a:buNone/>
                      </a:pPr>
                      <a:r>
                        <a:rPr lang="en-US" sz="1600" b="1" dirty="0">
                          <a:solidFill>
                            <a:srgbClr val="1F1F1F"/>
                          </a:solidFill>
                        </a:rPr>
                        <a:t>Baclofen</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FFFFF"/>
                    </a:solidFill>
                  </a:tcPr>
                </a:tc>
                <a:tc>
                  <a:txBody>
                    <a:bodyPr/>
                    <a:lstStyle/>
                    <a:p>
                      <a:pPr indent="0" marL="0">
                        <a:buNone/>
                      </a:pPr>
                      <a:r>
                        <a:rPr lang="en-US" sz="1600" dirty="0">
                          <a:solidFill>
                            <a:srgbClr val="1F1F1F"/>
                          </a:solidFill>
                        </a:rPr>
                        <a:t>GABA-B agonist (spinal cord)</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FFFFF"/>
                    </a:solidFill>
                  </a:tcPr>
                </a:tc>
              </a:tr>
              <a:tr h="0">
                <a:tc>
                  <a:txBody>
                    <a:bodyPr/>
                    <a:lstStyle/>
                    <a:p>
                      <a:pPr indent="0" marL="0">
                        <a:buNone/>
                      </a:pPr>
                      <a:r>
                        <a:rPr lang="en-US" sz="1600" b="1" dirty="0">
                          <a:solidFill>
                            <a:srgbClr val="1F1F1F"/>
                          </a:solidFill>
                        </a:rPr>
                        <a:t>Teriparatide</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2F4F7"/>
                    </a:solidFill>
                  </a:tcPr>
                </a:tc>
                <a:tc>
                  <a:txBody>
                    <a:bodyPr/>
                    <a:lstStyle/>
                    <a:p>
                      <a:pPr indent="0" marL="0">
                        <a:buNone/>
                      </a:pPr>
                      <a:r>
                        <a:rPr lang="en-US" sz="1600" dirty="0">
                          <a:solidFill>
                            <a:srgbClr val="1F1F1F"/>
                          </a:solidFill>
                        </a:rPr>
                        <a:t>PTH analog — stimulates osteoblast bone formation</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2F4F7"/>
                    </a:solidFill>
                  </a:tcPr>
                </a:tc>
              </a:tr>
              <a:tr h="0">
                <a:tc>
                  <a:txBody>
                    <a:bodyPr/>
                    <a:lstStyle/>
                    <a:p>
                      <a:pPr indent="0" marL="0">
                        <a:buNone/>
                      </a:pPr>
                      <a:r>
                        <a:rPr lang="en-US" sz="1600" b="1" dirty="0">
                          <a:solidFill>
                            <a:srgbClr val="1F1F1F"/>
                          </a:solidFill>
                        </a:rPr>
                        <a:t>Denosumab</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FFFFF"/>
                    </a:solidFill>
                  </a:tcPr>
                </a:tc>
                <a:tc>
                  <a:txBody>
                    <a:bodyPr/>
                    <a:lstStyle/>
                    <a:p>
                      <a:pPr indent="0" marL="0">
                        <a:buNone/>
                      </a:pPr>
                      <a:r>
                        <a:rPr lang="en-US" sz="1600" dirty="0">
                          <a:solidFill>
                            <a:srgbClr val="1F1F1F"/>
                          </a:solidFill>
                        </a:rPr>
                        <a:t>RANKL inhibitor — blocks osteoclast formation</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FFFFF"/>
                    </a:solidFill>
                  </a:tcPr>
                </a:tc>
              </a:tr>
              <a:tr h="0">
                <a:tc>
                  <a:txBody>
                    <a:bodyPr/>
                    <a:lstStyle/>
                    <a:p>
                      <a:pPr indent="0" marL="0">
                        <a:buNone/>
                      </a:pPr>
                      <a:r>
                        <a:rPr lang="en-US" sz="1600" b="1" dirty="0">
                          <a:solidFill>
                            <a:srgbClr val="1F1F1F"/>
                          </a:solidFill>
                        </a:rPr>
                        <a:t>Abatacept</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2F4F7"/>
                    </a:solidFill>
                  </a:tcPr>
                </a:tc>
                <a:tc>
                  <a:txBody>
                    <a:bodyPr/>
                    <a:lstStyle/>
                    <a:p>
                      <a:pPr indent="0" marL="0">
                        <a:buNone/>
                      </a:pPr>
                      <a:r>
                        <a:rPr lang="en-US" sz="1600" dirty="0">
                          <a:solidFill>
                            <a:srgbClr val="1F1F1F"/>
                          </a:solidFill>
                        </a:rPr>
                        <a:t>Blocks T-cell costimulation (Session 1)</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2F4F7"/>
                    </a:solidFill>
                  </a:tcPr>
                </a:tc>
              </a:tr>
              <a:tr h="0">
                <a:tc>
                  <a:txBody>
                    <a:bodyPr/>
                    <a:lstStyle/>
                    <a:p>
                      <a:pPr indent="0" marL="0">
                        <a:buNone/>
                      </a:pPr>
                      <a:r>
                        <a:rPr lang="en-US" sz="1600" b="1" dirty="0">
                          <a:solidFill>
                            <a:srgbClr val="1F1F1F"/>
                          </a:solidFill>
                        </a:rPr>
                        <a:t>Spironolactone (as used for hirsutism/acne)</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FFFFF"/>
                    </a:solidFill>
                  </a:tcPr>
                </a:tc>
                <a:tc>
                  <a:txBody>
                    <a:bodyPr/>
                    <a:lstStyle/>
                    <a:p>
                      <a:pPr indent="0" marL="0">
                        <a:buNone/>
                      </a:pPr>
                      <a:r>
                        <a:rPr lang="en-US" sz="1600" dirty="0">
                          <a:solidFill>
                            <a:srgbClr val="1F1F1F"/>
                          </a:solidFill>
                        </a:rPr>
                        <a:t>Blocks the androgen receptor (antiandrogen effect)</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FFFFF"/>
                    </a:solidFill>
                  </a:tcPr>
                </a:tc>
              </a:tr>
            </a:tbl>
          </a:graphicData>
        </a:graphic>
      </p:graphicFrame>
      <p:sp>
        <p:nvSpPr>
          <p:cNvPr id="8" name="Table sources"/>
          <p:cNvSpPr txBox="1"/>
          <p:nvPr/>
        </p:nvSpPr>
        <p:spPr>
          <a:xfrm>
            <a:off x="548640" y="5094224"/>
            <a:ext cx="11094415" cy="274320"/>
          </a:xfrm>
          <a:prstGeom prst="rect">
            <a:avLst/>
          </a:prstGeom>
          <a:noFill/>
          <a:ln/>
        </p:spPr>
        <p:txBody>
          <a:bodyPr wrap="square" lIns="0" tIns="0" rIns="0" bIns="0" rtlCol="0" anchor="ctr"/>
          <a:lstStyle/>
          <a:p>
            <a:pPr indent="0" marL="0">
              <a:buNone/>
            </a:pPr>
            <a:r>
              <a:rPr lang="en-US" sz="1100" dirty="0">
                <a:solidFill>
                  <a:srgbClr val="666666"/>
                </a:solidFill>
              </a:rPr>
              <a:t>Focus: what tells these apart.  Sources: SG U2-M</a:t>
            </a:r>
            <a:endParaRPr lang="en-US" sz="1100" dirty="0"/>
          </a:p>
        </p:txBody>
      </p:sp>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name="Slide 114">
    <p:bg>
      <p:bgPr>
        <a:solidFill>
          <a:srgbClr val="FFFFFF"/>
        </a:solidFill>
      </p:bgPr>
    </p:bg>
    <p:spTree>
      <p:nvGrpSpPr>
        <p:cNvPr id="1" name=""/>
        <p:cNvGrpSpPr/>
        <p:nvPr/>
      </p:nvGrpSpPr>
      <p:grpSpPr>
        <a:xfrm>
          <a:off x="0" y="0"/>
          <a:ext cx="0" cy="0"/>
          <a:chOff x="0" y="0"/>
          <a:chExt cx="0" cy="0"/>
        </a:xfrm>
      </p:grpSpPr>
      <p:sp>
        <p:nvSpPr>
          <p:cNvPr id="2" name="Kicker"/>
          <p:cNvSpPr txBox="1"/>
          <p:nvPr/>
        </p:nvSpPr>
        <p:spPr>
          <a:xfrm>
            <a:off x="548640" y="292608"/>
            <a:ext cx="8076895" cy="274320"/>
          </a:xfrm>
          <a:prstGeom prst="rect">
            <a:avLst/>
          </a:prstGeom>
          <a:noFill/>
          <a:ln/>
        </p:spPr>
        <p:txBody>
          <a:bodyPr wrap="square" lIns="0" tIns="0" rIns="0" bIns="0" rtlCol="0" anchor="ctr"/>
          <a:lstStyle/>
          <a:p>
            <a:pPr indent="0" marL="0">
              <a:buNone/>
            </a:pPr>
            <a:r>
              <a:rPr lang="en-US" sz="1200" b="1" spc="100" kern="0" dirty="0">
                <a:solidFill>
                  <a:srgbClr val="4472C4"/>
                </a:solidFill>
              </a:rPr>
              <a:t>PUTTING IT ALL TOGETHER: MUSCULOSKELETAL TOOLKIT</a:t>
            </a:r>
            <a:endParaRPr lang="en-US" sz="1200" dirty="0"/>
          </a:p>
        </p:txBody>
      </p:sp>
      <p:sp>
        <p:nvSpPr>
          <p:cNvPr id="3" name="Title"/>
          <p:cNvSpPr txBox="1"/>
          <p:nvPr/>
        </p:nvSpPr>
        <p:spPr>
          <a:xfrm>
            <a:off x="548640" y="566928"/>
            <a:ext cx="8076895" cy="713232"/>
          </a:xfrm>
          <a:prstGeom prst="rect">
            <a:avLst/>
          </a:prstGeom>
          <a:noFill/>
          <a:ln/>
        </p:spPr>
        <p:txBody>
          <a:bodyPr wrap="square" lIns="0" tIns="0" rIns="0" bIns="0" rtlCol="0" anchor="t"/>
          <a:lstStyle/>
          <a:p>
            <a:pPr indent="0" marL="0">
              <a:buNone/>
            </a:pPr>
            <a:r>
              <a:rPr lang="en-US" sz="3000" b="1" dirty="0">
                <a:solidFill>
                  <a:srgbClr val="1F1F1F"/>
                </a:solidFill>
                <a:latin typeface="Calibri" pitchFamily="34" charset="0"/>
                <a:ea typeface="Calibri" pitchFamily="34" charset="-122"/>
                <a:cs typeface="Calibri" pitchFamily="34" charset="-120"/>
              </a:rPr>
              <a:t>Compare: Which drug would you choose? (S64)</a:t>
            </a:r>
            <a:endParaRPr lang="en-US" sz="3000" dirty="0"/>
          </a:p>
        </p:txBody>
      </p:sp>
      <p:sp>
        <p:nvSpPr>
          <p:cNvPr id="4" name="Objective chip"/>
          <p:cNvSpPr/>
          <p:nvPr/>
        </p:nvSpPr>
        <p:spPr>
          <a:xfrm>
            <a:off x="8899855" y="365760"/>
            <a:ext cx="2743200" cy="384048"/>
          </a:xfrm>
          <a:prstGeom prst="roundRect">
            <a:avLst>
              <a:gd name="adj" fmla="val 35714"/>
            </a:avLst>
          </a:prstGeom>
          <a:solidFill>
            <a:srgbClr val="E3EBF8"/>
          </a:solidFill>
          <a:ln/>
        </p:spPr>
        <p:txBody>
          <a:bodyPr wrap="square" lIns="25400" tIns="25400" rIns="25400" bIns="25400" rtlCol="0" anchor="ctr"/>
          <a:lstStyle/>
          <a:p>
            <a:pPr algn="ctr" indent="0" marL="0">
              <a:buNone/>
            </a:pPr>
            <a:r>
              <a:rPr lang="en-US" sz="1200" b="1" dirty="0">
                <a:solidFill>
                  <a:srgbClr val="2F4F8A"/>
                </a:solidFill>
              </a:rPr>
              <a:t>Objectives: SO5 · IO2.3 · IO2.4</a:t>
            </a:r>
            <a:endParaRPr lang="en-US" sz="1200" dirty="0"/>
          </a:p>
        </p:txBody>
      </p:sp>
      <p:sp>
        <p:nvSpPr>
          <p:cNvPr id="5" name="Footer"/>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1000" dirty="0">
                <a:solidFill>
                  <a:srgbClr val="666666"/>
                </a:solidFill>
              </a:rPr>
              <a:t>L04 · Musculoskeletal Pharmacology — Session 2</a:t>
            </a:r>
            <a:endParaRPr lang="en-US" sz="1000" dirty="0"/>
          </a:p>
        </p:txBody>
      </p:sp>
      <p:sp>
        <p:nvSpPr>
          <p:cNvPr id="6" name="Slide number"/>
          <p:cNvSpPr txBox="1"/>
          <p:nvPr/>
        </p:nvSpPr>
        <p:spPr>
          <a:xfrm>
            <a:off x="10728655" y="6419088"/>
            <a:ext cx="914400" cy="274320"/>
          </a:xfrm>
          <a:prstGeom prst="rect">
            <a:avLst/>
          </a:prstGeom>
          <a:noFill/>
          <a:ln/>
        </p:spPr>
        <p:txBody>
          <a:bodyPr wrap="square" lIns="0" tIns="0" rIns="0" bIns="0" rtlCol="0" anchor="ctr"/>
          <a:lstStyle/>
          <a:p>
            <a:pPr algn="r" indent="0" marL="0">
              <a:buNone/>
            </a:pPr>
            <a:r>
              <a:rPr lang="en-US" sz="1000" dirty="0">
                <a:solidFill>
                  <a:srgbClr val="666666"/>
                </a:solidFill>
              </a:rPr>
              <a:t>114</a:t>
            </a:r>
            <a:endParaRPr lang="en-US" sz="1000" dirty="0"/>
          </a:p>
        </p:txBody>
      </p:sp>
      <p:graphicFrame>
        <p:nvGraphicFramePr>
          <p:cNvPr id="115" name="Comparison table"/>
          <p:cNvGraphicFramePr>
            <a:graphicFrameLocks noGrp="1"/>
          </p:cNvGraphicFramePr>
          <p:nvPr>
            <p:extLst>
              <p:ext uri="{D42A27DB-BD31-4B8C-83A1-F6EECF244321}">
                <p14:modId xmlns:p14="http://schemas.microsoft.com/office/powerpoint/2010/main" val="1579011935"/>
              </p:ext>
            </p:extLst>
          </p:nvPr>
        </p:nvGraphicFramePr>
        <p:xfrm>
          <a:off x="548640" y="1325880"/>
          <a:ext cx="11094415" cy="914400"/>
        </p:xfrm>
        <a:graphic>
          <a:graphicData uri="http://schemas.openxmlformats.org/drawingml/2006/table">
            <a:tbl>
              <a:tblPr/>
              <a:tblGrid>
                <a:gridCol w="2377440"/>
                <a:gridCol w="4358488"/>
                <a:gridCol w="4358488"/>
              </a:tblGrid>
              <a:tr h="0">
                <a:tc>
                  <a:txBody>
                    <a:bodyPr/>
                    <a:lstStyle/>
                    <a:p>
                      <a:pPr indent="0" marL="0">
                        <a:buNone/>
                      </a:pPr>
                      <a:r>
                        <a:rPr lang="en-US" sz="1600" b="1" dirty="0">
                          <a:solidFill>
                            <a:srgbClr val="FFFFFF"/>
                          </a:solidFill>
                        </a:rPr>
                        <a:t>Patient</a:t>
                      </a:r>
                      <a:endParaRPr lang="en-US" sz="16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4472C4"/>
                    </a:solidFill>
                  </a:tcPr>
                </a:tc>
                <a:tc>
                  <a:txBody>
                    <a:bodyPr/>
                    <a:lstStyle/>
                    <a:p>
                      <a:pPr indent="0" marL="0">
                        <a:buNone/>
                      </a:pPr>
                      <a:r>
                        <a:rPr lang="en-US" sz="1600" b="1" dirty="0">
                          <a:solidFill>
                            <a:srgbClr val="FFFFFF"/>
                          </a:solidFill>
                        </a:rPr>
                        <a:t>First-line class</a:t>
                      </a:r>
                      <a:endParaRPr lang="en-US" sz="16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4472C4"/>
                    </a:solidFill>
                  </a:tcPr>
                </a:tc>
                <a:tc>
                  <a:txBody>
                    <a:bodyPr/>
                    <a:lstStyle/>
                    <a:p>
                      <a:pPr indent="0" marL="0">
                        <a:buNone/>
                      </a:pPr>
                      <a:r>
                        <a:rPr lang="en-US" sz="1600" b="1" dirty="0">
                          <a:solidFill>
                            <a:srgbClr val="FFFFFF"/>
                          </a:solidFill>
                        </a:rPr>
                        <a:t>Biggest safety check</a:t>
                      </a:r>
                      <a:endParaRPr lang="en-US" sz="16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4472C4"/>
                    </a:solidFill>
                  </a:tcPr>
                </a:tc>
              </a:tr>
              <a:tr h="0">
                <a:tc>
                  <a:txBody>
                    <a:bodyPr/>
                    <a:lstStyle/>
                    <a:p>
                      <a:pPr indent="0" marL="0">
                        <a:buNone/>
                      </a:pPr>
                      <a:r>
                        <a:rPr lang="en-US" sz="1600" b="1" dirty="0">
                          <a:solidFill>
                            <a:srgbClr val="1F1F1F"/>
                          </a:solidFill>
                        </a:rPr>
                        <a:t>A · Acute gout flare, first presentation</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2F4F7"/>
                    </a:solidFill>
                  </a:tcPr>
                </a:tc>
                <a:tc>
                  <a:txBody>
                    <a:bodyPr/>
                    <a:lstStyle/>
                    <a:p>
                      <a:pPr indent="0" marL="0">
                        <a:buNone/>
                      </a:pPr>
                      <a:r>
                        <a:rPr lang="en-US" sz="1600" dirty="0">
                          <a:solidFill>
                            <a:srgbClr val="1F1F1F"/>
                          </a:solidFill>
                        </a:rPr>
                        <a:t>Colchicine, NSAID, or corticosteroid</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2F4F7"/>
                    </a:solidFill>
                  </a:tcPr>
                </a:tc>
                <a:tc>
                  <a:txBody>
                    <a:bodyPr/>
                    <a:lstStyle/>
                    <a:p>
                      <a:pPr indent="0" marL="0">
                        <a:buNone/>
                      </a:pPr>
                      <a:r>
                        <a:rPr lang="en-US" sz="1600" dirty="0">
                          <a:solidFill>
                            <a:srgbClr val="1F1F1F"/>
                          </a:solidFill>
                        </a:rPr>
                        <a:t>Defer ULT; colchicine renal/hepatic dosing and CYP3A4/P-gp inhibitors</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2F4F7"/>
                    </a:solidFill>
                  </a:tcPr>
                </a:tc>
              </a:tr>
              <a:tr h="0">
                <a:tc>
                  <a:txBody>
                    <a:bodyPr/>
                    <a:lstStyle/>
                    <a:p>
                      <a:pPr indent="0" marL="0">
                        <a:buNone/>
                      </a:pPr>
                      <a:r>
                        <a:rPr lang="en-US" sz="1600" b="1" dirty="0">
                          <a:solidFill>
                            <a:srgbClr val="1F1F1F"/>
                          </a:solidFill>
                        </a:rPr>
                        <a:t>B · Chronic RA, inadequately controlled</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FFFFF"/>
                    </a:solidFill>
                  </a:tcPr>
                </a:tc>
                <a:tc>
                  <a:txBody>
                    <a:bodyPr/>
                    <a:lstStyle/>
                    <a:p>
                      <a:pPr indent="0" marL="0">
                        <a:buNone/>
                      </a:pPr>
                      <a:r>
                        <a:rPr lang="en-US" sz="1600" dirty="0">
                          <a:solidFill>
                            <a:srgbClr val="1F1F1F"/>
                          </a:solidFill>
                        </a:rPr>
                        <a:t>Add/escalate DMARD (biologic)</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FFFFF"/>
                    </a:solidFill>
                  </a:tcPr>
                </a:tc>
                <a:tc>
                  <a:txBody>
                    <a:bodyPr/>
                    <a:lstStyle/>
                    <a:p>
                      <a:pPr indent="0" marL="0">
                        <a:buNone/>
                      </a:pPr>
                      <a:r>
                        <a:rPr lang="en-US" sz="1600" dirty="0">
                          <a:solidFill>
                            <a:srgbClr val="1F1F1F"/>
                          </a:solidFill>
                        </a:rPr>
                        <a:t>Infection: TB and hepatitis screening; fever = infection until proven otherwise</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FFFFF"/>
                    </a:solidFill>
                  </a:tcPr>
                </a:tc>
              </a:tr>
              <a:tr h="0">
                <a:tc>
                  <a:txBody>
                    <a:bodyPr/>
                    <a:lstStyle/>
                    <a:p>
                      <a:pPr indent="0" marL="0">
                        <a:buNone/>
                      </a:pPr>
                      <a:r>
                        <a:rPr lang="en-US" sz="1600" b="1" dirty="0">
                          <a:solidFill>
                            <a:srgbClr val="1F1F1F"/>
                          </a:solidFill>
                        </a:rPr>
                        <a:t>C · Osteoarthritis + CKD</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2F4F7"/>
                    </a:solidFill>
                  </a:tcPr>
                </a:tc>
                <a:tc>
                  <a:txBody>
                    <a:bodyPr/>
                    <a:lstStyle/>
                    <a:p>
                      <a:pPr indent="0" marL="0">
                        <a:buNone/>
                      </a:pPr>
                      <a:r>
                        <a:rPr lang="en-US" sz="1600" dirty="0">
                          <a:solidFill>
                            <a:srgbClr val="1F1F1F"/>
                          </a:solidFill>
                        </a:rPr>
                        <a:t>Acetaminophen or topical NSAID</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2F4F7"/>
                    </a:solidFill>
                  </a:tcPr>
                </a:tc>
                <a:tc>
                  <a:txBody>
                    <a:bodyPr/>
                    <a:lstStyle/>
                    <a:p>
                      <a:pPr indent="0" marL="0">
                        <a:buNone/>
                      </a:pPr>
                      <a:r>
                        <a:rPr lang="en-US" sz="1600" dirty="0">
                          <a:solidFill>
                            <a:srgbClr val="1F1F1F"/>
                          </a:solidFill>
                        </a:rPr>
                        <a:t>Avoid oral NSAIDs (AKI)</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2F4F7"/>
                    </a:solidFill>
                  </a:tcPr>
                </a:tc>
              </a:tr>
              <a:tr h="0">
                <a:tc>
                  <a:txBody>
                    <a:bodyPr/>
                    <a:lstStyle/>
                    <a:p>
                      <a:pPr indent="0" marL="0">
                        <a:buNone/>
                      </a:pPr>
                      <a:r>
                        <a:rPr lang="en-US" sz="1600" b="1" dirty="0">
                          <a:solidFill>
                            <a:srgbClr val="1F1F1F"/>
                          </a:solidFill>
                        </a:rPr>
                        <a:t>D · Postmenopausal osteoporosis, high fracture risk</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FFFFF"/>
                    </a:solidFill>
                  </a:tcPr>
                </a:tc>
                <a:tc>
                  <a:txBody>
                    <a:bodyPr/>
                    <a:lstStyle/>
                    <a:p>
                      <a:pPr indent="0" marL="0">
                        <a:buNone/>
                      </a:pPr>
                      <a:r>
                        <a:rPr lang="en-US" sz="1600" dirty="0">
                          <a:solidFill>
                            <a:srgbClr val="1F1F1F"/>
                          </a:solidFill>
                        </a:rPr>
                        <a:t>Anabolic agent first, then antiresorptive</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FFFFF"/>
                    </a:solidFill>
                  </a:tcPr>
                </a:tc>
                <a:tc>
                  <a:txBody>
                    <a:bodyPr/>
                    <a:lstStyle/>
                    <a:p>
                      <a:pPr indent="0" marL="0">
                        <a:buNone/>
                      </a:pPr>
                      <a:r>
                        <a:rPr lang="en-US" sz="1600" dirty="0">
                          <a:solidFill>
                            <a:srgbClr val="1F1F1F"/>
                          </a:solidFill>
                        </a:rPr>
                        <a:t>Teriparatide 2-year limit; romosozumab boxed CV warning; renal function</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FFFFF"/>
                    </a:solidFill>
                  </a:tcPr>
                </a:tc>
              </a:tr>
            </a:tbl>
          </a:graphicData>
        </a:graphic>
      </p:graphicFrame>
      <p:sp>
        <p:nvSpPr>
          <p:cNvPr id="8" name="Table sources"/>
          <p:cNvSpPr txBox="1"/>
          <p:nvPr/>
        </p:nvSpPr>
        <p:spPr>
          <a:xfrm>
            <a:off x="548640" y="4334256"/>
            <a:ext cx="11094415" cy="274320"/>
          </a:xfrm>
          <a:prstGeom prst="rect">
            <a:avLst/>
          </a:prstGeom>
          <a:noFill/>
          <a:ln/>
        </p:spPr>
        <p:txBody>
          <a:bodyPr wrap="square" lIns="0" tIns="0" rIns="0" bIns="0" rtlCol="0" anchor="ctr"/>
          <a:lstStyle/>
          <a:p>
            <a:pPr indent="0" marL="0">
              <a:buNone/>
            </a:pPr>
            <a:r>
              <a:rPr lang="en-US" sz="1100" dirty="0">
                <a:solidFill>
                  <a:srgbClr val="666666"/>
                </a:solidFill>
              </a:rPr>
              <a:t>Focus: what tells these apart.  Sources: S64; S59; S55; S69–S71</a:t>
            </a:r>
            <a:endParaRPr lang="en-US" sz="1100" dirty="0"/>
          </a:p>
        </p:txBody>
      </p:sp>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name="Slide 115">
    <p:bg>
      <p:bgPr>
        <a:solidFill>
          <a:srgbClr val="FFFFFF"/>
        </a:solidFill>
      </p:bgPr>
    </p:bg>
    <p:spTree>
      <p:nvGrpSpPr>
        <p:cNvPr id="1" name=""/>
        <p:cNvGrpSpPr/>
        <p:nvPr/>
      </p:nvGrpSpPr>
      <p:grpSpPr>
        <a:xfrm>
          <a:off x="0" y="0"/>
          <a:ext cx="0" cy="0"/>
          <a:chOff x="0" y="0"/>
          <a:chExt cx="0" cy="0"/>
        </a:xfrm>
      </p:grpSpPr>
      <p:sp>
        <p:nvSpPr>
          <p:cNvPr id="2" name="Kicker"/>
          <p:cNvSpPr txBox="1"/>
          <p:nvPr/>
        </p:nvSpPr>
        <p:spPr>
          <a:xfrm>
            <a:off x="548640" y="292608"/>
            <a:ext cx="8076895" cy="274320"/>
          </a:xfrm>
          <a:prstGeom prst="rect">
            <a:avLst/>
          </a:prstGeom>
          <a:noFill/>
          <a:ln/>
        </p:spPr>
        <p:txBody>
          <a:bodyPr wrap="square" lIns="0" tIns="0" rIns="0" bIns="0" rtlCol="0" anchor="ctr"/>
          <a:lstStyle/>
          <a:p>
            <a:pPr indent="0" marL="0">
              <a:buNone/>
            </a:pPr>
            <a:r>
              <a:rPr lang="en-US" sz="1200" b="1" spc="100" kern="0" dirty="0">
                <a:solidFill>
                  <a:srgbClr val="4472C4"/>
                </a:solidFill>
              </a:rPr>
              <a:t>PUTTING IT ALL TOGETHER: MUSCULOSKELETAL TOOLKIT</a:t>
            </a:r>
            <a:endParaRPr lang="en-US" sz="1200" dirty="0"/>
          </a:p>
        </p:txBody>
      </p:sp>
      <p:sp>
        <p:nvSpPr>
          <p:cNvPr id="3" name="Title"/>
          <p:cNvSpPr txBox="1"/>
          <p:nvPr/>
        </p:nvSpPr>
        <p:spPr>
          <a:xfrm>
            <a:off x="548640" y="566928"/>
            <a:ext cx="8076895" cy="713232"/>
          </a:xfrm>
          <a:prstGeom prst="rect">
            <a:avLst/>
          </a:prstGeom>
          <a:noFill/>
          <a:ln/>
        </p:spPr>
        <p:txBody>
          <a:bodyPr wrap="square" lIns="0" tIns="0" rIns="0" bIns="0" rtlCol="0" anchor="t"/>
          <a:lstStyle/>
          <a:p>
            <a:pPr indent="0" marL="0">
              <a:buNone/>
            </a:pPr>
            <a:r>
              <a:rPr lang="en-US" sz="3000" b="1" dirty="0">
                <a:solidFill>
                  <a:srgbClr val="1F1F1F"/>
                </a:solidFill>
                <a:latin typeface="Calibri" pitchFamily="34" charset="0"/>
                <a:ea typeface="Calibri" pitchFamily="34" charset="-122"/>
                <a:cs typeface="Calibri" pitchFamily="34" charset="-120"/>
              </a:rPr>
              <a:t>Memory hooks</a:t>
            </a:r>
            <a:endParaRPr lang="en-US" sz="3000" dirty="0"/>
          </a:p>
        </p:txBody>
      </p:sp>
      <p:sp>
        <p:nvSpPr>
          <p:cNvPr id="4" name="Objective chip"/>
          <p:cNvSpPr/>
          <p:nvPr/>
        </p:nvSpPr>
        <p:spPr>
          <a:xfrm>
            <a:off x="8899855" y="365760"/>
            <a:ext cx="2743200" cy="384048"/>
          </a:xfrm>
          <a:prstGeom prst="roundRect">
            <a:avLst>
              <a:gd name="adj" fmla="val 35714"/>
            </a:avLst>
          </a:prstGeom>
          <a:solidFill>
            <a:srgbClr val="E3EBF8"/>
          </a:solidFill>
          <a:ln/>
        </p:spPr>
        <p:txBody>
          <a:bodyPr wrap="square" lIns="25400" tIns="25400" rIns="25400" bIns="25400" rtlCol="0" anchor="ctr"/>
          <a:lstStyle/>
          <a:p>
            <a:pPr algn="ctr" indent="0" marL="0">
              <a:buNone/>
            </a:pPr>
            <a:r>
              <a:rPr lang="en-US" sz="1200" b="1" dirty="0">
                <a:solidFill>
                  <a:srgbClr val="2F4F8A"/>
                </a:solidFill>
              </a:rPr>
              <a:t>Objectives: SO5 · IO2.3 · IO2.4</a:t>
            </a:r>
            <a:endParaRPr lang="en-US" sz="1200" dirty="0"/>
          </a:p>
        </p:txBody>
      </p:sp>
      <p:sp>
        <p:nvSpPr>
          <p:cNvPr id="5" name="Footer"/>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1000" dirty="0">
                <a:solidFill>
                  <a:srgbClr val="666666"/>
                </a:solidFill>
              </a:rPr>
              <a:t>L04 · Musculoskeletal Pharmacology — Session 2</a:t>
            </a:r>
            <a:endParaRPr lang="en-US" sz="1000" dirty="0"/>
          </a:p>
        </p:txBody>
      </p:sp>
      <p:sp>
        <p:nvSpPr>
          <p:cNvPr id="6" name="Slide number"/>
          <p:cNvSpPr txBox="1"/>
          <p:nvPr/>
        </p:nvSpPr>
        <p:spPr>
          <a:xfrm>
            <a:off x="10728655" y="6419088"/>
            <a:ext cx="914400" cy="274320"/>
          </a:xfrm>
          <a:prstGeom prst="rect">
            <a:avLst/>
          </a:prstGeom>
          <a:noFill/>
          <a:ln/>
        </p:spPr>
        <p:txBody>
          <a:bodyPr wrap="square" lIns="0" tIns="0" rIns="0" bIns="0" rtlCol="0" anchor="ctr"/>
          <a:lstStyle/>
          <a:p>
            <a:pPr algn="r" indent="0" marL="0">
              <a:buNone/>
            </a:pPr>
            <a:r>
              <a:rPr lang="en-US" sz="1000" dirty="0">
                <a:solidFill>
                  <a:srgbClr val="666666"/>
                </a:solidFill>
              </a:rPr>
              <a:t>115</a:t>
            </a:r>
            <a:endParaRPr lang="en-US" sz="1000" dirty="0"/>
          </a:p>
        </p:txBody>
      </p:sp>
      <p:sp>
        <p:nvSpPr>
          <p:cNvPr id="7" name="Mnemonic (memory aid) card"/>
          <p:cNvSpPr/>
          <p:nvPr/>
        </p:nvSpPr>
        <p:spPr>
          <a:xfrm>
            <a:off x="548640" y="1325880"/>
            <a:ext cx="5364328" cy="1719072"/>
          </a:xfrm>
          <a:prstGeom prst="roundRect">
            <a:avLst>
              <a:gd name="adj" fmla="val 6383"/>
            </a:avLst>
          </a:prstGeom>
          <a:solidFill>
            <a:srgbClr val="F2F4F7"/>
          </a:solidFill>
          <a:ln w="12700">
            <a:solidFill>
              <a:srgbClr val="F2F4F7"/>
            </a:solidFill>
            <a:prstDash val="solid"/>
          </a:ln>
        </p:spPr>
      </p:sp>
      <p:sp>
        <p:nvSpPr>
          <p:cNvPr id="8" name="Mnemonic (memory aid) icon circle"/>
          <p:cNvSpPr/>
          <p:nvPr/>
        </p:nvSpPr>
        <p:spPr>
          <a:xfrm>
            <a:off x="777240" y="1508760"/>
            <a:ext cx="438912" cy="438912"/>
          </a:xfrm>
          <a:prstGeom prst="ellipse">
            <a:avLst/>
          </a:prstGeom>
          <a:solidFill>
            <a:srgbClr val="7030A0"/>
          </a:solidFill>
          <a:ln w="12700">
            <a:solidFill>
              <a:srgbClr val="7030A0"/>
            </a:solidFill>
            <a:prstDash val="solid"/>
          </a:ln>
        </p:spPr>
      </p:sp>
      <p:pic>
        <p:nvPicPr>
          <p:cNvPr id="9" name="Mnemonic (memory aid) icon" descr="preencoded.png">    </p:cNvPr>
          <p:cNvPicPr>
            <a:picLocks noChangeAspect="1"/>
          </p:cNvPicPr>
          <p:nvPr/>
        </p:nvPicPr>
        <p:blipFill>
          <a:blip r:embed="rId1"/>
          <a:stretch>
            <a:fillRect/>
          </a:stretch>
        </p:blipFill>
        <p:spPr>
          <a:xfrm>
            <a:off x="877824" y="1609344"/>
            <a:ext cx="237744" cy="237744"/>
          </a:xfrm>
          <a:prstGeom prst="rect">
            <a:avLst/>
          </a:prstGeom>
        </p:spPr>
      </p:pic>
      <p:sp>
        <p:nvSpPr>
          <p:cNvPr id="10" name="Mnemonic (memory aid) heading"/>
          <p:cNvSpPr txBox="1"/>
          <p:nvPr/>
        </p:nvSpPr>
        <p:spPr>
          <a:xfrm>
            <a:off x="1353312" y="1508760"/>
            <a:ext cx="4358488" cy="438912"/>
          </a:xfrm>
          <a:prstGeom prst="rect">
            <a:avLst/>
          </a:prstGeom>
          <a:noFill/>
          <a:ln/>
        </p:spPr>
        <p:txBody>
          <a:bodyPr wrap="square" lIns="0" tIns="0" rIns="0" bIns="0" rtlCol="0" anchor="ctr"/>
          <a:lstStyle/>
          <a:p>
            <a:pPr indent="0" marL="0">
              <a:buNone/>
            </a:pPr>
            <a:r>
              <a:rPr lang="en-US" sz="1800" b="1" dirty="0">
                <a:solidFill>
                  <a:srgbClr val="7030A0"/>
                </a:solidFill>
              </a:rPr>
              <a:t>Mnemonic (memory aid)</a:t>
            </a:r>
            <a:endParaRPr lang="en-US" sz="1800" dirty="0"/>
          </a:p>
        </p:txBody>
      </p:sp>
      <p:sp>
        <p:nvSpPr>
          <p:cNvPr id="11" name="Mnemonic (memory aid) body"/>
          <p:cNvSpPr txBox="1"/>
          <p:nvPr/>
        </p:nvSpPr>
        <p:spPr>
          <a:xfrm>
            <a:off x="777240" y="2075688"/>
            <a:ext cx="4907128" cy="850392"/>
          </a:xfrm>
          <a:prstGeom prst="rect">
            <a:avLst/>
          </a:prstGeom>
          <a:noFill/>
          <a:ln/>
        </p:spPr>
        <p:txBody>
          <a:bodyPr wrap="square" lIns="0" tIns="0" rIns="0" bIns="0" rtlCol="0" anchor="t"/>
          <a:lstStyle/>
          <a:p>
            <a:pPr marL="228600" indent="-228600">
              <a:spcAft>
                <a:spcPts val="800"/>
              </a:spcAft>
              <a:buSzPct val="100000"/>
              <a:buChar char="•"/>
            </a:pPr>
            <a:r>
              <a:rPr lang="en-US" sz="1800" dirty="0">
                <a:solidFill>
                  <a:srgbClr val="1F1F1F"/>
                </a:solidFill>
              </a:rPr>
              <a:t>Every case, two answers: </a:t>
            </a:r>
            <a:r>
              <a:rPr lang="en-US" sz="1800" b="1" dirty="0">
                <a:solidFill>
                  <a:srgbClr val="1F1F1F"/>
                </a:solidFill>
              </a:rPr>
              <a:t>the class</a:t>
            </a:r>
            <a:r>
              <a:rPr lang="en-US" sz="1800" dirty="0">
                <a:solidFill>
                  <a:srgbClr val="1F1F1F"/>
                </a:solidFill>
              </a:rPr>
              <a:t> and </a:t>
            </a:r>
            <a:r>
              <a:rPr lang="en-US" sz="1800" b="1" dirty="0">
                <a:solidFill>
                  <a:srgbClr val="1F1F1F"/>
                </a:solidFill>
              </a:rPr>
              <a:t>the one thing to check before you write it</a:t>
            </a:r>
            <a:r>
              <a:rPr lang="en-US" sz="1800" dirty="0">
                <a:solidFill>
                  <a:srgbClr val="1F1F1F"/>
                </a:solidFill>
              </a:rPr>
              <a:t>.</a:t>
            </a:r>
            <a:r>
              <a:rPr lang="en-US" sz="1300" dirty="0">
                <a:solidFill>
                  <a:srgbClr val="666666"/>
                </a:solidFill>
              </a:rPr>
              <a:t>  S64 (notes)</a:t>
            </a:r>
            <a:endParaRPr lang="en-US" sz="1800" dirty="0"/>
          </a:p>
        </p:txBody>
      </p:sp>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name="Slide 116">
    <p:bg>
      <p:bgPr>
        <a:solidFill>
          <a:srgbClr val="FFFFFF"/>
        </a:solidFill>
      </p:bgPr>
    </p:bg>
    <p:spTree>
      <p:nvGrpSpPr>
        <p:cNvPr id="1" name=""/>
        <p:cNvGrpSpPr/>
        <p:nvPr/>
      </p:nvGrpSpPr>
      <p:grpSpPr>
        <a:xfrm>
          <a:off x="0" y="0"/>
          <a:ext cx="0" cy="0"/>
          <a:chOff x="0" y="0"/>
          <a:chExt cx="0" cy="0"/>
        </a:xfrm>
      </p:grpSpPr>
      <p:sp>
        <p:nvSpPr>
          <p:cNvPr id="2" name="Kicker"/>
          <p:cNvSpPr txBox="1"/>
          <p:nvPr/>
        </p:nvSpPr>
        <p:spPr>
          <a:xfrm>
            <a:off x="548640" y="292608"/>
            <a:ext cx="8076895" cy="274320"/>
          </a:xfrm>
          <a:prstGeom prst="rect">
            <a:avLst/>
          </a:prstGeom>
          <a:noFill/>
          <a:ln/>
        </p:spPr>
        <p:txBody>
          <a:bodyPr wrap="square" lIns="0" tIns="0" rIns="0" bIns="0" rtlCol="0" anchor="ctr"/>
          <a:lstStyle/>
          <a:p>
            <a:pPr indent="0" marL="0">
              <a:buNone/>
            </a:pPr>
            <a:r>
              <a:rPr lang="en-US" sz="1200" b="1" spc="100" kern="0" dirty="0">
                <a:solidFill>
                  <a:srgbClr val="4472C4"/>
                </a:solidFill>
              </a:rPr>
              <a:t>PUTTING IT ALL TOGETHER: MUSCULOSKELETAL TOOLKIT</a:t>
            </a:r>
            <a:endParaRPr lang="en-US" sz="1200" dirty="0"/>
          </a:p>
        </p:txBody>
      </p:sp>
      <p:sp>
        <p:nvSpPr>
          <p:cNvPr id="3" name="Title"/>
          <p:cNvSpPr txBox="1"/>
          <p:nvPr/>
        </p:nvSpPr>
        <p:spPr>
          <a:xfrm>
            <a:off x="548640" y="566928"/>
            <a:ext cx="8076895" cy="713232"/>
          </a:xfrm>
          <a:prstGeom prst="rect">
            <a:avLst/>
          </a:prstGeom>
          <a:noFill/>
          <a:ln/>
        </p:spPr>
        <p:txBody>
          <a:bodyPr wrap="square" lIns="0" tIns="0" rIns="0" bIns="0" rtlCol="0" anchor="t"/>
          <a:lstStyle/>
          <a:p>
            <a:pPr indent="0" marL="0">
              <a:buNone/>
            </a:pPr>
            <a:r>
              <a:rPr lang="en-US" sz="3000" b="1" dirty="0">
                <a:solidFill>
                  <a:srgbClr val="1F1F1F"/>
                </a:solidFill>
                <a:latin typeface="Calibri" pitchFamily="34" charset="0"/>
                <a:ea typeface="Calibri" pitchFamily="34" charset="-122"/>
                <a:cs typeface="Calibri" pitchFamily="34" charset="-120"/>
              </a:rPr>
              <a:t>High-yield summary</a:t>
            </a:r>
            <a:endParaRPr lang="en-US" sz="3000" dirty="0"/>
          </a:p>
        </p:txBody>
      </p:sp>
      <p:sp>
        <p:nvSpPr>
          <p:cNvPr id="4" name="Objective chip"/>
          <p:cNvSpPr/>
          <p:nvPr/>
        </p:nvSpPr>
        <p:spPr>
          <a:xfrm>
            <a:off x="8899855" y="365760"/>
            <a:ext cx="2743200" cy="384048"/>
          </a:xfrm>
          <a:prstGeom prst="roundRect">
            <a:avLst>
              <a:gd name="adj" fmla="val 35714"/>
            </a:avLst>
          </a:prstGeom>
          <a:solidFill>
            <a:srgbClr val="E3EBF8"/>
          </a:solidFill>
          <a:ln/>
        </p:spPr>
        <p:txBody>
          <a:bodyPr wrap="square" lIns="25400" tIns="25400" rIns="25400" bIns="25400" rtlCol="0" anchor="ctr"/>
          <a:lstStyle/>
          <a:p>
            <a:pPr algn="ctr" indent="0" marL="0">
              <a:buNone/>
            </a:pPr>
            <a:r>
              <a:rPr lang="en-US" sz="1200" b="1" dirty="0">
                <a:solidFill>
                  <a:srgbClr val="2F4F8A"/>
                </a:solidFill>
              </a:rPr>
              <a:t>Objectives: SO5 · IO2.3 · IO2.4</a:t>
            </a:r>
            <a:endParaRPr lang="en-US" sz="1200" dirty="0"/>
          </a:p>
        </p:txBody>
      </p:sp>
      <p:sp>
        <p:nvSpPr>
          <p:cNvPr id="5" name="Footer"/>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1000" dirty="0">
                <a:solidFill>
                  <a:srgbClr val="666666"/>
                </a:solidFill>
              </a:rPr>
              <a:t>L04 · Musculoskeletal Pharmacology — Session 2</a:t>
            </a:r>
            <a:endParaRPr lang="en-US" sz="1000" dirty="0"/>
          </a:p>
        </p:txBody>
      </p:sp>
      <p:sp>
        <p:nvSpPr>
          <p:cNvPr id="6" name="Slide number"/>
          <p:cNvSpPr txBox="1"/>
          <p:nvPr/>
        </p:nvSpPr>
        <p:spPr>
          <a:xfrm>
            <a:off x="10728655" y="6419088"/>
            <a:ext cx="914400" cy="274320"/>
          </a:xfrm>
          <a:prstGeom prst="rect">
            <a:avLst/>
          </a:prstGeom>
          <a:noFill/>
          <a:ln/>
        </p:spPr>
        <p:txBody>
          <a:bodyPr wrap="square" lIns="0" tIns="0" rIns="0" bIns="0" rtlCol="0" anchor="ctr"/>
          <a:lstStyle/>
          <a:p>
            <a:pPr algn="r" indent="0" marL="0">
              <a:buNone/>
            </a:pPr>
            <a:r>
              <a:rPr lang="en-US" sz="1000" dirty="0">
                <a:solidFill>
                  <a:srgbClr val="666666"/>
                </a:solidFill>
              </a:rPr>
              <a:t>116</a:t>
            </a:r>
            <a:endParaRPr lang="en-US" sz="1000" dirty="0"/>
          </a:p>
        </p:txBody>
      </p:sp>
      <p:sp>
        <p:nvSpPr>
          <p:cNvPr id="7" name="If you remember nothing else card"/>
          <p:cNvSpPr/>
          <p:nvPr/>
        </p:nvSpPr>
        <p:spPr>
          <a:xfrm>
            <a:off x="548640" y="1325880"/>
            <a:ext cx="11094415" cy="2011680"/>
          </a:xfrm>
          <a:prstGeom prst="roundRect">
            <a:avLst>
              <a:gd name="adj" fmla="val 5455"/>
            </a:avLst>
          </a:prstGeom>
          <a:solidFill>
            <a:srgbClr val="F2F4F7"/>
          </a:solidFill>
          <a:ln w="12700">
            <a:solidFill>
              <a:srgbClr val="F2F4F7"/>
            </a:solidFill>
            <a:prstDash val="solid"/>
          </a:ln>
        </p:spPr>
      </p:sp>
      <p:sp>
        <p:nvSpPr>
          <p:cNvPr id="8" name="If you remember nothing else icon circle"/>
          <p:cNvSpPr/>
          <p:nvPr/>
        </p:nvSpPr>
        <p:spPr>
          <a:xfrm>
            <a:off x="777240" y="1508760"/>
            <a:ext cx="438912" cy="438912"/>
          </a:xfrm>
          <a:prstGeom prst="ellipse">
            <a:avLst/>
          </a:prstGeom>
          <a:solidFill>
            <a:srgbClr val="C55A11"/>
          </a:solidFill>
          <a:ln w="12700">
            <a:solidFill>
              <a:srgbClr val="C55A11"/>
            </a:solidFill>
            <a:prstDash val="solid"/>
          </a:ln>
        </p:spPr>
      </p:sp>
      <p:pic>
        <p:nvPicPr>
          <p:cNvPr id="9" name="If you remember nothing else icon" descr="preencoded.png">    </p:cNvPr>
          <p:cNvPicPr>
            <a:picLocks noChangeAspect="1"/>
          </p:cNvPicPr>
          <p:nvPr/>
        </p:nvPicPr>
        <p:blipFill>
          <a:blip r:embed="rId1"/>
          <a:stretch>
            <a:fillRect/>
          </a:stretch>
        </p:blipFill>
        <p:spPr>
          <a:xfrm>
            <a:off x="877824" y="1609344"/>
            <a:ext cx="237744" cy="237744"/>
          </a:xfrm>
          <a:prstGeom prst="rect">
            <a:avLst/>
          </a:prstGeom>
        </p:spPr>
      </p:pic>
      <p:sp>
        <p:nvSpPr>
          <p:cNvPr id="10" name="If you remember nothing else heading"/>
          <p:cNvSpPr txBox="1"/>
          <p:nvPr/>
        </p:nvSpPr>
        <p:spPr>
          <a:xfrm>
            <a:off x="1353312" y="1508760"/>
            <a:ext cx="10088575" cy="438912"/>
          </a:xfrm>
          <a:prstGeom prst="rect">
            <a:avLst/>
          </a:prstGeom>
          <a:noFill/>
          <a:ln/>
        </p:spPr>
        <p:txBody>
          <a:bodyPr wrap="square" lIns="0" tIns="0" rIns="0" bIns="0" rtlCol="0" anchor="ctr"/>
          <a:lstStyle/>
          <a:p>
            <a:pPr indent="0" marL="0">
              <a:buNone/>
            </a:pPr>
            <a:r>
              <a:rPr lang="en-US" sz="1800" b="1" dirty="0">
                <a:solidFill>
                  <a:srgbClr val="C55A11"/>
                </a:solidFill>
              </a:rPr>
              <a:t>If you remember nothing else</a:t>
            </a:r>
            <a:endParaRPr lang="en-US" sz="1800" dirty="0"/>
          </a:p>
        </p:txBody>
      </p:sp>
      <p:sp>
        <p:nvSpPr>
          <p:cNvPr id="11" name="If you remember nothing else body"/>
          <p:cNvSpPr txBox="1"/>
          <p:nvPr/>
        </p:nvSpPr>
        <p:spPr>
          <a:xfrm>
            <a:off x="777240" y="2075688"/>
            <a:ext cx="10637215" cy="1143000"/>
          </a:xfrm>
          <a:prstGeom prst="rect">
            <a:avLst/>
          </a:prstGeom>
          <a:noFill/>
          <a:ln/>
        </p:spPr>
        <p:txBody>
          <a:bodyPr wrap="square" lIns="0" tIns="0" rIns="0" bIns="0" rtlCol="0" anchor="t"/>
          <a:lstStyle/>
          <a:p>
            <a:pPr marL="228600" indent="-228600">
              <a:spcAft>
                <a:spcPts val="800"/>
              </a:spcAft>
              <a:buSzPct val="100000"/>
              <a:buChar char="•"/>
            </a:pPr>
            <a:r>
              <a:rPr lang="en-US" sz="1800" dirty="0">
                <a:solidFill>
                  <a:srgbClr val="1F1F1F"/>
                </a:solidFill>
              </a:rPr>
              <a:t>Five takeaways: pain ≠ inflammation; NSAIDs = GI/renal/CV risk; DMARDs change RA; gout = acute vs. chronic; bone = osteoblast vs. osteoclast.</a:t>
            </a:r>
            <a:r>
              <a:rPr lang="en-US" sz="1300" dirty="0">
                <a:solidFill>
                  <a:srgbClr val="666666"/>
                </a:solidFill>
              </a:rPr>
              <a:t>  S67</a:t>
            </a:r>
            <a:endParaRPr lang="en-US" sz="1800" dirty="0"/>
          </a:p>
        </p:txBody>
      </p:sp>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name="Slide 117">
    <p:bg>
      <p:bgPr>
        <a:solidFill>
          <a:srgbClr val="FFFFFF"/>
        </a:solidFill>
      </p:bgPr>
    </p:bg>
    <p:spTree>
      <p:nvGrpSpPr>
        <p:cNvPr id="1" name=""/>
        <p:cNvGrpSpPr/>
        <p:nvPr/>
      </p:nvGrpSpPr>
      <p:grpSpPr>
        <a:xfrm>
          <a:off x="0" y="0"/>
          <a:ext cx="0" cy="0"/>
          <a:chOff x="0" y="0"/>
          <a:chExt cx="0" cy="0"/>
        </a:xfrm>
      </p:grpSpPr>
      <p:sp>
        <p:nvSpPr>
          <p:cNvPr id="2" name="Kicker"/>
          <p:cNvSpPr txBox="1"/>
          <p:nvPr/>
        </p:nvSpPr>
        <p:spPr>
          <a:xfrm>
            <a:off x="548640" y="292608"/>
            <a:ext cx="8076895" cy="274320"/>
          </a:xfrm>
          <a:prstGeom prst="rect">
            <a:avLst/>
          </a:prstGeom>
          <a:noFill/>
          <a:ln/>
        </p:spPr>
        <p:txBody>
          <a:bodyPr wrap="square" lIns="0" tIns="0" rIns="0" bIns="0" rtlCol="0" anchor="ctr"/>
          <a:lstStyle/>
          <a:p>
            <a:pPr indent="0" marL="0">
              <a:buNone/>
            </a:pPr>
            <a:r>
              <a:rPr lang="en-US" sz="1200" b="1" spc="100" kern="0" dirty="0">
                <a:solidFill>
                  <a:srgbClr val="4472C4"/>
                </a:solidFill>
              </a:rPr>
              <a:t>MECHANISM · LECTURE QUICK CHECK S69; S71</a:t>
            </a:r>
            <a:endParaRPr lang="en-US" sz="1200" dirty="0"/>
          </a:p>
        </p:txBody>
      </p:sp>
      <p:sp>
        <p:nvSpPr>
          <p:cNvPr id="3" name="Title"/>
          <p:cNvSpPr txBox="1"/>
          <p:nvPr/>
        </p:nvSpPr>
        <p:spPr>
          <a:xfrm>
            <a:off x="548640" y="566928"/>
            <a:ext cx="8076895" cy="713232"/>
          </a:xfrm>
          <a:prstGeom prst="rect">
            <a:avLst/>
          </a:prstGeom>
          <a:noFill/>
          <a:ln/>
        </p:spPr>
        <p:txBody>
          <a:bodyPr wrap="square" lIns="0" tIns="0" rIns="0" bIns="0" rtlCol="0" anchor="t"/>
          <a:lstStyle/>
          <a:p>
            <a:pPr indent="0" marL="0">
              <a:buNone/>
            </a:pPr>
            <a:r>
              <a:rPr lang="en-US" sz="3000" b="1" dirty="0">
                <a:solidFill>
                  <a:srgbClr val="1F1F1F"/>
                </a:solidFill>
                <a:latin typeface="Calibri" pitchFamily="34" charset="0"/>
                <a:ea typeface="Calibri" pitchFamily="34" charset="-122"/>
                <a:cs typeface="Calibri" pitchFamily="34" charset="-120"/>
              </a:rPr>
              <a:t>Question 28</a:t>
            </a:r>
            <a:endParaRPr lang="en-US" sz="3000" dirty="0"/>
          </a:p>
        </p:txBody>
      </p:sp>
      <p:sp>
        <p:nvSpPr>
          <p:cNvPr id="4" name="Objective chip"/>
          <p:cNvSpPr/>
          <p:nvPr/>
        </p:nvSpPr>
        <p:spPr>
          <a:xfrm>
            <a:off x="8899855" y="365760"/>
            <a:ext cx="2743200" cy="384048"/>
          </a:xfrm>
          <a:prstGeom prst="roundRect">
            <a:avLst>
              <a:gd name="adj" fmla="val 35714"/>
            </a:avLst>
          </a:prstGeom>
          <a:solidFill>
            <a:srgbClr val="E3EBF8"/>
          </a:solidFill>
          <a:ln/>
        </p:spPr>
        <p:txBody>
          <a:bodyPr wrap="square" lIns="25400" tIns="25400" rIns="25400" bIns="25400" rtlCol="0" anchor="ctr"/>
          <a:lstStyle/>
          <a:p>
            <a:pPr algn="ctr" indent="0" marL="0">
              <a:buNone/>
            </a:pPr>
            <a:r>
              <a:rPr lang="en-US" sz="1200" b="1" dirty="0">
                <a:solidFill>
                  <a:srgbClr val="2F4F8A"/>
                </a:solidFill>
              </a:rPr>
              <a:t>Objectives: SO5 · IO2.3 · IO2.4</a:t>
            </a:r>
            <a:endParaRPr lang="en-US" sz="1200" dirty="0"/>
          </a:p>
        </p:txBody>
      </p:sp>
      <p:sp>
        <p:nvSpPr>
          <p:cNvPr id="5" name="Footer"/>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1000" dirty="0">
                <a:solidFill>
                  <a:srgbClr val="666666"/>
                </a:solidFill>
              </a:rPr>
              <a:t>L04 · Musculoskeletal Pharmacology — Session 2</a:t>
            </a:r>
            <a:endParaRPr lang="en-US" sz="1000" dirty="0"/>
          </a:p>
        </p:txBody>
      </p:sp>
      <p:sp>
        <p:nvSpPr>
          <p:cNvPr id="6" name="Slide number"/>
          <p:cNvSpPr txBox="1"/>
          <p:nvPr/>
        </p:nvSpPr>
        <p:spPr>
          <a:xfrm>
            <a:off x="10728655" y="6419088"/>
            <a:ext cx="914400" cy="274320"/>
          </a:xfrm>
          <a:prstGeom prst="rect">
            <a:avLst/>
          </a:prstGeom>
          <a:noFill/>
          <a:ln/>
        </p:spPr>
        <p:txBody>
          <a:bodyPr wrap="square" lIns="0" tIns="0" rIns="0" bIns="0" rtlCol="0" anchor="ctr"/>
          <a:lstStyle/>
          <a:p>
            <a:pPr algn="r" indent="0" marL="0">
              <a:buNone/>
            </a:pPr>
            <a:r>
              <a:rPr lang="en-US" sz="1000" dirty="0">
                <a:solidFill>
                  <a:srgbClr val="666666"/>
                </a:solidFill>
              </a:rPr>
              <a:t>117</a:t>
            </a:r>
            <a:endParaRPr lang="en-US" sz="1000" dirty="0"/>
          </a:p>
        </p:txBody>
      </p:sp>
      <p:sp>
        <p:nvSpPr>
          <p:cNvPr id="7" name="Question stem card"/>
          <p:cNvSpPr/>
          <p:nvPr/>
        </p:nvSpPr>
        <p:spPr>
          <a:xfrm>
            <a:off x="548640" y="1325880"/>
            <a:ext cx="11094415" cy="923544"/>
          </a:xfrm>
          <a:prstGeom prst="roundRect">
            <a:avLst>
              <a:gd name="adj" fmla="val 9901"/>
            </a:avLst>
          </a:prstGeom>
          <a:solidFill>
            <a:srgbClr val="F2F4F7"/>
          </a:solidFill>
          <a:ln w="12700">
            <a:solidFill>
              <a:srgbClr val="F2F4F7"/>
            </a:solidFill>
            <a:prstDash val="solid"/>
          </a:ln>
        </p:spPr>
      </p:sp>
      <p:sp>
        <p:nvSpPr>
          <p:cNvPr id="8" name="Question stem"/>
          <p:cNvSpPr txBox="1"/>
          <p:nvPr/>
        </p:nvSpPr>
        <p:spPr>
          <a:xfrm>
            <a:off x="777240" y="1325880"/>
            <a:ext cx="10637215" cy="923544"/>
          </a:xfrm>
          <a:prstGeom prst="rect">
            <a:avLst/>
          </a:prstGeom>
          <a:noFill/>
          <a:ln/>
        </p:spPr>
        <p:txBody>
          <a:bodyPr wrap="square" lIns="0" tIns="0" rIns="0" bIns="0" rtlCol="0" anchor="ctr"/>
          <a:lstStyle/>
          <a:p>
            <a:pPr indent="0" marL="0">
              <a:buNone/>
            </a:pPr>
            <a:r>
              <a:rPr lang="en-US" sz="1800" dirty="0">
                <a:solidFill>
                  <a:srgbClr val="1F1F1F"/>
                </a:solidFill>
              </a:rPr>
              <a:t>Why is acetaminophen not a reliable first-line choice for an inflammatory joint flare, despite being a good analgesic and antipyretic?</a:t>
            </a:r>
            <a:endParaRPr lang="en-US" sz="1800" dirty="0"/>
          </a:p>
        </p:txBody>
      </p:sp>
      <p:sp>
        <p:nvSpPr>
          <p:cNvPr id="9" name="Shape 7"/>
          <p:cNvSpPr/>
          <p:nvPr/>
        </p:nvSpPr>
        <p:spPr>
          <a:xfrm>
            <a:off x="548640" y="2459736"/>
            <a:ext cx="402336" cy="402336"/>
          </a:xfrm>
          <a:prstGeom prst="ellipse">
            <a:avLst/>
          </a:prstGeom>
          <a:solidFill>
            <a:srgbClr val="FFFFFF"/>
          </a:solidFill>
          <a:ln w="19050">
            <a:solidFill>
              <a:srgbClr val="4472C4"/>
            </a:solidFill>
            <a:prstDash val="solid"/>
          </a:ln>
        </p:spPr>
      </p:sp>
      <p:sp>
        <p:nvSpPr>
          <p:cNvPr id="10" name="Text 8"/>
          <p:cNvSpPr txBox="1"/>
          <p:nvPr/>
        </p:nvSpPr>
        <p:spPr>
          <a:xfrm>
            <a:off x="548640" y="2459736"/>
            <a:ext cx="402336" cy="402336"/>
          </a:xfrm>
          <a:prstGeom prst="rect">
            <a:avLst/>
          </a:prstGeom>
          <a:noFill/>
          <a:ln/>
        </p:spPr>
        <p:txBody>
          <a:bodyPr wrap="square" lIns="0" tIns="0" rIns="0" bIns="0" rtlCol="0" anchor="ctr"/>
          <a:lstStyle/>
          <a:p>
            <a:pPr algn="ctr" indent="0" marL="0">
              <a:buNone/>
            </a:pPr>
            <a:r>
              <a:rPr lang="en-US" sz="1400" b="1" dirty="0">
                <a:solidFill>
                  <a:srgbClr val="4472C4"/>
                </a:solidFill>
              </a:rPr>
              <a:t>A</a:t>
            </a:r>
            <a:endParaRPr lang="en-US" sz="1400" dirty="0"/>
          </a:p>
        </p:txBody>
      </p:sp>
      <p:sp>
        <p:nvSpPr>
          <p:cNvPr id="11" name="Option A"/>
          <p:cNvSpPr txBox="1"/>
          <p:nvPr/>
        </p:nvSpPr>
        <p:spPr>
          <a:xfrm>
            <a:off x="1188720" y="2432304"/>
            <a:ext cx="10271455" cy="457200"/>
          </a:xfrm>
          <a:prstGeom prst="rect">
            <a:avLst/>
          </a:prstGeom>
          <a:noFill/>
          <a:ln/>
        </p:spPr>
        <p:txBody>
          <a:bodyPr wrap="square" lIns="0" tIns="0" rIns="0" bIns="0" rtlCol="0" anchor="ctr"/>
          <a:lstStyle/>
          <a:p>
            <a:pPr indent="0" marL="0">
              <a:buNone/>
            </a:pPr>
            <a:r>
              <a:rPr lang="en-US" sz="1800" dirty="0">
                <a:solidFill>
                  <a:srgbClr val="1F1F1F"/>
                </a:solidFill>
              </a:rPr>
              <a:t>It has minimal peripheral anti-inflammatory effect</a:t>
            </a:r>
            <a:endParaRPr lang="en-US" sz="1800" dirty="0"/>
          </a:p>
        </p:txBody>
      </p:sp>
      <p:sp>
        <p:nvSpPr>
          <p:cNvPr id="12" name="Shape 10"/>
          <p:cNvSpPr/>
          <p:nvPr/>
        </p:nvSpPr>
        <p:spPr>
          <a:xfrm>
            <a:off x="548640" y="3008376"/>
            <a:ext cx="402336" cy="402336"/>
          </a:xfrm>
          <a:prstGeom prst="ellipse">
            <a:avLst/>
          </a:prstGeom>
          <a:solidFill>
            <a:srgbClr val="FFFFFF"/>
          </a:solidFill>
          <a:ln w="19050">
            <a:solidFill>
              <a:srgbClr val="4472C4"/>
            </a:solidFill>
            <a:prstDash val="solid"/>
          </a:ln>
        </p:spPr>
      </p:sp>
      <p:sp>
        <p:nvSpPr>
          <p:cNvPr id="13" name="Text 11"/>
          <p:cNvSpPr txBox="1"/>
          <p:nvPr/>
        </p:nvSpPr>
        <p:spPr>
          <a:xfrm>
            <a:off x="548640" y="3008376"/>
            <a:ext cx="402336" cy="402336"/>
          </a:xfrm>
          <a:prstGeom prst="rect">
            <a:avLst/>
          </a:prstGeom>
          <a:noFill/>
          <a:ln/>
        </p:spPr>
        <p:txBody>
          <a:bodyPr wrap="square" lIns="0" tIns="0" rIns="0" bIns="0" rtlCol="0" anchor="ctr"/>
          <a:lstStyle/>
          <a:p>
            <a:pPr algn="ctr" indent="0" marL="0">
              <a:buNone/>
            </a:pPr>
            <a:r>
              <a:rPr lang="en-US" sz="1400" b="1" dirty="0">
                <a:solidFill>
                  <a:srgbClr val="4472C4"/>
                </a:solidFill>
              </a:rPr>
              <a:t>B</a:t>
            </a:r>
            <a:endParaRPr lang="en-US" sz="1400" dirty="0"/>
          </a:p>
        </p:txBody>
      </p:sp>
      <p:sp>
        <p:nvSpPr>
          <p:cNvPr id="14" name="Option B"/>
          <p:cNvSpPr txBox="1"/>
          <p:nvPr/>
        </p:nvSpPr>
        <p:spPr>
          <a:xfrm>
            <a:off x="1188720" y="2980944"/>
            <a:ext cx="10271455" cy="457200"/>
          </a:xfrm>
          <a:prstGeom prst="rect">
            <a:avLst/>
          </a:prstGeom>
          <a:noFill/>
          <a:ln/>
        </p:spPr>
        <p:txBody>
          <a:bodyPr wrap="square" lIns="0" tIns="0" rIns="0" bIns="0" rtlCol="0" anchor="ctr"/>
          <a:lstStyle/>
          <a:p>
            <a:pPr indent="0" marL="0">
              <a:buNone/>
            </a:pPr>
            <a:r>
              <a:rPr lang="en-US" sz="1800" dirty="0">
                <a:solidFill>
                  <a:srgbClr val="1F1F1F"/>
                </a:solidFill>
              </a:rPr>
              <a:t>It is contraindicated in all joint pain</a:t>
            </a:r>
            <a:endParaRPr lang="en-US" sz="1800" dirty="0"/>
          </a:p>
        </p:txBody>
      </p:sp>
      <p:sp>
        <p:nvSpPr>
          <p:cNvPr id="15" name="Shape 13"/>
          <p:cNvSpPr/>
          <p:nvPr/>
        </p:nvSpPr>
        <p:spPr>
          <a:xfrm>
            <a:off x="548640" y="3557016"/>
            <a:ext cx="402336" cy="402336"/>
          </a:xfrm>
          <a:prstGeom prst="ellipse">
            <a:avLst/>
          </a:prstGeom>
          <a:solidFill>
            <a:srgbClr val="FFFFFF"/>
          </a:solidFill>
          <a:ln w="19050">
            <a:solidFill>
              <a:srgbClr val="4472C4"/>
            </a:solidFill>
            <a:prstDash val="solid"/>
          </a:ln>
        </p:spPr>
      </p:sp>
      <p:sp>
        <p:nvSpPr>
          <p:cNvPr id="16" name="Text 14"/>
          <p:cNvSpPr txBox="1"/>
          <p:nvPr/>
        </p:nvSpPr>
        <p:spPr>
          <a:xfrm>
            <a:off x="548640" y="3557016"/>
            <a:ext cx="402336" cy="402336"/>
          </a:xfrm>
          <a:prstGeom prst="rect">
            <a:avLst/>
          </a:prstGeom>
          <a:noFill/>
          <a:ln/>
        </p:spPr>
        <p:txBody>
          <a:bodyPr wrap="square" lIns="0" tIns="0" rIns="0" bIns="0" rtlCol="0" anchor="ctr"/>
          <a:lstStyle/>
          <a:p>
            <a:pPr algn="ctr" indent="0" marL="0">
              <a:buNone/>
            </a:pPr>
            <a:r>
              <a:rPr lang="en-US" sz="1400" b="1" dirty="0">
                <a:solidFill>
                  <a:srgbClr val="4472C4"/>
                </a:solidFill>
              </a:rPr>
              <a:t>C</a:t>
            </a:r>
            <a:endParaRPr lang="en-US" sz="1400" dirty="0"/>
          </a:p>
        </p:txBody>
      </p:sp>
      <p:sp>
        <p:nvSpPr>
          <p:cNvPr id="17" name="Option C"/>
          <p:cNvSpPr txBox="1"/>
          <p:nvPr/>
        </p:nvSpPr>
        <p:spPr>
          <a:xfrm>
            <a:off x="1188720" y="3529584"/>
            <a:ext cx="10271455" cy="457200"/>
          </a:xfrm>
          <a:prstGeom prst="rect">
            <a:avLst/>
          </a:prstGeom>
          <a:noFill/>
          <a:ln/>
        </p:spPr>
        <p:txBody>
          <a:bodyPr wrap="square" lIns="0" tIns="0" rIns="0" bIns="0" rtlCol="0" anchor="ctr"/>
          <a:lstStyle/>
          <a:p>
            <a:pPr indent="0" marL="0">
              <a:buNone/>
            </a:pPr>
            <a:r>
              <a:rPr lang="en-US" sz="1800" dirty="0">
                <a:solidFill>
                  <a:srgbClr val="1F1F1F"/>
                </a:solidFill>
              </a:rPr>
              <a:t>It is a DMARD and too strong for mild flares</a:t>
            </a:r>
            <a:endParaRPr lang="en-US" sz="1800" dirty="0"/>
          </a:p>
        </p:txBody>
      </p:sp>
      <p:sp>
        <p:nvSpPr>
          <p:cNvPr id="18" name="Shape 16"/>
          <p:cNvSpPr/>
          <p:nvPr/>
        </p:nvSpPr>
        <p:spPr>
          <a:xfrm>
            <a:off x="548640" y="4105656"/>
            <a:ext cx="402336" cy="402336"/>
          </a:xfrm>
          <a:prstGeom prst="ellipse">
            <a:avLst/>
          </a:prstGeom>
          <a:solidFill>
            <a:srgbClr val="FFFFFF"/>
          </a:solidFill>
          <a:ln w="19050">
            <a:solidFill>
              <a:srgbClr val="4472C4"/>
            </a:solidFill>
            <a:prstDash val="solid"/>
          </a:ln>
        </p:spPr>
      </p:sp>
      <p:sp>
        <p:nvSpPr>
          <p:cNvPr id="19" name="Text 17"/>
          <p:cNvSpPr txBox="1"/>
          <p:nvPr/>
        </p:nvSpPr>
        <p:spPr>
          <a:xfrm>
            <a:off x="548640" y="4105656"/>
            <a:ext cx="402336" cy="402336"/>
          </a:xfrm>
          <a:prstGeom prst="rect">
            <a:avLst/>
          </a:prstGeom>
          <a:noFill/>
          <a:ln/>
        </p:spPr>
        <p:txBody>
          <a:bodyPr wrap="square" lIns="0" tIns="0" rIns="0" bIns="0" rtlCol="0" anchor="ctr"/>
          <a:lstStyle/>
          <a:p>
            <a:pPr algn="ctr" indent="0" marL="0">
              <a:buNone/>
            </a:pPr>
            <a:r>
              <a:rPr lang="en-US" sz="1400" b="1" dirty="0">
                <a:solidFill>
                  <a:srgbClr val="4472C4"/>
                </a:solidFill>
              </a:rPr>
              <a:t>D</a:t>
            </a:r>
            <a:endParaRPr lang="en-US" sz="1400" dirty="0"/>
          </a:p>
        </p:txBody>
      </p:sp>
      <p:sp>
        <p:nvSpPr>
          <p:cNvPr id="20" name="Option D"/>
          <p:cNvSpPr txBox="1"/>
          <p:nvPr/>
        </p:nvSpPr>
        <p:spPr>
          <a:xfrm>
            <a:off x="1188720" y="4078224"/>
            <a:ext cx="10271455" cy="457200"/>
          </a:xfrm>
          <a:prstGeom prst="rect">
            <a:avLst/>
          </a:prstGeom>
          <a:noFill/>
          <a:ln/>
        </p:spPr>
        <p:txBody>
          <a:bodyPr wrap="square" lIns="0" tIns="0" rIns="0" bIns="0" rtlCol="0" anchor="ctr"/>
          <a:lstStyle/>
          <a:p>
            <a:pPr indent="0" marL="0">
              <a:buNone/>
            </a:pPr>
            <a:r>
              <a:rPr lang="en-US" sz="1800" dirty="0">
                <a:solidFill>
                  <a:srgbClr val="1F1F1F"/>
                </a:solidFill>
              </a:rPr>
              <a:t>It inhibits xanthine oxidase in the joint</a:t>
            </a:r>
            <a:endParaRPr lang="en-US" sz="1800" dirty="0"/>
          </a:p>
        </p:txBody>
      </p:sp>
      <p:sp>
        <p:nvSpPr>
          <p:cNvPr id="21" name="Shape 19"/>
          <p:cNvSpPr/>
          <p:nvPr/>
        </p:nvSpPr>
        <p:spPr>
          <a:xfrm>
            <a:off x="548640" y="4654296"/>
            <a:ext cx="402336" cy="402336"/>
          </a:xfrm>
          <a:prstGeom prst="ellipse">
            <a:avLst/>
          </a:prstGeom>
          <a:solidFill>
            <a:srgbClr val="FFFFFF"/>
          </a:solidFill>
          <a:ln w="19050">
            <a:solidFill>
              <a:srgbClr val="4472C4"/>
            </a:solidFill>
            <a:prstDash val="solid"/>
          </a:ln>
        </p:spPr>
      </p:sp>
      <p:sp>
        <p:nvSpPr>
          <p:cNvPr id="22" name="Text 20"/>
          <p:cNvSpPr txBox="1"/>
          <p:nvPr/>
        </p:nvSpPr>
        <p:spPr>
          <a:xfrm>
            <a:off x="548640" y="4654296"/>
            <a:ext cx="402336" cy="402336"/>
          </a:xfrm>
          <a:prstGeom prst="rect">
            <a:avLst/>
          </a:prstGeom>
          <a:noFill/>
          <a:ln/>
        </p:spPr>
        <p:txBody>
          <a:bodyPr wrap="square" lIns="0" tIns="0" rIns="0" bIns="0" rtlCol="0" anchor="ctr"/>
          <a:lstStyle/>
          <a:p>
            <a:pPr algn="ctr" indent="0" marL="0">
              <a:buNone/>
            </a:pPr>
            <a:r>
              <a:rPr lang="en-US" sz="1400" b="1" dirty="0">
                <a:solidFill>
                  <a:srgbClr val="4472C4"/>
                </a:solidFill>
              </a:rPr>
              <a:t>E</a:t>
            </a:r>
            <a:endParaRPr lang="en-US" sz="1400" dirty="0"/>
          </a:p>
        </p:txBody>
      </p:sp>
      <p:sp>
        <p:nvSpPr>
          <p:cNvPr id="23" name="Option E"/>
          <p:cNvSpPr txBox="1"/>
          <p:nvPr/>
        </p:nvSpPr>
        <p:spPr>
          <a:xfrm>
            <a:off x="1188720" y="4626864"/>
            <a:ext cx="10271455" cy="457200"/>
          </a:xfrm>
          <a:prstGeom prst="rect">
            <a:avLst/>
          </a:prstGeom>
          <a:noFill/>
          <a:ln/>
        </p:spPr>
        <p:txBody>
          <a:bodyPr wrap="square" lIns="0" tIns="0" rIns="0" bIns="0" rtlCol="0" anchor="ctr"/>
          <a:lstStyle/>
          <a:p>
            <a:pPr indent="0" marL="0">
              <a:buNone/>
            </a:pPr>
            <a:r>
              <a:rPr lang="en-US" sz="1800" dirty="0">
                <a:solidFill>
                  <a:srgbClr val="1F1F1F"/>
                </a:solidFill>
              </a:rPr>
              <a:t>It strongly inhibits COX-2 only</a:t>
            </a:r>
            <a:endParaRPr lang="en-US" sz="1800" dirty="0"/>
          </a:p>
        </p:txBody>
      </p:sp>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name="Slide 118">
    <p:bg>
      <p:bgPr>
        <a:solidFill>
          <a:srgbClr val="FFFFFF"/>
        </a:solidFill>
      </p:bgPr>
    </p:bg>
    <p:spTree>
      <p:nvGrpSpPr>
        <p:cNvPr id="1" name=""/>
        <p:cNvGrpSpPr/>
        <p:nvPr/>
      </p:nvGrpSpPr>
      <p:grpSpPr>
        <a:xfrm>
          <a:off x="0" y="0"/>
          <a:ext cx="0" cy="0"/>
          <a:chOff x="0" y="0"/>
          <a:chExt cx="0" cy="0"/>
        </a:xfrm>
      </p:grpSpPr>
      <p:sp>
        <p:nvSpPr>
          <p:cNvPr id="2" name="Kicker"/>
          <p:cNvSpPr txBox="1"/>
          <p:nvPr/>
        </p:nvSpPr>
        <p:spPr>
          <a:xfrm>
            <a:off x="548640" y="292608"/>
            <a:ext cx="8076895" cy="274320"/>
          </a:xfrm>
          <a:prstGeom prst="rect">
            <a:avLst/>
          </a:prstGeom>
          <a:noFill/>
          <a:ln/>
        </p:spPr>
        <p:txBody>
          <a:bodyPr wrap="square" lIns="0" tIns="0" rIns="0" bIns="0" rtlCol="0" anchor="ctr"/>
          <a:lstStyle/>
          <a:p>
            <a:pPr indent="0" marL="0">
              <a:buNone/>
            </a:pPr>
            <a:r>
              <a:rPr lang="en-US" sz="1200" b="1" spc="100" kern="0" dirty="0">
                <a:solidFill>
                  <a:srgbClr val="4472C4"/>
                </a:solidFill>
              </a:rPr>
              <a:t>MECHANISM · ANSWER</a:t>
            </a:r>
            <a:endParaRPr lang="en-US" sz="1200" dirty="0"/>
          </a:p>
        </p:txBody>
      </p:sp>
      <p:sp>
        <p:nvSpPr>
          <p:cNvPr id="3" name="Title"/>
          <p:cNvSpPr txBox="1"/>
          <p:nvPr/>
        </p:nvSpPr>
        <p:spPr>
          <a:xfrm>
            <a:off x="548640" y="566928"/>
            <a:ext cx="8076895" cy="713232"/>
          </a:xfrm>
          <a:prstGeom prst="rect">
            <a:avLst/>
          </a:prstGeom>
          <a:noFill/>
          <a:ln/>
        </p:spPr>
        <p:txBody>
          <a:bodyPr wrap="square" lIns="0" tIns="0" rIns="0" bIns="0" rtlCol="0" anchor="t"/>
          <a:lstStyle/>
          <a:p>
            <a:pPr indent="0" marL="0">
              <a:buNone/>
            </a:pPr>
            <a:r>
              <a:rPr lang="en-US" sz="3000" b="1" dirty="0">
                <a:solidFill>
                  <a:srgbClr val="1F1F1F"/>
                </a:solidFill>
                <a:latin typeface="Calibri" pitchFamily="34" charset="0"/>
                <a:ea typeface="Calibri" pitchFamily="34" charset="-122"/>
                <a:cs typeface="Calibri" pitchFamily="34" charset="-120"/>
              </a:rPr>
              <a:t>Answer 28: A</a:t>
            </a:r>
            <a:endParaRPr lang="en-US" sz="3000" dirty="0"/>
          </a:p>
        </p:txBody>
      </p:sp>
      <p:sp>
        <p:nvSpPr>
          <p:cNvPr id="4" name="Objective chip"/>
          <p:cNvSpPr/>
          <p:nvPr/>
        </p:nvSpPr>
        <p:spPr>
          <a:xfrm>
            <a:off x="8899855" y="365760"/>
            <a:ext cx="2743200" cy="384048"/>
          </a:xfrm>
          <a:prstGeom prst="roundRect">
            <a:avLst>
              <a:gd name="adj" fmla="val 35714"/>
            </a:avLst>
          </a:prstGeom>
          <a:solidFill>
            <a:srgbClr val="E3EBF8"/>
          </a:solidFill>
          <a:ln/>
        </p:spPr>
        <p:txBody>
          <a:bodyPr wrap="square" lIns="25400" tIns="25400" rIns="25400" bIns="25400" rtlCol="0" anchor="ctr"/>
          <a:lstStyle/>
          <a:p>
            <a:pPr algn="ctr" indent="0" marL="0">
              <a:buNone/>
            </a:pPr>
            <a:r>
              <a:rPr lang="en-US" sz="1200" b="1" dirty="0">
                <a:solidFill>
                  <a:srgbClr val="2F4F8A"/>
                </a:solidFill>
              </a:rPr>
              <a:t>Objectives: SO5 · IO2.3 · IO2.4</a:t>
            </a:r>
            <a:endParaRPr lang="en-US" sz="1200" dirty="0"/>
          </a:p>
        </p:txBody>
      </p:sp>
      <p:sp>
        <p:nvSpPr>
          <p:cNvPr id="5" name="Footer"/>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1000" dirty="0">
                <a:solidFill>
                  <a:srgbClr val="666666"/>
                </a:solidFill>
              </a:rPr>
              <a:t>L04 · Musculoskeletal Pharmacology — Session 2</a:t>
            </a:r>
            <a:endParaRPr lang="en-US" sz="1000" dirty="0"/>
          </a:p>
        </p:txBody>
      </p:sp>
      <p:sp>
        <p:nvSpPr>
          <p:cNvPr id="6" name="Slide number"/>
          <p:cNvSpPr txBox="1"/>
          <p:nvPr/>
        </p:nvSpPr>
        <p:spPr>
          <a:xfrm>
            <a:off x="10728655" y="6419088"/>
            <a:ext cx="914400" cy="274320"/>
          </a:xfrm>
          <a:prstGeom prst="rect">
            <a:avLst/>
          </a:prstGeom>
          <a:noFill/>
          <a:ln/>
        </p:spPr>
        <p:txBody>
          <a:bodyPr wrap="square" lIns="0" tIns="0" rIns="0" bIns="0" rtlCol="0" anchor="ctr"/>
          <a:lstStyle/>
          <a:p>
            <a:pPr algn="r" indent="0" marL="0">
              <a:buNone/>
            </a:pPr>
            <a:r>
              <a:rPr lang="en-US" sz="1000" dirty="0">
                <a:solidFill>
                  <a:srgbClr val="666666"/>
                </a:solidFill>
              </a:rPr>
              <a:t>118</a:t>
            </a:r>
            <a:endParaRPr lang="en-US" sz="1000" dirty="0"/>
          </a:p>
        </p:txBody>
      </p:sp>
      <p:sp>
        <p:nvSpPr>
          <p:cNvPr id="7" name="Correct answer"/>
          <p:cNvSpPr/>
          <p:nvPr/>
        </p:nvSpPr>
        <p:spPr>
          <a:xfrm>
            <a:off x="548640" y="1325880"/>
            <a:ext cx="11094415" cy="548640"/>
          </a:xfrm>
          <a:prstGeom prst="roundRect">
            <a:avLst>
              <a:gd name="adj" fmla="val 16667"/>
            </a:avLst>
          </a:prstGeom>
          <a:solidFill>
            <a:srgbClr val="E2F0D9"/>
          </a:solidFill>
          <a:ln w="19050">
            <a:solidFill>
              <a:srgbClr val="548235"/>
            </a:solidFill>
            <a:prstDash val="solid"/>
          </a:ln>
        </p:spPr>
      </p:sp>
      <p:pic>
        <p:nvPicPr>
          <p:cNvPr id="8" name="Image 0" descr="preencoded.png">    </p:cNvPr>
          <p:cNvPicPr>
            <a:picLocks noChangeAspect="1"/>
          </p:cNvPicPr>
          <p:nvPr/>
        </p:nvPicPr>
        <p:blipFill>
          <a:blip r:embed="rId1"/>
          <a:stretch>
            <a:fillRect/>
          </a:stretch>
        </p:blipFill>
        <p:spPr>
          <a:xfrm>
            <a:off x="731520" y="1435608"/>
            <a:ext cx="329184" cy="329184"/>
          </a:xfrm>
          <a:prstGeom prst="rect">
            <a:avLst/>
          </a:prstGeom>
        </p:spPr>
      </p:pic>
      <p:sp>
        <p:nvSpPr>
          <p:cNvPr id="9" name="Text 6"/>
          <p:cNvSpPr txBox="1"/>
          <p:nvPr/>
        </p:nvSpPr>
        <p:spPr>
          <a:xfrm>
            <a:off x="1234440" y="1325880"/>
            <a:ext cx="10180015" cy="548640"/>
          </a:xfrm>
          <a:prstGeom prst="rect">
            <a:avLst/>
          </a:prstGeom>
          <a:noFill/>
          <a:ln/>
        </p:spPr>
        <p:txBody>
          <a:bodyPr wrap="square" lIns="0" tIns="0" rIns="0" bIns="0" rtlCol="0" anchor="ctr"/>
          <a:lstStyle/>
          <a:p>
            <a:pPr indent="0" marL="0">
              <a:buNone/>
            </a:pPr>
            <a:r>
              <a:rPr lang="en-US" sz="1600" b="1" dirty="0">
                <a:solidFill>
                  <a:srgbClr val="1F1F1F"/>
                </a:solidFill>
              </a:rPr>
              <a:t>A. </a:t>
            </a:r>
            <a:r>
              <a:rPr lang="en-US" sz="1600" b="1" dirty="0">
                <a:solidFill>
                  <a:srgbClr val="1F1F1F"/>
                </a:solidFill>
              </a:rPr>
              <a:t>It has minimal peripheral anti-inflammatory effect</a:t>
            </a:r>
            <a:endParaRPr lang="en-US" sz="1600" dirty="0"/>
          </a:p>
        </p:txBody>
      </p:sp>
      <p:sp>
        <p:nvSpPr>
          <p:cNvPr id="10" name="Why correct"/>
          <p:cNvSpPr txBox="1"/>
          <p:nvPr/>
        </p:nvSpPr>
        <p:spPr>
          <a:xfrm>
            <a:off x="777240" y="2011680"/>
            <a:ext cx="10637215" cy="724408"/>
          </a:xfrm>
          <a:prstGeom prst="rect">
            <a:avLst/>
          </a:prstGeom>
          <a:noFill/>
          <a:ln/>
        </p:spPr>
        <p:txBody>
          <a:bodyPr wrap="square" lIns="0" tIns="0" rIns="0" bIns="0" rtlCol="0" anchor="t"/>
          <a:lstStyle/>
          <a:p>
            <a:pPr indent="0" marL="0">
              <a:buNone/>
            </a:pPr>
            <a:r>
              <a:rPr lang="en-US" sz="1600" dirty="0">
                <a:solidFill>
                  <a:srgbClr val="1F1F1F"/>
                </a:solidFill>
              </a:rPr>
              <a:t>Acetaminophen treats pain and fever, not inflammation itself — its peripheral anti-inflammatory effect is minimal, unlike NSAIDs (S71).</a:t>
            </a:r>
            <a:r>
              <a:rPr lang="en-US" sz="1100" dirty="0">
                <a:solidFill>
                  <a:srgbClr val="666666"/>
                </a:solidFill>
              </a:rPr>
              <a:t>  S69; S71</a:t>
            </a:r>
            <a:endParaRPr lang="en-US" sz="1600" dirty="0"/>
          </a:p>
        </p:txBody>
      </p:sp>
      <p:sp>
        <p:nvSpPr>
          <p:cNvPr id="11" name="Why others wrong card"/>
          <p:cNvSpPr/>
          <p:nvPr/>
        </p:nvSpPr>
        <p:spPr>
          <a:xfrm>
            <a:off x="548640" y="2873248"/>
            <a:ext cx="11094415" cy="1704848"/>
          </a:xfrm>
          <a:prstGeom prst="roundRect">
            <a:avLst>
              <a:gd name="adj" fmla="val 5364"/>
            </a:avLst>
          </a:prstGeom>
          <a:solidFill>
            <a:srgbClr val="F2F4F7"/>
          </a:solidFill>
          <a:ln w="12700">
            <a:solidFill>
              <a:srgbClr val="F2F4F7"/>
            </a:solidFill>
            <a:prstDash val="solid"/>
          </a:ln>
        </p:spPr>
      </p:sp>
      <p:sp>
        <p:nvSpPr>
          <p:cNvPr id="12" name="Why others wrong"/>
          <p:cNvSpPr txBox="1"/>
          <p:nvPr/>
        </p:nvSpPr>
        <p:spPr>
          <a:xfrm>
            <a:off x="777240" y="2982976"/>
            <a:ext cx="10637215" cy="1521968"/>
          </a:xfrm>
          <a:prstGeom prst="rect">
            <a:avLst/>
          </a:prstGeom>
          <a:noFill/>
          <a:ln/>
        </p:spPr>
        <p:txBody>
          <a:bodyPr wrap="square" lIns="0" tIns="0" rIns="0" bIns="0" rtlCol="0" anchor="t"/>
          <a:lstStyle/>
          <a:p>
            <a:pPr indent="0" marL="0">
              <a:spcAft>
                <a:spcPts val="400"/>
              </a:spcAft>
              <a:buNone/>
            </a:pPr>
            <a:r>
              <a:rPr lang="en-US" sz="1600" b="1" dirty="0">
                <a:solidFill>
                  <a:srgbClr val="C00000"/>
                </a:solidFill>
              </a:rPr>
              <a:t>Why the other choices are wrong</a:t>
            </a:r>
            <a:endParaRPr lang="en-US" sz="1600" dirty="0"/>
          </a:p>
          <a:p>
            <a:pPr indent="0" marL="0">
              <a:buNone/>
            </a:pPr>
            <a:r>
              <a:rPr lang="en-US" sz="1600" b="1" dirty="0">
                <a:solidFill>
                  <a:srgbClr val="1F1F1F"/>
                </a:solidFill>
              </a:rPr>
              <a:t>B. It is contraindicated in all joint pain — </a:t>
            </a:r>
            <a:r>
              <a:rPr lang="en-US" sz="1600" dirty="0">
                <a:solidFill>
                  <a:srgbClr val="1F1F1F"/>
                </a:solidFill>
              </a:rPr>
              <a:t>It is first-line for mild OA pain (S71).</a:t>
            </a:r>
            <a:endParaRPr lang="en-US" sz="1600" dirty="0"/>
          </a:p>
          <a:p>
            <a:pPr indent="0" marL="0">
              <a:buNone/>
            </a:pPr>
            <a:r>
              <a:rPr lang="en-US" sz="1600" b="1" dirty="0">
                <a:solidFill>
                  <a:srgbClr val="1F1F1F"/>
                </a:solidFill>
              </a:rPr>
              <a:t>C. It is a DMARD and too strong for mild flares — </a:t>
            </a:r>
            <a:r>
              <a:rPr lang="en-US" sz="1600" dirty="0">
                <a:solidFill>
                  <a:srgbClr val="1F1F1F"/>
                </a:solidFill>
              </a:rPr>
              <a:t>Acetaminophen is not a DMARD (S71).</a:t>
            </a:r>
            <a:endParaRPr lang="en-US" sz="1600" dirty="0"/>
          </a:p>
          <a:p>
            <a:pPr indent="0" marL="0">
              <a:buNone/>
            </a:pPr>
            <a:r>
              <a:rPr lang="en-US" sz="1600" b="1" dirty="0">
                <a:solidFill>
                  <a:srgbClr val="1F1F1F"/>
                </a:solidFill>
              </a:rPr>
              <a:t>D. It inhibits xanthine oxidase in the joint — </a:t>
            </a:r>
            <a:r>
              <a:rPr lang="en-US" sz="1600" dirty="0">
                <a:solidFill>
                  <a:srgbClr val="1F1F1F"/>
                </a:solidFill>
              </a:rPr>
              <a:t>That is allopurinol (S71).</a:t>
            </a:r>
            <a:endParaRPr lang="en-US" sz="1600" dirty="0"/>
          </a:p>
          <a:p>
            <a:pPr indent="0" marL="0">
              <a:buNone/>
            </a:pPr>
            <a:r>
              <a:rPr lang="en-US" sz="1600" b="1" dirty="0">
                <a:solidFill>
                  <a:srgbClr val="1F1F1F"/>
                </a:solidFill>
              </a:rPr>
              <a:t>E. It strongly inhibits COX-2 only — </a:t>
            </a:r>
            <a:r>
              <a:rPr lang="en-US" sz="1600" dirty="0">
                <a:solidFill>
                  <a:srgbClr val="1F1F1F"/>
                </a:solidFill>
              </a:rPr>
              <a:t>Selective COX-2 inhibition is celecoxib (Session 1).</a:t>
            </a:r>
            <a:endParaRPr lang="en-US" sz="1600" dirty="0"/>
          </a:p>
        </p:txBody>
      </p:sp>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name="Slide 119">
    <p:bg>
      <p:bgPr>
        <a:solidFill>
          <a:srgbClr val="FFFFFF"/>
        </a:solidFill>
      </p:bgPr>
    </p:bg>
    <p:spTree>
      <p:nvGrpSpPr>
        <p:cNvPr id="1" name=""/>
        <p:cNvGrpSpPr/>
        <p:nvPr/>
      </p:nvGrpSpPr>
      <p:grpSpPr>
        <a:xfrm>
          <a:off x="0" y="0"/>
          <a:ext cx="0" cy="0"/>
          <a:chOff x="0" y="0"/>
          <a:chExt cx="0" cy="0"/>
        </a:xfrm>
      </p:grpSpPr>
      <p:sp>
        <p:nvSpPr>
          <p:cNvPr id="2" name="Kicker"/>
          <p:cNvSpPr txBox="1"/>
          <p:nvPr/>
        </p:nvSpPr>
        <p:spPr>
          <a:xfrm>
            <a:off x="548640" y="292608"/>
            <a:ext cx="8076895" cy="274320"/>
          </a:xfrm>
          <a:prstGeom prst="rect">
            <a:avLst/>
          </a:prstGeom>
          <a:noFill/>
          <a:ln/>
        </p:spPr>
        <p:txBody>
          <a:bodyPr wrap="square" lIns="0" tIns="0" rIns="0" bIns="0" rtlCol="0" anchor="ctr"/>
          <a:lstStyle/>
          <a:p>
            <a:pPr indent="0" marL="0">
              <a:buNone/>
            </a:pPr>
            <a:r>
              <a:rPr lang="en-US" sz="1200" b="1" spc="100" kern="0" dirty="0">
                <a:solidFill>
                  <a:srgbClr val="4472C4"/>
                </a:solidFill>
              </a:rPr>
              <a:t>CLINICAL VIGNETTE · LECTURE QUICK CHECK S69; S71</a:t>
            </a:r>
            <a:endParaRPr lang="en-US" sz="1200" dirty="0"/>
          </a:p>
        </p:txBody>
      </p:sp>
      <p:sp>
        <p:nvSpPr>
          <p:cNvPr id="3" name="Title"/>
          <p:cNvSpPr txBox="1"/>
          <p:nvPr/>
        </p:nvSpPr>
        <p:spPr>
          <a:xfrm>
            <a:off x="548640" y="566928"/>
            <a:ext cx="8076895" cy="713232"/>
          </a:xfrm>
          <a:prstGeom prst="rect">
            <a:avLst/>
          </a:prstGeom>
          <a:noFill/>
          <a:ln/>
        </p:spPr>
        <p:txBody>
          <a:bodyPr wrap="square" lIns="0" tIns="0" rIns="0" bIns="0" rtlCol="0" anchor="t"/>
          <a:lstStyle/>
          <a:p>
            <a:pPr indent="0" marL="0">
              <a:buNone/>
            </a:pPr>
            <a:r>
              <a:rPr lang="en-US" sz="3000" b="1" dirty="0">
                <a:solidFill>
                  <a:srgbClr val="1F1F1F"/>
                </a:solidFill>
                <a:latin typeface="Calibri" pitchFamily="34" charset="0"/>
                <a:ea typeface="Calibri" pitchFamily="34" charset="-122"/>
                <a:cs typeface="Calibri" pitchFamily="34" charset="-120"/>
              </a:rPr>
              <a:t>Question 29</a:t>
            </a:r>
            <a:endParaRPr lang="en-US" sz="3000" dirty="0"/>
          </a:p>
        </p:txBody>
      </p:sp>
      <p:sp>
        <p:nvSpPr>
          <p:cNvPr id="4" name="Objective chip"/>
          <p:cNvSpPr/>
          <p:nvPr/>
        </p:nvSpPr>
        <p:spPr>
          <a:xfrm>
            <a:off x="8899855" y="365760"/>
            <a:ext cx="2743200" cy="384048"/>
          </a:xfrm>
          <a:prstGeom prst="roundRect">
            <a:avLst>
              <a:gd name="adj" fmla="val 35714"/>
            </a:avLst>
          </a:prstGeom>
          <a:solidFill>
            <a:srgbClr val="E3EBF8"/>
          </a:solidFill>
          <a:ln/>
        </p:spPr>
        <p:txBody>
          <a:bodyPr wrap="square" lIns="25400" tIns="25400" rIns="25400" bIns="25400" rtlCol="0" anchor="ctr"/>
          <a:lstStyle/>
          <a:p>
            <a:pPr algn="ctr" indent="0" marL="0">
              <a:buNone/>
            </a:pPr>
            <a:r>
              <a:rPr lang="en-US" sz="1200" b="1" dirty="0">
                <a:solidFill>
                  <a:srgbClr val="2F4F8A"/>
                </a:solidFill>
              </a:rPr>
              <a:t>Objectives: SO5 · IO2.3 · IO2.4</a:t>
            </a:r>
            <a:endParaRPr lang="en-US" sz="1200" dirty="0"/>
          </a:p>
        </p:txBody>
      </p:sp>
      <p:sp>
        <p:nvSpPr>
          <p:cNvPr id="5" name="Footer"/>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1000" dirty="0">
                <a:solidFill>
                  <a:srgbClr val="666666"/>
                </a:solidFill>
              </a:rPr>
              <a:t>L04 · Musculoskeletal Pharmacology — Session 2</a:t>
            </a:r>
            <a:endParaRPr lang="en-US" sz="1000" dirty="0"/>
          </a:p>
        </p:txBody>
      </p:sp>
      <p:sp>
        <p:nvSpPr>
          <p:cNvPr id="6" name="Slide number"/>
          <p:cNvSpPr txBox="1"/>
          <p:nvPr/>
        </p:nvSpPr>
        <p:spPr>
          <a:xfrm>
            <a:off x="10728655" y="6419088"/>
            <a:ext cx="914400" cy="274320"/>
          </a:xfrm>
          <a:prstGeom prst="rect">
            <a:avLst/>
          </a:prstGeom>
          <a:noFill/>
          <a:ln/>
        </p:spPr>
        <p:txBody>
          <a:bodyPr wrap="square" lIns="0" tIns="0" rIns="0" bIns="0" rtlCol="0" anchor="ctr"/>
          <a:lstStyle/>
          <a:p>
            <a:pPr algn="r" indent="0" marL="0">
              <a:buNone/>
            </a:pPr>
            <a:r>
              <a:rPr lang="en-US" sz="1000" dirty="0">
                <a:solidFill>
                  <a:srgbClr val="666666"/>
                </a:solidFill>
              </a:rPr>
              <a:t>119</a:t>
            </a:r>
            <a:endParaRPr lang="en-US" sz="1000" dirty="0"/>
          </a:p>
        </p:txBody>
      </p:sp>
      <p:sp>
        <p:nvSpPr>
          <p:cNvPr id="7" name="Question stem card"/>
          <p:cNvSpPr/>
          <p:nvPr/>
        </p:nvSpPr>
        <p:spPr>
          <a:xfrm>
            <a:off x="548640" y="1325880"/>
            <a:ext cx="11094415" cy="923544"/>
          </a:xfrm>
          <a:prstGeom prst="roundRect">
            <a:avLst>
              <a:gd name="adj" fmla="val 9901"/>
            </a:avLst>
          </a:prstGeom>
          <a:solidFill>
            <a:srgbClr val="F2F4F7"/>
          </a:solidFill>
          <a:ln w="12700">
            <a:solidFill>
              <a:srgbClr val="F2F4F7"/>
            </a:solidFill>
            <a:prstDash val="solid"/>
          </a:ln>
        </p:spPr>
      </p:sp>
      <p:sp>
        <p:nvSpPr>
          <p:cNvPr id="8" name="Question stem"/>
          <p:cNvSpPr txBox="1"/>
          <p:nvPr/>
        </p:nvSpPr>
        <p:spPr>
          <a:xfrm>
            <a:off x="777240" y="1325880"/>
            <a:ext cx="10637215" cy="923544"/>
          </a:xfrm>
          <a:prstGeom prst="rect">
            <a:avLst/>
          </a:prstGeom>
          <a:noFill/>
          <a:ln/>
        </p:spPr>
        <p:txBody>
          <a:bodyPr wrap="square" lIns="0" tIns="0" rIns="0" bIns="0" rtlCol="0" anchor="ctr"/>
          <a:lstStyle/>
          <a:p>
            <a:pPr indent="0" marL="0">
              <a:buNone/>
            </a:pPr>
            <a:r>
              <a:rPr lang="en-US" sz="1800" dirty="0">
                <a:solidFill>
                  <a:srgbClr val="1F1F1F"/>
                </a:solidFill>
              </a:rPr>
              <a:t>A 70-year-old with CKD and heart failure needs osteoarthritis pain control. Considering systemic risk, which is generally the safest starting point?</a:t>
            </a:r>
            <a:endParaRPr lang="en-US" sz="1800" dirty="0"/>
          </a:p>
        </p:txBody>
      </p:sp>
      <p:sp>
        <p:nvSpPr>
          <p:cNvPr id="9" name="Shape 7"/>
          <p:cNvSpPr/>
          <p:nvPr/>
        </p:nvSpPr>
        <p:spPr>
          <a:xfrm>
            <a:off x="548640" y="2459736"/>
            <a:ext cx="402336" cy="402336"/>
          </a:xfrm>
          <a:prstGeom prst="ellipse">
            <a:avLst/>
          </a:prstGeom>
          <a:solidFill>
            <a:srgbClr val="FFFFFF"/>
          </a:solidFill>
          <a:ln w="19050">
            <a:solidFill>
              <a:srgbClr val="4472C4"/>
            </a:solidFill>
            <a:prstDash val="solid"/>
          </a:ln>
        </p:spPr>
      </p:sp>
      <p:sp>
        <p:nvSpPr>
          <p:cNvPr id="10" name="Text 8"/>
          <p:cNvSpPr txBox="1"/>
          <p:nvPr/>
        </p:nvSpPr>
        <p:spPr>
          <a:xfrm>
            <a:off x="548640" y="2459736"/>
            <a:ext cx="402336" cy="402336"/>
          </a:xfrm>
          <a:prstGeom prst="rect">
            <a:avLst/>
          </a:prstGeom>
          <a:noFill/>
          <a:ln/>
        </p:spPr>
        <p:txBody>
          <a:bodyPr wrap="square" lIns="0" tIns="0" rIns="0" bIns="0" rtlCol="0" anchor="ctr"/>
          <a:lstStyle/>
          <a:p>
            <a:pPr algn="ctr" indent="0" marL="0">
              <a:buNone/>
            </a:pPr>
            <a:r>
              <a:rPr lang="en-US" sz="1400" b="1" dirty="0">
                <a:solidFill>
                  <a:srgbClr val="4472C4"/>
                </a:solidFill>
              </a:rPr>
              <a:t>A</a:t>
            </a:r>
            <a:endParaRPr lang="en-US" sz="1400" dirty="0"/>
          </a:p>
        </p:txBody>
      </p:sp>
      <p:sp>
        <p:nvSpPr>
          <p:cNvPr id="11" name="Option A"/>
          <p:cNvSpPr txBox="1"/>
          <p:nvPr/>
        </p:nvSpPr>
        <p:spPr>
          <a:xfrm>
            <a:off x="1188720" y="2432304"/>
            <a:ext cx="10271455" cy="457200"/>
          </a:xfrm>
          <a:prstGeom prst="rect">
            <a:avLst/>
          </a:prstGeom>
          <a:noFill/>
          <a:ln/>
        </p:spPr>
        <p:txBody>
          <a:bodyPr wrap="square" lIns="0" tIns="0" rIns="0" bIns="0" rtlCol="0" anchor="ctr"/>
          <a:lstStyle/>
          <a:p>
            <a:pPr indent="0" marL="0">
              <a:buNone/>
            </a:pPr>
            <a:r>
              <a:rPr lang="en-US" sz="1800" dirty="0">
                <a:solidFill>
                  <a:srgbClr val="1F1F1F"/>
                </a:solidFill>
              </a:rPr>
              <a:t>Oral ibuprofen at full dose</a:t>
            </a:r>
            <a:endParaRPr lang="en-US" sz="1800" dirty="0"/>
          </a:p>
        </p:txBody>
      </p:sp>
      <p:sp>
        <p:nvSpPr>
          <p:cNvPr id="12" name="Shape 10"/>
          <p:cNvSpPr/>
          <p:nvPr/>
        </p:nvSpPr>
        <p:spPr>
          <a:xfrm>
            <a:off x="548640" y="3008376"/>
            <a:ext cx="402336" cy="402336"/>
          </a:xfrm>
          <a:prstGeom prst="ellipse">
            <a:avLst/>
          </a:prstGeom>
          <a:solidFill>
            <a:srgbClr val="FFFFFF"/>
          </a:solidFill>
          <a:ln w="19050">
            <a:solidFill>
              <a:srgbClr val="4472C4"/>
            </a:solidFill>
            <a:prstDash val="solid"/>
          </a:ln>
        </p:spPr>
      </p:sp>
      <p:sp>
        <p:nvSpPr>
          <p:cNvPr id="13" name="Text 11"/>
          <p:cNvSpPr txBox="1"/>
          <p:nvPr/>
        </p:nvSpPr>
        <p:spPr>
          <a:xfrm>
            <a:off x="548640" y="3008376"/>
            <a:ext cx="402336" cy="402336"/>
          </a:xfrm>
          <a:prstGeom prst="rect">
            <a:avLst/>
          </a:prstGeom>
          <a:noFill/>
          <a:ln/>
        </p:spPr>
        <p:txBody>
          <a:bodyPr wrap="square" lIns="0" tIns="0" rIns="0" bIns="0" rtlCol="0" anchor="ctr"/>
          <a:lstStyle/>
          <a:p>
            <a:pPr algn="ctr" indent="0" marL="0">
              <a:buNone/>
            </a:pPr>
            <a:r>
              <a:rPr lang="en-US" sz="1400" b="1" dirty="0">
                <a:solidFill>
                  <a:srgbClr val="4472C4"/>
                </a:solidFill>
              </a:rPr>
              <a:t>B</a:t>
            </a:r>
            <a:endParaRPr lang="en-US" sz="1400" dirty="0"/>
          </a:p>
        </p:txBody>
      </p:sp>
      <p:sp>
        <p:nvSpPr>
          <p:cNvPr id="14" name="Option B"/>
          <p:cNvSpPr txBox="1"/>
          <p:nvPr/>
        </p:nvSpPr>
        <p:spPr>
          <a:xfrm>
            <a:off x="1188720" y="2980944"/>
            <a:ext cx="10271455" cy="457200"/>
          </a:xfrm>
          <a:prstGeom prst="rect">
            <a:avLst/>
          </a:prstGeom>
          <a:noFill/>
          <a:ln/>
        </p:spPr>
        <p:txBody>
          <a:bodyPr wrap="square" lIns="0" tIns="0" rIns="0" bIns="0" rtlCol="0" anchor="ctr"/>
          <a:lstStyle/>
          <a:p>
            <a:pPr indent="0" marL="0">
              <a:buNone/>
            </a:pPr>
            <a:r>
              <a:rPr lang="en-US" sz="1800" dirty="0">
                <a:solidFill>
                  <a:srgbClr val="1F1F1F"/>
                </a:solidFill>
              </a:rPr>
              <a:t>Acetaminophen or a topical NSAID</a:t>
            </a:r>
            <a:endParaRPr lang="en-US" sz="1800" dirty="0"/>
          </a:p>
        </p:txBody>
      </p:sp>
      <p:sp>
        <p:nvSpPr>
          <p:cNvPr id="15" name="Shape 13"/>
          <p:cNvSpPr/>
          <p:nvPr/>
        </p:nvSpPr>
        <p:spPr>
          <a:xfrm>
            <a:off x="548640" y="3557016"/>
            <a:ext cx="402336" cy="402336"/>
          </a:xfrm>
          <a:prstGeom prst="ellipse">
            <a:avLst/>
          </a:prstGeom>
          <a:solidFill>
            <a:srgbClr val="FFFFFF"/>
          </a:solidFill>
          <a:ln w="19050">
            <a:solidFill>
              <a:srgbClr val="4472C4"/>
            </a:solidFill>
            <a:prstDash val="solid"/>
          </a:ln>
        </p:spPr>
      </p:sp>
      <p:sp>
        <p:nvSpPr>
          <p:cNvPr id="16" name="Text 14"/>
          <p:cNvSpPr txBox="1"/>
          <p:nvPr/>
        </p:nvSpPr>
        <p:spPr>
          <a:xfrm>
            <a:off x="548640" y="3557016"/>
            <a:ext cx="402336" cy="402336"/>
          </a:xfrm>
          <a:prstGeom prst="rect">
            <a:avLst/>
          </a:prstGeom>
          <a:noFill/>
          <a:ln/>
        </p:spPr>
        <p:txBody>
          <a:bodyPr wrap="square" lIns="0" tIns="0" rIns="0" bIns="0" rtlCol="0" anchor="ctr"/>
          <a:lstStyle/>
          <a:p>
            <a:pPr algn="ctr" indent="0" marL="0">
              <a:buNone/>
            </a:pPr>
            <a:r>
              <a:rPr lang="en-US" sz="1400" b="1" dirty="0">
                <a:solidFill>
                  <a:srgbClr val="4472C4"/>
                </a:solidFill>
              </a:rPr>
              <a:t>C</a:t>
            </a:r>
            <a:endParaRPr lang="en-US" sz="1400" dirty="0"/>
          </a:p>
        </p:txBody>
      </p:sp>
      <p:sp>
        <p:nvSpPr>
          <p:cNvPr id="17" name="Option C"/>
          <p:cNvSpPr txBox="1"/>
          <p:nvPr/>
        </p:nvSpPr>
        <p:spPr>
          <a:xfrm>
            <a:off x="1188720" y="3529584"/>
            <a:ext cx="10271455" cy="457200"/>
          </a:xfrm>
          <a:prstGeom prst="rect">
            <a:avLst/>
          </a:prstGeom>
          <a:noFill/>
          <a:ln/>
        </p:spPr>
        <p:txBody>
          <a:bodyPr wrap="square" lIns="0" tIns="0" rIns="0" bIns="0" rtlCol="0" anchor="ctr"/>
          <a:lstStyle/>
          <a:p>
            <a:pPr indent="0" marL="0">
              <a:buNone/>
            </a:pPr>
            <a:r>
              <a:rPr lang="en-US" sz="1800" dirty="0">
                <a:solidFill>
                  <a:srgbClr val="1F1F1F"/>
                </a:solidFill>
              </a:rPr>
              <a:t>Ketorolac for short courses</a:t>
            </a:r>
            <a:endParaRPr lang="en-US" sz="1800" dirty="0"/>
          </a:p>
        </p:txBody>
      </p:sp>
      <p:sp>
        <p:nvSpPr>
          <p:cNvPr id="18" name="Shape 16"/>
          <p:cNvSpPr/>
          <p:nvPr/>
        </p:nvSpPr>
        <p:spPr>
          <a:xfrm>
            <a:off x="548640" y="4105656"/>
            <a:ext cx="402336" cy="402336"/>
          </a:xfrm>
          <a:prstGeom prst="ellipse">
            <a:avLst/>
          </a:prstGeom>
          <a:solidFill>
            <a:srgbClr val="FFFFFF"/>
          </a:solidFill>
          <a:ln w="19050">
            <a:solidFill>
              <a:srgbClr val="4472C4"/>
            </a:solidFill>
            <a:prstDash val="solid"/>
          </a:ln>
        </p:spPr>
      </p:sp>
      <p:sp>
        <p:nvSpPr>
          <p:cNvPr id="19" name="Text 17"/>
          <p:cNvSpPr txBox="1"/>
          <p:nvPr/>
        </p:nvSpPr>
        <p:spPr>
          <a:xfrm>
            <a:off x="548640" y="4105656"/>
            <a:ext cx="402336" cy="402336"/>
          </a:xfrm>
          <a:prstGeom prst="rect">
            <a:avLst/>
          </a:prstGeom>
          <a:noFill/>
          <a:ln/>
        </p:spPr>
        <p:txBody>
          <a:bodyPr wrap="square" lIns="0" tIns="0" rIns="0" bIns="0" rtlCol="0" anchor="ctr"/>
          <a:lstStyle/>
          <a:p>
            <a:pPr algn="ctr" indent="0" marL="0">
              <a:buNone/>
            </a:pPr>
            <a:r>
              <a:rPr lang="en-US" sz="1400" b="1" dirty="0">
                <a:solidFill>
                  <a:srgbClr val="4472C4"/>
                </a:solidFill>
              </a:rPr>
              <a:t>D</a:t>
            </a:r>
            <a:endParaRPr lang="en-US" sz="1400" dirty="0"/>
          </a:p>
        </p:txBody>
      </p:sp>
      <p:sp>
        <p:nvSpPr>
          <p:cNvPr id="20" name="Option D"/>
          <p:cNvSpPr txBox="1"/>
          <p:nvPr/>
        </p:nvSpPr>
        <p:spPr>
          <a:xfrm>
            <a:off x="1188720" y="4078224"/>
            <a:ext cx="10271455" cy="457200"/>
          </a:xfrm>
          <a:prstGeom prst="rect">
            <a:avLst/>
          </a:prstGeom>
          <a:noFill/>
          <a:ln/>
        </p:spPr>
        <p:txBody>
          <a:bodyPr wrap="square" lIns="0" tIns="0" rIns="0" bIns="0" rtlCol="0" anchor="ctr"/>
          <a:lstStyle/>
          <a:p>
            <a:pPr indent="0" marL="0">
              <a:buNone/>
            </a:pPr>
            <a:r>
              <a:rPr lang="en-US" sz="1800" dirty="0">
                <a:solidFill>
                  <a:srgbClr val="1F1F1F"/>
                </a:solidFill>
              </a:rPr>
              <a:t>Oral naproxen twice daily</a:t>
            </a:r>
            <a:endParaRPr lang="en-US" sz="1800" dirty="0"/>
          </a:p>
        </p:txBody>
      </p:sp>
      <p:sp>
        <p:nvSpPr>
          <p:cNvPr id="21" name="Shape 19"/>
          <p:cNvSpPr/>
          <p:nvPr/>
        </p:nvSpPr>
        <p:spPr>
          <a:xfrm>
            <a:off x="548640" y="4654296"/>
            <a:ext cx="402336" cy="402336"/>
          </a:xfrm>
          <a:prstGeom prst="ellipse">
            <a:avLst/>
          </a:prstGeom>
          <a:solidFill>
            <a:srgbClr val="FFFFFF"/>
          </a:solidFill>
          <a:ln w="19050">
            <a:solidFill>
              <a:srgbClr val="4472C4"/>
            </a:solidFill>
            <a:prstDash val="solid"/>
          </a:ln>
        </p:spPr>
      </p:sp>
      <p:sp>
        <p:nvSpPr>
          <p:cNvPr id="22" name="Text 20"/>
          <p:cNvSpPr txBox="1"/>
          <p:nvPr/>
        </p:nvSpPr>
        <p:spPr>
          <a:xfrm>
            <a:off x="548640" y="4654296"/>
            <a:ext cx="402336" cy="402336"/>
          </a:xfrm>
          <a:prstGeom prst="rect">
            <a:avLst/>
          </a:prstGeom>
          <a:noFill/>
          <a:ln/>
        </p:spPr>
        <p:txBody>
          <a:bodyPr wrap="square" lIns="0" tIns="0" rIns="0" bIns="0" rtlCol="0" anchor="ctr"/>
          <a:lstStyle/>
          <a:p>
            <a:pPr algn="ctr" indent="0" marL="0">
              <a:buNone/>
            </a:pPr>
            <a:r>
              <a:rPr lang="en-US" sz="1400" b="1" dirty="0">
                <a:solidFill>
                  <a:srgbClr val="4472C4"/>
                </a:solidFill>
              </a:rPr>
              <a:t>E</a:t>
            </a:r>
            <a:endParaRPr lang="en-US" sz="1400" dirty="0"/>
          </a:p>
        </p:txBody>
      </p:sp>
      <p:sp>
        <p:nvSpPr>
          <p:cNvPr id="23" name="Option E"/>
          <p:cNvSpPr txBox="1"/>
          <p:nvPr/>
        </p:nvSpPr>
        <p:spPr>
          <a:xfrm>
            <a:off x="1188720" y="4626864"/>
            <a:ext cx="10271455" cy="457200"/>
          </a:xfrm>
          <a:prstGeom prst="rect">
            <a:avLst/>
          </a:prstGeom>
          <a:noFill/>
          <a:ln/>
        </p:spPr>
        <p:txBody>
          <a:bodyPr wrap="square" lIns="0" tIns="0" rIns="0" bIns="0" rtlCol="0" anchor="ctr"/>
          <a:lstStyle/>
          <a:p>
            <a:pPr indent="0" marL="0">
              <a:buNone/>
            </a:pPr>
            <a:r>
              <a:rPr lang="en-US" sz="1800" dirty="0">
                <a:solidFill>
                  <a:srgbClr val="1F1F1F"/>
                </a:solidFill>
              </a:rPr>
              <a:t>Oral celecoxib once daily</a:t>
            </a:r>
            <a:endParaRPr lang="en-US" sz="1800" dirty="0"/>
          </a:p>
        </p:txBody>
      </p:sp>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name="Slide 120">
    <p:bg>
      <p:bgPr>
        <a:solidFill>
          <a:srgbClr val="FFFFFF"/>
        </a:solidFill>
      </p:bgPr>
    </p:bg>
    <p:spTree>
      <p:nvGrpSpPr>
        <p:cNvPr id="1" name=""/>
        <p:cNvGrpSpPr/>
        <p:nvPr/>
      </p:nvGrpSpPr>
      <p:grpSpPr>
        <a:xfrm>
          <a:off x="0" y="0"/>
          <a:ext cx="0" cy="0"/>
          <a:chOff x="0" y="0"/>
          <a:chExt cx="0" cy="0"/>
        </a:xfrm>
      </p:grpSpPr>
      <p:sp>
        <p:nvSpPr>
          <p:cNvPr id="2" name="Kicker"/>
          <p:cNvSpPr txBox="1"/>
          <p:nvPr/>
        </p:nvSpPr>
        <p:spPr>
          <a:xfrm>
            <a:off x="548640" y="292608"/>
            <a:ext cx="8076895" cy="274320"/>
          </a:xfrm>
          <a:prstGeom prst="rect">
            <a:avLst/>
          </a:prstGeom>
          <a:noFill/>
          <a:ln/>
        </p:spPr>
        <p:txBody>
          <a:bodyPr wrap="square" lIns="0" tIns="0" rIns="0" bIns="0" rtlCol="0" anchor="ctr"/>
          <a:lstStyle/>
          <a:p>
            <a:pPr indent="0" marL="0">
              <a:buNone/>
            </a:pPr>
            <a:r>
              <a:rPr lang="en-US" sz="1200" b="1" spc="100" kern="0" dirty="0">
                <a:solidFill>
                  <a:srgbClr val="4472C4"/>
                </a:solidFill>
              </a:rPr>
              <a:t>CLINICAL VIGNETTE · ANSWER</a:t>
            </a:r>
            <a:endParaRPr lang="en-US" sz="1200" dirty="0"/>
          </a:p>
        </p:txBody>
      </p:sp>
      <p:sp>
        <p:nvSpPr>
          <p:cNvPr id="3" name="Title"/>
          <p:cNvSpPr txBox="1"/>
          <p:nvPr/>
        </p:nvSpPr>
        <p:spPr>
          <a:xfrm>
            <a:off x="548640" y="566928"/>
            <a:ext cx="8076895" cy="713232"/>
          </a:xfrm>
          <a:prstGeom prst="rect">
            <a:avLst/>
          </a:prstGeom>
          <a:noFill/>
          <a:ln/>
        </p:spPr>
        <p:txBody>
          <a:bodyPr wrap="square" lIns="0" tIns="0" rIns="0" bIns="0" rtlCol="0" anchor="t"/>
          <a:lstStyle/>
          <a:p>
            <a:pPr indent="0" marL="0">
              <a:buNone/>
            </a:pPr>
            <a:r>
              <a:rPr lang="en-US" sz="3000" b="1" dirty="0">
                <a:solidFill>
                  <a:srgbClr val="1F1F1F"/>
                </a:solidFill>
                <a:latin typeface="Calibri" pitchFamily="34" charset="0"/>
                <a:ea typeface="Calibri" pitchFamily="34" charset="-122"/>
                <a:cs typeface="Calibri" pitchFamily="34" charset="-120"/>
              </a:rPr>
              <a:t>Answer 29: B</a:t>
            </a:r>
            <a:endParaRPr lang="en-US" sz="3000" dirty="0"/>
          </a:p>
        </p:txBody>
      </p:sp>
      <p:sp>
        <p:nvSpPr>
          <p:cNvPr id="4" name="Objective chip"/>
          <p:cNvSpPr/>
          <p:nvPr/>
        </p:nvSpPr>
        <p:spPr>
          <a:xfrm>
            <a:off x="8899855" y="365760"/>
            <a:ext cx="2743200" cy="384048"/>
          </a:xfrm>
          <a:prstGeom prst="roundRect">
            <a:avLst>
              <a:gd name="adj" fmla="val 35714"/>
            </a:avLst>
          </a:prstGeom>
          <a:solidFill>
            <a:srgbClr val="E3EBF8"/>
          </a:solidFill>
          <a:ln/>
        </p:spPr>
        <p:txBody>
          <a:bodyPr wrap="square" lIns="25400" tIns="25400" rIns="25400" bIns="25400" rtlCol="0" anchor="ctr"/>
          <a:lstStyle/>
          <a:p>
            <a:pPr algn="ctr" indent="0" marL="0">
              <a:buNone/>
            </a:pPr>
            <a:r>
              <a:rPr lang="en-US" sz="1200" b="1" dirty="0">
                <a:solidFill>
                  <a:srgbClr val="2F4F8A"/>
                </a:solidFill>
              </a:rPr>
              <a:t>Objectives: SO5 · IO2.3 · IO2.4</a:t>
            </a:r>
            <a:endParaRPr lang="en-US" sz="1200" dirty="0"/>
          </a:p>
        </p:txBody>
      </p:sp>
      <p:sp>
        <p:nvSpPr>
          <p:cNvPr id="5" name="Footer"/>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1000" dirty="0">
                <a:solidFill>
                  <a:srgbClr val="666666"/>
                </a:solidFill>
              </a:rPr>
              <a:t>L04 · Musculoskeletal Pharmacology — Session 2</a:t>
            </a:r>
            <a:endParaRPr lang="en-US" sz="1000" dirty="0"/>
          </a:p>
        </p:txBody>
      </p:sp>
      <p:sp>
        <p:nvSpPr>
          <p:cNvPr id="6" name="Slide number"/>
          <p:cNvSpPr txBox="1"/>
          <p:nvPr/>
        </p:nvSpPr>
        <p:spPr>
          <a:xfrm>
            <a:off x="10728655" y="6419088"/>
            <a:ext cx="914400" cy="274320"/>
          </a:xfrm>
          <a:prstGeom prst="rect">
            <a:avLst/>
          </a:prstGeom>
          <a:noFill/>
          <a:ln/>
        </p:spPr>
        <p:txBody>
          <a:bodyPr wrap="square" lIns="0" tIns="0" rIns="0" bIns="0" rtlCol="0" anchor="ctr"/>
          <a:lstStyle/>
          <a:p>
            <a:pPr algn="r" indent="0" marL="0">
              <a:buNone/>
            </a:pPr>
            <a:r>
              <a:rPr lang="en-US" sz="1000" dirty="0">
                <a:solidFill>
                  <a:srgbClr val="666666"/>
                </a:solidFill>
              </a:rPr>
              <a:t>120</a:t>
            </a:r>
            <a:endParaRPr lang="en-US" sz="1000" dirty="0"/>
          </a:p>
        </p:txBody>
      </p:sp>
      <p:sp>
        <p:nvSpPr>
          <p:cNvPr id="7" name="Correct answer"/>
          <p:cNvSpPr/>
          <p:nvPr/>
        </p:nvSpPr>
        <p:spPr>
          <a:xfrm>
            <a:off x="548640" y="1325880"/>
            <a:ext cx="11094415" cy="548640"/>
          </a:xfrm>
          <a:prstGeom prst="roundRect">
            <a:avLst>
              <a:gd name="adj" fmla="val 16667"/>
            </a:avLst>
          </a:prstGeom>
          <a:solidFill>
            <a:srgbClr val="E2F0D9"/>
          </a:solidFill>
          <a:ln w="19050">
            <a:solidFill>
              <a:srgbClr val="548235"/>
            </a:solidFill>
            <a:prstDash val="solid"/>
          </a:ln>
        </p:spPr>
      </p:sp>
      <p:pic>
        <p:nvPicPr>
          <p:cNvPr id="8" name="Image 0" descr="preencoded.png">    </p:cNvPr>
          <p:cNvPicPr>
            <a:picLocks noChangeAspect="1"/>
          </p:cNvPicPr>
          <p:nvPr/>
        </p:nvPicPr>
        <p:blipFill>
          <a:blip r:embed="rId1"/>
          <a:stretch>
            <a:fillRect/>
          </a:stretch>
        </p:blipFill>
        <p:spPr>
          <a:xfrm>
            <a:off x="731520" y="1435608"/>
            <a:ext cx="329184" cy="329184"/>
          </a:xfrm>
          <a:prstGeom prst="rect">
            <a:avLst/>
          </a:prstGeom>
        </p:spPr>
      </p:pic>
      <p:sp>
        <p:nvSpPr>
          <p:cNvPr id="9" name="Text 6"/>
          <p:cNvSpPr txBox="1"/>
          <p:nvPr/>
        </p:nvSpPr>
        <p:spPr>
          <a:xfrm>
            <a:off x="1234440" y="1325880"/>
            <a:ext cx="10180015" cy="548640"/>
          </a:xfrm>
          <a:prstGeom prst="rect">
            <a:avLst/>
          </a:prstGeom>
          <a:noFill/>
          <a:ln/>
        </p:spPr>
        <p:txBody>
          <a:bodyPr wrap="square" lIns="0" tIns="0" rIns="0" bIns="0" rtlCol="0" anchor="ctr"/>
          <a:lstStyle/>
          <a:p>
            <a:pPr indent="0" marL="0">
              <a:buNone/>
            </a:pPr>
            <a:r>
              <a:rPr lang="en-US" sz="1600" b="1" dirty="0">
                <a:solidFill>
                  <a:srgbClr val="1F1F1F"/>
                </a:solidFill>
              </a:rPr>
              <a:t>B. </a:t>
            </a:r>
            <a:r>
              <a:rPr lang="en-US" sz="1600" b="1" dirty="0">
                <a:solidFill>
                  <a:srgbClr val="1F1F1F"/>
                </a:solidFill>
              </a:rPr>
              <a:t>Acetaminophen or a topical NSAID</a:t>
            </a:r>
            <a:endParaRPr lang="en-US" sz="1600" dirty="0"/>
          </a:p>
        </p:txBody>
      </p:sp>
      <p:sp>
        <p:nvSpPr>
          <p:cNvPr id="10" name="Why correct"/>
          <p:cNvSpPr txBox="1"/>
          <p:nvPr/>
        </p:nvSpPr>
        <p:spPr>
          <a:xfrm>
            <a:off x="777240" y="2011680"/>
            <a:ext cx="10637215" cy="724408"/>
          </a:xfrm>
          <a:prstGeom prst="rect">
            <a:avLst/>
          </a:prstGeom>
          <a:noFill/>
          <a:ln/>
        </p:spPr>
        <p:txBody>
          <a:bodyPr wrap="square" lIns="0" tIns="0" rIns="0" bIns="0" rtlCol="0" anchor="t"/>
          <a:lstStyle/>
          <a:p>
            <a:pPr indent="0" marL="0">
              <a:buNone/>
            </a:pPr>
            <a:r>
              <a:rPr lang="en-US" sz="1600" dirty="0">
                <a:solidFill>
                  <a:srgbClr val="1F1F1F"/>
                </a:solidFill>
              </a:rPr>
              <a:t>Acetaminophen or a topical NSAID avoids the systemic renal/CV risk of oral NSAIDs in a patient with CKD and heart failure (S71).</a:t>
            </a:r>
            <a:r>
              <a:rPr lang="en-US" sz="1100" dirty="0">
                <a:solidFill>
                  <a:srgbClr val="666666"/>
                </a:solidFill>
              </a:rPr>
              <a:t>  S69; S71</a:t>
            </a:r>
            <a:endParaRPr lang="en-US" sz="1600" dirty="0"/>
          </a:p>
        </p:txBody>
      </p:sp>
      <p:sp>
        <p:nvSpPr>
          <p:cNvPr id="11" name="Why others wrong card"/>
          <p:cNvSpPr/>
          <p:nvPr/>
        </p:nvSpPr>
        <p:spPr>
          <a:xfrm>
            <a:off x="548640" y="2873248"/>
            <a:ext cx="11094415" cy="1704848"/>
          </a:xfrm>
          <a:prstGeom prst="roundRect">
            <a:avLst>
              <a:gd name="adj" fmla="val 5364"/>
            </a:avLst>
          </a:prstGeom>
          <a:solidFill>
            <a:srgbClr val="F2F4F7"/>
          </a:solidFill>
          <a:ln w="12700">
            <a:solidFill>
              <a:srgbClr val="F2F4F7"/>
            </a:solidFill>
            <a:prstDash val="solid"/>
          </a:ln>
        </p:spPr>
      </p:sp>
      <p:sp>
        <p:nvSpPr>
          <p:cNvPr id="12" name="Why others wrong"/>
          <p:cNvSpPr txBox="1"/>
          <p:nvPr/>
        </p:nvSpPr>
        <p:spPr>
          <a:xfrm>
            <a:off x="777240" y="2982976"/>
            <a:ext cx="10637215" cy="1521968"/>
          </a:xfrm>
          <a:prstGeom prst="rect">
            <a:avLst/>
          </a:prstGeom>
          <a:noFill/>
          <a:ln/>
        </p:spPr>
        <p:txBody>
          <a:bodyPr wrap="square" lIns="0" tIns="0" rIns="0" bIns="0" rtlCol="0" anchor="t"/>
          <a:lstStyle/>
          <a:p>
            <a:pPr indent="0" marL="0">
              <a:spcAft>
                <a:spcPts val="400"/>
              </a:spcAft>
              <a:buNone/>
            </a:pPr>
            <a:r>
              <a:rPr lang="en-US" sz="1600" b="1" dirty="0">
                <a:solidFill>
                  <a:srgbClr val="C00000"/>
                </a:solidFill>
              </a:rPr>
              <a:t>Why the other choices are wrong</a:t>
            </a:r>
            <a:endParaRPr lang="en-US" sz="1600" dirty="0"/>
          </a:p>
          <a:p>
            <a:pPr indent="0" marL="0">
              <a:buNone/>
            </a:pPr>
            <a:r>
              <a:rPr lang="en-US" sz="1600" b="1" dirty="0">
                <a:solidFill>
                  <a:srgbClr val="1F1F1F"/>
                </a:solidFill>
              </a:rPr>
              <a:t>A. Oral ibuprofen at full dose — </a:t>
            </a:r>
            <a:r>
              <a:rPr lang="en-US" sz="1600" dirty="0">
                <a:solidFill>
                  <a:srgbClr val="1F1F1F"/>
                </a:solidFill>
              </a:rPr>
              <a:t>Oral NSAIDs carry renal and CV risk (S71).</a:t>
            </a:r>
            <a:endParaRPr lang="en-US" sz="1600" dirty="0"/>
          </a:p>
          <a:p>
            <a:pPr indent="0" marL="0">
              <a:buNone/>
            </a:pPr>
            <a:r>
              <a:rPr lang="en-US" sz="1600" b="1" dirty="0">
                <a:solidFill>
                  <a:srgbClr val="1F1F1F"/>
                </a:solidFill>
              </a:rPr>
              <a:t>C. Ketorolac for short courses — </a:t>
            </a:r>
            <a:r>
              <a:rPr lang="en-US" sz="1600" dirty="0">
                <a:solidFill>
                  <a:srgbClr val="1F1F1F"/>
                </a:solidFill>
              </a:rPr>
              <a:t>Short-term only, significant GI/renal risk (Session 1).</a:t>
            </a:r>
            <a:endParaRPr lang="en-US" sz="1600" dirty="0"/>
          </a:p>
          <a:p>
            <a:pPr indent="0" marL="0">
              <a:buNone/>
            </a:pPr>
            <a:r>
              <a:rPr lang="en-US" sz="1600" b="1" dirty="0">
                <a:solidFill>
                  <a:srgbClr val="1F1F1F"/>
                </a:solidFill>
              </a:rPr>
              <a:t>D. Oral naproxen twice daily — </a:t>
            </a:r>
            <a:r>
              <a:rPr lang="en-US" sz="1600" dirty="0">
                <a:solidFill>
                  <a:srgbClr val="1F1F1F"/>
                </a:solidFill>
              </a:rPr>
              <a:t>Still a systemic NSAID with renal/CV risk (S71).</a:t>
            </a:r>
            <a:endParaRPr lang="en-US" sz="1600" dirty="0"/>
          </a:p>
          <a:p>
            <a:pPr indent="0" marL="0">
              <a:buNone/>
            </a:pPr>
            <a:r>
              <a:rPr lang="en-US" sz="1600" b="1" dirty="0">
                <a:solidFill>
                  <a:srgbClr val="1F1F1F"/>
                </a:solidFill>
              </a:rPr>
              <a:t>E. Oral celecoxib once daily — </a:t>
            </a:r>
            <a:r>
              <a:rPr lang="en-US" sz="1600" dirty="0">
                <a:solidFill>
                  <a:srgbClr val="1F1F1F"/>
                </a:solidFill>
              </a:rPr>
              <a:t>COX-2 selectivity doesn’t spare the kidney and raises CV risk (Session 1).</a:t>
            </a:r>
            <a:endParaRPr lang="en-US" sz="1600" dirty="0"/>
          </a:p>
        </p:txBody>
      </p:sp>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name="Slide 121">
    <p:bg>
      <p:bgPr>
        <a:solidFill>
          <a:srgbClr val="FFFFFF"/>
        </a:solidFill>
      </p:bgPr>
    </p:bg>
    <p:spTree>
      <p:nvGrpSpPr>
        <p:cNvPr id="1" name=""/>
        <p:cNvGrpSpPr/>
        <p:nvPr/>
      </p:nvGrpSpPr>
      <p:grpSpPr>
        <a:xfrm>
          <a:off x="0" y="0"/>
          <a:ext cx="0" cy="0"/>
          <a:chOff x="0" y="0"/>
          <a:chExt cx="0" cy="0"/>
        </a:xfrm>
      </p:grpSpPr>
      <p:sp>
        <p:nvSpPr>
          <p:cNvPr id="2" name="Kicker"/>
          <p:cNvSpPr txBox="1"/>
          <p:nvPr/>
        </p:nvSpPr>
        <p:spPr>
          <a:xfrm>
            <a:off x="548640" y="292608"/>
            <a:ext cx="8076895" cy="274320"/>
          </a:xfrm>
          <a:prstGeom prst="rect">
            <a:avLst/>
          </a:prstGeom>
          <a:noFill/>
          <a:ln/>
        </p:spPr>
        <p:txBody>
          <a:bodyPr wrap="square" lIns="0" tIns="0" rIns="0" bIns="0" rtlCol="0" anchor="ctr"/>
          <a:lstStyle/>
          <a:p>
            <a:pPr indent="0" marL="0">
              <a:buNone/>
            </a:pPr>
            <a:r>
              <a:rPr lang="en-US" sz="1200" b="1" spc="100" kern="0" dirty="0">
                <a:solidFill>
                  <a:srgbClr val="4472C4"/>
                </a:solidFill>
              </a:rPr>
              <a:t>MECHANISM · LECTURE QUICK CHECK S69; S71</a:t>
            </a:r>
            <a:endParaRPr lang="en-US" sz="1200" dirty="0"/>
          </a:p>
        </p:txBody>
      </p:sp>
      <p:sp>
        <p:nvSpPr>
          <p:cNvPr id="3" name="Title"/>
          <p:cNvSpPr txBox="1"/>
          <p:nvPr/>
        </p:nvSpPr>
        <p:spPr>
          <a:xfrm>
            <a:off x="548640" y="566928"/>
            <a:ext cx="8076895" cy="713232"/>
          </a:xfrm>
          <a:prstGeom prst="rect">
            <a:avLst/>
          </a:prstGeom>
          <a:noFill/>
          <a:ln/>
        </p:spPr>
        <p:txBody>
          <a:bodyPr wrap="square" lIns="0" tIns="0" rIns="0" bIns="0" rtlCol="0" anchor="t"/>
          <a:lstStyle/>
          <a:p>
            <a:pPr indent="0" marL="0">
              <a:buNone/>
            </a:pPr>
            <a:r>
              <a:rPr lang="en-US" sz="3000" b="1" dirty="0">
                <a:solidFill>
                  <a:srgbClr val="1F1F1F"/>
                </a:solidFill>
                <a:latin typeface="Calibri" pitchFamily="34" charset="0"/>
                <a:ea typeface="Calibri" pitchFamily="34" charset="-122"/>
                <a:cs typeface="Calibri" pitchFamily="34" charset="-120"/>
              </a:rPr>
              <a:t>Question 30</a:t>
            </a:r>
            <a:endParaRPr lang="en-US" sz="3000" dirty="0"/>
          </a:p>
        </p:txBody>
      </p:sp>
      <p:sp>
        <p:nvSpPr>
          <p:cNvPr id="4" name="Objective chip"/>
          <p:cNvSpPr/>
          <p:nvPr/>
        </p:nvSpPr>
        <p:spPr>
          <a:xfrm>
            <a:off x="8899855" y="365760"/>
            <a:ext cx="2743200" cy="384048"/>
          </a:xfrm>
          <a:prstGeom prst="roundRect">
            <a:avLst>
              <a:gd name="adj" fmla="val 35714"/>
            </a:avLst>
          </a:prstGeom>
          <a:solidFill>
            <a:srgbClr val="E3EBF8"/>
          </a:solidFill>
          <a:ln/>
        </p:spPr>
        <p:txBody>
          <a:bodyPr wrap="square" lIns="25400" tIns="25400" rIns="25400" bIns="25400" rtlCol="0" anchor="ctr"/>
          <a:lstStyle/>
          <a:p>
            <a:pPr algn="ctr" indent="0" marL="0">
              <a:buNone/>
            </a:pPr>
            <a:r>
              <a:rPr lang="en-US" sz="1200" b="1" dirty="0">
                <a:solidFill>
                  <a:srgbClr val="2F4F8A"/>
                </a:solidFill>
              </a:rPr>
              <a:t>Objectives: SO5 · IO2.3 · IO2.4</a:t>
            </a:r>
            <a:endParaRPr lang="en-US" sz="1200" dirty="0"/>
          </a:p>
        </p:txBody>
      </p:sp>
      <p:sp>
        <p:nvSpPr>
          <p:cNvPr id="5" name="Footer"/>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1000" dirty="0">
                <a:solidFill>
                  <a:srgbClr val="666666"/>
                </a:solidFill>
              </a:rPr>
              <a:t>L04 · Musculoskeletal Pharmacology — Session 2</a:t>
            </a:r>
            <a:endParaRPr lang="en-US" sz="1000" dirty="0"/>
          </a:p>
        </p:txBody>
      </p:sp>
      <p:sp>
        <p:nvSpPr>
          <p:cNvPr id="6" name="Slide number"/>
          <p:cNvSpPr txBox="1"/>
          <p:nvPr/>
        </p:nvSpPr>
        <p:spPr>
          <a:xfrm>
            <a:off x="10728655" y="6419088"/>
            <a:ext cx="914400" cy="274320"/>
          </a:xfrm>
          <a:prstGeom prst="rect">
            <a:avLst/>
          </a:prstGeom>
          <a:noFill/>
          <a:ln/>
        </p:spPr>
        <p:txBody>
          <a:bodyPr wrap="square" lIns="0" tIns="0" rIns="0" bIns="0" rtlCol="0" anchor="ctr"/>
          <a:lstStyle/>
          <a:p>
            <a:pPr algn="r" indent="0" marL="0">
              <a:buNone/>
            </a:pPr>
            <a:r>
              <a:rPr lang="en-US" sz="1000" dirty="0">
                <a:solidFill>
                  <a:srgbClr val="666666"/>
                </a:solidFill>
              </a:rPr>
              <a:t>121</a:t>
            </a:r>
            <a:endParaRPr lang="en-US" sz="1000" dirty="0"/>
          </a:p>
        </p:txBody>
      </p:sp>
      <p:sp>
        <p:nvSpPr>
          <p:cNvPr id="7" name="Question stem card"/>
          <p:cNvSpPr/>
          <p:nvPr/>
        </p:nvSpPr>
        <p:spPr>
          <a:xfrm>
            <a:off x="548640" y="1325880"/>
            <a:ext cx="11094415" cy="644652"/>
          </a:xfrm>
          <a:prstGeom prst="roundRect">
            <a:avLst>
              <a:gd name="adj" fmla="val 14184"/>
            </a:avLst>
          </a:prstGeom>
          <a:solidFill>
            <a:srgbClr val="F2F4F7"/>
          </a:solidFill>
          <a:ln w="12700">
            <a:solidFill>
              <a:srgbClr val="F2F4F7"/>
            </a:solidFill>
            <a:prstDash val="solid"/>
          </a:ln>
        </p:spPr>
      </p:sp>
      <p:sp>
        <p:nvSpPr>
          <p:cNvPr id="8" name="Question stem"/>
          <p:cNvSpPr txBox="1"/>
          <p:nvPr/>
        </p:nvSpPr>
        <p:spPr>
          <a:xfrm>
            <a:off x="777240" y="1325880"/>
            <a:ext cx="10637215" cy="644652"/>
          </a:xfrm>
          <a:prstGeom prst="rect">
            <a:avLst/>
          </a:prstGeom>
          <a:noFill/>
          <a:ln/>
        </p:spPr>
        <p:txBody>
          <a:bodyPr wrap="square" lIns="0" tIns="0" rIns="0" bIns="0" rtlCol="0" anchor="ctr"/>
          <a:lstStyle/>
          <a:p>
            <a:pPr indent="0" marL="0">
              <a:buNone/>
            </a:pPr>
            <a:r>
              <a:rPr lang="en-US" sz="1800" dirty="0">
                <a:solidFill>
                  <a:srgbClr val="1F1F1F"/>
                </a:solidFill>
              </a:rPr>
              <a:t>Which pairing correctly matches a drug with its primary mechanism?</a:t>
            </a:r>
            <a:endParaRPr lang="en-US" sz="1800" dirty="0"/>
          </a:p>
        </p:txBody>
      </p:sp>
      <p:sp>
        <p:nvSpPr>
          <p:cNvPr id="9" name="Shape 7"/>
          <p:cNvSpPr/>
          <p:nvPr/>
        </p:nvSpPr>
        <p:spPr>
          <a:xfrm>
            <a:off x="548640" y="2180844"/>
            <a:ext cx="402336" cy="402336"/>
          </a:xfrm>
          <a:prstGeom prst="ellipse">
            <a:avLst/>
          </a:prstGeom>
          <a:solidFill>
            <a:srgbClr val="FFFFFF"/>
          </a:solidFill>
          <a:ln w="19050">
            <a:solidFill>
              <a:srgbClr val="4472C4"/>
            </a:solidFill>
            <a:prstDash val="solid"/>
          </a:ln>
        </p:spPr>
      </p:sp>
      <p:sp>
        <p:nvSpPr>
          <p:cNvPr id="10" name="Text 8"/>
          <p:cNvSpPr txBox="1"/>
          <p:nvPr/>
        </p:nvSpPr>
        <p:spPr>
          <a:xfrm>
            <a:off x="548640" y="2180844"/>
            <a:ext cx="402336" cy="402336"/>
          </a:xfrm>
          <a:prstGeom prst="rect">
            <a:avLst/>
          </a:prstGeom>
          <a:noFill/>
          <a:ln/>
        </p:spPr>
        <p:txBody>
          <a:bodyPr wrap="square" lIns="0" tIns="0" rIns="0" bIns="0" rtlCol="0" anchor="ctr"/>
          <a:lstStyle/>
          <a:p>
            <a:pPr algn="ctr" indent="0" marL="0">
              <a:buNone/>
            </a:pPr>
            <a:r>
              <a:rPr lang="en-US" sz="1400" b="1" dirty="0">
                <a:solidFill>
                  <a:srgbClr val="4472C4"/>
                </a:solidFill>
              </a:rPr>
              <a:t>A</a:t>
            </a:r>
            <a:endParaRPr lang="en-US" sz="1400" dirty="0"/>
          </a:p>
        </p:txBody>
      </p:sp>
      <p:sp>
        <p:nvSpPr>
          <p:cNvPr id="11" name="Option A"/>
          <p:cNvSpPr txBox="1"/>
          <p:nvPr/>
        </p:nvSpPr>
        <p:spPr>
          <a:xfrm>
            <a:off x="1188720" y="2153412"/>
            <a:ext cx="10271455" cy="457200"/>
          </a:xfrm>
          <a:prstGeom prst="rect">
            <a:avLst/>
          </a:prstGeom>
          <a:noFill/>
          <a:ln/>
        </p:spPr>
        <p:txBody>
          <a:bodyPr wrap="square" lIns="0" tIns="0" rIns="0" bIns="0" rtlCol="0" anchor="ctr"/>
          <a:lstStyle/>
          <a:p>
            <a:pPr indent="0" marL="0">
              <a:buNone/>
            </a:pPr>
            <a:r>
              <a:rPr lang="en-US" sz="1800" dirty="0">
                <a:solidFill>
                  <a:srgbClr val="1F1F1F"/>
                </a:solidFill>
              </a:rPr>
              <a:t>Allopurinol — microtubule disruption</a:t>
            </a:r>
            <a:endParaRPr lang="en-US" sz="1800" dirty="0"/>
          </a:p>
        </p:txBody>
      </p:sp>
      <p:sp>
        <p:nvSpPr>
          <p:cNvPr id="12" name="Shape 10"/>
          <p:cNvSpPr/>
          <p:nvPr/>
        </p:nvSpPr>
        <p:spPr>
          <a:xfrm>
            <a:off x="548640" y="2729484"/>
            <a:ext cx="402336" cy="402336"/>
          </a:xfrm>
          <a:prstGeom prst="ellipse">
            <a:avLst/>
          </a:prstGeom>
          <a:solidFill>
            <a:srgbClr val="FFFFFF"/>
          </a:solidFill>
          <a:ln w="19050">
            <a:solidFill>
              <a:srgbClr val="4472C4"/>
            </a:solidFill>
            <a:prstDash val="solid"/>
          </a:ln>
        </p:spPr>
      </p:sp>
      <p:sp>
        <p:nvSpPr>
          <p:cNvPr id="13" name="Text 11"/>
          <p:cNvSpPr txBox="1"/>
          <p:nvPr/>
        </p:nvSpPr>
        <p:spPr>
          <a:xfrm>
            <a:off x="548640" y="2729484"/>
            <a:ext cx="402336" cy="402336"/>
          </a:xfrm>
          <a:prstGeom prst="rect">
            <a:avLst/>
          </a:prstGeom>
          <a:noFill/>
          <a:ln/>
        </p:spPr>
        <p:txBody>
          <a:bodyPr wrap="square" lIns="0" tIns="0" rIns="0" bIns="0" rtlCol="0" anchor="ctr"/>
          <a:lstStyle/>
          <a:p>
            <a:pPr algn="ctr" indent="0" marL="0">
              <a:buNone/>
            </a:pPr>
            <a:r>
              <a:rPr lang="en-US" sz="1400" b="1" dirty="0">
                <a:solidFill>
                  <a:srgbClr val="4472C4"/>
                </a:solidFill>
              </a:rPr>
              <a:t>B</a:t>
            </a:r>
            <a:endParaRPr lang="en-US" sz="1400" dirty="0"/>
          </a:p>
        </p:txBody>
      </p:sp>
      <p:sp>
        <p:nvSpPr>
          <p:cNvPr id="14" name="Option B"/>
          <p:cNvSpPr txBox="1"/>
          <p:nvPr/>
        </p:nvSpPr>
        <p:spPr>
          <a:xfrm>
            <a:off x="1188720" y="2702052"/>
            <a:ext cx="10271455" cy="457200"/>
          </a:xfrm>
          <a:prstGeom prst="rect">
            <a:avLst/>
          </a:prstGeom>
          <a:noFill/>
          <a:ln/>
        </p:spPr>
        <p:txBody>
          <a:bodyPr wrap="square" lIns="0" tIns="0" rIns="0" bIns="0" rtlCol="0" anchor="ctr"/>
          <a:lstStyle/>
          <a:p>
            <a:pPr indent="0" marL="0">
              <a:buNone/>
            </a:pPr>
            <a:r>
              <a:rPr lang="en-US" sz="1800" dirty="0">
                <a:solidFill>
                  <a:srgbClr val="1F1F1F"/>
                </a:solidFill>
              </a:rPr>
              <a:t>Baclofen — skeletal muscle calcium channel block</a:t>
            </a:r>
            <a:endParaRPr lang="en-US" sz="1800" dirty="0"/>
          </a:p>
        </p:txBody>
      </p:sp>
      <p:sp>
        <p:nvSpPr>
          <p:cNvPr id="15" name="Shape 13"/>
          <p:cNvSpPr/>
          <p:nvPr/>
        </p:nvSpPr>
        <p:spPr>
          <a:xfrm>
            <a:off x="548640" y="3278124"/>
            <a:ext cx="402336" cy="402336"/>
          </a:xfrm>
          <a:prstGeom prst="ellipse">
            <a:avLst/>
          </a:prstGeom>
          <a:solidFill>
            <a:srgbClr val="FFFFFF"/>
          </a:solidFill>
          <a:ln w="19050">
            <a:solidFill>
              <a:srgbClr val="4472C4"/>
            </a:solidFill>
            <a:prstDash val="solid"/>
          </a:ln>
        </p:spPr>
      </p:sp>
      <p:sp>
        <p:nvSpPr>
          <p:cNvPr id="16" name="Text 14"/>
          <p:cNvSpPr txBox="1"/>
          <p:nvPr/>
        </p:nvSpPr>
        <p:spPr>
          <a:xfrm>
            <a:off x="548640" y="3278124"/>
            <a:ext cx="402336" cy="402336"/>
          </a:xfrm>
          <a:prstGeom prst="rect">
            <a:avLst/>
          </a:prstGeom>
          <a:noFill/>
          <a:ln/>
        </p:spPr>
        <p:txBody>
          <a:bodyPr wrap="square" lIns="0" tIns="0" rIns="0" bIns="0" rtlCol="0" anchor="ctr"/>
          <a:lstStyle/>
          <a:p>
            <a:pPr algn="ctr" indent="0" marL="0">
              <a:buNone/>
            </a:pPr>
            <a:r>
              <a:rPr lang="en-US" sz="1400" b="1" dirty="0">
                <a:solidFill>
                  <a:srgbClr val="4472C4"/>
                </a:solidFill>
              </a:rPr>
              <a:t>C</a:t>
            </a:r>
            <a:endParaRPr lang="en-US" sz="1400" dirty="0"/>
          </a:p>
        </p:txBody>
      </p:sp>
      <p:sp>
        <p:nvSpPr>
          <p:cNvPr id="17" name="Option C"/>
          <p:cNvSpPr txBox="1"/>
          <p:nvPr/>
        </p:nvSpPr>
        <p:spPr>
          <a:xfrm>
            <a:off x="1188720" y="3250692"/>
            <a:ext cx="10271455" cy="457200"/>
          </a:xfrm>
          <a:prstGeom prst="rect">
            <a:avLst/>
          </a:prstGeom>
          <a:noFill/>
          <a:ln/>
        </p:spPr>
        <p:txBody>
          <a:bodyPr wrap="square" lIns="0" tIns="0" rIns="0" bIns="0" rtlCol="0" anchor="ctr"/>
          <a:lstStyle/>
          <a:p>
            <a:pPr indent="0" marL="0">
              <a:buNone/>
            </a:pPr>
            <a:r>
              <a:rPr lang="en-US" sz="1800" dirty="0">
                <a:solidFill>
                  <a:srgbClr val="1F1F1F"/>
                </a:solidFill>
              </a:rPr>
              <a:t>Dantrolene — GABA-B agonism in the spinal cord</a:t>
            </a:r>
            <a:endParaRPr lang="en-US" sz="1800" dirty="0"/>
          </a:p>
        </p:txBody>
      </p:sp>
      <p:sp>
        <p:nvSpPr>
          <p:cNvPr id="18" name="Shape 16"/>
          <p:cNvSpPr/>
          <p:nvPr/>
        </p:nvSpPr>
        <p:spPr>
          <a:xfrm>
            <a:off x="548640" y="3826764"/>
            <a:ext cx="402336" cy="402336"/>
          </a:xfrm>
          <a:prstGeom prst="ellipse">
            <a:avLst/>
          </a:prstGeom>
          <a:solidFill>
            <a:srgbClr val="FFFFFF"/>
          </a:solidFill>
          <a:ln w="19050">
            <a:solidFill>
              <a:srgbClr val="4472C4"/>
            </a:solidFill>
            <a:prstDash val="solid"/>
          </a:ln>
        </p:spPr>
      </p:sp>
      <p:sp>
        <p:nvSpPr>
          <p:cNvPr id="19" name="Text 17"/>
          <p:cNvSpPr txBox="1"/>
          <p:nvPr/>
        </p:nvSpPr>
        <p:spPr>
          <a:xfrm>
            <a:off x="548640" y="3826764"/>
            <a:ext cx="402336" cy="402336"/>
          </a:xfrm>
          <a:prstGeom prst="rect">
            <a:avLst/>
          </a:prstGeom>
          <a:noFill/>
          <a:ln/>
        </p:spPr>
        <p:txBody>
          <a:bodyPr wrap="square" lIns="0" tIns="0" rIns="0" bIns="0" rtlCol="0" anchor="ctr"/>
          <a:lstStyle/>
          <a:p>
            <a:pPr algn="ctr" indent="0" marL="0">
              <a:buNone/>
            </a:pPr>
            <a:r>
              <a:rPr lang="en-US" sz="1400" b="1" dirty="0">
                <a:solidFill>
                  <a:srgbClr val="4472C4"/>
                </a:solidFill>
              </a:rPr>
              <a:t>D</a:t>
            </a:r>
            <a:endParaRPr lang="en-US" sz="1400" dirty="0"/>
          </a:p>
        </p:txBody>
      </p:sp>
      <p:sp>
        <p:nvSpPr>
          <p:cNvPr id="20" name="Option D"/>
          <p:cNvSpPr txBox="1"/>
          <p:nvPr/>
        </p:nvSpPr>
        <p:spPr>
          <a:xfrm>
            <a:off x="1188720" y="3799332"/>
            <a:ext cx="10271455" cy="457200"/>
          </a:xfrm>
          <a:prstGeom prst="rect">
            <a:avLst/>
          </a:prstGeom>
          <a:noFill/>
          <a:ln/>
        </p:spPr>
        <p:txBody>
          <a:bodyPr wrap="square" lIns="0" tIns="0" rIns="0" bIns="0" rtlCol="0" anchor="ctr"/>
          <a:lstStyle/>
          <a:p>
            <a:pPr indent="0" marL="0">
              <a:buNone/>
            </a:pPr>
            <a:r>
              <a:rPr lang="en-US" sz="1800" dirty="0">
                <a:solidFill>
                  <a:srgbClr val="1F1F1F"/>
                </a:solidFill>
              </a:rPr>
              <a:t>Methotrexate — dihydrofolate reductase inhibition</a:t>
            </a:r>
            <a:endParaRPr lang="en-US" sz="1800" dirty="0"/>
          </a:p>
        </p:txBody>
      </p:sp>
      <p:sp>
        <p:nvSpPr>
          <p:cNvPr id="21" name="Shape 19"/>
          <p:cNvSpPr/>
          <p:nvPr/>
        </p:nvSpPr>
        <p:spPr>
          <a:xfrm>
            <a:off x="548640" y="4375404"/>
            <a:ext cx="402336" cy="402336"/>
          </a:xfrm>
          <a:prstGeom prst="ellipse">
            <a:avLst/>
          </a:prstGeom>
          <a:solidFill>
            <a:srgbClr val="FFFFFF"/>
          </a:solidFill>
          <a:ln w="19050">
            <a:solidFill>
              <a:srgbClr val="4472C4"/>
            </a:solidFill>
            <a:prstDash val="solid"/>
          </a:ln>
        </p:spPr>
      </p:sp>
      <p:sp>
        <p:nvSpPr>
          <p:cNvPr id="22" name="Text 20"/>
          <p:cNvSpPr txBox="1"/>
          <p:nvPr/>
        </p:nvSpPr>
        <p:spPr>
          <a:xfrm>
            <a:off x="548640" y="4375404"/>
            <a:ext cx="402336" cy="402336"/>
          </a:xfrm>
          <a:prstGeom prst="rect">
            <a:avLst/>
          </a:prstGeom>
          <a:noFill/>
          <a:ln/>
        </p:spPr>
        <p:txBody>
          <a:bodyPr wrap="square" lIns="0" tIns="0" rIns="0" bIns="0" rtlCol="0" anchor="ctr"/>
          <a:lstStyle/>
          <a:p>
            <a:pPr algn="ctr" indent="0" marL="0">
              <a:buNone/>
            </a:pPr>
            <a:r>
              <a:rPr lang="en-US" sz="1400" b="1" dirty="0">
                <a:solidFill>
                  <a:srgbClr val="4472C4"/>
                </a:solidFill>
              </a:rPr>
              <a:t>E</a:t>
            </a:r>
            <a:endParaRPr lang="en-US" sz="1400" dirty="0"/>
          </a:p>
        </p:txBody>
      </p:sp>
      <p:sp>
        <p:nvSpPr>
          <p:cNvPr id="23" name="Option E"/>
          <p:cNvSpPr txBox="1"/>
          <p:nvPr/>
        </p:nvSpPr>
        <p:spPr>
          <a:xfrm>
            <a:off x="1188720" y="4347972"/>
            <a:ext cx="10271455" cy="457200"/>
          </a:xfrm>
          <a:prstGeom prst="rect">
            <a:avLst/>
          </a:prstGeom>
          <a:noFill/>
          <a:ln/>
        </p:spPr>
        <p:txBody>
          <a:bodyPr wrap="square" lIns="0" tIns="0" rIns="0" bIns="0" rtlCol="0" anchor="ctr"/>
          <a:lstStyle/>
          <a:p>
            <a:pPr indent="0" marL="0">
              <a:buNone/>
            </a:pPr>
            <a:r>
              <a:rPr lang="en-US" sz="1800" dirty="0">
                <a:solidFill>
                  <a:srgbClr val="1F1F1F"/>
                </a:solidFill>
              </a:rPr>
              <a:t>Colchicine — xanthine oxidase inhibition</a:t>
            </a:r>
            <a:endParaRPr lang="en-US" sz="1800" dirty="0"/>
          </a:p>
        </p:txBody>
      </p:sp>
    </p:spTree>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name="Slide 122">
    <p:bg>
      <p:bgPr>
        <a:solidFill>
          <a:srgbClr val="FFFFFF"/>
        </a:solidFill>
      </p:bgPr>
    </p:bg>
    <p:spTree>
      <p:nvGrpSpPr>
        <p:cNvPr id="1" name=""/>
        <p:cNvGrpSpPr/>
        <p:nvPr/>
      </p:nvGrpSpPr>
      <p:grpSpPr>
        <a:xfrm>
          <a:off x="0" y="0"/>
          <a:ext cx="0" cy="0"/>
          <a:chOff x="0" y="0"/>
          <a:chExt cx="0" cy="0"/>
        </a:xfrm>
      </p:grpSpPr>
      <p:sp>
        <p:nvSpPr>
          <p:cNvPr id="2" name="Kicker"/>
          <p:cNvSpPr txBox="1"/>
          <p:nvPr/>
        </p:nvSpPr>
        <p:spPr>
          <a:xfrm>
            <a:off x="548640" y="292608"/>
            <a:ext cx="8076895" cy="274320"/>
          </a:xfrm>
          <a:prstGeom prst="rect">
            <a:avLst/>
          </a:prstGeom>
          <a:noFill/>
          <a:ln/>
        </p:spPr>
        <p:txBody>
          <a:bodyPr wrap="square" lIns="0" tIns="0" rIns="0" bIns="0" rtlCol="0" anchor="ctr"/>
          <a:lstStyle/>
          <a:p>
            <a:pPr indent="0" marL="0">
              <a:buNone/>
            </a:pPr>
            <a:r>
              <a:rPr lang="en-US" sz="1200" b="1" spc="100" kern="0" dirty="0">
                <a:solidFill>
                  <a:srgbClr val="4472C4"/>
                </a:solidFill>
              </a:rPr>
              <a:t>MECHANISM · ANSWER</a:t>
            </a:r>
            <a:endParaRPr lang="en-US" sz="1200" dirty="0"/>
          </a:p>
        </p:txBody>
      </p:sp>
      <p:sp>
        <p:nvSpPr>
          <p:cNvPr id="3" name="Title"/>
          <p:cNvSpPr txBox="1"/>
          <p:nvPr/>
        </p:nvSpPr>
        <p:spPr>
          <a:xfrm>
            <a:off x="548640" y="566928"/>
            <a:ext cx="8076895" cy="713232"/>
          </a:xfrm>
          <a:prstGeom prst="rect">
            <a:avLst/>
          </a:prstGeom>
          <a:noFill/>
          <a:ln/>
        </p:spPr>
        <p:txBody>
          <a:bodyPr wrap="square" lIns="0" tIns="0" rIns="0" bIns="0" rtlCol="0" anchor="t"/>
          <a:lstStyle/>
          <a:p>
            <a:pPr indent="0" marL="0">
              <a:buNone/>
            </a:pPr>
            <a:r>
              <a:rPr lang="en-US" sz="3000" b="1" dirty="0">
                <a:solidFill>
                  <a:srgbClr val="1F1F1F"/>
                </a:solidFill>
                <a:latin typeface="Calibri" pitchFamily="34" charset="0"/>
                <a:ea typeface="Calibri" pitchFamily="34" charset="-122"/>
                <a:cs typeface="Calibri" pitchFamily="34" charset="-120"/>
              </a:rPr>
              <a:t>Answer 30: D</a:t>
            </a:r>
            <a:endParaRPr lang="en-US" sz="3000" dirty="0"/>
          </a:p>
        </p:txBody>
      </p:sp>
      <p:sp>
        <p:nvSpPr>
          <p:cNvPr id="4" name="Objective chip"/>
          <p:cNvSpPr/>
          <p:nvPr/>
        </p:nvSpPr>
        <p:spPr>
          <a:xfrm>
            <a:off x="8899855" y="365760"/>
            <a:ext cx="2743200" cy="384048"/>
          </a:xfrm>
          <a:prstGeom prst="roundRect">
            <a:avLst>
              <a:gd name="adj" fmla="val 35714"/>
            </a:avLst>
          </a:prstGeom>
          <a:solidFill>
            <a:srgbClr val="E3EBF8"/>
          </a:solidFill>
          <a:ln/>
        </p:spPr>
        <p:txBody>
          <a:bodyPr wrap="square" lIns="25400" tIns="25400" rIns="25400" bIns="25400" rtlCol="0" anchor="ctr"/>
          <a:lstStyle/>
          <a:p>
            <a:pPr algn="ctr" indent="0" marL="0">
              <a:buNone/>
            </a:pPr>
            <a:r>
              <a:rPr lang="en-US" sz="1200" b="1" dirty="0">
                <a:solidFill>
                  <a:srgbClr val="2F4F8A"/>
                </a:solidFill>
              </a:rPr>
              <a:t>Objectives: SO5 · IO2.3 · IO2.4</a:t>
            </a:r>
            <a:endParaRPr lang="en-US" sz="1200" dirty="0"/>
          </a:p>
        </p:txBody>
      </p:sp>
      <p:sp>
        <p:nvSpPr>
          <p:cNvPr id="5" name="Footer"/>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1000" dirty="0">
                <a:solidFill>
                  <a:srgbClr val="666666"/>
                </a:solidFill>
              </a:rPr>
              <a:t>L04 · Musculoskeletal Pharmacology — Session 2</a:t>
            </a:r>
            <a:endParaRPr lang="en-US" sz="1000" dirty="0"/>
          </a:p>
        </p:txBody>
      </p:sp>
      <p:sp>
        <p:nvSpPr>
          <p:cNvPr id="6" name="Slide number"/>
          <p:cNvSpPr txBox="1"/>
          <p:nvPr/>
        </p:nvSpPr>
        <p:spPr>
          <a:xfrm>
            <a:off x="10728655" y="6419088"/>
            <a:ext cx="914400" cy="274320"/>
          </a:xfrm>
          <a:prstGeom prst="rect">
            <a:avLst/>
          </a:prstGeom>
          <a:noFill/>
          <a:ln/>
        </p:spPr>
        <p:txBody>
          <a:bodyPr wrap="square" lIns="0" tIns="0" rIns="0" bIns="0" rtlCol="0" anchor="ctr"/>
          <a:lstStyle/>
          <a:p>
            <a:pPr algn="r" indent="0" marL="0">
              <a:buNone/>
            </a:pPr>
            <a:r>
              <a:rPr lang="en-US" sz="1000" dirty="0">
                <a:solidFill>
                  <a:srgbClr val="666666"/>
                </a:solidFill>
              </a:rPr>
              <a:t>122</a:t>
            </a:r>
            <a:endParaRPr lang="en-US" sz="1000" dirty="0"/>
          </a:p>
        </p:txBody>
      </p:sp>
      <p:sp>
        <p:nvSpPr>
          <p:cNvPr id="7" name="Correct answer"/>
          <p:cNvSpPr/>
          <p:nvPr/>
        </p:nvSpPr>
        <p:spPr>
          <a:xfrm>
            <a:off x="548640" y="1325880"/>
            <a:ext cx="11094415" cy="548640"/>
          </a:xfrm>
          <a:prstGeom prst="roundRect">
            <a:avLst>
              <a:gd name="adj" fmla="val 16667"/>
            </a:avLst>
          </a:prstGeom>
          <a:solidFill>
            <a:srgbClr val="E2F0D9"/>
          </a:solidFill>
          <a:ln w="19050">
            <a:solidFill>
              <a:srgbClr val="548235"/>
            </a:solidFill>
            <a:prstDash val="solid"/>
          </a:ln>
        </p:spPr>
      </p:sp>
      <p:pic>
        <p:nvPicPr>
          <p:cNvPr id="8" name="Image 0" descr="preencoded.png">    </p:cNvPr>
          <p:cNvPicPr>
            <a:picLocks noChangeAspect="1"/>
          </p:cNvPicPr>
          <p:nvPr/>
        </p:nvPicPr>
        <p:blipFill>
          <a:blip r:embed="rId1"/>
          <a:stretch>
            <a:fillRect/>
          </a:stretch>
        </p:blipFill>
        <p:spPr>
          <a:xfrm>
            <a:off x="731520" y="1435608"/>
            <a:ext cx="329184" cy="329184"/>
          </a:xfrm>
          <a:prstGeom prst="rect">
            <a:avLst/>
          </a:prstGeom>
        </p:spPr>
      </p:pic>
      <p:sp>
        <p:nvSpPr>
          <p:cNvPr id="9" name="Text 6"/>
          <p:cNvSpPr txBox="1"/>
          <p:nvPr/>
        </p:nvSpPr>
        <p:spPr>
          <a:xfrm>
            <a:off x="1234440" y="1325880"/>
            <a:ext cx="10180015" cy="548640"/>
          </a:xfrm>
          <a:prstGeom prst="rect">
            <a:avLst/>
          </a:prstGeom>
          <a:noFill/>
          <a:ln/>
        </p:spPr>
        <p:txBody>
          <a:bodyPr wrap="square" lIns="0" tIns="0" rIns="0" bIns="0" rtlCol="0" anchor="ctr"/>
          <a:lstStyle/>
          <a:p>
            <a:pPr indent="0" marL="0">
              <a:buNone/>
            </a:pPr>
            <a:r>
              <a:rPr lang="en-US" sz="1600" b="1" dirty="0">
                <a:solidFill>
                  <a:srgbClr val="1F1F1F"/>
                </a:solidFill>
              </a:rPr>
              <a:t>D. </a:t>
            </a:r>
            <a:r>
              <a:rPr lang="en-US" sz="1600" b="1" dirty="0">
                <a:solidFill>
                  <a:srgbClr val="1F1F1F"/>
                </a:solidFill>
              </a:rPr>
              <a:t>Methotrexate — dihydrofolate reductase inhibition</a:t>
            </a:r>
            <a:endParaRPr lang="en-US" sz="1600" dirty="0"/>
          </a:p>
        </p:txBody>
      </p:sp>
      <p:sp>
        <p:nvSpPr>
          <p:cNvPr id="10" name="Why correct"/>
          <p:cNvSpPr txBox="1"/>
          <p:nvPr/>
        </p:nvSpPr>
        <p:spPr>
          <a:xfrm>
            <a:off x="777240" y="2011680"/>
            <a:ext cx="10637215" cy="724408"/>
          </a:xfrm>
          <a:prstGeom prst="rect">
            <a:avLst/>
          </a:prstGeom>
          <a:noFill/>
          <a:ln/>
        </p:spPr>
        <p:txBody>
          <a:bodyPr wrap="square" lIns="0" tIns="0" rIns="0" bIns="0" rtlCol="0" anchor="t"/>
          <a:lstStyle/>
          <a:p>
            <a:pPr indent="0" marL="0">
              <a:buNone/>
            </a:pPr>
            <a:r>
              <a:rPr lang="en-US" sz="1600" dirty="0">
                <a:solidFill>
                  <a:srgbClr val="1F1F1F"/>
                </a:solidFill>
              </a:rPr>
              <a:t>Methotrexate inhibits DHFR. Allopurinol inhibits xanthine oxidase; colchicine disrupts microtubules; baclofen is a GABA-B agonist (S71).</a:t>
            </a:r>
            <a:r>
              <a:rPr lang="en-US" sz="1100" dirty="0">
                <a:solidFill>
                  <a:srgbClr val="666666"/>
                </a:solidFill>
              </a:rPr>
              <a:t>  S69; S71</a:t>
            </a:r>
            <a:endParaRPr lang="en-US" sz="1600" dirty="0"/>
          </a:p>
        </p:txBody>
      </p:sp>
      <p:sp>
        <p:nvSpPr>
          <p:cNvPr id="11" name="Why others wrong card"/>
          <p:cNvSpPr/>
          <p:nvPr/>
        </p:nvSpPr>
        <p:spPr>
          <a:xfrm>
            <a:off x="548640" y="2873248"/>
            <a:ext cx="11094415" cy="1704848"/>
          </a:xfrm>
          <a:prstGeom prst="roundRect">
            <a:avLst>
              <a:gd name="adj" fmla="val 5364"/>
            </a:avLst>
          </a:prstGeom>
          <a:solidFill>
            <a:srgbClr val="F2F4F7"/>
          </a:solidFill>
          <a:ln w="12700">
            <a:solidFill>
              <a:srgbClr val="F2F4F7"/>
            </a:solidFill>
            <a:prstDash val="solid"/>
          </a:ln>
        </p:spPr>
      </p:sp>
      <p:sp>
        <p:nvSpPr>
          <p:cNvPr id="12" name="Why others wrong"/>
          <p:cNvSpPr txBox="1"/>
          <p:nvPr/>
        </p:nvSpPr>
        <p:spPr>
          <a:xfrm>
            <a:off x="777240" y="2982976"/>
            <a:ext cx="10637215" cy="1521968"/>
          </a:xfrm>
          <a:prstGeom prst="rect">
            <a:avLst/>
          </a:prstGeom>
          <a:noFill/>
          <a:ln/>
        </p:spPr>
        <p:txBody>
          <a:bodyPr wrap="square" lIns="0" tIns="0" rIns="0" bIns="0" rtlCol="0" anchor="t"/>
          <a:lstStyle/>
          <a:p>
            <a:pPr indent="0" marL="0">
              <a:spcAft>
                <a:spcPts val="400"/>
              </a:spcAft>
              <a:buNone/>
            </a:pPr>
            <a:r>
              <a:rPr lang="en-US" sz="1600" b="1" dirty="0">
                <a:solidFill>
                  <a:srgbClr val="C00000"/>
                </a:solidFill>
              </a:rPr>
              <a:t>Why the other choices are wrong</a:t>
            </a:r>
            <a:endParaRPr lang="en-US" sz="1600" dirty="0"/>
          </a:p>
          <a:p>
            <a:pPr indent="0" marL="0">
              <a:buNone/>
            </a:pPr>
            <a:r>
              <a:rPr lang="en-US" sz="1600" b="1" dirty="0">
                <a:solidFill>
                  <a:srgbClr val="1F1F1F"/>
                </a:solidFill>
              </a:rPr>
              <a:t>A. Allopurinol — microtubule disruption — </a:t>
            </a:r>
            <a:r>
              <a:rPr lang="en-US" sz="1600" dirty="0">
                <a:solidFill>
                  <a:srgbClr val="1F1F1F"/>
                </a:solidFill>
              </a:rPr>
              <a:t>Microtubules are colchicine’s target (S71).</a:t>
            </a:r>
            <a:endParaRPr lang="en-US" sz="1600" dirty="0"/>
          </a:p>
          <a:p>
            <a:pPr indent="0" marL="0">
              <a:buNone/>
            </a:pPr>
            <a:r>
              <a:rPr lang="en-US" sz="1600" b="1" dirty="0">
                <a:solidFill>
                  <a:srgbClr val="1F1F1F"/>
                </a:solidFill>
              </a:rPr>
              <a:t>B. Baclofen — skeletal muscle calcium channel block — </a:t>
            </a:r>
            <a:r>
              <a:rPr lang="en-US" sz="1600" dirty="0">
                <a:solidFill>
                  <a:srgbClr val="1F1F1F"/>
                </a:solidFill>
              </a:rPr>
              <a:t>Baclofen is a GABA-B agonist (S71).</a:t>
            </a:r>
            <a:endParaRPr lang="en-US" sz="1600" dirty="0"/>
          </a:p>
          <a:p>
            <a:pPr indent="0" marL="0">
              <a:buNone/>
            </a:pPr>
            <a:r>
              <a:rPr lang="en-US" sz="1600" b="1" dirty="0">
                <a:solidFill>
                  <a:srgbClr val="1F1F1F"/>
                </a:solidFill>
              </a:rPr>
              <a:t>C. Dantrolene — GABA-B agonism in the spinal cord — </a:t>
            </a:r>
            <a:r>
              <a:rPr lang="en-US" sz="1600" dirty="0">
                <a:solidFill>
                  <a:srgbClr val="1F1F1F"/>
                </a:solidFill>
              </a:rPr>
              <a:t>Dantrolene blocks RyR1 in muscle (S35).</a:t>
            </a:r>
            <a:endParaRPr lang="en-US" sz="1600" dirty="0"/>
          </a:p>
          <a:p>
            <a:pPr indent="0" marL="0">
              <a:buNone/>
            </a:pPr>
            <a:r>
              <a:rPr lang="en-US" sz="1600" b="1" dirty="0">
                <a:solidFill>
                  <a:srgbClr val="1F1F1F"/>
                </a:solidFill>
              </a:rPr>
              <a:t>E. Colchicine — xanthine oxidase inhibition — </a:t>
            </a:r>
            <a:r>
              <a:rPr lang="en-US" sz="1600" dirty="0">
                <a:solidFill>
                  <a:srgbClr val="1F1F1F"/>
                </a:solidFill>
              </a:rPr>
              <a:t>Xanthine oxidase is allopurinol’s target (S71).</a:t>
            </a:r>
            <a:endParaRPr lang="en-US" sz="1600" dirty="0"/>
          </a:p>
        </p:txBody>
      </p:sp>
    </p:spTree>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name="Slide 123">
    <p:bg>
      <p:bgPr>
        <a:solidFill>
          <a:srgbClr val="FFFFFF"/>
        </a:solidFill>
      </p:bgPr>
    </p:bg>
    <p:spTree>
      <p:nvGrpSpPr>
        <p:cNvPr id="1" name=""/>
        <p:cNvGrpSpPr/>
        <p:nvPr/>
      </p:nvGrpSpPr>
      <p:grpSpPr>
        <a:xfrm>
          <a:off x="0" y="0"/>
          <a:ext cx="0" cy="0"/>
          <a:chOff x="0" y="0"/>
          <a:chExt cx="0" cy="0"/>
        </a:xfrm>
      </p:grpSpPr>
      <p:sp>
        <p:nvSpPr>
          <p:cNvPr id="2" name="Kicker"/>
          <p:cNvSpPr txBox="1"/>
          <p:nvPr/>
        </p:nvSpPr>
        <p:spPr>
          <a:xfrm>
            <a:off x="548640" y="292608"/>
            <a:ext cx="8076895" cy="274320"/>
          </a:xfrm>
          <a:prstGeom prst="rect">
            <a:avLst/>
          </a:prstGeom>
          <a:noFill/>
          <a:ln/>
        </p:spPr>
        <p:txBody>
          <a:bodyPr wrap="square" lIns="0" tIns="0" rIns="0" bIns="0" rtlCol="0" anchor="ctr"/>
          <a:lstStyle/>
          <a:p>
            <a:pPr indent="0" marL="0">
              <a:buNone/>
            </a:pPr>
            <a:r>
              <a:rPr lang="en-US" sz="1200" b="1" spc="100" kern="0" dirty="0">
                <a:solidFill>
                  <a:srgbClr val="4472C4"/>
                </a:solidFill>
              </a:rPr>
              <a:t>CLINICAL VIGNETTE · LECTURE QUICK CHECK S70; S71</a:t>
            </a:r>
            <a:endParaRPr lang="en-US" sz="1200" dirty="0"/>
          </a:p>
        </p:txBody>
      </p:sp>
      <p:sp>
        <p:nvSpPr>
          <p:cNvPr id="3" name="Title"/>
          <p:cNvSpPr txBox="1"/>
          <p:nvPr/>
        </p:nvSpPr>
        <p:spPr>
          <a:xfrm>
            <a:off x="548640" y="566928"/>
            <a:ext cx="8076895" cy="713232"/>
          </a:xfrm>
          <a:prstGeom prst="rect">
            <a:avLst/>
          </a:prstGeom>
          <a:noFill/>
          <a:ln/>
        </p:spPr>
        <p:txBody>
          <a:bodyPr wrap="square" lIns="0" tIns="0" rIns="0" bIns="0" rtlCol="0" anchor="t"/>
          <a:lstStyle/>
          <a:p>
            <a:pPr indent="0" marL="0">
              <a:buNone/>
            </a:pPr>
            <a:r>
              <a:rPr lang="en-US" sz="3000" b="1" dirty="0">
                <a:solidFill>
                  <a:srgbClr val="1F1F1F"/>
                </a:solidFill>
                <a:latin typeface="Calibri" pitchFamily="34" charset="0"/>
                <a:ea typeface="Calibri" pitchFamily="34" charset="-122"/>
                <a:cs typeface="Calibri" pitchFamily="34" charset="-120"/>
              </a:rPr>
              <a:t>Question 31</a:t>
            </a:r>
            <a:endParaRPr lang="en-US" sz="3000" dirty="0"/>
          </a:p>
        </p:txBody>
      </p:sp>
      <p:sp>
        <p:nvSpPr>
          <p:cNvPr id="4" name="Objective chip"/>
          <p:cNvSpPr/>
          <p:nvPr/>
        </p:nvSpPr>
        <p:spPr>
          <a:xfrm>
            <a:off x="8899855" y="365760"/>
            <a:ext cx="2743200" cy="384048"/>
          </a:xfrm>
          <a:prstGeom prst="roundRect">
            <a:avLst>
              <a:gd name="adj" fmla="val 35714"/>
            </a:avLst>
          </a:prstGeom>
          <a:solidFill>
            <a:srgbClr val="E3EBF8"/>
          </a:solidFill>
          <a:ln/>
        </p:spPr>
        <p:txBody>
          <a:bodyPr wrap="square" lIns="25400" tIns="25400" rIns="25400" bIns="25400" rtlCol="0" anchor="ctr"/>
          <a:lstStyle/>
          <a:p>
            <a:pPr algn="ctr" indent="0" marL="0">
              <a:buNone/>
            </a:pPr>
            <a:r>
              <a:rPr lang="en-US" sz="1200" b="1" dirty="0">
                <a:solidFill>
                  <a:srgbClr val="2F4F8A"/>
                </a:solidFill>
              </a:rPr>
              <a:t>Objectives: SO5 · IO2.3 · IO2.4</a:t>
            </a:r>
            <a:endParaRPr lang="en-US" sz="1200" dirty="0"/>
          </a:p>
        </p:txBody>
      </p:sp>
      <p:sp>
        <p:nvSpPr>
          <p:cNvPr id="5" name="Footer"/>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1000" dirty="0">
                <a:solidFill>
                  <a:srgbClr val="666666"/>
                </a:solidFill>
              </a:rPr>
              <a:t>L04 · Musculoskeletal Pharmacology — Session 2</a:t>
            </a:r>
            <a:endParaRPr lang="en-US" sz="1000" dirty="0"/>
          </a:p>
        </p:txBody>
      </p:sp>
      <p:sp>
        <p:nvSpPr>
          <p:cNvPr id="6" name="Slide number"/>
          <p:cNvSpPr txBox="1"/>
          <p:nvPr/>
        </p:nvSpPr>
        <p:spPr>
          <a:xfrm>
            <a:off x="10728655" y="6419088"/>
            <a:ext cx="914400" cy="274320"/>
          </a:xfrm>
          <a:prstGeom prst="rect">
            <a:avLst/>
          </a:prstGeom>
          <a:noFill/>
          <a:ln/>
        </p:spPr>
        <p:txBody>
          <a:bodyPr wrap="square" lIns="0" tIns="0" rIns="0" bIns="0" rtlCol="0" anchor="ctr"/>
          <a:lstStyle/>
          <a:p>
            <a:pPr algn="r" indent="0" marL="0">
              <a:buNone/>
            </a:pPr>
            <a:r>
              <a:rPr lang="en-US" sz="1000" dirty="0">
                <a:solidFill>
                  <a:srgbClr val="666666"/>
                </a:solidFill>
              </a:rPr>
              <a:t>123</a:t>
            </a:r>
            <a:endParaRPr lang="en-US" sz="1000" dirty="0"/>
          </a:p>
        </p:txBody>
      </p:sp>
      <p:sp>
        <p:nvSpPr>
          <p:cNvPr id="7" name="Question stem card"/>
          <p:cNvSpPr/>
          <p:nvPr/>
        </p:nvSpPr>
        <p:spPr>
          <a:xfrm>
            <a:off x="548640" y="1325880"/>
            <a:ext cx="11094415" cy="644652"/>
          </a:xfrm>
          <a:prstGeom prst="roundRect">
            <a:avLst>
              <a:gd name="adj" fmla="val 14184"/>
            </a:avLst>
          </a:prstGeom>
          <a:solidFill>
            <a:srgbClr val="F2F4F7"/>
          </a:solidFill>
          <a:ln w="12700">
            <a:solidFill>
              <a:srgbClr val="F2F4F7"/>
            </a:solidFill>
            <a:prstDash val="solid"/>
          </a:ln>
        </p:spPr>
      </p:sp>
      <p:sp>
        <p:nvSpPr>
          <p:cNvPr id="8" name="Question stem"/>
          <p:cNvSpPr txBox="1"/>
          <p:nvPr/>
        </p:nvSpPr>
        <p:spPr>
          <a:xfrm>
            <a:off x="777240" y="1325880"/>
            <a:ext cx="10637215" cy="644652"/>
          </a:xfrm>
          <a:prstGeom prst="rect">
            <a:avLst/>
          </a:prstGeom>
          <a:noFill/>
          <a:ln/>
        </p:spPr>
        <p:txBody>
          <a:bodyPr wrap="square" lIns="0" tIns="0" rIns="0" bIns="0" rtlCol="0" anchor="ctr"/>
          <a:lstStyle/>
          <a:p>
            <a:pPr indent="0" marL="0">
              <a:buNone/>
            </a:pPr>
            <a:r>
              <a:rPr lang="en-US" sz="1800" dirty="0">
                <a:solidFill>
                  <a:srgbClr val="1F1F1F"/>
                </a:solidFill>
              </a:rPr>
              <a:t>A patient on a biologic DMARD develops a fever. What is the most important immediate concern?</a:t>
            </a:r>
            <a:endParaRPr lang="en-US" sz="1800" dirty="0"/>
          </a:p>
        </p:txBody>
      </p:sp>
      <p:sp>
        <p:nvSpPr>
          <p:cNvPr id="9" name="Shape 7"/>
          <p:cNvSpPr/>
          <p:nvPr/>
        </p:nvSpPr>
        <p:spPr>
          <a:xfrm>
            <a:off x="548640" y="2180844"/>
            <a:ext cx="402336" cy="402336"/>
          </a:xfrm>
          <a:prstGeom prst="ellipse">
            <a:avLst/>
          </a:prstGeom>
          <a:solidFill>
            <a:srgbClr val="FFFFFF"/>
          </a:solidFill>
          <a:ln w="19050">
            <a:solidFill>
              <a:srgbClr val="4472C4"/>
            </a:solidFill>
            <a:prstDash val="solid"/>
          </a:ln>
        </p:spPr>
      </p:sp>
      <p:sp>
        <p:nvSpPr>
          <p:cNvPr id="10" name="Text 8"/>
          <p:cNvSpPr txBox="1"/>
          <p:nvPr/>
        </p:nvSpPr>
        <p:spPr>
          <a:xfrm>
            <a:off x="548640" y="2180844"/>
            <a:ext cx="402336" cy="402336"/>
          </a:xfrm>
          <a:prstGeom prst="rect">
            <a:avLst/>
          </a:prstGeom>
          <a:noFill/>
          <a:ln/>
        </p:spPr>
        <p:txBody>
          <a:bodyPr wrap="square" lIns="0" tIns="0" rIns="0" bIns="0" rtlCol="0" anchor="ctr"/>
          <a:lstStyle/>
          <a:p>
            <a:pPr algn="ctr" indent="0" marL="0">
              <a:buNone/>
            </a:pPr>
            <a:r>
              <a:rPr lang="en-US" sz="1400" b="1" dirty="0">
                <a:solidFill>
                  <a:srgbClr val="4472C4"/>
                </a:solidFill>
              </a:rPr>
              <a:t>A</a:t>
            </a:r>
            <a:endParaRPr lang="en-US" sz="1400" dirty="0"/>
          </a:p>
        </p:txBody>
      </p:sp>
      <p:sp>
        <p:nvSpPr>
          <p:cNvPr id="11" name="Option A"/>
          <p:cNvSpPr txBox="1"/>
          <p:nvPr/>
        </p:nvSpPr>
        <p:spPr>
          <a:xfrm>
            <a:off x="1188720" y="2153412"/>
            <a:ext cx="10271455" cy="457200"/>
          </a:xfrm>
          <a:prstGeom prst="rect">
            <a:avLst/>
          </a:prstGeom>
          <a:noFill/>
          <a:ln/>
        </p:spPr>
        <p:txBody>
          <a:bodyPr wrap="square" lIns="0" tIns="0" rIns="0" bIns="0" rtlCol="0" anchor="ctr"/>
          <a:lstStyle/>
          <a:p>
            <a:pPr indent="0" marL="0">
              <a:buNone/>
            </a:pPr>
            <a:r>
              <a:rPr lang="en-US" sz="1800" dirty="0">
                <a:solidFill>
                  <a:srgbClr val="1F1F1F"/>
                </a:solidFill>
              </a:rPr>
              <a:t>Osteonecrosis of the jaw from the drug</a:t>
            </a:r>
            <a:endParaRPr lang="en-US" sz="1800" dirty="0"/>
          </a:p>
        </p:txBody>
      </p:sp>
      <p:sp>
        <p:nvSpPr>
          <p:cNvPr id="12" name="Shape 10"/>
          <p:cNvSpPr/>
          <p:nvPr/>
        </p:nvSpPr>
        <p:spPr>
          <a:xfrm>
            <a:off x="548640" y="2729484"/>
            <a:ext cx="402336" cy="402336"/>
          </a:xfrm>
          <a:prstGeom prst="ellipse">
            <a:avLst/>
          </a:prstGeom>
          <a:solidFill>
            <a:srgbClr val="FFFFFF"/>
          </a:solidFill>
          <a:ln w="19050">
            <a:solidFill>
              <a:srgbClr val="4472C4"/>
            </a:solidFill>
            <a:prstDash val="solid"/>
          </a:ln>
        </p:spPr>
      </p:sp>
      <p:sp>
        <p:nvSpPr>
          <p:cNvPr id="13" name="Text 11"/>
          <p:cNvSpPr txBox="1"/>
          <p:nvPr/>
        </p:nvSpPr>
        <p:spPr>
          <a:xfrm>
            <a:off x="548640" y="2729484"/>
            <a:ext cx="402336" cy="402336"/>
          </a:xfrm>
          <a:prstGeom prst="rect">
            <a:avLst/>
          </a:prstGeom>
          <a:noFill/>
          <a:ln/>
        </p:spPr>
        <p:txBody>
          <a:bodyPr wrap="square" lIns="0" tIns="0" rIns="0" bIns="0" rtlCol="0" anchor="ctr"/>
          <a:lstStyle/>
          <a:p>
            <a:pPr algn="ctr" indent="0" marL="0">
              <a:buNone/>
            </a:pPr>
            <a:r>
              <a:rPr lang="en-US" sz="1400" b="1" dirty="0">
                <a:solidFill>
                  <a:srgbClr val="4472C4"/>
                </a:solidFill>
              </a:rPr>
              <a:t>B</a:t>
            </a:r>
            <a:endParaRPr lang="en-US" sz="1400" dirty="0"/>
          </a:p>
        </p:txBody>
      </p:sp>
      <p:sp>
        <p:nvSpPr>
          <p:cNvPr id="14" name="Option B"/>
          <p:cNvSpPr txBox="1"/>
          <p:nvPr/>
        </p:nvSpPr>
        <p:spPr>
          <a:xfrm>
            <a:off x="1188720" y="2702052"/>
            <a:ext cx="10271455" cy="457200"/>
          </a:xfrm>
          <a:prstGeom prst="rect">
            <a:avLst/>
          </a:prstGeom>
          <a:noFill/>
          <a:ln/>
        </p:spPr>
        <p:txBody>
          <a:bodyPr wrap="square" lIns="0" tIns="0" rIns="0" bIns="0" rtlCol="0" anchor="ctr"/>
          <a:lstStyle/>
          <a:p>
            <a:pPr indent="0" marL="0">
              <a:buNone/>
            </a:pPr>
            <a:r>
              <a:rPr lang="en-US" sz="1800" dirty="0">
                <a:solidFill>
                  <a:srgbClr val="1F1F1F"/>
                </a:solidFill>
              </a:rPr>
              <a:t>Infection, given the drug’s immunosuppressive effect</a:t>
            </a:r>
            <a:endParaRPr lang="en-US" sz="1800" dirty="0"/>
          </a:p>
        </p:txBody>
      </p:sp>
      <p:sp>
        <p:nvSpPr>
          <p:cNvPr id="15" name="Shape 13"/>
          <p:cNvSpPr/>
          <p:nvPr/>
        </p:nvSpPr>
        <p:spPr>
          <a:xfrm>
            <a:off x="548640" y="3278124"/>
            <a:ext cx="402336" cy="402336"/>
          </a:xfrm>
          <a:prstGeom prst="ellipse">
            <a:avLst/>
          </a:prstGeom>
          <a:solidFill>
            <a:srgbClr val="FFFFFF"/>
          </a:solidFill>
          <a:ln w="19050">
            <a:solidFill>
              <a:srgbClr val="4472C4"/>
            </a:solidFill>
            <a:prstDash val="solid"/>
          </a:ln>
        </p:spPr>
      </p:sp>
      <p:sp>
        <p:nvSpPr>
          <p:cNvPr id="16" name="Text 14"/>
          <p:cNvSpPr txBox="1"/>
          <p:nvPr/>
        </p:nvSpPr>
        <p:spPr>
          <a:xfrm>
            <a:off x="548640" y="3278124"/>
            <a:ext cx="402336" cy="402336"/>
          </a:xfrm>
          <a:prstGeom prst="rect">
            <a:avLst/>
          </a:prstGeom>
          <a:noFill/>
          <a:ln/>
        </p:spPr>
        <p:txBody>
          <a:bodyPr wrap="square" lIns="0" tIns="0" rIns="0" bIns="0" rtlCol="0" anchor="ctr"/>
          <a:lstStyle/>
          <a:p>
            <a:pPr algn="ctr" indent="0" marL="0">
              <a:buNone/>
            </a:pPr>
            <a:r>
              <a:rPr lang="en-US" sz="1400" b="1" dirty="0">
                <a:solidFill>
                  <a:srgbClr val="4472C4"/>
                </a:solidFill>
              </a:rPr>
              <a:t>C</a:t>
            </a:r>
            <a:endParaRPr lang="en-US" sz="1400" dirty="0"/>
          </a:p>
        </p:txBody>
      </p:sp>
      <p:sp>
        <p:nvSpPr>
          <p:cNvPr id="17" name="Option C"/>
          <p:cNvSpPr txBox="1"/>
          <p:nvPr/>
        </p:nvSpPr>
        <p:spPr>
          <a:xfrm>
            <a:off x="1188720" y="3250692"/>
            <a:ext cx="10271455" cy="457200"/>
          </a:xfrm>
          <a:prstGeom prst="rect">
            <a:avLst/>
          </a:prstGeom>
          <a:noFill/>
          <a:ln/>
        </p:spPr>
        <p:txBody>
          <a:bodyPr wrap="square" lIns="0" tIns="0" rIns="0" bIns="0" rtlCol="0" anchor="ctr"/>
          <a:lstStyle/>
          <a:p>
            <a:pPr indent="0" marL="0">
              <a:buNone/>
            </a:pPr>
            <a:r>
              <a:rPr lang="en-US" sz="1800" dirty="0">
                <a:solidFill>
                  <a:srgbClr val="1F1F1F"/>
                </a:solidFill>
              </a:rPr>
              <a:t>Hepatotoxicity from Phase II metabolism</a:t>
            </a:r>
            <a:endParaRPr lang="en-US" sz="1800" dirty="0"/>
          </a:p>
        </p:txBody>
      </p:sp>
      <p:sp>
        <p:nvSpPr>
          <p:cNvPr id="18" name="Shape 16"/>
          <p:cNvSpPr/>
          <p:nvPr/>
        </p:nvSpPr>
        <p:spPr>
          <a:xfrm>
            <a:off x="548640" y="3826764"/>
            <a:ext cx="402336" cy="402336"/>
          </a:xfrm>
          <a:prstGeom prst="ellipse">
            <a:avLst/>
          </a:prstGeom>
          <a:solidFill>
            <a:srgbClr val="FFFFFF"/>
          </a:solidFill>
          <a:ln w="19050">
            <a:solidFill>
              <a:srgbClr val="4472C4"/>
            </a:solidFill>
            <a:prstDash val="solid"/>
          </a:ln>
        </p:spPr>
      </p:sp>
      <p:sp>
        <p:nvSpPr>
          <p:cNvPr id="19" name="Text 17"/>
          <p:cNvSpPr txBox="1"/>
          <p:nvPr/>
        </p:nvSpPr>
        <p:spPr>
          <a:xfrm>
            <a:off x="548640" y="3826764"/>
            <a:ext cx="402336" cy="402336"/>
          </a:xfrm>
          <a:prstGeom prst="rect">
            <a:avLst/>
          </a:prstGeom>
          <a:noFill/>
          <a:ln/>
        </p:spPr>
        <p:txBody>
          <a:bodyPr wrap="square" lIns="0" tIns="0" rIns="0" bIns="0" rtlCol="0" anchor="ctr"/>
          <a:lstStyle/>
          <a:p>
            <a:pPr algn="ctr" indent="0" marL="0">
              <a:buNone/>
            </a:pPr>
            <a:r>
              <a:rPr lang="en-US" sz="1400" b="1" dirty="0">
                <a:solidFill>
                  <a:srgbClr val="4472C4"/>
                </a:solidFill>
              </a:rPr>
              <a:t>D</a:t>
            </a:r>
            <a:endParaRPr lang="en-US" sz="1400" dirty="0"/>
          </a:p>
        </p:txBody>
      </p:sp>
      <p:sp>
        <p:nvSpPr>
          <p:cNvPr id="20" name="Option D"/>
          <p:cNvSpPr txBox="1"/>
          <p:nvPr/>
        </p:nvSpPr>
        <p:spPr>
          <a:xfrm>
            <a:off x="1188720" y="3799332"/>
            <a:ext cx="10271455" cy="457200"/>
          </a:xfrm>
          <a:prstGeom prst="rect">
            <a:avLst/>
          </a:prstGeom>
          <a:noFill/>
          <a:ln/>
        </p:spPr>
        <p:txBody>
          <a:bodyPr wrap="square" lIns="0" tIns="0" rIns="0" bIns="0" rtlCol="0" anchor="ctr"/>
          <a:lstStyle/>
          <a:p>
            <a:pPr indent="0" marL="0">
              <a:buNone/>
            </a:pPr>
            <a:r>
              <a:rPr lang="en-US" sz="1800" dirty="0">
                <a:solidFill>
                  <a:srgbClr val="1F1F1F"/>
                </a:solidFill>
              </a:rPr>
              <a:t>Serotonin syndrome from the biologic agent</a:t>
            </a:r>
            <a:endParaRPr lang="en-US" sz="1800" dirty="0"/>
          </a:p>
        </p:txBody>
      </p:sp>
      <p:sp>
        <p:nvSpPr>
          <p:cNvPr id="21" name="Shape 19"/>
          <p:cNvSpPr/>
          <p:nvPr/>
        </p:nvSpPr>
        <p:spPr>
          <a:xfrm>
            <a:off x="548640" y="4375404"/>
            <a:ext cx="402336" cy="402336"/>
          </a:xfrm>
          <a:prstGeom prst="ellipse">
            <a:avLst/>
          </a:prstGeom>
          <a:solidFill>
            <a:srgbClr val="FFFFFF"/>
          </a:solidFill>
          <a:ln w="19050">
            <a:solidFill>
              <a:srgbClr val="4472C4"/>
            </a:solidFill>
            <a:prstDash val="solid"/>
          </a:ln>
        </p:spPr>
      </p:sp>
      <p:sp>
        <p:nvSpPr>
          <p:cNvPr id="22" name="Text 20"/>
          <p:cNvSpPr txBox="1"/>
          <p:nvPr/>
        </p:nvSpPr>
        <p:spPr>
          <a:xfrm>
            <a:off x="548640" y="4375404"/>
            <a:ext cx="402336" cy="402336"/>
          </a:xfrm>
          <a:prstGeom prst="rect">
            <a:avLst/>
          </a:prstGeom>
          <a:noFill/>
          <a:ln/>
        </p:spPr>
        <p:txBody>
          <a:bodyPr wrap="square" lIns="0" tIns="0" rIns="0" bIns="0" rtlCol="0" anchor="ctr"/>
          <a:lstStyle/>
          <a:p>
            <a:pPr algn="ctr" indent="0" marL="0">
              <a:buNone/>
            </a:pPr>
            <a:r>
              <a:rPr lang="en-US" sz="1400" b="1" dirty="0">
                <a:solidFill>
                  <a:srgbClr val="4472C4"/>
                </a:solidFill>
              </a:rPr>
              <a:t>E</a:t>
            </a:r>
            <a:endParaRPr lang="en-US" sz="1400" dirty="0"/>
          </a:p>
        </p:txBody>
      </p:sp>
      <p:sp>
        <p:nvSpPr>
          <p:cNvPr id="23" name="Option E"/>
          <p:cNvSpPr txBox="1"/>
          <p:nvPr/>
        </p:nvSpPr>
        <p:spPr>
          <a:xfrm>
            <a:off x="1188720" y="4347972"/>
            <a:ext cx="10271455" cy="457200"/>
          </a:xfrm>
          <a:prstGeom prst="rect">
            <a:avLst/>
          </a:prstGeom>
          <a:noFill/>
          <a:ln/>
        </p:spPr>
        <p:txBody>
          <a:bodyPr wrap="square" lIns="0" tIns="0" rIns="0" bIns="0" rtlCol="0" anchor="ctr"/>
          <a:lstStyle/>
          <a:p>
            <a:pPr indent="0" marL="0">
              <a:buNone/>
            </a:pPr>
            <a:r>
              <a:rPr lang="en-US" sz="1800" dirty="0">
                <a:solidFill>
                  <a:srgbClr val="1F1F1F"/>
                </a:solidFill>
              </a:rPr>
              <a:t>A drug allergy only, so stop and observe</a:t>
            </a:r>
            <a:endParaRPr lang="en-US" sz="1800" dirty="0"/>
          </a:p>
        </p:txBody>
      </p:sp>
    </p:spTree>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name="Slide 124">
    <p:bg>
      <p:bgPr>
        <a:solidFill>
          <a:srgbClr val="FFFFFF"/>
        </a:solidFill>
      </p:bgPr>
    </p:bg>
    <p:spTree>
      <p:nvGrpSpPr>
        <p:cNvPr id="1" name=""/>
        <p:cNvGrpSpPr/>
        <p:nvPr/>
      </p:nvGrpSpPr>
      <p:grpSpPr>
        <a:xfrm>
          <a:off x="0" y="0"/>
          <a:ext cx="0" cy="0"/>
          <a:chOff x="0" y="0"/>
          <a:chExt cx="0" cy="0"/>
        </a:xfrm>
      </p:grpSpPr>
      <p:sp>
        <p:nvSpPr>
          <p:cNvPr id="2" name="Kicker"/>
          <p:cNvSpPr txBox="1"/>
          <p:nvPr/>
        </p:nvSpPr>
        <p:spPr>
          <a:xfrm>
            <a:off x="548640" y="292608"/>
            <a:ext cx="8076895" cy="274320"/>
          </a:xfrm>
          <a:prstGeom prst="rect">
            <a:avLst/>
          </a:prstGeom>
          <a:noFill/>
          <a:ln/>
        </p:spPr>
        <p:txBody>
          <a:bodyPr wrap="square" lIns="0" tIns="0" rIns="0" bIns="0" rtlCol="0" anchor="ctr"/>
          <a:lstStyle/>
          <a:p>
            <a:pPr indent="0" marL="0">
              <a:buNone/>
            </a:pPr>
            <a:r>
              <a:rPr lang="en-US" sz="1200" b="1" spc="100" kern="0" dirty="0">
                <a:solidFill>
                  <a:srgbClr val="4472C4"/>
                </a:solidFill>
              </a:rPr>
              <a:t>CLINICAL VIGNETTE · ANSWER</a:t>
            </a:r>
            <a:endParaRPr lang="en-US" sz="1200" dirty="0"/>
          </a:p>
        </p:txBody>
      </p:sp>
      <p:sp>
        <p:nvSpPr>
          <p:cNvPr id="3" name="Title"/>
          <p:cNvSpPr txBox="1"/>
          <p:nvPr/>
        </p:nvSpPr>
        <p:spPr>
          <a:xfrm>
            <a:off x="548640" y="566928"/>
            <a:ext cx="8076895" cy="713232"/>
          </a:xfrm>
          <a:prstGeom prst="rect">
            <a:avLst/>
          </a:prstGeom>
          <a:noFill/>
          <a:ln/>
        </p:spPr>
        <p:txBody>
          <a:bodyPr wrap="square" lIns="0" tIns="0" rIns="0" bIns="0" rtlCol="0" anchor="t"/>
          <a:lstStyle/>
          <a:p>
            <a:pPr indent="0" marL="0">
              <a:buNone/>
            </a:pPr>
            <a:r>
              <a:rPr lang="en-US" sz="3000" b="1" dirty="0">
                <a:solidFill>
                  <a:srgbClr val="1F1F1F"/>
                </a:solidFill>
                <a:latin typeface="Calibri" pitchFamily="34" charset="0"/>
                <a:ea typeface="Calibri" pitchFamily="34" charset="-122"/>
                <a:cs typeface="Calibri" pitchFamily="34" charset="-120"/>
              </a:rPr>
              <a:t>Answer 31: B</a:t>
            </a:r>
            <a:endParaRPr lang="en-US" sz="3000" dirty="0"/>
          </a:p>
        </p:txBody>
      </p:sp>
      <p:sp>
        <p:nvSpPr>
          <p:cNvPr id="4" name="Objective chip"/>
          <p:cNvSpPr/>
          <p:nvPr/>
        </p:nvSpPr>
        <p:spPr>
          <a:xfrm>
            <a:off x="8899855" y="365760"/>
            <a:ext cx="2743200" cy="384048"/>
          </a:xfrm>
          <a:prstGeom prst="roundRect">
            <a:avLst>
              <a:gd name="adj" fmla="val 35714"/>
            </a:avLst>
          </a:prstGeom>
          <a:solidFill>
            <a:srgbClr val="E3EBF8"/>
          </a:solidFill>
          <a:ln/>
        </p:spPr>
        <p:txBody>
          <a:bodyPr wrap="square" lIns="25400" tIns="25400" rIns="25400" bIns="25400" rtlCol="0" anchor="ctr"/>
          <a:lstStyle/>
          <a:p>
            <a:pPr algn="ctr" indent="0" marL="0">
              <a:buNone/>
            </a:pPr>
            <a:r>
              <a:rPr lang="en-US" sz="1200" b="1" dirty="0">
                <a:solidFill>
                  <a:srgbClr val="2F4F8A"/>
                </a:solidFill>
              </a:rPr>
              <a:t>Objectives: SO5 · IO2.3 · IO2.4</a:t>
            </a:r>
            <a:endParaRPr lang="en-US" sz="1200" dirty="0"/>
          </a:p>
        </p:txBody>
      </p:sp>
      <p:sp>
        <p:nvSpPr>
          <p:cNvPr id="5" name="Footer"/>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1000" dirty="0">
                <a:solidFill>
                  <a:srgbClr val="666666"/>
                </a:solidFill>
              </a:rPr>
              <a:t>L04 · Musculoskeletal Pharmacology — Session 2</a:t>
            </a:r>
            <a:endParaRPr lang="en-US" sz="1000" dirty="0"/>
          </a:p>
        </p:txBody>
      </p:sp>
      <p:sp>
        <p:nvSpPr>
          <p:cNvPr id="6" name="Slide number"/>
          <p:cNvSpPr txBox="1"/>
          <p:nvPr/>
        </p:nvSpPr>
        <p:spPr>
          <a:xfrm>
            <a:off x="10728655" y="6419088"/>
            <a:ext cx="914400" cy="274320"/>
          </a:xfrm>
          <a:prstGeom prst="rect">
            <a:avLst/>
          </a:prstGeom>
          <a:noFill/>
          <a:ln/>
        </p:spPr>
        <p:txBody>
          <a:bodyPr wrap="square" lIns="0" tIns="0" rIns="0" bIns="0" rtlCol="0" anchor="ctr"/>
          <a:lstStyle/>
          <a:p>
            <a:pPr algn="r" indent="0" marL="0">
              <a:buNone/>
            </a:pPr>
            <a:r>
              <a:rPr lang="en-US" sz="1000" dirty="0">
                <a:solidFill>
                  <a:srgbClr val="666666"/>
                </a:solidFill>
              </a:rPr>
              <a:t>124</a:t>
            </a:r>
            <a:endParaRPr lang="en-US" sz="1000" dirty="0"/>
          </a:p>
        </p:txBody>
      </p:sp>
      <p:sp>
        <p:nvSpPr>
          <p:cNvPr id="7" name="Correct answer"/>
          <p:cNvSpPr/>
          <p:nvPr/>
        </p:nvSpPr>
        <p:spPr>
          <a:xfrm>
            <a:off x="548640" y="1325880"/>
            <a:ext cx="11094415" cy="548640"/>
          </a:xfrm>
          <a:prstGeom prst="roundRect">
            <a:avLst>
              <a:gd name="adj" fmla="val 16667"/>
            </a:avLst>
          </a:prstGeom>
          <a:solidFill>
            <a:srgbClr val="E2F0D9"/>
          </a:solidFill>
          <a:ln w="19050">
            <a:solidFill>
              <a:srgbClr val="548235"/>
            </a:solidFill>
            <a:prstDash val="solid"/>
          </a:ln>
        </p:spPr>
      </p:sp>
      <p:pic>
        <p:nvPicPr>
          <p:cNvPr id="8" name="Image 0" descr="preencoded.png">    </p:cNvPr>
          <p:cNvPicPr>
            <a:picLocks noChangeAspect="1"/>
          </p:cNvPicPr>
          <p:nvPr/>
        </p:nvPicPr>
        <p:blipFill>
          <a:blip r:embed="rId1"/>
          <a:stretch>
            <a:fillRect/>
          </a:stretch>
        </p:blipFill>
        <p:spPr>
          <a:xfrm>
            <a:off x="731520" y="1435608"/>
            <a:ext cx="329184" cy="329184"/>
          </a:xfrm>
          <a:prstGeom prst="rect">
            <a:avLst/>
          </a:prstGeom>
        </p:spPr>
      </p:pic>
      <p:sp>
        <p:nvSpPr>
          <p:cNvPr id="9" name="Text 6"/>
          <p:cNvSpPr txBox="1"/>
          <p:nvPr/>
        </p:nvSpPr>
        <p:spPr>
          <a:xfrm>
            <a:off x="1234440" y="1325880"/>
            <a:ext cx="10180015" cy="548640"/>
          </a:xfrm>
          <a:prstGeom prst="rect">
            <a:avLst/>
          </a:prstGeom>
          <a:noFill/>
          <a:ln/>
        </p:spPr>
        <p:txBody>
          <a:bodyPr wrap="square" lIns="0" tIns="0" rIns="0" bIns="0" rtlCol="0" anchor="ctr"/>
          <a:lstStyle/>
          <a:p>
            <a:pPr indent="0" marL="0">
              <a:buNone/>
            </a:pPr>
            <a:r>
              <a:rPr lang="en-US" sz="1600" b="1" dirty="0">
                <a:solidFill>
                  <a:srgbClr val="1F1F1F"/>
                </a:solidFill>
              </a:rPr>
              <a:t>B. </a:t>
            </a:r>
            <a:r>
              <a:rPr lang="en-US" sz="1600" b="1" dirty="0">
                <a:solidFill>
                  <a:srgbClr val="1F1F1F"/>
                </a:solidFill>
              </a:rPr>
              <a:t>Infection, given the drug’s immunosuppressive effect</a:t>
            </a:r>
            <a:endParaRPr lang="en-US" sz="1600" dirty="0"/>
          </a:p>
        </p:txBody>
      </p:sp>
      <p:sp>
        <p:nvSpPr>
          <p:cNvPr id="10" name="Why correct"/>
          <p:cNvSpPr txBox="1"/>
          <p:nvPr/>
        </p:nvSpPr>
        <p:spPr>
          <a:xfrm>
            <a:off x="777240" y="2011680"/>
            <a:ext cx="10637215" cy="724408"/>
          </a:xfrm>
          <a:prstGeom prst="rect">
            <a:avLst/>
          </a:prstGeom>
          <a:noFill/>
          <a:ln/>
        </p:spPr>
        <p:txBody>
          <a:bodyPr wrap="square" lIns="0" tIns="0" rIns="0" bIns="0" rtlCol="0" anchor="t"/>
          <a:lstStyle/>
          <a:p>
            <a:pPr indent="0" marL="0">
              <a:buNone/>
            </a:pPr>
            <a:r>
              <a:rPr lang="en-US" sz="1600" dirty="0">
                <a:solidFill>
                  <a:srgbClr val="1F1F1F"/>
                </a:solidFill>
              </a:rPr>
              <a:t>Immunosuppression is the shared major risk across all DMARDs — treat a fever as a possible infection until proven otherwise (S71).</a:t>
            </a:r>
            <a:r>
              <a:rPr lang="en-US" sz="1100" dirty="0">
                <a:solidFill>
                  <a:srgbClr val="666666"/>
                </a:solidFill>
              </a:rPr>
              <a:t>  S70; S71</a:t>
            </a:r>
            <a:endParaRPr lang="en-US" sz="1600" dirty="0"/>
          </a:p>
        </p:txBody>
      </p:sp>
      <p:sp>
        <p:nvSpPr>
          <p:cNvPr id="11" name="Why others wrong card"/>
          <p:cNvSpPr/>
          <p:nvPr/>
        </p:nvSpPr>
        <p:spPr>
          <a:xfrm>
            <a:off x="548640" y="2873248"/>
            <a:ext cx="11094415" cy="1704848"/>
          </a:xfrm>
          <a:prstGeom prst="roundRect">
            <a:avLst>
              <a:gd name="adj" fmla="val 5364"/>
            </a:avLst>
          </a:prstGeom>
          <a:solidFill>
            <a:srgbClr val="F2F4F7"/>
          </a:solidFill>
          <a:ln w="12700">
            <a:solidFill>
              <a:srgbClr val="F2F4F7"/>
            </a:solidFill>
            <a:prstDash val="solid"/>
          </a:ln>
        </p:spPr>
      </p:sp>
      <p:sp>
        <p:nvSpPr>
          <p:cNvPr id="12" name="Why others wrong"/>
          <p:cNvSpPr txBox="1"/>
          <p:nvPr/>
        </p:nvSpPr>
        <p:spPr>
          <a:xfrm>
            <a:off x="777240" y="2982976"/>
            <a:ext cx="10637215" cy="1521968"/>
          </a:xfrm>
          <a:prstGeom prst="rect">
            <a:avLst/>
          </a:prstGeom>
          <a:noFill/>
          <a:ln/>
        </p:spPr>
        <p:txBody>
          <a:bodyPr wrap="square" lIns="0" tIns="0" rIns="0" bIns="0" rtlCol="0" anchor="t"/>
          <a:lstStyle/>
          <a:p>
            <a:pPr indent="0" marL="0">
              <a:spcAft>
                <a:spcPts val="400"/>
              </a:spcAft>
              <a:buNone/>
            </a:pPr>
            <a:r>
              <a:rPr lang="en-US" sz="1600" b="1" dirty="0">
                <a:solidFill>
                  <a:srgbClr val="C00000"/>
                </a:solidFill>
              </a:rPr>
              <a:t>Why the other choices are wrong</a:t>
            </a:r>
            <a:endParaRPr lang="en-US" sz="1600" dirty="0"/>
          </a:p>
          <a:p>
            <a:pPr indent="0" marL="0">
              <a:buNone/>
            </a:pPr>
            <a:r>
              <a:rPr lang="en-US" sz="1600" b="1" dirty="0">
                <a:solidFill>
                  <a:srgbClr val="1F1F1F"/>
                </a:solidFill>
              </a:rPr>
              <a:t>A. Osteonecrosis of the jaw from the drug — </a:t>
            </a:r>
            <a:r>
              <a:rPr lang="en-US" sz="1600" dirty="0">
                <a:solidFill>
                  <a:srgbClr val="1F1F1F"/>
                </a:solidFill>
              </a:rPr>
              <a:t>A rare bisphosphonate effect (S52).</a:t>
            </a:r>
            <a:endParaRPr lang="en-US" sz="1600" dirty="0"/>
          </a:p>
          <a:p>
            <a:pPr indent="0" marL="0">
              <a:buNone/>
            </a:pPr>
            <a:r>
              <a:rPr lang="en-US" sz="1600" b="1" dirty="0">
                <a:solidFill>
                  <a:srgbClr val="1F1F1F"/>
                </a:solidFill>
              </a:rPr>
              <a:t>C. Hepatotoxicity from Phase II metabolism — </a:t>
            </a:r>
            <a:r>
              <a:rPr lang="en-US" sz="1600" dirty="0">
                <a:solidFill>
                  <a:srgbClr val="1F1F1F"/>
                </a:solidFill>
              </a:rPr>
              <a:t>Not the shared DMARD risk (S71).</a:t>
            </a:r>
            <a:endParaRPr lang="en-US" sz="1600" dirty="0"/>
          </a:p>
          <a:p>
            <a:pPr indent="0" marL="0">
              <a:buNone/>
            </a:pPr>
            <a:r>
              <a:rPr lang="en-US" sz="1600" b="1" dirty="0">
                <a:solidFill>
                  <a:srgbClr val="1F1F1F"/>
                </a:solidFill>
              </a:rPr>
              <a:t>D. Serotonin syndrome from the biologic agent — </a:t>
            </a:r>
            <a:r>
              <a:rPr lang="en-US" sz="1600" dirty="0">
                <a:solidFill>
                  <a:srgbClr val="1F1F1F"/>
                </a:solidFill>
              </a:rPr>
              <a:t>A cyclobenzaprine interaction (S32).</a:t>
            </a:r>
            <a:endParaRPr lang="en-US" sz="1600" dirty="0"/>
          </a:p>
          <a:p>
            <a:pPr indent="0" marL="0">
              <a:buNone/>
            </a:pPr>
            <a:r>
              <a:rPr lang="en-US" sz="1600" b="1" dirty="0">
                <a:solidFill>
                  <a:srgbClr val="1F1F1F"/>
                </a:solidFill>
              </a:rPr>
              <a:t>E. A drug allergy only, so stop and observe — </a:t>
            </a:r>
            <a:r>
              <a:rPr lang="en-US" sz="1600" dirty="0">
                <a:solidFill>
                  <a:srgbClr val="1F1F1F"/>
                </a:solidFill>
              </a:rPr>
              <a:t>Infection must be assumed first (S71).</a:t>
            </a:r>
            <a:endParaRPr lang="en-US" sz="1600" dirty="0"/>
          </a:p>
        </p:txBody>
      </p:sp>
    </p:spTree>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name="Slide 125">
    <p:bg>
      <p:bgPr>
        <a:solidFill>
          <a:srgbClr val="FFFFFF"/>
        </a:solidFill>
      </p:bgPr>
    </p:bg>
    <p:spTree>
      <p:nvGrpSpPr>
        <p:cNvPr id="1" name=""/>
        <p:cNvGrpSpPr/>
        <p:nvPr/>
      </p:nvGrpSpPr>
      <p:grpSpPr>
        <a:xfrm>
          <a:off x="0" y="0"/>
          <a:ext cx="0" cy="0"/>
          <a:chOff x="0" y="0"/>
          <a:chExt cx="0" cy="0"/>
        </a:xfrm>
      </p:grpSpPr>
      <p:sp>
        <p:nvSpPr>
          <p:cNvPr id="2" name="Kicker"/>
          <p:cNvSpPr txBox="1"/>
          <p:nvPr/>
        </p:nvSpPr>
        <p:spPr>
          <a:xfrm>
            <a:off x="548640" y="292608"/>
            <a:ext cx="8076895" cy="274320"/>
          </a:xfrm>
          <a:prstGeom prst="rect">
            <a:avLst/>
          </a:prstGeom>
          <a:noFill/>
          <a:ln/>
        </p:spPr>
        <p:txBody>
          <a:bodyPr wrap="square" lIns="0" tIns="0" rIns="0" bIns="0" rtlCol="0" anchor="ctr"/>
          <a:lstStyle/>
          <a:p>
            <a:pPr indent="0" marL="0">
              <a:buNone/>
            </a:pPr>
            <a:r>
              <a:rPr lang="en-US" sz="1200" b="1" spc="100" kern="0" dirty="0">
                <a:solidFill>
                  <a:srgbClr val="4472C4"/>
                </a:solidFill>
              </a:rPr>
              <a:t>MECHANISM · LECTURE QUICK CHECK S70; S71</a:t>
            </a:r>
            <a:endParaRPr lang="en-US" sz="1200" dirty="0"/>
          </a:p>
        </p:txBody>
      </p:sp>
      <p:sp>
        <p:nvSpPr>
          <p:cNvPr id="3" name="Title"/>
          <p:cNvSpPr txBox="1"/>
          <p:nvPr/>
        </p:nvSpPr>
        <p:spPr>
          <a:xfrm>
            <a:off x="548640" y="566928"/>
            <a:ext cx="8076895" cy="713232"/>
          </a:xfrm>
          <a:prstGeom prst="rect">
            <a:avLst/>
          </a:prstGeom>
          <a:noFill/>
          <a:ln/>
        </p:spPr>
        <p:txBody>
          <a:bodyPr wrap="square" lIns="0" tIns="0" rIns="0" bIns="0" rtlCol="0" anchor="t"/>
          <a:lstStyle/>
          <a:p>
            <a:pPr indent="0" marL="0">
              <a:buNone/>
            </a:pPr>
            <a:r>
              <a:rPr lang="en-US" sz="3000" b="1" dirty="0">
                <a:solidFill>
                  <a:srgbClr val="1F1F1F"/>
                </a:solidFill>
                <a:latin typeface="Calibri" pitchFamily="34" charset="0"/>
                <a:ea typeface="Calibri" pitchFamily="34" charset="-122"/>
                <a:cs typeface="Calibri" pitchFamily="34" charset="-120"/>
              </a:rPr>
              <a:t>Question 32</a:t>
            </a:r>
            <a:endParaRPr lang="en-US" sz="3000" dirty="0"/>
          </a:p>
        </p:txBody>
      </p:sp>
      <p:sp>
        <p:nvSpPr>
          <p:cNvPr id="4" name="Objective chip"/>
          <p:cNvSpPr/>
          <p:nvPr/>
        </p:nvSpPr>
        <p:spPr>
          <a:xfrm>
            <a:off x="8899855" y="365760"/>
            <a:ext cx="2743200" cy="384048"/>
          </a:xfrm>
          <a:prstGeom prst="roundRect">
            <a:avLst>
              <a:gd name="adj" fmla="val 35714"/>
            </a:avLst>
          </a:prstGeom>
          <a:solidFill>
            <a:srgbClr val="E3EBF8"/>
          </a:solidFill>
          <a:ln/>
        </p:spPr>
        <p:txBody>
          <a:bodyPr wrap="square" lIns="25400" tIns="25400" rIns="25400" bIns="25400" rtlCol="0" anchor="ctr"/>
          <a:lstStyle/>
          <a:p>
            <a:pPr algn="ctr" indent="0" marL="0">
              <a:buNone/>
            </a:pPr>
            <a:r>
              <a:rPr lang="en-US" sz="1200" b="1" dirty="0">
                <a:solidFill>
                  <a:srgbClr val="2F4F8A"/>
                </a:solidFill>
              </a:rPr>
              <a:t>Objectives: SO5 · IO2.3 · IO2.4</a:t>
            </a:r>
            <a:endParaRPr lang="en-US" sz="1200" dirty="0"/>
          </a:p>
        </p:txBody>
      </p:sp>
      <p:sp>
        <p:nvSpPr>
          <p:cNvPr id="5" name="Footer"/>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1000" dirty="0">
                <a:solidFill>
                  <a:srgbClr val="666666"/>
                </a:solidFill>
              </a:rPr>
              <a:t>L04 · Musculoskeletal Pharmacology — Session 2</a:t>
            </a:r>
            <a:endParaRPr lang="en-US" sz="1000" dirty="0"/>
          </a:p>
        </p:txBody>
      </p:sp>
      <p:sp>
        <p:nvSpPr>
          <p:cNvPr id="6" name="Slide number"/>
          <p:cNvSpPr txBox="1"/>
          <p:nvPr/>
        </p:nvSpPr>
        <p:spPr>
          <a:xfrm>
            <a:off x="10728655" y="6419088"/>
            <a:ext cx="914400" cy="274320"/>
          </a:xfrm>
          <a:prstGeom prst="rect">
            <a:avLst/>
          </a:prstGeom>
          <a:noFill/>
          <a:ln/>
        </p:spPr>
        <p:txBody>
          <a:bodyPr wrap="square" lIns="0" tIns="0" rIns="0" bIns="0" rtlCol="0" anchor="ctr"/>
          <a:lstStyle/>
          <a:p>
            <a:pPr algn="r" indent="0" marL="0">
              <a:buNone/>
            </a:pPr>
            <a:r>
              <a:rPr lang="en-US" sz="1000" dirty="0">
                <a:solidFill>
                  <a:srgbClr val="666666"/>
                </a:solidFill>
              </a:rPr>
              <a:t>125</a:t>
            </a:r>
            <a:endParaRPr lang="en-US" sz="1000" dirty="0"/>
          </a:p>
        </p:txBody>
      </p:sp>
      <p:sp>
        <p:nvSpPr>
          <p:cNvPr id="7" name="Question stem card"/>
          <p:cNvSpPr/>
          <p:nvPr/>
        </p:nvSpPr>
        <p:spPr>
          <a:xfrm>
            <a:off x="548640" y="1325880"/>
            <a:ext cx="11094415" cy="644652"/>
          </a:xfrm>
          <a:prstGeom prst="roundRect">
            <a:avLst>
              <a:gd name="adj" fmla="val 14184"/>
            </a:avLst>
          </a:prstGeom>
          <a:solidFill>
            <a:srgbClr val="F2F4F7"/>
          </a:solidFill>
          <a:ln w="12700">
            <a:solidFill>
              <a:srgbClr val="F2F4F7"/>
            </a:solidFill>
            <a:prstDash val="solid"/>
          </a:ln>
        </p:spPr>
      </p:sp>
      <p:sp>
        <p:nvSpPr>
          <p:cNvPr id="8" name="Question stem"/>
          <p:cNvSpPr txBox="1"/>
          <p:nvPr/>
        </p:nvSpPr>
        <p:spPr>
          <a:xfrm>
            <a:off x="777240" y="1325880"/>
            <a:ext cx="10637215" cy="644652"/>
          </a:xfrm>
          <a:prstGeom prst="rect">
            <a:avLst/>
          </a:prstGeom>
          <a:noFill/>
          <a:ln/>
        </p:spPr>
        <p:txBody>
          <a:bodyPr wrap="square" lIns="0" tIns="0" rIns="0" bIns="0" rtlCol="0" anchor="ctr"/>
          <a:lstStyle/>
          <a:p>
            <a:pPr indent="0" marL="0">
              <a:buNone/>
            </a:pPr>
            <a:r>
              <a:rPr lang="en-US" sz="1800" dirty="0">
                <a:solidFill>
                  <a:srgbClr val="1F1F1F"/>
                </a:solidFill>
              </a:rPr>
              <a:t>Which statement about gout pharmacology is correct?</a:t>
            </a:r>
            <a:endParaRPr lang="en-US" sz="1800" dirty="0"/>
          </a:p>
        </p:txBody>
      </p:sp>
      <p:sp>
        <p:nvSpPr>
          <p:cNvPr id="9" name="Shape 7"/>
          <p:cNvSpPr/>
          <p:nvPr/>
        </p:nvSpPr>
        <p:spPr>
          <a:xfrm>
            <a:off x="548640" y="2180844"/>
            <a:ext cx="402336" cy="402336"/>
          </a:xfrm>
          <a:prstGeom prst="ellipse">
            <a:avLst/>
          </a:prstGeom>
          <a:solidFill>
            <a:srgbClr val="FFFFFF"/>
          </a:solidFill>
          <a:ln w="19050">
            <a:solidFill>
              <a:srgbClr val="4472C4"/>
            </a:solidFill>
            <a:prstDash val="solid"/>
          </a:ln>
        </p:spPr>
      </p:sp>
      <p:sp>
        <p:nvSpPr>
          <p:cNvPr id="10" name="Text 8"/>
          <p:cNvSpPr txBox="1"/>
          <p:nvPr/>
        </p:nvSpPr>
        <p:spPr>
          <a:xfrm>
            <a:off x="548640" y="2180844"/>
            <a:ext cx="402336" cy="402336"/>
          </a:xfrm>
          <a:prstGeom prst="rect">
            <a:avLst/>
          </a:prstGeom>
          <a:noFill/>
          <a:ln/>
        </p:spPr>
        <p:txBody>
          <a:bodyPr wrap="square" lIns="0" tIns="0" rIns="0" bIns="0" rtlCol="0" anchor="ctr"/>
          <a:lstStyle/>
          <a:p>
            <a:pPr algn="ctr" indent="0" marL="0">
              <a:buNone/>
            </a:pPr>
            <a:r>
              <a:rPr lang="en-US" sz="1400" b="1" dirty="0">
                <a:solidFill>
                  <a:srgbClr val="4472C4"/>
                </a:solidFill>
              </a:rPr>
              <a:t>A</a:t>
            </a:r>
            <a:endParaRPr lang="en-US" sz="1400" dirty="0"/>
          </a:p>
        </p:txBody>
      </p:sp>
      <p:sp>
        <p:nvSpPr>
          <p:cNvPr id="11" name="Option A"/>
          <p:cNvSpPr txBox="1"/>
          <p:nvPr/>
        </p:nvSpPr>
        <p:spPr>
          <a:xfrm>
            <a:off x="1188720" y="2153412"/>
            <a:ext cx="10271455" cy="457200"/>
          </a:xfrm>
          <a:prstGeom prst="rect">
            <a:avLst/>
          </a:prstGeom>
          <a:noFill/>
          <a:ln/>
        </p:spPr>
        <p:txBody>
          <a:bodyPr wrap="square" lIns="0" tIns="0" rIns="0" bIns="0" rtlCol="0" anchor="ctr"/>
          <a:lstStyle/>
          <a:p>
            <a:pPr indent="0" marL="0">
              <a:buNone/>
            </a:pPr>
            <a:r>
              <a:rPr lang="en-US" sz="1800" dirty="0">
                <a:solidFill>
                  <a:srgbClr val="1F1F1F"/>
                </a:solidFill>
              </a:rPr>
              <a:t>Probenecid inhibits renal tubular reabsorption of urate</a:t>
            </a:r>
            <a:endParaRPr lang="en-US" sz="1800" dirty="0"/>
          </a:p>
        </p:txBody>
      </p:sp>
      <p:sp>
        <p:nvSpPr>
          <p:cNvPr id="12" name="Shape 10"/>
          <p:cNvSpPr/>
          <p:nvPr/>
        </p:nvSpPr>
        <p:spPr>
          <a:xfrm>
            <a:off x="548640" y="2729484"/>
            <a:ext cx="402336" cy="402336"/>
          </a:xfrm>
          <a:prstGeom prst="ellipse">
            <a:avLst/>
          </a:prstGeom>
          <a:solidFill>
            <a:srgbClr val="FFFFFF"/>
          </a:solidFill>
          <a:ln w="19050">
            <a:solidFill>
              <a:srgbClr val="4472C4"/>
            </a:solidFill>
            <a:prstDash val="solid"/>
          </a:ln>
        </p:spPr>
      </p:sp>
      <p:sp>
        <p:nvSpPr>
          <p:cNvPr id="13" name="Text 11"/>
          <p:cNvSpPr txBox="1"/>
          <p:nvPr/>
        </p:nvSpPr>
        <p:spPr>
          <a:xfrm>
            <a:off x="548640" y="2729484"/>
            <a:ext cx="402336" cy="402336"/>
          </a:xfrm>
          <a:prstGeom prst="rect">
            <a:avLst/>
          </a:prstGeom>
          <a:noFill/>
          <a:ln/>
        </p:spPr>
        <p:txBody>
          <a:bodyPr wrap="square" lIns="0" tIns="0" rIns="0" bIns="0" rtlCol="0" anchor="ctr"/>
          <a:lstStyle/>
          <a:p>
            <a:pPr algn="ctr" indent="0" marL="0">
              <a:buNone/>
            </a:pPr>
            <a:r>
              <a:rPr lang="en-US" sz="1400" b="1" dirty="0">
                <a:solidFill>
                  <a:srgbClr val="4472C4"/>
                </a:solidFill>
              </a:rPr>
              <a:t>B</a:t>
            </a:r>
            <a:endParaRPr lang="en-US" sz="1400" dirty="0"/>
          </a:p>
        </p:txBody>
      </p:sp>
      <p:sp>
        <p:nvSpPr>
          <p:cNvPr id="14" name="Option B"/>
          <p:cNvSpPr txBox="1"/>
          <p:nvPr/>
        </p:nvSpPr>
        <p:spPr>
          <a:xfrm>
            <a:off x="1188720" y="2702052"/>
            <a:ext cx="10271455" cy="457200"/>
          </a:xfrm>
          <a:prstGeom prst="rect">
            <a:avLst/>
          </a:prstGeom>
          <a:noFill/>
          <a:ln/>
        </p:spPr>
        <p:txBody>
          <a:bodyPr wrap="square" lIns="0" tIns="0" rIns="0" bIns="0" rtlCol="0" anchor="ctr"/>
          <a:lstStyle/>
          <a:p>
            <a:pPr indent="0" marL="0">
              <a:buNone/>
            </a:pPr>
            <a:r>
              <a:rPr lang="en-US" sz="1800" dirty="0">
                <a:solidFill>
                  <a:srgbClr val="1F1F1F"/>
                </a:solidFill>
              </a:rPr>
              <a:t>Pegloticase blocks URAT1 in the renal tubule</a:t>
            </a:r>
            <a:endParaRPr lang="en-US" sz="1800" dirty="0"/>
          </a:p>
        </p:txBody>
      </p:sp>
      <p:sp>
        <p:nvSpPr>
          <p:cNvPr id="15" name="Shape 13"/>
          <p:cNvSpPr/>
          <p:nvPr/>
        </p:nvSpPr>
        <p:spPr>
          <a:xfrm>
            <a:off x="548640" y="3278124"/>
            <a:ext cx="402336" cy="402336"/>
          </a:xfrm>
          <a:prstGeom prst="ellipse">
            <a:avLst/>
          </a:prstGeom>
          <a:solidFill>
            <a:srgbClr val="FFFFFF"/>
          </a:solidFill>
          <a:ln w="19050">
            <a:solidFill>
              <a:srgbClr val="4472C4"/>
            </a:solidFill>
            <a:prstDash val="solid"/>
          </a:ln>
        </p:spPr>
      </p:sp>
      <p:sp>
        <p:nvSpPr>
          <p:cNvPr id="16" name="Text 14"/>
          <p:cNvSpPr txBox="1"/>
          <p:nvPr/>
        </p:nvSpPr>
        <p:spPr>
          <a:xfrm>
            <a:off x="548640" y="3278124"/>
            <a:ext cx="402336" cy="402336"/>
          </a:xfrm>
          <a:prstGeom prst="rect">
            <a:avLst/>
          </a:prstGeom>
          <a:noFill/>
          <a:ln/>
        </p:spPr>
        <p:txBody>
          <a:bodyPr wrap="square" lIns="0" tIns="0" rIns="0" bIns="0" rtlCol="0" anchor="ctr"/>
          <a:lstStyle/>
          <a:p>
            <a:pPr algn="ctr" indent="0" marL="0">
              <a:buNone/>
            </a:pPr>
            <a:r>
              <a:rPr lang="en-US" sz="1400" b="1" dirty="0">
                <a:solidFill>
                  <a:srgbClr val="4472C4"/>
                </a:solidFill>
              </a:rPr>
              <a:t>C</a:t>
            </a:r>
            <a:endParaRPr lang="en-US" sz="1400" dirty="0"/>
          </a:p>
        </p:txBody>
      </p:sp>
      <p:sp>
        <p:nvSpPr>
          <p:cNvPr id="17" name="Option C"/>
          <p:cNvSpPr txBox="1"/>
          <p:nvPr/>
        </p:nvSpPr>
        <p:spPr>
          <a:xfrm>
            <a:off x="1188720" y="3250692"/>
            <a:ext cx="10271455" cy="457200"/>
          </a:xfrm>
          <a:prstGeom prst="rect">
            <a:avLst/>
          </a:prstGeom>
          <a:noFill/>
          <a:ln/>
        </p:spPr>
        <p:txBody>
          <a:bodyPr wrap="square" lIns="0" tIns="0" rIns="0" bIns="0" rtlCol="0" anchor="ctr"/>
          <a:lstStyle/>
          <a:p>
            <a:pPr indent="0" marL="0">
              <a:buNone/>
            </a:pPr>
            <a:r>
              <a:rPr lang="en-US" sz="1800" dirty="0">
                <a:solidFill>
                  <a:srgbClr val="1F1F1F"/>
                </a:solidFill>
              </a:rPr>
              <a:t>Febuxostat and probenecid both inhibit xanthine oxidase</a:t>
            </a:r>
            <a:endParaRPr lang="en-US" sz="1800" dirty="0"/>
          </a:p>
        </p:txBody>
      </p:sp>
      <p:sp>
        <p:nvSpPr>
          <p:cNvPr id="18" name="Shape 16"/>
          <p:cNvSpPr/>
          <p:nvPr/>
        </p:nvSpPr>
        <p:spPr>
          <a:xfrm>
            <a:off x="548640" y="3826764"/>
            <a:ext cx="402336" cy="402336"/>
          </a:xfrm>
          <a:prstGeom prst="ellipse">
            <a:avLst/>
          </a:prstGeom>
          <a:solidFill>
            <a:srgbClr val="FFFFFF"/>
          </a:solidFill>
          <a:ln w="19050">
            <a:solidFill>
              <a:srgbClr val="4472C4"/>
            </a:solidFill>
            <a:prstDash val="solid"/>
          </a:ln>
        </p:spPr>
      </p:sp>
      <p:sp>
        <p:nvSpPr>
          <p:cNvPr id="19" name="Text 17"/>
          <p:cNvSpPr txBox="1"/>
          <p:nvPr/>
        </p:nvSpPr>
        <p:spPr>
          <a:xfrm>
            <a:off x="548640" y="3826764"/>
            <a:ext cx="402336" cy="402336"/>
          </a:xfrm>
          <a:prstGeom prst="rect">
            <a:avLst/>
          </a:prstGeom>
          <a:noFill/>
          <a:ln/>
        </p:spPr>
        <p:txBody>
          <a:bodyPr wrap="square" lIns="0" tIns="0" rIns="0" bIns="0" rtlCol="0" anchor="ctr"/>
          <a:lstStyle/>
          <a:p>
            <a:pPr algn="ctr" indent="0" marL="0">
              <a:buNone/>
            </a:pPr>
            <a:r>
              <a:rPr lang="en-US" sz="1400" b="1" dirty="0">
                <a:solidFill>
                  <a:srgbClr val="4472C4"/>
                </a:solidFill>
              </a:rPr>
              <a:t>D</a:t>
            </a:r>
            <a:endParaRPr lang="en-US" sz="1400" dirty="0"/>
          </a:p>
        </p:txBody>
      </p:sp>
      <p:sp>
        <p:nvSpPr>
          <p:cNvPr id="20" name="Option D"/>
          <p:cNvSpPr txBox="1"/>
          <p:nvPr/>
        </p:nvSpPr>
        <p:spPr>
          <a:xfrm>
            <a:off x="1188720" y="3799332"/>
            <a:ext cx="10271455" cy="457200"/>
          </a:xfrm>
          <a:prstGeom prst="rect">
            <a:avLst/>
          </a:prstGeom>
          <a:noFill/>
          <a:ln/>
        </p:spPr>
        <p:txBody>
          <a:bodyPr wrap="square" lIns="0" tIns="0" rIns="0" bIns="0" rtlCol="0" anchor="ctr"/>
          <a:lstStyle/>
          <a:p>
            <a:pPr indent="0" marL="0">
              <a:buNone/>
            </a:pPr>
            <a:r>
              <a:rPr lang="en-US" sz="1800" dirty="0">
                <a:solidFill>
                  <a:srgbClr val="1F1F1F"/>
                </a:solidFill>
              </a:rPr>
              <a:t>Colchicine lowers uric acid production</a:t>
            </a:r>
            <a:endParaRPr lang="en-US" sz="1800" dirty="0"/>
          </a:p>
        </p:txBody>
      </p:sp>
      <p:sp>
        <p:nvSpPr>
          <p:cNvPr id="21" name="Shape 19"/>
          <p:cNvSpPr/>
          <p:nvPr/>
        </p:nvSpPr>
        <p:spPr>
          <a:xfrm>
            <a:off x="548640" y="4375404"/>
            <a:ext cx="402336" cy="402336"/>
          </a:xfrm>
          <a:prstGeom prst="ellipse">
            <a:avLst/>
          </a:prstGeom>
          <a:solidFill>
            <a:srgbClr val="FFFFFF"/>
          </a:solidFill>
          <a:ln w="19050">
            <a:solidFill>
              <a:srgbClr val="4472C4"/>
            </a:solidFill>
            <a:prstDash val="solid"/>
          </a:ln>
        </p:spPr>
      </p:sp>
      <p:sp>
        <p:nvSpPr>
          <p:cNvPr id="22" name="Text 20"/>
          <p:cNvSpPr txBox="1"/>
          <p:nvPr/>
        </p:nvSpPr>
        <p:spPr>
          <a:xfrm>
            <a:off x="548640" y="4375404"/>
            <a:ext cx="402336" cy="402336"/>
          </a:xfrm>
          <a:prstGeom prst="rect">
            <a:avLst/>
          </a:prstGeom>
          <a:noFill/>
          <a:ln/>
        </p:spPr>
        <p:txBody>
          <a:bodyPr wrap="square" lIns="0" tIns="0" rIns="0" bIns="0" rtlCol="0" anchor="ctr"/>
          <a:lstStyle/>
          <a:p>
            <a:pPr algn="ctr" indent="0" marL="0">
              <a:buNone/>
            </a:pPr>
            <a:r>
              <a:rPr lang="en-US" sz="1400" b="1" dirty="0">
                <a:solidFill>
                  <a:srgbClr val="4472C4"/>
                </a:solidFill>
              </a:rPr>
              <a:t>E</a:t>
            </a:r>
            <a:endParaRPr lang="en-US" sz="1400" dirty="0"/>
          </a:p>
        </p:txBody>
      </p:sp>
      <p:sp>
        <p:nvSpPr>
          <p:cNvPr id="23" name="Option E"/>
          <p:cNvSpPr txBox="1"/>
          <p:nvPr/>
        </p:nvSpPr>
        <p:spPr>
          <a:xfrm>
            <a:off x="1188720" y="4347972"/>
            <a:ext cx="10271455" cy="457200"/>
          </a:xfrm>
          <a:prstGeom prst="rect">
            <a:avLst/>
          </a:prstGeom>
          <a:noFill/>
          <a:ln/>
        </p:spPr>
        <p:txBody>
          <a:bodyPr wrap="square" lIns="0" tIns="0" rIns="0" bIns="0" rtlCol="0" anchor="ctr"/>
          <a:lstStyle/>
          <a:p>
            <a:pPr indent="0" marL="0">
              <a:buNone/>
            </a:pPr>
            <a:r>
              <a:rPr lang="en-US" sz="1800" dirty="0">
                <a:solidFill>
                  <a:srgbClr val="1F1F1F"/>
                </a:solidFill>
              </a:rPr>
              <a:t>Acute flares need urate-lowering therapy first</a:t>
            </a:r>
            <a:endParaRPr lang="en-US" sz="1800" dirty="0"/>
          </a:p>
        </p:txBody>
      </p:sp>
    </p:spTree>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name="Slide 126">
    <p:bg>
      <p:bgPr>
        <a:solidFill>
          <a:srgbClr val="FFFFFF"/>
        </a:solidFill>
      </p:bgPr>
    </p:bg>
    <p:spTree>
      <p:nvGrpSpPr>
        <p:cNvPr id="1" name=""/>
        <p:cNvGrpSpPr/>
        <p:nvPr/>
      </p:nvGrpSpPr>
      <p:grpSpPr>
        <a:xfrm>
          <a:off x="0" y="0"/>
          <a:ext cx="0" cy="0"/>
          <a:chOff x="0" y="0"/>
          <a:chExt cx="0" cy="0"/>
        </a:xfrm>
      </p:grpSpPr>
      <p:sp>
        <p:nvSpPr>
          <p:cNvPr id="2" name="Kicker"/>
          <p:cNvSpPr txBox="1"/>
          <p:nvPr/>
        </p:nvSpPr>
        <p:spPr>
          <a:xfrm>
            <a:off x="548640" y="292608"/>
            <a:ext cx="8076895" cy="274320"/>
          </a:xfrm>
          <a:prstGeom prst="rect">
            <a:avLst/>
          </a:prstGeom>
          <a:noFill/>
          <a:ln/>
        </p:spPr>
        <p:txBody>
          <a:bodyPr wrap="square" lIns="0" tIns="0" rIns="0" bIns="0" rtlCol="0" anchor="ctr"/>
          <a:lstStyle/>
          <a:p>
            <a:pPr indent="0" marL="0">
              <a:buNone/>
            </a:pPr>
            <a:r>
              <a:rPr lang="en-US" sz="1200" b="1" spc="100" kern="0" dirty="0">
                <a:solidFill>
                  <a:srgbClr val="4472C4"/>
                </a:solidFill>
              </a:rPr>
              <a:t>MECHANISM · ANSWER</a:t>
            </a:r>
            <a:endParaRPr lang="en-US" sz="1200" dirty="0"/>
          </a:p>
        </p:txBody>
      </p:sp>
      <p:sp>
        <p:nvSpPr>
          <p:cNvPr id="3" name="Title"/>
          <p:cNvSpPr txBox="1"/>
          <p:nvPr/>
        </p:nvSpPr>
        <p:spPr>
          <a:xfrm>
            <a:off x="548640" y="566928"/>
            <a:ext cx="8076895" cy="713232"/>
          </a:xfrm>
          <a:prstGeom prst="rect">
            <a:avLst/>
          </a:prstGeom>
          <a:noFill/>
          <a:ln/>
        </p:spPr>
        <p:txBody>
          <a:bodyPr wrap="square" lIns="0" tIns="0" rIns="0" bIns="0" rtlCol="0" anchor="t"/>
          <a:lstStyle/>
          <a:p>
            <a:pPr indent="0" marL="0">
              <a:buNone/>
            </a:pPr>
            <a:r>
              <a:rPr lang="en-US" sz="3000" b="1" dirty="0">
                <a:solidFill>
                  <a:srgbClr val="1F1F1F"/>
                </a:solidFill>
                <a:latin typeface="Calibri" pitchFamily="34" charset="0"/>
                <a:ea typeface="Calibri" pitchFamily="34" charset="-122"/>
                <a:cs typeface="Calibri" pitchFamily="34" charset="-120"/>
              </a:rPr>
              <a:t>Answer 32: A</a:t>
            </a:r>
            <a:endParaRPr lang="en-US" sz="3000" dirty="0"/>
          </a:p>
        </p:txBody>
      </p:sp>
      <p:sp>
        <p:nvSpPr>
          <p:cNvPr id="4" name="Objective chip"/>
          <p:cNvSpPr/>
          <p:nvPr/>
        </p:nvSpPr>
        <p:spPr>
          <a:xfrm>
            <a:off x="8899855" y="365760"/>
            <a:ext cx="2743200" cy="384048"/>
          </a:xfrm>
          <a:prstGeom prst="roundRect">
            <a:avLst>
              <a:gd name="adj" fmla="val 35714"/>
            </a:avLst>
          </a:prstGeom>
          <a:solidFill>
            <a:srgbClr val="E3EBF8"/>
          </a:solidFill>
          <a:ln/>
        </p:spPr>
        <p:txBody>
          <a:bodyPr wrap="square" lIns="25400" tIns="25400" rIns="25400" bIns="25400" rtlCol="0" anchor="ctr"/>
          <a:lstStyle/>
          <a:p>
            <a:pPr algn="ctr" indent="0" marL="0">
              <a:buNone/>
            </a:pPr>
            <a:r>
              <a:rPr lang="en-US" sz="1200" b="1" dirty="0">
                <a:solidFill>
                  <a:srgbClr val="2F4F8A"/>
                </a:solidFill>
              </a:rPr>
              <a:t>Objectives: SO5 · IO2.3 · IO2.4</a:t>
            </a:r>
            <a:endParaRPr lang="en-US" sz="1200" dirty="0"/>
          </a:p>
        </p:txBody>
      </p:sp>
      <p:sp>
        <p:nvSpPr>
          <p:cNvPr id="5" name="Footer"/>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1000" dirty="0">
                <a:solidFill>
                  <a:srgbClr val="666666"/>
                </a:solidFill>
              </a:rPr>
              <a:t>L04 · Musculoskeletal Pharmacology — Session 2</a:t>
            </a:r>
            <a:endParaRPr lang="en-US" sz="1000" dirty="0"/>
          </a:p>
        </p:txBody>
      </p:sp>
      <p:sp>
        <p:nvSpPr>
          <p:cNvPr id="6" name="Slide number"/>
          <p:cNvSpPr txBox="1"/>
          <p:nvPr/>
        </p:nvSpPr>
        <p:spPr>
          <a:xfrm>
            <a:off x="10728655" y="6419088"/>
            <a:ext cx="914400" cy="274320"/>
          </a:xfrm>
          <a:prstGeom prst="rect">
            <a:avLst/>
          </a:prstGeom>
          <a:noFill/>
          <a:ln/>
        </p:spPr>
        <p:txBody>
          <a:bodyPr wrap="square" lIns="0" tIns="0" rIns="0" bIns="0" rtlCol="0" anchor="ctr"/>
          <a:lstStyle/>
          <a:p>
            <a:pPr algn="r" indent="0" marL="0">
              <a:buNone/>
            </a:pPr>
            <a:r>
              <a:rPr lang="en-US" sz="1000" dirty="0">
                <a:solidFill>
                  <a:srgbClr val="666666"/>
                </a:solidFill>
              </a:rPr>
              <a:t>126</a:t>
            </a:r>
            <a:endParaRPr lang="en-US" sz="1000" dirty="0"/>
          </a:p>
        </p:txBody>
      </p:sp>
      <p:sp>
        <p:nvSpPr>
          <p:cNvPr id="7" name="Correct answer"/>
          <p:cNvSpPr/>
          <p:nvPr/>
        </p:nvSpPr>
        <p:spPr>
          <a:xfrm>
            <a:off x="548640" y="1325880"/>
            <a:ext cx="11094415" cy="548640"/>
          </a:xfrm>
          <a:prstGeom prst="roundRect">
            <a:avLst>
              <a:gd name="adj" fmla="val 16667"/>
            </a:avLst>
          </a:prstGeom>
          <a:solidFill>
            <a:srgbClr val="E2F0D9"/>
          </a:solidFill>
          <a:ln w="19050">
            <a:solidFill>
              <a:srgbClr val="548235"/>
            </a:solidFill>
            <a:prstDash val="solid"/>
          </a:ln>
        </p:spPr>
      </p:sp>
      <p:pic>
        <p:nvPicPr>
          <p:cNvPr id="8" name="Image 0" descr="preencoded.png">    </p:cNvPr>
          <p:cNvPicPr>
            <a:picLocks noChangeAspect="1"/>
          </p:cNvPicPr>
          <p:nvPr/>
        </p:nvPicPr>
        <p:blipFill>
          <a:blip r:embed="rId1"/>
          <a:stretch>
            <a:fillRect/>
          </a:stretch>
        </p:blipFill>
        <p:spPr>
          <a:xfrm>
            <a:off x="731520" y="1435608"/>
            <a:ext cx="329184" cy="329184"/>
          </a:xfrm>
          <a:prstGeom prst="rect">
            <a:avLst/>
          </a:prstGeom>
        </p:spPr>
      </p:pic>
      <p:sp>
        <p:nvSpPr>
          <p:cNvPr id="9" name="Text 6"/>
          <p:cNvSpPr txBox="1"/>
          <p:nvPr/>
        </p:nvSpPr>
        <p:spPr>
          <a:xfrm>
            <a:off x="1234440" y="1325880"/>
            <a:ext cx="10180015" cy="548640"/>
          </a:xfrm>
          <a:prstGeom prst="rect">
            <a:avLst/>
          </a:prstGeom>
          <a:noFill/>
          <a:ln/>
        </p:spPr>
        <p:txBody>
          <a:bodyPr wrap="square" lIns="0" tIns="0" rIns="0" bIns="0" rtlCol="0" anchor="ctr"/>
          <a:lstStyle/>
          <a:p>
            <a:pPr indent="0" marL="0">
              <a:buNone/>
            </a:pPr>
            <a:r>
              <a:rPr lang="en-US" sz="1600" b="1" dirty="0">
                <a:solidFill>
                  <a:srgbClr val="1F1F1F"/>
                </a:solidFill>
              </a:rPr>
              <a:t>A. </a:t>
            </a:r>
            <a:r>
              <a:rPr lang="en-US" sz="1600" b="1" dirty="0">
                <a:solidFill>
                  <a:srgbClr val="1F1F1F"/>
                </a:solidFill>
              </a:rPr>
              <a:t>Probenecid inhibits renal tubular reabsorption of urate</a:t>
            </a:r>
            <a:endParaRPr lang="en-US" sz="1600" dirty="0"/>
          </a:p>
        </p:txBody>
      </p:sp>
      <p:sp>
        <p:nvSpPr>
          <p:cNvPr id="10" name="Why correct"/>
          <p:cNvSpPr txBox="1"/>
          <p:nvPr/>
        </p:nvSpPr>
        <p:spPr>
          <a:xfrm>
            <a:off x="777240" y="2011680"/>
            <a:ext cx="10637215" cy="724408"/>
          </a:xfrm>
          <a:prstGeom prst="rect">
            <a:avLst/>
          </a:prstGeom>
          <a:noFill/>
          <a:ln/>
        </p:spPr>
        <p:txBody>
          <a:bodyPr wrap="square" lIns="0" tIns="0" rIns="0" bIns="0" rtlCol="0" anchor="t"/>
          <a:lstStyle/>
          <a:p>
            <a:pPr indent="0" marL="0">
              <a:buNone/>
            </a:pPr>
            <a:r>
              <a:rPr lang="en-US" sz="1600" dirty="0">
                <a:solidFill>
                  <a:srgbClr val="1F1F1F"/>
                </a:solidFill>
              </a:rPr>
              <a:t>Probenecid is a uricosuric that inhibits renal tubular reabsorption of uric acid. Colchicine doesn’t lower uric acid; febuxostat, not probenecid, inhibits xanthine oxidase; ULT is deferred during a flare (S71).</a:t>
            </a:r>
            <a:r>
              <a:rPr lang="en-US" sz="1100" dirty="0">
                <a:solidFill>
                  <a:srgbClr val="666666"/>
                </a:solidFill>
              </a:rPr>
              <a:t>  S70; S71</a:t>
            </a:r>
            <a:endParaRPr lang="en-US" sz="1600" dirty="0"/>
          </a:p>
        </p:txBody>
      </p:sp>
      <p:sp>
        <p:nvSpPr>
          <p:cNvPr id="11" name="Why others wrong card"/>
          <p:cNvSpPr/>
          <p:nvPr/>
        </p:nvSpPr>
        <p:spPr>
          <a:xfrm>
            <a:off x="548640" y="2873248"/>
            <a:ext cx="11094415" cy="1704848"/>
          </a:xfrm>
          <a:prstGeom prst="roundRect">
            <a:avLst>
              <a:gd name="adj" fmla="val 5364"/>
            </a:avLst>
          </a:prstGeom>
          <a:solidFill>
            <a:srgbClr val="F2F4F7"/>
          </a:solidFill>
          <a:ln w="12700">
            <a:solidFill>
              <a:srgbClr val="F2F4F7"/>
            </a:solidFill>
            <a:prstDash val="solid"/>
          </a:ln>
        </p:spPr>
      </p:sp>
      <p:sp>
        <p:nvSpPr>
          <p:cNvPr id="12" name="Why others wrong"/>
          <p:cNvSpPr txBox="1"/>
          <p:nvPr/>
        </p:nvSpPr>
        <p:spPr>
          <a:xfrm>
            <a:off x="777240" y="2982976"/>
            <a:ext cx="10637215" cy="1521968"/>
          </a:xfrm>
          <a:prstGeom prst="rect">
            <a:avLst/>
          </a:prstGeom>
          <a:noFill/>
          <a:ln/>
        </p:spPr>
        <p:txBody>
          <a:bodyPr wrap="square" lIns="0" tIns="0" rIns="0" bIns="0" rtlCol="0" anchor="t"/>
          <a:lstStyle/>
          <a:p>
            <a:pPr indent="0" marL="0">
              <a:spcAft>
                <a:spcPts val="400"/>
              </a:spcAft>
              <a:buNone/>
            </a:pPr>
            <a:r>
              <a:rPr lang="en-US" sz="1600" b="1" dirty="0">
                <a:solidFill>
                  <a:srgbClr val="C00000"/>
                </a:solidFill>
              </a:rPr>
              <a:t>Why the other choices are wrong</a:t>
            </a:r>
            <a:endParaRPr lang="en-US" sz="1600" dirty="0"/>
          </a:p>
          <a:p>
            <a:pPr indent="0" marL="0">
              <a:buNone/>
            </a:pPr>
            <a:r>
              <a:rPr lang="en-US" sz="1600" b="1" dirty="0">
                <a:solidFill>
                  <a:srgbClr val="1F1F1F"/>
                </a:solidFill>
              </a:rPr>
              <a:t>B. Pegloticase blocks URAT1 in the renal tubule — </a:t>
            </a:r>
            <a:r>
              <a:rPr lang="en-US" sz="1600" dirty="0">
                <a:solidFill>
                  <a:srgbClr val="1F1F1F"/>
                </a:solidFill>
              </a:rPr>
              <a:t>Pegloticase is a uricase (S15).</a:t>
            </a:r>
            <a:endParaRPr lang="en-US" sz="1600" dirty="0"/>
          </a:p>
          <a:p>
            <a:pPr indent="0" marL="0">
              <a:buNone/>
            </a:pPr>
            <a:r>
              <a:rPr lang="en-US" sz="1600" b="1" dirty="0">
                <a:solidFill>
                  <a:srgbClr val="1F1F1F"/>
                </a:solidFill>
              </a:rPr>
              <a:t>C. Febuxostat and probenecid both inhibit xanthine oxidase — </a:t>
            </a:r>
            <a:r>
              <a:rPr lang="en-US" sz="1600" dirty="0">
                <a:solidFill>
                  <a:srgbClr val="1F1F1F"/>
                </a:solidFill>
              </a:rPr>
              <a:t>Only febuxostat does (S71).</a:t>
            </a:r>
            <a:endParaRPr lang="en-US" sz="1600" dirty="0"/>
          </a:p>
          <a:p>
            <a:pPr indent="0" marL="0">
              <a:buNone/>
            </a:pPr>
            <a:r>
              <a:rPr lang="en-US" sz="1600" b="1" dirty="0">
                <a:solidFill>
                  <a:srgbClr val="1F1F1F"/>
                </a:solidFill>
              </a:rPr>
              <a:t>D. Colchicine lowers uric acid production — </a:t>
            </a:r>
            <a:r>
              <a:rPr lang="en-US" sz="1600" dirty="0">
                <a:solidFill>
                  <a:srgbClr val="1F1F1F"/>
                </a:solidFill>
              </a:rPr>
              <a:t>Colchicine calms inflammation; uric acid is unchanged (S71).</a:t>
            </a:r>
            <a:endParaRPr lang="en-US" sz="1600" dirty="0"/>
          </a:p>
          <a:p>
            <a:pPr indent="0" marL="0">
              <a:buNone/>
            </a:pPr>
            <a:r>
              <a:rPr lang="en-US" sz="1600" b="1" dirty="0">
                <a:solidFill>
                  <a:srgbClr val="1F1F1F"/>
                </a:solidFill>
              </a:rPr>
              <a:t>E. Acute flares need urate-lowering therapy first — </a:t>
            </a:r>
            <a:r>
              <a:rPr lang="en-US" sz="1600" dirty="0">
                <a:solidFill>
                  <a:srgbClr val="1F1F1F"/>
                </a:solidFill>
              </a:rPr>
              <a:t>ULT is deferred during a flare (S71).</a:t>
            </a:r>
            <a:endParaRPr lang="en-US" sz="1600" dirty="0"/>
          </a:p>
        </p:txBody>
      </p:sp>
    </p:spTree>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name="Slide 127">
    <p:bg>
      <p:bgPr>
        <a:solidFill>
          <a:srgbClr val="FFFFFF"/>
        </a:solidFill>
      </p:bgPr>
    </p:bg>
    <p:spTree>
      <p:nvGrpSpPr>
        <p:cNvPr id="1" name=""/>
        <p:cNvGrpSpPr/>
        <p:nvPr/>
      </p:nvGrpSpPr>
      <p:grpSpPr>
        <a:xfrm>
          <a:off x="0" y="0"/>
          <a:ext cx="0" cy="0"/>
          <a:chOff x="0" y="0"/>
          <a:chExt cx="0" cy="0"/>
        </a:xfrm>
      </p:grpSpPr>
      <p:sp>
        <p:nvSpPr>
          <p:cNvPr id="2" name="Kicker"/>
          <p:cNvSpPr txBox="1"/>
          <p:nvPr/>
        </p:nvSpPr>
        <p:spPr>
          <a:xfrm>
            <a:off x="548640" y="292608"/>
            <a:ext cx="8076895" cy="274320"/>
          </a:xfrm>
          <a:prstGeom prst="rect">
            <a:avLst/>
          </a:prstGeom>
          <a:noFill/>
          <a:ln/>
        </p:spPr>
        <p:txBody>
          <a:bodyPr wrap="square" lIns="0" tIns="0" rIns="0" bIns="0" rtlCol="0" anchor="ctr"/>
          <a:lstStyle/>
          <a:p>
            <a:pPr indent="0" marL="0">
              <a:buNone/>
            </a:pPr>
            <a:r>
              <a:rPr lang="en-US" sz="1200" b="1" spc="100" kern="0" dirty="0">
                <a:solidFill>
                  <a:srgbClr val="4472C4"/>
                </a:solidFill>
              </a:rPr>
              <a:t>MECHANISM · LECTURE QUICK CHECK S70; S71</a:t>
            </a:r>
            <a:endParaRPr lang="en-US" sz="1200" dirty="0"/>
          </a:p>
        </p:txBody>
      </p:sp>
      <p:sp>
        <p:nvSpPr>
          <p:cNvPr id="3" name="Title"/>
          <p:cNvSpPr txBox="1"/>
          <p:nvPr/>
        </p:nvSpPr>
        <p:spPr>
          <a:xfrm>
            <a:off x="548640" y="566928"/>
            <a:ext cx="8076895" cy="713232"/>
          </a:xfrm>
          <a:prstGeom prst="rect">
            <a:avLst/>
          </a:prstGeom>
          <a:noFill/>
          <a:ln/>
        </p:spPr>
        <p:txBody>
          <a:bodyPr wrap="square" lIns="0" tIns="0" rIns="0" bIns="0" rtlCol="0" anchor="t"/>
          <a:lstStyle/>
          <a:p>
            <a:pPr indent="0" marL="0">
              <a:buNone/>
            </a:pPr>
            <a:r>
              <a:rPr lang="en-US" sz="3000" b="1" dirty="0">
                <a:solidFill>
                  <a:srgbClr val="1F1F1F"/>
                </a:solidFill>
                <a:latin typeface="Calibri" pitchFamily="34" charset="0"/>
                <a:ea typeface="Calibri" pitchFamily="34" charset="-122"/>
                <a:cs typeface="Calibri" pitchFamily="34" charset="-120"/>
              </a:rPr>
              <a:t>Question 33</a:t>
            </a:r>
            <a:endParaRPr lang="en-US" sz="3000" dirty="0"/>
          </a:p>
        </p:txBody>
      </p:sp>
      <p:sp>
        <p:nvSpPr>
          <p:cNvPr id="4" name="Objective chip"/>
          <p:cNvSpPr/>
          <p:nvPr/>
        </p:nvSpPr>
        <p:spPr>
          <a:xfrm>
            <a:off x="8899855" y="365760"/>
            <a:ext cx="2743200" cy="384048"/>
          </a:xfrm>
          <a:prstGeom prst="roundRect">
            <a:avLst>
              <a:gd name="adj" fmla="val 35714"/>
            </a:avLst>
          </a:prstGeom>
          <a:solidFill>
            <a:srgbClr val="E3EBF8"/>
          </a:solidFill>
          <a:ln/>
        </p:spPr>
        <p:txBody>
          <a:bodyPr wrap="square" lIns="25400" tIns="25400" rIns="25400" bIns="25400" rtlCol="0" anchor="ctr"/>
          <a:lstStyle/>
          <a:p>
            <a:pPr algn="ctr" indent="0" marL="0">
              <a:buNone/>
            </a:pPr>
            <a:r>
              <a:rPr lang="en-US" sz="1200" b="1" dirty="0">
                <a:solidFill>
                  <a:srgbClr val="2F4F8A"/>
                </a:solidFill>
              </a:rPr>
              <a:t>Objectives: SO5 · IO2.3 · IO2.4</a:t>
            </a:r>
            <a:endParaRPr lang="en-US" sz="1200" dirty="0"/>
          </a:p>
        </p:txBody>
      </p:sp>
      <p:sp>
        <p:nvSpPr>
          <p:cNvPr id="5" name="Footer"/>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1000" dirty="0">
                <a:solidFill>
                  <a:srgbClr val="666666"/>
                </a:solidFill>
              </a:rPr>
              <a:t>L04 · Musculoskeletal Pharmacology — Session 2</a:t>
            </a:r>
            <a:endParaRPr lang="en-US" sz="1000" dirty="0"/>
          </a:p>
        </p:txBody>
      </p:sp>
      <p:sp>
        <p:nvSpPr>
          <p:cNvPr id="6" name="Slide number"/>
          <p:cNvSpPr txBox="1"/>
          <p:nvPr/>
        </p:nvSpPr>
        <p:spPr>
          <a:xfrm>
            <a:off x="10728655" y="6419088"/>
            <a:ext cx="914400" cy="274320"/>
          </a:xfrm>
          <a:prstGeom prst="rect">
            <a:avLst/>
          </a:prstGeom>
          <a:noFill/>
          <a:ln/>
        </p:spPr>
        <p:txBody>
          <a:bodyPr wrap="square" lIns="0" tIns="0" rIns="0" bIns="0" rtlCol="0" anchor="ctr"/>
          <a:lstStyle/>
          <a:p>
            <a:pPr algn="r" indent="0" marL="0">
              <a:buNone/>
            </a:pPr>
            <a:r>
              <a:rPr lang="en-US" sz="1000" dirty="0">
                <a:solidFill>
                  <a:srgbClr val="666666"/>
                </a:solidFill>
              </a:rPr>
              <a:t>127</a:t>
            </a:r>
            <a:endParaRPr lang="en-US" sz="1000" dirty="0"/>
          </a:p>
        </p:txBody>
      </p:sp>
      <p:sp>
        <p:nvSpPr>
          <p:cNvPr id="7" name="Question stem card"/>
          <p:cNvSpPr/>
          <p:nvPr/>
        </p:nvSpPr>
        <p:spPr>
          <a:xfrm>
            <a:off x="548640" y="1325880"/>
            <a:ext cx="11094415" cy="644652"/>
          </a:xfrm>
          <a:prstGeom prst="roundRect">
            <a:avLst>
              <a:gd name="adj" fmla="val 14184"/>
            </a:avLst>
          </a:prstGeom>
          <a:solidFill>
            <a:srgbClr val="F2F4F7"/>
          </a:solidFill>
          <a:ln w="12700">
            <a:solidFill>
              <a:srgbClr val="F2F4F7"/>
            </a:solidFill>
            <a:prstDash val="solid"/>
          </a:ln>
        </p:spPr>
      </p:sp>
      <p:sp>
        <p:nvSpPr>
          <p:cNvPr id="8" name="Question stem"/>
          <p:cNvSpPr txBox="1"/>
          <p:nvPr/>
        </p:nvSpPr>
        <p:spPr>
          <a:xfrm>
            <a:off x="777240" y="1325880"/>
            <a:ext cx="10637215" cy="644652"/>
          </a:xfrm>
          <a:prstGeom prst="rect">
            <a:avLst/>
          </a:prstGeom>
          <a:noFill/>
          <a:ln/>
        </p:spPr>
        <p:txBody>
          <a:bodyPr wrap="square" lIns="0" tIns="0" rIns="0" bIns="0" rtlCol="0" anchor="ctr"/>
          <a:lstStyle/>
          <a:p>
            <a:pPr indent="0" marL="0">
              <a:buNone/>
            </a:pPr>
            <a:r>
              <a:rPr lang="en-US" sz="1800" dirty="0">
                <a:solidFill>
                  <a:srgbClr val="1F1F1F"/>
                </a:solidFill>
              </a:rPr>
              <a:t>Glucocorticoid-induced osteoporosis risk is primarily related to which mechanism?</a:t>
            </a:r>
            <a:endParaRPr lang="en-US" sz="1800" dirty="0"/>
          </a:p>
        </p:txBody>
      </p:sp>
      <p:sp>
        <p:nvSpPr>
          <p:cNvPr id="9" name="Shape 7"/>
          <p:cNvSpPr/>
          <p:nvPr/>
        </p:nvSpPr>
        <p:spPr>
          <a:xfrm>
            <a:off x="548640" y="2180844"/>
            <a:ext cx="402336" cy="402336"/>
          </a:xfrm>
          <a:prstGeom prst="ellipse">
            <a:avLst/>
          </a:prstGeom>
          <a:solidFill>
            <a:srgbClr val="FFFFFF"/>
          </a:solidFill>
          <a:ln w="19050">
            <a:solidFill>
              <a:srgbClr val="4472C4"/>
            </a:solidFill>
            <a:prstDash val="solid"/>
          </a:ln>
        </p:spPr>
      </p:sp>
      <p:sp>
        <p:nvSpPr>
          <p:cNvPr id="10" name="Text 8"/>
          <p:cNvSpPr txBox="1"/>
          <p:nvPr/>
        </p:nvSpPr>
        <p:spPr>
          <a:xfrm>
            <a:off x="548640" y="2180844"/>
            <a:ext cx="402336" cy="402336"/>
          </a:xfrm>
          <a:prstGeom prst="rect">
            <a:avLst/>
          </a:prstGeom>
          <a:noFill/>
          <a:ln/>
        </p:spPr>
        <p:txBody>
          <a:bodyPr wrap="square" lIns="0" tIns="0" rIns="0" bIns="0" rtlCol="0" anchor="ctr"/>
          <a:lstStyle/>
          <a:p>
            <a:pPr algn="ctr" indent="0" marL="0">
              <a:buNone/>
            </a:pPr>
            <a:r>
              <a:rPr lang="en-US" sz="1400" b="1" dirty="0">
                <a:solidFill>
                  <a:srgbClr val="4472C4"/>
                </a:solidFill>
              </a:rPr>
              <a:t>A</a:t>
            </a:r>
            <a:endParaRPr lang="en-US" sz="1400" dirty="0"/>
          </a:p>
        </p:txBody>
      </p:sp>
      <p:sp>
        <p:nvSpPr>
          <p:cNvPr id="11" name="Option A"/>
          <p:cNvSpPr txBox="1"/>
          <p:nvPr/>
        </p:nvSpPr>
        <p:spPr>
          <a:xfrm>
            <a:off x="1188720" y="2153412"/>
            <a:ext cx="10271455" cy="457200"/>
          </a:xfrm>
          <a:prstGeom prst="rect">
            <a:avLst/>
          </a:prstGeom>
          <a:noFill/>
          <a:ln/>
        </p:spPr>
        <p:txBody>
          <a:bodyPr wrap="square" lIns="0" tIns="0" rIns="0" bIns="0" rtlCol="0" anchor="ctr"/>
          <a:lstStyle/>
          <a:p>
            <a:pPr indent="0" marL="0">
              <a:buNone/>
            </a:pPr>
            <a:r>
              <a:rPr lang="en-US" sz="1800" dirty="0">
                <a:solidFill>
                  <a:srgbClr val="1F1F1F"/>
                </a:solidFill>
              </a:rPr>
              <a:t>Excess vitamin D raising bone turnover</a:t>
            </a:r>
            <a:endParaRPr lang="en-US" sz="1800" dirty="0"/>
          </a:p>
        </p:txBody>
      </p:sp>
      <p:sp>
        <p:nvSpPr>
          <p:cNvPr id="12" name="Shape 10"/>
          <p:cNvSpPr/>
          <p:nvPr/>
        </p:nvSpPr>
        <p:spPr>
          <a:xfrm>
            <a:off x="548640" y="2729484"/>
            <a:ext cx="402336" cy="402336"/>
          </a:xfrm>
          <a:prstGeom prst="ellipse">
            <a:avLst/>
          </a:prstGeom>
          <a:solidFill>
            <a:srgbClr val="FFFFFF"/>
          </a:solidFill>
          <a:ln w="19050">
            <a:solidFill>
              <a:srgbClr val="4472C4"/>
            </a:solidFill>
            <a:prstDash val="solid"/>
          </a:ln>
        </p:spPr>
      </p:sp>
      <p:sp>
        <p:nvSpPr>
          <p:cNvPr id="13" name="Text 11"/>
          <p:cNvSpPr txBox="1"/>
          <p:nvPr/>
        </p:nvSpPr>
        <p:spPr>
          <a:xfrm>
            <a:off x="548640" y="2729484"/>
            <a:ext cx="402336" cy="402336"/>
          </a:xfrm>
          <a:prstGeom prst="rect">
            <a:avLst/>
          </a:prstGeom>
          <a:noFill/>
          <a:ln/>
        </p:spPr>
        <p:txBody>
          <a:bodyPr wrap="square" lIns="0" tIns="0" rIns="0" bIns="0" rtlCol="0" anchor="ctr"/>
          <a:lstStyle/>
          <a:p>
            <a:pPr algn="ctr" indent="0" marL="0">
              <a:buNone/>
            </a:pPr>
            <a:r>
              <a:rPr lang="en-US" sz="1400" b="1" dirty="0">
                <a:solidFill>
                  <a:srgbClr val="4472C4"/>
                </a:solidFill>
              </a:rPr>
              <a:t>B</a:t>
            </a:r>
            <a:endParaRPr lang="en-US" sz="1400" dirty="0"/>
          </a:p>
        </p:txBody>
      </p:sp>
      <p:sp>
        <p:nvSpPr>
          <p:cNvPr id="14" name="Option B"/>
          <p:cNvSpPr txBox="1"/>
          <p:nvPr/>
        </p:nvSpPr>
        <p:spPr>
          <a:xfrm>
            <a:off x="1188720" y="2702052"/>
            <a:ext cx="10271455" cy="457200"/>
          </a:xfrm>
          <a:prstGeom prst="rect">
            <a:avLst/>
          </a:prstGeom>
          <a:noFill/>
          <a:ln/>
        </p:spPr>
        <p:txBody>
          <a:bodyPr wrap="square" lIns="0" tIns="0" rIns="0" bIns="0" rtlCol="0" anchor="ctr"/>
          <a:lstStyle/>
          <a:p>
            <a:pPr indent="0" marL="0">
              <a:buNone/>
            </a:pPr>
            <a:r>
              <a:rPr lang="en-US" sz="1800" dirty="0">
                <a:solidFill>
                  <a:srgbClr val="1F1F1F"/>
                </a:solidFill>
              </a:rPr>
              <a:t>RANKL blockade, as with denosumab</a:t>
            </a:r>
            <a:endParaRPr lang="en-US" sz="1800" dirty="0"/>
          </a:p>
        </p:txBody>
      </p:sp>
      <p:sp>
        <p:nvSpPr>
          <p:cNvPr id="15" name="Shape 13"/>
          <p:cNvSpPr/>
          <p:nvPr/>
        </p:nvSpPr>
        <p:spPr>
          <a:xfrm>
            <a:off x="548640" y="3278124"/>
            <a:ext cx="402336" cy="402336"/>
          </a:xfrm>
          <a:prstGeom prst="ellipse">
            <a:avLst/>
          </a:prstGeom>
          <a:solidFill>
            <a:srgbClr val="FFFFFF"/>
          </a:solidFill>
          <a:ln w="19050">
            <a:solidFill>
              <a:srgbClr val="4472C4"/>
            </a:solidFill>
            <a:prstDash val="solid"/>
          </a:ln>
        </p:spPr>
      </p:sp>
      <p:sp>
        <p:nvSpPr>
          <p:cNvPr id="16" name="Text 14"/>
          <p:cNvSpPr txBox="1"/>
          <p:nvPr/>
        </p:nvSpPr>
        <p:spPr>
          <a:xfrm>
            <a:off x="548640" y="3278124"/>
            <a:ext cx="402336" cy="402336"/>
          </a:xfrm>
          <a:prstGeom prst="rect">
            <a:avLst/>
          </a:prstGeom>
          <a:noFill/>
          <a:ln/>
        </p:spPr>
        <p:txBody>
          <a:bodyPr wrap="square" lIns="0" tIns="0" rIns="0" bIns="0" rtlCol="0" anchor="ctr"/>
          <a:lstStyle/>
          <a:p>
            <a:pPr algn="ctr" indent="0" marL="0">
              <a:buNone/>
            </a:pPr>
            <a:r>
              <a:rPr lang="en-US" sz="1400" b="1" dirty="0">
                <a:solidFill>
                  <a:srgbClr val="4472C4"/>
                </a:solidFill>
              </a:rPr>
              <a:t>C</a:t>
            </a:r>
            <a:endParaRPr lang="en-US" sz="1400" dirty="0"/>
          </a:p>
        </p:txBody>
      </p:sp>
      <p:sp>
        <p:nvSpPr>
          <p:cNvPr id="17" name="Option C"/>
          <p:cNvSpPr txBox="1"/>
          <p:nvPr/>
        </p:nvSpPr>
        <p:spPr>
          <a:xfrm>
            <a:off x="1188720" y="3250692"/>
            <a:ext cx="10271455" cy="457200"/>
          </a:xfrm>
          <a:prstGeom prst="rect">
            <a:avLst/>
          </a:prstGeom>
          <a:noFill/>
          <a:ln/>
        </p:spPr>
        <p:txBody>
          <a:bodyPr wrap="square" lIns="0" tIns="0" rIns="0" bIns="0" rtlCol="0" anchor="ctr"/>
          <a:lstStyle/>
          <a:p>
            <a:pPr indent="0" marL="0">
              <a:buNone/>
            </a:pPr>
            <a:r>
              <a:rPr lang="en-US" sz="1800" dirty="0">
                <a:solidFill>
                  <a:srgbClr val="1F1F1F"/>
                </a:solidFill>
              </a:rPr>
              <a:t>Increased osteoblast activity and formation</a:t>
            </a:r>
            <a:endParaRPr lang="en-US" sz="1800" dirty="0"/>
          </a:p>
        </p:txBody>
      </p:sp>
      <p:sp>
        <p:nvSpPr>
          <p:cNvPr id="18" name="Shape 16"/>
          <p:cNvSpPr/>
          <p:nvPr/>
        </p:nvSpPr>
        <p:spPr>
          <a:xfrm>
            <a:off x="548640" y="3826764"/>
            <a:ext cx="402336" cy="402336"/>
          </a:xfrm>
          <a:prstGeom prst="ellipse">
            <a:avLst/>
          </a:prstGeom>
          <a:solidFill>
            <a:srgbClr val="FFFFFF"/>
          </a:solidFill>
          <a:ln w="19050">
            <a:solidFill>
              <a:srgbClr val="4472C4"/>
            </a:solidFill>
            <a:prstDash val="solid"/>
          </a:ln>
        </p:spPr>
      </p:sp>
      <p:sp>
        <p:nvSpPr>
          <p:cNvPr id="19" name="Text 17"/>
          <p:cNvSpPr txBox="1"/>
          <p:nvPr/>
        </p:nvSpPr>
        <p:spPr>
          <a:xfrm>
            <a:off x="548640" y="3826764"/>
            <a:ext cx="402336" cy="402336"/>
          </a:xfrm>
          <a:prstGeom prst="rect">
            <a:avLst/>
          </a:prstGeom>
          <a:noFill/>
          <a:ln/>
        </p:spPr>
        <p:txBody>
          <a:bodyPr wrap="square" lIns="0" tIns="0" rIns="0" bIns="0" rtlCol="0" anchor="ctr"/>
          <a:lstStyle/>
          <a:p>
            <a:pPr algn="ctr" indent="0" marL="0">
              <a:buNone/>
            </a:pPr>
            <a:r>
              <a:rPr lang="en-US" sz="1400" b="1" dirty="0">
                <a:solidFill>
                  <a:srgbClr val="4472C4"/>
                </a:solidFill>
              </a:rPr>
              <a:t>D</a:t>
            </a:r>
            <a:endParaRPr lang="en-US" sz="1400" dirty="0"/>
          </a:p>
        </p:txBody>
      </p:sp>
      <p:sp>
        <p:nvSpPr>
          <p:cNvPr id="20" name="Option D"/>
          <p:cNvSpPr txBox="1"/>
          <p:nvPr/>
        </p:nvSpPr>
        <p:spPr>
          <a:xfrm>
            <a:off x="1188720" y="3799332"/>
            <a:ext cx="10271455" cy="457200"/>
          </a:xfrm>
          <a:prstGeom prst="rect">
            <a:avLst/>
          </a:prstGeom>
          <a:noFill/>
          <a:ln/>
        </p:spPr>
        <p:txBody>
          <a:bodyPr wrap="square" lIns="0" tIns="0" rIns="0" bIns="0" rtlCol="0" anchor="ctr"/>
          <a:lstStyle/>
          <a:p>
            <a:pPr indent="0" marL="0">
              <a:buNone/>
            </a:pPr>
            <a:r>
              <a:rPr lang="en-US" sz="1800" dirty="0">
                <a:solidFill>
                  <a:srgbClr val="1F1F1F"/>
                </a:solidFill>
              </a:rPr>
              <a:t>More osteoclast resorption and less bone formation</a:t>
            </a:r>
            <a:endParaRPr lang="en-US" sz="1800" dirty="0"/>
          </a:p>
        </p:txBody>
      </p:sp>
      <p:sp>
        <p:nvSpPr>
          <p:cNvPr id="21" name="Shape 19"/>
          <p:cNvSpPr/>
          <p:nvPr/>
        </p:nvSpPr>
        <p:spPr>
          <a:xfrm>
            <a:off x="548640" y="4375404"/>
            <a:ext cx="402336" cy="402336"/>
          </a:xfrm>
          <a:prstGeom prst="ellipse">
            <a:avLst/>
          </a:prstGeom>
          <a:solidFill>
            <a:srgbClr val="FFFFFF"/>
          </a:solidFill>
          <a:ln w="19050">
            <a:solidFill>
              <a:srgbClr val="4472C4"/>
            </a:solidFill>
            <a:prstDash val="solid"/>
          </a:ln>
        </p:spPr>
      </p:sp>
      <p:sp>
        <p:nvSpPr>
          <p:cNvPr id="22" name="Text 20"/>
          <p:cNvSpPr txBox="1"/>
          <p:nvPr/>
        </p:nvSpPr>
        <p:spPr>
          <a:xfrm>
            <a:off x="548640" y="4375404"/>
            <a:ext cx="402336" cy="402336"/>
          </a:xfrm>
          <a:prstGeom prst="rect">
            <a:avLst/>
          </a:prstGeom>
          <a:noFill/>
          <a:ln/>
        </p:spPr>
        <p:txBody>
          <a:bodyPr wrap="square" lIns="0" tIns="0" rIns="0" bIns="0" rtlCol="0" anchor="ctr"/>
          <a:lstStyle/>
          <a:p>
            <a:pPr algn="ctr" indent="0" marL="0">
              <a:buNone/>
            </a:pPr>
            <a:r>
              <a:rPr lang="en-US" sz="1400" b="1" dirty="0">
                <a:solidFill>
                  <a:srgbClr val="4472C4"/>
                </a:solidFill>
              </a:rPr>
              <a:t>E</a:t>
            </a:r>
            <a:endParaRPr lang="en-US" sz="1400" dirty="0"/>
          </a:p>
        </p:txBody>
      </p:sp>
      <p:sp>
        <p:nvSpPr>
          <p:cNvPr id="23" name="Option E"/>
          <p:cNvSpPr txBox="1"/>
          <p:nvPr/>
        </p:nvSpPr>
        <p:spPr>
          <a:xfrm>
            <a:off x="1188720" y="4347972"/>
            <a:ext cx="10271455" cy="457200"/>
          </a:xfrm>
          <a:prstGeom prst="rect">
            <a:avLst/>
          </a:prstGeom>
          <a:noFill/>
          <a:ln/>
        </p:spPr>
        <p:txBody>
          <a:bodyPr wrap="square" lIns="0" tIns="0" rIns="0" bIns="0" rtlCol="0" anchor="ctr"/>
          <a:lstStyle/>
          <a:p>
            <a:pPr indent="0" marL="0">
              <a:buNone/>
            </a:pPr>
            <a:r>
              <a:rPr lang="en-US" sz="1800" dirty="0">
                <a:solidFill>
                  <a:srgbClr val="1F1F1F"/>
                </a:solidFill>
              </a:rPr>
              <a:t>Increased calcitonin secretion by the thyroid</a:t>
            </a:r>
            <a:endParaRPr lang="en-US" sz="1800" dirty="0"/>
          </a:p>
        </p:txBody>
      </p:sp>
    </p:spTree>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name="Slide 128">
    <p:bg>
      <p:bgPr>
        <a:solidFill>
          <a:srgbClr val="FFFFFF"/>
        </a:solidFill>
      </p:bgPr>
    </p:bg>
    <p:spTree>
      <p:nvGrpSpPr>
        <p:cNvPr id="1" name=""/>
        <p:cNvGrpSpPr/>
        <p:nvPr/>
      </p:nvGrpSpPr>
      <p:grpSpPr>
        <a:xfrm>
          <a:off x="0" y="0"/>
          <a:ext cx="0" cy="0"/>
          <a:chOff x="0" y="0"/>
          <a:chExt cx="0" cy="0"/>
        </a:xfrm>
      </p:grpSpPr>
      <p:sp>
        <p:nvSpPr>
          <p:cNvPr id="2" name="Kicker"/>
          <p:cNvSpPr txBox="1"/>
          <p:nvPr/>
        </p:nvSpPr>
        <p:spPr>
          <a:xfrm>
            <a:off x="548640" y="292608"/>
            <a:ext cx="8076895" cy="274320"/>
          </a:xfrm>
          <a:prstGeom prst="rect">
            <a:avLst/>
          </a:prstGeom>
          <a:noFill/>
          <a:ln/>
        </p:spPr>
        <p:txBody>
          <a:bodyPr wrap="square" lIns="0" tIns="0" rIns="0" bIns="0" rtlCol="0" anchor="ctr"/>
          <a:lstStyle/>
          <a:p>
            <a:pPr indent="0" marL="0">
              <a:buNone/>
            </a:pPr>
            <a:r>
              <a:rPr lang="en-US" sz="1200" b="1" spc="100" kern="0" dirty="0">
                <a:solidFill>
                  <a:srgbClr val="4472C4"/>
                </a:solidFill>
              </a:rPr>
              <a:t>MECHANISM · ANSWER</a:t>
            </a:r>
            <a:endParaRPr lang="en-US" sz="1200" dirty="0"/>
          </a:p>
        </p:txBody>
      </p:sp>
      <p:sp>
        <p:nvSpPr>
          <p:cNvPr id="3" name="Title"/>
          <p:cNvSpPr txBox="1"/>
          <p:nvPr/>
        </p:nvSpPr>
        <p:spPr>
          <a:xfrm>
            <a:off x="548640" y="566928"/>
            <a:ext cx="8076895" cy="713232"/>
          </a:xfrm>
          <a:prstGeom prst="rect">
            <a:avLst/>
          </a:prstGeom>
          <a:noFill/>
          <a:ln/>
        </p:spPr>
        <p:txBody>
          <a:bodyPr wrap="square" lIns="0" tIns="0" rIns="0" bIns="0" rtlCol="0" anchor="t"/>
          <a:lstStyle/>
          <a:p>
            <a:pPr indent="0" marL="0">
              <a:buNone/>
            </a:pPr>
            <a:r>
              <a:rPr lang="en-US" sz="3000" b="1" dirty="0">
                <a:solidFill>
                  <a:srgbClr val="1F1F1F"/>
                </a:solidFill>
                <a:latin typeface="Calibri" pitchFamily="34" charset="0"/>
                <a:ea typeface="Calibri" pitchFamily="34" charset="-122"/>
                <a:cs typeface="Calibri" pitchFamily="34" charset="-120"/>
              </a:rPr>
              <a:t>Answer 33: D</a:t>
            </a:r>
            <a:endParaRPr lang="en-US" sz="3000" dirty="0"/>
          </a:p>
        </p:txBody>
      </p:sp>
      <p:sp>
        <p:nvSpPr>
          <p:cNvPr id="4" name="Objective chip"/>
          <p:cNvSpPr/>
          <p:nvPr/>
        </p:nvSpPr>
        <p:spPr>
          <a:xfrm>
            <a:off x="8899855" y="365760"/>
            <a:ext cx="2743200" cy="384048"/>
          </a:xfrm>
          <a:prstGeom prst="roundRect">
            <a:avLst>
              <a:gd name="adj" fmla="val 35714"/>
            </a:avLst>
          </a:prstGeom>
          <a:solidFill>
            <a:srgbClr val="E3EBF8"/>
          </a:solidFill>
          <a:ln/>
        </p:spPr>
        <p:txBody>
          <a:bodyPr wrap="square" lIns="25400" tIns="25400" rIns="25400" bIns="25400" rtlCol="0" anchor="ctr"/>
          <a:lstStyle/>
          <a:p>
            <a:pPr algn="ctr" indent="0" marL="0">
              <a:buNone/>
            </a:pPr>
            <a:r>
              <a:rPr lang="en-US" sz="1200" b="1" dirty="0">
                <a:solidFill>
                  <a:srgbClr val="2F4F8A"/>
                </a:solidFill>
              </a:rPr>
              <a:t>Objectives: SO5 · IO2.3 · IO2.4</a:t>
            </a:r>
            <a:endParaRPr lang="en-US" sz="1200" dirty="0"/>
          </a:p>
        </p:txBody>
      </p:sp>
      <p:sp>
        <p:nvSpPr>
          <p:cNvPr id="5" name="Footer"/>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1000" dirty="0">
                <a:solidFill>
                  <a:srgbClr val="666666"/>
                </a:solidFill>
              </a:rPr>
              <a:t>L04 · Musculoskeletal Pharmacology — Session 2</a:t>
            </a:r>
            <a:endParaRPr lang="en-US" sz="1000" dirty="0"/>
          </a:p>
        </p:txBody>
      </p:sp>
      <p:sp>
        <p:nvSpPr>
          <p:cNvPr id="6" name="Slide number"/>
          <p:cNvSpPr txBox="1"/>
          <p:nvPr/>
        </p:nvSpPr>
        <p:spPr>
          <a:xfrm>
            <a:off x="10728655" y="6419088"/>
            <a:ext cx="914400" cy="274320"/>
          </a:xfrm>
          <a:prstGeom prst="rect">
            <a:avLst/>
          </a:prstGeom>
          <a:noFill/>
          <a:ln/>
        </p:spPr>
        <p:txBody>
          <a:bodyPr wrap="square" lIns="0" tIns="0" rIns="0" bIns="0" rtlCol="0" anchor="ctr"/>
          <a:lstStyle/>
          <a:p>
            <a:pPr algn="r" indent="0" marL="0">
              <a:buNone/>
            </a:pPr>
            <a:r>
              <a:rPr lang="en-US" sz="1000" dirty="0">
                <a:solidFill>
                  <a:srgbClr val="666666"/>
                </a:solidFill>
              </a:rPr>
              <a:t>128</a:t>
            </a:r>
            <a:endParaRPr lang="en-US" sz="1000" dirty="0"/>
          </a:p>
        </p:txBody>
      </p:sp>
      <p:sp>
        <p:nvSpPr>
          <p:cNvPr id="7" name="Correct answer"/>
          <p:cNvSpPr/>
          <p:nvPr/>
        </p:nvSpPr>
        <p:spPr>
          <a:xfrm>
            <a:off x="548640" y="1325880"/>
            <a:ext cx="11094415" cy="548640"/>
          </a:xfrm>
          <a:prstGeom prst="roundRect">
            <a:avLst>
              <a:gd name="adj" fmla="val 16667"/>
            </a:avLst>
          </a:prstGeom>
          <a:solidFill>
            <a:srgbClr val="E2F0D9"/>
          </a:solidFill>
          <a:ln w="19050">
            <a:solidFill>
              <a:srgbClr val="548235"/>
            </a:solidFill>
            <a:prstDash val="solid"/>
          </a:ln>
        </p:spPr>
      </p:sp>
      <p:pic>
        <p:nvPicPr>
          <p:cNvPr id="8" name="Image 0" descr="preencoded.png">    </p:cNvPr>
          <p:cNvPicPr>
            <a:picLocks noChangeAspect="1"/>
          </p:cNvPicPr>
          <p:nvPr/>
        </p:nvPicPr>
        <p:blipFill>
          <a:blip r:embed="rId1"/>
          <a:stretch>
            <a:fillRect/>
          </a:stretch>
        </p:blipFill>
        <p:spPr>
          <a:xfrm>
            <a:off x="731520" y="1435608"/>
            <a:ext cx="329184" cy="329184"/>
          </a:xfrm>
          <a:prstGeom prst="rect">
            <a:avLst/>
          </a:prstGeom>
        </p:spPr>
      </p:pic>
      <p:sp>
        <p:nvSpPr>
          <p:cNvPr id="9" name="Text 6"/>
          <p:cNvSpPr txBox="1"/>
          <p:nvPr/>
        </p:nvSpPr>
        <p:spPr>
          <a:xfrm>
            <a:off x="1234440" y="1325880"/>
            <a:ext cx="10180015" cy="548640"/>
          </a:xfrm>
          <a:prstGeom prst="rect">
            <a:avLst/>
          </a:prstGeom>
          <a:noFill/>
          <a:ln/>
        </p:spPr>
        <p:txBody>
          <a:bodyPr wrap="square" lIns="0" tIns="0" rIns="0" bIns="0" rtlCol="0" anchor="ctr"/>
          <a:lstStyle/>
          <a:p>
            <a:pPr indent="0" marL="0">
              <a:buNone/>
            </a:pPr>
            <a:r>
              <a:rPr lang="en-US" sz="1600" b="1" dirty="0">
                <a:solidFill>
                  <a:srgbClr val="1F1F1F"/>
                </a:solidFill>
              </a:rPr>
              <a:t>D. </a:t>
            </a:r>
            <a:r>
              <a:rPr lang="en-US" sz="1600" b="1" dirty="0">
                <a:solidFill>
                  <a:srgbClr val="1F1F1F"/>
                </a:solidFill>
              </a:rPr>
              <a:t>More osteoclast resorption and less bone formation</a:t>
            </a:r>
            <a:endParaRPr lang="en-US" sz="1600" dirty="0"/>
          </a:p>
        </p:txBody>
      </p:sp>
      <p:sp>
        <p:nvSpPr>
          <p:cNvPr id="10" name="Why correct"/>
          <p:cNvSpPr txBox="1"/>
          <p:nvPr/>
        </p:nvSpPr>
        <p:spPr>
          <a:xfrm>
            <a:off x="777240" y="2011680"/>
            <a:ext cx="10637215" cy="724408"/>
          </a:xfrm>
          <a:prstGeom prst="rect">
            <a:avLst/>
          </a:prstGeom>
          <a:noFill/>
          <a:ln/>
        </p:spPr>
        <p:txBody>
          <a:bodyPr wrap="square" lIns="0" tIns="0" rIns="0" bIns="0" rtlCol="0" anchor="t"/>
          <a:lstStyle/>
          <a:p>
            <a:pPr indent="0" marL="0">
              <a:buNone/>
            </a:pPr>
            <a:r>
              <a:rPr lang="en-US" sz="1600" dirty="0">
                <a:solidFill>
                  <a:srgbClr val="1F1F1F"/>
                </a:solidFill>
              </a:rPr>
              <a:t>Glucocorticoids increase osteoclast-mediated resorption and suppress osteoblast-driven formation, shifting the remodeling balance toward bone loss (S71).</a:t>
            </a:r>
            <a:r>
              <a:rPr lang="en-US" sz="1100" dirty="0">
                <a:solidFill>
                  <a:srgbClr val="666666"/>
                </a:solidFill>
              </a:rPr>
              <a:t>  S70; S71</a:t>
            </a:r>
            <a:endParaRPr lang="en-US" sz="1600" dirty="0"/>
          </a:p>
        </p:txBody>
      </p:sp>
      <p:sp>
        <p:nvSpPr>
          <p:cNvPr id="11" name="Why others wrong card"/>
          <p:cNvSpPr/>
          <p:nvPr/>
        </p:nvSpPr>
        <p:spPr>
          <a:xfrm>
            <a:off x="548640" y="2873248"/>
            <a:ext cx="11094415" cy="1704848"/>
          </a:xfrm>
          <a:prstGeom prst="roundRect">
            <a:avLst>
              <a:gd name="adj" fmla="val 5364"/>
            </a:avLst>
          </a:prstGeom>
          <a:solidFill>
            <a:srgbClr val="F2F4F7"/>
          </a:solidFill>
          <a:ln w="12700">
            <a:solidFill>
              <a:srgbClr val="F2F4F7"/>
            </a:solidFill>
            <a:prstDash val="solid"/>
          </a:ln>
        </p:spPr>
      </p:sp>
      <p:sp>
        <p:nvSpPr>
          <p:cNvPr id="12" name="Why others wrong"/>
          <p:cNvSpPr txBox="1"/>
          <p:nvPr/>
        </p:nvSpPr>
        <p:spPr>
          <a:xfrm>
            <a:off x="777240" y="2982976"/>
            <a:ext cx="10637215" cy="1521968"/>
          </a:xfrm>
          <a:prstGeom prst="rect">
            <a:avLst/>
          </a:prstGeom>
          <a:noFill/>
          <a:ln/>
        </p:spPr>
        <p:txBody>
          <a:bodyPr wrap="square" lIns="0" tIns="0" rIns="0" bIns="0" rtlCol="0" anchor="t"/>
          <a:lstStyle/>
          <a:p>
            <a:pPr indent="0" marL="0">
              <a:spcAft>
                <a:spcPts val="400"/>
              </a:spcAft>
              <a:buNone/>
            </a:pPr>
            <a:r>
              <a:rPr lang="en-US" sz="1600" b="1" dirty="0">
                <a:solidFill>
                  <a:srgbClr val="C00000"/>
                </a:solidFill>
              </a:rPr>
              <a:t>Why the other choices are wrong</a:t>
            </a:r>
            <a:endParaRPr lang="en-US" sz="1600" dirty="0"/>
          </a:p>
          <a:p>
            <a:pPr indent="0" marL="0">
              <a:buNone/>
            </a:pPr>
            <a:r>
              <a:rPr lang="en-US" sz="1600" b="1" dirty="0">
                <a:solidFill>
                  <a:srgbClr val="1F1F1F"/>
                </a:solidFill>
              </a:rPr>
              <a:t>A. Excess vitamin D raising bone turnover — </a:t>
            </a:r>
            <a:r>
              <a:rPr lang="en-US" sz="1600" dirty="0">
                <a:solidFill>
                  <a:srgbClr val="1F1F1F"/>
                </a:solidFill>
              </a:rPr>
              <a:t>Not the taught mechanism (S71).</a:t>
            </a:r>
            <a:endParaRPr lang="en-US" sz="1600" dirty="0"/>
          </a:p>
          <a:p>
            <a:pPr indent="0" marL="0">
              <a:buNone/>
            </a:pPr>
            <a:r>
              <a:rPr lang="en-US" sz="1600" b="1" dirty="0">
                <a:solidFill>
                  <a:srgbClr val="1F1F1F"/>
                </a:solidFill>
              </a:rPr>
              <a:t>B. RANKL blockade, as with denosumab — </a:t>
            </a:r>
            <a:r>
              <a:rPr lang="en-US" sz="1600" dirty="0">
                <a:solidFill>
                  <a:srgbClr val="1F1F1F"/>
                </a:solidFill>
              </a:rPr>
              <a:t>RANKL blockade is denosumab (S54).</a:t>
            </a:r>
            <a:endParaRPr lang="en-US" sz="1600" dirty="0"/>
          </a:p>
          <a:p>
            <a:pPr indent="0" marL="0">
              <a:buNone/>
            </a:pPr>
            <a:r>
              <a:rPr lang="en-US" sz="1600" b="1" dirty="0">
                <a:solidFill>
                  <a:srgbClr val="1F1F1F"/>
                </a:solidFill>
              </a:rPr>
              <a:t>C. Increased osteoblast activity and formation — </a:t>
            </a:r>
            <a:r>
              <a:rPr lang="en-US" sz="1600" dirty="0">
                <a:solidFill>
                  <a:srgbClr val="1F1F1F"/>
                </a:solidFill>
              </a:rPr>
              <a:t>Formation is suppressed (S71).</a:t>
            </a:r>
            <a:endParaRPr lang="en-US" sz="1600" dirty="0"/>
          </a:p>
          <a:p>
            <a:pPr indent="0" marL="0">
              <a:buNone/>
            </a:pPr>
            <a:r>
              <a:rPr lang="en-US" sz="1600" b="1" dirty="0">
                <a:solidFill>
                  <a:srgbClr val="1F1F1F"/>
                </a:solidFill>
              </a:rPr>
              <a:t>E. Increased calcitonin secretion by the thyroid — </a:t>
            </a:r>
            <a:r>
              <a:rPr lang="en-US" sz="1600" dirty="0">
                <a:solidFill>
                  <a:srgbClr val="1F1F1F"/>
                </a:solidFill>
              </a:rPr>
              <a:t>Calcitonin lowers calcium; not the mechanism (S71).</a:t>
            </a:r>
            <a:endParaRPr lang="en-US" sz="1600" dirty="0"/>
          </a:p>
        </p:txBody>
      </p:sp>
    </p:spTree>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name="Slide 129">
    <p:bg>
      <p:bgPr>
        <a:solidFill>
          <a:srgbClr val="FFFFFF"/>
        </a:solidFill>
      </p:bgPr>
    </p:bg>
    <p:spTree>
      <p:nvGrpSpPr>
        <p:cNvPr id="1" name=""/>
        <p:cNvGrpSpPr/>
        <p:nvPr/>
      </p:nvGrpSpPr>
      <p:grpSpPr>
        <a:xfrm>
          <a:off x="0" y="0"/>
          <a:ext cx="0" cy="0"/>
          <a:chOff x="0" y="0"/>
          <a:chExt cx="0" cy="0"/>
        </a:xfrm>
      </p:grpSpPr>
      <p:sp>
        <p:nvSpPr>
          <p:cNvPr id="2" name="Kicker"/>
          <p:cNvSpPr txBox="1"/>
          <p:nvPr/>
        </p:nvSpPr>
        <p:spPr>
          <a:xfrm>
            <a:off x="548640" y="292608"/>
            <a:ext cx="8076895" cy="274320"/>
          </a:xfrm>
          <a:prstGeom prst="rect">
            <a:avLst/>
          </a:prstGeom>
          <a:noFill/>
          <a:ln/>
        </p:spPr>
        <p:txBody>
          <a:bodyPr wrap="square" lIns="0" tIns="0" rIns="0" bIns="0" rtlCol="0" anchor="ctr"/>
          <a:lstStyle/>
          <a:p>
            <a:pPr indent="0" marL="0">
              <a:buNone/>
            </a:pPr>
            <a:r>
              <a:rPr lang="en-US" sz="1200" b="1" spc="100" kern="0" dirty="0">
                <a:solidFill>
                  <a:srgbClr val="4472C4"/>
                </a:solidFill>
              </a:rPr>
              <a:t>CLINICAL VIGNETTE</a:t>
            </a:r>
            <a:endParaRPr lang="en-US" sz="1200" dirty="0"/>
          </a:p>
        </p:txBody>
      </p:sp>
      <p:sp>
        <p:nvSpPr>
          <p:cNvPr id="3" name="Title"/>
          <p:cNvSpPr txBox="1"/>
          <p:nvPr/>
        </p:nvSpPr>
        <p:spPr>
          <a:xfrm>
            <a:off x="548640" y="566928"/>
            <a:ext cx="8076895" cy="713232"/>
          </a:xfrm>
          <a:prstGeom prst="rect">
            <a:avLst/>
          </a:prstGeom>
          <a:noFill/>
          <a:ln/>
        </p:spPr>
        <p:txBody>
          <a:bodyPr wrap="square" lIns="0" tIns="0" rIns="0" bIns="0" rtlCol="0" anchor="t"/>
          <a:lstStyle/>
          <a:p>
            <a:pPr indent="0" marL="0">
              <a:buNone/>
            </a:pPr>
            <a:r>
              <a:rPr lang="en-US" sz="3000" b="1" dirty="0">
                <a:solidFill>
                  <a:srgbClr val="1F1F1F"/>
                </a:solidFill>
                <a:latin typeface="Calibri" pitchFamily="34" charset="0"/>
                <a:ea typeface="Calibri" pitchFamily="34" charset="-122"/>
                <a:cs typeface="Calibri" pitchFamily="34" charset="-120"/>
              </a:rPr>
              <a:t>Question 34</a:t>
            </a:r>
            <a:endParaRPr lang="en-US" sz="3000" dirty="0"/>
          </a:p>
        </p:txBody>
      </p:sp>
      <p:sp>
        <p:nvSpPr>
          <p:cNvPr id="4" name="Objective chip"/>
          <p:cNvSpPr/>
          <p:nvPr/>
        </p:nvSpPr>
        <p:spPr>
          <a:xfrm>
            <a:off x="8899855" y="365760"/>
            <a:ext cx="2743200" cy="384048"/>
          </a:xfrm>
          <a:prstGeom prst="roundRect">
            <a:avLst>
              <a:gd name="adj" fmla="val 35714"/>
            </a:avLst>
          </a:prstGeom>
          <a:solidFill>
            <a:srgbClr val="E3EBF8"/>
          </a:solidFill>
          <a:ln/>
        </p:spPr>
        <p:txBody>
          <a:bodyPr wrap="square" lIns="25400" tIns="25400" rIns="25400" bIns="25400" rtlCol="0" anchor="ctr"/>
          <a:lstStyle/>
          <a:p>
            <a:pPr algn="ctr" indent="0" marL="0">
              <a:buNone/>
            </a:pPr>
            <a:r>
              <a:rPr lang="en-US" sz="1200" b="1" dirty="0">
                <a:solidFill>
                  <a:srgbClr val="2F4F8A"/>
                </a:solidFill>
              </a:rPr>
              <a:t>Objectives: SO5 · IO2.3 · IO2.4</a:t>
            </a:r>
            <a:endParaRPr lang="en-US" sz="1200" dirty="0"/>
          </a:p>
        </p:txBody>
      </p:sp>
      <p:sp>
        <p:nvSpPr>
          <p:cNvPr id="5" name="Footer"/>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1000" dirty="0">
                <a:solidFill>
                  <a:srgbClr val="666666"/>
                </a:solidFill>
              </a:rPr>
              <a:t>L04 · Musculoskeletal Pharmacology — Session 2</a:t>
            </a:r>
            <a:endParaRPr lang="en-US" sz="1000" dirty="0"/>
          </a:p>
        </p:txBody>
      </p:sp>
      <p:sp>
        <p:nvSpPr>
          <p:cNvPr id="6" name="Slide number"/>
          <p:cNvSpPr txBox="1"/>
          <p:nvPr/>
        </p:nvSpPr>
        <p:spPr>
          <a:xfrm>
            <a:off x="10728655" y="6419088"/>
            <a:ext cx="914400" cy="274320"/>
          </a:xfrm>
          <a:prstGeom prst="rect">
            <a:avLst/>
          </a:prstGeom>
          <a:noFill/>
          <a:ln/>
        </p:spPr>
        <p:txBody>
          <a:bodyPr wrap="square" lIns="0" tIns="0" rIns="0" bIns="0" rtlCol="0" anchor="ctr"/>
          <a:lstStyle/>
          <a:p>
            <a:pPr algn="r" indent="0" marL="0">
              <a:buNone/>
            </a:pPr>
            <a:r>
              <a:rPr lang="en-US" sz="1000" dirty="0">
                <a:solidFill>
                  <a:srgbClr val="666666"/>
                </a:solidFill>
              </a:rPr>
              <a:t>129</a:t>
            </a:r>
            <a:endParaRPr lang="en-US" sz="1000" dirty="0"/>
          </a:p>
        </p:txBody>
      </p:sp>
      <p:sp>
        <p:nvSpPr>
          <p:cNvPr id="7" name="Question stem card"/>
          <p:cNvSpPr/>
          <p:nvPr/>
        </p:nvSpPr>
        <p:spPr>
          <a:xfrm>
            <a:off x="548640" y="1325880"/>
            <a:ext cx="11094415" cy="923544"/>
          </a:xfrm>
          <a:prstGeom prst="roundRect">
            <a:avLst>
              <a:gd name="adj" fmla="val 9901"/>
            </a:avLst>
          </a:prstGeom>
          <a:solidFill>
            <a:srgbClr val="F2F4F7"/>
          </a:solidFill>
          <a:ln w="12700">
            <a:solidFill>
              <a:srgbClr val="F2F4F7"/>
            </a:solidFill>
            <a:prstDash val="solid"/>
          </a:ln>
        </p:spPr>
      </p:sp>
      <p:sp>
        <p:nvSpPr>
          <p:cNvPr id="8" name="Question stem"/>
          <p:cNvSpPr txBox="1"/>
          <p:nvPr/>
        </p:nvSpPr>
        <p:spPr>
          <a:xfrm>
            <a:off x="777240" y="1325880"/>
            <a:ext cx="10637215" cy="923544"/>
          </a:xfrm>
          <a:prstGeom prst="rect">
            <a:avLst/>
          </a:prstGeom>
          <a:noFill/>
          <a:ln/>
        </p:spPr>
        <p:txBody>
          <a:bodyPr wrap="square" lIns="0" tIns="0" rIns="0" bIns="0" rtlCol="0" anchor="ctr"/>
          <a:lstStyle/>
          <a:p>
            <a:pPr indent="0" marL="0">
              <a:buNone/>
            </a:pPr>
            <a:r>
              <a:rPr lang="en-US" sz="1800" dirty="0">
                <a:solidFill>
                  <a:srgbClr val="1F1F1F"/>
                </a:solidFill>
              </a:rPr>
              <a:t>A 72-year-old with OA, CKD, hypertension, and an anticoagulant now has an acute gout flare. Which plan best fits the study guide?</a:t>
            </a:r>
            <a:endParaRPr lang="en-US" sz="1800" dirty="0"/>
          </a:p>
        </p:txBody>
      </p:sp>
      <p:sp>
        <p:nvSpPr>
          <p:cNvPr id="9" name="Shape 7"/>
          <p:cNvSpPr/>
          <p:nvPr/>
        </p:nvSpPr>
        <p:spPr>
          <a:xfrm>
            <a:off x="548640" y="2459736"/>
            <a:ext cx="402336" cy="402336"/>
          </a:xfrm>
          <a:prstGeom prst="ellipse">
            <a:avLst/>
          </a:prstGeom>
          <a:solidFill>
            <a:srgbClr val="FFFFFF"/>
          </a:solidFill>
          <a:ln w="19050">
            <a:solidFill>
              <a:srgbClr val="4472C4"/>
            </a:solidFill>
            <a:prstDash val="solid"/>
          </a:ln>
        </p:spPr>
      </p:sp>
      <p:sp>
        <p:nvSpPr>
          <p:cNvPr id="10" name="Text 8"/>
          <p:cNvSpPr txBox="1"/>
          <p:nvPr/>
        </p:nvSpPr>
        <p:spPr>
          <a:xfrm>
            <a:off x="548640" y="2459736"/>
            <a:ext cx="402336" cy="402336"/>
          </a:xfrm>
          <a:prstGeom prst="rect">
            <a:avLst/>
          </a:prstGeom>
          <a:noFill/>
          <a:ln/>
        </p:spPr>
        <p:txBody>
          <a:bodyPr wrap="square" lIns="0" tIns="0" rIns="0" bIns="0" rtlCol="0" anchor="ctr"/>
          <a:lstStyle/>
          <a:p>
            <a:pPr algn="ctr" indent="0" marL="0">
              <a:buNone/>
            </a:pPr>
            <a:r>
              <a:rPr lang="en-US" sz="1400" b="1" dirty="0">
                <a:solidFill>
                  <a:srgbClr val="4472C4"/>
                </a:solidFill>
              </a:rPr>
              <a:t>A</a:t>
            </a:r>
            <a:endParaRPr lang="en-US" sz="1400" dirty="0"/>
          </a:p>
        </p:txBody>
      </p:sp>
      <p:sp>
        <p:nvSpPr>
          <p:cNvPr id="11" name="Option A"/>
          <p:cNvSpPr txBox="1"/>
          <p:nvPr/>
        </p:nvSpPr>
        <p:spPr>
          <a:xfrm>
            <a:off x="1188720" y="2432304"/>
            <a:ext cx="10271455" cy="457200"/>
          </a:xfrm>
          <a:prstGeom prst="rect">
            <a:avLst/>
          </a:prstGeom>
          <a:noFill/>
          <a:ln/>
        </p:spPr>
        <p:txBody>
          <a:bodyPr wrap="square" lIns="0" tIns="0" rIns="0" bIns="0" rtlCol="0" anchor="ctr"/>
          <a:lstStyle/>
          <a:p>
            <a:pPr indent="0" marL="0">
              <a:buNone/>
            </a:pPr>
            <a:r>
              <a:rPr lang="en-US" sz="1800" dirty="0">
                <a:solidFill>
                  <a:srgbClr val="1F1F1F"/>
                </a:solidFill>
              </a:rPr>
              <a:t>Full-dose colchicine with no adjustment</a:t>
            </a:r>
            <a:endParaRPr lang="en-US" sz="1800" dirty="0"/>
          </a:p>
        </p:txBody>
      </p:sp>
      <p:sp>
        <p:nvSpPr>
          <p:cNvPr id="12" name="Shape 10"/>
          <p:cNvSpPr/>
          <p:nvPr/>
        </p:nvSpPr>
        <p:spPr>
          <a:xfrm>
            <a:off x="548640" y="3008376"/>
            <a:ext cx="402336" cy="402336"/>
          </a:xfrm>
          <a:prstGeom prst="ellipse">
            <a:avLst/>
          </a:prstGeom>
          <a:solidFill>
            <a:srgbClr val="FFFFFF"/>
          </a:solidFill>
          <a:ln w="19050">
            <a:solidFill>
              <a:srgbClr val="4472C4"/>
            </a:solidFill>
            <a:prstDash val="solid"/>
          </a:ln>
        </p:spPr>
      </p:sp>
      <p:sp>
        <p:nvSpPr>
          <p:cNvPr id="13" name="Text 11"/>
          <p:cNvSpPr txBox="1"/>
          <p:nvPr/>
        </p:nvSpPr>
        <p:spPr>
          <a:xfrm>
            <a:off x="548640" y="3008376"/>
            <a:ext cx="402336" cy="402336"/>
          </a:xfrm>
          <a:prstGeom prst="rect">
            <a:avLst/>
          </a:prstGeom>
          <a:noFill/>
          <a:ln/>
        </p:spPr>
        <p:txBody>
          <a:bodyPr wrap="square" lIns="0" tIns="0" rIns="0" bIns="0" rtlCol="0" anchor="ctr"/>
          <a:lstStyle/>
          <a:p>
            <a:pPr algn="ctr" indent="0" marL="0">
              <a:buNone/>
            </a:pPr>
            <a:r>
              <a:rPr lang="en-US" sz="1400" b="1" dirty="0">
                <a:solidFill>
                  <a:srgbClr val="4472C4"/>
                </a:solidFill>
              </a:rPr>
              <a:t>B</a:t>
            </a:r>
            <a:endParaRPr lang="en-US" sz="1400" dirty="0"/>
          </a:p>
        </p:txBody>
      </p:sp>
      <p:sp>
        <p:nvSpPr>
          <p:cNvPr id="14" name="Option B"/>
          <p:cNvSpPr txBox="1"/>
          <p:nvPr/>
        </p:nvSpPr>
        <p:spPr>
          <a:xfrm>
            <a:off x="1188720" y="2980944"/>
            <a:ext cx="10271455" cy="457200"/>
          </a:xfrm>
          <a:prstGeom prst="rect">
            <a:avLst/>
          </a:prstGeom>
          <a:noFill/>
          <a:ln/>
        </p:spPr>
        <p:txBody>
          <a:bodyPr wrap="square" lIns="0" tIns="0" rIns="0" bIns="0" rtlCol="0" anchor="ctr"/>
          <a:lstStyle/>
          <a:p>
            <a:pPr indent="0" marL="0">
              <a:buNone/>
            </a:pPr>
            <a:r>
              <a:rPr lang="en-US" sz="1800" dirty="0">
                <a:solidFill>
                  <a:srgbClr val="1F1F1F"/>
                </a:solidFill>
              </a:rPr>
              <a:t>Start febuxostat today to stop the flare</a:t>
            </a:r>
            <a:endParaRPr lang="en-US" sz="1800" dirty="0"/>
          </a:p>
        </p:txBody>
      </p:sp>
      <p:sp>
        <p:nvSpPr>
          <p:cNvPr id="15" name="Shape 13"/>
          <p:cNvSpPr/>
          <p:nvPr/>
        </p:nvSpPr>
        <p:spPr>
          <a:xfrm>
            <a:off x="548640" y="3557016"/>
            <a:ext cx="402336" cy="402336"/>
          </a:xfrm>
          <a:prstGeom prst="ellipse">
            <a:avLst/>
          </a:prstGeom>
          <a:solidFill>
            <a:srgbClr val="FFFFFF"/>
          </a:solidFill>
          <a:ln w="19050">
            <a:solidFill>
              <a:srgbClr val="4472C4"/>
            </a:solidFill>
            <a:prstDash val="solid"/>
          </a:ln>
        </p:spPr>
      </p:sp>
      <p:sp>
        <p:nvSpPr>
          <p:cNvPr id="16" name="Text 14"/>
          <p:cNvSpPr txBox="1"/>
          <p:nvPr/>
        </p:nvSpPr>
        <p:spPr>
          <a:xfrm>
            <a:off x="548640" y="3557016"/>
            <a:ext cx="402336" cy="402336"/>
          </a:xfrm>
          <a:prstGeom prst="rect">
            <a:avLst/>
          </a:prstGeom>
          <a:noFill/>
          <a:ln/>
        </p:spPr>
        <p:txBody>
          <a:bodyPr wrap="square" lIns="0" tIns="0" rIns="0" bIns="0" rtlCol="0" anchor="ctr"/>
          <a:lstStyle/>
          <a:p>
            <a:pPr algn="ctr" indent="0" marL="0">
              <a:buNone/>
            </a:pPr>
            <a:r>
              <a:rPr lang="en-US" sz="1400" b="1" dirty="0">
                <a:solidFill>
                  <a:srgbClr val="4472C4"/>
                </a:solidFill>
              </a:rPr>
              <a:t>C</a:t>
            </a:r>
            <a:endParaRPr lang="en-US" sz="1400" dirty="0"/>
          </a:p>
        </p:txBody>
      </p:sp>
      <p:sp>
        <p:nvSpPr>
          <p:cNvPr id="17" name="Option C"/>
          <p:cNvSpPr txBox="1"/>
          <p:nvPr/>
        </p:nvSpPr>
        <p:spPr>
          <a:xfrm>
            <a:off x="1188720" y="3529584"/>
            <a:ext cx="10271455" cy="457200"/>
          </a:xfrm>
          <a:prstGeom prst="rect">
            <a:avLst/>
          </a:prstGeom>
          <a:noFill/>
          <a:ln/>
        </p:spPr>
        <p:txBody>
          <a:bodyPr wrap="square" lIns="0" tIns="0" rIns="0" bIns="0" rtlCol="0" anchor="ctr"/>
          <a:lstStyle/>
          <a:p>
            <a:pPr indent="0" marL="0">
              <a:buNone/>
            </a:pPr>
            <a:r>
              <a:rPr lang="en-US" sz="1800" dirty="0">
                <a:solidFill>
                  <a:srgbClr val="1F1F1F"/>
                </a:solidFill>
              </a:rPr>
              <a:t>Probenecid now, since the kidneys are the issue</a:t>
            </a:r>
            <a:endParaRPr lang="en-US" sz="1800" dirty="0"/>
          </a:p>
        </p:txBody>
      </p:sp>
      <p:sp>
        <p:nvSpPr>
          <p:cNvPr id="18" name="Shape 16"/>
          <p:cNvSpPr/>
          <p:nvPr/>
        </p:nvSpPr>
        <p:spPr>
          <a:xfrm>
            <a:off x="548640" y="4105656"/>
            <a:ext cx="402336" cy="402336"/>
          </a:xfrm>
          <a:prstGeom prst="ellipse">
            <a:avLst/>
          </a:prstGeom>
          <a:solidFill>
            <a:srgbClr val="FFFFFF"/>
          </a:solidFill>
          <a:ln w="19050">
            <a:solidFill>
              <a:srgbClr val="4472C4"/>
            </a:solidFill>
            <a:prstDash val="solid"/>
          </a:ln>
        </p:spPr>
      </p:sp>
      <p:sp>
        <p:nvSpPr>
          <p:cNvPr id="19" name="Text 17"/>
          <p:cNvSpPr txBox="1"/>
          <p:nvPr/>
        </p:nvSpPr>
        <p:spPr>
          <a:xfrm>
            <a:off x="548640" y="4105656"/>
            <a:ext cx="402336" cy="402336"/>
          </a:xfrm>
          <a:prstGeom prst="rect">
            <a:avLst/>
          </a:prstGeom>
          <a:noFill/>
          <a:ln/>
        </p:spPr>
        <p:txBody>
          <a:bodyPr wrap="square" lIns="0" tIns="0" rIns="0" bIns="0" rtlCol="0" anchor="ctr"/>
          <a:lstStyle/>
          <a:p>
            <a:pPr algn="ctr" indent="0" marL="0">
              <a:buNone/>
            </a:pPr>
            <a:r>
              <a:rPr lang="en-US" sz="1400" b="1" dirty="0">
                <a:solidFill>
                  <a:srgbClr val="4472C4"/>
                </a:solidFill>
              </a:rPr>
              <a:t>D</a:t>
            </a:r>
            <a:endParaRPr lang="en-US" sz="1400" dirty="0"/>
          </a:p>
        </p:txBody>
      </p:sp>
      <p:sp>
        <p:nvSpPr>
          <p:cNvPr id="20" name="Option D"/>
          <p:cNvSpPr txBox="1"/>
          <p:nvPr/>
        </p:nvSpPr>
        <p:spPr>
          <a:xfrm>
            <a:off x="1188720" y="4078224"/>
            <a:ext cx="10271455" cy="457200"/>
          </a:xfrm>
          <a:prstGeom prst="rect">
            <a:avLst/>
          </a:prstGeom>
          <a:noFill/>
          <a:ln/>
        </p:spPr>
        <p:txBody>
          <a:bodyPr wrap="square" lIns="0" tIns="0" rIns="0" bIns="0" rtlCol="0" anchor="ctr"/>
          <a:lstStyle/>
          <a:p>
            <a:pPr indent="0" marL="0">
              <a:buNone/>
            </a:pPr>
            <a:r>
              <a:rPr lang="en-US" sz="1800" dirty="0">
                <a:solidFill>
                  <a:srgbClr val="1F1F1F"/>
                </a:solidFill>
              </a:rPr>
              <a:t>Full-dose oral naproxen; start allopurinol now</a:t>
            </a:r>
            <a:endParaRPr lang="en-US" sz="1800" dirty="0"/>
          </a:p>
        </p:txBody>
      </p:sp>
      <p:sp>
        <p:nvSpPr>
          <p:cNvPr id="21" name="Shape 19"/>
          <p:cNvSpPr/>
          <p:nvPr/>
        </p:nvSpPr>
        <p:spPr>
          <a:xfrm>
            <a:off x="548640" y="4654296"/>
            <a:ext cx="402336" cy="402336"/>
          </a:xfrm>
          <a:prstGeom prst="ellipse">
            <a:avLst/>
          </a:prstGeom>
          <a:solidFill>
            <a:srgbClr val="FFFFFF"/>
          </a:solidFill>
          <a:ln w="19050">
            <a:solidFill>
              <a:srgbClr val="4472C4"/>
            </a:solidFill>
            <a:prstDash val="solid"/>
          </a:ln>
        </p:spPr>
      </p:sp>
      <p:sp>
        <p:nvSpPr>
          <p:cNvPr id="22" name="Text 20"/>
          <p:cNvSpPr txBox="1"/>
          <p:nvPr/>
        </p:nvSpPr>
        <p:spPr>
          <a:xfrm>
            <a:off x="548640" y="4654296"/>
            <a:ext cx="402336" cy="402336"/>
          </a:xfrm>
          <a:prstGeom prst="rect">
            <a:avLst/>
          </a:prstGeom>
          <a:noFill/>
          <a:ln/>
        </p:spPr>
        <p:txBody>
          <a:bodyPr wrap="square" lIns="0" tIns="0" rIns="0" bIns="0" rtlCol="0" anchor="ctr"/>
          <a:lstStyle/>
          <a:p>
            <a:pPr algn="ctr" indent="0" marL="0">
              <a:buNone/>
            </a:pPr>
            <a:r>
              <a:rPr lang="en-US" sz="1400" b="1" dirty="0">
                <a:solidFill>
                  <a:srgbClr val="4472C4"/>
                </a:solidFill>
              </a:rPr>
              <a:t>E</a:t>
            </a:r>
            <a:endParaRPr lang="en-US" sz="1400" dirty="0"/>
          </a:p>
        </p:txBody>
      </p:sp>
      <p:sp>
        <p:nvSpPr>
          <p:cNvPr id="23" name="Option E"/>
          <p:cNvSpPr txBox="1"/>
          <p:nvPr/>
        </p:nvSpPr>
        <p:spPr>
          <a:xfrm>
            <a:off x="1188720" y="4626864"/>
            <a:ext cx="10271455" cy="457200"/>
          </a:xfrm>
          <a:prstGeom prst="rect">
            <a:avLst/>
          </a:prstGeom>
          <a:noFill/>
          <a:ln/>
        </p:spPr>
        <p:txBody>
          <a:bodyPr wrap="square" lIns="0" tIns="0" rIns="0" bIns="0" rtlCol="0" anchor="ctr"/>
          <a:lstStyle/>
          <a:p>
            <a:pPr indent="0" marL="0">
              <a:buNone/>
            </a:pPr>
            <a:r>
              <a:rPr lang="en-US" sz="1800" dirty="0">
                <a:solidFill>
                  <a:srgbClr val="1F1F1F"/>
                </a:solidFill>
              </a:rPr>
              <a:t>Short corticosteroid course; defer allopurinol</a:t>
            </a:r>
            <a:endParaRPr lang="en-US" sz="1800" dirty="0"/>
          </a:p>
        </p:txBody>
      </p:sp>
    </p:spTree>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name="Slide 130">
    <p:bg>
      <p:bgPr>
        <a:solidFill>
          <a:srgbClr val="FFFFFF"/>
        </a:solidFill>
      </p:bgPr>
    </p:bg>
    <p:spTree>
      <p:nvGrpSpPr>
        <p:cNvPr id="1" name=""/>
        <p:cNvGrpSpPr/>
        <p:nvPr/>
      </p:nvGrpSpPr>
      <p:grpSpPr>
        <a:xfrm>
          <a:off x="0" y="0"/>
          <a:ext cx="0" cy="0"/>
          <a:chOff x="0" y="0"/>
          <a:chExt cx="0" cy="0"/>
        </a:xfrm>
      </p:grpSpPr>
      <p:sp>
        <p:nvSpPr>
          <p:cNvPr id="2" name="Kicker"/>
          <p:cNvSpPr txBox="1"/>
          <p:nvPr/>
        </p:nvSpPr>
        <p:spPr>
          <a:xfrm>
            <a:off x="548640" y="292608"/>
            <a:ext cx="8076895" cy="274320"/>
          </a:xfrm>
          <a:prstGeom prst="rect">
            <a:avLst/>
          </a:prstGeom>
          <a:noFill/>
          <a:ln/>
        </p:spPr>
        <p:txBody>
          <a:bodyPr wrap="square" lIns="0" tIns="0" rIns="0" bIns="0" rtlCol="0" anchor="ctr"/>
          <a:lstStyle/>
          <a:p>
            <a:pPr indent="0" marL="0">
              <a:buNone/>
            </a:pPr>
            <a:r>
              <a:rPr lang="en-US" sz="1200" b="1" spc="100" kern="0" dirty="0">
                <a:solidFill>
                  <a:srgbClr val="4472C4"/>
                </a:solidFill>
              </a:rPr>
              <a:t>CLINICAL VIGNETTE · ANSWER</a:t>
            </a:r>
            <a:endParaRPr lang="en-US" sz="1200" dirty="0"/>
          </a:p>
        </p:txBody>
      </p:sp>
      <p:sp>
        <p:nvSpPr>
          <p:cNvPr id="3" name="Title"/>
          <p:cNvSpPr txBox="1"/>
          <p:nvPr/>
        </p:nvSpPr>
        <p:spPr>
          <a:xfrm>
            <a:off x="548640" y="566928"/>
            <a:ext cx="8076895" cy="713232"/>
          </a:xfrm>
          <a:prstGeom prst="rect">
            <a:avLst/>
          </a:prstGeom>
          <a:noFill/>
          <a:ln/>
        </p:spPr>
        <p:txBody>
          <a:bodyPr wrap="square" lIns="0" tIns="0" rIns="0" bIns="0" rtlCol="0" anchor="t"/>
          <a:lstStyle/>
          <a:p>
            <a:pPr indent="0" marL="0">
              <a:buNone/>
            </a:pPr>
            <a:r>
              <a:rPr lang="en-US" sz="3000" b="1" dirty="0">
                <a:solidFill>
                  <a:srgbClr val="1F1F1F"/>
                </a:solidFill>
                <a:latin typeface="Calibri" pitchFamily="34" charset="0"/>
                <a:ea typeface="Calibri" pitchFamily="34" charset="-122"/>
                <a:cs typeface="Calibri" pitchFamily="34" charset="-120"/>
              </a:rPr>
              <a:t>Answer 34: E</a:t>
            </a:r>
            <a:endParaRPr lang="en-US" sz="3000" dirty="0"/>
          </a:p>
        </p:txBody>
      </p:sp>
      <p:sp>
        <p:nvSpPr>
          <p:cNvPr id="4" name="Objective chip"/>
          <p:cNvSpPr/>
          <p:nvPr/>
        </p:nvSpPr>
        <p:spPr>
          <a:xfrm>
            <a:off x="8899855" y="365760"/>
            <a:ext cx="2743200" cy="384048"/>
          </a:xfrm>
          <a:prstGeom prst="roundRect">
            <a:avLst>
              <a:gd name="adj" fmla="val 35714"/>
            </a:avLst>
          </a:prstGeom>
          <a:solidFill>
            <a:srgbClr val="E3EBF8"/>
          </a:solidFill>
          <a:ln/>
        </p:spPr>
        <p:txBody>
          <a:bodyPr wrap="square" lIns="25400" tIns="25400" rIns="25400" bIns="25400" rtlCol="0" anchor="ctr"/>
          <a:lstStyle/>
          <a:p>
            <a:pPr algn="ctr" indent="0" marL="0">
              <a:buNone/>
            </a:pPr>
            <a:r>
              <a:rPr lang="en-US" sz="1200" b="1" dirty="0">
                <a:solidFill>
                  <a:srgbClr val="2F4F8A"/>
                </a:solidFill>
              </a:rPr>
              <a:t>Objectives: SO5 · IO2.3 · IO2.4</a:t>
            </a:r>
            <a:endParaRPr lang="en-US" sz="1200" dirty="0"/>
          </a:p>
        </p:txBody>
      </p:sp>
      <p:sp>
        <p:nvSpPr>
          <p:cNvPr id="5" name="Footer"/>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1000" dirty="0">
                <a:solidFill>
                  <a:srgbClr val="666666"/>
                </a:solidFill>
              </a:rPr>
              <a:t>L04 · Musculoskeletal Pharmacology — Session 2</a:t>
            </a:r>
            <a:endParaRPr lang="en-US" sz="1000" dirty="0"/>
          </a:p>
        </p:txBody>
      </p:sp>
      <p:sp>
        <p:nvSpPr>
          <p:cNvPr id="6" name="Slide number"/>
          <p:cNvSpPr txBox="1"/>
          <p:nvPr/>
        </p:nvSpPr>
        <p:spPr>
          <a:xfrm>
            <a:off x="10728655" y="6419088"/>
            <a:ext cx="914400" cy="274320"/>
          </a:xfrm>
          <a:prstGeom prst="rect">
            <a:avLst/>
          </a:prstGeom>
          <a:noFill/>
          <a:ln/>
        </p:spPr>
        <p:txBody>
          <a:bodyPr wrap="square" lIns="0" tIns="0" rIns="0" bIns="0" rtlCol="0" anchor="ctr"/>
          <a:lstStyle/>
          <a:p>
            <a:pPr algn="r" indent="0" marL="0">
              <a:buNone/>
            </a:pPr>
            <a:r>
              <a:rPr lang="en-US" sz="1000" dirty="0">
                <a:solidFill>
                  <a:srgbClr val="666666"/>
                </a:solidFill>
              </a:rPr>
              <a:t>130</a:t>
            </a:r>
            <a:endParaRPr lang="en-US" sz="1000" dirty="0"/>
          </a:p>
        </p:txBody>
      </p:sp>
      <p:sp>
        <p:nvSpPr>
          <p:cNvPr id="7" name="Correct answer"/>
          <p:cNvSpPr/>
          <p:nvPr/>
        </p:nvSpPr>
        <p:spPr>
          <a:xfrm>
            <a:off x="548640" y="1325880"/>
            <a:ext cx="11094415" cy="548640"/>
          </a:xfrm>
          <a:prstGeom prst="roundRect">
            <a:avLst>
              <a:gd name="adj" fmla="val 16667"/>
            </a:avLst>
          </a:prstGeom>
          <a:solidFill>
            <a:srgbClr val="E2F0D9"/>
          </a:solidFill>
          <a:ln w="19050">
            <a:solidFill>
              <a:srgbClr val="548235"/>
            </a:solidFill>
            <a:prstDash val="solid"/>
          </a:ln>
        </p:spPr>
      </p:sp>
      <p:pic>
        <p:nvPicPr>
          <p:cNvPr id="8" name="Image 0" descr="preencoded.png">    </p:cNvPr>
          <p:cNvPicPr>
            <a:picLocks noChangeAspect="1"/>
          </p:cNvPicPr>
          <p:nvPr/>
        </p:nvPicPr>
        <p:blipFill>
          <a:blip r:embed="rId1"/>
          <a:stretch>
            <a:fillRect/>
          </a:stretch>
        </p:blipFill>
        <p:spPr>
          <a:xfrm>
            <a:off x="731520" y="1435608"/>
            <a:ext cx="329184" cy="329184"/>
          </a:xfrm>
          <a:prstGeom prst="rect">
            <a:avLst/>
          </a:prstGeom>
        </p:spPr>
      </p:pic>
      <p:sp>
        <p:nvSpPr>
          <p:cNvPr id="9" name="Text 6"/>
          <p:cNvSpPr txBox="1"/>
          <p:nvPr/>
        </p:nvSpPr>
        <p:spPr>
          <a:xfrm>
            <a:off x="1234440" y="1325880"/>
            <a:ext cx="10180015" cy="548640"/>
          </a:xfrm>
          <a:prstGeom prst="rect">
            <a:avLst/>
          </a:prstGeom>
          <a:noFill/>
          <a:ln/>
        </p:spPr>
        <p:txBody>
          <a:bodyPr wrap="square" lIns="0" tIns="0" rIns="0" bIns="0" rtlCol="0" anchor="ctr"/>
          <a:lstStyle/>
          <a:p>
            <a:pPr indent="0" marL="0">
              <a:buNone/>
            </a:pPr>
            <a:r>
              <a:rPr lang="en-US" sz="1600" b="1" dirty="0">
                <a:solidFill>
                  <a:srgbClr val="1F1F1F"/>
                </a:solidFill>
              </a:rPr>
              <a:t>E. </a:t>
            </a:r>
            <a:r>
              <a:rPr lang="en-US" sz="1600" b="1" dirty="0">
                <a:solidFill>
                  <a:srgbClr val="1F1F1F"/>
                </a:solidFill>
              </a:rPr>
              <a:t>Short corticosteroid course; defer allopurinol</a:t>
            </a:r>
            <a:endParaRPr lang="en-US" sz="1600" dirty="0"/>
          </a:p>
        </p:txBody>
      </p:sp>
      <p:sp>
        <p:nvSpPr>
          <p:cNvPr id="10" name="Why correct"/>
          <p:cNvSpPr txBox="1"/>
          <p:nvPr/>
        </p:nvSpPr>
        <p:spPr>
          <a:xfrm>
            <a:off x="777240" y="2011680"/>
            <a:ext cx="10637215" cy="724408"/>
          </a:xfrm>
          <a:prstGeom prst="rect">
            <a:avLst/>
          </a:prstGeom>
          <a:noFill/>
          <a:ln/>
        </p:spPr>
        <p:txBody>
          <a:bodyPr wrap="square" lIns="0" tIns="0" rIns="0" bIns="0" rtlCol="0" anchor="t"/>
          <a:lstStyle/>
          <a:p>
            <a:pPr indent="0" marL="0">
              <a:buNone/>
            </a:pPr>
            <a:r>
              <a:rPr lang="en-US" sz="1600" dirty="0">
                <a:solidFill>
                  <a:srgbClr val="1F1F1F"/>
                </a:solidFill>
              </a:rPr>
              <a:t>An oral NSAID is relatively contraindicated (CKD, anticoagulant, hypertension); a short corticosteroid course is often preferred, colchicine needs renal dose adjustment, and ULT waits until the flare resolves (SG U2-S).</a:t>
            </a:r>
            <a:r>
              <a:rPr lang="en-US" sz="1100" dirty="0">
                <a:solidFill>
                  <a:srgbClr val="666666"/>
                </a:solidFill>
              </a:rPr>
              <a:t>  SG U2-S; S9; S11</a:t>
            </a:r>
            <a:endParaRPr lang="en-US" sz="1600" dirty="0"/>
          </a:p>
        </p:txBody>
      </p:sp>
      <p:sp>
        <p:nvSpPr>
          <p:cNvPr id="11" name="Why others wrong card"/>
          <p:cNvSpPr/>
          <p:nvPr/>
        </p:nvSpPr>
        <p:spPr>
          <a:xfrm>
            <a:off x="548640" y="2873248"/>
            <a:ext cx="11094415" cy="1704848"/>
          </a:xfrm>
          <a:prstGeom prst="roundRect">
            <a:avLst>
              <a:gd name="adj" fmla="val 5364"/>
            </a:avLst>
          </a:prstGeom>
          <a:solidFill>
            <a:srgbClr val="F2F4F7"/>
          </a:solidFill>
          <a:ln w="12700">
            <a:solidFill>
              <a:srgbClr val="F2F4F7"/>
            </a:solidFill>
            <a:prstDash val="solid"/>
          </a:ln>
        </p:spPr>
      </p:sp>
      <p:sp>
        <p:nvSpPr>
          <p:cNvPr id="12" name="Why others wrong"/>
          <p:cNvSpPr txBox="1"/>
          <p:nvPr/>
        </p:nvSpPr>
        <p:spPr>
          <a:xfrm>
            <a:off x="777240" y="2982976"/>
            <a:ext cx="10637215" cy="1521968"/>
          </a:xfrm>
          <a:prstGeom prst="rect">
            <a:avLst/>
          </a:prstGeom>
          <a:noFill/>
          <a:ln/>
        </p:spPr>
        <p:txBody>
          <a:bodyPr wrap="square" lIns="0" tIns="0" rIns="0" bIns="0" rtlCol="0" anchor="t"/>
          <a:lstStyle/>
          <a:p>
            <a:pPr indent="0" marL="0">
              <a:spcAft>
                <a:spcPts val="400"/>
              </a:spcAft>
              <a:buNone/>
            </a:pPr>
            <a:r>
              <a:rPr lang="en-US" sz="1600" b="1" dirty="0">
                <a:solidFill>
                  <a:srgbClr val="C00000"/>
                </a:solidFill>
              </a:rPr>
              <a:t>Why the other choices are wrong</a:t>
            </a:r>
            <a:endParaRPr lang="en-US" sz="1600" dirty="0"/>
          </a:p>
          <a:p>
            <a:pPr indent="0" marL="0">
              <a:buNone/>
            </a:pPr>
            <a:r>
              <a:rPr lang="en-US" sz="1600" b="1" dirty="0">
                <a:solidFill>
                  <a:srgbClr val="1F1F1F"/>
                </a:solidFill>
              </a:rPr>
              <a:t>A. Full-dose colchicine with no adjustment — </a:t>
            </a:r>
            <a:r>
              <a:rPr lang="en-US" sz="1600" dirty="0">
                <a:solidFill>
                  <a:srgbClr val="1F1F1F"/>
                </a:solidFill>
              </a:rPr>
              <a:t>Colchicine needs renal dose adjustment (S11).</a:t>
            </a:r>
            <a:endParaRPr lang="en-US" sz="1600" dirty="0"/>
          </a:p>
          <a:p>
            <a:pPr indent="0" marL="0">
              <a:buNone/>
            </a:pPr>
            <a:r>
              <a:rPr lang="en-US" sz="1600" b="1" dirty="0">
                <a:solidFill>
                  <a:srgbClr val="1F1F1F"/>
                </a:solidFill>
              </a:rPr>
              <a:t>B. Start febuxostat today to stop the flare — </a:t>
            </a:r>
            <a:r>
              <a:rPr lang="en-US" sz="1600" dirty="0">
                <a:solidFill>
                  <a:srgbClr val="1F1F1F"/>
                </a:solidFill>
              </a:rPr>
              <a:t>ULT never treats a flare (S9).</a:t>
            </a:r>
            <a:endParaRPr lang="en-US" sz="1600" dirty="0"/>
          </a:p>
          <a:p>
            <a:pPr indent="0" marL="0">
              <a:buNone/>
            </a:pPr>
            <a:r>
              <a:rPr lang="en-US" sz="1600" b="1" dirty="0">
                <a:solidFill>
                  <a:srgbClr val="1F1F1F"/>
                </a:solidFill>
              </a:rPr>
              <a:t>C. Probenecid now, since the kidneys are the issue — </a:t>
            </a:r>
            <a:r>
              <a:rPr lang="en-US" sz="1600" dirty="0">
                <a:solidFill>
                  <a:srgbClr val="1F1F1F"/>
                </a:solidFill>
              </a:rPr>
              <a:t>Probenecid is chronic ULT and avoided in renal impairment (S14).</a:t>
            </a:r>
            <a:endParaRPr lang="en-US" sz="1600" dirty="0"/>
          </a:p>
          <a:p>
            <a:pPr indent="0" marL="0">
              <a:buNone/>
            </a:pPr>
            <a:r>
              <a:rPr lang="en-US" sz="1600" b="1" dirty="0">
                <a:solidFill>
                  <a:srgbClr val="1F1F1F"/>
                </a:solidFill>
              </a:rPr>
              <a:t>D. Full-dose oral naproxen; start allopurinol now — </a:t>
            </a:r>
            <a:r>
              <a:rPr lang="en-US" sz="1600" dirty="0">
                <a:solidFill>
                  <a:srgbClr val="1F1F1F"/>
                </a:solidFill>
              </a:rPr>
              <a:t>NSAID red flags stack up, and ULT waits (SG U2-S).</a:t>
            </a:r>
            <a:endParaRPr lang="en-US" sz="1600" dirty="0"/>
          </a:p>
        </p:txBody>
      </p:sp>
    </p:spTree>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name="Slide 131">
    <p:bg>
      <p:bgPr>
        <a:solidFill>
          <a:srgbClr val="FFFFFF"/>
        </a:solidFill>
      </p:bgPr>
    </p:bg>
    <p:spTree>
      <p:nvGrpSpPr>
        <p:cNvPr id="1" name=""/>
        <p:cNvGrpSpPr/>
        <p:nvPr/>
      </p:nvGrpSpPr>
      <p:grpSpPr>
        <a:xfrm>
          <a:off x="0" y="0"/>
          <a:ext cx="0" cy="0"/>
          <a:chOff x="0" y="0"/>
          <a:chExt cx="0" cy="0"/>
        </a:xfrm>
      </p:grpSpPr>
      <p:sp>
        <p:nvSpPr>
          <p:cNvPr id="2" name="Kicker"/>
          <p:cNvSpPr txBox="1"/>
          <p:nvPr/>
        </p:nvSpPr>
        <p:spPr>
          <a:xfrm>
            <a:off x="548640" y="292608"/>
            <a:ext cx="8076895" cy="274320"/>
          </a:xfrm>
          <a:prstGeom prst="rect">
            <a:avLst/>
          </a:prstGeom>
          <a:noFill/>
          <a:ln/>
        </p:spPr>
        <p:txBody>
          <a:bodyPr wrap="square" lIns="0" tIns="0" rIns="0" bIns="0" rtlCol="0" anchor="ctr"/>
          <a:lstStyle/>
          <a:p>
            <a:pPr indent="0" marL="0">
              <a:buNone/>
            </a:pPr>
            <a:r>
              <a:rPr lang="en-US" sz="1200" b="1" spc="100" kern="0" dirty="0">
                <a:solidFill>
                  <a:srgbClr val="4472C4"/>
                </a:solidFill>
              </a:rPr>
              <a:t>CLINICAL VIGNETTE · LECTURE QUICK CHECK S65; S66</a:t>
            </a:r>
            <a:endParaRPr lang="en-US" sz="1200" dirty="0"/>
          </a:p>
        </p:txBody>
      </p:sp>
      <p:sp>
        <p:nvSpPr>
          <p:cNvPr id="3" name="Title"/>
          <p:cNvSpPr txBox="1"/>
          <p:nvPr/>
        </p:nvSpPr>
        <p:spPr>
          <a:xfrm>
            <a:off x="548640" y="566928"/>
            <a:ext cx="8076895" cy="713232"/>
          </a:xfrm>
          <a:prstGeom prst="rect">
            <a:avLst/>
          </a:prstGeom>
          <a:noFill/>
          <a:ln/>
        </p:spPr>
        <p:txBody>
          <a:bodyPr wrap="square" lIns="0" tIns="0" rIns="0" bIns="0" rtlCol="0" anchor="t"/>
          <a:lstStyle/>
          <a:p>
            <a:pPr indent="0" marL="0">
              <a:buNone/>
            </a:pPr>
            <a:r>
              <a:rPr lang="en-US" sz="3000" b="1" dirty="0">
                <a:solidFill>
                  <a:srgbClr val="1F1F1F"/>
                </a:solidFill>
                <a:latin typeface="Calibri" pitchFamily="34" charset="0"/>
                <a:ea typeface="Calibri" pitchFamily="34" charset="-122"/>
                <a:cs typeface="Calibri" pitchFamily="34" charset="-120"/>
              </a:rPr>
              <a:t>Question 35</a:t>
            </a:r>
            <a:endParaRPr lang="en-US" sz="3000" dirty="0"/>
          </a:p>
        </p:txBody>
      </p:sp>
      <p:sp>
        <p:nvSpPr>
          <p:cNvPr id="4" name="Objective chip"/>
          <p:cNvSpPr/>
          <p:nvPr/>
        </p:nvSpPr>
        <p:spPr>
          <a:xfrm>
            <a:off x="8899855" y="365760"/>
            <a:ext cx="2743200" cy="384048"/>
          </a:xfrm>
          <a:prstGeom prst="roundRect">
            <a:avLst>
              <a:gd name="adj" fmla="val 35714"/>
            </a:avLst>
          </a:prstGeom>
          <a:solidFill>
            <a:srgbClr val="E3EBF8"/>
          </a:solidFill>
          <a:ln/>
        </p:spPr>
        <p:txBody>
          <a:bodyPr wrap="square" lIns="25400" tIns="25400" rIns="25400" bIns="25400" rtlCol="0" anchor="ctr"/>
          <a:lstStyle/>
          <a:p>
            <a:pPr algn="ctr" indent="0" marL="0">
              <a:buNone/>
            </a:pPr>
            <a:r>
              <a:rPr lang="en-US" sz="1200" b="1" dirty="0">
                <a:solidFill>
                  <a:srgbClr val="2F4F8A"/>
                </a:solidFill>
              </a:rPr>
              <a:t>Objectives: SO5 · IO2.3 · IO2.4</a:t>
            </a:r>
            <a:endParaRPr lang="en-US" sz="1200" dirty="0"/>
          </a:p>
        </p:txBody>
      </p:sp>
      <p:sp>
        <p:nvSpPr>
          <p:cNvPr id="5" name="Footer"/>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1000" dirty="0">
                <a:solidFill>
                  <a:srgbClr val="666666"/>
                </a:solidFill>
              </a:rPr>
              <a:t>L04 · Musculoskeletal Pharmacology — Session 2</a:t>
            </a:r>
            <a:endParaRPr lang="en-US" sz="1000" dirty="0"/>
          </a:p>
        </p:txBody>
      </p:sp>
      <p:sp>
        <p:nvSpPr>
          <p:cNvPr id="6" name="Slide number"/>
          <p:cNvSpPr txBox="1"/>
          <p:nvPr/>
        </p:nvSpPr>
        <p:spPr>
          <a:xfrm>
            <a:off x="10728655" y="6419088"/>
            <a:ext cx="914400" cy="274320"/>
          </a:xfrm>
          <a:prstGeom prst="rect">
            <a:avLst/>
          </a:prstGeom>
          <a:noFill/>
          <a:ln/>
        </p:spPr>
        <p:txBody>
          <a:bodyPr wrap="square" lIns="0" tIns="0" rIns="0" bIns="0" rtlCol="0" anchor="ctr"/>
          <a:lstStyle/>
          <a:p>
            <a:pPr algn="r" indent="0" marL="0">
              <a:buNone/>
            </a:pPr>
            <a:r>
              <a:rPr lang="en-US" sz="1000" dirty="0">
                <a:solidFill>
                  <a:srgbClr val="666666"/>
                </a:solidFill>
              </a:rPr>
              <a:t>131</a:t>
            </a:r>
            <a:endParaRPr lang="en-US" sz="1000" dirty="0"/>
          </a:p>
        </p:txBody>
      </p:sp>
      <p:sp>
        <p:nvSpPr>
          <p:cNvPr id="7" name="Question stem card"/>
          <p:cNvSpPr/>
          <p:nvPr/>
        </p:nvSpPr>
        <p:spPr>
          <a:xfrm>
            <a:off x="548640" y="1325880"/>
            <a:ext cx="11094415" cy="923544"/>
          </a:xfrm>
          <a:prstGeom prst="roundRect">
            <a:avLst>
              <a:gd name="adj" fmla="val 9901"/>
            </a:avLst>
          </a:prstGeom>
          <a:solidFill>
            <a:srgbClr val="F2F4F7"/>
          </a:solidFill>
          <a:ln w="12700">
            <a:solidFill>
              <a:srgbClr val="F2F4F7"/>
            </a:solidFill>
            <a:prstDash val="solid"/>
          </a:ln>
        </p:spPr>
      </p:sp>
      <p:sp>
        <p:nvSpPr>
          <p:cNvPr id="8" name="Question stem"/>
          <p:cNvSpPr txBox="1"/>
          <p:nvPr/>
        </p:nvSpPr>
        <p:spPr>
          <a:xfrm>
            <a:off x="777240" y="1325880"/>
            <a:ext cx="10637215" cy="923544"/>
          </a:xfrm>
          <a:prstGeom prst="rect">
            <a:avLst/>
          </a:prstGeom>
          <a:noFill/>
          <a:ln/>
        </p:spPr>
        <p:txBody>
          <a:bodyPr wrap="square" lIns="0" tIns="0" rIns="0" bIns="0" rtlCol="0" anchor="ctr"/>
          <a:lstStyle/>
          <a:p>
            <a:pPr indent="0" marL="0">
              <a:buNone/>
            </a:pPr>
            <a:r>
              <a:rPr lang="en-US" sz="1800" dirty="0">
                <a:solidFill>
                  <a:srgbClr val="1F1F1F"/>
                </a:solidFill>
              </a:rPr>
              <a:t>A patient with osteoporosis has significant difficulty swallowing pills. Which administration route among osteoporosis therapies would best fit this patient?</a:t>
            </a:r>
            <a:endParaRPr lang="en-US" sz="1800" dirty="0"/>
          </a:p>
        </p:txBody>
      </p:sp>
      <p:sp>
        <p:nvSpPr>
          <p:cNvPr id="9" name="Shape 7"/>
          <p:cNvSpPr/>
          <p:nvPr/>
        </p:nvSpPr>
        <p:spPr>
          <a:xfrm>
            <a:off x="548640" y="2459736"/>
            <a:ext cx="402336" cy="402336"/>
          </a:xfrm>
          <a:prstGeom prst="ellipse">
            <a:avLst/>
          </a:prstGeom>
          <a:solidFill>
            <a:srgbClr val="FFFFFF"/>
          </a:solidFill>
          <a:ln w="19050">
            <a:solidFill>
              <a:srgbClr val="4472C4"/>
            </a:solidFill>
            <a:prstDash val="solid"/>
          </a:ln>
        </p:spPr>
      </p:sp>
      <p:sp>
        <p:nvSpPr>
          <p:cNvPr id="10" name="Text 8"/>
          <p:cNvSpPr txBox="1"/>
          <p:nvPr/>
        </p:nvSpPr>
        <p:spPr>
          <a:xfrm>
            <a:off x="548640" y="2459736"/>
            <a:ext cx="402336" cy="402336"/>
          </a:xfrm>
          <a:prstGeom prst="rect">
            <a:avLst/>
          </a:prstGeom>
          <a:noFill/>
          <a:ln/>
        </p:spPr>
        <p:txBody>
          <a:bodyPr wrap="square" lIns="0" tIns="0" rIns="0" bIns="0" rtlCol="0" anchor="ctr"/>
          <a:lstStyle/>
          <a:p>
            <a:pPr algn="ctr" indent="0" marL="0">
              <a:buNone/>
            </a:pPr>
            <a:r>
              <a:rPr lang="en-US" sz="1400" b="1" dirty="0">
                <a:solidFill>
                  <a:srgbClr val="4472C4"/>
                </a:solidFill>
              </a:rPr>
              <a:t>A</a:t>
            </a:r>
            <a:endParaRPr lang="en-US" sz="1400" dirty="0"/>
          </a:p>
        </p:txBody>
      </p:sp>
      <p:sp>
        <p:nvSpPr>
          <p:cNvPr id="11" name="Option A"/>
          <p:cNvSpPr txBox="1"/>
          <p:nvPr/>
        </p:nvSpPr>
        <p:spPr>
          <a:xfrm>
            <a:off x="1188720" y="2432304"/>
            <a:ext cx="10271455" cy="457200"/>
          </a:xfrm>
          <a:prstGeom prst="rect">
            <a:avLst/>
          </a:prstGeom>
          <a:noFill/>
          <a:ln/>
        </p:spPr>
        <p:txBody>
          <a:bodyPr wrap="square" lIns="0" tIns="0" rIns="0" bIns="0" rtlCol="0" anchor="ctr"/>
          <a:lstStyle/>
          <a:p>
            <a:pPr indent="0" marL="0">
              <a:buNone/>
            </a:pPr>
            <a:r>
              <a:rPr lang="en-US" sz="1800" dirty="0">
                <a:solidFill>
                  <a:srgbClr val="1F1F1F"/>
                </a:solidFill>
              </a:rPr>
              <a:t>No alternative exists to the oral bisphosphonates</a:t>
            </a:r>
            <a:endParaRPr lang="en-US" sz="1800" dirty="0"/>
          </a:p>
        </p:txBody>
      </p:sp>
      <p:sp>
        <p:nvSpPr>
          <p:cNvPr id="12" name="Shape 10"/>
          <p:cNvSpPr/>
          <p:nvPr/>
        </p:nvSpPr>
        <p:spPr>
          <a:xfrm>
            <a:off x="548640" y="3008376"/>
            <a:ext cx="402336" cy="402336"/>
          </a:xfrm>
          <a:prstGeom prst="ellipse">
            <a:avLst/>
          </a:prstGeom>
          <a:solidFill>
            <a:srgbClr val="FFFFFF"/>
          </a:solidFill>
          <a:ln w="19050">
            <a:solidFill>
              <a:srgbClr val="4472C4"/>
            </a:solidFill>
            <a:prstDash val="solid"/>
          </a:ln>
        </p:spPr>
      </p:sp>
      <p:sp>
        <p:nvSpPr>
          <p:cNvPr id="13" name="Text 11"/>
          <p:cNvSpPr txBox="1"/>
          <p:nvPr/>
        </p:nvSpPr>
        <p:spPr>
          <a:xfrm>
            <a:off x="548640" y="3008376"/>
            <a:ext cx="402336" cy="402336"/>
          </a:xfrm>
          <a:prstGeom prst="rect">
            <a:avLst/>
          </a:prstGeom>
          <a:noFill/>
          <a:ln/>
        </p:spPr>
        <p:txBody>
          <a:bodyPr wrap="square" lIns="0" tIns="0" rIns="0" bIns="0" rtlCol="0" anchor="ctr"/>
          <a:lstStyle/>
          <a:p>
            <a:pPr algn="ctr" indent="0" marL="0">
              <a:buNone/>
            </a:pPr>
            <a:r>
              <a:rPr lang="en-US" sz="1400" b="1" dirty="0">
                <a:solidFill>
                  <a:srgbClr val="4472C4"/>
                </a:solidFill>
              </a:rPr>
              <a:t>B</a:t>
            </a:r>
            <a:endParaRPr lang="en-US" sz="1400" dirty="0"/>
          </a:p>
        </p:txBody>
      </p:sp>
      <p:sp>
        <p:nvSpPr>
          <p:cNvPr id="14" name="Option B"/>
          <p:cNvSpPr txBox="1"/>
          <p:nvPr/>
        </p:nvSpPr>
        <p:spPr>
          <a:xfrm>
            <a:off x="1188720" y="2980944"/>
            <a:ext cx="10271455" cy="457200"/>
          </a:xfrm>
          <a:prstGeom prst="rect">
            <a:avLst/>
          </a:prstGeom>
          <a:noFill/>
          <a:ln/>
        </p:spPr>
        <p:txBody>
          <a:bodyPr wrap="square" lIns="0" tIns="0" rIns="0" bIns="0" rtlCol="0" anchor="ctr"/>
          <a:lstStyle/>
          <a:p>
            <a:pPr indent="0" marL="0">
              <a:buNone/>
            </a:pPr>
            <a:r>
              <a:rPr lang="en-US" sz="1800" dirty="0">
                <a:solidFill>
                  <a:srgbClr val="1F1F1F"/>
                </a:solidFill>
              </a:rPr>
              <a:t>Monthly oral ibandronate with plain water, fasting</a:t>
            </a:r>
            <a:endParaRPr lang="en-US" sz="1800" dirty="0"/>
          </a:p>
        </p:txBody>
      </p:sp>
      <p:sp>
        <p:nvSpPr>
          <p:cNvPr id="15" name="Shape 13"/>
          <p:cNvSpPr/>
          <p:nvPr/>
        </p:nvSpPr>
        <p:spPr>
          <a:xfrm>
            <a:off x="548640" y="3557016"/>
            <a:ext cx="402336" cy="402336"/>
          </a:xfrm>
          <a:prstGeom prst="ellipse">
            <a:avLst/>
          </a:prstGeom>
          <a:solidFill>
            <a:srgbClr val="FFFFFF"/>
          </a:solidFill>
          <a:ln w="19050">
            <a:solidFill>
              <a:srgbClr val="4472C4"/>
            </a:solidFill>
            <a:prstDash val="solid"/>
          </a:ln>
        </p:spPr>
      </p:sp>
      <p:sp>
        <p:nvSpPr>
          <p:cNvPr id="16" name="Text 14"/>
          <p:cNvSpPr txBox="1"/>
          <p:nvPr/>
        </p:nvSpPr>
        <p:spPr>
          <a:xfrm>
            <a:off x="548640" y="3557016"/>
            <a:ext cx="402336" cy="402336"/>
          </a:xfrm>
          <a:prstGeom prst="rect">
            <a:avLst/>
          </a:prstGeom>
          <a:noFill/>
          <a:ln/>
        </p:spPr>
        <p:txBody>
          <a:bodyPr wrap="square" lIns="0" tIns="0" rIns="0" bIns="0" rtlCol="0" anchor="ctr"/>
          <a:lstStyle/>
          <a:p>
            <a:pPr algn="ctr" indent="0" marL="0">
              <a:buNone/>
            </a:pPr>
            <a:r>
              <a:rPr lang="en-US" sz="1400" b="1" dirty="0">
                <a:solidFill>
                  <a:srgbClr val="4472C4"/>
                </a:solidFill>
              </a:rPr>
              <a:t>C</a:t>
            </a:r>
            <a:endParaRPr lang="en-US" sz="1400" dirty="0"/>
          </a:p>
        </p:txBody>
      </p:sp>
      <p:sp>
        <p:nvSpPr>
          <p:cNvPr id="17" name="Option C"/>
          <p:cNvSpPr txBox="1"/>
          <p:nvPr/>
        </p:nvSpPr>
        <p:spPr>
          <a:xfrm>
            <a:off x="1188720" y="3529584"/>
            <a:ext cx="10271455" cy="457200"/>
          </a:xfrm>
          <a:prstGeom prst="rect">
            <a:avLst/>
          </a:prstGeom>
          <a:noFill/>
          <a:ln/>
        </p:spPr>
        <p:txBody>
          <a:bodyPr wrap="square" lIns="0" tIns="0" rIns="0" bIns="0" rtlCol="0" anchor="ctr"/>
          <a:lstStyle/>
          <a:p>
            <a:pPr indent="0" marL="0">
              <a:buNone/>
            </a:pPr>
            <a:r>
              <a:rPr lang="en-US" sz="1800" dirty="0">
                <a:solidFill>
                  <a:srgbClr val="1F1F1F"/>
                </a:solidFill>
              </a:rPr>
              <a:t>Yearly IV zoledronic acid or a subcutaneous injectable</a:t>
            </a:r>
            <a:endParaRPr lang="en-US" sz="1800" dirty="0"/>
          </a:p>
        </p:txBody>
      </p:sp>
      <p:sp>
        <p:nvSpPr>
          <p:cNvPr id="18" name="Shape 16"/>
          <p:cNvSpPr/>
          <p:nvPr/>
        </p:nvSpPr>
        <p:spPr>
          <a:xfrm>
            <a:off x="548640" y="4105656"/>
            <a:ext cx="402336" cy="402336"/>
          </a:xfrm>
          <a:prstGeom prst="ellipse">
            <a:avLst/>
          </a:prstGeom>
          <a:solidFill>
            <a:srgbClr val="FFFFFF"/>
          </a:solidFill>
          <a:ln w="19050">
            <a:solidFill>
              <a:srgbClr val="4472C4"/>
            </a:solidFill>
            <a:prstDash val="solid"/>
          </a:ln>
        </p:spPr>
      </p:sp>
      <p:sp>
        <p:nvSpPr>
          <p:cNvPr id="19" name="Text 17"/>
          <p:cNvSpPr txBox="1"/>
          <p:nvPr/>
        </p:nvSpPr>
        <p:spPr>
          <a:xfrm>
            <a:off x="548640" y="4105656"/>
            <a:ext cx="402336" cy="402336"/>
          </a:xfrm>
          <a:prstGeom prst="rect">
            <a:avLst/>
          </a:prstGeom>
          <a:noFill/>
          <a:ln/>
        </p:spPr>
        <p:txBody>
          <a:bodyPr wrap="square" lIns="0" tIns="0" rIns="0" bIns="0" rtlCol="0" anchor="ctr"/>
          <a:lstStyle/>
          <a:p>
            <a:pPr algn="ctr" indent="0" marL="0">
              <a:buNone/>
            </a:pPr>
            <a:r>
              <a:rPr lang="en-US" sz="1400" b="1" dirty="0">
                <a:solidFill>
                  <a:srgbClr val="4472C4"/>
                </a:solidFill>
              </a:rPr>
              <a:t>D</a:t>
            </a:r>
            <a:endParaRPr lang="en-US" sz="1400" dirty="0"/>
          </a:p>
        </p:txBody>
      </p:sp>
      <p:sp>
        <p:nvSpPr>
          <p:cNvPr id="20" name="Option D"/>
          <p:cNvSpPr txBox="1"/>
          <p:nvPr/>
        </p:nvSpPr>
        <p:spPr>
          <a:xfrm>
            <a:off x="1188720" y="4078224"/>
            <a:ext cx="10271455" cy="457200"/>
          </a:xfrm>
          <a:prstGeom prst="rect">
            <a:avLst/>
          </a:prstGeom>
          <a:noFill/>
          <a:ln/>
        </p:spPr>
        <p:txBody>
          <a:bodyPr wrap="square" lIns="0" tIns="0" rIns="0" bIns="0" rtlCol="0" anchor="ctr"/>
          <a:lstStyle/>
          <a:p>
            <a:pPr indent="0" marL="0">
              <a:buNone/>
            </a:pPr>
            <a:r>
              <a:rPr lang="en-US" sz="1800" dirty="0">
                <a:solidFill>
                  <a:srgbClr val="1F1F1F"/>
                </a:solidFill>
              </a:rPr>
              <a:t>Weekly oral alendronate with a full glass of water</a:t>
            </a:r>
            <a:endParaRPr lang="en-US" sz="1800" dirty="0"/>
          </a:p>
        </p:txBody>
      </p:sp>
      <p:sp>
        <p:nvSpPr>
          <p:cNvPr id="21" name="Shape 19"/>
          <p:cNvSpPr/>
          <p:nvPr/>
        </p:nvSpPr>
        <p:spPr>
          <a:xfrm>
            <a:off x="548640" y="4654296"/>
            <a:ext cx="402336" cy="402336"/>
          </a:xfrm>
          <a:prstGeom prst="ellipse">
            <a:avLst/>
          </a:prstGeom>
          <a:solidFill>
            <a:srgbClr val="FFFFFF"/>
          </a:solidFill>
          <a:ln w="19050">
            <a:solidFill>
              <a:srgbClr val="4472C4"/>
            </a:solidFill>
            <a:prstDash val="solid"/>
          </a:ln>
        </p:spPr>
      </p:sp>
      <p:sp>
        <p:nvSpPr>
          <p:cNvPr id="22" name="Text 20"/>
          <p:cNvSpPr txBox="1"/>
          <p:nvPr/>
        </p:nvSpPr>
        <p:spPr>
          <a:xfrm>
            <a:off x="548640" y="4654296"/>
            <a:ext cx="402336" cy="402336"/>
          </a:xfrm>
          <a:prstGeom prst="rect">
            <a:avLst/>
          </a:prstGeom>
          <a:noFill/>
          <a:ln/>
        </p:spPr>
        <p:txBody>
          <a:bodyPr wrap="square" lIns="0" tIns="0" rIns="0" bIns="0" rtlCol="0" anchor="ctr"/>
          <a:lstStyle/>
          <a:p>
            <a:pPr algn="ctr" indent="0" marL="0">
              <a:buNone/>
            </a:pPr>
            <a:r>
              <a:rPr lang="en-US" sz="1400" b="1" dirty="0">
                <a:solidFill>
                  <a:srgbClr val="4472C4"/>
                </a:solidFill>
              </a:rPr>
              <a:t>E</a:t>
            </a:r>
            <a:endParaRPr lang="en-US" sz="1400" dirty="0"/>
          </a:p>
        </p:txBody>
      </p:sp>
      <p:sp>
        <p:nvSpPr>
          <p:cNvPr id="23" name="Option E"/>
          <p:cNvSpPr txBox="1"/>
          <p:nvPr/>
        </p:nvSpPr>
        <p:spPr>
          <a:xfrm>
            <a:off x="1188720" y="4626864"/>
            <a:ext cx="10271455" cy="457200"/>
          </a:xfrm>
          <a:prstGeom prst="rect">
            <a:avLst/>
          </a:prstGeom>
          <a:noFill/>
          <a:ln/>
        </p:spPr>
        <p:txBody>
          <a:bodyPr wrap="square" lIns="0" tIns="0" rIns="0" bIns="0" rtlCol="0" anchor="ctr"/>
          <a:lstStyle/>
          <a:p>
            <a:pPr indent="0" marL="0">
              <a:buNone/>
            </a:pPr>
            <a:r>
              <a:rPr lang="en-US" sz="1800" dirty="0">
                <a:solidFill>
                  <a:srgbClr val="1F1F1F"/>
                </a:solidFill>
              </a:rPr>
              <a:t>Daily oral risedronate taken first thing each morning</a:t>
            </a:r>
            <a:endParaRPr lang="en-US" sz="1800" dirty="0"/>
          </a:p>
        </p:txBody>
      </p:sp>
    </p:spTree>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name="Slide 132">
    <p:bg>
      <p:bgPr>
        <a:solidFill>
          <a:srgbClr val="FFFFFF"/>
        </a:solidFill>
      </p:bgPr>
    </p:bg>
    <p:spTree>
      <p:nvGrpSpPr>
        <p:cNvPr id="1" name=""/>
        <p:cNvGrpSpPr/>
        <p:nvPr/>
      </p:nvGrpSpPr>
      <p:grpSpPr>
        <a:xfrm>
          <a:off x="0" y="0"/>
          <a:ext cx="0" cy="0"/>
          <a:chOff x="0" y="0"/>
          <a:chExt cx="0" cy="0"/>
        </a:xfrm>
      </p:grpSpPr>
      <p:sp>
        <p:nvSpPr>
          <p:cNvPr id="2" name="Kicker"/>
          <p:cNvSpPr txBox="1"/>
          <p:nvPr/>
        </p:nvSpPr>
        <p:spPr>
          <a:xfrm>
            <a:off x="548640" y="292608"/>
            <a:ext cx="8076895" cy="274320"/>
          </a:xfrm>
          <a:prstGeom prst="rect">
            <a:avLst/>
          </a:prstGeom>
          <a:noFill/>
          <a:ln/>
        </p:spPr>
        <p:txBody>
          <a:bodyPr wrap="square" lIns="0" tIns="0" rIns="0" bIns="0" rtlCol="0" anchor="ctr"/>
          <a:lstStyle/>
          <a:p>
            <a:pPr indent="0" marL="0">
              <a:buNone/>
            </a:pPr>
            <a:r>
              <a:rPr lang="en-US" sz="1200" b="1" spc="100" kern="0" dirty="0">
                <a:solidFill>
                  <a:srgbClr val="4472C4"/>
                </a:solidFill>
              </a:rPr>
              <a:t>CLINICAL VIGNETTE · ANSWER</a:t>
            </a:r>
            <a:endParaRPr lang="en-US" sz="1200" dirty="0"/>
          </a:p>
        </p:txBody>
      </p:sp>
      <p:sp>
        <p:nvSpPr>
          <p:cNvPr id="3" name="Title"/>
          <p:cNvSpPr txBox="1"/>
          <p:nvPr/>
        </p:nvSpPr>
        <p:spPr>
          <a:xfrm>
            <a:off x="548640" y="566928"/>
            <a:ext cx="8076895" cy="713232"/>
          </a:xfrm>
          <a:prstGeom prst="rect">
            <a:avLst/>
          </a:prstGeom>
          <a:noFill/>
          <a:ln/>
        </p:spPr>
        <p:txBody>
          <a:bodyPr wrap="square" lIns="0" tIns="0" rIns="0" bIns="0" rtlCol="0" anchor="t"/>
          <a:lstStyle/>
          <a:p>
            <a:pPr indent="0" marL="0">
              <a:buNone/>
            </a:pPr>
            <a:r>
              <a:rPr lang="en-US" sz="3000" b="1" dirty="0">
                <a:solidFill>
                  <a:srgbClr val="1F1F1F"/>
                </a:solidFill>
                <a:latin typeface="Calibri" pitchFamily="34" charset="0"/>
                <a:ea typeface="Calibri" pitchFamily="34" charset="-122"/>
                <a:cs typeface="Calibri" pitchFamily="34" charset="-120"/>
              </a:rPr>
              <a:t>Answer 35: C</a:t>
            </a:r>
            <a:endParaRPr lang="en-US" sz="3000" dirty="0"/>
          </a:p>
        </p:txBody>
      </p:sp>
      <p:sp>
        <p:nvSpPr>
          <p:cNvPr id="4" name="Objective chip"/>
          <p:cNvSpPr/>
          <p:nvPr/>
        </p:nvSpPr>
        <p:spPr>
          <a:xfrm>
            <a:off x="8899855" y="365760"/>
            <a:ext cx="2743200" cy="384048"/>
          </a:xfrm>
          <a:prstGeom prst="roundRect">
            <a:avLst>
              <a:gd name="adj" fmla="val 35714"/>
            </a:avLst>
          </a:prstGeom>
          <a:solidFill>
            <a:srgbClr val="E3EBF8"/>
          </a:solidFill>
          <a:ln/>
        </p:spPr>
        <p:txBody>
          <a:bodyPr wrap="square" lIns="25400" tIns="25400" rIns="25400" bIns="25400" rtlCol="0" anchor="ctr"/>
          <a:lstStyle/>
          <a:p>
            <a:pPr algn="ctr" indent="0" marL="0">
              <a:buNone/>
            </a:pPr>
            <a:r>
              <a:rPr lang="en-US" sz="1200" b="1" dirty="0">
                <a:solidFill>
                  <a:srgbClr val="2F4F8A"/>
                </a:solidFill>
              </a:rPr>
              <a:t>Objectives: SO5 · IO2.3 · IO2.4</a:t>
            </a:r>
            <a:endParaRPr lang="en-US" sz="1200" dirty="0"/>
          </a:p>
        </p:txBody>
      </p:sp>
      <p:sp>
        <p:nvSpPr>
          <p:cNvPr id="5" name="Footer"/>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1000" dirty="0">
                <a:solidFill>
                  <a:srgbClr val="666666"/>
                </a:solidFill>
              </a:rPr>
              <a:t>L04 · Musculoskeletal Pharmacology — Session 2</a:t>
            </a:r>
            <a:endParaRPr lang="en-US" sz="1000" dirty="0"/>
          </a:p>
        </p:txBody>
      </p:sp>
      <p:sp>
        <p:nvSpPr>
          <p:cNvPr id="6" name="Slide number"/>
          <p:cNvSpPr txBox="1"/>
          <p:nvPr/>
        </p:nvSpPr>
        <p:spPr>
          <a:xfrm>
            <a:off x="10728655" y="6419088"/>
            <a:ext cx="914400" cy="274320"/>
          </a:xfrm>
          <a:prstGeom prst="rect">
            <a:avLst/>
          </a:prstGeom>
          <a:noFill/>
          <a:ln/>
        </p:spPr>
        <p:txBody>
          <a:bodyPr wrap="square" lIns="0" tIns="0" rIns="0" bIns="0" rtlCol="0" anchor="ctr"/>
          <a:lstStyle/>
          <a:p>
            <a:pPr algn="r" indent="0" marL="0">
              <a:buNone/>
            </a:pPr>
            <a:r>
              <a:rPr lang="en-US" sz="1000" dirty="0">
                <a:solidFill>
                  <a:srgbClr val="666666"/>
                </a:solidFill>
              </a:rPr>
              <a:t>132</a:t>
            </a:r>
            <a:endParaRPr lang="en-US" sz="1000" dirty="0"/>
          </a:p>
        </p:txBody>
      </p:sp>
      <p:sp>
        <p:nvSpPr>
          <p:cNvPr id="7" name="Correct answer"/>
          <p:cNvSpPr/>
          <p:nvPr/>
        </p:nvSpPr>
        <p:spPr>
          <a:xfrm>
            <a:off x="548640" y="1325880"/>
            <a:ext cx="11094415" cy="548640"/>
          </a:xfrm>
          <a:prstGeom prst="roundRect">
            <a:avLst>
              <a:gd name="adj" fmla="val 16667"/>
            </a:avLst>
          </a:prstGeom>
          <a:solidFill>
            <a:srgbClr val="E2F0D9"/>
          </a:solidFill>
          <a:ln w="19050">
            <a:solidFill>
              <a:srgbClr val="548235"/>
            </a:solidFill>
            <a:prstDash val="solid"/>
          </a:ln>
        </p:spPr>
      </p:sp>
      <p:pic>
        <p:nvPicPr>
          <p:cNvPr id="8" name="Image 0" descr="preencoded.png">    </p:cNvPr>
          <p:cNvPicPr>
            <a:picLocks noChangeAspect="1"/>
          </p:cNvPicPr>
          <p:nvPr/>
        </p:nvPicPr>
        <p:blipFill>
          <a:blip r:embed="rId1"/>
          <a:stretch>
            <a:fillRect/>
          </a:stretch>
        </p:blipFill>
        <p:spPr>
          <a:xfrm>
            <a:off x="731520" y="1435608"/>
            <a:ext cx="329184" cy="329184"/>
          </a:xfrm>
          <a:prstGeom prst="rect">
            <a:avLst/>
          </a:prstGeom>
        </p:spPr>
      </p:pic>
      <p:sp>
        <p:nvSpPr>
          <p:cNvPr id="9" name="Text 6"/>
          <p:cNvSpPr txBox="1"/>
          <p:nvPr/>
        </p:nvSpPr>
        <p:spPr>
          <a:xfrm>
            <a:off x="1234440" y="1325880"/>
            <a:ext cx="10180015" cy="548640"/>
          </a:xfrm>
          <a:prstGeom prst="rect">
            <a:avLst/>
          </a:prstGeom>
          <a:noFill/>
          <a:ln/>
        </p:spPr>
        <p:txBody>
          <a:bodyPr wrap="square" lIns="0" tIns="0" rIns="0" bIns="0" rtlCol="0" anchor="ctr"/>
          <a:lstStyle/>
          <a:p>
            <a:pPr indent="0" marL="0">
              <a:buNone/>
            </a:pPr>
            <a:r>
              <a:rPr lang="en-US" sz="1600" b="1" dirty="0">
                <a:solidFill>
                  <a:srgbClr val="1F1F1F"/>
                </a:solidFill>
              </a:rPr>
              <a:t>C. </a:t>
            </a:r>
            <a:r>
              <a:rPr lang="en-US" sz="1600" b="1" dirty="0">
                <a:solidFill>
                  <a:srgbClr val="1F1F1F"/>
                </a:solidFill>
              </a:rPr>
              <a:t>Yearly IV zoledronic acid or a subcutaneous injectable</a:t>
            </a:r>
            <a:endParaRPr lang="en-US" sz="1600" dirty="0"/>
          </a:p>
        </p:txBody>
      </p:sp>
      <p:sp>
        <p:nvSpPr>
          <p:cNvPr id="10" name="Why correct"/>
          <p:cNvSpPr txBox="1"/>
          <p:nvPr/>
        </p:nvSpPr>
        <p:spPr>
          <a:xfrm>
            <a:off x="777240" y="2011680"/>
            <a:ext cx="10637215" cy="724408"/>
          </a:xfrm>
          <a:prstGeom prst="rect">
            <a:avLst/>
          </a:prstGeom>
          <a:noFill/>
          <a:ln/>
        </p:spPr>
        <p:txBody>
          <a:bodyPr wrap="square" lIns="0" tIns="0" rIns="0" bIns="0" rtlCol="0" anchor="t"/>
          <a:lstStyle/>
          <a:p>
            <a:pPr indent="0" marL="0">
              <a:buNone/>
            </a:pPr>
            <a:r>
              <a:rPr lang="en-US" sz="1600" dirty="0">
                <a:solidFill>
                  <a:srgbClr val="1F1F1F"/>
                </a:solidFill>
              </a:rPr>
              <a:t>Route and adherence are explicit factors in choosing therapy; IV zoledronic acid or an injectable such as denosumab avoids the swallowing difficulty that limits oral options (S59; S66).</a:t>
            </a:r>
            <a:r>
              <a:rPr lang="en-US" sz="1100" dirty="0">
                <a:solidFill>
                  <a:srgbClr val="666666"/>
                </a:solidFill>
              </a:rPr>
              <a:t>  S47; S54; S59; S66</a:t>
            </a:r>
            <a:endParaRPr lang="en-US" sz="1600" dirty="0"/>
          </a:p>
        </p:txBody>
      </p:sp>
      <p:sp>
        <p:nvSpPr>
          <p:cNvPr id="11" name="Why others wrong card"/>
          <p:cNvSpPr/>
          <p:nvPr/>
        </p:nvSpPr>
        <p:spPr>
          <a:xfrm>
            <a:off x="548640" y="2873248"/>
            <a:ext cx="11094415" cy="1704848"/>
          </a:xfrm>
          <a:prstGeom prst="roundRect">
            <a:avLst>
              <a:gd name="adj" fmla="val 5364"/>
            </a:avLst>
          </a:prstGeom>
          <a:solidFill>
            <a:srgbClr val="F2F4F7"/>
          </a:solidFill>
          <a:ln w="12700">
            <a:solidFill>
              <a:srgbClr val="F2F4F7"/>
            </a:solidFill>
            <a:prstDash val="solid"/>
          </a:ln>
        </p:spPr>
      </p:sp>
      <p:sp>
        <p:nvSpPr>
          <p:cNvPr id="12" name="Why others wrong"/>
          <p:cNvSpPr txBox="1"/>
          <p:nvPr/>
        </p:nvSpPr>
        <p:spPr>
          <a:xfrm>
            <a:off x="777240" y="2982976"/>
            <a:ext cx="10637215" cy="1521968"/>
          </a:xfrm>
          <a:prstGeom prst="rect">
            <a:avLst/>
          </a:prstGeom>
          <a:noFill/>
          <a:ln/>
        </p:spPr>
        <p:txBody>
          <a:bodyPr wrap="square" lIns="0" tIns="0" rIns="0" bIns="0" rtlCol="0" anchor="t"/>
          <a:lstStyle/>
          <a:p>
            <a:pPr indent="0" marL="0">
              <a:spcAft>
                <a:spcPts val="400"/>
              </a:spcAft>
              <a:buNone/>
            </a:pPr>
            <a:r>
              <a:rPr lang="en-US" sz="1600" b="1" dirty="0">
                <a:solidFill>
                  <a:srgbClr val="C00000"/>
                </a:solidFill>
              </a:rPr>
              <a:t>Why the other choices are wrong</a:t>
            </a:r>
            <a:endParaRPr lang="en-US" sz="1600" dirty="0"/>
          </a:p>
          <a:p>
            <a:pPr indent="0" marL="0">
              <a:buNone/>
            </a:pPr>
            <a:r>
              <a:rPr lang="en-US" sz="1600" b="1" dirty="0">
                <a:solidFill>
                  <a:srgbClr val="1F1F1F"/>
                </a:solidFill>
              </a:rPr>
              <a:t>A. No alternative exists to the oral bisphosphonates — </a:t>
            </a:r>
            <a:r>
              <a:rPr lang="en-US" sz="1600" dirty="0">
                <a:solidFill>
                  <a:srgbClr val="1F1F1F"/>
                </a:solidFill>
              </a:rPr>
              <a:t>IV and injectable options exist (S47; S54).</a:t>
            </a:r>
            <a:endParaRPr lang="en-US" sz="1600" dirty="0"/>
          </a:p>
          <a:p>
            <a:pPr indent="0" marL="0">
              <a:buNone/>
            </a:pPr>
            <a:r>
              <a:rPr lang="en-US" sz="1600" b="1" dirty="0">
                <a:solidFill>
                  <a:srgbClr val="1F1F1F"/>
                </a:solidFill>
              </a:rPr>
              <a:t>B. Monthly oral ibandronate with plain water, fasting — </a:t>
            </a:r>
            <a:r>
              <a:rPr lang="en-US" sz="1600" dirty="0">
                <a:solidFill>
                  <a:srgbClr val="1F1F1F"/>
                </a:solidFill>
              </a:rPr>
              <a:t>Still an oral tablet (S47).</a:t>
            </a:r>
            <a:endParaRPr lang="en-US" sz="1600" dirty="0"/>
          </a:p>
          <a:p>
            <a:pPr indent="0" marL="0">
              <a:buNone/>
            </a:pPr>
            <a:r>
              <a:rPr lang="en-US" sz="1600" b="1" dirty="0">
                <a:solidFill>
                  <a:srgbClr val="1F1F1F"/>
                </a:solidFill>
              </a:rPr>
              <a:t>D. Weekly oral alendronate with a full glass of water — </a:t>
            </a:r>
            <a:r>
              <a:rPr lang="en-US" sz="1600" dirty="0">
                <a:solidFill>
                  <a:srgbClr val="1F1F1F"/>
                </a:solidFill>
              </a:rPr>
              <a:t>Still a tablet to swallow — and it must be taken upright (S52).</a:t>
            </a:r>
            <a:endParaRPr lang="en-US" sz="1600" dirty="0"/>
          </a:p>
          <a:p>
            <a:pPr indent="0" marL="0">
              <a:buNone/>
            </a:pPr>
            <a:r>
              <a:rPr lang="en-US" sz="1600" b="1" dirty="0">
                <a:solidFill>
                  <a:srgbClr val="1F1F1F"/>
                </a:solidFill>
              </a:rPr>
              <a:t>E. Daily oral risedronate taken first thing each morning — </a:t>
            </a:r>
            <a:r>
              <a:rPr lang="en-US" sz="1600" dirty="0">
                <a:solidFill>
                  <a:srgbClr val="1F1F1F"/>
                </a:solidFill>
              </a:rPr>
              <a:t>Oral, and daily dosing (textbook) is even more frequent (p. 827).</a:t>
            </a:r>
            <a:endParaRPr lang="en-US" sz="1600" dirty="0"/>
          </a:p>
        </p:txBody>
      </p:sp>
    </p:spTree>
  </p:cSld>
  <p:clrMapOvr>
    <a:masterClrMapping/>
  </p:clrMapOvr>
</p:sld>
</file>

<file path=ppt/theme/theme1.xml><?xml version="1.0" encoding="utf-8"?>
<a:theme xmlns:a="http://schemas.openxmlformats.org/drawingml/2006/main" name="Study deck light">
  <a:themeElements>
    <a:clrScheme name="Study deck light">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Study deck light">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132</Slides>
  <Notes>132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132</vt:i4>
      </vt:variant>
    </vt:vector>
  </HeadingPairs>
  <TitlesOfParts>
    <vt:vector size="13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lpstr>Slide 76</vt:lpstr>
      <vt:lpstr>Slide 77</vt:lpstr>
      <vt:lpstr>Slide 78</vt:lpstr>
      <vt:lpstr>Slide 79</vt:lpstr>
      <vt:lpstr>Slide 80</vt:lpstr>
      <vt:lpstr>Slide 81</vt:lpstr>
      <vt:lpstr>Slide 82</vt:lpstr>
      <vt:lpstr>Slide 83</vt:lpstr>
      <vt:lpstr>Slide 84</vt:lpstr>
      <vt:lpstr>Slide 85</vt:lpstr>
      <vt:lpstr>Slide 86</vt:lpstr>
      <vt:lpstr>Slide 87</vt:lpstr>
      <vt:lpstr>Slide 88</vt:lpstr>
      <vt:lpstr>Slide 89</vt:lpstr>
      <vt:lpstr>Slide 90</vt:lpstr>
      <vt:lpstr>Slide 91</vt:lpstr>
      <vt:lpstr>Slide 92</vt:lpstr>
      <vt:lpstr>Slide 93</vt:lpstr>
      <vt:lpstr>Slide 94</vt:lpstr>
      <vt:lpstr>Slide 95</vt:lpstr>
      <vt:lpstr>Slide 96</vt:lpstr>
      <vt:lpstr>Slide 97</vt:lpstr>
      <vt:lpstr>Slide 98</vt:lpstr>
      <vt:lpstr>Slide 99</vt:lpstr>
      <vt:lpstr>Slide 100</vt:lpstr>
      <vt:lpstr>Slide 101</vt:lpstr>
      <vt:lpstr>Slide 102</vt:lpstr>
      <vt:lpstr>Slide 103</vt:lpstr>
      <vt:lpstr>Slide 104</vt:lpstr>
      <vt:lpstr>Slide 105</vt:lpstr>
      <vt:lpstr>Slide 106</vt:lpstr>
      <vt:lpstr>Slide 107</vt:lpstr>
      <vt:lpstr>Slide 108</vt:lpstr>
      <vt:lpstr>Slide 109</vt:lpstr>
      <vt:lpstr>Slide 110</vt:lpstr>
      <vt:lpstr>Slide 111</vt:lpstr>
      <vt:lpstr>Slide 112</vt:lpstr>
      <vt:lpstr>Slide 113</vt:lpstr>
      <vt:lpstr>Slide 114</vt:lpstr>
      <vt:lpstr>Slide 115</vt:lpstr>
      <vt:lpstr>Slide 116</vt:lpstr>
      <vt:lpstr>Slide 117</vt:lpstr>
      <vt:lpstr>Slide 118</vt:lpstr>
      <vt:lpstr>Slide 119</vt:lpstr>
      <vt:lpstr>Slide 120</vt:lpstr>
      <vt:lpstr>Slide 121</vt:lpstr>
      <vt:lpstr>Slide 122</vt:lpstr>
      <vt:lpstr>Slide 123</vt:lpstr>
      <vt:lpstr>Slide 124</vt:lpstr>
      <vt:lpstr>Slide 125</vt:lpstr>
      <vt:lpstr>Slide 126</vt:lpstr>
      <vt:lpstr>Slide 127</vt:lpstr>
      <vt:lpstr>Slide 128</vt:lpstr>
      <vt:lpstr>Slide 129</vt:lpstr>
      <vt:lpstr>Slide 130</vt:lpstr>
      <vt:lpstr>Slide 131</vt:lpstr>
      <vt:lpstr>Slide 132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L04 Musculoskeletal Pharmacology — Session 2</dc:title>
  <dc:subject>PptxGenJS Presentation</dc:subject>
  <dc:creator>PptxGenJS</dc:creator>
  <cp:lastModifiedBy>PptxGenJS</cp:lastModifiedBy>
  <cp:revision>1</cp:revision>
  <dcterms:created xsi:type="dcterms:W3CDTF">2026-10-30T12:14:03Z</dcterms:created>
  <dcterms:modified xsi:type="dcterms:W3CDTF">2026-10-30T12:14:03Z</dcterms:modified>
</cp:coreProperties>
</file>