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notesMasterIdLst>
    <p:notesMasterId r:id="rId1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notesMaster" Target="notesMasters/notesMaster1.xml"/><Relationship Id="rId115" Type="http://schemas.openxmlformats.org/officeDocument/2006/relationships/presProps" Target="presProps.xml"/><Relationship Id="rId116" Type="http://schemas.openxmlformats.org/officeDocument/2006/relationships/viewProps" Target="viewProps.xml"/><Relationship Id="rId117" Type="http://schemas.openxmlformats.org/officeDocument/2006/relationships/theme" Target="theme/theme1.xml"/><Relationship Id="rId1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S7; S8-9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S15; S16-17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 S14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S20; S21-22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S24; S25-26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S29-30; SG U1-R11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S23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 S36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S32; S34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81-82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SG U1-S; S15; S28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slideLayout" Target="../slideLayouts/slideLayout1.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image" Target="../media/image-72-4.png"/><Relationship Id="rId5" Type="http://schemas.openxmlformats.org/officeDocument/2006/relationships/image" Target="../media/image-72-5.png"/><Relationship Id="rId6" Type="http://schemas.openxmlformats.org/officeDocument/2006/relationships/slideLayout" Target="../slideLayouts/slideLayout1.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image" Target="../media/image-92-3.png"/><Relationship Id="rId4" Type="http://schemas.openxmlformats.org/officeDocument/2006/relationships/image" Target="../media/image-92-4.png"/><Relationship Id="rId5" Type="http://schemas.openxmlformats.org/officeDocument/2006/relationships/image" Target="../media/image-92-5.png"/><Relationship Id="rId6" Type="http://schemas.openxmlformats.org/officeDocument/2006/relationships/slideLayout" Target="../slideLayouts/slideLayout1.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1.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indent="0" marL="0">
              <a:buNone/>
            </a:pPr>
            <a:r>
              <a:rPr lang="en-US" sz="1600" b="1" dirty="0">
                <a:solidFill>
                  <a:srgbClr val="4472C4"/>
                </a:solidFill>
              </a:rPr>
              <a:t>L02 · Thu, Oct 22, 2026</a:t>
            </a:r>
            <a:endParaRPr lang="en-US" sz="1600" dirty="0"/>
          </a:p>
        </p:txBody>
      </p:sp>
      <p:sp>
        <p:nvSpPr>
          <p:cNvPr id="3" name="Title"/>
          <p:cNvSpPr txBox="1"/>
          <p:nvPr/>
        </p:nvSpPr>
        <p:spPr>
          <a:xfrm>
            <a:off x="548640" y="1783080"/>
            <a:ext cx="11094415" cy="1280160"/>
          </a:xfrm>
          <a:prstGeom prst="rect">
            <a:avLst/>
          </a:prstGeom>
          <a:noFill/>
          <a:ln/>
        </p:spPr>
        <p:txBody>
          <a:bodyPr wrap="square" lIns="0" tIns="0" rIns="0" bIns="0" rtlCol="0" anchor="t"/>
          <a:lstStyle/>
          <a:p>
            <a:pPr indent="0" marL="0">
              <a:buNone/>
            </a:pPr>
            <a:r>
              <a:rPr lang="en-US" sz="4400" b="1" dirty="0">
                <a:solidFill>
                  <a:srgbClr val="1F1F1F"/>
                </a:solidFill>
                <a:latin typeface="Calibri" pitchFamily="34" charset="0"/>
                <a:ea typeface="Calibri" pitchFamily="34" charset="-122"/>
                <a:cs typeface="Calibri" pitchFamily="34" charset="-120"/>
              </a:rPr>
              <a:t>Introduction to Pharmacology — Session 2</a:t>
            </a:r>
            <a:endParaRPr lang="en-US" sz="4400" dirty="0"/>
          </a:p>
        </p:txBody>
      </p:sp>
      <p:sp>
        <p:nvSpPr>
          <p:cNvPr id="4" name="Text 2"/>
          <p:cNvSpPr txBox="1"/>
          <p:nvPr/>
        </p:nvSpPr>
        <p:spPr>
          <a:xfrm>
            <a:off x="548640" y="3063240"/>
            <a:ext cx="9144000" cy="365760"/>
          </a:xfrm>
          <a:prstGeom prst="rect">
            <a:avLst/>
          </a:prstGeom>
          <a:noFill/>
          <a:ln/>
        </p:spPr>
        <p:txBody>
          <a:bodyPr wrap="square" lIns="0" tIns="0" rIns="0" bIns="0" rtlCol="0" anchor="ctr"/>
          <a:lstStyle/>
          <a:p>
            <a:pPr indent="0" marL="0">
              <a:buNone/>
            </a:pPr>
            <a:r>
              <a:rPr lang="en-US" sz="1800" dirty="0">
                <a:solidFill>
                  <a:srgbClr val="666666"/>
                </a:solidFill>
              </a:rPr>
              <a:t>Pharmacology study deck · organized by topic</a:t>
            </a:r>
            <a:endParaRPr lang="en-US" sz="1800" dirty="0"/>
          </a:p>
        </p:txBody>
      </p:sp>
      <p:sp>
        <p:nvSpPr>
          <p:cNvPr id="5" name="Legend card"/>
          <p:cNvSpPr/>
          <p:nvPr/>
        </p:nvSpPr>
        <p:spPr>
          <a:xfrm>
            <a:off x="548640" y="3840480"/>
            <a:ext cx="11094415" cy="2103120"/>
          </a:xfrm>
          <a:prstGeom prst="roundRect">
            <a:avLst>
              <a:gd name="adj" fmla="val 5217"/>
            </a:avLst>
          </a:prstGeom>
          <a:solidFill>
            <a:srgbClr val="F2F4F7"/>
          </a:solidFill>
          <a:ln w="12700">
            <a:solidFill>
              <a:srgbClr val="F2F4F7"/>
            </a:solidFill>
            <a:prstDash val="solid"/>
          </a:ln>
        </p:spPr>
      </p:sp>
      <p:sp>
        <p:nvSpPr>
          <p:cNvPr id="6" name="Text 4"/>
          <p:cNvSpPr txBox="1"/>
          <p:nvPr/>
        </p:nvSpPr>
        <p:spPr>
          <a:xfrm>
            <a:off x="822960" y="4023360"/>
            <a:ext cx="5486400" cy="365760"/>
          </a:xfrm>
          <a:prstGeom prst="rect">
            <a:avLst/>
          </a:prstGeom>
          <a:noFill/>
          <a:ln/>
        </p:spPr>
        <p:txBody>
          <a:bodyPr wrap="square" lIns="0" tIns="0" rIns="0" bIns="0" rtlCol="0" anchor="ctr"/>
          <a:lstStyle/>
          <a:p>
            <a:pPr indent="0" marL="0">
              <a:buNone/>
            </a:pPr>
            <a:r>
              <a:rPr lang="en-US" sz="1600" b="1" dirty="0">
                <a:solidFill>
                  <a:srgbClr val="1F1F1F"/>
                </a:solidFill>
              </a:rPr>
              <a:t>How to read this deck</a:t>
            </a:r>
            <a:endParaRPr lang="en-US" sz="1600" dirty="0"/>
          </a:p>
        </p:txBody>
      </p:sp>
      <p:sp>
        <p:nvSpPr>
          <p:cNvPr id="7" name="Legend"/>
          <p:cNvSpPr txBox="1"/>
          <p:nvPr/>
        </p:nvSpPr>
        <p:spPr>
          <a:xfrm>
            <a:off x="822960" y="4389120"/>
            <a:ext cx="10545775" cy="1463040"/>
          </a:xfrm>
          <a:prstGeom prst="rect">
            <a:avLst/>
          </a:prstGeom>
          <a:noFill/>
          <a:ln/>
        </p:spPr>
        <p:txBody>
          <a:bodyPr wrap="square" lIns="0" tIns="0" rIns="0" bIns="0" rtlCol="0" anchor="t"/>
          <a:lstStyle/>
          <a:p>
            <a:pPr indent="0" marL="0">
              <a:spcAft>
                <a:spcPts val="400"/>
              </a:spcAft>
              <a:buNone/>
            </a:pPr>
            <a:r>
              <a:rPr lang="en-US" sz="1400" b="1" dirty="0">
                <a:solidFill>
                  <a:srgbClr val="000000"/>
                </a:solidFill>
                <a:highlight>
                  <a:srgbClr val="FFC000"/>
                </a:highlight>
              </a:rPr>
              <a:t> TB </a:t>
            </a:r>
            <a:r>
              <a:rPr lang="en-US" sz="1400" dirty="0">
                <a:solidFill>
                  <a:srgbClr val="1F1F1F"/>
                </a:solidFill>
              </a:rPr>
              <a:t>  = textbook only (not on the lecture slides)</a:t>
            </a:r>
            <a:endParaRPr lang="en-US" sz="1400" dirty="0"/>
          </a:p>
          <a:p>
            <a:pPr indent="0" marL="0">
              <a:spcAft>
                <a:spcPts val="400"/>
              </a:spcAft>
              <a:buNone/>
            </a:pPr>
            <a:r>
              <a:rPr lang="en-US" sz="1400" b="1" dirty="0">
                <a:solidFill>
                  <a:srgbClr val="000000"/>
                </a:solidFill>
                <a:highlight>
                  <a:srgbClr val="9FE0D8"/>
                </a:highlight>
              </a:rPr>
              <a:t> SG </a:t>
            </a:r>
            <a:r>
              <a:rPr lang="en-US" sz="1400" dirty="0">
                <a:solidFill>
                  <a:srgbClr val="1F1F1F"/>
                </a:solidFill>
              </a:rPr>
              <a:t>  = course study guide only (not on the lecture slides)</a:t>
            </a:r>
            <a:endParaRPr lang="en-US" sz="1400" dirty="0"/>
          </a:p>
          <a:p>
            <a:pPr indent="0" marL="0">
              <a:spcAft>
                <a:spcPts val="400"/>
              </a:spcAft>
              <a:buNone/>
            </a:pPr>
            <a:r>
              <a:rPr lang="en-US" sz="1400" b="1" dirty="0">
                <a:solidFill>
                  <a:srgbClr val="1F1F1F"/>
                </a:solidFill>
              </a:rPr>
              <a:t>Bold</a:t>
            </a:r>
            <a:r>
              <a:rPr lang="en-US" sz="1400" dirty="0">
                <a:solidFill>
                  <a:srgbClr val="1F1F1F"/>
                </a:solidFill>
              </a:rPr>
              <a:t> = emphasized on the lecture slides</a:t>
            </a:r>
            <a:endParaRPr lang="en-US" sz="1400" dirty="0"/>
          </a:p>
          <a:p>
            <a:pPr indent="0" marL="0">
              <a:spcAft>
                <a:spcPts val="400"/>
              </a:spcAft>
              <a:buNone/>
            </a:pPr>
            <a:r>
              <a:rPr lang="en-US" sz="1400" dirty="0">
                <a:solidFill>
                  <a:srgbClr val="666666"/>
                </a:solidFill>
              </a:rPr>
              <a:t>S12</a:t>
            </a:r>
            <a:r>
              <a:rPr lang="en-US" sz="1400" dirty="0">
                <a:solidFill>
                  <a:srgbClr val="1F1F1F"/>
                </a:solidFill>
              </a:rPr>
              <a:t> = lecture slide 12   ·   </a:t>
            </a:r>
            <a:r>
              <a:rPr lang="en-US" sz="1400" dirty="0">
                <a:solidFill>
                  <a:srgbClr val="666666"/>
                </a:solidFill>
              </a:rPr>
              <a:t>p. 245</a:t>
            </a:r>
            <a:r>
              <a:rPr lang="en-US" sz="1400" dirty="0">
                <a:solidFill>
                  <a:srgbClr val="1F1F1F"/>
                </a:solidFill>
              </a:rPr>
              <a:t> = textbook page 245   ·   </a:t>
            </a:r>
            <a:r>
              <a:rPr lang="en-US" sz="1400" dirty="0">
                <a:solidFill>
                  <a:srgbClr val="666666"/>
                </a:solidFill>
              </a:rPr>
              <a:t>SG U1-R3</a:t>
            </a:r>
            <a:r>
              <a:rPr lang="en-US" sz="1400" dirty="0">
                <a:solidFill>
                  <a:srgbClr val="1F1F1F"/>
                </a:solidFill>
              </a:rPr>
              <a:t> = study guide item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a:t>
            </a:r>
            <a:endParaRPr lang="en-US" sz="1000" dirty="0"/>
          </a:p>
        </p:txBody>
      </p:sp>
      <p:sp>
        <p:nvSpPr>
          <p:cNvPr id="6" name="Objective IO1.1"/>
          <p:cNvSpPr/>
          <p:nvPr/>
        </p:nvSpPr>
        <p:spPr>
          <a:xfrm>
            <a:off x="548640" y="1325880"/>
            <a:ext cx="11094415" cy="1018032"/>
          </a:xfrm>
          <a:prstGeom prst="roundRect">
            <a:avLst>
              <a:gd name="adj" fmla="val 8982"/>
            </a:avLst>
          </a:prstGeom>
          <a:solidFill>
            <a:srgbClr val="F2F4F7"/>
          </a:solidFill>
          <a:ln w="12700">
            <a:solidFill>
              <a:srgbClr val="F2F4F7"/>
            </a:solidFill>
            <a:prstDash val="solid"/>
          </a:ln>
        </p:spPr>
      </p:sp>
      <p:sp>
        <p:nvSpPr>
          <p:cNvPr id="7" name="Text 5"/>
          <p:cNvSpPr txBox="1"/>
          <p:nvPr/>
        </p:nvSpPr>
        <p:spPr>
          <a:xfrm>
            <a:off x="731520" y="1325880"/>
            <a:ext cx="731520" cy="1018032"/>
          </a:xfrm>
          <a:prstGeom prst="rect">
            <a:avLst/>
          </a:prstGeom>
          <a:noFill/>
          <a:ln/>
        </p:spPr>
        <p:txBody>
          <a:bodyPr wrap="square" lIns="0" tIns="0" rIns="0" bIns="0" rtlCol="0" anchor="ctr"/>
          <a:lstStyle/>
          <a:p>
            <a:pPr indent="0" marL="0">
              <a:buNone/>
            </a:pPr>
            <a:r>
              <a:rPr lang="en-US" sz="1600" b="1" dirty="0">
                <a:solidFill>
                  <a:srgbClr val="4472C4"/>
                </a:solidFill>
              </a:rPr>
              <a:t>IO1.1</a:t>
            </a:r>
            <a:endParaRPr lang="en-US" sz="1600" dirty="0"/>
          </a:p>
        </p:txBody>
      </p:sp>
      <p:sp>
        <p:nvSpPr>
          <p:cNvPr id="8" name="Text 6"/>
          <p:cNvSpPr txBox="1"/>
          <p:nvPr/>
        </p:nvSpPr>
        <p:spPr>
          <a:xfrm>
            <a:off x="1463040" y="1325880"/>
            <a:ext cx="6217920" cy="1018032"/>
          </a:xfrm>
          <a:prstGeom prst="rect">
            <a:avLst/>
          </a:prstGeom>
          <a:noFill/>
          <a:ln/>
        </p:spPr>
        <p:txBody>
          <a:bodyPr wrap="square" lIns="0" tIns="0" rIns="0" bIns="0" rtlCol="0" anchor="ctr"/>
          <a:lstStyle/>
          <a:p>
            <a:pPr indent="0" marL="0">
              <a:buNone/>
            </a:pPr>
            <a:r>
              <a:rPr lang="en-US" sz="1600" dirty="0">
                <a:solidFill>
                  <a:srgbClr val="1F1F1F"/>
                </a:solidFill>
              </a:rPr>
              <a:t>Define and describe fundamental pharmacologic concepts, including pharmacokinetics, pharmacodynamics, drug-receptor interactions, dose-response relationships, therapeutic index, half-life, and steady state.</a:t>
            </a:r>
            <a:endParaRPr lang="en-US" sz="1600" dirty="0"/>
          </a:p>
        </p:txBody>
      </p:sp>
      <p:sp>
        <p:nvSpPr>
          <p:cNvPr id="9" name="Text 7"/>
          <p:cNvSpPr txBox="1"/>
          <p:nvPr/>
        </p:nvSpPr>
        <p:spPr>
          <a:xfrm>
            <a:off x="7863840" y="1325880"/>
            <a:ext cx="3596335" cy="1018032"/>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
        <p:nvSpPr>
          <p:cNvPr id="10" name="Objective IO1.2"/>
          <p:cNvSpPr/>
          <p:nvPr/>
        </p:nvSpPr>
        <p:spPr>
          <a:xfrm>
            <a:off x="548640" y="245364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5364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IO1.2</a:t>
            </a:r>
            <a:endParaRPr lang="en-US" sz="1600" dirty="0"/>
          </a:p>
        </p:txBody>
      </p:sp>
      <p:sp>
        <p:nvSpPr>
          <p:cNvPr id="12" name="Text 10"/>
          <p:cNvSpPr txBox="1"/>
          <p:nvPr/>
        </p:nvSpPr>
        <p:spPr>
          <a:xfrm>
            <a:off x="1463040" y="2453640"/>
            <a:ext cx="6217920" cy="770128"/>
          </a:xfrm>
          <a:prstGeom prst="rect">
            <a:avLst/>
          </a:prstGeom>
          <a:noFill/>
          <a:ln/>
        </p:spPr>
        <p:txBody>
          <a:bodyPr wrap="square" lIns="0" tIns="0" rIns="0" bIns="0" rtlCol="0" anchor="ctr"/>
          <a:lstStyle/>
          <a:p>
            <a:pPr indent="0" marL="0">
              <a:buNone/>
            </a:pPr>
            <a:r>
              <a:rPr lang="en-US" sz="1600" dirty="0">
                <a:solidFill>
                  <a:srgbClr val="1F1F1F"/>
                </a:solidFill>
              </a:rPr>
              <a:t>Describe the processes of drug absorption, distribution, metabolism, and excretion and factors that influence these processes.</a:t>
            </a:r>
            <a:endParaRPr lang="en-US" sz="1600" dirty="0"/>
          </a:p>
        </p:txBody>
      </p:sp>
      <p:sp>
        <p:nvSpPr>
          <p:cNvPr id="13" name="Text 11"/>
          <p:cNvSpPr txBox="1"/>
          <p:nvPr/>
        </p:nvSpPr>
        <p:spPr>
          <a:xfrm>
            <a:off x="7863840" y="245364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Drug Excretion &amp; Renal Dosing</a:t>
            </a:r>
            <a:endParaRPr lang="en-US" sz="1200" dirty="0"/>
          </a:p>
        </p:txBody>
      </p:sp>
      <p:sp>
        <p:nvSpPr>
          <p:cNvPr id="14" name="Objective IO1.3"/>
          <p:cNvSpPr/>
          <p:nvPr/>
        </p:nvSpPr>
        <p:spPr>
          <a:xfrm>
            <a:off x="548640" y="3333496"/>
            <a:ext cx="11094415" cy="1158240"/>
          </a:xfrm>
          <a:prstGeom prst="roundRect">
            <a:avLst>
              <a:gd name="adj" fmla="val 7895"/>
            </a:avLst>
          </a:prstGeom>
          <a:solidFill>
            <a:srgbClr val="FCE9DA"/>
          </a:solidFill>
          <a:ln w="12700">
            <a:solidFill>
              <a:srgbClr val="FCE9DA"/>
            </a:solidFill>
            <a:prstDash val="solid"/>
          </a:ln>
        </p:spPr>
      </p:sp>
      <p:sp>
        <p:nvSpPr>
          <p:cNvPr id="15" name="Text 13"/>
          <p:cNvSpPr txBox="1"/>
          <p:nvPr/>
        </p:nvSpPr>
        <p:spPr>
          <a:xfrm>
            <a:off x="731520" y="3333496"/>
            <a:ext cx="731520" cy="1158240"/>
          </a:xfrm>
          <a:prstGeom prst="rect">
            <a:avLst/>
          </a:prstGeom>
          <a:noFill/>
          <a:ln/>
        </p:spPr>
        <p:txBody>
          <a:bodyPr wrap="square" lIns="0" tIns="0" rIns="0" bIns="0" rtlCol="0" anchor="ctr"/>
          <a:lstStyle/>
          <a:p>
            <a:pPr indent="0" marL="0">
              <a:buNone/>
            </a:pPr>
            <a:r>
              <a:rPr lang="en-US" sz="1600" b="1" dirty="0">
                <a:solidFill>
                  <a:srgbClr val="4472C4"/>
                </a:solidFill>
              </a:rPr>
              <a:t>IO1.3</a:t>
            </a:r>
            <a:endParaRPr lang="en-US" sz="1600" dirty="0"/>
          </a:p>
        </p:txBody>
      </p:sp>
      <p:sp>
        <p:nvSpPr>
          <p:cNvPr id="16" name="Text 14"/>
          <p:cNvSpPr txBox="1"/>
          <p:nvPr/>
        </p:nvSpPr>
        <p:spPr>
          <a:xfrm>
            <a:off x="1463040" y="3333496"/>
            <a:ext cx="6217920" cy="1158240"/>
          </a:xfrm>
          <a:prstGeom prst="rect">
            <a:avLst/>
          </a:prstGeom>
          <a:noFill/>
          <a:ln/>
        </p:spPr>
        <p:txBody>
          <a:bodyPr wrap="square" lIns="0" tIns="0" rIns="0" bIns="0" rtlCol="0" anchor="ctr"/>
          <a:lstStyle/>
          <a:p>
            <a:pPr indent="0" marL="0">
              <a:buNone/>
            </a:pPr>
            <a:r>
              <a:rPr lang="en-US" sz="1600" dirty="0">
                <a:solidFill>
                  <a:srgbClr val="1F1F1F"/>
                </a:solidFill>
              </a:rPr>
              <a:t>Explain how patient-specific factors, including age, pregnancy, renal and hepatic function, and pharmacogenetic variation, may affect medication response.</a:t>
            </a:r>
            <a:endParaRPr lang="en-US" sz="1600" dirty="0"/>
          </a:p>
        </p:txBody>
      </p:sp>
      <p:sp>
        <p:nvSpPr>
          <p:cNvPr id="17" name="Text 15"/>
          <p:cNvSpPr txBox="1"/>
          <p:nvPr/>
        </p:nvSpPr>
        <p:spPr>
          <a:xfrm>
            <a:off x="7863840" y="3333496"/>
            <a:ext cx="3596335" cy="1158240"/>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Age and pregnancy are only named in the prescribing checklist · Drug Excretion &amp; Renal Dosing, PK Calculations: Half-Life, Steady State &amp; Clearance, Pharmacogenomics, Putting It All Together: Clinical Decision-Making</a:t>
            </a:r>
            <a:endParaRPr lang="en-US" sz="1200" dirty="0"/>
          </a:p>
        </p:txBody>
      </p:sp>
      <p:sp>
        <p:nvSpPr>
          <p:cNvPr id="18" name="Objective IO1.4"/>
          <p:cNvSpPr/>
          <p:nvPr/>
        </p:nvSpPr>
        <p:spPr>
          <a:xfrm>
            <a:off x="548640" y="4601464"/>
            <a:ext cx="11094415" cy="786384"/>
          </a:xfrm>
          <a:prstGeom prst="roundRect">
            <a:avLst>
              <a:gd name="adj" fmla="val 11628"/>
            </a:avLst>
          </a:prstGeom>
          <a:solidFill>
            <a:srgbClr val="F2F4F7"/>
          </a:solidFill>
          <a:ln w="12700">
            <a:solidFill>
              <a:srgbClr val="F2F4F7"/>
            </a:solidFill>
            <a:prstDash val="solid"/>
          </a:ln>
        </p:spPr>
      </p:sp>
      <p:sp>
        <p:nvSpPr>
          <p:cNvPr id="19" name="Text 17"/>
          <p:cNvSpPr txBox="1"/>
          <p:nvPr/>
        </p:nvSpPr>
        <p:spPr>
          <a:xfrm>
            <a:off x="731520" y="4601464"/>
            <a:ext cx="731520" cy="786384"/>
          </a:xfrm>
          <a:prstGeom prst="rect">
            <a:avLst/>
          </a:prstGeom>
          <a:noFill/>
          <a:ln/>
        </p:spPr>
        <p:txBody>
          <a:bodyPr wrap="square" lIns="0" tIns="0" rIns="0" bIns="0" rtlCol="0" anchor="ctr"/>
          <a:lstStyle/>
          <a:p>
            <a:pPr indent="0" marL="0">
              <a:buNone/>
            </a:pPr>
            <a:r>
              <a:rPr lang="en-US" sz="1600" b="1" dirty="0">
                <a:solidFill>
                  <a:srgbClr val="4472C4"/>
                </a:solidFill>
              </a:rPr>
              <a:t>IO1.4</a:t>
            </a:r>
            <a:endParaRPr lang="en-US" sz="1600" dirty="0"/>
          </a:p>
        </p:txBody>
      </p:sp>
      <p:sp>
        <p:nvSpPr>
          <p:cNvPr id="20" name="Text 18"/>
          <p:cNvSpPr txBox="1"/>
          <p:nvPr/>
        </p:nvSpPr>
        <p:spPr>
          <a:xfrm>
            <a:off x="1463040" y="4601464"/>
            <a:ext cx="6217920" cy="786384"/>
          </a:xfrm>
          <a:prstGeom prst="rect">
            <a:avLst/>
          </a:prstGeom>
          <a:noFill/>
          <a:ln/>
        </p:spPr>
        <p:txBody>
          <a:bodyPr wrap="square" lIns="0" tIns="0" rIns="0" bIns="0" rtlCol="0" anchor="ctr"/>
          <a:lstStyle/>
          <a:p>
            <a:pPr indent="0" marL="0">
              <a:buNone/>
            </a:pPr>
            <a:r>
              <a:rPr lang="en-US" sz="1600" dirty="0">
                <a:solidFill>
                  <a:srgbClr val="1F1F1F"/>
                </a:solidFill>
              </a:rPr>
              <a:t>Identify common types and mechanisms of adverse drug reactions, drug-drug interactions, and drug-disease interactions.</a:t>
            </a:r>
            <a:endParaRPr lang="en-US" sz="1600" dirty="0"/>
          </a:p>
        </p:txBody>
      </p:sp>
      <p:sp>
        <p:nvSpPr>
          <p:cNvPr id="21" name="Text 19"/>
          <p:cNvSpPr txBox="1"/>
          <p:nvPr/>
        </p:nvSpPr>
        <p:spPr>
          <a:xfrm>
            <a:off x="7863840" y="4601464"/>
            <a:ext cx="3596335" cy="786384"/>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Pharmacogenomics, Putting It All Together: Clinical Decision-Making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a:t>
            </a:r>
            <a:endParaRPr lang="en-US" sz="1000" dirty="0"/>
          </a:p>
        </p:txBody>
      </p:sp>
      <p:sp>
        <p:nvSpPr>
          <p:cNvPr id="6" name="Objective IO1.5"/>
          <p:cNvSpPr/>
          <p:nvPr/>
        </p:nvSpPr>
        <p:spPr>
          <a:xfrm>
            <a:off x="548640" y="1325880"/>
            <a:ext cx="11094415" cy="972312"/>
          </a:xfrm>
          <a:prstGeom prst="roundRect">
            <a:avLst>
              <a:gd name="adj" fmla="val 9404"/>
            </a:avLst>
          </a:prstGeom>
          <a:solidFill>
            <a:srgbClr val="FCE9DA"/>
          </a:solidFill>
          <a:ln w="12700">
            <a:solidFill>
              <a:srgbClr val="FCE9DA"/>
            </a:solidFill>
            <a:prstDash val="solid"/>
          </a:ln>
        </p:spPr>
      </p:sp>
      <p:sp>
        <p:nvSpPr>
          <p:cNvPr id="7" name="Text 5"/>
          <p:cNvSpPr txBox="1"/>
          <p:nvPr/>
        </p:nvSpPr>
        <p:spPr>
          <a:xfrm>
            <a:off x="731520" y="1325880"/>
            <a:ext cx="731520" cy="972312"/>
          </a:xfrm>
          <a:prstGeom prst="rect">
            <a:avLst/>
          </a:prstGeom>
          <a:noFill/>
          <a:ln/>
        </p:spPr>
        <p:txBody>
          <a:bodyPr wrap="square" lIns="0" tIns="0" rIns="0" bIns="0" rtlCol="0" anchor="ctr"/>
          <a:lstStyle/>
          <a:p>
            <a:pPr indent="0" marL="0">
              <a:buNone/>
            </a:pPr>
            <a:r>
              <a:rPr lang="en-US" sz="1600" b="1" dirty="0">
                <a:solidFill>
                  <a:srgbClr val="4472C4"/>
                </a:solidFill>
              </a:rPr>
              <a:t>IO1.5</a:t>
            </a:r>
            <a:endParaRPr lang="en-US" sz="1600" dirty="0"/>
          </a:p>
        </p:txBody>
      </p:sp>
      <p:sp>
        <p:nvSpPr>
          <p:cNvPr id="8" name="Text 6"/>
          <p:cNvSpPr txBox="1"/>
          <p:nvPr/>
        </p:nvSpPr>
        <p:spPr>
          <a:xfrm>
            <a:off x="1463040" y="1325880"/>
            <a:ext cx="6217920" cy="972312"/>
          </a:xfrm>
          <a:prstGeom prst="rect">
            <a:avLst/>
          </a:prstGeom>
          <a:noFill/>
          <a:ln/>
        </p:spPr>
        <p:txBody>
          <a:bodyPr wrap="square" lIns="0" tIns="0" rIns="0" bIns="0" rtlCol="0" anchor="ctr"/>
          <a:lstStyle/>
          <a:p>
            <a:pPr indent="0" marL="0">
              <a:buNone/>
            </a:pPr>
            <a:r>
              <a:rPr lang="en-US" sz="1600" dirty="0">
                <a:solidFill>
                  <a:srgbClr val="1F1F1F"/>
                </a:solidFill>
              </a:rPr>
              <a:t>Interpret common components of medication orders and prescriptions, including drug name, dose, route, frequency, and duration.</a:t>
            </a:r>
            <a:endParaRPr lang="en-US" sz="1600" dirty="0"/>
          </a:p>
        </p:txBody>
      </p:sp>
      <p:sp>
        <p:nvSpPr>
          <p:cNvPr id="9" name="Text 7"/>
          <p:cNvSpPr txBox="1"/>
          <p:nvPr/>
        </p:nvSpPr>
        <p:spPr>
          <a:xfrm>
            <a:off x="7863840" y="1325880"/>
            <a:ext cx="3596335" cy="972312"/>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Only dose, route, interval, and monitoring (checklist, renal dosing); no prescription-reading content · Drug Excretion &amp; Renal Dosing, Putting It All Together: Clinical Decision-Making</a:t>
            </a:r>
            <a:endParaRPr lang="en-US" sz="1200" dirty="0"/>
          </a:p>
        </p:txBody>
      </p:sp>
      <p:sp>
        <p:nvSpPr>
          <p:cNvPr id="10" name="Objective SO1"/>
          <p:cNvSpPr/>
          <p:nvPr/>
        </p:nvSpPr>
        <p:spPr>
          <a:xfrm>
            <a:off x="548640" y="240792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0792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SO1</a:t>
            </a:r>
            <a:endParaRPr lang="en-US" sz="1600" dirty="0"/>
          </a:p>
        </p:txBody>
      </p:sp>
      <p:sp>
        <p:nvSpPr>
          <p:cNvPr id="12" name="Text 10"/>
          <p:cNvSpPr txBox="1"/>
          <p:nvPr/>
        </p:nvSpPr>
        <p:spPr>
          <a:xfrm>
            <a:off x="1463040" y="2407920"/>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drug biotransformation (Phase I/II metabolism) and the clinical impact of CYP450 enzyme inhibition and induction.</a:t>
            </a:r>
            <a:endParaRPr lang="en-US" sz="1600" dirty="0"/>
          </a:p>
        </p:txBody>
      </p:sp>
      <p:sp>
        <p:nvSpPr>
          <p:cNvPr id="13" name="Text 11"/>
          <p:cNvSpPr txBox="1"/>
          <p:nvPr/>
        </p:nvSpPr>
        <p:spPr>
          <a:xfrm>
            <a:off x="7863840" y="240792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a:t>
            </a:r>
            <a:endParaRPr lang="en-US" sz="1200" dirty="0"/>
          </a:p>
        </p:txBody>
      </p:sp>
      <p:sp>
        <p:nvSpPr>
          <p:cNvPr id="14" name="Objective SO2"/>
          <p:cNvSpPr/>
          <p:nvPr/>
        </p:nvSpPr>
        <p:spPr>
          <a:xfrm>
            <a:off x="548640" y="3287776"/>
            <a:ext cx="11094415" cy="770128"/>
          </a:xfrm>
          <a:prstGeom prst="roundRect">
            <a:avLst>
              <a:gd name="adj" fmla="val 11873"/>
            </a:avLst>
          </a:prstGeom>
          <a:solidFill>
            <a:srgbClr val="F2F4F7"/>
          </a:solidFill>
          <a:ln w="12700">
            <a:solidFill>
              <a:srgbClr val="F2F4F7"/>
            </a:solidFill>
            <a:prstDash val="solid"/>
          </a:ln>
        </p:spPr>
      </p:sp>
      <p:sp>
        <p:nvSpPr>
          <p:cNvPr id="15" name="Text 13"/>
          <p:cNvSpPr txBox="1"/>
          <p:nvPr/>
        </p:nvSpPr>
        <p:spPr>
          <a:xfrm>
            <a:off x="731520" y="3287776"/>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SO2</a:t>
            </a:r>
            <a:endParaRPr lang="en-US" sz="1600" dirty="0"/>
          </a:p>
        </p:txBody>
      </p:sp>
      <p:sp>
        <p:nvSpPr>
          <p:cNvPr id="16" name="Text 14"/>
          <p:cNvSpPr txBox="1"/>
          <p:nvPr/>
        </p:nvSpPr>
        <p:spPr>
          <a:xfrm>
            <a:off x="1463040" y="3287776"/>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mechanisms of drug excretion and how renal function affects dosing.</a:t>
            </a:r>
            <a:endParaRPr lang="en-US" sz="1600" dirty="0"/>
          </a:p>
        </p:txBody>
      </p:sp>
      <p:sp>
        <p:nvSpPr>
          <p:cNvPr id="17" name="Text 15"/>
          <p:cNvSpPr txBox="1"/>
          <p:nvPr/>
        </p:nvSpPr>
        <p:spPr>
          <a:xfrm>
            <a:off x="7863840" y="3287776"/>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Excretion &amp; Renal Dosing</a:t>
            </a:r>
            <a:endParaRPr lang="en-US" sz="1200" dirty="0"/>
          </a:p>
        </p:txBody>
      </p:sp>
      <p:sp>
        <p:nvSpPr>
          <p:cNvPr id="18" name="Objective SO3"/>
          <p:cNvSpPr/>
          <p:nvPr/>
        </p:nvSpPr>
        <p:spPr>
          <a:xfrm>
            <a:off x="548640" y="4167632"/>
            <a:ext cx="11094415" cy="770128"/>
          </a:xfrm>
          <a:prstGeom prst="roundRect">
            <a:avLst>
              <a:gd name="adj" fmla="val 11873"/>
            </a:avLst>
          </a:prstGeom>
          <a:solidFill>
            <a:srgbClr val="F2F4F7"/>
          </a:solidFill>
          <a:ln w="12700">
            <a:solidFill>
              <a:srgbClr val="F2F4F7"/>
            </a:solidFill>
            <a:prstDash val="solid"/>
          </a:ln>
        </p:spPr>
      </p:sp>
      <p:sp>
        <p:nvSpPr>
          <p:cNvPr id="19" name="Text 17"/>
          <p:cNvSpPr txBox="1"/>
          <p:nvPr/>
        </p:nvSpPr>
        <p:spPr>
          <a:xfrm>
            <a:off x="731520" y="4167632"/>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SO3</a:t>
            </a:r>
            <a:endParaRPr lang="en-US" sz="1600" dirty="0"/>
          </a:p>
        </p:txBody>
      </p:sp>
      <p:sp>
        <p:nvSpPr>
          <p:cNvPr id="20" name="Text 18"/>
          <p:cNvSpPr txBox="1"/>
          <p:nvPr/>
        </p:nvSpPr>
        <p:spPr>
          <a:xfrm>
            <a:off x="1463040" y="4167632"/>
            <a:ext cx="6217920" cy="770128"/>
          </a:xfrm>
          <a:prstGeom prst="rect">
            <a:avLst/>
          </a:prstGeom>
          <a:noFill/>
          <a:ln/>
        </p:spPr>
        <p:txBody>
          <a:bodyPr wrap="square" lIns="0" tIns="0" rIns="0" bIns="0" rtlCol="0" anchor="ctr"/>
          <a:lstStyle/>
          <a:p>
            <a:pPr indent="0" marL="0">
              <a:buNone/>
            </a:pPr>
            <a:r>
              <a:rPr lang="en-US" sz="1600" dirty="0">
                <a:solidFill>
                  <a:srgbClr val="1F1F1F"/>
                </a:solidFill>
              </a:rPr>
              <a:t>Calculate and apply basic pharmacokinetic parameters (half-life, steady state, clearance).</a:t>
            </a:r>
            <a:endParaRPr lang="en-US" sz="1600" dirty="0"/>
          </a:p>
        </p:txBody>
      </p:sp>
      <p:sp>
        <p:nvSpPr>
          <p:cNvPr id="21" name="Text 19"/>
          <p:cNvSpPr txBox="1"/>
          <p:nvPr/>
        </p:nvSpPr>
        <p:spPr>
          <a:xfrm>
            <a:off x="7863840" y="4167632"/>
            <a:ext cx="3596335" cy="770128"/>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a:t>
            </a:r>
            <a:endParaRPr lang="en-US" sz="1000" dirty="0"/>
          </a:p>
        </p:txBody>
      </p:sp>
      <p:sp>
        <p:nvSpPr>
          <p:cNvPr id="6" name="Objective SO4"/>
          <p:cNvSpPr/>
          <p:nvPr/>
        </p:nvSpPr>
        <p:spPr>
          <a:xfrm>
            <a:off x="548640" y="1325880"/>
            <a:ext cx="11094415" cy="566928"/>
          </a:xfrm>
          <a:prstGeom prst="roundRect">
            <a:avLst>
              <a:gd name="adj" fmla="val 16129"/>
            </a:avLst>
          </a:prstGeom>
          <a:solidFill>
            <a:srgbClr val="F2F4F7"/>
          </a:solidFill>
          <a:ln w="12700">
            <a:solidFill>
              <a:srgbClr val="F2F4F7"/>
            </a:solidFill>
            <a:prstDash val="solid"/>
          </a:ln>
        </p:spPr>
      </p:sp>
      <p:sp>
        <p:nvSpPr>
          <p:cNvPr id="7" name="Text 5"/>
          <p:cNvSpPr txBox="1"/>
          <p:nvPr/>
        </p:nvSpPr>
        <p:spPr>
          <a:xfrm>
            <a:off x="731520" y="1325880"/>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SO4</a:t>
            </a:r>
            <a:endParaRPr lang="en-US" sz="1600" dirty="0"/>
          </a:p>
        </p:txBody>
      </p:sp>
      <p:sp>
        <p:nvSpPr>
          <p:cNvPr id="8" name="Text 6"/>
          <p:cNvSpPr txBox="1"/>
          <p:nvPr/>
        </p:nvSpPr>
        <p:spPr>
          <a:xfrm>
            <a:off x="1463040" y="1325880"/>
            <a:ext cx="6217920" cy="566928"/>
          </a:xfrm>
          <a:prstGeom prst="rect">
            <a:avLst/>
          </a:prstGeom>
          <a:noFill/>
          <a:ln/>
        </p:spPr>
        <p:txBody>
          <a:bodyPr wrap="square" lIns="0" tIns="0" rIns="0" bIns="0" rtlCol="0" anchor="ctr"/>
          <a:lstStyle/>
          <a:p>
            <a:pPr indent="0" marL="0">
              <a:buNone/>
            </a:pPr>
            <a:r>
              <a:rPr lang="en-US" sz="1600" dirty="0">
                <a:solidFill>
                  <a:srgbClr val="1F1F1F"/>
                </a:solidFill>
              </a:rPr>
              <a:t>Describe how pharmacogenomic variation can alter drug response.</a:t>
            </a:r>
            <a:endParaRPr lang="en-US" sz="1600" dirty="0"/>
          </a:p>
        </p:txBody>
      </p:sp>
      <p:sp>
        <p:nvSpPr>
          <p:cNvPr id="9" name="Text 7"/>
          <p:cNvSpPr txBox="1"/>
          <p:nvPr/>
        </p:nvSpPr>
        <p:spPr>
          <a:xfrm>
            <a:off x="7863840" y="1325880"/>
            <a:ext cx="3596335" cy="566928"/>
          </a:xfrm>
          <a:prstGeom prst="rect">
            <a:avLst/>
          </a:prstGeom>
          <a:noFill/>
          <a:ln/>
        </p:spPr>
        <p:txBody>
          <a:bodyPr wrap="square" lIns="0" tIns="0" rIns="0" bIns="0" rtlCol="0" anchor="ctr"/>
          <a:lstStyle/>
          <a:p>
            <a:pPr indent="0" marL="0">
              <a:buNone/>
            </a:pPr>
            <a:r>
              <a:rPr lang="en-US" sz="1200" dirty="0">
                <a:solidFill>
                  <a:srgbClr val="666666"/>
                </a:solidFill>
              </a:rPr>
              <a:t>Pharmacogenomics</a:t>
            </a:r>
            <a:endParaRPr lang="en-US" sz="1200" dirty="0"/>
          </a:p>
        </p:txBody>
      </p:sp>
      <p:sp>
        <p:nvSpPr>
          <p:cNvPr id="10" name="Objective SO5"/>
          <p:cNvSpPr/>
          <p:nvPr/>
        </p:nvSpPr>
        <p:spPr>
          <a:xfrm>
            <a:off x="548640" y="2002536"/>
            <a:ext cx="11094415" cy="566928"/>
          </a:xfrm>
          <a:prstGeom prst="roundRect">
            <a:avLst>
              <a:gd name="adj" fmla="val 16129"/>
            </a:avLst>
          </a:prstGeom>
          <a:solidFill>
            <a:srgbClr val="F2F4F7"/>
          </a:solidFill>
          <a:ln w="12700">
            <a:solidFill>
              <a:srgbClr val="F2F4F7"/>
            </a:solidFill>
            <a:prstDash val="solid"/>
          </a:ln>
        </p:spPr>
      </p:sp>
      <p:sp>
        <p:nvSpPr>
          <p:cNvPr id="11" name="Text 9"/>
          <p:cNvSpPr txBox="1"/>
          <p:nvPr/>
        </p:nvSpPr>
        <p:spPr>
          <a:xfrm>
            <a:off x="731520" y="2002536"/>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SO5</a:t>
            </a:r>
            <a:endParaRPr lang="en-US" sz="1600" dirty="0"/>
          </a:p>
        </p:txBody>
      </p:sp>
      <p:sp>
        <p:nvSpPr>
          <p:cNvPr id="12" name="Text 10"/>
          <p:cNvSpPr txBox="1"/>
          <p:nvPr/>
        </p:nvSpPr>
        <p:spPr>
          <a:xfrm>
            <a:off x="1463040" y="2002536"/>
            <a:ext cx="6217920" cy="566928"/>
          </a:xfrm>
          <a:prstGeom prst="rect">
            <a:avLst/>
          </a:prstGeom>
          <a:noFill/>
          <a:ln/>
        </p:spPr>
        <p:txBody>
          <a:bodyPr wrap="square" lIns="0" tIns="0" rIns="0" bIns="0" rtlCol="0" anchor="ctr"/>
          <a:lstStyle/>
          <a:p>
            <a:pPr indent="0" marL="0">
              <a:buNone/>
            </a:pPr>
            <a:r>
              <a:rPr lang="en-US" sz="1600" dirty="0">
                <a:solidFill>
                  <a:srgbClr val="1F1F1F"/>
                </a:solidFill>
              </a:rPr>
              <a:t>Apply a structured framework to clinical prescribing decisions.</a:t>
            </a:r>
            <a:endParaRPr lang="en-US" sz="1600" dirty="0"/>
          </a:p>
        </p:txBody>
      </p:sp>
      <p:sp>
        <p:nvSpPr>
          <p:cNvPr id="13" name="Text 11"/>
          <p:cNvSpPr txBox="1"/>
          <p:nvPr/>
        </p:nvSpPr>
        <p:spPr>
          <a:xfrm>
            <a:off x="7863840" y="2002536"/>
            <a:ext cx="3596335" cy="566928"/>
          </a:xfrm>
          <a:prstGeom prst="rect">
            <a:avLst/>
          </a:prstGeom>
          <a:noFill/>
          <a:ln/>
        </p:spPr>
        <p:txBody>
          <a:bodyPr wrap="square" lIns="0" tIns="0" rIns="0" bIns="0" rtlCol="0" anchor="ctr"/>
          <a:lstStyle/>
          <a:p>
            <a:pPr indent="0" marL="0">
              <a:buNone/>
            </a:pPr>
            <a:r>
              <a:rPr lang="en-US" sz="1200" dirty="0">
                <a:solidFill>
                  <a:srgbClr val="666666"/>
                </a:solidFill>
              </a:rPr>
              <a:t>Putting It All Together: Clinical Decision-Making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a:t>
            </a:r>
            <a:endParaRPr lang="en-US" sz="1000" dirty="0"/>
          </a:p>
        </p:txBody>
      </p:sp>
      <p:sp>
        <p:nvSpPr>
          <p:cNvPr id="6" name="Scope, readings &amp; sources card"/>
          <p:cNvSpPr/>
          <p:nvPr/>
        </p:nvSpPr>
        <p:spPr>
          <a:xfrm>
            <a:off x="548640" y="1325880"/>
            <a:ext cx="11094415" cy="2665476"/>
          </a:xfrm>
          <a:prstGeom prst="roundRect">
            <a:avLst>
              <a:gd name="adj" fmla="val 4117"/>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Session 2 of 2 on Introduction to Pharmacology (Thursday, October 22): metabolism, excretion, PK calculations, pharmacogenomics &amp; clinical integration.</a:t>
            </a:r>
            <a:r>
              <a:rPr lang="en-US" sz="1300" dirty="0">
                <a:solidFill>
                  <a:srgbClr val="666666"/>
                </a:solidFill>
              </a:rPr>
              <a:t>  S1</a:t>
            </a:r>
            <a:endParaRPr lang="en-US" sz="1800" dirty="0"/>
          </a:p>
          <a:p>
            <a:pPr marL="228600" indent="-228600">
              <a:spcAft>
                <a:spcPts val="800"/>
              </a:spcAft>
              <a:buSzPct val="100000"/>
              <a:buChar char="•"/>
            </a:pPr>
            <a:r>
              <a:rPr lang="en-US" sz="1800" dirty="0">
                <a:solidFill>
                  <a:srgbClr val="1F1F1F"/>
                </a:solidFill>
              </a:rPr>
              <a:t>Recap: Session 1 covered pharmacology vocabulary, drug development, pharmacodynamics, dose-response relationships, and ADME through distribution. Today picks up with metabolism (Section 6) and runs through the integrated clinical framework and recall quiz.</a:t>
            </a:r>
            <a:r>
              <a:rPr lang="en-US" sz="1300" dirty="0">
                <a:solidFill>
                  <a:srgbClr val="666666"/>
                </a:solidFill>
              </a:rPr>
              <a:t>  S2; S2 (notes)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a:t>
            </a:r>
            <a:endParaRPr lang="en-US" sz="1000" dirty="0"/>
          </a:p>
        </p:txBody>
      </p:sp>
      <p:sp>
        <p:nvSpPr>
          <p:cNvPr id="6" name="Scope, readings &amp; sources card"/>
          <p:cNvSpPr/>
          <p:nvPr/>
        </p:nvSpPr>
        <p:spPr>
          <a:xfrm>
            <a:off x="548640" y="1325880"/>
            <a:ext cx="11094415" cy="3502152"/>
          </a:xfrm>
          <a:prstGeom prst="roundRect">
            <a:avLst>
              <a:gd name="adj" fmla="val 3133"/>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26334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Lecture Recall Quiz is a cumulative self-test covering both sessions — a standalone recall resource, separate from the in-lecture quick checks; revisit it on your own before the exam. (Rebuilt here as practice questions.)</a:t>
            </a:r>
            <a:r>
              <a:rPr lang="en-US" sz="1300" dirty="0">
                <a:solidFill>
                  <a:srgbClr val="666666"/>
                </a:solidFill>
              </a:rPr>
              <a:t>  S45; S48 (notes)</a:t>
            </a:r>
            <a:endParaRPr lang="en-US" sz="1800" dirty="0"/>
          </a:p>
          <a:p>
            <a:pPr marL="228600" indent="-228600">
              <a:spcAft>
                <a:spcPts val="800"/>
              </a:spcAft>
              <a:buSzPct val="100000"/>
              <a:buChar char="•"/>
            </a:pPr>
            <a:r>
              <a:rPr lang="en-US" sz="1800" b="1" dirty="0">
                <a:solidFill>
                  <a:srgbClr val="1F1F1F"/>
                </a:solidFill>
              </a:rPr>
              <a:t>Original figures in this deck:</a:t>
            </a:r>
            <a:r>
              <a:rPr lang="en-US" sz="1800" dirty="0">
                <a:solidFill>
                  <a:srgbClr val="1F1F1F"/>
                </a:solidFill>
              </a:rPr>
              <a:t> Figures 6–8 (CYP450 inhibition vs. induction; exponential decay over half-lives; reaching steady state with and without a loading dose) were generated by the course director using the AI tool Claude to illustrate standard, non-copyrighted pharmacologic concepts — original diagrams, not reproduced from Katzung or any other copyrighted source. </a:t>
            </a:r>
            <a:r>
              <a:rPr lang="en-US" sz="1800" b="1" dirty="0">
                <a:solidFill>
                  <a:srgbClr val="1F1F1F"/>
                </a:solidFill>
              </a:rPr>
              <a:t>Reference:</a:t>
            </a:r>
            <a:r>
              <a:rPr lang="en-US" sz="1800" dirty="0">
                <a:solidFill>
                  <a:srgbClr val="1F1F1F"/>
                </a:solidFill>
              </a:rPr>
              <a:t> Anthropic. (2026). Claude (Sonnet 5) [Large language model]. https://claude.ai</a:t>
            </a:r>
            <a:r>
              <a:rPr lang="en-US" sz="1300" dirty="0">
                <a:solidFill>
                  <a:srgbClr val="666666"/>
                </a:solidFill>
              </a:rPr>
              <a:t>  S49; S49 (notes)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ROADMAP</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Topics in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a:t>
            </a:r>
            <a:endParaRPr lang="en-US" sz="1000" dirty="0"/>
          </a:p>
        </p:txBody>
      </p:sp>
      <p:sp>
        <p:nvSpPr>
          <p:cNvPr id="6" name="Shape 4"/>
          <p:cNvSpPr/>
          <p:nvPr/>
        </p:nvSpPr>
        <p:spPr>
          <a:xfrm>
            <a:off x="548640" y="1325880"/>
            <a:ext cx="5364328" cy="914400"/>
          </a:xfrm>
          <a:prstGeom prst="roundRect">
            <a:avLst>
              <a:gd name="adj" fmla="val 10000"/>
            </a:avLst>
          </a:prstGeom>
          <a:solidFill>
            <a:srgbClr val="F2F4F7"/>
          </a:solidFill>
          <a:ln w="12700">
            <a:solidFill>
              <a:srgbClr val="F2F4F7"/>
            </a:solidFill>
            <a:prstDash val="solid"/>
          </a:ln>
        </p:spPr>
      </p:sp>
      <p:sp>
        <p:nvSpPr>
          <p:cNvPr id="7" name="Shape 5"/>
          <p:cNvSpPr/>
          <p:nvPr/>
        </p:nvSpPr>
        <p:spPr>
          <a:xfrm>
            <a:off x="731520" y="1554480"/>
            <a:ext cx="457200" cy="457200"/>
          </a:xfrm>
          <a:prstGeom prst="ellipse">
            <a:avLst/>
          </a:prstGeom>
          <a:solidFill>
            <a:srgbClr val="4472C4"/>
          </a:solidFill>
          <a:ln w="12700">
            <a:solidFill>
              <a:srgbClr val="4472C4"/>
            </a:solidFill>
            <a:prstDash val="solid"/>
          </a:ln>
        </p:spPr>
      </p:sp>
      <p:sp>
        <p:nvSpPr>
          <p:cNvPr id="8" name="Text 6"/>
          <p:cNvSpPr txBox="1"/>
          <p:nvPr/>
        </p:nvSpPr>
        <p:spPr>
          <a:xfrm>
            <a:off x="73152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9" name="Text 7"/>
          <p:cNvSpPr txBox="1"/>
          <p:nvPr/>
        </p:nvSpPr>
        <p:spPr>
          <a:xfrm>
            <a:off x="1371600"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Metabolism &amp; CYP450 Interactions</a:t>
            </a:r>
            <a:endParaRPr lang="en-US" sz="1800" dirty="0"/>
          </a:p>
          <a:p>
            <a:pPr indent="0" marL="0">
              <a:buNone/>
            </a:pPr>
            <a:r>
              <a:rPr lang="en-US" sz="1200" dirty="0">
                <a:solidFill>
                  <a:srgbClr val="666666"/>
                </a:solidFill>
              </a:rPr>
              <a:t>Objectives: SO1, IO1.2, IO1.4</a:t>
            </a:r>
            <a:endParaRPr lang="en-US" sz="1800" dirty="0"/>
          </a:p>
        </p:txBody>
      </p:sp>
      <p:sp>
        <p:nvSpPr>
          <p:cNvPr id="10" name="Shape 8"/>
          <p:cNvSpPr/>
          <p:nvPr/>
        </p:nvSpPr>
        <p:spPr>
          <a:xfrm>
            <a:off x="548640" y="2377440"/>
            <a:ext cx="5364328" cy="914400"/>
          </a:xfrm>
          <a:prstGeom prst="roundRect">
            <a:avLst>
              <a:gd name="adj" fmla="val 10000"/>
            </a:avLst>
          </a:prstGeom>
          <a:solidFill>
            <a:srgbClr val="F2F4F7"/>
          </a:solidFill>
          <a:ln w="12700">
            <a:solidFill>
              <a:srgbClr val="F2F4F7"/>
            </a:solidFill>
            <a:prstDash val="solid"/>
          </a:ln>
        </p:spPr>
      </p:sp>
      <p:sp>
        <p:nvSpPr>
          <p:cNvPr id="11" name="Shape 9"/>
          <p:cNvSpPr/>
          <p:nvPr/>
        </p:nvSpPr>
        <p:spPr>
          <a:xfrm>
            <a:off x="731520" y="2606040"/>
            <a:ext cx="457200" cy="457200"/>
          </a:xfrm>
          <a:prstGeom prst="ellipse">
            <a:avLst/>
          </a:prstGeom>
          <a:solidFill>
            <a:srgbClr val="4472C4"/>
          </a:solidFill>
          <a:ln w="12700">
            <a:solidFill>
              <a:srgbClr val="4472C4"/>
            </a:solidFill>
            <a:prstDash val="solid"/>
          </a:ln>
        </p:spPr>
      </p:sp>
      <p:sp>
        <p:nvSpPr>
          <p:cNvPr id="12" name="Text 10"/>
          <p:cNvSpPr txBox="1"/>
          <p:nvPr/>
        </p:nvSpPr>
        <p:spPr>
          <a:xfrm>
            <a:off x="731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1"/>
          <p:cNvSpPr txBox="1"/>
          <p:nvPr/>
        </p:nvSpPr>
        <p:spPr>
          <a:xfrm>
            <a:off x="1371600"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Excretion &amp; Renal Dosing</a:t>
            </a:r>
            <a:endParaRPr lang="en-US" sz="1800" dirty="0"/>
          </a:p>
          <a:p>
            <a:pPr indent="0" marL="0">
              <a:buNone/>
            </a:pPr>
            <a:r>
              <a:rPr lang="en-US" sz="1200" dirty="0">
                <a:solidFill>
                  <a:srgbClr val="666666"/>
                </a:solidFill>
              </a:rPr>
              <a:t>Objectives: SO2, IO1.2, IO1.3, IO1.5</a:t>
            </a:r>
            <a:endParaRPr lang="en-US" sz="1800" dirty="0"/>
          </a:p>
        </p:txBody>
      </p:sp>
      <p:sp>
        <p:nvSpPr>
          <p:cNvPr id="14" name="Shape 12"/>
          <p:cNvSpPr/>
          <p:nvPr/>
        </p:nvSpPr>
        <p:spPr>
          <a:xfrm>
            <a:off x="548640" y="3429000"/>
            <a:ext cx="5364328" cy="914400"/>
          </a:xfrm>
          <a:prstGeom prst="roundRect">
            <a:avLst>
              <a:gd name="adj" fmla="val 10000"/>
            </a:avLst>
          </a:prstGeom>
          <a:solidFill>
            <a:srgbClr val="F2F4F7"/>
          </a:solidFill>
          <a:ln w="12700">
            <a:solidFill>
              <a:srgbClr val="F2F4F7"/>
            </a:solidFill>
            <a:prstDash val="solid"/>
          </a:ln>
        </p:spPr>
      </p:sp>
      <p:sp>
        <p:nvSpPr>
          <p:cNvPr id="15" name="Shape 13"/>
          <p:cNvSpPr/>
          <p:nvPr/>
        </p:nvSpPr>
        <p:spPr>
          <a:xfrm>
            <a:off x="731520" y="3657600"/>
            <a:ext cx="457200" cy="457200"/>
          </a:xfrm>
          <a:prstGeom prst="ellipse">
            <a:avLst/>
          </a:prstGeom>
          <a:solidFill>
            <a:srgbClr val="4472C4"/>
          </a:solidFill>
          <a:ln w="12700">
            <a:solidFill>
              <a:srgbClr val="4472C4"/>
            </a:solidFill>
            <a:prstDash val="solid"/>
          </a:ln>
        </p:spPr>
      </p:sp>
      <p:sp>
        <p:nvSpPr>
          <p:cNvPr id="16" name="Text 14"/>
          <p:cNvSpPr txBox="1"/>
          <p:nvPr/>
        </p:nvSpPr>
        <p:spPr>
          <a:xfrm>
            <a:off x="73152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1371600" y="342900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PK Calculations: Half-Life, Steady State &amp; Clearance</a:t>
            </a:r>
            <a:endParaRPr lang="en-US" sz="1800" dirty="0"/>
          </a:p>
          <a:p>
            <a:pPr indent="0" marL="0">
              <a:buNone/>
            </a:pPr>
            <a:r>
              <a:rPr lang="en-US" sz="1200" dirty="0">
                <a:solidFill>
                  <a:srgbClr val="666666"/>
                </a:solidFill>
              </a:rPr>
              <a:t>Objectives: SO3, IO1.1, IO1.3</a:t>
            </a:r>
            <a:endParaRPr lang="en-US" sz="1800" dirty="0"/>
          </a:p>
        </p:txBody>
      </p:sp>
      <p:sp>
        <p:nvSpPr>
          <p:cNvPr id="18" name="Shape 16"/>
          <p:cNvSpPr/>
          <p:nvPr/>
        </p:nvSpPr>
        <p:spPr>
          <a:xfrm>
            <a:off x="6278728" y="1325880"/>
            <a:ext cx="5364328" cy="914400"/>
          </a:xfrm>
          <a:prstGeom prst="roundRect">
            <a:avLst>
              <a:gd name="adj" fmla="val 10000"/>
            </a:avLst>
          </a:prstGeom>
          <a:solidFill>
            <a:srgbClr val="F2F4F7"/>
          </a:solidFill>
          <a:ln w="12700">
            <a:solidFill>
              <a:srgbClr val="F2F4F7"/>
            </a:solidFill>
            <a:prstDash val="solid"/>
          </a:ln>
        </p:spPr>
      </p:sp>
      <p:sp>
        <p:nvSpPr>
          <p:cNvPr id="19" name="Shape 17"/>
          <p:cNvSpPr/>
          <p:nvPr/>
        </p:nvSpPr>
        <p:spPr>
          <a:xfrm>
            <a:off x="6461608" y="1554480"/>
            <a:ext cx="457200" cy="457200"/>
          </a:xfrm>
          <a:prstGeom prst="ellipse">
            <a:avLst/>
          </a:prstGeom>
          <a:solidFill>
            <a:srgbClr val="4472C4"/>
          </a:solidFill>
          <a:ln w="12700">
            <a:solidFill>
              <a:srgbClr val="4472C4"/>
            </a:solidFill>
            <a:prstDash val="solid"/>
          </a:ln>
        </p:spPr>
      </p:sp>
      <p:sp>
        <p:nvSpPr>
          <p:cNvPr id="20" name="Text 18"/>
          <p:cNvSpPr txBox="1"/>
          <p:nvPr/>
        </p:nvSpPr>
        <p:spPr>
          <a:xfrm>
            <a:off x="6461608"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101688"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Pharmacogenomics</a:t>
            </a:r>
            <a:endParaRPr lang="en-US" sz="1800" dirty="0"/>
          </a:p>
          <a:p>
            <a:pPr indent="0" marL="0">
              <a:buNone/>
            </a:pPr>
            <a:r>
              <a:rPr lang="en-US" sz="1200" dirty="0">
                <a:solidFill>
                  <a:srgbClr val="666666"/>
                </a:solidFill>
              </a:rPr>
              <a:t>Objectives: SO4, IO1.3, IO1.4</a:t>
            </a:r>
            <a:endParaRPr lang="en-US" sz="1800" dirty="0"/>
          </a:p>
        </p:txBody>
      </p:sp>
      <p:sp>
        <p:nvSpPr>
          <p:cNvPr id="22" name="Shape 20"/>
          <p:cNvSpPr/>
          <p:nvPr/>
        </p:nvSpPr>
        <p:spPr>
          <a:xfrm>
            <a:off x="6278728" y="2377440"/>
            <a:ext cx="5364328" cy="914400"/>
          </a:xfrm>
          <a:prstGeom prst="roundRect">
            <a:avLst>
              <a:gd name="adj" fmla="val 10000"/>
            </a:avLst>
          </a:prstGeom>
          <a:solidFill>
            <a:srgbClr val="F2F4F7"/>
          </a:solidFill>
          <a:ln w="12700">
            <a:solidFill>
              <a:srgbClr val="F2F4F7"/>
            </a:solidFill>
            <a:prstDash val="solid"/>
          </a:ln>
        </p:spPr>
      </p:sp>
      <p:sp>
        <p:nvSpPr>
          <p:cNvPr id="23" name="Shape 21"/>
          <p:cNvSpPr/>
          <p:nvPr/>
        </p:nvSpPr>
        <p:spPr>
          <a:xfrm>
            <a:off x="6461608" y="2606040"/>
            <a:ext cx="457200" cy="457200"/>
          </a:xfrm>
          <a:prstGeom prst="ellipse">
            <a:avLst/>
          </a:prstGeom>
          <a:solidFill>
            <a:srgbClr val="4472C4"/>
          </a:solidFill>
          <a:ln w="12700">
            <a:solidFill>
              <a:srgbClr val="4472C4"/>
            </a:solidFill>
            <a:prstDash val="solid"/>
          </a:ln>
        </p:spPr>
      </p:sp>
      <p:sp>
        <p:nvSpPr>
          <p:cNvPr id="24" name="Text 22"/>
          <p:cNvSpPr txBox="1"/>
          <p:nvPr/>
        </p:nvSpPr>
        <p:spPr>
          <a:xfrm>
            <a:off x="6461608"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5" name="Text 23"/>
          <p:cNvSpPr txBox="1"/>
          <p:nvPr/>
        </p:nvSpPr>
        <p:spPr>
          <a:xfrm>
            <a:off x="7101688"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Putting It All Together: Clinical Decision-Making</a:t>
            </a:r>
            <a:endParaRPr lang="en-US" sz="1800" dirty="0"/>
          </a:p>
          <a:p>
            <a:pPr indent="0" marL="0">
              <a:buNone/>
            </a:pPr>
            <a:r>
              <a:rPr lang="en-US" sz="1200" dirty="0">
                <a:solidFill>
                  <a:srgbClr val="666666"/>
                </a:solidFill>
              </a:rPr>
              <a:t>Objectives: SO5, IO1.3, IO1.4, IO1.5</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1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Metabolism &amp; CYP450 Interactions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SO1 · IO1.2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a:t>
            </a:r>
            <a:endParaRPr lang="en-US" sz="1000" dirty="0"/>
          </a:p>
        </p:txBody>
      </p:sp>
      <p:sp>
        <p:nvSpPr>
          <p:cNvPr id="7" name="Key definitions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metabolism = how the body chemically transforms drugs.</a:t>
            </a:r>
            <a:r>
              <a:rPr lang="en-US" sz="1300" dirty="0">
                <a:solidFill>
                  <a:srgbClr val="666666"/>
                </a:solidFill>
              </a:rPr>
              <a:t>  S3</a:t>
            </a:r>
            <a:endParaRPr lang="en-US" sz="1800" dirty="0"/>
          </a:p>
          <a:p>
            <a:pPr marL="228600" indent="-228600">
              <a:spcAft>
                <a:spcPts val="800"/>
              </a:spcAft>
              <a:buSzPct val="100000"/>
              <a:buChar char="•"/>
            </a:pPr>
            <a:r>
              <a:rPr lang="en-US" sz="1800" dirty="0">
                <a:solidFill>
                  <a:srgbClr val="1F1F1F"/>
                </a:solidFill>
              </a:rPr>
              <a:t>Phase I — Functionalization: oxidation, reduction, hydrolysis.</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II — Conjugation: glucuronidation, sulfation, acetylation, methylation, glutathione conjugation.</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Enzyme inhibition:</a:t>
            </a:r>
            <a:r>
              <a:rPr lang="en-US" sz="1800" dirty="0">
                <a:solidFill>
                  <a:srgbClr val="1F1F1F"/>
                </a:solidFill>
              </a:rPr>
              <a:t> a drug slows a CYP enzyme, raising the blood level of any drug that CYP normally clears.</a:t>
            </a:r>
            <a:r>
              <a:rPr lang="en-US" sz="1300" dirty="0">
                <a:solidFill>
                  <a:srgbClr val="666666"/>
                </a:solidFill>
              </a:rPr>
              <a:t>  S6; SG U1-R10</a:t>
            </a:r>
            <a:endParaRPr lang="en-US" sz="1800" dirty="0"/>
          </a:p>
          <a:p>
            <a:pPr marL="228600" indent="-228600">
              <a:spcAft>
                <a:spcPts val="800"/>
              </a:spcAft>
              <a:buSzPct val="100000"/>
              <a:buChar char="•"/>
            </a:pPr>
            <a:r>
              <a:rPr lang="en-US" sz="1800" b="1" dirty="0">
                <a:solidFill>
                  <a:srgbClr val="1F1F1F"/>
                </a:solidFill>
              </a:rPr>
              <a:t>Enzyme induction:</a:t>
            </a:r>
            <a:r>
              <a:rPr lang="en-US" sz="1800" dirty="0">
                <a:solidFill>
                  <a:srgbClr val="1F1F1F"/>
                </a:solidFill>
              </a:rPr>
              <a:t> a drug increases CYP enzyme production, lowering the blood level (and effect) of drugs that CYP clears.</a:t>
            </a:r>
            <a:r>
              <a:rPr lang="en-US" sz="1300" dirty="0">
                <a:solidFill>
                  <a:srgbClr val="666666"/>
                </a:solidFill>
              </a:rPr>
              <a:t>  S6; SG U1-R10</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a:t>
            </a:r>
            <a:endParaRPr lang="en-US" sz="1000" dirty="0"/>
          </a:p>
        </p:txBody>
      </p:sp>
      <p:sp>
        <p:nvSpPr>
          <p:cNvPr id="7" name="How it works (1/2)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metabolize? To inactivate an active drug, making it easier to excrete.</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activate a prodrug into its active form.</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produce an active metabolite that contributes to (or extends) the drug effect.</a:t>
            </a:r>
            <a:r>
              <a:rPr lang="en-US" sz="1300" dirty="0">
                <a:solidFill>
                  <a:srgbClr val="666666"/>
                </a:solidFill>
              </a:rPr>
              <a:t>  S4</a:t>
            </a:r>
            <a:endParaRPr lang="en-US" sz="1800" dirty="0"/>
          </a:p>
          <a:p>
            <a:pPr marL="228600" indent="-228600">
              <a:spcAft>
                <a:spcPts val="800"/>
              </a:spcAft>
              <a:buSzPct val="100000"/>
              <a:buChar char="•"/>
            </a:pPr>
            <a:r>
              <a:rPr lang="en-US" sz="1800" b="1" dirty="0">
                <a:solidFill>
                  <a:srgbClr val="1F1F1F"/>
                </a:solidFill>
              </a:rPr>
              <a:t>Occasionally to produce a toxic metabolite — the basis of some drug-induced organ injury.</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Phase I is primarily carried out by cytochrome P450 (CYP450) enzymes and often creates or unmasks a reactive functional group.</a:t>
            </a:r>
            <a:r>
              <a:rPr lang="en-US" sz="1300" dirty="0">
                <a:solidFill>
                  <a:srgbClr val="666666"/>
                </a:solidFill>
              </a:rPr>
              <a:t>  S5</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a:t>
            </a:r>
            <a:endParaRPr lang="en-US" sz="1000" dirty="0"/>
          </a:p>
        </p:txBody>
      </p:sp>
      <p:sp>
        <p:nvSpPr>
          <p:cNvPr id="7" name="How it works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II attaches a polar group to the molecule, producing a more water-soluble product for renal/biliary excretion.</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 often comes before Phase II, but not always — some drugs go straight to conjugation.</a:t>
            </a:r>
            <a:r>
              <a:rPr lang="en-US" sz="1300" dirty="0">
                <a:solidFill>
                  <a:srgbClr val="666666"/>
                </a:solidFill>
              </a:rPr>
              <a:t>  S5 (notes)</a:t>
            </a:r>
            <a:endParaRPr lang="en-US" sz="1800" dirty="0"/>
          </a:p>
          <a:p>
            <a:pPr marL="228600" indent="-228600">
              <a:spcAft>
                <a:spcPts val="800"/>
              </a:spcAft>
              <a:buSzPct val="100000"/>
              <a:buChar char="•"/>
            </a:pPr>
            <a:r>
              <a:rPr lang="en-US" sz="1800" dirty="0">
                <a:solidFill>
                  <a:srgbClr val="1F1F1F"/>
                </a:solidFill>
              </a:rPr>
              <a:t>Inhibition slows clearance (substrate level rises); induction speeds clearance (substrate level falls).</a:t>
            </a:r>
            <a:r>
              <a:rPr lang="en-US" sz="1300" dirty="0">
                <a:solidFill>
                  <a:srgbClr val="666666"/>
                </a:solidFill>
              </a:rPr>
              <a:t>  S6; SG U1-R10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CYP3A4 alone metabolizes over 50% of the prescription drugs metabolized by the liver.</a:t>
            </a:r>
            <a:r>
              <a:rPr lang="en-US" sz="1300" dirty="0">
                <a:solidFill>
                  <a:srgbClr val="666666"/>
                </a:solidFill>
              </a:rPr>
              <a:t>  p. 60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Acetaminophen is mostly conjugated (glucuronide/sulfate); in overdose glutathione is depleted and the toxic metabolite (NAPQI) injures the liver — </a:t>
            </a:r>
            <a:r>
              <a:rPr lang="en-US" sz="1800" b="1" dirty="0">
                <a:solidFill>
                  <a:srgbClr val="1F1F1F"/>
                </a:solidFill>
              </a:rPr>
              <a:t>N-acetylcysteine</a:t>
            </a:r>
            <a:r>
              <a:rPr lang="en-US" sz="1800" dirty="0">
                <a:solidFill>
                  <a:srgbClr val="1F1F1F"/>
                </a:solidFill>
              </a:rPr>
              <a:t> given within 8–16 hours protects against fulminant hepatotoxicity.</a:t>
            </a:r>
            <a:r>
              <a:rPr lang="en-US" sz="1300" dirty="0">
                <a:solidFill>
                  <a:srgbClr val="666666"/>
                </a:solidFill>
              </a:rPr>
              <a:t>  p. 66</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a:t>
            </a:r>
            <a:endParaRPr lang="en-US" sz="1000" dirty="0"/>
          </a:p>
        </p:txBody>
      </p:sp>
      <p:sp>
        <p:nvSpPr>
          <p:cNvPr id="7" name="Clinical relevance (1/2) card"/>
          <p:cNvSpPr/>
          <p:nvPr/>
        </p:nvSpPr>
        <p:spPr>
          <a:xfrm>
            <a:off x="548640" y="1325880"/>
            <a:ext cx="11094415" cy="3721608"/>
          </a:xfrm>
          <a:prstGeom prst="roundRect">
            <a:avLst>
              <a:gd name="adj" fmla="val 2948"/>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285292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CYP450 interactions are one of the highest-yield concepts in all of pharmacology — nearly every major drug class has at least one clinically important CYP interaction.</a:t>
            </a:r>
            <a:r>
              <a:rPr lang="en-US" sz="1300" dirty="0">
                <a:solidFill>
                  <a:srgbClr val="666666"/>
                </a:solidFill>
              </a:rPr>
              <a:t>  S6 (notes)</a:t>
            </a:r>
            <a:endParaRPr lang="en-US" sz="1800" dirty="0"/>
          </a:p>
          <a:p>
            <a:pPr marL="228600" indent="-228600">
              <a:spcAft>
                <a:spcPts val="800"/>
              </a:spcAft>
              <a:buSzPct val="100000"/>
              <a:buChar char="•"/>
            </a:pPr>
            <a:r>
              <a:rPr lang="en-US" sz="1800" b="1" dirty="0">
                <a:solidFill>
                  <a:srgbClr val="1F1F1F"/>
                </a:solidFill>
              </a:rPr>
              <a:t>Example: Drug A inhibits CYP3A4 → Drug B (a CYP3A4 substrate) accumulates → toxicity risk rises.</a:t>
            </a:r>
            <a:r>
              <a:rPr lang="en-US" sz="1300" dirty="0">
                <a:solidFill>
                  <a:srgbClr val="666666"/>
                </a:solidFill>
              </a:rPr>
              <a:t>  S6; SG U1-R10</a:t>
            </a:r>
            <a:endParaRPr lang="en-US" sz="1800" dirty="0"/>
          </a:p>
          <a:p>
            <a:pPr marL="228600" indent="-228600">
              <a:spcAft>
                <a:spcPts val="800"/>
              </a:spcAft>
              <a:buSzPct val="100000"/>
              <a:buChar char="•"/>
            </a:pPr>
            <a:r>
              <a:rPr lang="en-US" sz="1800" dirty="0">
                <a:solidFill>
                  <a:srgbClr val="1F1F1F"/>
                </a:solidFill>
              </a:rPr>
              <a:t>Inhibition pushes a substrate's level ABOVE 100% of baseline (toxicity risk); induction pushes it BELOW 100% (therapeutic-failure risk).</a:t>
            </a:r>
            <a:r>
              <a:rPr lang="en-US" sz="1300" dirty="0">
                <a:solidFill>
                  <a:srgbClr val="666666"/>
                </a:solidFill>
              </a:rPr>
              <a:t>  S7 (notes)</a:t>
            </a:r>
            <a:endParaRPr lang="en-US" sz="1800" dirty="0"/>
          </a:p>
          <a:p>
            <a:pPr marL="228600" indent="-228600">
              <a:spcAft>
                <a:spcPts val="800"/>
              </a:spcAft>
              <a:buSzPct val="100000"/>
              <a:buChar char="•"/>
            </a:pPr>
            <a:r>
              <a:rPr lang="en-US" sz="1800" dirty="0">
                <a:solidFill>
                  <a:srgbClr val="1F1F1F"/>
                </a:solidFill>
              </a:rPr>
              <a:t>Inhibiting the CYP that clears a substrate is especially dangerous when the substrate has a narrow therapeutic index.</a:t>
            </a:r>
            <a:r>
              <a:rPr lang="en-US" sz="1300" dirty="0">
                <a:solidFill>
                  <a:srgbClr val="666666"/>
                </a:solidFill>
              </a:rPr>
              <a:t>  S11</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13</a:t>
            </a:r>
            <a:endParaRPr lang="en-US" sz="1000" dirty="0"/>
          </a:p>
        </p:txBody>
      </p:sp>
      <p:sp>
        <p:nvSpPr>
          <p:cNvPr id="7" name="Clinical relevance (2/2) card"/>
          <p:cNvSpPr/>
          <p:nvPr/>
        </p:nvSpPr>
        <p:spPr>
          <a:xfrm>
            <a:off x="548640" y="1325880"/>
            <a:ext cx="11094415" cy="2496312"/>
          </a:xfrm>
          <a:prstGeom prst="roundRect">
            <a:avLst>
              <a:gd name="adj" fmla="val 4396"/>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162763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Enzyme induction speeds substrate clearance, lowering its level and effect — the opposite of inhibition.</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Liver disease (e.g., cirrhosis, hepatitis) slows metabolism of some drugs enough that ordinary doses can cause coma.</a:t>
            </a:r>
            <a:r>
              <a:rPr lang="en-US" sz="1300" dirty="0">
                <a:solidFill>
                  <a:srgbClr val="666666"/>
                </a:solidFill>
              </a:rPr>
              <a:t>  p. 73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Severe ADRs contribute to about 100,000 US deaths a year and about 7% of hospital admissions.</a:t>
            </a:r>
            <a:r>
              <a:rPr lang="en-US" sz="1300" dirty="0">
                <a:solidFill>
                  <a:srgbClr val="666666"/>
                </a:solidFill>
              </a:rPr>
              <a:t>  p. 71</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14</a:t>
            </a:r>
            <a:endParaRPr lang="en-US" sz="1000" dirty="0"/>
          </a:p>
        </p:txBody>
      </p:sp>
      <p:sp>
        <p:nvSpPr>
          <p:cNvPr id="7" name="Drugs named as examples card"/>
          <p:cNvSpPr/>
          <p:nvPr/>
        </p:nvSpPr>
        <p:spPr>
          <a:xfrm>
            <a:off x="548640" y="1325880"/>
            <a:ext cx="11094415" cy="3442716"/>
          </a:xfrm>
          <a:prstGeom prst="roundRect">
            <a:avLst>
              <a:gd name="adj" fmla="val 3187"/>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10637215" cy="257403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NAPQI (from acetaminophen) is the textbook example of a toxic metabolite produced by normal Phase I metabolism — previewing the acetaminophen toxicity lecture.</a:t>
            </a:r>
            <a:r>
              <a:rPr lang="en-US" sz="1300" dirty="0">
                <a:solidFill>
                  <a:srgbClr val="666666"/>
                </a:solidFill>
              </a:rPr>
              <a:t>  S4 (notes)</a:t>
            </a:r>
            <a:endParaRPr lang="en-US" sz="1800" dirty="0"/>
          </a:p>
          <a:p>
            <a:pPr marL="228600" indent="-228600">
              <a:spcAft>
                <a:spcPts val="800"/>
              </a:spcAft>
              <a:buSzPct val="100000"/>
              <a:buChar char="•"/>
            </a:pPr>
            <a:r>
              <a:rPr lang="en-US" sz="1800" dirty="0">
                <a:solidFill>
                  <a:srgbClr val="1F1F1F"/>
                </a:solidFill>
              </a:rPr>
              <a:t>CYP3A4 — the enzyme in the lecture's inhibitor/substrate example.</a:t>
            </a:r>
            <a:r>
              <a:rPr lang="en-US" sz="1300" dirty="0">
                <a:solidFill>
                  <a:srgbClr val="666666"/>
                </a:solidFill>
              </a:rPr>
              <a:t>  S6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Inducers:</a:t>
            </a:r>
            <a:r>
              <a:rPr lang="en-US" sz="1800" dirty="0">
                <a:solidFill>
                  <a:srgbClr val="1F1F1F"/>
                </a:solidFill>
              </a:rPr>
              <a:t> rifampin, carbamazepine, phenytoin, barbiturates, St. John's wort; </a:t>
            </a:r>
            <a:r>
              <a:rPr lang="en-US" sz="1800" b="1" dirty="0">
                <a:solidFill>
                  <a:srgbClr val="1F1F1F"/>
                </a:solidFill>
              </a:rPr>
              <a:t>inhibitors:</a:t>
            </a:r>
            <a:r>
              <a:rPr lang="en-US" sz="1800" dirty="0">
                <a:solidFill>
                  <a:srgbClr val="1F1F1F"/>
                </a:solidFill>
              </a:rPr>
              <a:t> ketoconazole, clarithromycin/erythromycin, ritonavir, grapefruit juice.</a:t>
            </a:r>
            <a:r>
              <a:rPr lang="en-US" sz="1300" dirty="0">
                <a:solidFill>
                  <a:srgbClr val="666666"/>
                </a:solidFill>
              </a:rPr>
              <a:t>  p. 63; p. 64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St. John's wort induces CYP3A4 and speeds metabolism of oral contraceptives, warfarin, cyclosporine, and others.</a:t>
            </a:r>
            <a:r>
              <a:rPr lang="en-US" sz="1300" dirty="0">
                <a:solidFill>
                  <a:srgbClr val="666666"/>
                </a:solidFill>
              </a:rPr>
              <a:t>  p. 72</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15</a:t>
            </a:r>
            <a:endParaRPr lang="en-US" sz="1000" dirty="0"/>
          </a:p>
        </p:txBody>
      </p:sp>
      <p:sp>
        <p:nvSpPr>
          <p:cNvPr id="7" name="Exam traps card"/>
          <p:cNvSpPr/>
          <p:nvPr/>
        </p:nvSpPr>
        <p:spPr>
          <a:xfrm>
            <a:off x="548640" y="1325880"/>
            <a:ext cx="11094415" cy="2496312"/>
          </a:xfrm>
          <a:prstGeom prst="roundRect">
            <a:avLst>
              <a:gd name="adj" fmla="val 439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62763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Inhibitor → substrate level UP (toxicity); inducer → substrate level DOWN (therapeutic failure). Don't swap them.</a:t>
            </a:r>
            <a:r>
              <a:rPr lang="en-US" sz="1300" dirty="0">
                <a:solidFill>
                  <a:srgbClr val="666666"/>
                </a:solidFill>
              </a:rPr>
              <a:t>  S7 (notes); S9</a:t>
            </a:r>
            <a:endParaRPr lang="en-US" sz="1800" dirty="0"/>
          </a:p>
          <a:p>
            <a:pPr marL="228600" indent="-228600">
              <a:spcAft>
                <a:spcPts val="800"/>
              </a:spcAft>
              <a:buSzPct val="100000"/>
              <a:buChar char="•"/>
            </a:pPr>
            <a:r>
              <a:rPr lang="en-US" sz="1800" dirty="0">
                <a:solidFill>
                  <a:srgbClr val="1F1F1F"/>
                </a:solidFill>
              </a:rPr>
              <a:t>CYP3A4 is a Phase I (CYP450) enzyme — it does not "only affect Phase II metabolism."</a:t>
            </a:r>
            <a:r>
              <a:rPr lang="en-US" sz="1300" dirty="0">
                <a:solidFill>
                  <a:srgbClr val="666666"/>
                </a:solidFill>
              </a:rPr>
              <a:t>  S5; S10-11</a:t>
            </a:r>
            <a:endParaRPr lang="en-US" sz="1800" dirty="0"/>
          </a:p>
          <a:p>
            <a:pPr marL="228600" indent="-228600">
              <a:spcAft>
                <a:spcPts val="800"/>
              </a:spcAft>
              <a:buSzPct val="100000"/>
              <a:buChar char="•"/>
            </a:pPr>
            <a:r>
              <a:rPr lang="en-US" sz="1800" dirty="0">
                <a:solidFill>
                  <a:srgbClr val="1F1F1F"/>
                </a:solidFill>
              </a:rPr>
              <a:t>Not every drug goes through Phase I first — some go straight to Phase II conjugation.</a:t>
            </a:r>
            <a:r>
              <a:rPr lang="en-US" sz="1300" dirty="0">
                <a:solidFill>
                  <a:srgbClr val="666666"/>
                </a:solidFill>
              </a:rPr>
              <a:t>  S5 (notes)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6 ·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16</a:t>
            </a:r>
            <a:endParaRPr lang="en-US" sz="1000" dirty="0"/>
          </a:p>
        </p:txBody>
      </p:sp>
      <p:pic>
        <p:nvPicPr>
          <p:cNvPr id="7" name="Figure S7_1.png" descr="/home/user/dpas-pharm/work/L02/figures/S7_1.png">    </p:cNvPr>
          <p:cNvPicPr>
            <a:picLocks noChangeAspect="1"/>
          </p:cNvPicPr>
          <p:nvPr/>
        </p:nvPicPr>
        <p:blipFill>
          <a:blip r:embed="rId1"/>
          <a:stretch>
            <a:fillRect/>
          </a:stretch>
        </p:blipFill>
        <p:spPr>
          <a:xfrm>
            <a:off x="2672436" y="1325880"/>
            <a:ext cx="6846824"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bar chart (illustrative values): a CYP450 inhibitor raises a substrate drug's blood level (to 240% of baseline — toxicity risk); an inducer lowers it (to 42% — therapeutic-failure risk).</a:t>
            </a:r>
            <a:r>
              <a:rPr lang="en-US" sz="1100" dirty="0">
                <a:solidFill>
                  <a:srgbClr val="666666"/>
                </a:solidFill>
              </a:rPr>
              <a:t>  S7; S7 (notes); S8</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Phase I vs. Phase II metabolism</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17</a:t>
            </a:r>
            <a:endParaRPr lang="en-US" sz="1000" dirty="0"/>
          </a:p>
        </p:txBody>
      </p:sp>
      <p:graphicFrame>
        <p:nvGraphicFramePr>
          <p:cNvPr id="1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 — Functionalization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II — Conjugation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Reactions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Oxidation, reduction, hydrolysis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Glucuronidation, sulfation, acetylation, methylation, glutathione conjugation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Main enzymes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Cytochrome P450 (CYP450)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What it does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Creates or unmasks a reactive functional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Attaches a polar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Result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More water-soluble product for renal/biliary excretion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Order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Often first — but not always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Some drugs go straight here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421436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S5; S5 (notes)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18</a:t>
            </a:r>
            <a:endParaRPr lang="en-US" sz="1000" dirty="0"/>
          </a:p>
        </p:txBody>
      </p:sp>
      <p:graphicFrame>
        <p:nvGraphicFramePr>
          <p:cNvPr id="1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inhibition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induction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What happens to the CYP enzyme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Slowed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More enzyme produced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Substrate drug's blood level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Rises</a:t>
                      </a:r>
                      <a:r>
                        <a:rPr lang="en-US" sz="1600" dirty="0">
                          <a:solidFill>
                            <a:srgbClr val="1F1F1F"/>
                          </a:solidFill>
                        </a:rPr>
                        <a:t> (Figure 6: 240%)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Falls</a:t>
                      </a:r>
                      <a:r>
                        <a:rPr lang="en-US" sz="1600" dirty="0">
                          <a:solidFill>
                            <a:srgbClr val="1F1F1F"/>
                          </a:solidFill>
                        </a:rPr>
                        <a:t> (Figure 6: 42%)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Clinical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Toxicity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Therapeutic failure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Worst case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Narrow-TI substrate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83844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S6; S7 (notes); S8-9; S11</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19</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an inhibitor cause toxicity? The CYP enzyme that normally clears the substrate is slowed, so the substrate can no longer be cleared normally and accumulates.</a:t>
            </a:r>
            <a:r>
              <a:rPr lang="en-US" sz="1300" dirty="0">
                <a:solidFill>
                  <a:srgbClr val="666666"/>
                </a:solidFill>
              </a:rPr>
              <a:t>  S6; S9</a:t>
            </a:r>
            <a:endParaRPr lang="en-US" sz="1800" dirty="0"/>
          </a:p>
        </p:txBody>
      </p:sp>
      <p:sp>
        <p:nvSpPr>
          <p:cNvPr id="12" name="Mnemonic (memory aid) card"/>
          <p:cNvSpPr/>
          <p:nvPr/>
        </p:nvSpPr>
        <p:spPr>
          <a:xfrm>
            <a:off x="548640" y="3831336"/>
            <a:ext cx="5364328" cy="1997964"/>
          </a:xfrm>
          <a:prstGeom prst="roundRect">
            <a:avLst>
              <a:gd name="adj" fmla="val 5492"/>
            </a:avLst>
          </a:prstGeom>
          <a:solidFill>
            <a:srgbClr val="F2F4F7"/>
          </a:solidFill>
          <a:ln w="12700">
            <a:solidFill>
              <a:srgbClr val="F2F4F7"/>
            </a:solidFill>
            <a:prstDash val="solid"/>
          </a:ln>
        </p:spPr>
      </p:sp>
      <p:sp>
        <p:nvSpPr>
          <p:cNvPr id="13" name="Mnemonic (memory aid) icon circle"/>
          <p:cNvSpPr/>
          <p:nvPr/>
        </p:nvSpPr>
        <p:spPr>
          <a:xfrm>
            <a:off x="777240" y="4014216"/>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114800"/>
            <a:ext cx="237744" cy="237744"/>
          </a:xfrm>
          <a:prstGeom prst="rect">
            <a:avLst/>
          </a:prstGeom>
        </p:spPr>
      </p:pic>
      <p:sp>
        <p:nvSpPr>
          <p:cNvPr id="15" name="Mnemonic (memory aid) heading"/>
          <p:cNvSpPr txBox="1"/>
          <p:nvPr/>
        </p:nvSpPr>
        <p:spPr>
          <a:xfrm>
            <a:off x="1353312"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a:t>
            </a:r>
            <a:r>
              <a:rPr lang="en-US" sz="1800" b="1" dirty="0">
                <a:solidFill>
                  <a:srgbClr val="1F1F1F"/>
                </a:solidFill>
              </a:rPr>
              <a:t>I</a:t>
            </a:r>
            <a:r>
              <a:rPr lang="en-US" sz="1800" dirty="0">
                <a:solidFill>
                  <a:srgbClr val="1F1F1F"/>
                </a:solidFill>
              </a:rPr>
              <a:t> = </a:t>
            </a:r>
            <a:r>
              <a:rPr lang="en-US" sz="1800" b="1" dirty="0">
                <a:solidFill>
                  <a:srgbClr val="1F1F1F"/>
                </a:solidFill>
              </a:rPr>
              <a:t>I</a:t>
            </a:r>
            <a:r>
              <a:rPr lang="en-US" sz="1800" dirty="0">
                <a:solidFill>
                  <a:srgbClr val="1F1F1F"/>
                </a:solidFill>
              </a:rPr>
              <a:t>nitial change (oxidize, reduce, hydrolyze — CYP450). Phase </a:t>
            </a:r>
            <a:r>
              <a:rPr lang="en-US" sz="1800" b="1" dirty="0">
                <a:solidFill>
                  <a:srgbClr val="1F1F1F"/>
                </a:solidFill>
              </a:rPr>
              <a:t>II</a:t>
            </a:r>
            <a:r>
              <a:rPr lang="en-US" sz="1800" dirty="0">
                <a:solidFill>
                  <a:srgbClr val="1F1F1F"/>
                </a:solidFill>
              </a:rPr>
              <a:t> = </a:t>
            </a:r>
            <a:r>
              <a:rPr lang="en-US" sz="1800" b="1" dirty="0">
                <a:solidFill>
                  <a:srgbClr val="1F1F1F"/>
                </a:solidFill>
              </a:rPr>
              <a:t>T</a:t>
            </a:r>
            <a:r>
              <a:rPr lang="en-US" sz="1800" dirty="0">
                <a:solidFill>
                  <a:srgbClr val="1F1F1F"/>
                </a:solidFill>
              </a:rPr>
              <a:t>ag it (conjugate a polar group → water-soluble).</a:t>
            </a:r>
            <a:r>
              <a:rPr lang="en-US" sz="1300" dirty="0">
                <a:solidFill>
                  <a:srgbClr val="666666"/>
                </a:solidFill>
              </a:rPr>
              <a:t>  S5</a:t>
            </a:r>
            <a:endParaRPr lang="en-US" sz="1800" dirty="0"/>
          </a:p>
        </p:txBody>
      </p:sp>
      <p:sp>
        <p:nvSpPr>
          <p:cNvPr id="17"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Phase II help excretion? Attaching a polar group makes the drug more water-soluble, so it can leave in urine or bile.</a:t>
            </a:r>
            <a:r>
              <a:rPr lang="en-US" sz="1300" dirty="0">
                <a:solidFill>
                  <a:srgbClr val="666666"/>
                </a:solidFill>
              </a:rPr>
              <a:t>  S5</a:t>
            </a:r>
            <a:endParaRPr lang="en-US" sz="1800" dirty="0"/>
          </a:p>
        </p:txBody>
      </p:sp>
      <p:sp>
        <p:nvSpPr>
          <p:cNvPr id="22"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3835908"/>
            <a:ext cx="237744" cy="237744"/>
          </a:xfrm>
          <a:prstGeom prst="rect">
            <a:avLst/>
          </a:prstGeom>
        </p:spPr>
      </p:pic>
      <p:sp>
        <p:nvSpPr>
          <p:cNvPr id="25"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IN</a:t>
            </a:r>
            <a:r>
              <a:rPr lang="en-US" sz="1800" dirty="0">
                <a:solidFill>
                  <a:srgbClr val="1F1F1F"/>
                </a:solidFill>
              </a:rPr>
              <a:t>hibitor = level goes </a:t>
            </a:r>
            <a:r>
              <a:rPr lang="en-US" sz="1800" b="1" dirty="0">
                <a:solidFill>
                  <a:srgbClr val="1F1F1F"/>
                </a:solidFill>
              </a:rPr>
              <a:t>IN</a:t>
            </a:r>
            <a:r>
              <a:rPr lang="en-US" sz="1800" dirty="0">
                <a:solidFill>
                  <a:srgbClr val="1F1F1F"/>
                </a:solidFill>
              </a:rPr>
              <a:t>to the danger zone (↑, toxicity). In</a:t>
            </a:r>
            <a:r>
              <a:rPr lang="en-US" sz="1800" b="1" dirty="0">
                <a:solidFill>
                  <a:srgbClr val="1F1F1F"/>
                </a:solidFill>
              </a:rPr>
              <a:t>DU</a:t>
            </a:r>
            <a:r>
              <a:rPr lang="en-US" sz="1800" dirty="0">
                <a:solidFill>
                  <a:srgbClr val="1F1F1F"/>
                </a:solidFill>
              </a:rPr>
              <a:t>cer = level goes </a:t>
            </a:r>
            <a:r>
              <a:rPr lang="en-US" sz="1800" b="1" dirty="0">
                <a:solidFill>
                  <a:srgbClr val="1F1F1F"/>
                </a:solidFill>
              </a:rPr>
              <a:t>D</a:t>
            </a:r>
            <a:r>
              <a:rPr lang="en-US" sz="1800" dirty="0">
                <a:solidFill>
                  <a:srgbClr val="1F1F1F"/>
                </a:solidFill>
              </a:rPr>
              <a:t>own (↓, failure).</a:t>
            </a:r>
            <a:r>
              <a:rPr lang="en-US" sz="1300" dirty="0">
                <a:solidFill>
                  <a:srgbClr val="666666"/>
                </a:solidFill>
              </a:rPr>
              <a:t>  S6; S7 (notes)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20</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 (CYP450): oxidation, reduction, hydrolysis. Phase II: conjugation → water-soluble.</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Inhibitor → substrate ↑ → toxicity</a:t>
            </a:r>
            <a:r>
              <a:rPr lang="en-US" sz="1800" dirty="0">
                <a:solidFill>
                  <a:srgbClr val="1F1F1F"/>
                </a:solidFill>
              </a:rPr>
              <a:t>; </a:t>
            </a:r>
            <a:r>
              <a:rPr lang="en-US" sz="1800" b="1" dirty="0">
                <a:solidFill>
                  <a:srgbClr val="1F1F1F"/>
                </a:solidFill>
              </a:rPr>
              <a:t>inducer → substrate ↓ → therapeutic failure</a:t>
            </a:r>
            <a:r>
              <a:rPr lang="en-US" sz="1800" dirty="0">
                <a:solidFill>
                  <a:srgbClr val="1F1F1F"/>
                </a:solidFill>
              </a:rPr>
              <a:t>.</a:t>
            </a:r>
            <a:r>
              <a:rPr lang="en-US" sz="1300" dirty="0">
                <a:solidFill>
                  <a:srgbClr val="666666"/>
                </a:solidFill>
              </a:rPr>
              <a:t>  S6; S7 (notes)</a:t>
            </a:r>
            <a:endParaRPr lang="en-US" sz="1800" dirty="0"/>
          </a:p>
          <a:p>
            <a:pPr marL="228600" indent="-228600">
              <a:spcAft>
                <a:spcPts val="800"/>
              </a:spcAft>
              <a:buSzPct val="100000"/>
              <a:buChar char="•"/>
            </a:pPr>
            <a:r>
              <a:rPr lang="en-US" sz="1800" dirty="0">
                <a:solidFill>
                  <a:srgbClr val="1F1F1F"/>
                </a:solidFill>
              </a:rPr>
              <a:t>Narrow-TI substrate + CYP inhibitor = especially dangerous.</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Metabolism can produce toxic metabolites (e.g., NAPQI).</a:t>
            </a:r>
            <a:r>
              <a:rPr lang="en-US" sz="1300" dirty="0">
                <a:solidFill>
                  <a:srgbClr val="666666"/>
                </a:solidFill>
              </a:rPr>
              <a:t>  S4; S4 (notes)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S8-9</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In Figure 6, the "+ Enzyme inhibitor" bar rises to 240% of baseline, while the "+ Enzyme inducer" bar falls to 42%. For a patient on a stable dose of the substrate drug, which condition poses the greatest risk of toxicity?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 because any CYP change doubles the toxicity risk</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inhibition, because it raises the substrate drug's blood level</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condition, because CYP changes do not alter drug levels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induction, because it lowers the substrate drug's blood level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Normal metabolism, because the substrate is cleared at baseline</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Enzyme inhibition, because it raises the substrate drug's blood level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inhibitor bar at 240% shows the substrate accumulating because it can no longer be cleared normally, raising toxicity risk (S9).</a:t>
            </a:r>
            <a:r>
              <a:rPr lang="en-US" sz="1100" dirty="0">
                <a:solidFill>
                  <a:srgbClr val="666666"/>
                </a:solidFill>
              </a:rPr>
              <a:t>  S7; S8-9</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Both equally, because any CYP change doubles the toxicity risk — </a:t>
            </a:r>
            <a:r>
              <a:rPr lang="en-US" sz="1600" dirty="0">
                <a:solidFill>
                  <a:srgbClr val="1F1F1F"/>
                </a:solidFill>
              </a:rPr>
              <a:t>Only inhibition raises the level; induction lowers it (S6, S9).</a:t>
            </a:r>
            <a:endParaRPr lang="en-US" sz="1600" dirty="0"/>
          </a:p>
          <a:p>
            <a:pPr indent="0" marL="0">
              <a:buNone/>
            </a:pPr>
            <a:r>
              <a:rPr lang="en-US" sz="1600" b="1" dirty="0">
                <a:solidFill>
                  <a:srgbClr val="1F1F1F"/>
                </a:solidFill>
              </a:rPr>
              <a:t>C. Neither condition, because CYP changes do not alter drug levels — </a:t>
            </a:r>
            <a:r>
              <a:rPr lang="en-US" sz="1600" dirty="0">
                <a:solidFill>
                  <a:srgbClr val="1F1F1F"/>
                </a:solidFill>
              </a:rPr>
              <a:t>Both conditions clearly change the substrate's level (S7).</a:t>
            </a:r>
            <a:endParaRPr lang="en-US" sz="1600" dirty="0"/>
          </a:p>
          <a:p>
            <a:pPr indent="0" marL="0">
              <a:buNone/>
            </a:pPr>
            <a:r>
              <a:rPr lang="en-US" sz="1600" b="1" dirty="0">
                <a:solidFill>
                  <a:srgbClr val="1F1F1F"/>
                </a:solidFill>
              </a:rPr>
              <a:t>D. Enzyme induction, because it lowers the substrate drug's blood level — </a:t>
            </a:r>
            <a:r>
              <a:rPr lang="en-US" sz="1600" dirty="0">
                <a:solidFill>
                  <a:srgbClr val="1F1F1F"/>
                </a:solidFill>
              </a:rPr>
              <a:t>The inducer bar (42%) shows the opposite problem — therapeutic failure, not toxicity (S9).</a:t>
            </a:r>
            <a:endParaRPr lang="en-US" sz="1600" dirty="0"/>
          </a:p>
          <a:p>
            <a:pPr indent="0" marL="0">
              <a:buNone/>
            </a:pPr>
            <a:r>
              <a:rPr lang="en-US" sz="1600" b="1" dirty="0">
                <a:solidFill>
                  <a:srgbClr val="1F1F1F"/>
                </a:solidFill>
              </a:rPr>
              <a:t>E. Normal metabolism, because the substrate is cleared at baseline — </a:t>
            </a:r>
            <a:r>
              <a:rPr lang="en-US" sz="1600" dirty="0">
                <a:solidFill>
                  <a:srgbClr val="1F1F1F"/>
                </a:solidFill>
              </a:rPr>
              <a:t>Baseline (100%) is the reference level, not the highest-risk state (S7-9).</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S10-11</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stable on a CYP3A4-substrate medication with a narrow therapeutic index is started on a new drug that is a strong CYP3A4 inhibitor. What is the most likely consequence?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drug level and reduced drug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since CYP3A4 only affects Phase II metabolism</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substrate drug level and increased toxicity risk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level from faster CYP3A4 clearance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renal clearance of the substrate drug overall</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substrate drug level and increased toxicity risk</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Inhibiting the CYP enzyme that clears the substrate slows its metabolism and raises its level — especially dangerous with a narrow therapeutic index (S11).</a:t>
            </a:r>
            <a:r>
              <a:rPr lang="en-US" sz="1100" dirty="0">
                <a:solidFill>
                  <a:srgbClr val="666666"/>
                </a:solidFill>
              </a:rPr>
              <a:t>  S10-11</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Decreased substrate drug level and reduced drug effect — </a:t>
            </a:r>
            <a:r>
              <a:rPr lang="en-US" sz="1600" dirty="0">
                <a:solidFill>
                  <a:srgbClr val="1F1F1F"/>
                </a:solidFill>
              </a:rPr>
              <a:t>That is the effect of an INDUCER, not an inhibitor (S6).</a:t>
            </a:r>
            <a:endParaRPr lang="en-US" sz="1600" dirty="0"/>
          </a:p>
          <a:p>
            <a:pPr indent="0" marL="0">
              <a:buNone/>
            </a:pPr>
            <a:r>
              <a:rPr lang="en-US" sz="1600" b="1" dirty="0">
                <a:solidFill>
                  <a:srgbClr val="1F1F1F"/>
                </a:solidFill>
              </a:rPr>
              <a:t>B. No change, since CYP3A4 only affects Phase II metabolism — </a:t>
            </a:r>
            <a:r>
              <a:rPr lang="en-US" sz="1600" dirty="0">
                <a:solidFill>
                  <a:srgbClr val="1F1F1F"/>
                </a:solidFill>
              </a:rPr>
              <a:t>CYP450 enzymes carry out Phase I metabolism (S5).</a:t>
            </a:r>
            <a:endParaRPr lang="en-US" sz="1600" dirty="0"/>
          </a:p>
          <a:p>
            <a:pPr indent="0" marL="0">
              <a:buNone/>
            </a:pPr>
            <a:r>
              <a:rPr lang="en-US" sz="1600" b="1" dirty="0">
                <a:solidFill>
                  <a:srgbClr val="1F1F1F"/>
                </a:solidFill>
              </a:rPr>
              <a:t>D. Decreased substrate level from faster CYP3A4 clearance — </a:t>
            </a:r>
            <a:r>
              <a:rPr lang="en-US" sz="1600" dirty="0">
                <a:solidFill>
                  <a:srgbClr val="1F1F1F"/>
                </a:solidFill>
              </a:rPr>
              <a:t>Faster clearance describes induction; an inhibitor slows clearance (S6).</a:t>
            </a:r>
            <a:endParaRPr lang="en-US" sz="1600" dirty="0"/>
          </a:p>
          <a:p>
            <a:pPr indent="0" marL="0">
              <a:buNone/>
            </a:pPr>
            <a:r>
              <a:rPr lang="en-US" sz="1600" b="1" dirty="0">
                <a:solidFill>
                  <a:srgbClr val="1F1F1F"/>
                </a:solidFill>
              </a:rPr>
              <a:t>E. Increased renal clearance of the substrate drug overall — </a:t>
            </a:r>
            <a:r>
              <a:rPr lang="en-US" sz="1600" dirty="0">
                <a:solidFill>
                  <a:srgbClr val="1F1F1F"/>
                </a:solidFill>
              </a:rPr>
              <a:t>A CYP inhibitor slows metabolic clearance; it doesn't raise renal clearance (S6, S11).</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Drug A, a CYP enzyme inducer, is started in a patient taking Drug B, a substrate of that same CYP enzyme. What happens to Drug B's level and effect?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level or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raising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Elimination changes to biliary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then quickly normalizes</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Decreases, risking therapeutic failure</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3: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Decreases, risking therapeutic failure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Enzyme induction speeds substrate clearance, lowering its level and effect — the opposite of inhibition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in level or effect — </a:t>
            </a:r>
            <a:r>
              <a:rPr lang="en-US" sz="1600" dirty="0">
                <a:solidFill>
                  <a:srgbClr val="1F1F1F"/>
                </a:solidFill>
              </a:rPr>
              <a:t>Induction lowers the level and effect of drugs that CYP clears (S6).</a:t>
            </a:r>
            <a:endParaRPr lang="en-US" sz="1600" dirty="0"/>
          </a:p>
          <a:p>
            <a:pPr indent="0" marL="0">
              <a:buNone/>
            </a:pPr>
            <a:r>
              <a:rPr lang="en-US" sz="1600" b="1" dirty="0">
                <a:solidFill>
                  <a:srgbClr val="1F1F1F"/>
                </a:solidFill>
              </a:rPr>
              <a:t>B. Increases, raising toxicity risk — </a:t>
            </a:r>
            <a:r>
              <a:rPr lang="en-US" sz="1600" dirty="0">
                <a:solidFill>
                  <a:srgbClr val="1F1F1F"/>
                </a:solidFill>
              </a:rPr>
              <a:t>Rising levels and toxicity follow an INHIBITOR (S6).</a:t>
            </a:r>
            <a:endParaRPr lang="en-US" sz="1600" dirty="0"/>
          </a:p>
          <a:p>
            <a:pPr indent="0" marL="0">
              <a:buNone/>
            </a:pPr>
            <a:r>
              <a:rPr lang="en-US" sz="1600" b="1" dirty="0">
                <a:solidFill>
                  <a:srgbClr val="1F1F1F"/>
                </a:solidFill>
              </a:rPr>
              <a:t>C. Elimination changes to biliary — </a:t>
            </a:r>
            <a:r>
              <a:rPr lang="en-US" sz="1600" dirty="0">
                <a:solidFill>
                  <a:srgbClr val="1F1F1F"/>
                </a:solidFill>
              </a:rPr>
              <a:t>Induction changes how fast the drug is cleared, not its route (S48).</a:t>
            </a:r>
            <a:endParaRPr lang="en-US" sz="1600" dirty="0"/>
          </a:p>
          <a:p>
            <a:pPr indent="0" marL="0">
              <a:buNone/>
            </a:pPr>
            <a:r>
              <a:rPr lang="en-US" sz="1600" b="1" dirty="0">
                <a:solidFill>
                  <a:srgbClr val="1F1F1F"/>
                </a:solidFill>
              </a:rPr>
              <a:t>D. Increases, then quickly normalizes — </a:t>
            </a:r>
            <a:r>
              <a:rPr lang="en-US" sz="1600" dirty="0">
                <a:solidFill>
                  <a:srgbClr val="1F1F1F"/>
                </a:solidFill>
              </a:rPr>
              <a:t>Induction lowers, not raises, the substrate level (S6, S48).</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undergoes glucuronidation, which attaches a polar group to the molecule. Which statement best describes this step?</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conjugation that makes the drug more water-soluble for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 oxidation that unmasks a reactive functional group on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CYP450-driven hydrolysis that always precedes any Phase II reaction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reaction that makes the drug more lipophilic and longer-acting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reduction reaction that converts a prodrug into its active form</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4: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A Phase II conjugation that makes the drug more water-soluble for excretion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Glucuronidation is a Phase II (conjugation) reaction that attaches a polar group, producing a more water-soluble product for renal/biliary excretion (S5).</a:t>
            </a:r>
            <a:r>
              <a:rPr lang="en-US" sz="1100" dirty="0">
                <a:solidFill>
                  <a:srgbClr val="666666"/>
                </a:solidFill>
              </a:rPr>
              <a:t>  S5</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A Phase I oxidation that unmasks a reactive functional group on the drug — </a:t>
            </a:r>
            <a:r>
              <a:rPr lang="en-US" sz="1600" dirty="0">
                <a:solidFill>
                  <a:srgbClr val="1F1F1F"/>
                </a:solidFill>
              </a:rPr>
              <a:t>Oxidation is Phase I; glucuronidation is Phase II conjugation (S5).</a:t>
            </a:r>
            <a:endParaRPr lang="en-US" sz="1600" dirty="0"/>
          </a:p>
          <a:p>
            <a:pPr indent="0" marL="0">
              <a:buNone/>
            </a:pPr>
            <a:r>
              <a:rPr lang="en-US" sz="1600" b="1" dirty="0">
                <a:solidFill>
                  <a:srgbClr val="1F1F1F"/>
                </a:solidFill>
              </a:rPr>
              <a:t>C. A CYP450-driven hydrolysis that always precedes any Phase II reaction — </a:t>
            </a:r>
            <a:r>
              <a:rPr lang="en-US" sz="1600" dirty="0">
                <a:solidFill>
                  <a:srgbClr val="1F1F1F"/>
                </a:solidFill>
              </a:rPr>
              <a:t>Hydrolysis is Phase I, and Phase I does not always come first (S5, S5 notes).</a:t>
            </a:r>
            <a:endParaRPr lang="en-US" sz="1600" dirty="0"/>
          </a:p>
          <a:p>
            <a:pPr indent="0" marL="0">
              <a:buNone/>
            </a:pPr>
            <a:r>
              <a:rPr lang="en-US" sz="1600" b="1" dirty="0">
                <a:solidFill>
                  <a:srgbClr val="1F1F1F"/>
                </a:solidFill>
              </a:rPr>
              <a:t>D. A Phase II reaction that makes the drug more lipophilic and longer-acting — </a:t>
            </a:r>
            <a:r>
              <a:rPr lang="en-US" sz="1600" dirty="0">
                <a:solidFill>
                  <a:srgbClr val="1F1F1F"/>
                </a:solidFill>
              </a:rPr>
              <a:t>Phase II produces a more water-soluble (polar) product (S5).</a:t>
            </a:r>
            <a:endParaRPr lang="en-US" sz="1600" dirty="0"/>
          </a:p>
          <a:p>
            <a:pPr indent="0" marL="0">
              <a:buNone/>
            </a:pPr>
            <a:r>
              <a:rPr lang="en-US" sz="1600" b="1" dirty="0">
                <a:solidFill>
                  <a:srgbClr val="1F1F1F"/>
                </a:solidFill>
              </a:rPr>
              <a:t>E. A reduction reaction that converts a prodrug into its active form — </a:t>
            </a:r>
            <a:r>
              <a:rPr lang="en-US" sz="1600" dirty="0">
                <a:solidFill>
                  <a:srgbClr val="1F1F1F"/>
                </a:solidFill>
              </a:rPr>
              <a:t>Reduction is a Phase I reaction (S5).</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19-year-old arrives 6 hours after a large intentional acetaminophen ingestion. Labs are pending. Which treatment best protects against fulminant liver injury?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Sodium bicarbonate to alkalinize the urine and speed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N-acetylcysteine, started within the 8–16 hour window</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Protamine to bind and neutralize the circulating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Rifampin to induce CYP enzymes and clear the drug faster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Waiting for levels before giving any treatment at all</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5: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N-acetylcysteine, started within the 8–16 hour window</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N-acetylcysteine given within 8–16 hours protects against acetaminophen hepatotoxicity by replacing depleted glutathione (p. 66).</a:t>
            </a:r>
            <a:r>
              <a:rPr lang="en-US" sz="1100" dirty="0">
                <a:solidFill>
                  <a:srgbClr val="666666"/>
                </a:solidFill>
              </a:rPr>
              <a:t>  p. 66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Sodium bicarbonate to alkalinize the urine and speed excretion — </a:t>
            </a:r>
            <a:r>
              <a:rPr lang="en-US" sz="1600" dirty="0">
                <a:solidFill>
                  <a:srgbClr val="1F1F1F"/>
                </a:solidFill>
              </a:rPr>
              <a:t>Urine alkalinization is used for aspirin overdose, a weak acid (p. 20).</a:t>
            </a:r>
            <a:endParaRPr lang="en-US" sz="1600" dirty="0"/>
          </a:p>
          <a:p>
            <a:pPr indent="0" marL="0">
              <a:buNone/>
            </a:pPr>
            <a:r>
              <a:rPr lang="en-US" sz="1600" b="1" dirty="0">
                <a:solidFill>
                  <a:srgbClr val="1F1F1F"/>
                </a:solidFill>
              </a:rPr>
              <a:t>C. Protamine to bind and neutralize the circulating drug — </a:t>
            </a:r>
            <a:r>
              <a:rPr lang="en-US" sz="1600" dirty="0">
                <a:solidFill>
                  <a:srgbClr val="1F1F1F"/>
                </a:solidFill>
              </a:rPr>
              <a:t>Protamine neutralizes heparin (p. 26), not acetaminophen.</a:t>
            </a:r>
            <a:endParaRPr lang="en-US" sz="1600" dirty="0"/>
          </a:p>
          <a:p>
            <a:pPr indent="0" marL="0">
              <a:buNone/>
            </a:pPr>
            <a:r>
              <a:rPr lang="en-US" sz="1600" b="1" dirty="0">
                <a:solidFill>
                  <a:srgbClr val="1F1F1F"/>
                </a:solidFill>
              </a:rPr>
              <a:t>D. Rifampin to induce CYP enzymes and clear the drug faster — </a:t>
            </a:r>
            <a:r>
              <a:rPr lang="en-US" sz="1600" dirty="0">
                <a:solidFill>
                  <a:srgbClr val="1F1F1F"/>
                </a:solidFill>
              </a:rPr>
              <a:t>Induction would increase toxic metabolite formation, not protect the liver (p. 66).</a:t>
            </a:r>
            <a:endParaRPr lang="en-US" sz="1600" dirty="0"/>
          </a:p>
          <a:p>
            <a:pPr indent="0" marL="0">
              <a:buNone/>
            </a:pPr>
            <a:r>
              <a:rPr lang="en-US" sz="1600" b="1" dirty="0">
                <a:solidFill>
                  <a:srgbClr val="1F1F1F"/>
                </a:solidFill>
              </a:rPr>
              <a:t>E. Waiting for levels before giving any treatment at all — </a:t>
            </a:r>
            <a:r>
              <a:rPr lang="en-US" sz="1600" dirty="0">
                <a:solidFill>
                  <a:srgbClr val="1F1F1F"/>
                </a:solidFill>
              </a:rPr>
              <a:t>The protective window is 8–16 hours, so delay risks liver failure (p. 66).</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2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Excretion &amp; Renal Dosing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SO2 · IO1.2 · IO1.3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 · 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32</a:t>
            </a:r>
            <a:endParaRPr lang="en-US" sz="1000" dirty="0"/>
          </a:p>
        </p:txBody>
      </p:sp>
      <p:sp>
        <p:nvSpPr>
          <p:cNvPr id="7" name="Key definitions card"/>
          <p:cNvSpPr/>
          <p:nvPr/>
        </p:nvSpPr>
        <p:spPr>
          <a:xfrm>
            <a:off x="548640" y="1325880"/>
            <a:ext cx="5410048" cy="4389120"/>
          </a:xfrm>
          <a:prstGeom prst="roundRect">
            <a:avLst>
              <a:gd name="adj" fmla="val 2500"/>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excretion = clearing drug from the body.</a:t>
            </a:r>
            <a:r>
              <a:rPr lang="en-US" sz="1300" dirty="0">
                <a:solidFill>
                  <a:srgbClr val="666666"/>
                </a:solidFill>
              </a:rPr>
              <a:t>  S12</a:t>
            </a:r>
            <a:endParaRPr lang="en-US" sz="1800" dirty="0"/>
          </a:p>
          <a:p>
            <a:pPr marL="228600" indent="-228600">
              <a:spcAft>
                <a:spcPts val="800"/>
              </a:spcAft>
              <a:buSzPct val="100000"/>
              <a:buChar char="•"/>
            </a:pPr>
            <a:r>
              <a:rPr lang="en-US" sz="1800" b="1" dirty="0">
                <a:solidFill>
                  <a:srgbClr val="1F1F1F"/>
                </a:solidFill>
              </a:rPr>
              <a:t>Glomerular filtration:</a:t>
            </a:r>
            <a:r>
              <a:rPr lang="en-US" sz="1800" dirty="0">
                <a:solidFill>
                  <a:srgbClr val="1F1F1F"/>
                </a:solidFill>
              </a:rPr>
              <a:t> free (unbound) drug passes from blood into the renal tubule based on molecular size.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secretion:</a:t>
            </a:r>
            <a:r>
              <a:rPr lang="en-US" sz="1800" dirty="0">
                <a:solidFill>
                  <a:srgbClr val="1F1F1F"/>
                </a:solidFill>
              </a:rPr>
              <a:t> active transporters move additional drug from blood into the tubule.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reabsorption:</a:t>
            </a:r>
            <a:r>
              <a:rPr lang="en-US" sz="1800" dirty="0">
                <a:solidFill>
                  <a:srgbClr val="1F1F1F"/>
                </a:solidFill>
              </a:rPr>
              <a:t> lipophilic, un-ionized drug can passively diffuse back into the blood, reducing net elimination.</a:t>
            </a:r>
            <a:r>
              <a:rPr lang="en-US" sz="1300" dirty="0">
                <a:solidFill>
                  <a:srgbClr val="666666"/>
                </a:solidFill>
              </a:rPr>
              <a:t>  S14</a:t>
            </a:r>
            <a:endParaRPr lang="en-US" sz="1800" dirty="0"/>
          </a:p>
        </p:txBody>
      </p:sp>
      <p:sp>
        <p:nvSpPr>
          <p:cNvPr id="12" name="How it works card"/>
          <p:cNvSpPr/>
          <p:nvPr/>
        </p:nvSpPr>
        <p:spPr>
          <a:xfrm>
            <a:off x="6233008" y="1325880"/>
            <a:ext cx="5410048" cy="4389120"/>
          </a:xfrm>
          <a:prstGeom prst="roundRect">
            <a:avLst>
              <a:gd name="adj" fmla="val 2500"/>
            </a:avLst>
          </a:prstGeom>
          <a:solidFill>
            <a:srgbClr val="F2F4F7"/>
          </a:solidFill>
          <a:ln w="12700">
            <a:solidFill>
              <a:srgbClr val="F2F4F7"/>
            </a:solidFill>
            <a:prstDash val="solid"/>
          </a:ln>
        </p:spPr>
      </p:sp>
      <p:sp>
        <p:nvSpPr>
          <p:cNvPr id="13" name="How it works icon circle"/>
          <p:cNvSpPr/>
          <p:nvPr/>
        </p:nvSpPr>
        <p:spPr>
          <a:xfrm>
            <a:off x="6461608" y="1508760"/>
            <a:ext cx="438912" cy="438912"/>
          </a:xfrm>
          <a:prstGeom prst="ellipse">
            <a:avLst/>
          </a:prstGeom>
          <a:solidFill>
            <a:srgbClr val="7030A0"/>
          </a:solidFill>
          <a:ln w="12700">
            <a:solidFill>
              <a:srgbClr val="7030A0"/>
            </a:solidFill>
            <a:prstDash val="solid"/>
          </a:ln>
        </p:spPr>
      </p:sp>
      <p:pic>
        <p:nvPicPr>
          <p:cNvPr id="14" name="How it work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How it work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6" name="How it works body"/>
          <p:cNvSpPr txBox="1"/>
          <p:nvPr/>
        </p:nvSpPr>
        <p:spPr>
          <a:xfrm>
            <a:off x="6461608"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the dominant route for most drugs and metabolites.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Bile / feces: important for some large or protein-bound drugs.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Lungs: volatile agents (e.g., anesthetic gases).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Sweat / breast milk: minor routes, but breast milk matters for lactating patients.</a:t>
            </a:r>
            <a:r>
              <a:rPr lang="en-US" sz="1300" dirty="0">
                <a:solidFill>
                  <a:srgbClr val="666666"/>
                </a:solidFill>
              </a:rPr>
              <a:t>  S13</a:t>
            </a:r>
            <a:endParaRPr lang="en-US" sz="1800" dirty="0"/>
          </a:p>
          <a:p>
            <a:pPr marL="228600" indent="-228600">
              <a:spcAft>
                <a:spcPts val="800"/>
              </a:spcAft>
              <a:buSzPct val="100000"/>
              <a:buChar char="•"/>
            </a:pPr>
            <a:r>
              <a:rPr lang="en-US" sz="1800" b="1" dirty="0">
                <a:solidFill>
                  <a:srgbClr val="1F1F1F"/>
                </a:solidFill>
              </a:rPr>
              <a:t>Decreased renal function → decreased drug clearance → increased drug exposure and accumulation risk.</a:t>
            </a:r>
            <a:r>
              <a:rPr lang="en-US" sz="1300" dirty="0">
                <a:solidFill>
                  <a:srgbClr val="666666"/>
                </a:solidFill>
              </a:rPr>
              <a:t>  S15</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33</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eGFR and creatinine clearance (CrCl) are the standard bedside estimates of renal function used to adjust dosing.</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Any renally-cleared, narrow-therapeutic-index drug (think: many antibiotics, digoxin, lithium) needs a dose or interval adjustment in renal impairment.</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For a primarily renally eliminated drug when eGFR drops: decrease the dose and/or extend the dosing interval, guided by eGFR/CrCl.</a:t>
            </a:r>
            <a:r>
              <a:rPr lang="en-US" sz="1300" dirty="0">
                <a:solidFill>
                  <a:srgbClr val="666666"/>
                </a:solidFill>
              </a:rPr>
              <a:t>  S16-17</a:t>
            </a:r>
            <a:endParaRPr lang="en-US" sz="1800" dirty="0"/>
          </a:p>
          <a:p>
            <a:pPr marL="228600" indent="-228600">
              <a:spcAft>
                <a:spcPts val="800"/>
              </a:spcAft>
              <a:buSzPct val="100000"/>
              <a:buChar char="•"/>
            </a:pPr>
            <a:r>
              <a:rPr lang="en-US" sz="1800" dirty="0">
                <a:solidFill>
                  <a:srgbClr val="1F1F1F"/>
                </a:solidFill>
              </a:rPr>
              <a:t>Urine pH manipulation (e.g., alkalinizing urine in aspirin overdose) works by trapping ionized drug in the tubule, blocking reabsorption.</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This is the PK foundation for the renal-impairment case and the NSAID-in-CKD case later.</a:t>
            </a:r>
            <a:r>
              <a:rPr lang="en-US" sz="1300" dirty="0">
                <a:solidFill>
                  <a:srgbClr val="666666"/>
                </a:solidFill>
              </a:rPr>
              <a:t>  S15 (notes)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34</a:t>
            </a:r>
            <a:endParaRPr lang="en-US" sz="1000" dirty="0"/>
          </a:p>
        </p:txBody>
      </p:sp>
      <p:sp>
        <p:nvSpPr>
          <p:cNvPr id="7" name="Drugs named as examples card"/>
          <p:cNvSpPr/>
          <p:nvPr/>
        </p:nvSpPr>
        <p:spPr>
          <a:xfrm>
            <a:off x="548640" y="1325880"/>
            <a:ext cx="5410048" cy="3332988"/>
          </a:xfrm>
          <a:prstGeom prst="roundRect">
            <a:avLst>
              <a:gd name="adj" fmla="val 3292"/>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Renally-cleared, narrow-TI drugs: many antibiotics, digoxin, lithium.</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Aspirin overdose — urine alkalinization traps ionized drug.</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Anesthetic gases — eliminated by the lungs.</a:t>
            </a:r>
            <a:r>
              <a:rPr lang="en-US" sz="1300" dirty="0">
                <a:solidFill>
                  <a:srgbClr val="666666"/>
                </a:solidFill>
              </a:rPr>
              <a:t>  S13</a:t>
            </a:r>
            <a:endParaRPr lang="en-US" sz="1800" dirty="0"/>
          </a:p>
        </p:txBody>
      </p:sp>
      <p:sp>
        <p:nvSpPr>
          <p:cNvPr id="12" name="Exam traps card"/>
          <p:cNvSpPr/>
          <p:nvPr/>
        </p:nvSpPr>
        <p:spPr>
          <a:xfrm>
            <a:off x="6233008" y="1325880"/>
            <a:ext cx="5410048" cy="3332988"/>
          </a:xfrm>
          <a:prstGeom prst="roundRect">
            <a:avLst>
              <a:gd name="adj" fmla="val 3292"/>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Only FREE (unbound) drug is filtered at the glomerulus.</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Reabsorption REDUCES net elimination — and only lipophilic, un-ionized drug is reabsorbed.</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Renal impairment → lower dose and/or longer interval — NOT "no adjustment," a higher dose, or "IV only."</a:t>
            </a:r>
            <a:r>
              <a:rPr lang="en-US" sz="1300" dirty="0">
                <a:solidFill>
                  <a:srgbClr val="666666"/>
                </a:solidFill>
              </a:rPr>
              <a:t>  S16-17</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Three renal processes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35</a:t>
            </a:r>
            <a:endParaRPr lang="en-US" sz="1000" dirty="0"/>
          </a:p>
        </p:txBody>
      </p:sp>
      <p:graphicFrame>
        <p:nvGraphicFramePr>
          <p:cNvPr id="36"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600" b="1" dirty="0">
                          <a:solidFill>
                            <a:srgbClr val="FFFFFF"/>
                          </a:solidFill>
                        </a:rPr>
                        <a:t>Process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Direction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How</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Which drug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Glomerular filtration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Based on molecular size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Free (unbound)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Tubular secretion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Active transporters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Additional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Tubular reabsorption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Tubule → blood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Passive diffusion — </a:t>
                      </a:r>
                      <a:r>
                        <a:rPr lang="en-US" sz="1600" b="1" dirty="0">
                          <a:solidFill>
                            <a:srgbClr val="1F1F1F"/>
                          </a:solidFill>
                        </a:rPr>
                        <a:t>reduces net elimination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Lipophilic, un-ionized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21462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S14</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Routes of drug elimination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36</a:t>
            </a:r>
            <a:endParaRPr lang="en-US" sz="1000" dirty="0"/>
          </a:p>
        </p:txBody>
      </p:sp>
      <p:graphicFrame>
        <p:nvGraphicFramePr>
          <p:cNvPr id="37"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Route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Importance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Example / who it matters for</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Kidney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Dominant</a:t>
                      </a:r>
                      <a:r>
                        <a:rPr lang="en-US" sz="1600" dirty="0">
                          <a:solidFill>
                            <a:srgbClr val="1F1F1F"/>
                          </a:solidFill>
                        </a:rPr>
                        <a:t> for most drugs and metabolites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Bile / feces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Important for some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 or protein-bound drugs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Lungs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Specific agents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Volatile agents (anesthetic gases)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Sweat / breast milk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Minor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Breast milk matters for lactating patients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S13</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37</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alkalinizing urine help in aspirin overdose? It keeps the drug ionized in the tubule, and only un-ionized drug can diffuse back — so reabsorption is blocked and more drug leaves.</a:t>
            </a:r>
            <a:r>
              <a:rPr lang="en-US" sz="1300" dirty="0">
                <a:solidFill>
                  <a:srgbClr val="666666"/>
                </a:solidFill>
              </a:rPr>
              <a:t>  S14; S14 (notes)</a:t>
            </a:r>
            <a:endParaRPr lang="en-US" sz="1800" dirty="0"/>
          </a:p>
        </p:txBody>
      </p:sp>
      <p:sp>
        <p:nvSpPr>
          <p:cNvPr id="12"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3"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4" name="Why it happens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6"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adjust doses in CKD? Less renal function → less clearance → more exposure and accumulation of renally-cleared drugs.</a:t>
            </a:r>
            <a:r>
              <a:rPr lang="en-US" sz="1300" dirty="0">
                <a:solidFill>
                  <a:srgbClr val="666666"/>
                </a:solidFill>
              </a:rPr>
              <a:t>  S15</a:t>
            </a:r>
            <a:endParaRPr lang="en-US" sz="1800" dirty="0"/>
          </a:p>
        </p:txBody>
      </p:sp>
      <p:sp>
        <p:nvSpPr>
          <p:cNvPr id="17"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18"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19" name="Mnemonic (memory aid) icon" descr="preencoded.png">    </p:cNvPr>
          <p:cNvPicPr>
            <a:picLocks noChangeAspect="1"/>
          </p:cNvPicPr>
          <p:nvPr/>
        </p:nvPicPr>
        <p:blipFill>
          <a:blip r:embed="rId3"/>
          <a:stretch>
            <a:fillRect/>
          </a:stretch>
        </p:blipFill>
        <p:spPr>
          <a:xfrm>
            <a:off x="6607912" y="3835908"/>
            <a:ext cx="237744" cy="237744"/>
          </a:xfrm>
          <a:prstGeom prst="rect">
            <a:avLst/>
          </a:prstGeom>
        </p:spPr>
      </p:pic>
      <p:sp>
        <p:nvSpPr>
          <p:cNvPr id="20"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1"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handling = "</a:t>
            </a:r>
            <a:r>
              <a:rPr lang="en-US" sz="1800" b="1" dirty="0">
                <a:solidFill>
                  <a:srgbClr val="1F1F1F"/>
                </a:solidFill>
              </a:rPr>
              <a:t>F</a:t>
            </a:r>
            <a:r>
              <a:rPr lang="en-US" sz="1800" dirty="0">
                <a:solidFill>
                  <a:srgbClr val="1F1F1F"/>
                </a:solidFill>
              </a:rPr>
              <a:t>ilter, </a:t>
            </a:r>
            <a:r>
              <a:rPr lang="en-US" sz="1800" b="1" dirty="0">
                <a:solidFill>
                  <a:srgbClr val="1F1F1F"/>
                </a:solidFill>
              </a:rPr>
              <a:t>S</a:t>
            </a:r>
            <a:r>
              <a:rPr lang="en-US" sz="1800" dirty="0">
                <a:solidFill>
                  <a:srgbClr val="1F1F1F"/>
                </a:solidFill>
              </a:rPr>
              <a:t>ecrete, </a:t>
            </a:r>
            <a:r>
              <a:rPr lang="en-US" sz="1800" b="1" dirty="0">
                <a:solidFill>
                  <a:srgbClr val="1F1F1F"/>
                </a:solidFill>
              </a:rPr>
              <a:t>R</a:t>
            </a:r>
            <a:r>
              <a:rPr lang="en-US" sz="1800" dirty="0">
                <a:solidFill>
                  <a:srgbClr val="1F1F1F"/>
                </a:solidFill>
              </a:rPr>
              <a:t>eabsorb" — </a:t>
            </a:r>
            <a:r>
              <a:rPr lang="en-US" sz="1800" b="1" dirty="0">
                <a:solidFill>
                  <a:srgbClr val="1F1F1F"/>
                </a:solidFill>
              </a:rPr>
              <a:t>F</a:t>
            </a:r>
            <a:r>
              <a:rPr lang="en-US" sz="1800" dirty="0">
                <a:solidFill>
                  <a:srgbClr val="1F1F1F"/>
                </a:solidFill>
              </a:rPr>
              <a:t>ree drug filtered, </a:t>
            </a:r>
            <a:r>
              <a:rPr lang="en-US" sz="1800" b="1" dirty="0">
                <a:solidFill>
                  <a:srgbClr val="1F1F1F"/>
                </a:solidFill>
              </a:rPr>
              <a:t>S</a:t>
            </a:r>
            <a:r>
              <a:rPr lang="en-US" sz="1800" dirty="0">
                <a:solidFill>
                  <a:srgbClr val="1F1F1F"/>
                </a:solidFill>
              </a:rPr>
              <a:t>ecreted by transporters, </a:t>
            </a:r>
            <a:r>
              <a:rPr lang="en-US" sz="1800" b="1" dirty="0">
                <a:solidFill>
                  <a:srgbClr val="1F1F1F"/>
                </a:solidFill>
              </a:rPr>
              <a:t>R</a:t>
            </a:r>
            <a:r>
              <a:rPr lang="en-US" sz="1800" dirty="0">
                <a:solidFill>
                  <a:srgbClr val="1F1F1F"/>
                </a:solidFill>
              </a:rPr>
              <a:t>eabsorbed if lipophilic &amp; un-ionized.</a:t>
            </a:r>
            <a:r>
              <a:rPr lang="en-US" sz="1300" dirty="0">
                <a:solidFill>
                  <a:srgbClr val="666666"/>
                </a:solidFill>
              </a:rPr>
              <a:t>  S14</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38</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 dominant elimination route; filtration (free drug), secretion (transporters), reabsorption (lipophilic, un-ionized).</a:t>
            </a:r>
            <a:r>
              <a:rPr lang="en-US" sz="1300" dirty="0">
                <a:solidFill>
                  <a:srgbClr val="666666"/>
                </a:solidFill>
              </a:rPr>
              <a:t>  S13; S14</a:t>
            </a:r>
            <a:endParaRPr lang="en-US" sz="1800" dirty="0"/>
          </a:p>
          <a:p>
            <a:pPr marL="228600" indent="-228600">
              <a:spcAft>
                <a:spcPts val="800"/>
              </a:spcAft>
              <a:buSzPct val="100000"/>
              <a:buChar char="•"/>
            </a:pPr>
            <a:r>
              <a:rPr lang="en-US" sz="1800" b="1" dirty="0">
                <a:solidFill>
                  <a:srgbClr val="1F1F1F"/>
                </a:solidFill>
              </a:rPr>
              <a:t>↓ renal function → ↓ clearance → ↑ exposure</a:t>
            </a:r>
            <a:r>
              <a:rPr lang="en-US" sz="1800" dirty="0">
                <a:solidFill>
                  <a:srgbClr val="1F1F1F"/>
                </a:solidFill>
              </a:rPr>
              <a:t> → lower dose and/or longer interval, guided by </a:t>
            </a:r>
            <a:r>
              <a:rPr lang="en-US" sz="1800" b="1" dirty="0">
                <a:solidFill>
                  <a:srgbClr val="1F1F1F"/>
                </a:solidFill>
              </a:rPr>
              <a:t>eGFR/CrCl</a:t>
            </a:r>
            <a:r>
              <a:rPr lang="en-US" sz="1800" dirty="0">
                <a:solidFill>
                  <a:srgbClr val="1F1F1F"/>
                </a:solidFill>
              </a:rPr>
              <a:t>.</a:t>
            </a:r>
            <a:r>
              <a:rPr lang="en-US" sz="1300" dirty="0">
                <a:solidFill>
                  <a:srgbClr val="666666"/>
                </a:solidFill>
              </a:rPr>
              <a:t>  S15; S17</a:t>
            </a:r>
            <a:endParaRPr lang="en-US" sz="1800" dirty="0"/>
          </a:p>
          <a:p>
            <a:pPr marL="228600" indent="-228600">
              <a:spcAft>
                <a:spcPts val="800"/>
              </a:spcAft>
              <a:buSzPct val="100000"/>
              <a:buChar char="•"/>
            </a:pPr>
            <a:r>
              <a:rPr lang="en-US" sz="1800" dirty="0">
                <a:solidFill>
                  <a:srgbClr val="1F1F1F"/>
                </a:solidFill>
              </a:rPr>
              <a:t>Renally cleared narrow-TI drugs: many antibiotics, digoxin, lithium.</a:t>
            </a:r>
            <a:r>
              <a:rPr lang="en-US" sz="1300" dirty="0">
                <a:solidFill>
                  <a:srgbClr val="666666"/>
                </a:solidFill>
              </a:rPr>
              <a:t>  S15</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S16-17</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patient's eGFR drops significantly due to new chronic kidney disease. For a drug that is primarily renally eliminated, what dosing adjustment is most appropriate?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to maintain the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dose or interval adjustment is needed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to every few hours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 the dose and/or extend the dosing interval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Switch to IV administration only for now</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6: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Decrease the dose and/or extend the dosing interval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exposure to renally-eliminated drugs; the standard response is a lower dose, a longer interval, or both, guided by eGFR/CrCl (S17).</a:t>
            </a:r>
            <a:r>
              <a:rPr lang="en-US" sz="1100" dirty="0">
                <a:solidFill>
                  <a:srgbClr val="666666"/>
                </a:solidFill>
              </a:rPr>
              <a:t>  S15; S16-17</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Increase the dose to maintain the effect — </a:t>
            </a:r>
            <a:r>
              <a:rPr lang="en-US" sz="1600" dirty="0">
                <a:solidFill>
                  <a:srgbClr val="1F1F1F"/>
                </a:solidFill>
              </a:rPr>
              <a:t>Exposure is already increased; a higher dose would worsen accumulation (S15).</a:t>
            </a:r>
            <a:endParaRPr lang="en-US" sz="1600" dirty="0"/>
          </a:p>
          <a:p>
            <a:pPr indent="0" marL="0">
              <a:buNone/>
            </a:pPr>
            <a:r>
              <a:rPr lang="en-US" sz="1600" b="1" dirty="0">
                <a:solidFill>
                  <a:srgbClr val="1F1F1F"/>
                </a:solidFill>
              </a:rPr>
              <a:t>B. No dose or interval adjustment is needed — </a:t>
            </a:r>
            <a:r>
              <a:rPr lang="en-US" sz="1600" dirty="0">
                <a:solidFill>
                  <a:srgbClr val="1F1F1F"/>
                </a:solidFill>
              </a:rPr>
              <a:t>Decreased renal function raises exposure and accumulation risk (S15).</a:t>
            </a:r>
            <a:endParaRPr lang="en-US" sz="1600" dirty="0"/>
          </a:p>
          <a:p>
            <a:pPr indent="0" marL="0">
              <a:buNone/>
            </a:pPr>
            <a:r>
              <a:rPr lang="en-US" sz="1600" b="1" dirty="0">
                <a:solidFill>
                  <a:srgbClr val="1F1F1F"/>
                </a:solidFill>
              </a:rPr>
              <a:t>C. Shorten the dosing interval to every few hours — </a:t>
            </a:r>
            <a:r>
              <a:rPr lang="en-US" sz="1600" dirty="0">
                <a:solidFill>
                  <a:srgbClr val="1F1F1F"/>
                </a:solidFill>
              </a:rPr>
              <a:t>Intervals should be EXTENDED, not shortened, in renal impairment (S17).</a:t>
            </a:r>
            <a:endParaRPr lang="en-US" sz="1600" dirty="0"/>
          </a:p>
          <a:p>
            <a:pPr indent="0" marL="0">
              <a:buNone/>
            </a:pPr>
            <a:r>
              <a:rPr lang="en-US" sz="1600" b="1" dirty="0">
                <a:solidFill>
                  <a:srgbClr val="1F1F1F"/>
                </a:solidFill>
              </a:rPr>
              <a:t>E. Switch to IV administration only for now — </a:t>
            </a:r>
            <a:r>
              <a:rPr lang="en-US" sz="1600" dirty="0">
                <a:solidFill>
                  <a:srgbClr val="1F1F1F"/>
                </a:solidFill>
              </a:rPr>
              <a:t>Route doesn't fix reduced renal clearance; adjust dose/interval (S17).</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arrives after an aspirin overdose, and the team alkalinizes the urine. How does this increase elimination of the drug?</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traps ionized drug in the tubule, blocking its reabsorption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activates tubular transporters that secrete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shifts elimination from the kidney to bile and feces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increases glomerular filtration of protein-bound drug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makes the drug more lipophilic so it is reabsorbed</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7: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traps ionized drug in the tubule, blocking its reabsorption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Urine pH manipulation works by trapping ionized drug in the tubule, blocking reabsorption (S14 notes); only lipophilic, un-ionized drug is reabsorbed (S14).</a:t>
            </a:r>
            <a:r>
              <a:rPr lang="en-US" sz="1100" dirty="0">
                <a:solidFill>
                  <a:srgbClr val="666666"/>
                </a:solidFill>
              </a:rPr>
              <a:t>  S14; S14 (notes)</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activates tubular transporters that secrete the drug — </a:t>
            </a:r>
            <a:r>
              <a:rPr lang="en-US" sz="1600" dirty="0">
                <a:solidFill>
                  <a:srgbClr val="1F1F1F"/>
                </a:solidFill>
              </a:rPr>
              <a:t>Secretion uses active transporters (S14), but urine pH works by blocking reabsorption (S14 notes).</a:t>
            </a:r>
            <a:endParaRPr lang="en-US" sz="1600" dirty="0"/>
          </a:p>
          <a:p>
            <a:pPr indent="0" marL="0">
              <a:buNone/>
            </a:pPr>
            <a:r>
              <a:rPr lang="en-US" sz="1600" b="1" dirty="0">
                <a:solidFill>
                  <a:srgbClr val="1F1F1F"/>
                </a:solidFill>
              </a:rPr>
              <a:t>C. It shifts elimination from the kidney to bile and feces — </a:t>
            </a:r>
            <a:r>
              <a:rPr lang="en-US" sz="1600" dirty="0">
                <a:solidFill>
                  <a:srgbClr val="1F1F1F"/>
                </a:solidFill>
              </a:rPr>
              <a:t>The mechanism acts in the renal tubule (S14 notes).</a:t>
            </a:r>
            <a:endParaRPr lang="en-US" sz="1600" dirty="0"/>
          </a:p>
          <a:p>
            <a:pPr indent="0" marL="0">
              <a:buNone/>
            </a:pPr>
            <a:r>
              <a:rPr lang="en-US" sz="1600" b="1" dirty="0">
                <a:solidFill>
                  <a:srgbClr val="1F1F1F"/>
                </a:solidFill>
              </a:rPr>
              <a:t>D. It increases glomerular filtration of protein-bound drug — </a:t>
            </a:r>
            <a:r>
              <a:rPr lang="en-US" sz="1600" dirty="0">
                <a:solidFill>
                  <a:srgbClr val="1F1F1F"/>
                </a:solidFill>
              </a:rPr>
              <a:t>Only free (unbound) drug is filtered (S14).</a:t>
            </a:r>
            <a:endParaRPr lang="en-US" sz="1600" dirty="0"/>
          </a:p>
          <a:p>
            <a:pPr indent="0" marL="0">
              <a:buNone/>
            </a:pPr>
            <a:r>
              <a:rPr lang="en-US" sz="1600" b="1" dirty="0">
                <a:solidFill>
                  <a:srgbClr val="1F1F1F"/>
                </a:solidFill>
              </a:rPr>
              <a:t>E. It makes the drug more lipophilic so it is reabsorbed — </a:t>
            </a:r>
            <a:r>
              <a:rPr lang="en-US" sz="1600" dirty="0">
                <a:solidFill>
                  <a:srgbClr val="1F1F1F"/>
                </a:solidFill>
              </a:rPr>
              <a:t>Lipophilic, un-ionized drug is reabsorbed — the opposite of the goal (S14).</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43</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renal process REDUCES the net elimination of a drug?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Excretion of volatile agents by the lungs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Filtration of drug based on molecular size</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Glomerular filtration of free, unbound drug</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Passive reabsorption of lipophilic, un-ionized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Tubular secretion by active transporters</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8: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Passive reabsorption of lipophilic, un-ionized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Tubular reabsorption: lipophilic, un-ionized drug passively diffuses back into the blood, reducing net elimination (S14).</a:t>
            </a:r>
            <a:r>
              <a:rPr lang="en-US" sz="1100" dirty="0">
                <a:solidFill>
                  <a:srgbClr val="666666"/>
                </a:solidFill>
              </a:rPr>
              <a:t>  S14</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Excretion of volatile agents by the lungs — </a:t>
            </a:r>
            <a:r>
              <a:rPr lang="en-US" sz="1600" dirty="0">
                <a:solidFill>
                  <a:srgbClr val="1F1F1F"/>
                </a:solidFill>
              </a:rPr>
              <a:t>Lung elimination removes volatile agents; it's not a renal process (S13).</a:t>
            </a:r>
            <a:endParaRPr lang="en-US" sz="1600" dirty="0"/>
          </a:p>
          <a:p>
            <a:pPr indent="0" marL="0">
              <a:buNone/>
            </a:pPr>
            <a:r>
              <a:rPr lang="en-US" sz="1600" b="1" dirty="0">
                <a:solidFill>
                  <a:srgbClr val="1F1F1F"/>
                </a:solidFill>
              </a:rPr>
              <a:t>B. Filtration of drug based on molecular size — </a:t>
            </a:r>
            <a:r>
              <a:rPr lang="en-US" sz="1600" dirty="0">
                <a:solidFill>
                  <a:srgbClr val="1F1F1F"/>
                </a:solidFill>
              </a:rPr>
              <a:t>This is glomerular filtration, which adds drug to the tubule (S14).</a:t>
            </a:r>
            <a:endParaRPr lang="en-US" sz="1600" dirty="0"/>
          </a:p>
          <a:p>
            <a:pPr indent="0" marL="0">
              <a:buNone/>
            </a:pPr>
            <a:r>
              <a:rPr lang="en-US" sz="1600" b="1" dirty="0">
                <a:solidFill>
                  <a:srgbClr val="1F1F1F"/>
                </a:solidFill>
              </a:rPr>
              <a:t>C. Glomerular filtration of free, unbound drug — </a:t>
            </a:r>
            <a:r>
              <a:rPr lang="en-US" sz="1600" dirty="0">
                <a:solidFill>
                  <a:srgbClr val="1F1F1F"/>
                </a:solidFill>
              </a:rPr>
              <a:t>Filtration moves drug INTO the tubule (S14).</a:t>
            </a:r>
            <a:endParaRPr lang="en-US" sz="1600" dirty="0"/>
          </a:p>
          <a:p>
            <a:pPr indent="0" marL="0">
              <a:buNone/>
            </a:pPr>
            <a:r>
              <a:rPr lang="en-US" sz="1600" b="1" dirty="0">
                <a:solidFill>
                  <a:srgbClr val="1F1F1F"/>
                </a:solidFill>
              </a:rPr>
              <a:t>E. Tubular secretion by active transporters — </a:t>
            </a:r>
            <a:r>
              <a:rPr lang="en-US" sz="1600" dirty="0">
                <a:solidFill>
                  <a:srgbClr val="1F1F1F"/>
                </a:solidFill>
              </a:rPr>
              <a:t>Secretion moves additional drug INTO the tubule (S14).</a:t>
            </a:r>
            <a:endParaRPr lang="en-US" sz="16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3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PK Calculations: Half-Life, Steady State &amp; Clearance</a:t>
            </a:r>
            <a:endParaRPr lang="en-US" sz="41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SO3 · IO1.1 · IO1.3</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46</a:t>
            </a:r>
            <a:endParaRPr lang="en-US" sz="1000" dirty="0"/>
          </a:p>
        </p:txBody>
      </p:sp>
      <p:sp>
        <p:nvSpPr>
          <p:cNvPr id="7" name="Key definitions card"/>
          <p:cNvSpPr/>
          <p:nvPr/>
        </p:nvSpPr>
        <p:spPr>
          <a:xfrm>
            <a:off x="548640" y="1325880"/>
            <a:ext cx="11094415" cy="4887468"/>
          </a:xfrm>
          <a:prstGeom prst="roundRect">
            <a:avLst>
              <a:gd name="adj" fmla="val 224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401878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Half-life (t½) = the time required for the plasma drug concentration to fall by 50%.</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Steady state:</a:t>
            </a:r>
            <a:r>
              <a:rPr lang="en-US" sz="1800" dirty="0">
                <a:solidFill>
                  <a:srgbClr val="1F1F1F"/>
                </a:solidFill>
              </a:rPr>
              <a:t> the point at which drug intake equals drug elimination; reached in about 4–5 half-lives with regular dosing.</a:t>
            </a:r>
            <a:r>
              <a:rPr lang="en-US" sz="1300" dirty="0">
                <a:solidFill>
                  <a:srgbClr val="666666"/>
                </a:solidFill>
              </a:rPr>
              <a:t>  S23; SG U1-R11</a:t>
            </a:r>
            <a:endParaRPr lang="en-US" sz="1800" dirty="0"/>
          </a:p>
          <a:p>
            <a:pPr marL="228600" indent="-228600">
              <a:spcAft>
                <a:spcPts val="800"/>
              </a:spcAft>
              <a:buSzPct val="100000"/>
              <a:buChar char="•"/>
            </a:pPr>
            <a:r>
              <a:rPr lang="en-US" sz="1800" b="1" dirty="0">
                <a:solidFill>
                  <a:srgbClr val="1F1F1F"/>
                </a:solidFill>
              </a:rPr>
              <a:t>Loading dose:</a:t>
            </a:r>
            <a:r>
              <a:rPr lang="en-US" sz="1800" dirty="0">
                <a:solidFill>
                  <a:srgbClr val="1F1F1F"/>
                </a:solidFill>
              </a:rPr>
              <a:t> a larger initial dose used to rapidly reach a therapeutic concentration, without waiting for steady state.</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Maintenance dose:</a:t>
            </a:r>
            <a:r>
              <a:rPr lang="en-US" sz="1800" dirty="0">
                <a:solidFill>
                  <a:srgbClr val="1F1F1F"/>
                </a:solidFill>
              </a:rPr>
              <a:t> the regular, ongoing dose that keeps the drug within the therapeutic range once steady state is reached.</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Clearance = the volume of plasma from which drug is completely removed per unit time.</a:t>
            </a:r>
            <a:r>
              <a:rPr lang="en-US" sz="1300" dirty="0">
                <a:solidFill>
                  <a:srgbClr val="666666"/>
                </a:solidFill>
              </a:rPr>
              <a:t>  S27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t½ = 0.7 × Vd / CL</a:t>
            </a:r>
            <a:r>
              <a:rPr lang="en-US" sz="1800" dirty="0">
                <a:solidFill>
                  <a:srgbClr val="1F1F1F"/>
                </a:solidFill>
              </a:rPr>
              <a:t> — half-life rises when Vd rises or clearance falls.</a:t>
            </a:r>
            <a:r>
              <a:rPr lang="en-US" sz="1300" dirty="0">
                <a:solidFill>
                  <a:srgbClr val="666666"/>
                </a:solidFill>
              </a:rPr>
              <a:t>  p. 56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Loading dose = Vd × target concentration</a:t>
            </a:r>
            <a:r>
              <a:rPr lang="en-US" sz="1800" dirty="0">
                <a:solidFill>
                  <a:srgbClr val="1F1F1F"/>
                </a:solidFill>
              </a:rPr>
              <a:t> (e.g., theophylline: 35 L × 10 mg/L = 350 mg for a 70-kg adult).</a:t>
            </a:r>
            <a:r>
              <a:rPr lang="en-US" sz="1300" dirty="0">
                <a:solidFill>
                  <a:srgbClr val="666666"/>
                </a:solidFill>
              </a:rPr>
              <a:t>  p. 52</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47</a:t>
            </a:r>
            <a:endParaRPr lang="en-US" sz="1000" dirty="0"/>
          </a:p>
        </p:txBody>
      </p:sp>
      <p:sp>
        <p:nvSpPr>
          <p:cNvPr id="7" name="How it works (1/2) card"/>
          <p:cNvSpPr/>
          <p:nvPr/>
        </p:nvSpPr>
        <p:spPr>
          <a:xfrm>
            <a:off x="548640" y="1325880"/>
            <a:ext cx="11094415" cy="4329684"/>
          </a:xfrm>
          <a:prstGeom prst="roundRect">
            <a:avLst>
              <a:gd name="adj" fmla="val 2534"/>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34610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PK calculations = the math PAs actually use at the bedside.</a:t>
            </a:r>
            <a:r>
              <a:rPr lang="en-US" sz="1300" dirty="0">
                <a:solidFill>
                  <a:srgbClr val="666666"/>
                </a:solidFill>
              </a:rPr>
              <a:t>  S18</a:t>
            </a:r>
            <a:endParaRPr lang="en-US" sz="1800" dirty="0"/>
          </a:p>
          <a:p>
            <a:pPr marL="228600" indent="-228600">
              <a:spcAft>
                <a:spcPts val="800"/>
              </a:spcAft>
              <a:buSzPct val="100000"/>
              <a:buChar char="•"/>
            </a:pPr>
            <a:r>
              <a:rPr lang="en-US" sz="1800" dirty="0">
                <a:solidFill>
                  <a:srgbClr val="1F1F1F"/>
                </a:solidFill>
              </a:rPr>
              <a:t>Half-life is determined by clearance and volume of distribution together — it is not a fixed drug "property" independent of physiology.</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A drug is roughly 97% eliminated after about 5 half-lives.</a:t>
            </a:r>
            <a:r>
              <a:rPr lang="en-US" sz="1300" dirty="0">
                <a:solidFill>
                  <a:srgbClr val="666666"/>
                </a:solidFill>
              </a:rPr>
              <a:t>  S19; SG U1-R11</a:t>
            </a:r>
            <a:endParaRPr lang="en-US" sz="1800" dirty="0"/>
          </a:p>
          <a:p>
            <a:pPr marL="228600" indent="-228600">
              <a:spcAft>
                <a:spcPts val="800"/>
              </a:spcAft>
              <a:buSzPct val="100000"/>
              <a:buChar char="•"/>
            </a:pPr>
            <a:r>
              <a:rPr lang="en-US" sz="1800" b="1" dirty="0">
                <a:solidFill>
                  <a:srgbClr val="1F1F1F"/>
                </a:solidFill>
              </a:rPr>
              <a:t>Formula: % remaining = 100% x (1/2)^(number of half-life)</a:t>
            </a:r>
            <a:r>
              <a:rPr lang="en-US" sz="1800" dirty="0">
                <a:solidFill>
                  <a:srgbClr val="1F1F1F"/>
                </a:solidFill>
              </a:rPr>
              <a:t> — i.e., per number of half-lives elapsed.</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Formula: C(t) = C₀ x (1/2)^(t/t½)</a:t>
            </a:r>
            <a:r>
              <a:rPr lang="en-US" sz="1800" dirty="0">
                <a:solidFill>
                  <a:srgbClr val="1F1F1F"/>
                </a:solidFill>
              </a:rPr>
              <a:t> — C₀ = starting concentration, t = time elapsed.</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Worked example (both formulas): t½ = 6 h; an IV dose gives a starting plasma concentration of 100 mg/L — see the table for each half-life.</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Clearance determines how efficiently a drug is removed — and, along with Vd, determines half-life.</a:t>
            </a:r>
            <a:r>
              <a:rPr lang="en-US" sz="1300" dirty="0">
                <a:solidFill>
                  <a:srgbClr val="666666"/>
                </a:solidFill>
              </a:rPr>
              <a:t>  S27</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48</a:t>
            </a:r>
            <a:endParaRPr lang="en-US" sz="1000" dirty="0"/>
          </a:p>
        </p:txBody>
      </p:sp>
      <p:sp>
        <p:nvSpPr>
          <p:cNvPr id="7" name="How it works (2/2) card"/>
          <p:cNvSpPr/>
          <p:nvPr/>
        </p:nvSpPr>
        <p:spPr>
          <a:xfrm>
            <a:off x="548640" y="1325880"/>
            <a:ext cx="11094415" cy="4608576"/>
          </a:xfrm>
          <a:prstGeom prst="roundRect">
            <a:avLst>
              <a:gd name="adj" fmla="val 2381"/>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7398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Total clearance is usually the sum of hepatic and renal clearance.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Loading doses are based on Vd; maintenance doses are based on clearance.</a:t>
            </a:r>
            <a:r>
              <a:rPr lang="en-US" sz="1300" dirty="0">
                <a:solidFill>
                  <a:srgbClr val="666666"/>
                </a:solidFill>
              </a:rPr>
              <a:t>  S23 (notes)</a:t>
            </a:r>
            <a:endParaRPr lang="en-US" sz="1800" dirty="0"/>
          </a:p>
          <a:p>
            <a:pPr marL="228600" indent="-228600">
              <a:spcAft>
                <a:spcPts val="800"/>
              </a:spcAft>
              <a:buSzPct val="100000"/>
              <a:buChar char="•"/>
            </a:pPr>
            <a:r>
              <a:rPr lang="en-US" sz="1800" dirty="0">
                <a:solidFill>
                  <a:srgbClr val="1F1F1F"/>
                </a:solidFill>
              </a:rPr>
              <a:t>Steady state takes ~4–5 half-lives regardless of dose size — the same reason a drug is ~97% eliminated ~5 half-lives after stopping it.</a:t>
            </a:r>
            <a:r>
              <a:rPr lang="en-US" sz="1300" dirty="0">
                <a:solidFill>
                  <a:srgbClr val="666666"/>
                </a:solidFill>
              </a:rPr>
              <a:t>  S30</a:t>
            </a:r>
            <a:endParaRPr lang="en-US" sz="1800" dirty="0"/>
          </a:p>
          <a:p>
            <a:pPr marL="228600" indent="-228600">
              <a:spcAft>
                <a:spcPts val="800"/>
              </a:spcAft>
              <a:buSzPct val="100000"/>
              <a:buChar char="•"/>
            </a:pPr>
            <a:r>
              <a:rPr lang="en-US" sz="1800" dirty="0">
                <a:solidFill>
                  <a:srgbClr val="1F1F1F"/>
                </a:solidFill>
              </a:rPr>
              <a:t>Time to steady state (about 4–5 half-lives) is governed by half-life.</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During regular dosing: 50% of steady state after 1 half-life, 75% after 2, and over 90% after 4 — the textbook's "four half-lives" rule of thumb.</a:t>
            </a:r>
            <a:r>
              <a:rPr lang="en-US" sz="1300" dirty="0">
                <a:solidFill>
                  <a:srgbClr val="666666"/>
                </a:solidFill>
              </a:rPr>
              <a:t>  p. 47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If the dosing interval is shorter than four half-lives, accumulation will be detectable.</a:t>
            </a:r>
            <a:r>
              <a:rPr lang="en-US" sz="1300" dirty="0">
                <a:solidFill>
                  <a:srgbClr val="666666"/>
                </a:solidFill>
              </a:rPr>
              <a:t>  p. 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Capacity-limited (saturable) elimination:</a:t>
            </a:r>
            <a:r>
              <a:rPr lang="en-US" sz="1800" dirty="0">
                <a:solidFill>
                  <a:srgbClr val="1F1F1F"/>
                </a:solidFill>
              </a:rPr>
              <a:t> clearance falls as concentration rises — important for phenytoin, ethanol, and aspirin.</a:t>
            </a:r>
            <a:r>
              <a:rPr lang="en-US" sz="1300" dirty="0">
                <a:solidFill>
                  <a:srgbClr val="666666"/>
                </a:solidFill>
              </a:rPr>
              <a:t>  p. 47</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49</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Case: significant CKD + a medication primarily eliminated unchanged by the kidney. </a:t>
            </a:r>
            <a:r>
              <a:rPr lang="en-US" sz="1800" b="1" dirty="0">
                <a:solidFill>
                  <a:srgbClr val="1F1F1F"/>
                </a:solidFill>
              </a:rPr>
              <a:t>What happens to the drug's concentration and half-life, and would you adjust the dose, the dosing interval, or both?</a:t>
            </a:r>
            <a:r>
              <a:rPr lang="en-US" sz="1300" dirty="0">
                <a:solidFill>
                  <a:srgbClr val="666666"/>
                </a:solidFill>
              </a:rPr>
              <a:t>  S28</a:t>
            </a:r>
            <a:endParaRPr lang="en-US" sz="1800" dirty="0"/>
          </a:p>
          <a:p>
            <a:pPr marL="228600" indent="-228600">
              <a:spcAft>
                <a:spcPts val="800"/>
              </a:spcAft>
              <a:buSzPct val="100000"/>
              <a:buChar char="•"/>
            </a:pPr>
            <a:r>
              <a:rPr lang="en-US" sz="1800" b="1" dirty="0">
                <a:solidFill>
                  <a:srgbClr val="1F1F1F"/>
                </a:solidFill>
              </a:rPr>
              <a:t>Clinical pearl:</a:t>
            </a:r>
            <a:r>
              <a:rPr lang="en-US" sz="1800" dirty="0">
                <a:solidFill>
                  <a:srgbClr val="1F1F1F"/>
                </a:solidFill>
              </a:rPr>
              <a:t> reduced clearance raises drug concentration and prolongs half-life; many renally-cleared drugs are managed by extending the dosing interval, reducing the dose, or both, guided by eGFR/CrCl.</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The logic chain: clearance ↓ → half-life ↑ → time to steady state ↑ → accumulation risk ↑ if the regimen is not adjusted.</a:t>
            </a:r>
            <a:r>
              <a:rPr lang="en-US" sz="1300" dirty="0">
                <a:solidFill>
                  <a:srgbClr val="666666"/>
                </a:solidFill>
              </a:rPr>
              <a:t>  S28 (notes)</a:t>
            </a:r>
            <a:endParaRPr lang="en-US" sz="1800" dirty="0"/>
          </a:p>
          <a:p>
            <a:pPr marL="228600" indent="-228600">
              <a:spcAft>
                <a:spcPts val="800"/>
              </a:spcAft>
              <a:buSzPct val="100000"/>
              <a:buChar char="•"/>
            </a:pPr>
            <a:r>
              <a:rPr lang="en-US" sz="1800" dirty="0">
                <a:solidFill>
                  <a:srgbClr val="1F1F1F"/>
                </a:solidFill>
              </a:rPr>
              <a:t>Reduced renal clearance raises both drug concentration and half-life.</a:t>
            </a:r>
            <a:r>
              <a:rPr lang="en-US" sz="1300" dirty="0">
                <a:solidFill>
                  <a:srgbClr val="666666"/>
                </a:solidFill>
              </a:rPr>
              <a:t>  S48</a:t>
            </a:r>
            <a:endParaRPr lang="en-US" sz="1800" dirty="0"/>
          </a:p>
          <a:p>
            <a:pPr marL="228600" indent="-228600">
              <a:spcAft>
                <a:spcPts val="800"/>
              </a:spcAft>
              <a:buSzPct val="100000"/>
              <a:buChar char="•"/>
            </a:pPr>
            <a:r>
              <a:rPr lang="en-US" sz="1800" dirty="0">
                <a:solidFill>
                  <a:srgbClr val="1F1F1F"/>
                </a:solidFill>
              </a:rPr>
              <a:t>A loading dose reaches the therapeutic target immediately instead of waiting ~4–5 half-lives; it does not change the maintenance dose or remove the need for monitoring.</a:t>
            </a:r>
            <a:r>
              <a:rPr lang="en-US" sz="1300" dirty="0">
                <a:solidFill>
                  <a:srgbClr val="666666"/>
                </a:solidFill>
              </a:rPr>
              <a:t>  S26</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50</a:t>
            </a:r>
            <a:endParaRPr lang="en-US" sz="1000" dirty="0"/>
          </a:p>
        </p:txBody>
      </p:sp>
      <p:sp>
        <p:nvSpPr>
          <p:cNvPr id="7" name="Drugs named as examples card"/>
          <p:cNvSpPr/>
          <p:nvPr/>
        </p:nvSpPr>
        <p:spPr>
          <a:xfrm>
            <a:off x="548640" y="1325880"/>
            <a:ext cx="5410048" cy="4279392"/>
          </a:xfrm>
          <a:prstGeom prst="roundRect">
            <a:avLst>
              <a:gd name="adj" fmla="val 2564"/>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this section uses illustrative drugs ("a drug with a half-life of 6 hours").</a:t>
            </a:r>
            <a:r>
              <a:rPr lang="en-US" sz="1300" dirty="0">
                <a:solidFill>
                  <a:srgbClr val="666666"/>
                </a:solidFill>
              </a:rPr>
              <a:t>  S19</a:t>
            </a:r>
            <a:endParaRPr lang="en-US" sz="1800" dirty="0"/>
          </a:p>
        </p:txBody>
      </p:sp>
      <p:sp>
        <p:nvSpPr>
          <p:cNvPr id="12" name="Exam traps card"/>
          <p:cNvSpPr/>
          <p:nvPr/>
        </p:nvSpPr>
        <p:spPr>
          <a:xfrm>
            <a:off x="6233008" y="1325880"/>
            <a:ext cx="5410048" cy="4279392"/>
          </a:xfrm>
          <a:prstGeom prst="roundRect">
            <a:avLst>
              <a:gd name="adj" fmla="val 2564"/>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After 3 half-lives, 12.5% REMAINS (87.5% eliminated) — read whether the question asks remaining or eliminated.</a:t>
            </a:r>
            <a:r>
              <a:rPr lang="en-US" sz="1300" dirty="0">
                <a:solidFill>
                  <a:srgbClr val="666666"/>
                </a:solidFill>
              </a:rPr>
              <a:t>  S19; S22</a:t>
            </a:r>
            <a:endParaRPr lang="en-US" sz="1800" dirty="0"/>
          </a:p>
          <a:p>
            <a:pPr marL="228600" indent="-228600">
              <a:spcAft>
                <a:spcPts val="800"/>
              </a:spcAft>
              <a:buSzPct val="100000"/>
              <a:buChar char="•"/>
            </a:pPr>
            <a:r>
              <a:rPr lang="en-US" sz="1800" dirty="0">
                <a:solidFill>
                  <a:srgbClr val="1F1F1F"/>
                </a:solidFill>
              </a:rPr>
              <a:t>Time to steady state depends on half-life — not on dose size, bioavailability, or route.</a:t>
            </a:r>
            <a:r>
              <a:rPr lang="en-US" sz="1300" dirty="0">
                <a:solidFill>
                  <a:srgbClr val="666666"/>
                </a:solidFill>
              </a:rPr>
              <a:t>  S30; S48</a:t>
            </a:r>
            <a:endParaRPr lang="en-US" sz="1800" dirty="0"/>
          </a:p>
          <a:p>
            <a:pPr marL="228600" indent="-228600">
              <a:spcAft>
                <a:spcPts val="800"/>
              </a:spcAft>
              <a:buSzPct val="100000"/>
              <a:buChar char="•"/>
            </a:pPr>
            <a:r>
              <a:rPr lang="en-US" sz="1800" dirty="0">
                <a:solidFill>
                  <a:srgbClr val="1F1F1F"/>
                </a:solidFill>
              </a:rPr>
              <a:t>Half-life is not a fixed property — it changes with clearance and Vd (e.g., in renal impairment).</a:t>
            </a:r>
            <a:r>
              <a:rPr lang="en-US" sz="1300" dirty="0">
                <a:solidFill>
                  <a:srgbClr val="666666"/>
                </a:solidFill>
              </a:rPr>
              <a:t>  S19; S28</a:t>
            </a:r>
            <a:endParaRPr lang="en-US" sz="1800" dirty="0"/>
          </a:p>
          <a:p>
            <a:pPr marL="228600" indent="-228600">
              <a:spcAft>
                <a:spcPts val="800"/>
              </a:spcAft>
              <a:buSzPct val="100000"/>
              <a:buChar char="•"/>
            </a:pPr>
            <a:r>
              <a:rPr lang="en-US" sz="1800" dirty="0">
                <a:solidFill>
                  <a:srgbClr val="1F1F1F"/>
                </a:solidFill>
              </a:rPr>
              <a:t>A loading dose does NOT permanently lower the maintenance dose or eliminate monitoring.</a:t>
            </a:r>
            <a:r>
              <a:rPr lang="en-US" sz="1300" dirty="0">
                <a:solidFill>
                  <a:srgbClr val="666666"/>
                </a:solidFill>
              </a:rPr>
              <a:t>  S26</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7 · Exponential decay over half-lives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51</a:t>
            </a:r>
            <a:endParaRPr lang="en-US" sz="1000" dirty="0"/>
          </a:p>
        </p:txBody>
      </p:sp>
      <p:pic>
        <p:nvPicPr>
          <p:cNvPr id="7" name="Figure S20_1.png" descr="/home/user/dpas-pharm/work/L02/figures/S20_1.png">    </p:cNvPr>
          <p:cNvPicPr>
            <a:picLocks noChangeAspect="1"/>
          </p:cNvPicPr>
          <p:nvPr/>
        </p:nvPicPr>
        <p:blipFill>
          <a:blip r:embed="rId1"/>
          <a:stretch>
            <a:fillRect/>
          </a:stretch>
        </p:blipFill>
        <p:spPr>
          <a:xfrm>
            <a:off x="2074556" y="1325880"/>
            <a:ext cx="8042583" cy="4415536"/>
          </a:xfrm>
          <a:prstGeom prst="rect">
            <a:avLst/>
          </a:prstGeom>
        </p:spPr>
      </p:pic>
      <p:sp>
        <p:nvSpPr>
          <p:cNvPr id="8" name="Figure caption"/>
          <p:cNvSpPr txBox="1"/>
          <p:nvPr/>
        </p:nvSpPr>
        <p:spPr>
          <a:xfrm>
            <a:off x="548640" y="5924296"/>
            <a:ext cx="11094415" cy="339344"/>
          </a:xfrm>
          <a:prstGeom prst="rect">
            <a:avLst/>
          </a:prstGeom>
          <a:noFill/>
          <a:ln/>
        </p:spPr>
        <p:txBody>
          <a:bodyPr wrap="square" lIns="0" tIns="0" rIns="0" bIns="0" rtlCol="0" anchor="t"/>
          <a:lstStyle/>
          <a:p>
            <a:pPr indent="0" marL="0">
              <a:buNone/>
            </a:pPr>
            <a:r>
              <a:rPr lang="en-US" sz="1600" dirty="0">
                <a:solidFill>
                  <a:srgbClr val="1F1F1F"/>
                </a:solidFill>
              </a:rPr>
              <a:t>Original illustrative decay curve: plasma concentration falls by 50% with each half-life, leaving ~3% remaining after 5 half-lives.</a:t>
            </a:r>
            <a:r>
              <a:rPr lang="en-US" sz="1100" dirty="0">
                <a:solidFill>
                  <a:srgbClr val="666666"/>
                </a:solidFill>
              </a:rPr>
              <a:t>  S20</a:t>
            </a:r>
            <a:endParaRPr lang="en-US" sz="1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700" b="1" dirty="0">
                <a:solidFill>
                  <a:srgbClr val="1F1F1F"/>
                </a:solidFill>
                <a:latin typeface="Calibri" pitchFamily="34" charset="0"/>
                <a:ea typeface="Calibri" pitchFamily="34" charset="-122"/>
                <a:cs typeface="Calibri" pitchFamily="34" charset="-120"/>
              </a:rPr>
              <a:t>Figure 8 · Steady state with and without a loading dose</a:t>
            </a:r>
            <a:endParaRPr lang="en-US" sz="27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52</a:t>
            </a:r>
            <a:endParaRPr lang="en-US" sz="1000" dirty="0"/>
          </a:p>
        </p:txBody>
      </p:sp>
      <p:pic>
        <p:nvPicPr>
          <p:cNvPr id="7" name="Figure S24_1.png" descr="/home/user/dpas-pharm/work/L02/figures/S24_1.png">    </p:cNvPr>
          <p:cNvPicPr>
            <a:picLocks noChangeAspect="1"/>
          </p:cNvPicPr>
          <p:nvPr/>
        </p:nvPicPr>
        <p:blipFill>
          <a:blip r:embed="rId1"/>
          <a:stretch>
            <a:fillRect/>
          </a:stretch>
        </p:blipFill>
        <p:spPr>
          <a:xfrm>
            <a:off x="2151482" y="1325880"/>
            <a:ext cx="7888732"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multi-dose simulation: maintenance dosing alone climbs gradually (a sawtooth climb) to steady state; adding a loading dose reaches the target level immediately, right from the first dose.</a:t>
            </a:r>
            <a:r>
              <a:rPr lang="en-US" sz="1100" dirty="0">
                <a:solidFill>
                  <a:srgbClr val="666666"/>
                </a:solidFill>
              </a:rPr>
              <a:t>  S24; S24 (notes)</a:t>
            </a:r>
            <a:endParaRPr lang="en-US" sz="16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Textbook concept · Five to fill, five to empty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53</a:t>
            </a:r>
            <a:endParaRPr lang="en-US" sz="1000" dirty="0"/>
          </a:p>
        </p:txBody>
      </p:sp>
      <p:pic>
        <p:nvPicPr>
          <p:cNvPr id="7" name="Figure TB_fill_empty.png" descr="/home/user/dpas-pharm/work/L02/figures/TB_fill_empty.png">    </p:cNvPr>
          <p:cNvPicPr>
            <a:picLocks noChangeAspect="1"/>
          </p:cNvPicPr>
          <p:nvPr/>
        </p:nvPicPr>
        <p:blipFill>
          <a:blip r:embed="rId1"/>
          <a:stretch>
            <a:fillRect/>
          </a:stretch>
        </p:blipFill>
        <p:spPr>
          <a:xfrm>
            <a:off x="2596090" y="1325880"/>
            <a:ext cx="6999514" cy="3919728"/>
          </a:xfrm>
          <a:prstGeom prst="rect">
            <a:avLst/>
          </a:prstGeom>
        </p:spPr>
      </p:pic>
      <p:sp>
        <p:nvSpPr>
          <p:cNvPr id="8" name="Figure caption"/>
          <p:cNvSpPr txBox="1"/>
          <p:nvPr/>
        </p:nvSpPr>
        <p:spPr>
          <a:xfrm>
            <a:off x="548640" y="5428488"/>
            <a:ext cx="11094415" cy="835152"/>
          </a:xfrm>
          <a:prstGeom prst="rect">
            <a:avLst/>
          </a:prstGeom>
          <a:noFill/>
          <a:ln/>
        </p:spPr>
        <p:txBody>
          <a:bodyPr wrap="square" lIns="0" tIns="0" rIns="0" bIns="0" rtlCol="0" anchor="t"/>
          <a:lstStyle/>
          <a:p>
            <a:pPr indent="0" marL="0">
              <a:buNone/>
            </a:pPr>
            <a:r>
              <a:rPr lang="en-US" sz="1600" dirty="0">
                <a:solidFill>
                  <a:srgbClr val="1F1F1F"/>
                </a:solidFill>
              </a:rPr>
              <a:t>Original diagram: starting regular dosing, each half-life closes half of the remaining gap to steady state (50 → 75 → 87.5 → 93.75 → ~97%); after stopping, each half-life removes half of what remains (50 → 25 → 12.5 → 6.25 → 3.125%). The same 4–5 half-lives govern both.</a:t>
            </a:r>
            <a:r>
              <a:rPr lang="en-US" sz="1100" dirty="0">
                <a:solidFill>
                  <a:srgbClr val="666666"/>
                </a:solidFill>
              </a:rPr>
              <a:t>  S19; S23; p. 47</a:t>
            </a:r>
            <a:endParaRPr lang="en-US"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500" b="1" dirty="0">
                <a:solidFill>
                  <a:srgbClr val="1F1F1F"/>
                </a:solidFill>
                <a:latin typeface="Calibri" pitchFamily="34" charset="0"/>
                <a:ea typeface="Calibri" pitchFamily="34" charset="-122"/>
                <a:cs typeface="Calibri" pitchFamily="34" charset="-120"/>
              </a:rPr>
              <a:t>Compare: Half-life worked example (t½ = 6 h, start 100 mg/L)</a:t>
            </a:r>
            <a:endParaRPr lang="en-US" sz="25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54</a:t>
            </a:r>
            <a:endParaRPr lang="en-US" sz="1000" dirty="0"/>
          </a:p>
        </p:txBody>
      </p:sp>
      <p:graphicFrame>
        <p:nvGraphicFramePr>
          <p:cNvPr id="55"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600" b="1" dirty="0">
                          <a:solidFill>
                            <a:srgbClr val="FFFFFF"/>
                          </a:solidFill>
                        </a:rPr>
                        <a:t>Half-lives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Time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Concentration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remaining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eliminated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6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12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18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87.5%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24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93.75%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30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~97%</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7185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S19</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Loading dose vs. maintenance dose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55</a:t>
            </a:r>
            <a:endParaRPr lang="en-US" sz="1000" dirty="0"/>
          </a:p>
        </p:txBody>
      </p:sp>
      <p:graphicFrame>
        <p:nvGraphicFramePr>
          <p:cNvPr id="56"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Loading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Maintenance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Purpose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Reach therapeutic concentration rapidly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Keep the drug in the therapeutic range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Size / timing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Larger, initial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Regular, ongoing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Based 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Vd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Clearance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On Figure 8</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Starts at target immediately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Sawtooth climb over ~4–5 half-lives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S23; S23 (notes); S24 (notes)</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56</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CKD prolong half-life? Half-life depends on clearance (with Vd) — less renal clearance means the concentration takes longer to fall by 50%, so the drug accumulates.</a:t>
            </a:r>
            <a:r>
              <a:rPr lang="en-US" sz="1300" dirty="0">
                <a:solidFill>
                  <a:srgbClr val="666666"/>
                </a:solidFill>
              </a:rPr>
              <a:t>  S19; S27; S28 (notes)</a:t>
            </a:r>
            <a:endParaRPr lang="en-US" sz="1800" dirty="0"/>
          </a:p>
        </p:txBody>
      </p:sp>
      <p:sp>
        <p:nvSpPr>
          <p:cNvPr id="12" name="Mnemonic (memory aid) card"/>
          <p:cNvSpPr/>
          <p:nvPr/>
        </p:nvSpPr>
        <p:spPr>
          <a:xfrm>
            <a:off x="548640" y="4110228"/>
            <a:ext cx="5364328" cy="1719072"/>
          </a:xfrm>
          <a:prstGeom prst="roundRect">
            <a:avLst>
              <a:gd name="adj" fmla="val 6383"/>
            </a:avLst>
          </a:prstGeom>
          <a:solidFill>
            <a:srgbClr val="F2F4F7"/>
          </a:solidFill>
          <a:ln w="12700">
            <a:solidFill>
              <a:srgbClr val="F2F4F7"/>
            </a:solidFill>
            <a:prstDash val="solid"/>
          </a:ln>
        </p:spPr>
      </p:sp>
      <p:sp>
        <p:nvSpPr>
          <p:cNvPr id="13" name="Mnemonic (memory aid) icon circle"/>
          <p:cNvSpPr/>
          <p:nvPr/>
        </p:nvSpPr>
        <p:spPr>
          <a:xfrm>
            <a:off x="777240" y="4293108"/>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393692"/>
            <a:ext cx="237744" cy="237744"/>
          </a:xfrm>
          <a:prstGeom prst="rect">
            <a:avLst/>
          </a:prstGeom>
        </p:spPr>
      </p:pic>
      <p:sp>
        <p:nvSpPr>
          <p:cNvPr id="15" name="Mnemonic (memory aid) heading"/>
          <p:cNvSpPr txBox="1"/>
          <p:nvPr/>
        </p:nvSpPr>
        <p:spPr>
          <a:xfrm>
            <a:off x="1353312" y="4293108"/>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860036"/>
            <a:ext cx="4907128" cy="85039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L</a:t>
            </a:r>
            <a:r>
              <a:rPr lang="en-US" sz="1800" dirty="0">
                <a:solidFill>
                  <a:srgbClr val="1F1F1F"/>
                </a:solidFill>
              </a:rPr>
              <a:t>oading → </a:t>
            </a:r>
            <a:r>
              <a:rPr lang="en-US" sz="1800" b="1" dirty="0">
                <a:solidFill>
                  <a:srgbClr val="1F1F1F"/>
                </a:solidFill>
              </a:rPr>
              <a:t>L</a:t>
            </a:r>
            <a:r>
              <a:rPr lang="en-US" sz="1800" dirty="0">
                <a:solidFill>
                  <a:srgbClr val="1F1F1F"/>
                </a:solidFill>
              </a:rPr>
              <a:t>iters (Vd). </a:t>
            </a:r>
            <a:r>
              <a:rPr lang="en-US" sz="1800" b="1" dirty="0">
                <a:solidFill>
                  <a:srgbClr val="1F1F1F"/>
                </a:solidFill>
              </a:rPr>
              <a:t>M</a:t>
            </a:r>
            <a:r>
              <a:rPr lang="en-US" sz="1800" dirty="0">
                <a:solidFill>
                  <a:srgbClr val="1F1F1F"/>
                </a:solidFill>
              </a:rPr>
              <a:t>aintenance → </a:t>
            </a:r>
            <a:r>
              <a:rPr lang="en-US" sz="1800" b="1" dirty="0">
                <a:solidFill>
                  <a:srgbClr val="1F1F1F"/>
                </a:solidFill>
              </a:rPr>
              <a:t>M</a:t>
            </a:r>
            <a:r>
              <a:rPr lang="en-US" sz="1800" dirty="0">
                <a:solidFill>
                  <a:srgbClr val="1F1F1F"/>
                </a:solidFill>
              </a:rPr>
              <a:t>oving out (clearance).</a:t>
            </a:r>
            <a:r>
              <a:rPr lang="en-US" sz="1300" dirty="0">
                <a:solidFill>
                  <a:srgbClr val="666666"/>
                </a:solidFill>
              </a:rPr>
              <a:t>  S23 (notes)</a:t>
            </a:r>
            <a:endParaRPr lang="en-US" sz="1800" dirty="0"/>
          </a:p>
        </p:txBody>
      </p:sp>
      <p:sp>
        <p:nvSpPr>
          <p:cNvPr id="17" name="Why it happens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 loading dose skip the wait? It is a larger first dose that reaches the therapeutic concentration right away instead of building up over ~4–5 half-lives.</a:t>
            </a:r>
            <a:r>
              <a:rPr lang="en-US" sz="1300" dirty="0">
                <a:solidFill>
                  <a:srgbClr val="666666"/>
                </a:solidFill>
              </a:rPr>
              <a:t>  S23; S26</a:t>
            </a:r>
            <a:endParaRPr lang="en-US" sz="1800" dirty="0"/>
          </a:p>
        </p:txBody>
      </p:sp>
      <p:sp>
        <p:nvSpPr>
          <p:cNvPr id="22" name="Mnemonic (memory aid) card"/>
          <p:cNvSpPr/>
          <p:nvPr/>
        </p:nvSpPr>
        <p:spPr>
          <a:xfrm>
            <a:off x="6278728" y="3831336"/>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4014216"/>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4114800"/>
            <a:ext cx="237744" cy="237744"/>
          </a:xfrm>
          <a:prstGeom prst="rect">
            <a:avLst/>
          </a:prstGeom>
        </p:spPr>
      </p:pic>
      <p:sp>
        <p:nvSpPr>
          <p:cNvPr id="25" name="Mnemonic (memory aid) heading"/>
          <p:cNvSpPr txBox="1"/>
          <p:nvPr/>
        </p:nvSpPr>
        <p:spPr>
          <a:xfrm>
            <a:off x="7083400"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t>
            </a:r>
            <a:r>
              <a:rPr lang="en-US" sz="1800" b="1" dirty="0">
                <a:solidFill>
                  <a:srgbClr val="1F1F1F"/>
                </a:solidFill>
              </a:rPr>
              <a:t>Five to fill, five to empty</a:t>
            </a:r>
            <a:r>
              <a:rPr lang="en-US" sz="1800" dirty="0">
                <a:solidFill>
                  <a:srgbClr val="1F1F1F"/>
                </a:solidFill>
              </a:rPr>
              <a:t>": ~4–5 half-lives to reach steady state; ~5 half-lives to be ~97% eliminated.</a:t>
            </a:r>
            <a:r>
              <a:rPr lang="en-US" sz="1300" dirty="0">
                <a:solidFill>
                  <a:srgbClr val="666666"/>
                </a:solidFill>
              </a:rPr>
              <a:t>  S19; S23; S30</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57</a:t>
            </a:r>
            <a:endParaRPr lang="en-US" sz="1000" dirty="0"/>
          </a:p>
        </p:txBody>
      </p:sp>
      <p:sp>
        <p:nvSpPr>
          <p:cNvPr id="7" name="If you remember nothing else card"/>
          <p:cNvSpPr/>
          <p:nvPr/>
        </p:nvSpPr>
        <p:spPr>
          <a:xfrm>
            <a:off x="548640" y="1325880"/>
            <a:ext cx="11094415" cy="2994660"/>
          </a:xfrm>
          <a:prstGeom prst="roundRect">
            <a:avLst>
              <a:gd name="adj" fmla="val 366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12598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t½</a:t>
            </a:r>
            <a:r>
              <a:rPr lang="en-US" sz="1800" dirty="0">
                <a:solidFill>
                  <a:srgbClr val="1F1F1F"/>
                </a:solidFill>
              </a:rPr>
              <a:t> = time for plasma concentration to fall 50%; set by </a:t>
            </a:r>
            <a:r>
              <a:rPr lang="en-US" sz="1800" b="1" dirty="0">
                <a:solidFill>
                  <a:srgbClr val="1F1F1F"/>
                </a:solidFill>
              </a:rPr>
              <a:t>clearance + Vd</a:t>
            </a:r>
            <a:r>
              <a:rPr lang="en-US" sz="1800" dirty="0">
                <a:solidFill>
                  <a:srgbClr val="1F1F1F"/>
                </a:solidFill>
              </a:rPr>
              <a:t>.</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Each t½ halves what remains: 50 → 25 → 12.5 → 6.25 → ~3% (~97% eliminated at 5 t½).</a:t>
            </a:r>
            <a:r>
              <a:rPr lang="en-US" sz="1300" dirty="0">
                <a:solidFill>
                  <a:srgbClr val="666666"/>
                </a:solidFill>
              </a:rPr>
              <a:t>  S19; S22</a:t>
            </a:r>
            <a:endParaRPr lang="en-US" sz="1800" dirty="0"/>
          </a:p>
          <a:p>
            <a:pPr marL="228600" indent="-228600">
              <a:spcAft>
                <a:spcPts val="800"/>
              </a:spcAft>
              <a:buSzPct val="100000"/>
              <a:buChar char="•"/>
            </a:pPr>
            <a:r>
              <a:rPr lang="en-US" sz="1800" b="1" dirty="0">
                <a:solidFill>
                  <a:srgbClr val="1F1F1F"/>
                </a:solidFill>
              </a:rPr>
              <a:t>Steady state ≈ 4–5 t½</a:t>
            </a:r>
            <a:r>
              <a:rPr lang="en-US" sz="1800" dirty="0">
                <a:solidFill>
                  <a:srgbClr val="1F1F1F"/>
                </a:solidFill>
              </a:rPr>
              <a:t>, regardless of dose; loading dose gets there immediately.</a:t>
            </a:r>
            <a:r>
              <a:rPr lang="en-US" sz="1300" dirty="0">
                <a:solidFill>
                  <a:srgbClr val="666666"/>
                </a:solidFill>
              </a:rPr>
              <a:t>  S23; S26; S30</a:t>
            </a:r>
            <a:endParaRPr lang="en-US" sz="1800" dirty="0"/>
          </a:p>
          <a:p>
            <a:pPr marL="228600" indent="-228600">
              <a:spcAft>
                <a:spcPts val="800"/>
              </a:spcAft>
              <a:buSzPct val="100000"/>
              <a:buChar char="•"/>
            </a:pPr>
            <a:r>
              <a:rPr lang="en-US" sz="1800" b="1" dirty="0">
                <a:solidFill>
                  <a:srgbClr val="1F1F1F"/>
                </a:solidFill>
              </a:rPr>
              <a:t>Clearance</a:t>
            </a:r>
            <a:r>
              <a:rPr lang="en-US" sz="1800" dirty="0">
                <a:solidFill>
                  <a:srgbClr val="1F1F1F"/>
                </a:solidFill>
              </a:rPr>
              <a:t> = plasma volume cleared per unit time; total = hepatic + renal.</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CKD: clearance ↓ → t½ ↑ → concentration ↑ → adjust dose and/or interval.</a:t>
            </a:r>
            <a:r>
              <a:rPr lang="en-US" sz="1300" dirty="0">
                <a:solidFill>
                  <a:srgbClr val="666666"/>
                </a:solidFill>
              </a:rPr>
              <a:t>  S28; S28 (notes)</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S21-22</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58</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Using Figure 7, approximately what percentage of the original drug concentration remains after 3 half-lives (3 t½)?</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a:t>
            </a:r>
            <a:endParaRPr lang="en-US" sz="1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9: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12.5%</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Each half-life halves what remains: 100% → 50% → 25% → 12.5% after 3 t½ (S22).</a:t>
            </a:r>
            <a:r>
              <a:rPr lang="en-US" sz="1100" dirty="0">
                <a:solidFill>
                  <a:srgbClr val="666666"/>
                </a:solidFill>
              </a:rPr>
              <a:t>  S20; S21-22</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25% — </a:t>
            </a:r>
            <a:r>
              <a:rPr lang="en-US" sz="1600" dirty="0">
                <a:solidFill>
                  <a:srgbClr val="1F1F1F"/>
                </a:solidFill>
              </a:rPr>
              <a:t>25% remains after 2 half-lives (S22).</a:t>
            </a:r>
            <a:endParaRPr lang="en-US" sz="1600" dirty="0"/>
          </a:p>
          <a:p>
            <a:pPr indent="0" marL="0">
              <a:buNone/>
            </a:pPr>
            <a:r>
              <a:rPr lang="en-US" sz="1600" b="1" dirty="0">
                <a:solidFill>
                  <a:srgbClr val="1F1F1F"/>
                </a:solidFill>
              </a:rPr>
              <a:t>B. 6.25% — </a:t>
            </a:r>
            <a:r>
              <a:rPr lang="en-US" sz="1600" dirty="0">
                <a:solidFill>
                  <a:srgbClr val="1F1F1F"/>
                </a:solidFill>
              </a:rPr>
              <a:t>6.25% remains after 4 half-lives (S19).</a:t>
            </a:r>
            <a:endParaRPr lang="en-US" sz="1600" dirty="0"/>
          </a:p>
          <a:p>
            <a:pPr indent="0" marL="0">
              <a:buNone/>
            </a:pPr>
            <a:r>
              <a:rPr lang="en-US" sz="1600" b="1" dirty="0">
                <a:solidFill>
                  <a:srgbClr val="1F1F1F"/>
                </a:solidFill>
              </a:rPr>
              <a:t>C. 3% — </a:t>
            </a:r>
            <a:r>
              <a:rPr lang="en-US" sz="1600" dirty="0">
                <a:solidFill>
                  <a:srgbClr val="1F1F1F"/>
                </a:solidFill>
              </a:rPr>
              <a:t>About 3% remains after 5 half-lives (S22).</a:t>
            </a:r>
            <a:endParaRPr lang="en-US" sz="1600" dirty="0"/>
          </a:p>
          <a:p>
            <a:pPr indent="0" marL="0">
              <a:buNone/>
            </a:pPr>
            <a:r>
              <a:rPr lang="en-US" sz="1600" b="1" dirty="0">
                <a:solidFill>
                  <a:srgbClr val="1F1F1F"/>
                </a:solidFill>
              </a:rPr>
              <a:t>D. 50% — </a:t>
            </a:r>
            <a:r>
              <a:rPr lang="en-US" sz="1600" dirty="0">
                <a:solidFill>
                  <a:srgbClr val="1F1F1F"/>
                </a:solidFill>
              </a:rPr>
              <a:t>50% remains after 1 half-life (S22).</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S25-26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60</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In Figure 8, the dashed loading-dose line starts at the target concentration immediately, while the maintenance-only line climbs gradually over several doses. What is the clinical advantage of adding a loading dose?</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reaches the therapeutic target immediately instead of waiting ~4–5 half-lives</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real advantage over maintenance dosing used alone</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eliminates the need for any therapeutic drug level monitoring</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shortens the drug's half-life so steady state comes sooner</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permanently lowers the maintenance dose the patient will need</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10: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reaches the therapeutic target immediately instead of waiting ~4–5 half-lives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loading-dose curve starts at the steady-state line from the first dose; maintenance-only needs ~4–5 half-lives (S26).</a:t>
            </a:r>
            <a:r>
              <a:rPr lang="en-US" sz="1100" dirty="0">
                <a:solidFill>
                  <a:srgbClr val="666666"/>
                </a:solidFill>
              </a:rPr>
              <a:t>  S24; S25-26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has no real advantage over maintenance dosing used alone — </a:t>
            </a:r>
            <a:r>
              <a:rPr lang="en-US" sz="1600" dirty="0">
                <a:solidFill>
                  <a:srgbClr val="1F1F1F"/>
                </a:solidFill>
              </a:rPr>
              <a:t>It reaches the target immediately (S26).</a:t>
            </a:r>
            <a:endParaRPr lang="en-US" sz="1600" dirty="0"/>
          </a:p>
          <a:p>
            <a:pPr indent="0" marL="0">
              <a:buNone/>
            </a:pPr>
            <a:r>
              <a:rPr lang="en-US" sz="1600" b="1" dirty="0">
                <a:solidFill>
                  <a:srgbClr val="1F1F1F"/>
                </a:solidFill>
              </a:rPr>
              <a:t>C. It eliminates the need for any therapeutic drug level monitoring — </a:t>
            </a:r>
            <a:r>
              <a:rPr lang="en-US" sz="1600" dirty="0">
                <a:solidFill>
                  <a:srgbClr val="1F1F1F"/>
                </a:solidFill>
              </a:rPr>
              <a:t>A loading dose does not remove the need for monitoring (S26).</a:t>
            </a:r>
            <a:endParaRPr lang="en-US" sz="1600" dirty="0"/>
          </a:p>
          <a:p>
            <a:pPr indent="0" marL="0">
              <a:buNone/>
            </a:pPr>
            <a:r>
              <a:rPr lang="en-US" sz="1600" b="1" dirty="0">
                <a:solidFill>
                  <a:srgbClr val="1F1F1F"/>
                </a:solidFill>
              </a:rPr>
              <a:t>D. It shortens the drug's half-life so steady state comes sooner — </a:t>
            </a:r>
            <a:r>
              <a:rPr lang="en-US" sz="1600" dirty="0">
                <a:solidFill>
                  <a:srgbClr val="1F1F1F"/>
                </a:solidFill>
              </a:rPr>
              <a:t>Half-life is set by clearance and Vd, not by a loading dose (S19).</a:t>
            </a:r>
            <a:endParaRPr lang="en-US" sz="1600" dirty="0"/>
          </a:p>
          <a:p>
            <a:pPr indent="0" marL="0">
              <a:buNone/>
            </a:pPr>
            <a:r>
              <a:rPr lang="en-US" sz="1600" b="1" dirty="0">
                <a:solidFill>
                  <a:srgbClr val="1F1F1F"/>
                </a:solidFill>
              </a:rPr>
              <a:t>E. It permanently lowers the maintenance dose the patient will need — </a:t>
            </a:r>
            <a:r>
              <a:rPr lang="en-US" sz="1600" dirty="0">
                <a:solidFill>
                  <a:srgbClr val="1F1F1F"/>
                </a:solidFill>
              </a:rPr>
              <a:t>A loading dose does not change the maintenance dose itself (S26).</a:t>
            </a:r>
            <a:endParaRPr lang="en-US" sz="16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S29-30</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62</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Approximately how many half-lives are required for a drug to reach steady state with regular, repeated dosing?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2–3 half-lives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After the first dose</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 half-lives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8–10 half-lives</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4–5 half-lives</a:t>
            </a:r>
            <a:endParaRPr lang="en-US" sz="1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11: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4–5 half-lives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Steady state is reached in roughly 4–5 half-lives, regardless of dose size (S30).</a:t>
            </a:r>
            <a:r>
              <a:rPr lang="en-US" sz="1100" dirty="0">
                <a:solidFill>
                  <a:srgbClr val="666666"/>
                </a:solidFill>
              </a:rPr>
              <a:t>  S29-30; SG U1-R11</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2–3 half-lives — </a:t>
            </a:r>
            <a:r>
              <a:rPr lang="en-US" sz="1600" dirty="0">
                <a:solidFill>
                  <a:srgbClr val="1F1F1F"/>
                </a:solidFill>
              </a:rPr>
              <a:t>Too few — about 4–5 half-lives are needed (S23, S30).</a:t>
            </a:r>
            <a:endParaRPr lang="en-US" sz="1600" dirty="0"/>
          </a:p>
          <a:p>
            <a:pPr indent="0" marL="0">
              <a:buNone/>
            </a:pPr>
            <a:r>
              <a:rPr lang="en-US" sz="1600" b="1" dirty="0">
                <a:solidFill>
                  <a:srgbClr val="1F1F1F"/>
                </a:solidFill>
              </a:rPr>
              <a:t>B. After the first dose — </a:t>
            </a:r>
            <a:r>
              <a:rPr lang="en-US" sz="1600" dirty="0">
                <a:solidFill>
                  <a:srgbClr val="1F1F1F"/>
                </a:solidFill>
              </a:rPr>
              <a:t>That describes a LOADING dose reaching target (S26), not steady state from regular dosing.</a:t>
            </a:r>
            <a:endParaRPr lang="en-US" sz="1600" dirty="0"/>
          </a:p>
          <a:p>
            <a:pPr indent="0" marL="0">
              <a:buNone/>
            </a:pPr>
            <a:r>
              <a:rPr lang="en-US" sz="1600" b="1" dirty="0">
                <a:solidFill>
                  <a:srgbClr val="1F1F1F"/>
                </a:solidFill>
              </a:rPr>
              <a:t>C. 1–2 half-lives — </a:t>
            </a:r>
            <a:r>
              <a:rPr lang="en-US" sz="1600" dirty="0">
                <a:solidFill>
                  <a:srgbClr val="1F1F1F"/>
                </a:solidFill>
              </a:rPr>
              <a:t>Too few — steady state takes about 4–5 half-lives (S30).</a:t>
            </a:r>
            <a:endParaRPr lang="en-US" sz="1600" dirty="0"/>
          </a:p>
          <a:p>
            <a:pPr indent="0" marL="0">
              <a:buNone/>
            </a:pPr>
            <a:r>
              <a:rPr lang="en-US" sz="1600" b="1" dirty="0">
                <a:solidFill>
                  <a:srgbClr val="1F1F1F"/>
                </a:solidFill>
              </a:rPr>
              <a:t>D. 8–10 half-lives — </a:t>
            </a:r>
            <a:r>
              <a:rPr lang="en-US" sz="1600" dirty="0">
                <a:solidFill>
                  <a:srgbClr val="1F1F1F"/>
                </a:solidFill>
              </a:rPr>
              <a:t>Too many — steady state takes about 4–5 half-lives (S30).</a:t>
            </a:r>
            <a:endParaRPr lang="en-US" sz="16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64</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with CKD is prescribed a renally-cleared, narrow-TI drug without dose adjustment. Which two consequences would you expect together?</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either half-life or concentration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increased concentration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decreased concentration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half-life and increased concentration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clearance and decreased Vd</a:t>
            </a:r>
            <a:endParaRPr lang="en-US" sz="1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12: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Increased half-life and increased concentration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both drug concentration and half-life (S48, S28).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in either half-life or concentration — </a:t>
            </a:r>
            <a:r>
              <a:rPr lang="en-US" sz="1600" dirty="0">
                <a:solidFill>
                  <a:srgbClr val="1F1F1F"/>
                </a:solidFill>
              </a:rPr>
              <a:t>Reduced clearance raises concentration and prolongs half-life (S28).</a:t>
            </a:r>
            <a:endParaRPr lang="en-US" sz="1600" dirty="0"/>
          </a:p>
          <a:p>
            <a:pPr indent="0" marL="0">
              <a:buNone/>
            </a:pPr>
            <a:r>
              <a:rPr lang="en-US" sz="1600" b="1" dirty="0">
                <a:solidFill>
                  <a:srgbClr val="1F1F1F"/>
                </a:solidFill>
              </a:rPr>
              <a:t>B. Decreased half-life and increased concentration — </a:t>
            </a:r>
            <a:r>
              <a:rPr lang="en-US" sz="1600" dirty="0">
                <a:solidFill>
                  <a:srgbClr val="1F1F1F"/>
                </a:solidFill>
              </a:rPr>
              <a:t>Half-life is PROLONGED when clearance falls (S28).</a:t>
            </a:r>
            <a:endParaRPr lang="en-US" sz="1600" dirty="0"/>
          </a:p>
          <a:p>
            <a:pPr indent="0" marL="0">
              <a:buNone/>
            </a:pPr>
            <a:r>
              <a:rPr lang="en-US" sz="1600" b="1" dirty="0">
                <a:solidFill>
                  <a:srgbClr val="1F1F1F"/>
                </a:solidFill>
              </a:rPr>
              <a:t>C. Decreased half-life and decreased concentration — </a:t>
            </a:r>
            <a:r>
              <a:rPr lang="en-US" sz="1600" dirty="0">
                <a:solidFill>
                  <a:srgbClr val="1F1F1F"/>
                </a:solidFill>
              </a:rPr>
              <a:t>Lower clearance has the opposite effect (S28).</a:t>
            </a:r>
            <a:endParaRPr lang="en-US" sz="1600" dirty="0"/>
          </a:p>
          <a:p>
            <a:pPr indent="0" marL="0">
              <a:buNone/>
            </a:pPr>
            <a:r>
              <a:rPr lang="en-US" sz="1600" b="1" dirty="0">
                <a:solidFill>
                  <a:srgbClr val="1F1F1F"/>
                </a:solidFill>
              </a:rPr>
              <a:t>E. Increased clearance and decreased Vd — </a:t>
            </a:r>
            <a:r>
              <a:rPr lang="en-US" sz="1600" dirty="0">
                <a:solidFill>
                  <a:srgbClr val="1F1F1F"/>
                </a:solidFill>
              </a:rPr>
              <a:t>CKD DECREASES clearance (S15).</a:t>
            </a:r>
            <a:endParaRPr lang="en-US" sz="16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66</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narrow-therapeutic-index medication requires monitoring. Which pharmacokinetic parameter most directly determines how long it takes to reach steady-state concentration?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Chemical name of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Bioavailability of the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Route of administration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Size of each dose given</a:t>
            </a:r>
            <a:endParaRPr lang="en-US" sz="1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13: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67</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Half-life of the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Time to steady state (about 4–5 half-lives) is governed by half-life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Chemical name of the drug — </a:t>
            </a:r>
            <a:r>
              <a:rPr lang="en-US" sz="1600" dirty="0">
                <a:solidFill>
                  <a:srgbClr val="1F1F1F"/>
                </a:solidFill>
              </a:rPr>
              <a:t>A chemical name describes structure; it has no effect on PK (S48).</a:t>
            </a:r>
            <a:endParaRPr lang="en-US" sz="1600" dirty="0"/>
          </a:p>
          <a:p>
            <a:pPr indent="0" marL="0">
              <a:buNone/>
            </a:pPr>
            <a:r>
              <a:rPr lang="en-US" sz="1600" b="1" dirty="0">
                <a:solidFill>
                  <a:srgbClr val="1F1F1F"/>
                </a:solidFill>
              </a:rPr>
              <a:t>C. Bioavailability of the drug — </a:t>
            </a:r>
            <a:r>
              <a:rPr lang="en-US" sz="1600" dirty="0">
                <a:solidFill>
                  <a:srgbClr val="1F1F1F"/>
                </a:solidFill>
              </a:rPr>
              <a:t>Bioavailability is the fraction reaching circulation (Session 1), not the time to steady state (S48).</a:t>
            </a:r>
            <a:endParaRPr lang="en-US" sz="1600" dirty="0"/>
          </a:p>
          <a:p>
            <a:pPr indent="0" marL="0">
              <a:buNone/>
            </a:pPr>
            <a:r>
              <a:rPr lang="en-US" sz="1600" b="1" dirty="0">
                <a:solidFill>
                  <a:srgbClr val="1F1F1F"/>
                </a:solidFill>
              </a:rPr>
              <a:t>D. Route of administration — </a:t>
            </a:r>
            <a:r>
              <a:rPr lang="en-US" sz="1600" dirty="0">
                <a:solidFill>
                  <a:srgbClr val="1F1F1F"/>
                </a:solidFill>
              </a:rPr>
              <a:t>Time to steady state depends on half-life, not route (S48).</a:t>
            </a:r>
            <a:endParaRPr lang="en-US" sz="1600" dirty="0"/>
          </a:p>
          <a:p>
            <a:pPr indent="0" marL="0">
              <a:buNone/>
            </a:pPr>
            <a:r>
              <a:rPr lang="en-US" sz="1600" b="1" dirty="0">
                <a:solidFill>
                  <a:srgbClr val="1F1F1F"/>
                </a:solidFill>
              </a:rPr>
              <a:t>E. Size of each dose given — </a:t>
            </a:r>
            <a:r>
              <a:rPr lang="en-US" sz="1600" dirty="0">
                <a:solidFill>
                  <a:srgbClr val="1F1F1F"/>
                </a:solidFill>
              </a:rPr>
              <a:t>Steady state takes ~4–5 half-lives regardless of dose size (S30).</a:t>
            </a:r>
            <a:endParaRPr lang="en-US" sz="16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68</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receives an IV dose that gives a starting plasma concentration of 100 mg/L. The drug's half-life is 6 hours. What is the plasma concentration at 18 hours?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3.125 mg/L, with about 97% eliminated</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 mg/L, with 93.75% of the drug eliminated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 mg/L, with 50% of the drug eliminated</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 mg/L, with 87.5% of the drug eliminated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 mg/L, with 75% of the drug eliminated</a:t>
            </a:r>
            <a:endParaRPr lang="en-US" sz="1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14: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12.5 mg/L, with 87.5% of the drug eliminated</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18 h = 3 half-lives: C(t) = 100 × (1/2)^3 = 12.5 mg/L (87.5% eliminated) (S19).</a:t>
            </a:r>
            <a:r>
              <a:rPr lang="en-US" sz="1100" dirty="0">
                <a:solidFill>
                  <a:srgbClr val="666666"/>
                </a:solidFill>
              </a:rPr>
              <a:t>  S19</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3.125 mg/L, with about 97% eliminated — </a:t>
            </a:r>
            <a:r>
              <a:rPr lang="en-US" sz="1600" dirty="0">
                <a:solidFill>
                  <a:srgbClr val="1F1F1F"/>
                </a:solidFill>
              </a:rPr>
              <a:t>That is 30 h — 5 half-lives (S19).</a:t>
            </a:r>
            <a:endParaRPr lang="en-US" sz="1600" dirty="0"/>
          </a:p>
          <a:p>
            <a:pPr indent="0" marL="0">
              <a:buNone/>
            </a:pPr>
            <a:r>
              <a:rPr lang="en-US" sz="1600" b="1" dirty="0">
                <a:solidFill>
                  <a:srgbClr val="1F1F1F"/>
                </a:solidFill>
              </a:rPr>
              <a:t>B. 6.25 mg/L, with 93.75% of the drug eliminated — </a:t>
            </a:r>
            <a:r>
              <a:rPr lang="en-US" sz="1600" dirty="0">
                <a:solidFill>
                  <a:srgbClr val="1F1F1F"/>
                </a:solidFill>
              </a:rPr>
              <a:t>That is 24 h — 4 half-lives (S19).</a:t>
            </a:r>
            <a:endParaRPr lang="en-US" sz="1600" dirty="0"/>
          </a:p>
          <a:p>
            <a:pPr indent="0" marL="0">
              <a:buNone/>
            </a:pPr>
            <a:r>
              <a:rPr lang="en-US" sz="1600" b="1" dirty="0">
                <a:solidFill>
                  <a:srgbClr val="1F1F1F"/>
                </a:solidFill>
              </a:rPr>
              <a:t>C. 50 mg/L, with 50% of the drug eliminated — </a:t>
            </a:r>
            <a:r>
              <a:rPr lang="en-US" sz="1600" dirty="0">
                <a:solidFill>
                  <a:srgbClr val="1F1F1F"/>
                </a:solidFill>
              </a:rPr>
              <a:t>That is 6 h — 1 half-life (S19).</a:t>
            </a:r>
            <a:endParaRPr lang="en-US" sz="1600" dirty="0"/>
          </a:p>
          <a:p>
            <a:pPr indent="0" marL="0">
              <a:buNone/>
            </a:pPr>
            <a:r>
              <a:rPr lang="en-US" sz="1600" b="1" dirty="0">
                <a:solidFill>
                  <a:srgbClr val="1F1F1F"/>
                </a:solidFill>
              </a:rPr>
              <a:t>E. 25 mg/L, with 75% of the drug eliminated — </a:t>
            </a:r>
            <a:r>
              <a:rPr lang="en-US" sz="1600" dirty="0">
                <a:solidFill>
                  <a:srgbClr val="1F1F1F"/>
                </a:solidFill>
              </a:rPr>
              <a:t>That is 12 h — 2 half-lives (S19).</a:t>
            </a:r>
            <a:endParaRPr lang="en-US" sz="16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70</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statement correctly pairs each dose type with the parameter it is based on?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bioavailability; maintenance dose on Vd</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clearance; maintenance dose is based on Vd</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Vd; maintenance dose is based on clearance</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clearance alone</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half-life alone</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Loading dose is based on Vd; maintenance dose is based on clearance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Loading doses are based on Vd; maintenance doses are based on clearance (S23 notes).</a:t>
            </a:r>
            <a:r>
              <a:rPr lang="en-US" sz="1100" dirty="0">
                <a:solidFill>
                  <a:srgbClr val="666666"/>
                </a:solidFill>
              </a:rPr>
              <a:t>  S23 (notes)</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Loading dose is based on bioavailability; maintenance dose on Vd — </a:t>
            </a:r>
            <a:r>
              <a:rPr lang="en-US" sz="1600" dirty="0">
                <a:solidFill>
                  <a:srgbClr val="1F1F1F"/>
                </a:solidFill>
              </a:rPr>
              <a:t>Loading = Vd; maintenance = clearance (S23 notes).</a:t>
            </a:r>
            <a:endParaRPr lang="en-US" sz="1600" dirty="0"/>
          </a:p>
          <a:p>
            <a:pPr indent="0" marL="0">
              <a:buNone/>
            </a:pPr>
            <a:r>
              <a:rPr lang="en-US" sz="1600" b="1" dirty="0">
                <a:solidFill>
                  <a:srgbClr val="1F1F1F"/>
                </a:solidFill>
              </a:rPr>
              <a:t>B. Loading dose is based on clearance; maintenance dose is based on Vd — </a:t>
            </a:r>
            <a:r>
              <a:rPr lang="en-US" sz="1600" dirty="0">
                <a:solidFill>
                  <a:srgbClr val="1F1F1F"/>
                </a:solidFill>
              </a:rPr>
              <a:t>This reverses the pairing (S23 notes).</a:t>
            </a:r>
            <a:endParaRPr lang="en-US" sz="1600" dirty="0"/>
          </a:p>
          <a:p>
            <a:pPr indent="0" marL="0">
              <a:buNone/>
            </a:pPr>
            <a:r>
              <a:rPr lang="en-US" sz="1600" b="1" dirty="0">
                <a:solidFill>
                  <a:srgbClr val="1F1F1F"/>
                </a:solidFill>
              </a:rPr>
              <a:t>D. Both loading and maintenance doses are based on clearance alone — </a:t>
            </a:r>
            <a:r>
              <a:rPr lang="en-US" sz="1600" dirty="0">
                <a:solidFill>
                  <a:srgbClr val="1F1F1F"/>
                </a:solidFill>
              </a:rPr>
              <a:t>Loading doses are based on Vd (S23 notes).</a:t>
            </a:r>
            <a:endParaRPr lang="en-US" sz="1600" dirty="0"/>
          </a:p>
          <a:p>
            <a:pPr indent="0" marL="0">
              <a:buNone/>
            </a:pPr>
            <a:r>
              <a:rPr lang="en-US" sz="1600" b="1" dirty="0">
                <a:solidFill>
                  <a:srgbClr val="1F1F1F"/>
                </a:solidFill>
              </a:rPr>
              <a:t>E. Both loading and maintenance doses are based on half-life alone — </a:t>
            </a:r>
            <a:r>
              <a:rPr lang="en-US" sz="1600" dirty="0">
                <a:solidFill>
                  <a:srgbClr val="1F1F1F"/>
                </a:solidFill>
              </a:rPr>
              <a:t>The lecture pairs loading with Vd and maintenance with clearance (S23 notes).</a:t>
            </a:r>
            <a:endParaRPr lang="en-US" sz="16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4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Pharmacogenomics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SO4 · IO1.3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72</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73</a:t>
            </a:r>
            <a:endParaRPr lang="en-US" sz="1000" dirty="0"/>
          </a:p>
        </p:txBody>
      </p:sp>
      <p:sp>
        <p:nvSpPr>
          <p:cNvPr id="7" name="Key definitions card"/>
          <p:cNvSpPr/>
          <p:nvPr/>
        </p:nvSpPr>
        <p:spPr>
          <a:xfrm>
            <a:off x="548640" y="1325880"/>
            <a:ext cx="11094415" cy="2011680"/>
          </a:xfrm>
          <a:prstGeom prst="roundRect">
            <a:avLst>
              <a:gd name="adj" fmla="val 545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14300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studies how genetic variation changes an individual's response to a drug.</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Why the same dose does not work the same way in everyone.</a:t>
            </a:r>
            <a:r>
              <a:rPr lang="en-US" sz="1300" dirty="0">
                <a:solidFill>
                  <a:srgbClr val="666666"/>
                </a:solidFill>
              </a:rPr>
              <a:t>  S31</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74</a:t>
            </a:r>
            <a:endParaRPr lang="en-US" sz="1000" dirty="0"/>
          </a:p>
        </p:txBody>
      </p:sp>
      <p:sp>
        <p:nvSpPr>
          <p:cNvPr id="7" name="How it works (1/2)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Genetic variation can alter drug metabolism (e.g., CYP enzyme activity).</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transport across membranes.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target structure or expression.</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overall drug response and risk of adverse reactions.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Personalized pharmacotherapy combines genotype, phenotype, disease state, and other medications into individualized therapy.</a:t>
            </a:r>
            <a:r>
              <a:rPr lang="en-US" sz="1300" dirty="0">
                <a:solidFill>
                  <a:srgbClr val="666666"/>
                </a:solidFill>
              </a:rPr>
              <a:t>  S34</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75</a:t>
            </a:r>
            <a:endParaRPr lang="en-US" sz="1000" dirty="0"/>
          </a:p>
        </p:txBody>
      </p:sp>
      <p:sp>
        <p:nvSpPr>
          <p:cNvPr id="7" name="How it works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is one input among several — genotype alone never dictates therapy in isolation.</a:t>
            </a:r>
            <a:r>
              <a:rPr lang="en-US" sz="1300" dirty="0">
                <a:solidFill>
                  <a:srgbClr val="666666"/>
                </a:solidFill>
              </a:rPr>
              <a:t>  S34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Codeine is converted to morphine (200× more potent) by CYP2D6; CPIC recommends an alternative analgesic for CYP2D6 poor </a:t>
            </a:r>
            <a:r>
              <a:rPr lang="en-US" sz="1800" b="1" dirty="0">
                <a:solidFill>
                  <a:srgbClr val="1F1F1F"/>
                </a:solidFill>
              </a:rPr>
              <a:t>and</a:t>
            </a:r>
            <a:r>
              <a:rPr lang="en-US" sz="1800" dirty="0">
                <a:solidFill>
                  <a:srgbClr val="1F1F1F"/>
                </a:solidFill>
              </a:rPr>
              <a:t> ultrarapid metabolizers.</a:t>
            </a:r>
            <a:r>
              <a:rPr lang="en-US" sz="1300" dirty="0">
                <a:solidFill>
                  <a:srgbClr val="666666"/>
                </a:solidFill>
              </a:rPr>
              <a:t>  p. 81; p. 83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Clopidogrel: about 85% of a dose is inactivated by esterases; CYP2C19 activates the rest. CYP2C19 poor/intermediate metabolizers → prasugrel or ticagrelor.</a:t>
            </a:r>
            <a:r>
              <a:rPr lang="en-US" sz="1300" dirty="0">
                <a:solidFill>
                  <a:srgbClr val="666666"/>
                </a:solidFill>
              </a:rPr>
              <a:t>  p. 81; p. 82</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TPMT intermediate activity: start thiopurines at 30–70% of the target dose; deficient: use a drastically reduced dose or an alternative.</a:t>
            </a:r>
            <a:r>
              <a:rPr lang="en-US" sz="1300" dirty="0">
                <a:solidFill>
                  <a:srgbClr val="666666"/>
                </a:solidFill>
              </a:rPr>
              <a:t>  p. 83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Warfarin dose varies up to 20-fold between patients; CYP2C9 and VKORC1 genotypes explain much of it.</a:t>
            </a:r>
            <a:r>
              <a:rPr lang="en-US" sz="1300" dirty="0">
                <a:solidFill>
                  <a:srgbClr val="666666"/>
                </a:solidFill>
              </a:rPr>
              <a:t>  p. 90</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76</a:t>
            </a:r>
            <a:endParaRPr lang="en-US" sz="1000" dirty="0"/>
          </a:p>
        </p:txBody>
      </p:sp>
      <p:sp>
        <p:nvSpPr>
          <p:cNvPr id="7" name="Clinical relevance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CYP2D6 variation alters metabolism of many antidepressants and opioids (e.g., codeine activation).</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CYP2C19 variation affects clopidogrel activation and some antidepressant/PPI dosing.</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TPMT deficiency raises toxicity risk with thiopurine drugs (e.g., azathioprine).</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Certain HLA alleles sharply raise the risk of severe hypersensitivity to specific drugs.</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HLA-B*5801 is associated with severe hypersensitivity reactions to allopurinol — a textbook pharmacogenomic screening consideration (seen again in the gout lecture).</a:t>
            </a:r>
            <a:r>
              <a:rPr lang="en-US" sz="1300" dirty="0">
                <a:solidFill>
                  <a:srgbClr val="666666"/>
                </a:solidFill>
              </a:rPr>
              <a:t>  S36; S33 (notes); SG U1-R12</a:t>
            </a:r>
            <a:endParaRPr lang="en-US" sz="18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77</a:t>
            </a:r>
            <a:endParaRPr lang="en-US" sz="1000" dirty="0"/>
          </a:p>
        </p:txBody>
      </p:sp>
      <p:sp>
        <p:nvSpPr>
          <p:cNvPr id="7" name="Drugs named as examples card"/>
          <p:cNvSpPr/>
          <p:nvPr/>
        </p:nvSpPr>
        <p:spPr>
          <a:xfrm>
            <a:off x="548640" y="1325880"/>
            <a:ext cx="11094415" cy="3721608"/>
          </a:xfrm>
          <a:prstGeom prst="roundRect">
            <a:avLst>
              <a:gd name="adj" fmla="val 2948"/>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10637215" cy="285292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Codeine (CYP2D6), clopidogrel (CYP2C19), azathioprine (TPMT), allopurinol (HLA-B*5801); also antidepressants, opioids, PPIs.</a:t>
            </a:r>
            <a:r>
              <a:rPr lang="en-US" sz="1300" dirty="0">
                <a:solidFill>
                  <a:srgbClr val="666666"/>
                </a:solidFill>
              </a:rPr>
              <a:t>  S33; S36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metabolizes up to one-quarter of clinically used drugs (β blockers, antidepressants, antipsychotics, opioids).</a:t>
            </a:r>
            <a:r>
              <a:rPr lang="en-US" sz="1300" dirty="0">
                <a:solidFill>
                  <a:srgbClr val="666666"/>
                </a:solidFill>
              </a:rPr>
              <a:t>  p. 78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ultrarapid metabolizers: up to one-third of Ethiopians and Saudi Arabians; CYP2C19 poor metabolizers: 3–5% of Caucasians, 18–23% of Japanese.</a:t>
            </a:r>
            <a:r>
              <a:rPr lang="en-US" sz="1300" dirty="0">
                <a:solidFill>
                  <a:srgbClr val="666666"/>
                </a:solidFill>
              </a:rPr>
              <a:t>  p. 67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**HLA-B*57:01</a:t>
            </a:r>
            <a:r>
              <a:rPr lang="en-US" sz="1800" b="1" dirty="0">
                <a:solidFill>
                  <a:srgbClr val="1F1F1F"/>
                </a:solidFill>
              </a:rPr>
              <a:t> → abacavir hypersensitivity; </a:t>
            </a:r>
            <a:r>
              <a:rPr lang="en-US" sz="1800" dirty="0">
                <a:solidFill>
                  <a:srgbClr val="1F1F1F"/>
                </a:solidFill>
              </a:rPr>
              <a:t>G6PD deficiency** → rasburicase contraindicated; slow NAT2 acetylators (~50% in the USA) → isoniazid toxicity.</a:t>
            </a:r>
            <a:r>
              <a:rPr lang="en-US" sz="1300" dirty="0">
                <a:solidFill>
                  <a:srgbClr val="666666"/>
                </a:solidFill>
              </a:rPr>
              <a:t>  p. 70; p. 83; p. 88</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78</a:t>
            </a:r>
            <a:endParaRPr lang="en-US" sz="1000" dirty="0"/>
          </a:p>
        </p:txBody>
      </p:sp>
      <p:sp>
        <p:nvSpPr>
          <p:cNvPr id="7" name="Exam traps card"/>
          <p:cNvSpPr/>
          <p:nvPr/>
        </p:nvSpPr>
        <p:spPr>
          <a:xfrm>
            <a:off x="548640" y="1325880"/>
            <a:ext cx="11094415" cy="2107692"/>
          </a:xfrm>
          <a:prstGeom prst="roundRect">
            <a:avLst>
              <a:gd name="adj" fmla="val 520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2390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HLA-B*5801 before allopurinol = severe hypersensitivity risk — not absorption, not taste, and not irrelevant to drug selection.</a:t>
            </a:r>
            <a:r>
              <a:rPr lang="en-US" sz="1300" dirty="0">
                <a:solidFill>
                  <a:srgbClr val="666666"/>
                </a:solidFill>
              </a:rPr>
              <a:t>  S35-36</a:t>
            </a:r>
            <a:endParaRPr lang="en-US" sz="1800" dirty="0"/>
          </a:p>
          <a:p>
            <a:pPr marL="228600" indent="-228600">
              <a:spcAft>
                <a:spcPts val="800"/>
              </a:spcAft>
              <a:buSzPct val="100000"/>
              <a:buChar char="•"/>
            </a:pPr>
            <a:r>
              <a:rPr lang="en-US" sz="1800" dirty="0">
                <a:solidFill>
                  <a:srgbClr val="1F1F1F"/>
                </a:solidFill>
              </a:rPr>
              <a:t>Genotype is one input — never the sole basis for therapy.</a:t>
            </a:r>
            <a:r>
              <a:rPr lang="en-US" sz="1300" dirty="0">
                <a:solidFill>
                  <a:srgbClr val="666666"/>
                </a:solidFill>
              </a:rPr>
              <a:t>  S34</a:t>
            </a:r>
            <a:endParaRPr lang="en-US" sz="18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Pharmacogenomics in practice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79</a:t>
            </a:r>
            <a:endParaRPr lang="en-US" sz="1000" dirty="0"/>
          </a:p>
        </p:txBody>
      </p:sp>
      <p:graphicFrame>
        <p:nvGraphicFramePr>
          <p:cNvPr id="8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Variant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What it changes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Drugs named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CYP2D6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Metabolism (incl. codeine </a:t>
                      </a:r>
                      <a:r>
                        <a:rPr lang="en-US" sz="1600" b="1" dirty="0">
                          <a:solidFill>
                            <a:srgbClr val="1F1F1F"/>
                          </a:solidFill>
                        </a:rPr>
                        <a:t>activation</a:t>
                      </a:r>
                      <a:r>
                        <a:rPr lang="en-US" sz="1600" dirty="0">
                          <a:solidFill>
                            <a:srgbClr val="1F1F1F"/>
                          </a:solidFill>
                        </a:rPr>
                        <a: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Many antidepressants, opioids (codeine)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CYP2C19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Activation / dosing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Clopidogrel; some antidepressants, PPIs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TPMT deficiency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 Toxicity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Thiopurines (azathioprine)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HLA alleles (HLA-B*5801)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 Severe hypersensitivity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Allopurinol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S33; S36</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80</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can a CYP2D6 variant change codeine's effect? Codeine needs CYP2D6 activation — change the enzyme's activity and you change how much active drug is made.</a:t>
            </a:r>
            <a:r>
              <a:rPr lang="en-US" sz="1300" dirty="0">
                <a:solidFill>
                  <a:srgbClr val="666666"/>
                </a:solidFill>
              </a:rPr>
              <a:t>  S32; S33</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 → drug pairs: </a:t>
            </a:r>
            <a:r>
              <a:rPr lang="en-US" sz="1800" b="1" dirty="0">
                <a:solidFill>
                  <a:srgbClr val="1F1F1F"/>
                </a:solidFill>
              </a:rPr>
              <a:t>2D6</a:t>
            </a:r>
            <a:r>
              <a:rPr lang="en-US" sz="1800" dirty="0">
                <a:solidFill>
                  <a:srgbClr val="1F1F1F"/>
                </a:solidFill>
              </a:rPr>
              <a:t> → co</a:t>
            </a:r>
            <a:r>
              <a:rPr lang="en-US" sz="1800" b="1" dirty="0">
                <a:solidFill>
                  <a:srgbClr val="1F1F1F"/>
                </a:solidFill>
              </a:rPr>
              <a:t>D</a:t>
            </a:r>
            <a:r>
              <a:rPr lang="en-US" sz="1800" dirty="0">
                <a:solidFill>
                  <a:srgbClr val="1F1F1F"/>
                </a:solidFill>
              </a:rPr>
              <a:t>eine; </a:t>
            </a:r>
            <a:r>
              <a:rPr lang="en-US" sz="1800" b="1" dirty="0">
                <a:solidFill>
                  <a:srgbClr val="1F1F1F"/>
                </a:solidFill>
              </a:rPr>
              <a:t>2C19</a:t>
            </a:r>
            <a:r>
              <a:rPr lang="en-US" sz="1800" dirty="0">
                <a:solidFill>
                  <a:srgbClr val="1F1F1F"/>
                </a:solidFill>
              </a:rPr>
              <a:t> → </a:t>
            </a:r>
            <a:r>
              <a:rPr lang="en-US" sz="1800" b="1" dirty="0">
                <a:solidFill>
                  <a:srgbClr val="1F1F1F"/>
                </a:solidFill>
              </a:rPr>
              <a:t>C</a:t>
            </a:r>
            <a:r>
              <a:rPr lang="en-US" sz="1800" dirty="0">
                <a:solidFill>
                  <a:srgbClr val="1F1F1F"/>
                </a:solidFill>
              </a:rPr>
              <a:t>lopidogrel; </a:t>
            </a:r>
            <a:r>
              <a:rPr lang="en-US" sz="1800" b="1" dirty="0">
                <a:solidFill>
                  <a:srgbClr val="1F1F1F"/>
                </a:solidFill>
              </a:rPr>
              <a:t>T</a:t>
            </a:r>
            <a:r>
              <a:rPr lang="en-US" sz="1800" dirty="0">
                <a:solidFill>
                  <a:srgbClr val="1F1F1F"/>
                </a:solidFill>
              </a:rPr>
              <a:t>PMT → </a:t>
            </a:r>
            <a:r>
              <a:rPr lang="en-US" sz="1800" b="1" dirty="0">
                <a:solidFill>
                  <a:srgbClr val="1F1F1F"/>
                </a:solidFill>
              </a:rPr>
              <a:t>T</a:t>
            </a:r>
            <a:r>
              <a:rPr lang="en-US" sz="1800" dirty="0">
                <a:solidFill>
                  <a:srgbClr val="1F1F1F"/>
                </a:solidFill>
              </a:rPr>
              <a:t>hiopurines; **HLA-B*58</a:t>
            </a:r>
            <a:r>
              <a:rPr lang="en-US" sz="1800" b="1" dirty="0">
                <a:solidFill>
                  <a:srgbClr val="1F1F1F"/>
                </a:solidFill>
              </a:rPr>
              <a:t> → </a:t>
            </a:r>
            <a:r>
              <a:rPr lang="en-US" sz="1800" dirty="0">
                <a:solidFill>
                  <a:srgbClr val="1F1F1F"/>
                </a:solidFill>
              </a:rPr>
              <a:t>A</a:t>
            </a:r>
            <a:r>
              <a:rPr lang="en-US" sz="1800" b="1" dirty="0">
                <a:solidFill>
                  <a:srgbClr val="1F1F1F"/>
                </a:solidFill>
              </a:rPr>
              <a:t>llopurinol (</a:t>
            </a:r>
            <a:r>
              <a:rPr lang="en-US" sz="1800" dirty="0">
                <a:solidFill>
                  <a:srgbClr val="1F1F1F"/>
                </a:solidFill>
              </a:rPr>
              <a:t>A**llergy-like hypersensitivity).</a:t>
            </a:r>
            <a:r>
              <a:rPr lang="en-US" sz="1300" dirty="0">
                <a:solidFill>
                  <a:srgbClr val="666666"/>
                </a:solidFill>
              </a:rPr>
              <a:t>  S33; S36</a:t>
            </a:r>
            <a:endParaRPr lang="en-US" sz="18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81</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Pharmacogenomics = genetic variation changing drug response (metabolism, transport, target, ADR risk).</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**HLA-B*5801 + allopurinol** → severe hypersensitivity risk.</a:t>
            </a:r>
            <a:r>
              <a:rPr lang="en-US" sz="1300" dirty="0">
                <a:solidFill>
                  <a:srgbClr val="666666"/>
                </a:solidFill>
              </a:rPr>
              <a:t>  S36</a:t>
            </a:r>
            <a:endParaRPr lang="en-US" sz="1800" dirty="0"/>
          </a:p>
          <a:p>
            <a:pPr marL="228600" indent="-228600">
              <a:spcAft>
                <a:spcPts val="800"/>
              </a:spcAft>
              <a:buSzPct val="100000"/>
              <a:buChar char="•"/>
            </a:pPr>
            <a:r>
              <a:rPr lang="en-US" sz="1800" dirty="0">
                <a:solidFill>
                  <a:srgbClr val="1F1F1F"/>
                </a:solidFill>
              </a:rPr>
              <a:t>CYP2D6–codeine; CYP2C19–clopidogrel; TPMT–azathioprine.</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Genotype is </a:t>
            </a:r>
            <a:r>
              <a:rPr lang="en-US" sz="1800" b="1" dirty="0">
                <a:solidFill>
                  <a:srgbClr val="1F1F1F"/>
                </a:solidFill>
              </a:rPr>
              <a:t>one input among several</a:t>
            </a:r>
            <a:r>
              <a:rPr lang="en-US" sz="1800" dirty="0">
                <a:solidFill>
                  <a:srgbClr val="1F1F1F"/>
                </a:solidFill>
              </a:rPr>
              <a:t>.</a:t>
            </a:r>
            <a:r>
              <a:rPr lang="en-US" sz="1300" dirty="0">
                <a:solidFill>
                  <a:srgbClr val="666666"/>
                </a:solidFill>
              </a:rPr>
              <a:t>  S34</a:t>
            </a:r>
            <a:endParaRPr lang="en-US" sz="1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S35-36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82</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found to carry the HLA-B*5801 allele before starting allopurinol. Why does this matter clinically?</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bearing on drug selection for this patient</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flags a sharply higher risk of severe hypersensitivity</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faster CYP2D6 metabolism of allopurinol</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reduced absorption of allopurinol from the gut</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only affects how the drug tastes to the patient</a:t>
            </a:r>
            <a:endParaRPr lang="en-US" sz="18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16: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It flags a sharply higher risk of severe hypersensitivity</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HLA-B*5801 is associated with severe hypersensitivity reactions to allopurinol — a textbook screening consideration (S36).</a:t>
            </a:r>
            <a:r>
              <a:rPr lang="en-US" sz="1100" dirty="0">
                <a:solidFill>
                  <a:srgbClr val="666666"/>
                </a:solidFill>
              </a:rPr>
              <a:t>  S35-36</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has no bearing on drug selection for this patient — </a:t>
            </a:r>
            <a:r>
              <a:rPr lang="en-US" sz="1600" dirty="0">
                <a:solidFill>
                  <a:srgbClr val="1F1F1F"/>
                </a:solidFill>
              </a:rPr>
              <a:t>It is a key pharmacogenomic screening consideration (S36).</a:t>
            </a:r>
            <a:endParaRPr lang="en-US" sz="1600" dirty="0"/>
          </a:p>
          <a:p>
            <a:pPr indent="0" marL="0">
              <a:buNone/>
            </a:pPr>
            <a:r>
              <a:rPr lang="en-US" sz="1600" b="1" dirty="0">
                <a:solidFill>
                  <a:srgbClr val="1F1F1F"/>
                </a:solidFill>
              </a:rPr>
              <a:t>C. It predicts faster CYP2D6 metabolism of allopurinol — </a:t>
            </a:r>
            <a:r>
              <a:rPr lang="en-US" sz="1600" dirty="0">
                <a:solidFill>
                  <a:srgbClr val="1F1F1F"/>
                </a:solidFill>
              </a:rPr>
              <a:t>HLA alleles relate to hypersensitivity; CYP2D6 relates to metabolism (S33).</a:t>
            </a:r>
            <a:endParaRPr lang="en-US" sz="1600" dirty="0"/>
          </a:p>
          <a:p>
            <a:pPr indent="0" marL="0">
              <a:buNone/>
            </a:pPr>
            <a:r>
              <a:rPr lang="en-US" sz="1600" b="1" dirty="0">
                <a:solidFill>
                  <a:srgbClr val="1F1F1F"/>
                </a:solidFill>
              </a:rPr>
              <a:t>D. It predicts reduced absorption of allopurinol from the gut — </a:t>
            </a:r>
            <a:r>
              <a:rPr lang="en-US" sz="1600" dirty="0">
                <a:solidFill>
                  <a:srgbClr val="1F1F1F"/>
                </a:solidFill>
              </a:rPr>
              <a:t>The allele flags hypersensitivity risk, not absorption (S36).</a:t>
            </a:r>
            <a:endParaRPr lang="en-US" sz="1600" dirty="0"/>
          </a:p>
          <a:p>
            <a:pPr indent="0" marL="0">
              <a:buNone/>
            </a:pPr>
            <a:r>
              <a:rPr lang="en-US" sz="1600" b="1" dirty="0">
                <a:solidFill>
                  <a:srgbClr val="1F1F1F"/>
                </a:solidFill>
              </a:rPr>
              <a:t>E. It only affects how the drug tastes to the patient — </a:t>
            </a:r>
            <a:r>
              <a:rPr lang="en-US" sz="1600" dirty="0">
                <a:solidFill>
                  <a:srgbClr val="1F1F1F"/>
                </a:solidFill>
              </a:rPr>
              <a:t>It flags a severe hypersensitivity risk (S36).</a:t>
            </a:r>
            <a:endParaRPr lang="en-US" sz="16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84</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about to start azathioprine. Testing shows TPMT deficiency. What is the main clinical concern?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concern, since genotype never affects therapy</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Reduced activation of the drug into its active form</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risk of toxicity from the thiopurine drug</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Severe HLA-associated hypersensitivity to the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Faster CYP2D6 metabolism of the drug and lost effect</a:t>
            </a:r>
            <a:endParaRPr lang="en-US" sz="18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17: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risk of toxicity from the thiopurine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TPMT deficiency raises toxicity risk with thiopurine drugs such as azathioprine (S33).</a:t>
            </a:r>
            <a:r>
              <a:rPr lang="en-US" sz="1100" dirty="0">
                <a:solidFill>
                  <a:srgbClr val="666666"/>
                </a:solidFill>
              </a:rPr>
              <a:t>  S33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concern, since genotype never affects therapy — </a:t>
            </a:r>
            <a:r>
              <a:rPr lang="en-US" sz="1600" dirty="0">
                <a:solidFill>
                  <a:srgbClr val="1F1F1F"/>
                </a:solidFill>
              </a:rPr>
              <a:t>Genotype is one input among several — it still matters (S34).</a:t>
            </a:r>
            <a:endParaRPr lang="en-US" sz="1600" dirty="0"/>
          </a:p>
          <a:p>
            <a:pPr indent="0" marL="0">
              <a:buNone/>
            </a:pPr>
            <a:r>
              <a:rPr lang="en-US" sz="1600" b="1" dirty="0">
                <a:solidFill>
                  <a:srgbClr val="1F1F1F"/>
                </a:solidFill>
              </a:rPr>
              <a:t>B. Reduced activation of the drug into its active form — </a:t>
            </a:r>
            <a:r>
              <a:rPr lang="en-US" sz="1600" dirty="0">
                <a:solidFill>
                  <a:srgbClr val="1F1F1F"/>
                </a:solidFill>
              </a:rPr>
              <a:t>Reduced activation is the CYP2C19–clopidogrel example (S33).</a:t>
            </a:r>
            <a:endParaRPr lang="en-US" sz="1600" dirty="0"/>
          </a:p>
          <a:p>
            <a:pPr indent="0" marL="0">
              <a:buNone/>
            </a:pPr>
            <a:r>
              <a:rPr lang="en-US" sz="1600" b="1" dirty="0">
                <a:solidFill>
                  <a:srgbClr val="1F1F1F"/>
                </a:solidFill>
              </a:rPr>
              <a:t>D. Severe HLA-associated hypersensitivity to the drug — </a:t>
            </a:r>
            <a:r>
              <a:rPr lang="en-US" sz="1600" dirty="0">
                <a:solidFill>
                  <a:srgbClr val="1F1F1F"/>
                </a:solidFill>
              </a:rPr>
              <a:t>That is the HLA allele example (e.g., HLA-B*5801 with allopurinol) (S33, S36).</a:t>
            </a:r>
            <a:endParaRPr lang="en-US" sz="1600" dirty="0"/>
          </a:p>
          <a:p>
            <a:pPr indent="0" marL="0">
              <a:buNone/>
            </a:pPr>
            <a:r>
              <a:rPr lang="en-US" sz="1600" b="1" dirty="0">
                <a:solidFill>
                  <a:srgbClr val="1F1F1F"/>
                </a:solidFill>
              </a:rPr>
              <a:t>E. Faster CYP2D6 metabolism of the drug and lost effect — </a:t>
            </a:r>
            <a:r>
              <a:rPr lang="en-US" sz="1600" dirty="0">
                <a:solidFill>
                  <a:srgbClr val="1F1F1F"/>
                </a:solidFill>
              </a:rPr>
              <a:t>CYP2D6 variation affects antidepressants and opioids (S33).</a:t>
            </a:r>
            <a:endParaRPr lang="en-US" sz="16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86</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pairing of a genetic variant with the drug it most affects is correct?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HLA-B*5801 — clopidogrel activation</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clopidogrel activation</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allopurinol reactions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CYP2D6 variation — azathioprine toxicity</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TPMT variation — codeine activation</a:t>
            </a:r>
            <a:endParaRPr lang="en-US" sz="18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18: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87</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CYP2C19 variation — clopidogrel activation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CYP2C19 variation affects clopidogrel activation and some antidepressant/PPI dosing (S33).</a:t>
            </a:r>
            <a:r>
              <a:rPr lang="en-US" sz="1100" dirty="0">
                <a:solidFill>
                  <a:srgbClr val="666666"/>
                </a:solidFill>
              </a:rPr>
              <a:t>  S33; S36</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HLA-B*5801 — clopidogrel activation — </a:t>
            </a:r>
            <a:r>
              <a:rPr lang="en-US" sz="1600" dirty="0">
                <a:solidFill>
                  <a:srgbClr val="1F1F1F"/>
                </a:solidFill>
              </a:rPr>
              <a:t>HLA-B*5801 is tied to allopurinol hypersensitivity (S36).</a:t>
            </a:r>
            <a:endParaRPr lang="en-US" sz="1600" dirty="0"/>
          </a:p>
          <a:p>
            <a:pPr indent="0" marL="0">
              <a:buNone/>
            </a:pPr>
            <a:r>
              <a:rPr lang="en-US" sz="1600" b="1" dirty="0">
                <a:solidFill>
                  <a:srgbClr val="1F1F1F"/>
                </a:solidFill>
              </a:rPr>
              <a:t>C. CYP2C19 variation — allopurinol reactions — </a:t>
            </a:r>
            <a:r>
              <a:rPr lang="en-US" sz="1600" dirty="0">
                <a:solidFill>
                  <a:srgbClr val="1F1F1F"/>
                </a:solidFill>
              </a:rPr>
              <a:t>Allopurinol reactions are HLA-B*5801 (S36).</a:t>
            </a:r>
            <a:endParaRPr lang="en-US" sz="1600" dirty="0"/>
          </a:p>
          <a:p>
            <a:pPr indent="0" marL="0">
              <a:buNone/>
            </a:pPr>
            <a:r>
              <a:rPr lang="en-US" sz="1600" b="1" dirty="0">
                <a:solidFill>
                  <a:srgbClr val="1F1F1F"/>
                </a:solidFill>
              </a:rPr>
              <a:t>D. CYP2D6 variation — azathioprine toxicity — </a:t>
            </a:r>
            <a:r>
              <a:rPr lang="en-US" sz="1600" dirty="0">
                <a:solidFill>
                  <a:srgbClr val="1F1F1F"/>
                </a:solidFill>
              </a:rPr>
              <a:t>Azathioprine toxicity is TPMT deficiency (S33).</a:t>
            </a:r>
            <a:endParaRPr lang="en-US" sz="1600" dirty="0"/>
          </a:p>
          <a:p>
            <a:pPr indent="0" marL="0">
              <a:buNone/>
            </a:pPr>
            <a:r>
              <a:rPr lang="en-US" sz="1600" b="1" dirty="0">
                <a:solidFill>
                  <a:srgbClr val="1F1F1F"/>
                </a:solidFill>
              </a:rPr>
              <a:t>E. TPMT variation — codeine activation — </a:t>
            </a:r>
            <a:r>
              <a:rPr lang="en-US" sz="1600" dirty="0">
                <a:solidFill>
                  <a:srgbClr val="1F1F1F"/>
                </a:solidFill>
              </a:rPr>
              <a:t>Codeine activation is CYP2D6 (S33).</a:t>
            </a:r>
            <a:endParaRPr lang="en-US" sz="16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88</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Which statement about using pharmacogenomic results best matches the lecture's personalized-pharmacotherapy model?</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is one input alongside phenotype, disease, and other drugs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alone should determine both the drug and its dose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affects adverse-reaction risk but never drug metabolism</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matters only for drugs that are given by the IV route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becomes irrelevant once a drug reaches steady state</a:t>
            </a:r>
            <a:endParaRPr lang="en-US" sz="18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19: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Genotype is one input alongside phenotype, disease, and other drugs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Pharmacogenomics is one input among several — genotype alone never dictates therapy in isolation (S34).</a:t>
            </a:r>
            <a:r>
              <a:rPr lang="en-US" sz="1100" dirty="0">
                <a:solidFill>
                  <a:srgbClr val="666666"/>
                </a:solidFill>
              </a:rPr>
              <a:t>  S32; S34</a:t>
            </a:r>
            <a:endParaRPr lang="en-US" sz="1600" dirty="0"/>
          </a:p>
        </p:txBody>
      </p:sp>
      <p:sp>
        <p:nvSpPr>
          <p:cNvPr id="11" name="Why others wrong card"/>
          <p:cNvSpPr/>
          <p:nvPr/>
        </p:nvSpPr>
        <p:spPr>
          <a:xfrm>
            <a:off x="548640" y="2625344"/>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735072"/>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Genotype alone should determine both the drug and its dose — </a:t>
            </a:r>
            <a:r>
              <a:rPr lang="en-US" sz="1600" dirty="0">
                <a:solidFill>
                  <a:srgbClr val="1F1F1F"/>
                </a:solidFill>
              </a:rPr>
              <a:t>Genotype alone never dictates therapy in isolation (S34).</a:t>
            </a:r>
            <a:endParaRPr lang="en-US" sz="1600" dirty="0"/>
          </a:p>
          <a:p>
            <a:pPr indent="0" marL="0">
              <a:buNone/>
            </a:pPr>
            <a:r>
              <a:rPr lang="en-US" sz="1600" b="1" dirty="0">
                <a:solidFill>
                  <a:srgbClr val="1F1F1F"/>
                </a:solidFill>
              </a:rPr>
              <a:t>C. Genotype affects adverse-reaction risk but never drug metabolism — </a:t>
            </a:r>
            <a:r>
              <a:rPr lang="en-US" sz="1600" dirty="0">
                <a:solidFill>
                  <a:srgbClr val="1F1F1F"/>
                </a:solidFill>
              </a:rPr>
              <a:t>Genetic variation can alter metabolism (e.g., CYP activity) (S32).</a:t>
            </a:r>
            <a:endParaRPr lang="en-US" sz="1600" dirty="0"/>
          </a:p>
          <a:p>
            <a:pPr indent="0" marL="0">
              <a:buNone/>
            </a:pPr>
            <a:r>
              <a:rPr lang="en-US" sz="1600" b="1" dirty="0">
                <a:solidFill>
                  <a:srgbClr val="1F1F1F"/>
                </a:solidFill>
              </a:rPr>
              <a:t>D. Genotype matters only for drugs that are given by the IV route — </a:t>
            </a:r>
            <a:r>
              <a:rPr lang="en-US" sz="1600" dirty="0">
                <a:solidFill>
                  <a:srgbClr val="1F1F1F"/>
                </a:solidFill>
              </a:rPr>
              <a:t>Genetic variation alters metabolism, transport, targets, and response (S32).</a:t>
            </a:r>
            <a:endParaRPr lang="en-US" sz="1600" dirty="0"/>
          </a:p>
          <a:p>
            <a:pPr indent="0" marL="0">
              <a:buNone/>
            </a:pPr>
            <a:r>
              <a:rPr lang="en-US" sz="1600" b="1" dirty="0">
                <a:solidFill>
                  <a:srgbClr val="1F1F1F"/>
                </a:solidFill>
              </a:rPr>
              <a:t>E. Genotype becomes irrelevant once a drug reaches steady state — </a:t>
            </a:r>
            <a:r>
              <a:rPr lang="en-US" sz="1600" dirty="0">
                <a:solidFill>
                  <a:srgbClr val="1F1F1F"/>
                </a:solidFill>
              </a:rPr>
              <a:t>Nothing in the materials limits genotype's relevance this way (S32, S34).</a:t>
            </a:r>
            <a:endParaRPr lang="en-US" sz="16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90</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62-year-old has a coronary stent placed. Genotyping shows he is a CYP2C19 poor metabolizer. Which antiplatelet choice does CPIC guidance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Azathioprine at 30–70% of the usual starting dose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plus a CYP2C19 inhibitor to raise its level</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Codeine-free analgesia plus standard-dose clopidogrel</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Prasugrel or ticagrelor instead of clopidogrel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at the standard dose with routine follow-up</a:t>
            </a:r>
            <a:endParaRPr lang="en-US" sz="18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20: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Prasugrel or ticagrelor instead of clopidogrel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Clopidogrel needs CYP2C19 activation; poor metabolizers make little active drug, so prasugrel or ticagrelor is recommended (p. 81; p. 82).</a:t>
            </a:r>
            <a:r>
              <a:rPr lang="en-US" sz="1100" dirty="0">
                <a:solidFill>
                  <a:srgbClr val="666666"/>
                </a:solidFill>
              </a:rPr>
              <a:t>  p. 81-82</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Azathioprine at 30–70% of the usual starting dose — </a:t>
            </a:r>
            <a:r>
              <a:rPr lang="en-US" sz="1600" dirty="0">
                <a:solidFill>
                  <a:srgbClr val="1F1F1F"/>
                </a:solidFill>
              </a:rPr>
              <a:t>That dose rule is for TPMT-intermediate thiopurine use (p. 83).</a:t>
            </a:r>
            <a:endParaRPr lang="en-US" sz="1600" dirty="0"/>
          </a:p>
          <a:p>
            <a:pPr indent="0" marL="0">
              <a:buNone/>
            </a:pPr>
            <a:r>
              <a:rPr lang="en-US" sz="1600" b="1" dirty="0">
                <a:solidFill>
                  <a:srgbClr val="1F1F1F"/>
                </a:solidFill>
              </a:rPr>
              <a:t>B. Clopidogrel plus a CYP2C19 inhibitor to raise its level — </a:t>
            </a:r>
            <a:r>
              <a:rPr lang="en-US" sz="1600" dirty="0">
                <a:solidFill>
                  <a:srgbClr val="1F1F1F"/>
                </a:solidFill>
              </a:rPr>
              <a:t>Inhibiting CYP2C19 would reduce clopidogrel activation further (p. 81).</a:t>
            </a:r>
            <a:endParaRPr lang="en-US" sz="1600" dirty="0"/>
          </a:p>
          <a:p>
            <a:pPr indent="0" marL="0">
              <a:buNone/>
            </a:pPr>
            <a:r>
              <a:rPr lang="en-US" sz="1600" b="1" dirty="0">
                <a:solidFill>
                  <a:srgbClr val="1F1F1F"/>
                </a:solidFill>
              </a:rPr>
              <a:t>C. Codeine-free analgesia plus standard-dose clopidogrel — </a:t>
            </a:r>
            <a:r>
              <a:rPr lang="en-US" sz="1600" dirty="0">
                <a:solidFill>
                  <a:srgbClr val="1F1F1F"/>
                </a:solidFill>
              </a:rPr>
              <a:t>Codeine relates to CYP2D6, not antiplatelet choice (p. 81).</a:t>
            </a:r>
            <a:endParaRPr lang="en-US" sz="1600" dirty="0"/>
          </a:p>
          <a:p>
            <a:pPr indent="0" marL="0">
              <a:buNone/>
            </a:pPr>
            <a:r>
              <a:rPr lang="en-US" sz="1600" b="1" dirty="0">
                <a:solidFill>
                  <a:srgbClr val="1F1F1F"/>
                </a:solidFill>
              </a:rPr>
              <a:t>E. Clopidogrel at the standard dose with routine follow-up — </a:t>
            </a:r>
            <a:r>
              <a:rPr lang="en-US" sz="1600" dirty="0">
                <a:solidFill>
                  <a:srgbClr val="1F1F1F"/>
                </a:solidFill>
              </a:rPr>
              <a:t>Standard clopidogrel risks stent thrombosis in poor metabolizers (p. 81).</a:t>
            </a:r>
            <a:endParaRPr lang="en-US" sz="16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5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Putting It All Together: Clinical Decision-Making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SO5 · IO1.3 · IO1.4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92</a:t>
            </a:r>
            <a:endParaRPr lang="en-US" sz="10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93</a:t>
            </a:r>
            <a:endParaRPr lang="en-US" sz="1000" dirty="0"/>
          </a:p>
        </p:txBody>
      </p:sp>
      <p:sp>
        <p:nvSpPr>
          <p:cNvPr id="7" name="Key definitions card"/>
          <p:cNvSpPr/>
          <p:nvPr/>
        </p:nvSpPr>
        <p:spPr>
          <a:xfrm>
            <a:off x="548640" y="1325880"/>
            <a:ext cx="11094415" cy="2386584"/>
          </a:xfrm>
          <a:prstGeom prst="roundRect">
            <a:avLst>
              <a:gd name="adj" fmla="val 4598"/>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5179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From concepts to clinical decisions: one integrated pharmacology pathway — Dose → Absorption → Distribution → Receptor / Target → Effect, with Metabolism and Excretion clearing the drug.</a:t>
            </a:r>
            <a:r>
              <a:rPr lang="en-US" sz="1300" dirty="0">
                <a:solidFill>
                  <a:srgbClr val="666666"/>
                </a:solidFill>
              </a:rPr>
              <a:t>  S37; S38</a:t>
            </a:r>
            <a:endParaRPr lang="en-US" sz="1800" dirty="0"/>
          </a:p>
          <a:p>
            <a:pPr marL="228600" indent="-228600">
              <a:spcAft>
                <a:spcPts val="800"/>
              </a:spcAft>
              <a:buSzPct val="100000"/>
              <a:buChar char="•"/>
            </a:pPr>
            <a:r>
              <a:rPr lang="en-US" sz="1800" b="1" dirty="0">
                <a:solidFill>
                  <a:srgbClr val="1F1F1F"/>
                </a:solidFill>
              </a:rPr>
              <a:t>Every topic in this lecture is a stop somewhere along this pathway — use it as your mental checklist when you evaluate any drug.</a:t>
            </a:r>
            <a:r>
              <a:rPr lang="en-US" sz="1300" dirty="0">
                <a:solidFill>
                  <a:srgbClr val="666666"/>
                </a:solidFill>
              </a:rPr>
              <a:t>  S38</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94</a:t>
            </a:r>
            <a:endParaRPr lang="en-US" sz="1000" dirty="0"/>
          </a:p>
        </p:txBody>
      </p:sp>
      <p:sp>
        <p:nvSpPr>
          <p:cNvPr id="7" name="How it works card"/>
          <p:cNvSpPr/>
          <p:nvPr/>
        </p:nvSpPr>
        <p:spPr>
          <a:xfrm>
            <a:off x="548640" y="1325880"/>
            <a:ext cx="11094415" cy="4050792"/>
          </a:xfrm>
          <a:prstGeom prst="roundRect">
            <a:avLst>
              <a:gd name="adj" fmla="val 2709"/>
            </a:avLst>
          </a:prstGeom>
          <a:solidFill>
            <a:srgbClr val="F2F4F7"/>
          </a:solidFill>
          <a:ln w="12700">
            <a:solidFill>
              <a:srgbClr val="F2F4F7"/>
            </a:solidFill>
            <a:prstDash val="solid"/>
          </a:ln>
        </p:spPr>
      </p:sp>
      <p:sp>
        <p:nvSpPr>
          <p:cNvPr id="8" name="How it works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1" name="How it works body"/>
          <p:cNvSpPr txBox="1"/>
          <p:nvPr/>
        </p:nvSpPr>
        <p:spPr>
          <a:xfrm>
            <a:off x="777240" y="2075688"/>
            <a:ext cx="10637215" cy="31821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Before you prescribe — the clinical decision-making checklist: Indication — is there a clear reason to treat?</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Contraindications and allergies.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Renal and hepatic function.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Drug interactions (including CYP450).</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Age, pregnancy, and other patient-specific factors.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Correct dose, route, and monitoring plan.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Memorize this list — it is exactly the checklist applied in the MSK cases (NSAID in CKD, methotrexate in pregnancy, etc.).</a:t>
            </a:r>
            <a:r>
              <a:rPr lang="en-US" sz="1300" dirty="0">
                <a:solidFill>
                  <a:srgbClr val="666666"/>
                </a:solidFill>
              </a:rPr>
              <a:t>  S39 (notes)</a:t>
            </a:r>
            <a:endParaRPr lang="en-US" sz="1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95</a:t>
            </a:r>
            <a:endParaRPr lang="en-US" sz="1000" dirty="0"/>
          </a:p>
        </p:txBody>
      </p:sp>
      <p:sp>
        <p:nvSpPr>
          <p:cNvPr id="7" name="Clinical relevance (1/2) card"/>
          <p:cNvSpPr/>
          <p:nvPr/>
        </p:nvSpPr>
        <p:spPr>
          <a:xfrm>
            <a:off x="548640" y="1325880"/>
            <a:ext cx="11094415" cy="4000500"/>
          </a:xfrm>
          <a:prstGeom prst="roundRect">
            <a:avLst>
              <a:gd name="adj" fmla="val 2743"/>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31318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 interaction in action: a patient stable on a CYP3A4-substrate medication starts a potent CYP3A4 inhibitor. </a:t>
            </a:r>
            <a:r>
              <a:rPr lang="en-US" sz="1800" b="1" dirty="0">
                <a:solidFill>
                  <a:srgbClr val="1F1F1F"/>
                </a:solidFill>
              </a:rPr>
              <a:t>What happens to the first drug's level, and what would you watch for clinically?</a:t>
            </a:r>
            <a:r>
              <a:rPr lang="en-US" sz="1300" dirty="0">
                <a:solidFill>
                  <a:srgbClr val="666666"/>
                </a:solidFill>
              </a:rPr>
              <a:t>  S40</a:t>
            </a:r>
            <a:endParaRPr lang="en-US" sz="1800" dirty="0"/>
          </a:p>
          <a:p>
            <a:pPr marL="228600" indent="-228600">
              <a:spcAft>
                <a:spcPts val="800"/>
              </a:spcAft>
              <a:buSzPct val="100000"/>
              <a:buChar char="•"/>
            </a:pPr>
            <a:r>
              <a:rPr lang="en-US" sz="1800" b="1" dirty="0">
                <a:solidFill>
                  <a:srgbClr val="1F1F1F"/>
                </a:solidFill>
              </a:rPr>
              <a:t>Clinical pearl: always check for CYP450 interactions before adding a new drug to an existing regimen — one of the most preventable causes of toxicity.</a:t>
            </a:r>
            <a:r>
              <a:rPr lang="en-US" sz="1300" dirty="0">
                <a:solidFill>
                  <a:srgbClr val="666666"/>
                </a:solidFill>
              </a:rPr>
              <a:t>  S40; S43</a:t>
            </a:r>
            <a:endParaRPr lang="en-US" sz="1800" dirty="0"/>
          </a:p>
          <a:p>
            <a:pPr marL="228600" indent="-228600">
              <a:spcAft>
                <a:spcPts val="800"/>
              </a:spcAft>
              <a:buSzPct val="100000"/>
              <a:buChar char="•"/>
            </a:pPr>
            <a:r>
              <a:rPr lang="en-US" sz="1800" dirty="0">
                <a:solidFill>
                  <a:srgbClr val="1F1F1F"/>
                </a:solidFill>
              </a:rPr>
              <a:t>Agonist or antagonist? A new drug binds the same receptor as a home medication, and the home medication's effect weakens. </a:t>
            </a:r>
            <a:r>
              <a:rPr lang="en-US" sz="1800" b="1" dirty="0">
                <a:solidFill>
                  <a:srgbClr val="1F1F1F"/>
                </a:solidFill>
              </a:rPr>
              <a:t>Is the new drug most likely a competitive antagonist, and how could you confirm it pharmacologically?</a:t>
            </a:r>
            <a:r>
              <a:rPr lang="en-US" sz="1300" dirty="0">
                <a:solidFill>
                  <a:srgbClr val="666666"/>
                </a:solidFill>
              </a:rPr>
              <a:t>  S41</a:t>
            </a:r>
            <a:endParaRPr lang="en-US" sz="1800" dirty="0"/>
          </a:p>
          <a:p>
            <a:pPr marL="228600" indent="-228600">
              <a:spcAft>
                <a:spcPts val="800"/>
              </a:spcAft>
              <a:buSzPct val="100000"/>
              <a:buChar char="•"/>
            </a:pPr>
            <a:r>
              <a:rPr lang="en-US" sz="1800" b="1" dirty="0">
                <a:solidFill>
                  <a:srgbClr val="1F1F1F"/>
                </a:solidFill>
              </a:rPr>
              <a:t>Clinical pearl: a competitive antagonist can be overcome by increasing the agonist dose — if raising the home medication's dose restores the effect, that supports competitive (rather than irreversible) antagonism.</a:t>
            </a:r>
            <a:r>
              <a:rPr lang="en-US" sz="1300" dirty="0">
                <a:solidFill>
                  <a:srgbClr val="666666"/>
                </a:solidFill>
              </a:rPr>
              <a:t>  S41</a:t>
            </a:r>
            <a:endParaRPr lang="en-US" sz="18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96</a:t>
            </a:r>
            <a:endParaRPr lang="en-US" sz="1000" dirty="0"/>
          </a:p>
        </p:txBody>
      </p:sp>
      <p:sp>
        <p:nvSpPr>
          <p:cNvPr id="7" name="Clinical relevance (2/2) card"/>
          <p:cNvSpPr/>
          <p:nvPr/>
        </p:nvSpPr>
        <p:spPr>
          <a:xfrm>
            <a:off x="548640" y="1325880"/>
            <a:ext cx="11094415" cy="4558284"/>
          </a:xfrm>
          <a:prstGeom prst="roundRect">
            <a:avLst>
              <a:gd name="adj" fmla="val 2407"/>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3689604"/>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Study-guide case: 68-year-old woman, stage 4 CKD (eGFR 24 mL/min), starting a narrow-TI oral antiarrhythmic eliminated mainly unchanged by the kidney; she started a strong CYP3A4 inhibitor 3 weeks ago.</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Two concerns: reduced renal clearance from CKD will raise the antiarrhythmic's concentration and prolong its half-life regardless of the new drug; separately, if it has any hepatic/CYP3A4 component, the CYP3A4 inhibitor would compound accumulation further.</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Before dispensing: check eGFR/CrCl, consider a lower dose or extended interval, and closely monitor renal function and signs of toxicity (arrhythmia worsening, other drug-specific toxicity) after starting.</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If the drug were instead cleared by the liver via CYP3A4: the direct renal-clearance concern becomes less central (though CKD can still indirectly affect hepatic drug handling), and the CYP3A4 interaction becomes the dominant concern.</a:t>
            </a:r>
            <a:r>
              <a:rPr lang="en-US" sz="1300" dirty="0">
                <a:solidFill>
                  <a:srgbClr val="666666"/>
                </a:solidFill>
              </a:rPr>
              <a:t>  SG U1-S</a:t>
            </a:r>
            <a:endParaRPr lang="en-US" sz="14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97</a:t>
            </a:r>
            <a:endParaRPr lang="en-US" sz="1000" dirty="0"/>
          </a:p>
        </p:txBody>
      </p:sp>
      <p:sp>
        <p:nvSpPr>
          <p:cNvPr id="7" name="Drugs named as examples card"/>
          <p:cNvSpPr/>
          <p:nvPr/>
        </p:nvSpPr>
        <p:spPr>
          <a:xfrm>
            <a:off x="548640" y="1325880"/>
            <a:ext cx="5410048" cy="4727448"/>
          </a:xfrm>
          <a:prstGeom prst="roundRect">
            <a:avLst>
              <a:gd name="adj" fmla="val 2321"/>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the integrated vignettes use unnamed drugs ("a CYP3A4-substrate medication," "a home medication").</a:t>
            </a:r>
            <a:r>
              <a:rPr lang="en-US" sz="1300" dirty="0">
                <a:solidFill>
                  <a:srgbClr val="666666"/>
                </a:solidFill>
              </a:rPr>
              <a:t>  S40; S41</a:t>
            </a:r>
            <a:endParaRPr lang="en-US" sz="1800" dirty="0"/>
          </a:p>
        </p:txBody>
      </p:sp>
      <p:sp>
        <p:nvSpPr>
          <p:cNvPr id="12" name="Exam traps card"/>
          <p:cNvSpPr/>
          <p:nvPr/>
        </p:nvSpPr>
        <p:spPr>
          <a:xfrm>
            <a:off x="6233008" y="1325880"/>
            <a:ext cx="5410048" cy="4727448"/>
          </a:xfrm>
          <a:prstGeom prst="roundRect">
            <a:avLst>
              <a:gd name="adj" fmla="val 2321"/>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single check most aimed at preventing a toxic, predictable drug-drug interaction is reviewing CYP450 interactions — not brand name, chemical name, or half-life alone.</a:t>
            </a:r>
            <a:r>
              <a:rPr lang="en-US" sz="1300" dirty="0">
                <a:solidFill>
                  <a:srgbClr val="666666"/>
                </a:solidFill>
              </a:rPr>
              <a:t>  S42-43</a:t>
            </a:r>
            <a:endParaRPr lang="en-US" sz="1800" dirty="0"/>
          </a:p>
          <a:p>
            <a:pPr marL="228600" indent="-228600">
              <a:spcAft>
                <a:spcPts val="800"/>
              </a:spcAft>
              <a:buSzPct val="100000"/>
              <a:buChar char="•"/>
            </a:pPr>
            <a:r>
              <a:rPr lang="en-US" sz="1800" dirty="0">
                <a:solidFill>
                  <a:srgbClr val="1F1F1F"/>
                </a:solidFill>
              </a:rPr>
              <a:t>Weaker home-medication effect + restored by a higher dose = competitive; not restored = irreversible.</a:t>
            </a:r>
            <a:r>
              <a:rPr lang="en-US" sz="1300" dirty="0">
                <a:solidFill>
                  <a:srgbClr val="666666"/>
                </a:solidFill>
              </a:rPr>
              <a:t>  S41</a:t>
            </a:r>
            <a:endParaRPr lang="en-US" sz="1800" dirty="0"/>
          </a:p>
          <a:p>
            <a:pPr marL="228600" indent="-228600">
              <a:spcAft>
                <a:spcPts val="800"/>
              </a:spcAft>
              <a:buSzPct val="100000"/>
              <a:buChar char="•"/>
            </a:pPr>
            <a:r>
              <a:rPr lang="en-US" sz="1800" dirty="0">
                <a:solidFill>
                  <a:srgbClr val="1F1F1F"/>
                </a:solidFill>
              </a:rPr>
              <a:t>Reviewing indication, contraindications, renal/hepatic function, interactions, and monitoring = the clinical decision-making framework — not pharmacogenomic testing or Phase IV surveillance.</a:t>
            </a:r>
            <a:r>
              <a:rPr lang="en-US" sz="1300" dirty="0">
                <a:solidFill>
                  <a:srgbClr val="666666"/>
                </a:solidFill>
              </a:rPr>
              <a:t>  S47-48</a:t>
            </a:r>
            <a:endParaRPr lang="en-US" sz="18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600" b="1" dirty="0">
                <a:solidFill>
                  <a:srgbClr val="1F1F1F"/>
                </a:solidFill>
                <a:latin typeface="Calibri" pitchFamily="34" charset="0"/>
                <a:ea typeface="Calibri" pitchFamily="34" charset="-122"/>
                <a:cs typeface="Calibri" pitchFamily="34" charset="-120"/>
              </a:rPr>
              <a:t>Compare: Key takeaways: the toolkit for every drug class</a:t>
            </a:r>
            <a:endParaRPr lang="en-US" sz="26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98</a:t>
            </a:r>
            <a:endParaRPr lang="en-US" sz="1000" dirty="0"/>
          </a:p>
        </p:txBody>
      </p:sp>
      <p:graphicFrame>
        <p:nvGraphicFramePr>
          <p:cNvPr id="9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8716975"/>
              </a:tblGrid>
              <a:tr h="0">
                <a:tc>
                  <a:txBody>
                    <a:bodyPr/>
                    <a:lstStyle/>
                    <a:p>
                      <a:pPr indent="0" marL="0">
                        <a:buNone/>
                      </a:pPr>
                      <a:r>
                        <a:rPr lang="en-US" sz="1600" b="1" dirty="0">
                          <a:solidFill>
                            <a:srgbClr val="FFFFFF"/>
                          </a:solidFill>
                        </a:rPr>
                        <a: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Idea</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Pharmacodynamics = what the drug does to the body (receptors, potency, efficacy).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Pharmacokinetics = what the body does to the drug (ADME).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Receptor interactions (agonism, antagonism) explain most drug effects.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ADME together determine how much drug reaches the target, and for how long.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Patient-specific factors — renal/hepatic function, genetics, interactions — determine the individual response.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96646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S44; S44 (notes)</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99</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check CYP450 before adding any drug? An inhibitor added to a stable regimen raises the other drug's level — predictable, so it is one of the most preventable causes of toxicity.</a:t>
            </a:r>
            <a:r>
              <a:rPr lang="en-US" sz="1300" dirty="0">
                <a:solidFill>
                  <a:srgbClr val="666666"/>
                </a:solidFill>
              </a:rPr>
              <a:t>  S6; S40</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Checklist "</a:t>
            </a:r>
            <a:r>
              <a:rPr lang="en-US" sz="1800" b="1" dirty="0">
                <a:solidFill>
                  <a:srgbClr val="1F1F1F"/>
                </a:solidFill>
              </a:rPr>
              <a:t>I C R I A D</a:t>
            </a:r>
            <a:r>
              <a:rPr lang="en-US" sz="1800" dirty="0">
                <a:solidFill>
                  <a:srgbClr val="1F1F1F"/>
                </a:solidFill>
              </a:rPr>
              <a:t>": </a:t>
            </a:r>
            <a:r>
              <a:rPr lang="en-US" sz="1800" b="1" dirty="0">
                <a:solidFill>
                  <a:srgbClr val="1F1F1F"/>
                </a:solidFill>
              </a:rPr>
              <a:t>I</a:t>
            </a:r>
            <a:r>
              <a:rPr lang="en-US" sz="1800" dirty="0">
                <a:solidFill>
                  <a:srgbClr val="1F1F1F"/>
                </a:solidFill>
              </a:rPr>
              <a:t>ndication · </a:t>
            </a:r>
            <a:r>
              <a:rPr lang="en-US" sz="1800" b="1" dirty="0">
                <a:solidFill>
                  <a:srgbClr val="1F1F1F"/>
                </a:solidFill>
              </a:rPr>
              <a:t>C</a:t>
            </a:r>
            <a:r>
              <a:rPr lang="en-US" sz="1800" dirty="0">
                <a:solidFill>
                  <a:srgbClr val="1F1F1F"/>
                </a:solidFill>
              </a:rPr>
              <a:t>ontraindications/allergies · </a:t>
            </a:r>
            <a:r>
              <a:rPr lang="en-US" sz="1800" b="1" dirty="0">
                <a:solidFill>
                  <a:srgbClr val="1F1F1F"/>
                </a:solidFill>
              </a:rPr>
              <a:t>R</a:t>
            </a:r>
            <a:r>
              <a:rPr lang="en-US" sz="1800" dirty="0">
                <a:solidFill>
                  <a:srgbClr val="1F1F1F"/>
                </a:solidFill>
              </a:rPr>
              <a:t>enal/hepatic · </a:t>
            </a:r>
            <a:r>
              <a:rPr lang="en-US" sz="1800" b="1" dirty="0">
                <a:solidFill>
                  <a:srgbClr val="1F1F1F"/>
                </a:solidFill>
              </a:rPr>
              <a:t>I</a:t>
            </a:r>
            <a:r>
              <a:rPr lang="en-US" sz="1800" dirty="0">
                <a:solidFill>
                  <a:srgbClr val="1F1F1F"/>
                </a:solidFill>
              </a:rPr>
              <a:t>nteractions (CYP450) · </a:t>
            </a:r>
            <a:r>
              <a:rPr lang="en-US" sz="1800" b="1" dirty="0">
                <a:solidFill>
                  <a:srgbClr val="1F1F1F"/>
                </a:solidFill>
              </a:rPr>
              <a:t>A</a:t>
            </a:r>
            <a:r>
              <a:rPr lang="en-US" sz="1800" dirty="0">
                <a:solidFill>
                  <a:srgbClr val="1F1F1F"/>
                </a:solidFill>
              </a:rPr>
              <a:t>ge/pregnancy · </a:t>
            </a:r>
            <a:r>
              <a:rPr lang="en-US" sz="1800" b="1" dirty="0">
                <a:solidFill>
                  <a:srgbClr val="1F1F1F"/>
                </a:solidFill>
              </a:rPr>
              <a:t>D</a:t>
            </a:r>
            <a:r>
              <a:rPr lang="en-US" sz="1800" dirty="0">
                <a:solidFill>
                  <a:srgbClr val="1F1F1F"/>
                </a:solidFill>
              </a:rPr>
              <a:t>ose, route, monitoring.</a:t>
            </a:r>
            <a:r>
              <a:rPr lang="en-US" sz="1300" dirty="0">
                <a:solidFill>
                  <a:srgbClr val="666666"/>
                </a:solidFill>
              </a:rPr>
              <a:t>  S39</a:t>
            </a:r>
            <a:endParaRPr lang="en-US" sz="18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100</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Memorize the checklist: indication, contraindications/allergies, renal/hepatic, interactions (CYP450), age/pregnancy, dose/route/monitoring.</a:t>
            </a:r>
            <a:r>
              <a:rPr lang="en-US" sz="1300" dirty="0">
                <a:solidFill>
                  <a:srgbClr val="666666"/>
                </a:solidFill>
              </a:rPr>
              <a:t>  S39; S39 (notes)</a:t>
            </a:r>
            <a:endParaRPr lang="en-US" sz="1800" dirty="0"/>
          </a:p>
          <a:p>
            <a:pPr marL="228600" indent="-228600">
              <a:spcAft>
                <a:spcPts val="800"/>
              </a:spcAft>
              <a:buSzPct val="100000"/>
              <a:buChar char="•"/>
            </a:pPr>
            <a:r>
              <a:rPr lang="en-US" sz="1800" b="1" dirty="0">
                <a:solidFill>
                  <a:srgbClr val="1F1F1F"/>
                </a:solidFill>
              </a:rPr>
              <a:t>Always check CYP450 interactions before adding a new drug.</a:t>
            </a:r>
            <a:r>
              <a:rPr lang="en-US" sz="1300" dirty="0">
                <a:solidFill>
                  <a:srgbClr val="666666"/>
                </a:solidFill>
              </a:rPr>
              <a:t>  S40</a:t>
            </a:r>
            <a:endParaRPr lang="en-US" sz="1800" dirty="0"/>
          </a:p>
          <a:p>
            <a:pPr marL="228600" indent="-228600">
              <a:spcAft>
                <a:spcPts val="800"/>
              </a:spcAft>
              <a:buSzPct val="100000"/>
              <a:buChar char="•"/>
            </a:pPr>
            <a:r>
              <a:rPr lang="en-US" sz="1800" dirty="0">
                <a:solidFill>
                  <a:srgbClr val="1F1F1F"/>
                </a:solidFill>
              </a:rPr>
              <a:t>These five ideas are the toolkit for every drug class for the rest of the course, starting with musculoskeletal pharmacology.</a:t>
            </a:r>
            <a:r>
              <a:rPr lang="en-US" sz="1300" dirty="0">
                <a:solidFill>
                  <a:srgbClr val="666666"/>
                </a:solidFill>
              </a:rPr>
              <a:t>  S44 (notes)</a:t>
            </a:r>
            <a:endParaRPr lang="en-US" sz="18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S42-43</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Before prescribing any new medication, which single check is most directly aimed at preventing a toxic, often-predictable drug-drug interaction?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CYP450 interactions with the current medications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the drug's half-life alone before dosing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drug's brand name with the patient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route of administration on the order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Checking the drug's chemical name in a reference</a:t>
            </a:r>
            <a:endParaRPr lang="en-US" sz="18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Reviewing CYP450 interactions with the current medications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CYP450 interaction screening is one of the highest-yield steps for preventing predictable, preventable toxicity (S43).</a:t>
            </a:r>
            <a:r>
              <a:rPr lang="en-US" sz="1100" dirty="0">
                <a:solidFill>
                  <a:srgbClr val="666666"/>
                </a:solidFill>
              </a:rPr>
              <a:t>  S42-43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Reviewing the drug's half-life alone before dosing — </a:t>
            </a:r>
            <a:r>
              <a:rPr lang="en-US" sz="1600" dirty="0">
                <a:solidFill>
                  <a:srgbClr val="1F1F1F"/>
                </a:solidFill>
              </a:rPr>
              <a:t>Half-life alone doesn't identify a drug-drug interaction (S43).</a:t>
            </a:r>
            <a:endParaRPr lang="en-US" sz="1600" dirty="0"/>
          </a:p>
          <a:p>
            <a:pPr indent="0" marL="0">
              <a:buNone/>
            </a:pPr>
            <a:r>
              <a:rPr lang="en-US" sz="1600" b="1" dirty="0">
                <a:solidFill>
                  <a:srgbClr val="1F1F1F"/>
                </a:solidFill>
              </a:rPr>
              <a:t>C. Confirming the drug's brand name with the patient — </a:t>
            </a:r>
            <a:r>
              <a:rPr lang="en-US" sz="1600" dirty="0">
                <a:solidFill>
                  <a:srgbClr val="1F1F1F"/>
                </a:solidFill>
              </a:rPr>
              <a:t>Brand names don't screen for interactions (S43).</a:t>
            </a:r>
            <a:endParaRPr lang="en-US" sz="1600" dirty="0"/>
          </a:p>
          <a:p>
            <a:pPr indent="0" marL="0">
              <a:buNone/>
            </a:pPr>
            <a:r>
              <a:rPr lang="en-US" sz="1600" b="1" dirty="0">
                <a:solidFill>
                  <a:srgbClr val="1F1F1F"/>
                </a:solidFill>
              </a:rPr>
              <a:t>D. Confirming the route of administration on the order — </a:t>
            </a:r>
            <a:r>
              <a:rPr lang="en-US" sz="1600" dirty="0">
                <a:solidFill>
                  <a:srgbClr val="1F1F1F"/>
                </a:solidFill>
              </a:rPr>
              <a:t>Route is part of the checklist, but interaction review targets this risk (S39, S43).</a:t>
            </a:r>
            <a:endParaRPr lang="en-US" sz="1600" dirty="0"/>
          </a:p>
          <a:p>
            <a:pPr indent="0" marL="0">
              <a:buNone/>
            </a:pPr>
            <a:r>
              <a:rPr lang="en-US" sz="1600" b="1" dirty="0">
                <a:solidFill>
                  <a:srgbClr val="1F1F1F"/>
                </a:solidFill>
              </a:rPr>
              <a:t>E. Checking the drug's chemical name in a reference — </a:t>
            </a:r>
            <a:r>
              <a:rPr lang="en-US" sz="1600" dirty="0">
                <a:solidFill>
                  <a:srgbClr val="1F1F1F"/>
                </a:solidFill>
              </a:rPr>
              <a:t>Chemical names describe structure; they don't screen interactions (S43).</a:t>
            </a:r>
            <a:endParaRPr lang="en-US" sz="16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 reviews indication, contraindications, renal/hepatic function, interactions, and a monitoring plan before prescribing. This process best reflects: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Therapeutic index testing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clinical decision-making framework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Pharmacogenomic screening of the patient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Receptor pharmacology considered alone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Phase IV postmarketing surveillance</a:t>
            </a:r>
            <a:endParaRPr lang="en-US" sz="18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22: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The clinical decision-making framework</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This checklist is the clinical decision-making framework from "Putting It All Together" (S48, S39).</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Therapeutic index testing of the drug — </a:t>
            </a:r>
            <a:r>
              <a:rPr lang="en-US" sz="1600" dirty="0">
                <a:solidFill>
                  <a:srgbClr val="1F1F1F"/>
                </a:solidFill>
              </a:rPr>
              <a:t>TI compares toxic vs. effective dose; it is not this checklist (S47-48).</a:t>
            </a:r>
            <a:endParaRPr lang="en-US" sz="1600" dirty="0"/>
          </a:p>
          <a:p>
            <a:pPr indent="0" marL="0">
              <a:buNone/>
            </a:pPr>
            <a:r>
              <a:rPr lang="en-US" sz="1600" b="1" dirty="0">
                <a:solidFill>
                  <a:srgbClr val="1F1F1F"/>
                </a:solidFill>
              </a:rPr>
              <a:t>C. Pharmacogenomic screening of the patient — </a:t>
            </a:r>
            <a:r>
              <a:rPr lang="en-US" sz="1600" dirty="0">
                <a:solidFill>
                  <a:srgbClr val="1F1F1F"/>
                </a:solidFill>
              </a:rPr>
              <a:t>Pharmacogenomics is one input among several, not the whole checklist (S34).</a:t>
            </a:r>
            <a:endParaRPr lang="en-US" sz="1600" dirty="0"/>
          </a:p>
          <a:p>
            <a:pPr indent="0" marL="0">
              <a:buNone/>
            </a:pPr>
            <a:r>
              <a:rPr lang="en-US" sz="1600" b="1" dirty="0">
                <a:solidFill>
                  <a:srgbClr val="1F1F1F"/>
                </a:solidFill>
              </a:rPr>
              <a:t>D. Receptor pharmacology considered alone — </a:t>
            </a:r>
            <a:r>
              <a:rPr lang="en-US" sz="1600" dirty="0">
                <a:solidFill>
                  <a:srgbClr val="1F1F1F"/>
                </a:solidFill>
              </a:rPr>
              <a:t>Receptor pharmacology is one stop on the pathway (S38).</a:t>
            </a:r>
            <a:endParaRPr lang="en-US" sz="1600" dirty="0"/>
          </a:p>
          <a:p>
            <a:pPr indent="0" marL="0">
              <a:buNone/>
            </a:pPr>
            <a:r>
              <a:rPr lang="en-US" sz="1600" b="1" dirty="0">
                <a:solidFill>
                  <a:srgbClr val="1F1F1F"/>
                </a:solidFill>
              </a:rPr>
              <a:t>E. Phase IV postmarketing surveillance — </a:t>
            </a:r>
            <a:r>
              <a:rPr lang="en-US" sz="1600" dirty="0">
                <a:solidFill>
                  <a:srgbClr val="1F1F1F"/>
                </a:solidFill>
              </a:rPr>
              <a:t>Phase IV is postmarketing surveillance after approval (Session 1; S47).</a:t>
            </a:r>
            <a:endParaRPr lang="en-US" sz="16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has high potency but low efficacy compared with an alternative. For a patient needing maximum symptom relief, which factor matters more when choosing between the two?</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one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Efficacy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Potency</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a:t>
            </a:r>
            <a:endParaRPr lang="en-US" sz="1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23: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Efficacy</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Efficacy (the maximum achievable effect) matters more than potency for most clinical outcomes (S48).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Both equally — </a:t>
            </a:r>
            <a:r>
              <a:rPr lang="en-US" sz="1600" dirty="0">
                <a:solidFill>
                  <a:srgbClr val="1F1F1F"/>
                </a:solidFill>
              </a:rPr>
              <a:t>Efficacy matters more than potency (S48).</a:t>
            </a:r>
            <a:endParaRPr lang="en-US" sz="1600" dirty="0"/>
          </a:p>
          <a:p>
            <a:pPr indent="0" marL="0">
              <a:buNone/>
            </a:pPr>
            <a:r>
              <a:rPr lang="en-US" sz="1600" b="1" dirty="0">
                <a:solidFill>
                  <a:srgbClr val="1F1F1F"/>
                </a:solidFill>
              </a:rPr>
              <a:t>B. Neither one — </a:t>
            </a:r>
            <a:r>
              <a:rPr lang="en-US" sz="1600" dirty="0">
                <a:solidFill>
                  <a:srgbClr val="1F1F1F"/>
                </a:solidFill>
              </a:rPr>
              <a:t>Efficacy predicts the maximum achievable benefit (S48).</a:t>
            </a:r>
            <a:endParaRPr lang="en-US" sz="1600" dirty="0"/>
          </a:p>
          <a:p>
            <a:pPr indent="0" marL="0">
              <a:buNone/>
            </a:pPr>
            <a:r>
              <a:rPr lang="en-US" sz="1600" b="1" dirty="0">
                <a:solidFill>
                  <a:srgbClr val="1F1F1F"/>
                </a:solidFill>
              </a:rPr>
              <a:t>D. Potency — </a:t>
            </a:r>
            <a:r>
              <a:rPr lang="en-US" sz="1600" dirty="0">
                <a:solidFill>
                  <a:srgbClr val="1F1F1F"/>
                </a:solidFill>
              </a:rPr>
              <a:t>Potency is the dose needed; it doesn't set the maximum effect (S48).</a:t>
            </a:r>
            <a:endParaRPr lang="en-US" sz="1600" dirty="0"/>
          </a:p>
          <a:p>
            <a:pPr indent="0" marL="0">
              <a:buNone/>
            </a:pPr>
            <a:r>
              <a:rPr lang="en-US" sz="1600" b="1" dirty="0">
                <a:solidFill>
                  <a:srgbClr val="1F1F1F"/>
                </a:solidFill>
              </a:rPr>
              <a:t>E. Half-life — </a:t>
            </a:r>
            <a:r>
              <a:rPr lang="en-US" sz="1600" dirty="0">
                <a:solidFill>
                  <a:srgbClr val="1F1F1F"/>
                </a:solidFill>
              </a:rPr>
              <a:t>Half-life governs time to steady state, not maximal effect (S48).</a:t>
            </a:r>
            <a:endParaRPr lang="en-US" sz="16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107</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best differentiates a competitive antagonist from a noncompetitive antagonist?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They are pharmacologically identical and produce the same dose-response curve</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Only competitive antagonists cause adverse effects; noncompetitive ones never do</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raises Emax; noncompetitive shifts the curve left at the same Emax</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lowers Emax; noncompetitive shifts the curve right with the same Emax</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Noncompetitive lowers Emax; competitive shifts the curve right without changing Emax</a:t>
            </a:r>
            <a:endParaRPr lang="en-US" sz="18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24: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Noncompetitive lowers Emax; competitive shifts the curve right without changing Emax</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Noncompetitive/irreversible antagonists lower Emax; competitive antagonists shift the curve right without changing Emax (S48).</a:t>
            </a:r>
            <a:r>
              <a:rPr lang="en-US" sz="1100" dirty="0">
                <a:solidFill>
                  <a:srgbClr val="666666"/>
                </a:solidFill>
              </a:rPr>
              <a:t>  S46; S48</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They are pharmacologically identical and produce the same dose-response curve — </a:t>
            </a:r>
            <a:r>
              <a:rPr lang="en-US" sz="1600" dirty="0">
                <a:solidFill>
                  <a:srgbClr val="1F1F1F"/>
                </a:solidFill>
              </a:rPr>
              <a:t>Their curve effects differ (S48).</a:t>
            </a:r>
            <a:endParaRPr lang="en-US" sz="1600" dirty="0"/>
          </a:p>
          <a:p>
            <a:pPr indent="0" marL="0">
              <a:buNone/>
            </a:pPr>
            <a:r>
              <a:rPr lang="en-US" sz="1600" b="1" dirty="0">
                <a:solidFill>
                  <a:srgbClr val="1F1F1F"/>
                </a:solidFill>
              </a:rPr>
              <a:t>B. Only competitive antagonists cause adverse effects; noncompetitive ones never do — </a:t>
            </a:r>
            <a:r>
              <a:rPr lang="en-US" sz="1600" dirty="0">
                <a:solidFill>
                  <a:srgbClr val="1F1F1F"/>
                </a:solidFill>
              </a:rPr>
              <a:t>Adverse effects are not what separates them (S46, S48).</a:t>
            </a:r>
            <a:endParaRPr lang="en-US" sz="1600" dirty="0"/>
          </a:p>
          <a:p>
            <a:pPr indent="0" marL="0">
              <a:buNone/>
            </a:pPr>
            <a:r>
              <a:rPr lang="en-US" sz="1600" b="1" dirty="0">
                <a:solidFill>
                  <a:srgbClr val="1F1F1F"/>
                </a:solidFill>
              </a:rPr>
              <a:t>C. Competitive raises Emax; noncompetitive shifts the curve left at the same Emax — </a:t>
            </a:r>
            <a:r>
              <a:rPr lang="en-US" sz="1600" dirty="0">
                <a:solidFill>
                  <a:srgbClr val="1F1F1F"/>
                </a:solidFill>
              </a:rPr>
              <a:t>Neither raises Emax or shifts left (S48).</a:t>
            </a:r>
            <a:endParaRPr lang="en-US" sz="1600" dirty="0"/>
          </a:p>
          <a:p>
            <a:pPr indent="0" marL="0">
              <a:buNone/>
            </a:pPr>
            <a:r>
              <a:rPr lang="en-US" sz="1600" b="1" dirty="0">
                <a:solidFill>
                  <a:srgbClr val="1F1F1F"/>
                </a:solidFill>
              </a:rPr>
              <a:t>D. Competitive lowers Emax; noncompetitive shifts the curve right with the same Emax — </a:t>
            </a:r>
            <a:r>
              <a:rPr lang="en-US" sz="1600" dirty="0">
                <a:solidFill>
                  <a:srgbClr val="1F1F1F"/>
                </a:solidFill>
              </a:rPr>
              <a:t>This reverses the two (S48).</a:t>
            </a:r>
            <a:endParaRPr lang="en-US" sz="16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starts a new drug that binds the same receptor as their home medication, and the home medication's effect becomes weaker. Raising the home medication's dose restores the full effect. What does this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home medication has become toxic</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full agonist itself</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competitive antagonist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an irreversible antagonist</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strong CYP3A4 inducer</a:t>
            </a:r>
            <a:endParaRPr lang="en-US" sz="18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The new drug is a competitive antagonist</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A competitive antagonist can be overcome by increasing the agonist dose — restoring the effect supports competitive rather than irreversible antagonism (S41).</a:t>
            </a:r>
            <a:r>
              <a:rPr lang="en-US" sz="1100" dirty="0">
                <a:solidFill>
                  <a:srgbClr val="666666"/>
                </a:solidFill>
              </a:rPr>
              <a:t>  S41</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 home medication has become toxic — </a:t>
            </a:r>
            <a:r>
              <a:rPr lang="en-US" sz="1600" dirty="0">
                <a:solidFill>
                  <a:srgbClr val="1F1F1F"/>
                </a:solidFill>
              </a:rPr>
              <a:t>A weaker effect restored by a higher dose points to competition (S41).</a:t>
            </a:r>
            <a:endParaRPr lang="en-US" sz="1600" dirty="0"/>
          </a:p>
          <a:p>
            <a:pPr indent="0" marL="0">
              <a:buNone/>
            </a:pPr>
            <a:r>
              <a:rPr lang="en-US" sz="1600" b="1" dirty="0">
                <a:solidFill>
                  <a:srgbClr val="1F1F1F"/>
                </a:solidFill>
              </a:rPr>
              <a:t>B. The new drug is a full agonist itself — </a:t>
            </a:r>
            <a:r>
              <a:rPr lang="en-US" sz="1600" dirty="0">
                <a:solidFill>
                  <a:srgbClr val="1F1F1F"/>
                </a:solidFill>
              </a:rPr>
              <a:t>A drug that weakens the home medication's effect is acting as an antagonist (S41).</a:t>
            </a:r>
            <a:endParaRPr lang="en-US" sz="1600" dirty="0"/>
          </a:p>
          <a:p>
            <a:pPr indent="0" marL="0">
              <a:buNone/>
            </a:pPr>
            <a:r>
              <a:rPr lang="en-US" sz="1600" b="1" dirty="0">
                <a:solidFill>
                  <a:srgbClr val="1F1F1F"/>
                </a:solidFill>
              </a:rPr>
              <a:t>D. The new drug is an irreversible antagonist — </a:t>
            </a:r>
            <a:r>
              <a:rPr lang="en-US" sz="1600" dirty="0">
                <a:solidFill>
                  <a:srgbClr val="1F1F1F"/>
                </a:solidFill>
              </a:rPr>
              <a:t>Irreversible antagonism would NOT be overcome by raising the dose (S41).</a:t>
            </a:r>
            <a:endParaRPr lang="en-US" sz="1600" dirty="0"/>
          </a:p>
          <a:p>
            <a:pPr indent="0" marL="0">
              <a:buNone/>
            </a:pPr>
            <a:r>
              <a:rPr lang="en-US" sz="1600" b="1" dirty="0">
                <a:solidFill>
                  <a:srgbClr val="1F1F1F"/>
                </a:solidFill>
              </a:rPr>
              <a:t>E. The new drug is a strong CYP3A4 inducer — </a:t>
            </a:r>
            <a:r>
              <a:rPr lang="en-US" sz="1600" dirty="0">
                <a:solidFill>
                  <a:srgbClr val="1F1F1F"/>
                </a:solidFill>
              </a:rPr>
              <a:t>Nothing here involves CYP metabolism; it's receptor competition (S41).</a:t>
            </a:r>
            <a:endParaRPr lang="en-US" sz="16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111</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A 68-year-old woman with stage 4 CKD (eGFR 24 mL/min) is starting a narrow-TI oral antiarrhythmic eliminated mainly unchanged by the kidney. Three weeks ago she began a strong CYP3A4 inhibitor. What is the best step before the prescription is filled?</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so steady state is reached more quickly</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Prescribe the standard dose, since only hepatic drugs are affected by CKD</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Start the drug, and check renal function only if symptoms appear later</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since the CYP3A4 inhibitor will lower the drug's level</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 eGFR/CrCl, lower the dose or extend the interval, and plan close monitoring</a:t>
            </a:r>
            <a:endParaRPr lang="en-US" sz="18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26: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Check eGFR/CrCl, lower the dose or extend the interval, and plan close monitoring</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will raise the drug's concentration and prolong its half-life; before dispensing, check eGFR/CrCl, consider a lower dose or extended interval, and monitor renal function and toxicity (SG U1-S).</a:t>
            </a:r>
            <a:r>
              <a:rPr lang="en-US" sz="1100" dirty="0">
                <a:solidFill>
                  <a:srgbClr val="666666"/>
                </a:solidFill>
              </a:rPr>
              <a:t>  SG U1-S; S15; S28</a:t>
            </a:r>
            <a:endParaRPr lang="en-US" sz="1600" dirty="0"/>
          </a:p>
        </p:txBody>
      </p:sp>
      <p:sp>
        <p:nvSpPr>
          <p:cNvPr id="11" name="Why others wrong card"/>
          <p:cNvSpPr/>
          <p:nvPr/>
        </p:nvSpPr>
        <p:spPr>
          <a:xfrm>
            <a:off x="548640" y="2873248"/>
            <a:ext cx="11094415" cy="2696464"/>
          </a:xfrm>
          <a:prstGeom prst="roundRect">
            <a:avLst>
              <a:gd name="adj" fmla="val 3391"/>
            </a:avLst>
          </a:prstGeom>
          <a:solidFill>
            <a:srgbClr val="F2F4F7"/>
          </a:solidFill>
          <a:ln w="12700">
            <a:solidFill>
              <a:srgbClr val="F2F4F7"/>
            </a:solidFill>
            <a:prstDash val="solid"/>
          </a:ln>
        </p:spPr>
      </p:sp>
      <p:sp>
        <p:nvSpPr>
          <p:cNvPr id="12" name="Why others wrong"/>
          <p:cNvSpPr txBox="1"/>
          <p:nvPr/>
        </p:nvSpPr>
        <p:spPr>
          <a:xfrm>
            <a:off x="777240" y="2982976"/>
            <a:ext cx="10637215" cy="2513584"/>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Shorten the dosing interval so steady state is reached more quickly — </a:t>
            </a:r>
            <a:r>
              <a:rPr lang="en-US" sz="1600" dirty="0">
                <a:solidFill>
                  <a:srgbClr val="1F1F1F"/>
                </a:solidFill>
              </a:rPr>
              <a:t>Intervals are EXTENDED in renal impairment; shortening raises accumulation (S17, S28).</a:t>
            </a:r>
            <a:endParaRPr lang="en-US" sz="1600" dirty="0"/>
          </a:p>
          <a:p>
            <a:pPr indent="0" marL="0">
              <a:buNone/>
            </a:pPr>
            <a:r>
              <a:rPr lang="en-US" sz="1600" b="1" dirty="0">
                <a:solidFill>
                  <a:srgbClr val="1F1F1F"/>
                </a:solidFill>
              </a:rPr>
              <a:t>B. Prescribe the standard dose, since only hepatic drugs are affected by CKD — </a:t>
            </a:r>
            <a:r>
              <a:rPr lang="en-US" sz="1600" dirty="0">
                <a:solidFill>
                  <a:srgbClr val="1F1F1F"/>
                </a:solidFill>
              </a:rPr>
              <a:t>CKD reduces renal clearance, raising concentration and half-life of renally-eliminated drugs (S15, SG U1-S).</a:t>
            </a:r>
            <a:endParaRPr lang="en-US" sz="1600" dirty="0"/>
          </a:p>
          <a:p>
            <a:pPr indent="0" marL="0">
              <a:buNone/>
            </a:pPr>
            <a:r>
              <a:rPr lang="en-US" sz="1600" b="1" dirty="0">
                <a:solidFill>
                  <a:srgbClr val="1F1F1F"/>
                </a:solidFill>
              </a:rPr>
              <a:t>C. Start the drug, and check renal function only if symptoms appear later — </a:t>
            </a:r>
            <a:r>
              <a:rPr lang="en-US" sz="1600" dirty="0">
                <a:solidFill>
                  <a:srgbClr val="1F1F1F"/>
                </a:solidFill>
              </a:rPr>
              <a:t>Check eGFR/CrCl and adjust BEFORE dispensing, then monitor closely (SG U1-S).</a:t>
            </a:r>
            <a:endParaRPr lang="en-US" sz="1600" dirty="0"/>
          </a:p>
          <a:p>
            <a:pPr indent="0" marL="0">
              <a:buNone/>
            </a:pPr>
            <a:r>
              <a:rPr lang="en-US" sz="1600" b="1" dirty="0">
                <a:solidFill>
                  <a:srgbClr val="1F1F1F"/>
                </a:solidFill>
              </a:rPr>
              <a:t>D. Increase the dose, since the CYP3A4 inhibitor will lower the drug's level — </a:t>
            </a:r>
            <a:r>
              <a:rPr lang="en-US" sz="1600" dirty="0">
                <a:solidFill>
                  <a:srgbClr val="1F1F1F"/>
                </a:solidFill>
              </a:rPr>
              <a:t>A CYP3A4 inhibitor RAISES substrate levels (S6); induction lowers them.</a:t>
            </a:r>
            <a:endParaRPr lang="en-US" sz="1600" dirty="0"/>
          </a:p>
        </p:txBody>
      </p:sp>
    </p:spTree>
  </p:cSld>
  <p:clrMapOvr>
    <a:masterClrMapping/>
  </p:clrMapOvr>
</p:sld>
</file>

<file path=ppt/theme/theme1.xml><?xml version="1.0" encoding="utf-8"?>
<a:theme xmlns:a="http://schemas.openxmlformats.org/drawingml/2006/main" name="Study deck light">
  <a:themeElements>
    <a:clrScheme name="Study deck light">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tudy deck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112</Slides>
  <Notes>112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112</vt:i4>
      </vt:variant>
    </vt:vector>
  </HeadingPairs>
  <TitlesOfParts>
    <vt:vector size="1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Introduction to Pharmacology — Session 2</dc:title>
  <dc:subject>PptxGenJS Presentation</dc:subject>
  <dc:creator>PptxGenJS</dc:creator>
  <cp:lastModifiedBy>PptxGenJS</cp:lastModifiedBy>
  <cp:revision>1</cp:revision>
  <dcterms:created xsi:type="dcterms:W3CDTF">2026-10-22T23:39:50Z</dcterms:created>
  <dcterms:modified xsi:type="dcterms:W3CDTF">2026-10-22T23:39:50Z</dcterms:modified>
</cp:coreProperties>
</file>