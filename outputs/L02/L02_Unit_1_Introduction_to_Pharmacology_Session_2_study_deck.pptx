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Lst>
  <p:notesMasterIdLst>
    <p:notesMasterId r:id="rId1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notesMaster" Target="notesMasters/notesMaster1.xml"/><Relationship Id="rId127" Type="http://schemas.openxmlformats.org/officeDocument/2006/relationships/presProps" Target="presProps.xml"/><Relationship Id="rId128" Type="http://schemas.openxmlformats.org/officeDocument/2006/relationships/viewProps" Target="viewProps.xml"/><Relationship Id="rId129" Type="http://schemas.openxmlformats.org/officeDocument/2006/relationships/theme" Target="theme/theme1.xml"/><Relationship Id="rId1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60; p.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81-82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slideLayout" Target="../slideLayouts/slideLayout1.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image" Target="../media/image-83-4.png"/><Relationship Id="rId5" Type="http://schemas.openxmlformats.org/officeDocument/2006/relationships/image" Target="../media/image-83-5.png"/><Relationship Id="rId6" Type="http://schemas.openxmlformats.org/officeDocument/2006/relationships/slideLayout" Target="../slideLayouts/slideLayout1.xml"/><Relationship Id="rId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slideLayout" Target="../slideLayouts/slideLayout1.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image" Target="../media/image-104-4.png"/><Relationship Id="rId5" Type="http://schemas.openxmlformats.org/officeDocument/2006/relationships/image" Target="../media/image-104-5.png"/><Relationship Id="rId6" Type="http://schemas.openxmlformats.org/officeDocument/2006/relationships/slideLayout" Target="../slideLayouts/slideLayout1.xml"/><Relationship Id="rId7"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1.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4887468"/>
          </a:xfrm>
          <a:prstGeom prst="roundRect">
            <a:avLst>
              <a:gd name="adj" fmla="val 224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401878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Microsomal mixed-function oxidase system:</a:t>
            </a:r>
            <a:r>
              <a:rPr lang="en-US" sz="1800" dirty="0">
                <a:solidFill>
                  <a:srgbClr val="1F1F1F"/>
                </a:solidFill>
              </a:rPr>
              <a:t> the Phase I machinery in the smooth endoplasmic reticulum; needs cytochrome P450, NADPH-P450 reductase, NADPH and molecular oxygen.</a:t>
            </a:r>
            <a:r>
              <a:rPr lang="en-US" sz="1300" dirty="0">
                <a:solidFill>
                  <a:srgbClr val="666666"/>
                </a:solidFill>
              </a:rPr>
              <a:t>  p. 59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Cytochrome P450</a:t>
            </a:r>
            <a:r>
              <a:rPr lang="en-US" sz="1800" dirty="0">
                <a:solidFill>
                  <a:srgbClr val="1F1F1F"/>
                </a:solidFill>
              </a:rPr>
              <a:t> is named for the 450-nm light absorption of its carbon-monoxide complex. It has very low substrate specificity: high lipid solubility is the one thing its substrates share.</a:t>
            </a:r>
            <a:r>
              <a:rPr lang="en-US" sz="1300" dirty="0">
                <a:solidFill>
                  <a:srgbClr val="666666"/>
                </a:solidFill>
              </a:rPr>
              <a:t>  p. 59; p. 60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3)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(1/3)</a:t>
            </a:r>
            <a:endParaRPr lang="en-US" sz="1800" dirty="0"/>
          </a:p>
        </p:txBody>
      </p:sp>
      <p:sp>
        <p:nvSpPr>
          <p:cNvPr id="11" name="How it works (1/3)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3)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(2/3)</a:t>
            </a:r>
            <a:endParaRPr lang="en-US" sz="1800" dirty="0"/>
          </a:p>
        </p:txBody>
      </p:sp>
      <p:sp>
        <p:nvSpPr>
          <p:cNvPr id="11" name="How it works (2/3)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alone metabolizes over 50% of the prescription drugs metabolized by the liver.</a:t>
            </a:r>
            <a:r>
              <a:rPr lang="en-US" sz="1300" dirty="0">
                <a:solidFill>
                  <a:srgbClr val="666666"/>
                </a:solidFill>
              </a:rPr>
              <a:t>  p. 60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Acetaminophen is mostly conjugated (glucuronide/sulfate); in overdose glutathione is depleted and the toxic metabolite (NAPQI) injures the liver — </a:t>
            </a:r>
            <a:r>
              <a:rPr lang="en-US" sz="1800" b="1" dirty="0">
                <a:solidFill>
                  <a:srgbClr val="1F1F1F"/>
                </a:solidFill>
              </a:rPr>
              <a:t>N-acetylcysteine</a:t>
            </a:r>
            <a:r>
              <a:rPr lang="en-US" sz="1800" dirty="0">
                <a:solidFill>
                  <a:srgbClr val="1F1F1F"/>
                </a:solidFill>
              </a:rPr>
              <a:t> given within 8–16 hours protects against fulminant hepatotoxicity.</a:t>
            </a:r>
            <a:r>
              <a:rPr lang="en-US" sz="1300" dirty="0">
                <a:solidFill>
                  <a:srgbClr val="666666"/>
                </a:solidFill>
              </a:rPr>
              <a:t>  p. 66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How it works (3/3) card"/>
          <p:cNvSpPr/>
          <p:nvPr/>
        </p:nvSpPr>
        <p:spPr>
          <a:xfrm>
            <a:off x="548640" y="1325880"/>
            <a:ext cx="11094415" cy="4279392"/>
          </a:xfrm>
          <a:prstGeom prst="roundRect">
            <a:avLst>
              <a:gd name="adj" fmla="val 2564"/>
            </a:avLst>
          </a:prstGeom>
          <a:solidFill>
            <a:srgbClr val="F2F4F7"/>
          </a:solidFill>
          <a:ln w="12700">
            <a:solidFill>
              <a:srgbClr val="F2F4F7"/>
            </a:solidFill>
            <a:prstDash val="solid"/>
          </a:ln>
        </p:spPr>
      </p:sp>
      <p:sp>
        <p:nvSpPr>
          <p:cNvPr id="8" name="How it works (3/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(3/3)</a:t>
            </a:r>
            <a:endParaRPr lang="en-US" sz="1800" dirty="0"/>
          </a:p>
        </p:txBody>
      </p:sp>
      <p:sp>
        <p:nvSpPr>
          <p:cNvPr id="11" name="How it works (3/3) body"/>
          <p:cNvSpPr txBox="1"/>
          <p:nvPr/>
        </p:nvSpPr>
        <p:spPr>
          <a:xfrm>
            <a:off x="777240" y="2075688"/>
            <a:ext cx="10637215" cy="3410712"/>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Share of liver P450: CYP3A4 about 30%, CYP2C9 about 20%, CYP1A2 about 15%, CYP2E1 about 10%, CYP2D6 about 5%. CYP3A4 handles over 50% of liver-metabolized prescription drugs.</a:t>
            </a:r>
            <a:r>
              <a:rPr lang="en-US" sz="1300" dirty="0">
                <a:solidFill>
                  <a:srgbClr val="666666"/>
                </a:solidFill>
              </a:rPr>
              <a:t>  p. 60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Inducers act through receptors that switch on CYP genes: </a:t>
            </a:r>
            <a:r>
              <a:rPr lang="en-US" sz="1800" b="1" dirty="0">
                <a:solidFill>
                  <a:srgbClr val="1F1F1F"/>
                </a:solidFill>
              </a:rPr>
              <a:t>AhR</a:t>
            </a:r>
            <a:r>
              <a:rPr lang="en-US" sz="1800" dirty="0">
                <a:solidFill>
                  <a:srgbClr val="1F1F1F"/>
                </a:solidFill>
              </a:rPr>
              <a:t> (tobacco smoke, charcoal-broiled meat, cruciferous vegetables, omeprazole → CYP1A) and </a:t>
            </a:r>
            <a:r>
              <a:rPr lang="en-US" sz="1800" b="1" dirty="0">
                <a:solidFill>
                  <a:srgbClr val="1F1F1F"/>
                </a:solidFill>
              </a:rPr>
              <a:t>PXR</a:t>
            </a:r>
            <a:r>
              <a:rPr lang="en-US" sz="1800" dirty="0">
                <a:solidFill>
                  <a:srgbClr val="1F1F1F"/>
                </a:solidFill>
              </a:rPr>
              <a:t> (rifampin, St. John’s wort, dexamethasone, phenobarbital → CYP3A).</a:t>
            </a:r>
            <a:r>
              <a:rPr lang="en-US" sz="1300" dirty="0">
                <a:solidFill>
                  <a:srgbClr val="666666"/>
                </a:solidFill>
              </a:rPr>
              <a:t>  p. 60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Commensal gut microbiota</a:t>
            </a:r>
            <a:r>
              <a:rPr lang="en-US" sz="1800" dirty="0">
                <a:solidFill>
                  <a:srgbClr val="1F1F1F"/>
                </a:solidFill>
              </a:rPr>
              <a:t> metabolize drugs too: they reduce digoxin, so antibiotics such as erythromycin or tetracycline can double digoxin levels; bacterial β-glucuronidases free glucuronidated drugs for reabsorption (enterohepatic recycling).</a:t>
            </a:r>
            <a:r>
              <a:rPr lang="en-US" sz="1300" dirty="0">
                <a:solidFill>
                  <a:srgbClr val="666666"/>
                </a:solidFill>
              </a:rPr>
              <a:t>  p. 71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An inducer can speed up its own metabolism, producing </a:t>
            </a:r>
            <a:r>
              <a:rPr lang="en-US" sz="1800" b="1" dirty="0">
                <a:solidFill>
                  <a:srgbClr val="1F1F1F"/>
                </a:solidFill>
              </a:rPr>
              <a:t>pharmacokinetic tolerance</a:t>
            </a:r>
            <a:r>
              <a:rPr lang="en-US" sz="1800" dirty="0">
                <a:solidFill>
                  <a:srgbClr val="1F1F1F"/>
                </a:solidFill>
              </a:rPr>
              <a:t>: the same dose works less over time.</a:t>
            </a:r>
            <a:r>
              <a:rPr lang="en-US" sz="1300" dirty="0">
                <a:solidFill>
                  <a:srgbClr val="666666"/>
                </a:solidFill>
              </a:rPr>
              <a:t>  p. 72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1/2)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Liver disease (e.g., cirrhosis, hepatitis) slows metabolism of some drugs enough that ordinary doses can cause coma.</a:t>
            </a:r>
            <a:r>
              <a:rPr lang="en-US" sz="1300" dirty="0">
                <a:solidFill>
                  <a:srgbClr val="666666"/>
                </a:solidFill>
              </a:rPr>
              <a:t>  p. 73</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Clinical relevance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Severe ADRs contribute to about 100,000 US deaths a year and about 7% of hospital admissions.</a:t>
            </a:r>
            <a:r>
              <a:rPr lang="en-US" sz="1300" dirty="0">
                <a:solidFill>
                  <a:srgbClr val="666666"/>
                </a:solidFill>
              </a:rPr>
              <a:t>  p. 71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Smoking induces CYP1A enzymes and can change the metabolism of other drugs.</a:t>
            </a:r>
            <a:r>
              <a:rPr lang="en-US" sz="1300" dirty="0">
                <a:solidFill>
                  <a:srgbClr val="666666"/>
                </a:solidFill>
              </a:rPr>
              <a:t>  p. 60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Diet and environmental factors</a:t>
            </a:r>
            <a:r>
              <a:rPr lang="en-US" sz="1800" dirty="0">
                <a:solidFill>
                  <a:srgbClr val="1F1F1F"/>
                </a:solidFill>
              </a:rPr>
              <a:t> change drug metabolism: charcoal-broiled food and cruciferous vegetables induce CYP1A, grapefruit juice inhibits CYP3A, smokers and pesticide-exposed workers clear some drugs faster, which complicates dosing of narrow-TI drugs.</a:t>
            </a:r>
            <a:r>
              <a:rPr lang="en-US" sz="1300" dirty="0">
                <a:solidFill>
                  <a:srgbClr val="666666"/>
                </a:solidFill>
              </a:rPr>
              <a:t>  p. 71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Stopping an inducer is as risky as starting one: when a sedative inducer is stopped, warfarin metabolism slows, levels rise and bleeding can follow.</a:t>
            </a:r>
            <a:r>
              <a:rPr lang="en-US" sz="1300" dirty="0">
                <a:solidFill>
                  <a:srgbClr val="666666"/>
                </a:solidFill>
              </a:rPr>
              <a:t>  p. 72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Pharmacogenomic testing is still rarely used, although severe ADRs cause about 100,000 US deaths a year and about 7% of hospital admissions.</a:t>
            </a:r>
            <a:r>
              <a:rPr lang="en-US" sz="1300" dirty="0">
                <a:solidFill>
                  <a:srgbClr val="666666"/>
                </a:solidFill>
              </a:rPr>
              <a:t>  p. 71</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sp>
        <p:nvSpPr>
          <p:cNvPr id="7" name="Drugs named as examples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Inducers:</a:t>
            </a:r>
            <a:r>
              <a:rPr lang="en-US" sz="1800" dirty="0">
                <a:solidFill>
                  <a:srgbClr val="1F1F1F"/>
                </a:solidFill>
              </a:rPr>
              <a:t> rifampin, carbamazepine, phenytoin, barbiturates, St. John's wort; </a:t>
            </a:r>
            <a:r>
              <a:rPr lang="en-US" sz="1800" b="1" dirty="0">
                <a:solidFill>
                  <a:srgbClr val="1F1F1F"/>
                </a:solidFill>
              </a:rPr>
              <a:t>inhibitors:</a:t>
            </a:r>
            <a:r>
              <a:rPr lang="en-US" sz="1800" dirty="0">
                <a:solidFill>
                  <a:srgbClr val="1F1F1F"/>
                </a:solidFill>
              </a:rPr>
              <a:t> ketoconazole, clarithromycin/erythromycin, ritonavir, grapefruit juice.</a:t>
            </a:r>
            <a:r>
              <a:rPr lang="en-US" sz="1300" dirty="0">
                <a:solidFill>
                  <a:srgbClr val="666666"/>
                </a:solidFill>
              </a:rPr>
              <a:t>  p. 63; p. 64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 John's wort induces CYP3A4 and speeds metabolism of oral contraceptives, warfarin, cyclosporine, and others.</a:t>
            </a:r>
            <a:r>
              <a:rPr lang="en-US" sz="1300" dirty="0">
                <a:solidFill>
                  <a:srgbClr val="666666"/>
                </a:solidFill>
              </a:rPr>
              <a:t>  p. 72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inhibitors (ketoconazole, erythromycin, grapefruit juice) with terfenadine caused fatal torsades de pointes, and terfenadine was withdrawn.</a:t>
            </a:r>
            <a:r>
              <a:rPr lang="en-US" sz="1300" dirty="0">
                <a:solidFill>
                  <a:srgbClr val="666666"/>
                </a:solidFill>
              </a:rPr>
              <a:t>  p. 72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Allopurinol inhibits xanthine oxidase, so the mercaptopurine dose must be reduced when both are given.</a:t>
            </a:r>
            <a:r>
              <a:rPr lang="en-US" sz="1300" dirty="0">
                <a:solidFill>
                  <a:srgbClr val="666666"/>
                </a:solidFill>
              </a:rPr>
              <a:t>  p. 72</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sp>
        <p:nvSpPr>
          <p:cNvPr id="7" name="Exam traps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graphicFrame>
        <p:nvGraphicFramePr>
          <p:cNvPr id="1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graphicFrame>
        <p:nvGraphicFramePr>
          <p:cNvPr id="2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300" b="1" dirty="0">
                <a:solidFill>
                  <a:srgbClr val="1F1F1F"/>
                </a:solidFill>
                <a:latin typeface="Calibri" pitchFamily="34" charset="0"/>
                <a:ea typeface="Calibri" pitchFamily="34" charset="-122"/>
                <a:cs typeface="Calibri" pitchFamily="34" charset="-120"/>
              </a:rPr>
              <a:t>Compare: How inducers switch on CYP enzymes (textbook Ch. 4)</a:t>
            </a:r>
            <a:endParaRPr lang="en-US" sz="23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graphicFrame>
        <p:nvGraphicFramePr>
          <p:cNvPr id="2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Receptor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Inducers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AhR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Tobacco smoke, charcoal-broiled meat, cruciferous vegetables, omeprazole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CYP1A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PXR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Rifampin, St. John’s wort (hyperforin), dexamethasone, phenobarbital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CYP3A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CAR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Phenobarbital-class inducers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CYP2B6, CYP2C9</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462528"/>
            <a:ext cx="11094415" cy="274320"/>
          </a:xfrm>
          <a:prstGeom prst="rect">
            <a:avLst/>
          </a:prstGeom>
          <a:noFill/>
          <a:ln/>
        </p:spPr>
        <p:txBody>
          <a:bodyPr wrap="square" lIns="0" tIns="0" rIns="0" bIns="0" rtlCol="0" anchor="ctr"/>
          <a:lstStyle/>
          <a:p>
            <a:pPr indent="0" marL="0">
              <a:buNone/>
            </a:pPr>
            <a:r>
              <a:rPr lang="en-US" sz="1000" b="1" dirty="0">
                <a:solidFill>
                  <a:srgbClr val="000000"/>
                </a:solidFill>
                <a:highlight>
                  <a:srgbClr val="FFC000"/>
                </a:highlight>
              </a:rPr>
              <a:t> TB </a:t>
            </a:r>
            <a:r>
              <a:rPr lang="en-US" sz="1000" dirty="0">
                <a:solidFill>
                  <a:srgbClr val="000000"/>
                </a:solidFill>
              </a:rPr>
              <a:t>  </a:t>
            </a:r>
            <a:r>
              <a:rPr lang="en-US" sz="1100" dirty="0">
                <a:solidFill>
                  <a:srgbClr val="666666"/>
                </a:solidFill>
              </a:rPr>
              <a:t>Focus: what tells these apart.  Sources: p. 60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B.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C.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D.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E.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B.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C.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19-year-old arrives 6 hours after a large intentional acetaminophen ingestion. Labs are pending. Which treatment best protects against fulminant liver injury?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Sodium bicarbonate to alkalinize the urine and speed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N-acetylcysteine, started within the 8–16 hour window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Protamine to bind and neutralize the circulating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Rifampin to induce CYP enzymes and clear the drug faster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Waiting for levels before giving any treatment at all</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N-acetylcysteine, started within the 8–16 hour window</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N-acetylcysteine given within 8–16 hours protects against acetaminophen hepatotoxicity by replacing depleted glutathione (p. 66).</a:t>
            </a:r>
            <a:r>
              <a:rPr lang="en-US" sz="1100" dirty="0">
                <a:solidFill>
                  <a:srgbClr val="666666"/>
                </a:solidFill>
              </a:rPr>
              <a:t>  p. 66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Sodium bicarbonate to alkalinize the urine and speed excretion — </a:t>
            </a:r>
            <a:r>
              <a:rPr lang="en-US" sz="1600" dirty="0">
                <a:solidFill>
                  <a:srgbClr val="1F1F1F"/>
                </a:solidFill>
              </a:rPr>
              <a:t>Urine alkalinization is used for aspirin overdose, a weak acid (p. 20).</a:t>
            </a:r>
            <a:endParaRPr lang="en-US" sz="1600" dirty="0"/>
          </a:p>
          <a:p>
            <a:pPr indent="0" marL="0">
              <a:buNone/>
            </a:pPr>
            <a:r>
              <a:rPr lang="en-US" sz="1600" b="1" dirty="0">
                <a:solidFill>
                  <a:srgbClr val="1F1F1F"/>
                </a:solidFill>
              </a:rPr>
              <a:t>C. Protamine to bind and neutralize the circulating drug — </a:t>
            </a:r>
            <a:r>
              <a:rPr lang="en-US" sz="1600" dirty="0">
                <a:solidFill>
                  <a:srgbClr val="1F1F1F"/>
                </a:solidFill>
              </a:rPr>
              <a:t>Protamine neutralizes heparin (p. 26), not acetaminophen.</a:t>
            </a:r>
            <a:endParaRPr lang="en-US" sz="1600" dirty="0"/>
          </a:p>
          <a:p>
            <a:pPr indent="0" marL="0">
              <a:buNone/>
            </a:pPr>
            <a:r>
              <a:rPr lang="en-US" sz="1600" b="1" dirty="0">
                <a:solidFill>
                  <a:srgbClr val="1F1F1F"/>
                </a:solidFill>
              </a:rPr>
              <a:t>D. Rifampin to induce CYP enzymes and clear the drug faster — </a:t>
            </a:r>
            <a:r>
              <a:rPr lang="en-US" sz="1600" dirty="0">
                <a:solidFill>
                  <a:srgbClr val="1F1F1F"/>
                </a:solidFill>
              </a:rPr>
              <a:t>Induction would increase toxic metabolite formation, not protect the liver (p. 66).</a:t>
            </a:r>
            <a:endParaRPr lang="en-US" sz="1600" dirty="0"/>
          </a:p>
          <a:p>
            <a:pPr indent="0" marL="0">
              <a:buNone/>
            </a:pPr>
            <a:r>
              <a:rPr lang="en-US" sz="1600" b="1" dirty="0">
                <a:solidFill>
                  <a:srgbClr val="1F1F1F"/>
                </a:solidFill>
              </a:rPr>
              <a:t>E. Waiting for levels before giving any treatment at all — </a:t>
            </a:r>
            <a:r>
              <a:rPr lang="en-US" sz="1600" dirty="0">
                <a:solidFill>
                  <a:srgbClr val="1F1F1F"/>
                </a:solidFill>
              </a:rPr>
              <a:t>The protective window is 8–16 hours, so delay risks liver failure (p. 66).</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heavy smoker on a CYP1A2-metabolized drug quits smoking abruptly. What should the PA anticipate?</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smoking affects only the lungs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Drug levels will fall because metabolism speeds up</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drug becomes a prodrug that needs activation</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Drug levels may rise as CYP1A induction fades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Renal clearance will double right away</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Drug levels may rise as CYP1A induction fades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Tobacco smoke induces CYP1A through AhR; when the inducer stops, metabolism slows and levels can rise (p. 60; p. 72).</a:t>
            </a:r>
            <a:r>
              <a:rPr lang="en-US" sz="1100" dirty="0">
                <a:solidFill>
                  <a:srgbClr val="666666"/>
                </a:solidFill>
              </a:rPr>
              <a:t>  p. 60; p. 72</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since smoking affects only the lungs — </a:t>
            </a:r>
            <a:r>
              <a:rPr lang="en-US" sz="1600" dirty="0">
                <a:solidFill>
                  <a:srgbClr val="1F1F1F"/>
                </a:solidFill>
              </a:rPr>
              <a:t>Smoke chemicals induce liver CYP1A enzymes (p. 60).</a:t>
            </a:r>
            <a:endParaRPr lang="en-US" sz="1600" dirty="0"/>
          </a:p>
          <a:p>
            <a:pPr indent="0" marL="0">
              <a:buNone/>
            </a:pPr>
            <a:r>
              <a:rPr lang="en-US" sz="1600" b="1" dirty="0">
                <a:solidFill>
                  <a:srgbClr val="1F1F1F"/>
                </a:solidFill>
              </a:rPr>
              <a:t>B. Drug levels will fall because metabolism speeds up — </a:t>
            </a:r>
            <a:r>
              <a:rPr lang="en-US" sz="1600" dirty="0">
                <a:solidFill>
                  <a:srgbClr val="1F1F1F"/>
                </a:solidFill>
              </a:rPr>
              <a:t>Quitting removes induction, so metabolism slows (p. 60).</a:t>
            </a:r>
            <a:endParaRPr lang="en-US" sz="1600" dirty="0"/>
          </a:p>
          <a:p>
            <a:pPr indent="0" marL="0">
              <a:buNone/>
            </a:pPr>
            <a:r>
              <a:rPr lang="en-US" sz="1600" b="1" dirty="0">
                <a:solidFill>
                  <a:srgbClr val="1F1F1F"/>
                </a:solidFill>
              </a:rPr>
              <a:t>C. The drug becomes a prodrug that needs activation — </a:t>
            </a:r>
            <a:r>
              <a:rPr lang="en-US" sz="1600" dirty="0">
                <a:solidFill>
                  <a:srgbClr val="1F1F1F"/>
                </a:solidFill>
              </a:rPr>
              <a:t>Quitting does not change how the drug is activated (p. 60).</a:t>
            </a:r>
            <a:endParaRPr lang="en-US" sz="1600" dirty="0"/>
          </a:p>
          <a:p>
            <a:pPr indent="0" marL="0">
              <a:buNone/>
            </a:pPr>
            <a:r>
              <a:rPr lang="en-US" sz="1600" b="1" dirty="0">
                <a:solidFill>
                  <a:srgbClr val="1F1F1F"/>
                </a:solidFill>
              </a:rPr>
              <a:t>E. Renal clearance will double right away — </a:t>
            </a:r>
            <a:r>
              <a:rPr lang="en-US" sz="1600" dirty="0">
                <a:solidFill>
                  <a:srgbClr val="1F1F1F"/>
                </a:solidFill>
              </a:rPr>
              <a:t>The effect is on hepatic metabolism, not renal clearance (p. 60).</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graphicFrame>
        <p:nvGraphicFramePr>
          <p:cNvPr id="4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graphicFrame>
        <p:nvGraphicFramePr>
          <p:cNvPr id="4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B. Shorten the dosing interval to every few hours — </a:t>
            </a:r>
            <a:r>
              <a:rPr lang="en-US" sz="1600" dirty="0">
                <a:solidFill>
                  <a:srgbClr val="1F1F1F"/>
                </a:solidFill>
              </a:rPr>
              <a:t>Intervals should be EXTENDED, not shortened, in renal impairment (S17).</a:t>
            </a:r>
            <a:endParaRPr lang="en-US" sz="1600" dirty="0"/>
          </a:p>
          <a:p>
            <a:pPr indent="0" marL="0">
              <a:buNone/>
            </a:pPr>
            <a:r>
              <a:rPr lang="en-US" sz="1600" b="1" dirty="0">
                <a:solidFill>
                  <a:srgbClr val="1F1F1F"/>
                </a:solidFill>
              </a:rPr>
              <a:t>D.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E. Switch to IV administration only for now — </a:t>
            </a:r>
            <a:r>
              <a:rPr lang="en-US" sz="1600" dirty="0">
                <a:solidFill>
                  <a:srgbClr val="1F1F1F"/>
                </a:solidFill>
              </a:rPr>
              <a:t>Route doesn't fix reduced renal clearance; adjust dose/interval (S17).</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B. It makes the drug more lipophilic so it is reabsorbed — </a:t>
            </a:r>
            <a:r>
              <a:rPr lang="en-US" sz="1600" dirty="0">
                <a:solidFill>
                  <a:srgbClr val="1F1F1F"/>
                </a:solidFill>
              </a:rPr>
              <a:t>Lipophilic, un-ionized drug is reabsorbed — the opposite of the goal (S14).</a:t>
            </a:r>
            <a:endParaRPr lang="en-US" sz="1600" dirty="0"/>
          </a:p>
          <a:p>
            <a:pPr indent="0" marL="0">
              <a:buNone/>
            </a:pPr>
            <a:r>
              <a:rPr lang="en-US" sz="1600" b="1" dirty="0">
                <a:solidFill>
                  <a:srgbClr val="1F1F1F"/>
                </a:solidFill>
              </a:rPr>
              <a:t>C.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D. It activates tubular transporters that secrete the drug — </a:t>
            </a:r>
            <a:r>
              <a:rPr lang="en-US" sz="1600" dirty="0">
                <a:solidFill>
                  <a:srgbClr val="1F1F1F"/>
                </a:solidFill>
              </a:rPr>
              <a:t>Secretion uses active transporters (S14), but urine pH works by blocking reabsorption (S14 notes).</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Tubular secretion by active transporters — </a:t>
            </a:r>
            <a:r>
              <a:rPr lang="en-US" sz="1600" dirty="0">
                <a:solidFill>
                  <a:srgbClr val="1F1F1F"/>
                </a:solidFill>
              </a:rPr>
              <a:t>Secretion moves additional drug INTO the tubule (S14).</a:t>
            </a:r>
            <a:endParaRPr lang="en-US" sz="1600" dirty="0"/>
          </a:p>
          <a:p>
            <a:pPr indent="0" marL="0">
              <a:buNone/>
            </a:pPr>
            <a:r>
              <a:rPr lang="en-US" sz="1600" b="1" dirty="0">
                <a:solidFill>
                  <a:srgbClr val="1F1F1F"/>
                </a:solidFill>
              </a:rPr>
              <a:t>C.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D. Filtration of drug based on molecular size — </a:t>
            </a:r>
            <a:r>
              <a:rPr lang="en-US" sz="1600" dirty="0">
                <a:solidFill>
                  <a:srgbClr val="1F1F1F"/>
                </a:solidFill>
              </a:rPr>
              <a:t>This is glomerular filtration, which adds drug to the tubule (S14).</a:t>
            </a:r>
            <a:endParaRPr lang="en-US" sz="1600" dirty="0"/>
          </a:p>
          <a:p>
            <a:pPr indent="0" marL="0">
              <a:buNone/>
            </a:pPr>
            <a:r>
              <a:rPr lang="en-US" sz="1600" b="1" dirty="0">
                <a:solidFill>
                  <a:srgbClr val="1F1F1F"/>
                </a:solidFill>
              </a:rPr>
              <a:t>E. Glomerular filtration of free, unbound drug — </a:t>
            </a:r>
            <a:r>
              <a:rPr lang="en-US" sz="1600" dirty="0">
                <a:solidFill>
                  <a:srgbClr val="1F1F1F"/>
                </a:solidFill>
              </a:rPr>
              <a:t>Filtration moves drug INTO the tubule (S14).</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Key definitions (1/2) card"/>
          <p:cNvSpPr/>
          <p:nvPr/>
        </p:nvSpPr>
        <p:spPr>
          <a:xfrm>
            <a:off x="548640" y="1325880"/>
            <a:ext cx="11094415" cy="3831336"/>
          </a:xfrm>
          <a:prstGeom prst="roundRect">
            <a:avLst>
              <a:gd name="adj" fmla="val 2864"/>
            </a:avLst>
          </a:prstGeom>
          <a:solidFill>
            <a:srgbClr val="F2F4F7"/>
          </a:solidFill>
          <a:ln w="12700">
            <a:solidFill>
              <a:srgbClr val="F2F4F7"/>
            </a:solidFill>
            <a:prstDash val="solid"/>
          </a:ln>
        </p:spPr>
      </p:sp>
      <p:sp>
        <p:nvSpPr>
          <p:cNvPr id="8" name="Key definitions (1/2)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 (1/2)</a:t>
            </a:r>
            <a:endParaRPr lang="en-US" sz="1800" dirty="0"/>
          </a:p>
        </p:txBody>
      </p:sp>
      <p:sp>
        <p:nvSpPr>
          <p:cNvPr id="11" name="Key definitions (1/2) body"/>
          <p:cNvSpPr txBox="1"/>
          <p:nvPr/>
        </p:nvSpPr>
        <p:spPr>
          <a:xfrm>
            <a:off x="777240" y="2075688"/>
            <a:ext cx="10637215" cy="296265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sp>
        <p:nvSpPr>
          <p:cNvPr id="7" name="Key definitions (2/2) card"/>
          <p:cNvSpPr/>
          <p:nvPr/>
        </p:nvSpPr>
        <p:spPr>
          <a:xfrm>
            <a:off x="548640" y="1325880"/>
            <a:ext cx="11094415" cy="4389120"/>
          </a:xfrm>
          <a:prstGeom prst="roundRect">
            <a:avLst>
              <a:gd name="adj" fmla="val 2500"/>
            </a:avLst>
          </a:prstGeom>
          <a:solidFill>
            <a:srgbClr val="F2F4F7"/>
          </a:solidFill>
          <a:ln w="12700">
            <a:solidFill>
              <a:srgbClr val="F2F4F7"/>
            </a:solidFill>
            <a:prstDash val="solid"/>
          </a:ln>
        </p:spPr>
      </p:sp>
      <p:sp>
        <p:nvSpPr>
          <p:cNvPr id="8" name="Key definitions (2/2)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 (2/2)</a:t>
            </a:r>
            <a:endParaRPr lang="en-US" sz="1800" dirty="0"/>
          </a:p>
        </p:txBody>
      </p:sp>
      <p:sp>
        <p:nvSpPr>
          <p:cNvPr id="11" name="Key definitions (2/2) body"/>
          <p:cNvSpPr txBox="1"/>
          <p:nvPr/>
        </p:nvSpPr>
        <p:spPr>
          <a:xfrm>
            <a:off x="777240" y="2075688"/>
            <a:ext cx="10637215" cy="3520440"/>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t½ = 0.7 × Vd / CL</a:t>
            </a:r>
            <a:r>
              <a:rPr lang="en-US" sz="1800" dirty="0">
                <a:solidFill>
                  <a:srgbClr val="1F1F1F"/>
                </a:solidFill>
              </a:rPr>
              <a:t> — half-life rises when Vd rises or clearance falls.</a:t>
            </a:r>
            <a:r>
              <a:rPr lang="en-US" sz="1300" dirty="0">
                <a:solidFill>
                  <a:srgbClr val="666666"/>
                </a:solidFill>
              </a:rPr>
              <a:t>  p. 56</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Loading dose = Vd × target concentration</a:t>
            </a:r>
            <a:r>
              <a:rPr lang="en-US" sz="1800" dirty="0">
                <a:solidFill>
                  <a:srgbClr val="1F1F1F"/>
                </a:solidFill>
              </a:rPr>
              <a:t> (e.g., theophylline: 35 L × 10 mg/L = 350 mg for a 70-kg adult).</a:t>
            </a:r>
            <a:r>
              <a:rPr lang="en-US" sz="1300" dirty="0">
                <a:solidFill>
                  <a:srgbClr val="666666"/>
                </a:solidFill>
              </a:rPr>
              <a:t>  p. 52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Extraction ratio (ER):</a:t>
            </a:r>
            <a:r>
              <a:rPr lang="en-US" sz="1800" dirty="0">
                <a:solidFill>
                  <a:srgbClr val="1F1F1F"/>
                </a:solidFill>
              </a:rPr>
              <a:t> hepatic clearance divided by hepatic blood flow (about 90 L/h). Oral bioavailability ≈ fraction absorbed × (1 − ER); morphine’s ER of 0.67 predicts about 33% oral bioavailability.</a:t>
            </a:r>
            <a:r>
              <a:rPr lang="en-US" sz="1300" dirty="0">
                <a:solidFill>
                  <a:srgbClr val="666666"/>
                </a:solidFill>
              </a:rPr>
              <a:t>  p. 49</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Target concentration approach</a:t>
            </a:r>
            <a:r>
              <a:rPr lang="en-US" sz="1800" dirty="0">
                <a:solidFill>
                  <a:srgbClr val="1F1F1F"/>
                </a:solidFill>
              </a:rPr>
              <a:t> (the rational way to design a dosage regimen): pick the concentration that gives the desired effect, then individualize the dose from the patient’s clearance and volume of distribution.</a:t>
            </a:r>
            <a:r>
              <a:rPr lang="en-US" sz="1300" dirty="0">
                <a:solidFill>
                  <a:srgbClr val="666666"/>
                </a:solidFill>
              </a:rPr>
              <a:t>  p. 51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Zero-order absorption</a:t>
            </a:r>
            <a:r>
              <a:rPr lang="en-US" sz="1800" dirty="0">
                <a:solidFill>
                  <a:srgbClr val="1F1F1F"/>
                </a:solidFill>
              </a:rPr>
              <a:t> runs at a constant rate (gastric emptying, controlled-release forms); </a:t>
            </a:r>
            <a:r>
              <a:rPr lang="en-US" sz="1800" b="1" dirty="0">
                <a:solidFill>
                  <a:srgbClr val="1F1F1F"/>
                </a:solidFill>
              </a:rPr>
              <a:t>first-order</a:t>
            </a:r>
            <a:r>
              <a:rPr lang="en-US" sz="1800" dirty="0">
                <a:solidFill>
                  <a:srgbClr val="1F1F1F"/>
                </a:solidFill>
              </a:rPr>
              <a:t> absorption is proportional to the amount left, nearly complete after four absorption half-lives.</a:t>
            </a:r>
            <a:r>
              <a:rPr lang="en-US" sz="1300" dirty="0">
                <a:solidFill>
                  <a:srgbClr val="666666"/>
                </a:solidFill>
              </a:rPr>
              <a:t>  p. 49</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sp>
        <p:nvSpPr>
          <p:cNvPr id="7" name="How it works (1/3)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1/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(1/3)</a:t>
            </a:r>
            <a:endParaRPr lang="en-US" sz="1800" dirty="0"/>
          </a:p>
        </p:txBody>
      </p:sp>
      <p:sp>
        <p:nvSpPr>
          <p:cNvPr id="11" name="How it works (1/3)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sp>
        <p:nvSpPr>
          <p:cNvPr id="7" name="How it works (2/3)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2/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(2/3)</a:t>
            </a:r>
            <a:endParaRPr lang="en-US" sz="1800" dirty="0"/>
          </a:p>
        </p:txBody>
      </p:sp>
      <p:sp>
        <p:nvSpPr>
          <p:cNvPr id="11" name="How it works (2/3)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During regular dosing: 50% of steady state after 1 half-life, 75% after 2, and over 90% after 4 — the textbook's "four half-lives" rule of thumb.</a:t>
            </a:r>
            <a:r>
              <a:rPr lang="en-US" sz="1300" dirty="0">
                <a:solidFill>
                  <a:srgbClr val="666666"/>
                </a:solidFill>
              </a:rPr>
              <a:t>  p. 47</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sp>
        <p:nvSpPr>
          <p:cNvPr id="7" name="How it works (3/3) card"/>
          <p:cNvSpPr/>
          <p:nvPr/>
        </p:nvSpPr>
        <p:spPr>
          <a:xfrm>
            <a:off x="548640" y="1325880"/>
            <a:ext cx="11094415" cy="4389120"/>
          </a:xfrm>
          <a:prstGeom prst="roundRect">
            <a:avLst>
              <a:gd name="adj" fmla="val 2500"/>
            </a:avLst>
          </a:prstGeom>
          <a:solidFill>
            <a:srgbClr val="F2F4F7"/>
          </a:solidFill>
          <a:ln w="12700">
            <a:solidFill>
              <a:srgbClr val="F2F4F7"/>
            </a:solidFill>
            <a:prstDash val="solid"/>
          </a:ln>
        </p:spPr>
      </p:sp>
      <p:sp>
        <p:nvSpPr>
          <p:cNvPr id="8" name="How it works (3/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(3/3)</a:t>
            </a:r>
            <a:endParaRPr lang="en-US" sz="1800" dirty="0"/>
          </a:p>
        </p:txBody>
      </p:sp>
      <p:sp>
        <p:nvSpPr>
          <p:cNvPr id="11" name="How it works (3/3) body"/>
          <p:cNvSpPr txBox="1"/>
          <p:nvPr/>
        </p:nvSpPr>
        <p:spPr>
          <a:xfrm>
            <a:off x="777240" y="2075688"/>
            <a:ext cx="10637215" cy="3520440"/>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If the dosing interval is shorter than four half-lives, accumulation will be detectable.</a:t>
            </a:r>
            <a:r>
              <a:rPr lang="en-US" sz="1300" dirty="0">
                <a:solidFill>
                  <a:srgbClr val="666666"/>
                </a:solidFill>
              </a:rPr>
              <a:t>  p. 48</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Capacity-limited (saturable) elimination:</a:t>
            </a:r>
            <a:r>
              <a:rPr lang="en-US" sz="1800" dirty="0">
                <a:solidFill>
                  <a:srgbClr val="1F1F1F"/>
                </a:solidFill>
              </a:rPr>
              <a:t> clearance falls as concentration rises — important for phenytoin, ethanol, and aspirin.</a:t>
            </a:r>
            <a:r>
              <a:rPr lang="en-US" sz="1300" dirty="0">
                <a:solidFill>
                  <a:srgbClr val="666666"/>
                </a:solidFill>
              </a:rPr>
              <a:t>  p. 47</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Maintenance dosing rate = clearance × target concentration</a:t>
            </a:r>
            <a:r>
              <a:rPr lang="en-US" sz="1800" dirty="0">
                <a:solidFill>
                  <a:srgbClr val="1F1F1F"/>
                </a:solidFill>
              </a:rPr>
              <a:t> (divide by F for oral). The average steady-state level depends only on clearance; the dosing interval changes only the peaks and troughs.</a:t>
            </a:r>
            <a:r>
              <a:rPr lang="en-US" sz="1300" dirty="0">
                <a:solidFill>
                  <a:srgbClr val="666666"/>
                </a:solidFill>
              </a:rPr>
              <a:t>  p. 51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Effects do not always follow plasma levels: enalapril (half-life about 4 hours) still works once daily because its peak is far above its C₅₀; delays come from distribution, slow receptor release (digoxin) or slow turnover of a body substance (warfarin and clotting factors).</a:t>
            </a:r>
            <a:r>
              <a:rPr lang="en-US" sz="1300" dirty="0">
                <a:solidFill>
                  <a:srgbClr val="666666"/>
                </a:solidFill>
              </a:rPr>
              <a:t>  p. 50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Half-life can change without clearance changing: diazepam’s half-life lengthens with age because its volume of distribution grows, not because metabolism slows.</a:t>
            </a:r>
            <a:r>
              <a:rPr lang="en-US" sz="1300" dirty="0">
                <a:solidFill>
                  <a:srgbClr val="666666"/>
                </a:solidFill>
              </a:rPr>
              <a:t>  p. 54</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sp>
        <p:nvSpPr>
          <p:cNvPr id="7" name="Clinical relevance (1/3)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Clinical relevance (1/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(1/3)</a:t>
            </a:r>
            <a:endParaRPr lang="en-US" sz="1800" dirty="0"/>
          </a:p>
        </p:txBody>
      </p:sp>
      <p:sp>
        <p:nvSpPr>
          <p:cNvPr id="11" name="Clinical relevance (1/3)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Clinical relevance (2/3) card"/>
          <p:cNvSpPr/>
          <p:nvPr/>
        </p:nvSpPr>
        <p:spPr>
          <a:xfrm>
            <a:off x="548640" y="1325880"/>
            <a:ext cx="11094415" cy="4279392"/>
          </a:xfrm>
          <a:prstGeom prst="roundRect">
            <a:avLst>
              <a:gd name="adj" fmla="val 2564"/>
            </a:avLst>
          </a:prstGeom>
          <a:solidFill>
            <a:srgbClr val="F2F4F7"/>
          </a:solidFill>
          <a:ln w="12700">
            <a:solidFill>
              <a:srgbClr val="F2F4F7"/>
            </a:solidFill>
            <a:prstDash val="solid"/>
          </a:ln>
        </p:spPr>
      </p:sp>
      <p:sp>
        <p:nvSpPr>
          <p:cNvPr id="8" name="Clinical relevance (2/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(2/3)</a:t>
            </a:r>
            <a:endParaRPr lang="en-US" sz="1800" dirty="0"/>
          </a:p>
        </p:txBody>
      </p:sp>
      <p:sp>
        <p:nvSpPr>
          <p:cNvPr id="11" name="Clinical relevance (2/3) body"/>
          <p:cNvSpPr txBox="1"/>
          <p:nvPr/>
        </p:nvSpPr>
        <p:spPr>
          <a:xfrm>
            <a:off x="777240" y="2075688"/>
            <a:ext cx="10637215"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Highly extracted drugs (morphine, isoniazid, propranolol, lidocaine, verapamil) vary widely in bioavailability between patients, and much more drug gets through in cirrhosis with portosystemic shunting. Lidocaine is never given orally because of toxic metabolites.</a:t>
            </a:r>
            <a:r>
              <a:rPr lang="en-US" sz="1300" dirty="0">
                <a:solidFill>
                  <a:srgbClr val="666666"/>
                </a:solidFill>
              </a:rPr>
              <a:t>  p. 49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Schedule-dependent effects:</a:t>
            </a:r>
            <a:r>
              <a:rPr lang="en-US" sz="1800" dirty="0">
                <a:solidFill>
                  <a:srgbClr val="1F1F1F"/>
                </a:solidFill>
              </a:rPr>
              <a:t> the same average level can carry different toxicity; gentamicin is more nephrotoxic as a constant infusion than as intermittent doses, because high peaks saturate its uptake into the renal cortex.</a:t>
            </a:r>
            <a:r>
              <a:rPr lang="en-US" sz="1300" dirty="0">
                <a:solidFill>
                  <a:srgbClr val="666666"/>
                </a:solidFill>
              </a:rPr>
              <a:t>  p. 50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Give IV loading doses slowly (over an hour, not seconds): a fast bolus can overshoot into toxicity before the drug distributes, e.g., phenytoin.</a:t>
            </a:r>
            <a:r>
              <a:rPr lang="en-US" sz="1300" dirty="0">
                <a:solidFill>
                  <a:srgbClr val="666666"/>
                </a:solidFill>
              </a:rPr>
              <a:t>  p. 52</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Clinical relevance (3/3) card"/>
          <p:cNvSpPr/>
          <p:nvPr/>
        </p:nvSpPr>
        <p:spPr>
          <a:xfrm>
            <a:off x="548640" y="1325880"/>
            <a:ext cx="11094415" cy="3054096"/>
          </a:xfrm>
          <a:prstGeom prst="roundRect">
            <a:avLst>
              <a:gd name="adj" fmla="val 3593"/>
            </a:avLst>
          </a:prstGeom>
          <a:solidFill>
            <a:srgbClr val="F2F4F7"/>
          </a:solidFill>
          <a:ln w="12700">
            <a:solidFill>
              <a:srgbClr val="F2F4F7"/>
            </a:solidFill>
            <a:prstDash val="solid"/>
          </a:ln>
        </p:spPr>
      </p:sp>
      <p:sp>
        <p:nvSpPr>
          <p:cNvPr id="8" name="Clinical relevance (3/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(3/3)</a:t>
            </a:r>
            <a:endParaRPr lang="en-US" sz="1800" dirty="0"/>
          </a:p>
        </p:txBody>
      </p:sp>
      <p:sp>
        <p:nvSpPr>
          <p:cNvPr id="11" name="Clinical relevance (3/3) body"/>
          <p:cNvSpPr txBox="1"/>
          <p:nvPr/>
        </p:nvSpPr>
        <p:spPr>
          <a:xfrm>
            <a:off x="777240" y="2075688"/>
            <a:ext cx="10637215" cy="2185416"/>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Timing drug levels: digoxin at least 6 hours after the dose, lithium just before the next dose; for steady-state estimates sample mid-interval after at least three half-lives.</a:t>
            </a:r>
            <a:r>
              <a:rPr lang="en-US" sz="1300" dirty="0">
                <a:solidFill>
                  <a:srgbClr val="666666"/>
                </a:solidFill>
              </a:rPr>
              <a:t>  p. 55</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In obesity, dose drugs that stay out of fat (gentamicin, digoxin) on fat-free mass; edema and ascites enlarge gentamicin’s volume of distribution.</a:t>
            </a:r>
            <a:r>
              <a:rPr lang="en-US" sz="1300" dirty="0">
                <a:solidFill>
                  <a:srgbClr val="666666"/>
                </a:solidFill>
              </a:rPr>
              <a:t>  p. 53; p. 55</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Changes in plasma protein binding rarely matter clinically: the body simply eliminates the extra unbound drug.</a:t>
            </a:r>
            <a:r>
              <a:rPr lang="en-US" sz="1300" dirty="0">
                <a:solidFill>
                  <a:srgbClr val="666666"/>
                </a:solidFill>
              </a:rPr>
              <a:t>  p. 55</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Theophylline worked example: clearance 2.8 L/h × target 10 mg/L = 28 mg/h IV; loading dose = 35 L × 10 mg/L = 350 mg.</a:t>
            </a:r>
            <a:r>
              <a:rPr lang="en-US" sz="1300" dirty="0">
                <a:solidFill>
                  <a:srgbClr val="666666"/>
                </a:solidFill>
              </a:rPr>
              <a:t>  p. 52</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Textbook concept · Five to fill, five to empty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pic>
        <p:nvPicPr>
          <p:cNvPr id="7" name="Figure TB_fill_empty.png" descr="/home/user/dpas-pharm/work/L02/figures/TB_fill_empty.png">    </p:cNvPr>
          <p:cNvPicPr>
            <a:picLocks noChangeAspect="1"/>
          </p:cNvPicPr>
          <p:nvPr/>
        </p:nvPicPr>
        <p:blipFill>
          <a:blip r:embed="rId1"/>
          <a:stretch>
            <a:fillRect/>
          </a:stretch>
        </p:blipFill>
        <p:spPr>
          <a:xfrm>
            <a:off x="2596090" y="1325880"/>
            <a:ext cx="6999514"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Original diagram: starting regular dosing, each half-life closes half of the remaining gap to steady state (50 → 75 → 87.5 → 93.75 → ~97%); after stopping, each half-life removes half of what remains (50 → 25 → 12.5 → 6.25 → 3.125%). The same 4–5 half-lives govern both.</a:t>
            </a:r>
            <a:r>
              <a:rPr lang="en-US" sz="1100" dirty="0">
                <a:solidFill>
                  <a:srgbClr val="666666"/>
                </a:solidFill>
              </a:rPr>
              <a:t>  S19; S23; p. 47</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graphicFrame>
        <p:nvGraphicFramePr>
          <p:cNvPr id="6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graphicFrame>
        <p:nvGraphicFramePr>
          <p:cNvPr id="64"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300" b="1" dirty="0">
                <a:solidFill>
                  <a:srgbClr val="1F1F1F"/>
                </a:solidFill>
                <a:latin typeface="Calibri" pitchFamily="34" charset="0"/>
                <a:ea typeface="Calibri" pitchFamily="34" charset="-122"/>
                <a:cs typeface="Calibri" pitchFamily="34" charset="-120"/>
              </a:rPr>
              <a:t>Compare: Dosing from the target concentration (textbook Ch. 3)</a:t>
            </a:r>
            <a:endParaRPr lang="en-US" sz="23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graphicFrame>
        <p:nvGraphicFramePr>
          <p:cNvPr id="6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Goal</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Formula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Depends 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Keep the level steady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Maintenance dosing rate = CL × target concentration (÷ F if oral)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Reach the target now</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Loading dose = Vd × target concentration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Volume of distribution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Match the peak at steady state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Loading dose = maintenance dose × accumulation factor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Dosing interval and half-life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462528"/>
            <a:ext cx="11094415" cy="274320"/>
          </a:xfrm>
          <a:prstGeom prst="rect">
            <a:avLst/>
          </a:prstGeom>
          <a:noFill/>
          <a:ln/>
        </p:spPr>
        <p:txBody>
          <a:bodyPr wrap="square" lIns="0" tIns="0" rIns="0" bIns="0" rtlCol="0" anchor="ctr"/>
          <a:lstStyle/>
          <a:p>
            <a:pPr indent="0" marL="0">
              <a:buNone/>
            </a:pPr>
            <a:r>
              <a:rPr lang="en-US" sz="1000" b="1" dirty="0">
                <a:solidFill>
                  <a:srgbClr val="000000"/>
                </a:solidFill>
                <a:highlight>
                  <a:srgbClr val="FFC000"/>
                </a:highlight>
              </a:rPr>
              <a:t> TB </a:t>
            </a:r>
            <a:r>
              <a:rPr lang="en-US" sz="1000" dirty="0">
                <a:solidFill>
                  <a:srgbClr val="000000"/>
                </a:solidFill>
              </a:rPr>
              <a:t>  </a:t>
            </a:r>
            <a:r>
              <a:rPr lang="en-US" sz="1100" dirty="0">
                <a:solidFill>
                  <a:srgbClr val="666666"/>
                </a:solidFill>
              </a:rPr>
              <a:t>Focus: what tells these apart.  Sources: p. 51; p. 52</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B. 25% — </a:t>
            </a:r>
            <a:r>
              <a:rPr lang="en-US" sz="1600" dirty="0">
                <a:solidFill>
                  <a:srgbClr val="1F1F1F"/>
                </a:solidFill>
              </a:rPr>
              <a:t>25% remains after 2 half-lives (S22).</a:t>
            </a:r>
            <a:endParaRPr lang="en-US" sz="1600" dirty="0"/>
          </a:p>
          <a:p>
            <a:pPr indent="0" marL="0">
              <a:buNone/>
            </a:pPr>
            <a:r>
              <a:rPr lang="en-US" sz="1600" b="1" dirty="0">
                <a:solidFill>
                  <a:srgbClr val="1F1F1F"/>
                </a:solidFill>
              </a:rPr>
              <a:t>C.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E. 50% — </a:t>
            </a:r>
            <a:r>
              <a:rPr lang="en-US" sz="1600" dirty="0">
                <a:solidFill>
                  <a:srgbClr val="1F1F1F"/>
                </a:solidFill>
              </a:rPr>
              <a:t>50% remains after 1 half-life (S22).</a:t>
            </a:r>
            <a:endParaRPr lang="en-US"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C.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D. It permanently lowers the maintenance dose the patient will need — </a:t>
            </a:r>
            <a:r>
              <a:rPr lang="en-US" sz="1600" dirty="0">
                <a:solidFill>
                  <a:srgbClr val="1F1F1F"/>
                </a:solidFill>
              </a:rPr>
              <a:t>A loading dose does not change the maintenance dose itself (S26).</a:t>
            </a:r>
            <a:endParaRPr lang="en-US" sz="1600" dirty="0"/>
          </a:p>
          <a:p>
            <a:pPr indent="0" marL="0">
              <a:buNone/>
            </a:pPr>
            <a:r>
              <a:rPr lang="en-US" sz="1600" b="1" dirty="0">
                <a:solidFill>
                  <a:srgbClr val="1F1F1F"/>
                </a:solidFill>
              </a:rPr>
              <a:t>E. It eliminates the need for any therapeutic drug level monitoring — </a:t>
            </a:r>
            <a:r>
              <a:rPr lang="en-US" sz="1600" dirty="0">
                <a:solidFill>
                  <a:srgbClr val="1F1F1F"/>
                </a:solidFill>
              </a:rPr>
              <a:t>A loading dose does not remove the need for monitoring (S26).</a:t>
            </a:r>
            <a:endParaRPr lang="en-US" sz="16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B.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C. 1–2 half-lives — </a:t>
            </a:r>
            <a:r>
              <a:rPr lang="en-US" sz="1600" dirty="0">
                <a:solidFill>
                  <a:srgbClr val="1F1F1F"/>
                </a:solidFill>
              </a:rPr>
              <a:t>Too few — steady state takes about 4–5 half-lives (S30).</a:t>
            </a:r>
            <a:endParaRPr lang="en-US" sz="1600" dirty="0"/>
          </a:p>
          <a:p>
            <a:pPr indent="0" marL="0">
              <a:buNone/>
            </a:pPr>
            <a:r>
              <a:rPr lang="en-US" sz="1600" b="1" dirty="0">
                <a:solidFill>
                  <a:srgbClr val="1F1F1F"/>
                </a:solidFill>
              </a:rPr>
              <a:t>D. 8–10 half-lives — </a:t>
            </a:r>
            <a:r>
              <a:rPr lang="en-US" sz="1600" dirty="0">
                <a:solidFill>
                  <a:srgbClr val="1F1F1F"/>
                </a:solidFill>
              </a:rPr>
              <a:t>Too many — steady state takes about 4–5 half-lives (S30).</a:t>
            </a:r>
            <a:endParaRPr lang="en-US" sz="16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C.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D. Increased clearance and decreased Vd — </a:t>
            </a:r>
            <a:r>
              <a:rPr lang="en-US" sz="1600" dirty="0">
                <a:solidFill>
                  <a:srgbClr val="1F1F1F"/>
                </a:solidFill>
              </a:rPr>
              <a:t>CKD DECREASES clearance (S15).</a:t>
            </a:r>
            <a:endParaRPr lang="en-US" sz="1600" dirty="0"/>
          </a:p>
          <a:p>
            <a:pPr indent="0" marL="0">
              <a:buNone/>
            </a:pPr>
            <a:r>
              <a:rPr lang="en-US" sz="1600" b="1" dirty="0">
                <a:solidFill>
                  <a:srgbClr val="1F1F1F"/>
                </a:solidFill>
              </a:rPr>
              <a:t>E. Decreased half-life and increased concentration — </a:t>
            </a:r>
            <a:r>
              <a:rPr lang="en-US" sz="1600" dirty="0">
                <a:solidFill>
                  <a:srgbClr val="1F1F1F"/>
                </a:solidFill>
              </a:rPr>
              <a:t>Half-life is PROLONGED when clearance falls (S28).</a:t>
            </a:r>
            <a:endParaRPr lang="en-US" sz="16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Size of each dose given — </a:t>
            </a:r>
            <a:r>
              <a:rPr lang="en-US" sz="1600" dirty="0">
                <a:solidFill>
                  <a:srgbClr val="1F1F1F"/>
                </a:solidFill>
              </a:rPr>
              <a:t>Steady state takes ~4–5 half-lives regardless of dose size (S30).</a:t>
            </a:r>
            <a:endParaRPr lang="en-US" sz="1600" dirty="0"/>
          </a:p>
          <a:p>
            <a:pPr indent="0" marL="0">
              <a:buNone/>
            </a:pPr>
            <a:r>
              <a:rPr lang="en-US" sz="1600" b="1" dirty="0">
                <a:solidFill>
                  <a:srgbClr val="1F1F1F"/>
                </a:solidFill>
              </a:rPr>
              <a:t>C.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a:p>
            <a:pPr indent="0" marL="0">
              <a:buNone/>
            </a:pPr>
            <a:r>
              <a:rPr lang="en-US" sz="1600" b="1" dirty="0">
                <a:solidFill>
                  <a:srgbClr val="1F1F1F"/>
                </a:solidFill>
              </a:rPr>
              <a:t>E. Bioavailability of the drug — </a:t>
            </a:r>
            <a:r>
              <a:rPr lang="en-US" sz="1600" dirty="0">
                <a:solidFill>
                  <a:srgbClr val="1F1F1F"/>
                </a:solidFill>
              </a:rPr>
              <a:t>Bioavailability is the fraction reaching circulation (Session 1), not the time to steady state (S48).</a:t>
            </a:r>
            <a:endParaRPr lang="en-US" sz="16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B. 25 mg/L, with 75% of the drug eliminated — </a:t>
            </a:r>
            <a:r>
              <a:rPr lang="en-US" sz="1600" dirty="0">
                <a:solidFill>
                  <a:srgbClr val="1F1F1F"/>
                </a:solidFill>
              </a:rPr>
              <a:t>That is 12 h — 2 half-lives (S19).</a:t>
            </a:r>
            <a:endParaRPr lang="en-US" sz="1600" dirty="0"/>
          </a:p>
          <a:p>
            <a:pPr indent="0" marL="0">
              <a:buNone/>
            </a:pPr>
            <a:r>
              <a:rPr lang="en-US" sz="1600" b="1" dirty="0">
                <a:solidFill>
                  <a:srgbClr val="1F1F1F"/>
                </a:solidFill>
              </a:rPr>
              <a:t>D. 3.125 mg/L, with about 97% eliminated — </a:t>
            </a:r>
            <a:r>
              <a:rPr lang="en-US" sz="1600" dirty="0">
                <a:solidFill>
                  <a:srgbClr val="1F1F1F"/>
                </a:solidFill>
              </a:rPr>
              <a:t>That is 30 h — 5 half-lives (S19).</a:t>
            </a:r>
            <a:endParaRPr lang="en-US" sz="1600" dirty="0"/>
          </a:p>
          <a:p>
            <a:pPr indent="0" marL="0">
              <a:buNone/>
            </a:pPr>
            <a:r>
              <a:rPr lang="en-US" sz="1600" b="1" dirty="0">
                <a:solidFill>
                  <a:srgbClr val="1F1F1F"/>
                </a:solidFill>
              </a:rPr>
              <a:t>E. 50 mg/L, with 50% of the drug eliminated — </a:t>
            </a:r>
            <a:r>
              <a:rPr lang="en-US" sz="1600" dirty="0">
                <a:solidFill>
                  <a:srgbClr val="1F1F1F"/>
                </a:solidFill>
              </a:rPr>
              <a:t>That is 6 h — 1 half-life (S19).</a:t>
            </a:r>
            <a:endParaRPr lang="en-US" sz="16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C.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D. Loading dose is based on clearance; maintenance dose is based on Vd — </a:t>
            </a:r>
            <a:r>
              <a:rPr lang="en-US" sz="1600" dirty="0">
                <a:solidFill>
                  <a:srgbClr val="1F1F1F"/>
                </a:solidFill>
              </a:rPr>
              <a:t>This reverses the pairing (S23 notes).</a:t>
            </a:r>
            <a:endParaRPr lang="en-US" sz="1600" dirty="0"/>
          </a:p>
          <a:p>
            <a:pPr indent="0" marL="0">
              <a:buNone/>
            </a:pPr>
            <a:r>
              <a:rPr lang="en-US" sz="1600" b="1" dirty="0">
                <a:solidFill>
                  <a:srgbClr val="1F1F1F"/>
                </a:solidFill>
              </a:rPr>
              <a:t>E. Both loading and maintenance doses are based on half-life alone — </a:t>
            </a:r>
            <a:r>
              <a:rPr lang="en-US" sz="1600" dirty="0">
                <a:solidFill>
                  <a:srgbClr val="1F1F1F"/>
                </a:solidFill>
              </a:rPr>
              <a:t>The lecture pairs loading with Vd and maintenance with clearance (S23 notes).</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is given every 8 hours instead of every 24 hours, keeping the same total daily dose. What happens to its average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depends on Vd, which now changes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triples because doses come more often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falls because each dose is smaller</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stays the same; only peaks and troughs change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doubles because half-life gets longer</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It stays the same; only peaks and troughs change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The average steady-state level depends only on dosing rate and clearance; the interval changes only the swings (p. 51).</a:t>
            </a:r>
            <a:r>
              <a:rPr lang="en-US" sz="1100" dirty="0">
                <a:solidFill>
                  <a:srgbClr val="666666"/>
                </a:solidFill>
              </a:rPr>
              <a:t>  p. 51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depends on Vd, which now changes — </a:t>
            </a:r>
            <a:r>
              <a:rPr lang="en-US" sz="1600" dirty="0">
                <a:solidFill>
                  <a:srgbClr val="1F1F1F"/>
                </a:solidFill>
              </a:rPr>
              <a:t>Vd sets the loading dose, not the average level (p. 51; p. 52).</a:t>
            </a:r>
            <a:endParaRPr lang="en-US" sz="1600" dirty="0"/>
          </a:p>
          <a:p>
            <a:pPr indent="0" marL="0">
              <a:buNone/>
            </a:pPr>
            <a:r>
              <a:rPr lang="en-US" sz="1600" b="1" dirty="0">
                <a:solidFill>
                  <a:srgbClr val="1F1F1F"/>
                </a:solidFill>
              </a:rPr>
              <a:t>B. It triples because doses come more often — </a:t>
            </a:r>
            <a:r>
              <a:rPr lang="en-US" sz="1600" dirty="0">
                <a:solidFill>
                  <a:srgbClr val="1F1F1F"/>
                </a:solidFill>
              </a:rPr>
              <a:t>Total dose per day is unchanged, so the average is unchanged (p. 51).</a:t>
            </a:r>
            <a:endParaRPr lang="en-US" sz="1600" dirty="0"/>
          </a:p>
          <a:p>
            <a:pPr indent="0" marL="0">
              <a:buNone/>
            </a:pPr>
            <a:r>
              <a:rPr lang="en-US" sz="1600" b="1" dirty="0">
                <a:solidFill>
                  <a:srgbClr val="1F1F1F"/>
                </a:solidFill>
              </a:rPr>
              <a:t>C. It falls because each dose is smaller — </a:t>
            </a:r>
            <a:r>
              <a:rPr lang="en-US" sz="1600" dirty="0">
                <a:solidFill>
                  <a:srgbClr val="1F1F1F"/>
                </a:solidFill>
              </a:rPr>
              <a:t>Smaller, more frequent doses narrow the swings, not the average (p. 51).</a:t>
            </a:r>
            <a:endParaRPr lang="en-US" sz="1600" dirty="0"/>
          </a:p>
          <a:p>
            <a:pPr indent="0" marL="0">
              <a:buNone/>
            </a:pPr>
            <a:r>
              <a:rPr lang="en-US" sz="1600" b="1" dirty="0">
                <a:solidFill>
                  <a:srgbClr val="1F1F1F"/>
                </a:solidFill>
              </a:rPr>
              <a:t>E. It doubles because half-life gets longer — </a:t>
            </a:r>
            <a:r>
              <a:rPr lang="en-US" sz="1600" dirty="0">
                <a:solidFill>
                  <a:srgbClr val="1F1F1F"/>
                </a:solidFill>
              </a:rPr>
              <a:t>Dosing interval does not change half-life (p. 51).</a:t>
            </a:r>
            <a:endParaRPr lang="en-US" sz="1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Key definitions card"/>
          <p:cNvSpPr/>
          <p:nvPr/>
        </p:nvSpPr>
        <p:spPr>
          <a:xfrm>
            <a:off x="548640" y="1325880"/>
            <a:ext cx="11094415" cy="2884932"/>
          </a:xfrm>
          <a:prstGeom prst="roundRect">
            <a:avLst>
              <a:gd name="adj" fmla="val 3803"/>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01625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Allele:</a:t>
            </a:r>
            <a:r>
              <a:rPr lang="en-US" sz="1800" dirty="0">
                <a:solidFill>
                  <a:srgbClr val="1F1F1F"/>
                </a:solidFill>
              </a:rPr>
              <a:t> one of the alternative forms of a gene at the same locus. </a:t>
            </a:r>
            <a:r>
              <a:rPr lang="en-US" sz="1800" b="1" dirty="0">
                <a:solidFill>
                  <a:srgbClr val="1F1F1F"/>
                </a:solidFill>
              </a:rPr>
              <a:t>Haplotype:</a:t>
            </a:r>
            <a:r>
              <a:rPr lang="en-US" sz="1800" dirty="0">
                <a:solidFill>
                  <a:srgbClr val="1F1F1F"/>
                </a:solidFill>
              </a:rPr>
              <a:t> a series of alleles inherited together on one chromosome. </a:t>
            </a:r>
            <a:r>
              <a:rPr lang="en-US" sz="1800" b="1" dirty="0">
                <a:solidFill>
                  <a:srgbClr val="1F1F1F"/>
                </a:solidFill>
              </a:rPr>
              <a:t>Nonsynonymous SNP:</a:t>
            </a:r>
            <a:r>
              <a:rPr lang="en-US" sz="1800" dirty="0">
                <a:solidFill>
                  <a:srgbClr val="1F1F1F"/>
                </a:solidFill>
              </a:rPr>
              <a:t> a single-base change that alters an amino acid.</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PM, IM, EM, UM:</a:t>
            </a:r>
            <a:r>
              <a:rPr lang="en-US" sz="1800" dirty="0">
                <a:solidFill>
                  <a:srgbClr val="1F1F1F"/>
                </a:solidFill>
              </a:rPr>
              <a:t> poor, intermediate, extensive (normal) and ultrarapid metabolizer.</a:t>
            </a:r>
            <a:r>
              <a:rPr lang="en-US" sz="1300" dirty="0">
                <a:solidFill>
                  <a:srgbClr val="666666"/>
                </a:solidFill>
              </a:rPr>
              <a:t>  p. 78</a:t>
            </a:r>
            <a:endParaRPr lang="en-US" sz="1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How it works (1/2) card"/>
          <p:cNvSpPr/>
          <p:nvPr/>
        </p:nvSpPr>
        <p:spPr>
          <a:xfrm>
            <a:off x="548640" y="1325880"/>
            <a:ext cx="11094415" cy="4329684"/>
          </a:xfrm>
          <a:prstGeom prst="roundRect">
            <a:avLst>
              <a:gd name="adj" fmla="val 253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4610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Codeine is converted to morphine (200× more potent) by CYP2D6; CPIC recommends an alternative analgesic for CYP2D6 poor </a:t>
            </a:r>
            <a:r>
              <a:rPr lang="en-US" sz="1800" b="1" dirty="0">
                <a:solidFill>
                  <a:srgbClr val="1F1F1F"/>
                </a:solidFill>
              </a:rPr>
              <a:t>and</a:t>
            </a:r>
            <a:r>
              <a:rPr lang="en-US" sz="1800" dirty="0">
                <a:solidFill>
                  <a:srgbClr val="1F1F1F"/>
                </a:solidFill>
              </a:rPr>
              <a:t> ultrarapid metabolizers.</a:t>
            </a:r>
            <a:r>
              <a:rPr lang="en-US" sz="1300" dirty="0">
                <a:solidFill>
                  <a:srgbClr val="666666"/>
                </a:solidFill>
              </a:rPr>
              <a:t>  p. 81; p. 83</a:t>
            </a:r>
            <a:endParaRPr lang="en-US" sz="1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How it works (2/2)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Clopidogrel: about 85% of a dose is inactivated by esterases; CYP2C19 activates the rest. CYP2C19 poor/intermediate metabolizers → prasugrel or ticagrelor.</a:t>
            </a:r>
            <a:r>
              <a:rPr lang="en-US" sz="1300" dirty="0">
                <a:solidFill>
                  <a:srgbClr val="666666"/>
                </a:solidFill>
              </a:rPr>
              <a:t>  p. 81; p. 82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TPMT intermediate activity: start thiopurines at 30–70% of the target dose; deficient: use a drastically reduced dose or an alternative.</a:t>
            </a:r>
            <a:r>
              <a:rPr lang="en-US" sz="1300" dirty="0">
                <a:solidFill>
                  <a:srgbClr val="666666"/>
                </a:solidFill>
              </a:rPr>
              <a:t>  p. 83</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Warfarin dose varies up to 20-fold between patients; CYP2C9 and VKORC1 genotypes explain much of it.</a:t>
            </a:r>
            <a:r>
              <a:rPr lang="en-US" sz="1300" dirty="0">
                <a:solidFill>
                  <a:srgbClr val="666666"/>
                </a:solidFill>
              </a:rPr>
              <a:t>  p. 90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G6PD deficiency</a:t>
            </a:r>
            <a:r>
              <a:rPr lang="en-US" sz="1800" dirty="0">
                <a:solidFill>
                  <a:srgbClr val="1F1F1F"/>
                </a:solidFill>
              </a:rPr>
              <a:t> (X-linked, more than 400 million people): G6PD is the red cell’s only source of NADPH, so deficient cells hemolyze under oxidative stress such as infection, fava beans or certain drugs.</a:t>
            </a:r>
            <a:r>
              <a:rPr lang="en-US" sz="1300" dirty="0">
                <a:solidFill>
                  <a:srgbClr val="666666"/>
                </a:solidFill>
              </a:rPr>
              <a:t>  p. 86</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NUDT15 variants, as well as TPMT, cause thiopurine intolerance.</a:t>
            </a:r>
            <a:r>
              <a:rPr lang="en-US" sz="1300" dirty="0">
                <a:solidFill>
                  <a:srgbClr val="666666"/>
                </a:solidFill>
              </a:rPr>
              <a:t>  p. 86</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OCT1 (organic cation transporter 1)</a:t>
            </a:r>
            <a:r>
              <a:rPr lang="en-US" sz="1800" dirty="0">
                <a:solidFill>
                  <a:srgbClr val="1F1F1F"/>
                </a:solidFill>
              </a:rPr>
              <a:t> moves basic drugs such as morphine, tramadol, sumatriptan and ondansetron into the liver; people with two reduced-function alleles have about twofold higher levels.</a:t>
            </a:r>
            <a:r>
              <a:rPr lang="en-US" sz="1300" dirty="0">
                <a:solidFill>
                  <a:srgbClr val="666666"/>
                </a:solidFill>
              </a:rPr>
              <a:t>  p. 87</a:t>
            </a:r>
            <a:endParaRPr lang="en-US" sz="14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Drugs named as examples (1/2) card"/>
          <p:cNvSpPr/>
          <p:nvPr/>
        </p:nvSpPr>
        <p:spPr>
          <a:xfrm>
            <a:off x="548640" y="1325880"/>
            <a:ext cx="11094415" cy="3054096"/>
          </a:xfrm>
          <a:prstGeom prst="roundRect">
            <a:avLst>
              <a:gd name="adj" fmla="val 3593"/>
            </a:avLst>
          </a:prstGeom>
          <a:solidFill>
            <a:srgbClr val="F2F4F7"/>
          </a:solidFill>
          <a:ln w="12700">
            <a:solidFill>
              <a:srgbClr val="F2F4F7"/>
            </a:solidFill>
            <a:prstDash val="solid"/>
          </a:ln>
        </p:spPr>
      </p:sp>
      <p:sp>
        <p:nvSpPr>
          <p:cNvPr id="8" name="Drugs named as examples (1/2)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 (1/2)</a:t>
            </a:r>
            <a:endParaRPr lang="en-US" sz="1800" dirty="0"/>
          </a:p>
        </p:txBody>
      </p:sp>
      <p:sp>
        <p:nvSpPr>
          <p:cNvPr id="11" name="Drugs named as examples (1/2) body"/>
          <p:cNvSpPr txBox="1"/>
          <p:nvPr/>
        </p:nvSpPr>
        <p:spPr>
          <a:xfrm>
            <a:off x="777240" y="2075688"/>
            <a:ext cx="10637215" cy="218541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metabolizes up to one-quarter of clinically used drugs (β blockers, antidepressants, antipsychotics, opioids).</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ultrarapid metabolizers: up to one-third of Ethiopians and Saudi Arabians; CYP2C19 poor metabolizers: 3–5% of Caucasians, 18–23% of Japanese.</a:t>
            </a:r>
            <a:r>
              <a:rPr lang="en-US" sz="1300" dirty="0">
                <a:solidFill>
                  <a:srgbClr val="666666"/>
                </a:solidFill>
              </a:rPr>
              <a:t>  p. 67</a:t>
            </a:r>
            <a:endParaRPr lang="en-US" sz="1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Drugs named as examples (2/2) card"/>
          <p:cNvSpPr/>
          <p:nvPr/>
        </p:nvSpPr>
        <p:spPr>
          <a:xfrm>
            <a:off x="548640" y="1325880"/>
            <a:ext cx="11094415" cy="3054096"/>
          </a:xfrm>
          <a:prstGeom prst="roundRect">
            <a:avLst>
              <a:gd name="adj" fmla="val 3593"/>
            </a:avLst>
          </a:prstGeom>
          <a:solidFill>
            <a:srgbClr val="F2F4F7"/>
          </a:solidFill>
          <a:ln w="12700">
            <a:solidFill>
              <a:srgbClr val="F2F4F7"/>
            </a:solidFill>
            <a:prstDash val="solid"/>
          </a:ln>
        </p:spPr>
      </p:sp>
      <p:sp>
        <p:nvSpPr>
          <p:cNvPr id="8" name="Drugs named as examples (2/2)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 (2/2)</a:t>
            </a:r>
            <a:endParaRPr lang="en-US" sz="1800" dirty="0"/>
          </a:p>
        </p:txBody>
      </p:sp>
      <p:sp>
        <p:nvSpPr>
          <p:cNvPr id="11" name="Drugs named as examples (2/2) body"/>
          <p:cNvSpPr txBox="1"/>
          <p:nvPr/>
        </p:nvSpPr>
        <p:spPr>
          <a:xfrm>
            <a:off x="777240" y="2075688"/>
            <a:ext cx="10637215" cy="2185416"/>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**HLA-B*57:01</a:t>
            </a:r>
            <a:r>
              <a:rPr lang="en-US" sz="1800" b="1" dirty="0">
                <a:solidFill>
                  <a:srgbClr val="1F1F1F"/>
                </a:solidFill>
              </a:rPr>
              <a:t> → abacavir hypersensitivity; </a:t>
            </a:r>
            <a:r>
              <a:rPr lang="en-US" sz="1800" dirty="0">
                <a:solidFill>
                  <a:srgbClr val="1F1F1F"/>
                </a:solidFill>
              </a:rPr>
              <a:t>G6PD deficiency** → rasburicase contraindicated; slow NAT2 acetylators (~50% in the USA) → isoniazid toxicity.</a:t>
            </a:r>
            <a:r>
              <a:rPr lang="en-US" sz="1300" dirty="0">
                <a:solidFill>
                  <a:srgbClr val="666666"/>
                </a:solidFill>
              </a:rPr>
              <a:t>  p. 70; p. 83; p. 88</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SLCO1B1 (OATP1B1)</a:t>
            </a:r>
            <a:r>
              <a:rPr lang="en-US" sz="1800" dirty="0">
                <a:solidFill>
                  <a:srgbClr val="1F1F1F"/>
                </a:solidFill>
              </a:rPr>
              <a:t> reduced-function variants raise simvastatin exposure (221% higher AUC in homozygotes) and myopathy risk; CPIC advises a lower dose or another statin.</a:t>
            </a:r>
            <a:r>
              <a:rPr lang="en-US" sz="1300" dirty="0">
                <a:solidFill>
                  <a:srgbClr val="666666"/>
                </a:solidFill>
              </a:rPr>
              <a:t>  p. 87</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ABCG2 (BCRP)</a:t>
            </a:r>
            <a:r>
              <a:rPr lang="en-US" sz="1800" dirty="0">
                <a:solidFill>
                  <a:srgbClr val="1F1F1F"/>
                </a:solidFill>
              </a:rPr>
              <a:t> variant, common in East Asians (allele frequency about 30%), raises rosuvastatin levels; the label suggests half the dose.</a:t>
            </a:r>
            <a:r>
              <a:rPr lang="en-US" sz="1300" dirty="0">
                <a:solidFill>
                  <a:srgbClr val="666666"/>
                </a:solidFill>
              </a:rPr>
              <a:t>  p. 87</a:t>
            </a:r>
            <a:endParaRPr lang="en-US" sz="14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91</a:t>
            </a:r>
            <a:endParaRPr lang="en-US" sz="1000" dirty="0"/>
          </a:p>
        </p:txBody>
      </p:sp>
      <p:graphicFrame>
        <p:nvGraphicFramePr>
          <p:cNvPr id="92"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B.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C. It only affects how the drug tastes to the patient — </a:t>
            </a:r>
            <a:r>
              <a:rPr lang="en-US" sz="1600" dirty="0">
                <a:solidFill>
                  <a:srgbClr val="1F1F1F"/>
                </a:solidFill>
              </a:rPr>
              <a:t>It flags a severe hypersensitivity risk (S36).</a:t>
            </a:r>
            <a:endParaRPr lang="en-US" sz="1600" dirty="0"/>
          </a:p>
          <a:p>
            <a:pPr indent="0" marL="0">
              <a:buNone/>
            </a:pPr>
            <a:r>
              <a:rPr lang="en-US" sz="1600" b="1" dirty="0">
                <a:solidFill>
                  <a:srgbClr val="1F1F1F"/>
                </a:solidFill>
              </a:rPr>
              <a:t>D. It predicts reduced absorption of allopurinol from the gut — </a:t>
            </a:r>
            <a:r>
              <a:rPr lang="en-US" sz="1600" dirty="0">
                <a:solidFill>
                  <a:srgbClr val="1F1F1F"/>
                </a:solidFill>
              </a:rPr>
              <a:t>The allele flags hypersensitivity risk, not absorption (S36).</a:t>
            </a:r>
            <a:endParaRPr lang="en-US" sz="16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B. Faster CYP2D6 metabolism of the drug and lost effect — </a:t>
            </a:r>
            <a:r>
              <a:rPr lang="en-US" sz="1600" dirty="0">
                <a:solidFill>
                  <a:srgbClr val="1F1F1F"/>
                </a:solidFill>
              </a:rPr>
              <a:t>CYP2D6 variation affects antidepressants and opioids (S33).</a:t>
            </a:r>
            <a:endParaRPr lang="en-US" sz="1600" dirty="0"/>
          </a:p>
          <a:p>
            <a:pPr indent="0" marL="0">
              <a:buNone/>
            </a:pPr>
            <a:r>
              <a:rPr lang="en-US" sz="1600" b="1" dirty="0">
                <a:solidFill>
                  <a:srgbClr val="1F1F1F"/>
                </a:solidFill>
              </a:rPr>
              <a:t>D. Severe HLA-associated hypersensitivity to the drug — </a:t>
            </a:r>
            <a:r>
              <a:rPr lang="en-US" sz="1600" dirty="0">
                <a:solidFill>
                  <a:srgbClr val="1F1F1F"/>
                </a:solidFill>
              </a:rPr>
              <a:t>That is the HLA allele example (e.g., HLA-B*5801 with allopurinol) (S33, S36).</a:t>
            </a:r>
            <a:endParaRPr lang="en-US" sz="1600" dirty="0"/>
          </a:p>
          <a:p>
            <a:pPr indent="0" marL="0">
              <a:buNone/>
            </a:pPr>
            <a:r>
              <a:rPr lang="en-US" sz="1600" b="1" dirty="0">
                <a:solidFill>
                  <a:srgbClr val="1F1F1F"/>
                </a:solidFill>
              </a:rPr>
              <a:t>E. No concern, since genotype never affects therapy — </a:t>
            </a:r>
            <a:r>
              <a:rPr lang="en-US" sz="1600" dirty="0">
                <a:solidFill>
                  <a:srgbClr val="1F1F1F"/>
                </a:solidFill>
              </a:rPr>
              <a:t>Genotype is one input among several — it still matters (S34).</a:t>
            </a:r>
            <a:endParaRPr lang="en-US" sz="16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B.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C. HLA-B*5801 — clopidogrel activation — </a:t>
            </a:r>
            <a:r>
              <a:rPr lang="en-US" sz="1600" dirty="0">
                <a:solidFill>
                  <a:srgbClr val="1F1F1F"/>
                </a:solidFill>
              </a:rPr>
              <a:t>HLA-B*5801 is tied to allopurinol hypersensitivity (S36).</a:t>
            </a:r>
            <a:endParaRPr lang="en-US" sz="1600" dirty="0"/>
          </a:p>
          <a:p>
            <a:pPr indent="0" marL="0">
              <a:buNone/>
            </a:pPr>
            <a:r>
              <a:rPr lang="en-US" sz="1600" b="1" dirty="0">
                <a:solidFill>
                  <a:srgbClr val="1F1F1F"/>
                </a:solidFill>
              </a:rPr>
              <a:t>E. TPMT variation — codeine activation — </a:t>
            </a:r>
            <a:r>
              <a:rPr lang="en-US" sz="1600" dirty="0">
                <a:solidFill>
                  <a:srgbClr val="1F1F1F"/>
                </a:solidFill>
              </a:rPr>
              <a:t>Codeine activation is CYP2D6 (S33).</a:t>
            </a:r>
            <a:endParaRPr lang="en-US" sz="16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B. Genotype alone should determine both the drug and its dose — </a:t>
            </a:r>
            <a:r>
              <a:rPr lang="en-US" sz="1600" dirty="0">
                <a:solidFill>
                  <a:srgbClr val="1F1F1F"/>
                </a:solidFill>
              </a:rPr>
              <a:t>Genotype alone never dictates therapy in isolation (S34).</a:t>
            </a:r>
            <a:endParaRPr lang="en-US" sz="1600" dirty="0"/>
          </a:p>
          <a:p>
            <a:pPr indent="0" marL="0">
              <a:buNone/>
            </a:pPr>
            <a:r>
              <a:rPr lang="en-US" sz="1600" b="1" dirty="0">
                <a:solidFill>
                  <a:srgbClr val="1F1F1F"/>
                </a:solidFill>
              </a:rPr>
              <a:t>C. Genotype becomes irrelevant once a drug reaches steady state — </a:t>
            </a:r>
            <a:r>
              <a:rPr lang="en-US" sz="1600" dirty="0">
                <a:solidFill>
                  <a:srgbClr val="1F1F1F"/>
                </a:solidFill>
              </a:rPr>
              <a:t>Nothing in the materials limits genotype's relevance this way (S32, S34).</a:t>
            </a:r>
            <a:endParaRPr lang="en-US" sz="1600" dirty="0"/>
          </a:p>
          <a:p>
            <a:pPr indent="0" marL="0">
              <a:buNone/>
            </a:pPr>
            <a:r>
              <a:rPr lang="en-US" sz="1600" b="1" dirty="0">
                <a:solidFill>
                  <a:srgbClr val="1F1F1F"/>
                </a:solidFill>
              </a:rPr>
              <a:t>D. Genotype matters only for drugs that are given by the IV route — </a:t>
            </a:r>
            <a:r>
              <a:rPr lang="en-US" sz="1600" dirty="0">
                <a:solidFill>
                  <a:srgbClr val="1F1F1F"/>
                </a:solidFill>
              </a:rPr>
              <a:t>Genetic variation alters metabolism, transport, targets, and response (S32).</a:t>
            </a:r>
            <a:endParaRPr lang="en-US" sz="16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62-year-old has a coronary stent placed. Genotyping shows he is a CYP2C19 poor metabolizer. Which antiplatelet choice does CPIC guidance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Prasugrel or ticagrelor instead of clopidogrel</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Azathioprine at 30–70% of the usual starting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at the standard dose with routine follow-up</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plus a CYP2C19 inhibitor to raise its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Codeine-free analgesia plus standard-dose clopidogrel</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Prasugrel or ticagrelor instead of clopidogrel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Clopidogrel needs CYP2C19 activation; poor metabolizers make little active drug, so prasugrel or ticagrelor is recommended (p. 81; p. 82).</a:t>
            </a:r>
            <a:r>
              <a:rPr lang="en-US" sz="1100" dirty="0">
                <a:solidFill>
                  <a:srgbClr val="666666"/>
                </a:solidFill>
              </a:rPr>
              <a:t>  p. 81-82</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Azathioprine at 30–70% of the usual starting dose — </a:t>
            </a:r>
            <a:r>
              <a:rPr lang="en-US" sz="1600" dirty="0">
                <a:solidFill>
                  <a:srgbClr val="1F1F1F"/>
                </a:solidFill>
              </a:rPr>
              <a:t>That dose rule is for TPMT-intermediate thiopurine use (p. 83).</a:t>
            </a:r>
            <a:endParaRPr lang="en-US" sz="1600" dirty="0"/>
          </a:p>
          <a:p>
            <a:pPr indent="0" marL="0">
              <a:buNone/>
            </a:pPr>
            <a:r>
              <a:rPr lang="en-US" sz="1600" b="1" dirty="0">
                <a:solidFill>
                  <a:srgbClr val="1F1F1F"/>
                </a:solidFill>
              </a:rPr>
              <a:t>C. Clopidogrel at the standard dose with routine follow-up — </a:t>
            </a:r>
            <a:r>
              <a:rPr lang="en-US" sz="1600" dirty="0">
                <a:solidFill>
                  <a:srgbClr val="1F1F1F"/>
                </a:solidFill>
              </a:rPr>
              <a:t>Standard clopidogrel risks stent thrombosis in poor metabolizers (p. 81).</a:t>
            </a:r>
            <a:endParaRPr lang="en-US" sz="1600" dirty="0"/>
          </a:p>
          <a:p>
            <a:pPr indent="0" marL="0">
              <a:buNone/>
            </a:pPr>
            <a:r>
              <a:rPr lang="en-US" sz="1600" b="1" dirty="0">
                <a:solidFill>
                  <a:srgbClr val="1F1F1F"/>
                </a:solidFill>
              </a:rPr>
              <a:t>D. Clopidogrel plus a CYP2C19 inhibitor to raise its level — </a:t>
            </a:r>
            <a:r>
              <a:rPr lang="en-US" sz="1600" dirty="0">
                <a:solidFill>
                  <a:srgbClr val="1F1F1F"/>
                </a:solidFill>
              </a:rPr>
              <a:t>Inhibiting CYP2C19 would reduce clopidogrel activation further (p. 81).</a:t>
            </a:r>
            <a:endParaRPr lang="en-US" sz="1600" dirty="0"/>
          </a:p>
          <a:p>
            <a:pPr indent="0" marL="0">
              <a:buNone/>
            </a:pPr>
            <a:r>
              <a:rPr lang="en-US" sz="1600" b="1" dirty="0">
                <a:solidFill>
                  <a:srgbClr val="1F1F1F"/>
                </a:solidFill>
              </a:rPr>
              <a:t>E. Codeine-free analgesia plus standard-dose clopidogrel — </a:t>
            </a:r>
            <a:r>
              <a:rPr lang="en-US" sz="1600" dirty="0">
                <a:solidFill>
                  <a:srgbClr val="1F1F1F"/>
                </a:solidFill>
              </a:rPr>
              <a:t>Codeine relates to CYP2D6, not antiplatelet choice (p. 81).</a:t>
            </a:r>
            <a:endParaRPr lang="en-US" sz="16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104</a:t>
            </a:r>
            <a:endParaRPr lang="en-US" sz="10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105</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106</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107</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108</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109</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110</a:t>
            </a:r>
            <a:endParaRPr lang="en-US" sz="1000" dirty="0"/>
          </a:p>
        </p:txBody>
      </p:sp>
      <p:graphicFrame>
        <p:nvGraphicFramePr>
          <p:cNvPr id="11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111</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112</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735072"/>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Checking the drug's chemical name in a reference — </a:t>
            </a:r>
            <a:r>
              <a:rPr lang="en-US" sz="1600" dirty="0">
                <a:solidFill>
                  <a:srgbClr val="1F1F1F"/>
                </a:solidFill>
              </a:rPr>
              <a:t>Chemical names describe structure; they don't screen interactions (S43).</a:t>
            </a:r>
            <a:endParaRPr lang="en-US" sz="1600" dirty="0"/>
          </a:p>
          <a:p>
            <a:pPr indent="0" marL="0">
              <a:buNone/>
            </a:pPr>
            <a:r>
              <a:rPr lang="en-US" sz="1600" b="1" dirty="0">
                <a:solidFill>
                  <a:srgbClr val="1F1F1F"/>
                </a:solidFill>
              </a:rPr>
              <a:t>B.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C.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D. Confirming the route of administration on the order — </a:t>
            </a:r>
            <a:r>
              <a:rPr lang="en-US" sz="1600" dirty="0">
                <a:solidFill>
                  <a:srgbClr val="1F1F1F"/>
                </a:solidFill>
              </a:rPr>
              <a:t>Route is part of the checklist, but interaction review targets this risk (S39, S43).</a:t>
            </a:r>
            <a:endParaRPr lang="en-US" sz="16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B. Phase IV postmarketing surveillance — </a:t>
            </a:r>
            <a:r>
              <a:rPr lang="en-US" sz="1600" dirty="0">
                <a:solidFill>
                  <a:srgbClr val="1F1F1F"/>
                </a:solidFill>
              </a:rPr>
              <a:t>Phase IV is postmarketing surveillance after approval (Session 1; S47).</a:t>
            </a:r>
            <a:endParaRPr lang="en-US" sz="1600" dirty="0"/>
          </a:p>
          <a:p>
            <a:pPr indent="0" marL="0">
              <a:buNone/>
            </a:pPr>
            <a:r>
              <a:rPr lang="en-US" sz="1600" b="1" dirty="0">
                <a:solidFill>
                  <a:srgbClr val="1F1F1F"/>
                </a:solidFill>
              </a:rPr>
              <a:t>D.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E. Pharmacogenomic screening of the patient — </a:t>
            </a:r>
            <a:r>
              <a:rPr lang="en-US" sz="1600" dirty="0">
                <a:solidFill>
                  <a:srgbClr val="1F1F1F"/>
                </a:solidFill>
              </a:rPr>
              <a:t>Pharmacogenomics is one input among several, not the whole checklist (S34).</a:t>
            </a:r>
            <a:endParaRPr lang="en-US" sz="16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25: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C. Half-life — </a:t>
            </a:r>
            <a:r>
              <a:rPr lang="en-US" sz="1600" dirty="0">
                <a:solidFill>
                  <a:srgbClr val="1F1F1F"/>
                </a:solidFill>
              </a:rPr>
              <a:t>Half-life governs time to steady state, not maximal effect (S48).</a:t>
            </a:r>
            <a:endParaRPr lang="en-US" sz="1600" dirty="0"/>
          </a:p>
          <a:p>
            <a:pPr indent="0" marL="0">
              <a:buNone/>
            </a:pPr>
            <a:r>
              <a:rPr lang="en-US" sz="1600" b="1" dirty="0">
                <a:solidFill>
                  <a:srgbClr val="1F1F1F"/>
                </a:solidFill>
              </a:rPr>
              <a:t>D.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E. Both equally — </a:t>
            </a:r>
            <a:r>
              <a:rPr lang="en-US" sz="1600" dirty="0">
                <a:solidFill>
                  <a:srgbClr val="1F1F1F"/>
                </a:solidFill>
              </a:rPr>
              <a:t>Efficacy matters more than potency (S48).</a:t>
            </a:r>
            <a:endParaRPr lang="en-US" sz="16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C. Competitive lowers Emax; noncompetitive shifts the curve right with the same Emax — </a:t>
            </a:r>
            <a:r>
              <a:rPr lang="en-US" sz="1600" dirty="0">
                <a:solidFill>
                  <a:srgbClr val="1F1F1F"/>
                </a:solidFill>
              </a:rPr>
              <a:t>This reverses the two (S48).</a:t>
            </a:r>
            <a:endParaRPr lang="en-US" sz="1600" dirty="0"/>
          </a:p>
          <a:p>
            <a:pPr indent="0" marL="0">
              <a:buNone/>
            </a:pPr>
            <a:r>
              <a:rPr lang="en-US" sz="1600" b="1" dirty="0">
                <a:solidFill>
                  <a:srgbClr val="1F1F1F"/>
                </a:solidFill>
              </a:rPr>
              <a:t>D. Only competitive antagonists cause adverse effects; noncompetitive ones never do — </a:t>
            </a:r>
            <a:r>
              <a:rPr lang="en-US" sz="1600" dirty="0">
                <a:solidFill>
                  <a:srgbClr val="1F1F1F"/>
                </a:solidFill>
              </a:rPr>
              <a:t>Adverse effects are not what separates them (S46, S48).</a:t>
            </a:r>
            <a:endParaRPr lang="en-US" sz="1600" dirty="0"/>
          </a:p>
          <a:p>
            <a:pPr indent="0" marL="0">
              <a:buNone/>
            </a:pPr>
            <a:r>
              <a:rPr lang="en-US" sz="1600" b="1" dirty="0">
                <a:solidFill>
                  <a:srgbClr val="1F1F1F"/>
                </a:solidFill>
              </a:rPr>
              <a:t>E. They are pharmacologically identical and produce the same dose-response curve — </a:t>
            </a:r>
            <a:r>
              <a:rPr lang="en-US" sz="1600" dirty="0">
                <a:solidFill>
                  <a:srgbClr val="1F1F1F"/>
                </a:solidFill>
              </a:rPr>
              <a:t>Their curve effects differ (S48).</a:t>
            </a:r>
            <a:endParaRPr lang="en-US" sz="16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27: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new drug is a strong CYP3A4 inducer — </a:t>
            </a:r>
            <a:r>
              <a:rPr lang="en-US" sz="1600" dirty="0">
                <a:solidFill>
                  <a:srgbClr val="1F1F1F"/>
                </a:solidFill>
              </a:rPr>
              <a:t>Nothing here involves CYP metabolism; it's receptor competition (S41).</a:t>
            </a:r>
            <a:endParaRPr lang="en-US" sz="1600" dirty="0"/>
          </a:p>
          <a:p>
            <a:pPr indent="0" marL="0">
              <a:buNone/>
            </a:pPr>
            <a:r>
              <a:rPr lang="en-US" sz="1600" b="1" dirty="0">
                <a:solidFill>
                  <a:srgbClr val="1F1F1F"/>
                </a:solidFill>
              </a:rPr>
              <a:t>B.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C.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E. The new drug is a full agonist itself — </a:t>
            </a:r>
            <a:r>
              <a:rPr lang="en-US" sz="1600" dirty="0">
                <a:solidFill>
                  <a:srgbClr val="1F1F1F"/>
                </a:solidFill>
              </a:rPr>
              <a:t>A drug that weakens the home medication's effect is acting as an antagonist (S41).</a:t>
            </a:r>
            <a:endParaRPr lang="en-US" sz="16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123</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B.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a:p>
            <a:pPr indent="0" marL="0">
              <a:buNone/>
            </a:pPr>
            <a:r>
              <a:rPr lang="en-US" sz="1600" b="1" dirty="0">
                <a:solidFill>
                  <a:srgbClr val="1F1F1F"/>
                </a:solidFill>
              </a:rPr>
              <a:t>C. Increase the dose, since the CYP3A4 inhibitor will lower the drug's level — </a:t>
            </a:r>
            <a:r>
              <a:rPr lang="en-US" sz="1600" dirty="0">
                <a:solidFill>
                  <a:srgbClr val="1F1F1F"/>
                </a:solidFill>
              </a:rPr>
              <a:t>A CYP3A4 inhibitor RAISES substrate levels (S6); induction lowers them.</a:t>
            </a:r>
            <a:endParaRPr lang="en-US" sz="1600" dirty="0"/>
          </a:p>
          <a:p>
            <a:pPr indent="0" marL="0">
              <a:buNone/>
            </a:pPr>
            <a:r>
              <a:rPr lang="en-US" sz="1600" b="1" dirty="0">
                <a:solidFill>
                  <a:srgbClr val="1F1F1F"/>
                </a:solidFill>
              </a:rPr>
              <a:t>D. Start the drug, and check renal function only if symptoms appear later — </a:t>
            </a:r>
            <a:r>
              <a:rPr lang="en-US" sz="1600" dirty="0">
                <a:solidFill>
                  <a:srgbClr val="1F1F1F"/>
                </a:solidFill>
              </a:rPr>
              <a:t>Check eGFR/CrCl and adjust BEFORE dispensing, then monitor closely (SG U1-S).</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124</Slides>
  <Notes>124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124</vt:i4>
      </vt:variant>
    </vt:vector>
  </HeadingPairs>
  <TitlesOfParts>
    <vt:vector size="1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2026-10-24T14:09:17Z</dcterms:created>
  <dcterms:modified xsi:type="dcterms:W3CDTF">2026-10-24T14:09:17Z</dcterms:modified>
</cp:coreProperties>
</file>