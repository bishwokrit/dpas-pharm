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Lst>
  <p:notesMasterIdLst>
    <p:notesMasterId r:id="rId10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notesMaster" Target="notesMasters/notesMaster1.xml"/><Relationship Id="rId107" Type="http://schemas.openxmlformats.org/officeDocument/2006/relationships/presProps" Target="presProps.xml"/><Relationship Id="rId108" Type="http://schemas.openxmlformats.org/officeDocument/2006/relationships/viewProps" Target="viewProps.xml"/><Relationship Id="rId109" Type="http://schemas.openxmlformats.org/officeDocument/2006/relationships/theme" Target="theme/theme1.xml"/><Relationship Id="rId1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S7; S8-9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S10-11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S47-48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p. 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S15; S16-17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S14; S14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S20; S21-22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S24; S25-26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S29-30; SG U1-R11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S46; S48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S47-48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S35-36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S42-43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S47-48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S46; S48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S46; S48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on the next slide. Source: S41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slideLayout" Target="../slideLayouts/slideLayout1.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slideLayout" Target="../slideLayouts/slideLayout1.xml"/><Relationship Id="rId7"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image" Target="../media/image-57-4.png"/><Relationship Id="rId5" Type="http://schemas.openxmlformats.org/officeDocument/2006/relationships/slideLayout" Target="../slideLayouts/slideLayout1.xml"/><Relationship Id="rId6"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image" Target="../media/image-71-3.png"/><Relationship Id="rId4" Type="http://schemas.openxmlformats.org/officeDocument/2006/relationships/image" Target="../media/image-71-4.png"/><Relationship Id="rId5" Type="http://schemas.openxmlformats.org/officeDocument/2006/relationships/image" Target="../media/image-71-5.png"/><Relationship Id="rId6" Type="http://schemas.openxmlformats.org/officeDocument/2006/relationships/slideLayout" Target="../slideLayouts/slideLayout1.xml"/><Relationship Id="rId7"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image" Target="../media/image-80-2.png"/><Relationship Id="rId3" Type="http://schemas.openxmlformats.org/officeDocument/2006/relationships/slideLayout" Target="../slideLayouts/slideLayout1.xml"/><Relationship Id="rId4"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image" Target="../media/image-86-2.png"/><Relationship Id="rId3" Type="http://schemas.openxmlformats.org/officeDocument/2006/relationships/image" Target="../media/image-86-3.png"/><Relationship Id="rId4" Type="http://schemas.openxmlformats.org/officeDocument/2006/relationships/image" Target="../media/image-86-4.png"/><Relationship Id="rId5" Type="http://schemas.openxmlformats.org/officeDocument/2006/relationships/image" Target="../media/image-86-5.png"/><Relationship Id="rId6" Type="http://schemas.openxmlformats.org/officeDocument/2006/relationships/slideLayout" Target="../slideLayouts/slideLayout1.xml"/><Relationship Id="rId7"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image" Target="../media/image-91-2.png"/><Relationship Id="rId3" Type="http://schemas.openxmlformats.org/officeDocument/2006/relationships/slideLayout" Target="../slideLayouts/slideLayout1.xml"/><Relationship Id="rId4"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image" Target="../media/image-93-2.png"/><Relationship Id="rId3" Type="http://schemas.openxmlformats.org/officeDocument/2006/relationships/slideLayout" Target="../slideLayouts/slideLayout1.xml"/><Relationship Id="rId4"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pn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png"/><Relationship Id="rId2" Type="http://schemas.openxmlformats.org/officeDocument/2006/relationships/slideLayout" Target="../slideLayouts/slideLayout1.xml"/><Relationship Id="rId3" Type="http://schemas.openxmlformats.org/officeDocument/2006/relationships/notesSlide" Target="../notesSlides/notesSlide10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371600"/>
            <a:ext cx="9144000" cy="365760"/>
          </a:xfrm>
          <a:prstGeom prst="rect">
            <a:avLst/>
          </a:prstGeom>
          <a:noFill/>
          <a:ln/>
        </p:spPr>
        <p:txBody>
          <a:bodyPr wrap="square" lIns="0" tIns="0" rIns="0" bIns="0" rtlCol="0" anchor="ctr"/>
          <a:lstStyle/>
          <a:p>
            <a:pPr indent="0" marL="0">
              <a:buNone/>
            </a:pPr>
            <a:r>
              <a:rPr lang="en-US" sz="1600" b="1" dirty="0">
                <a:solidFill>
                  <a:srgbClr val="4472C4"/>
                </a:solidFill>
              </a:rPr>
              <a:t>L02 · Thu, Oct 22, 2026</a:t>
            </a:r>
            <a:endParaRPr lang="en-US" sz="1600" dirty="0"/>
          </a:p>
        </p:txBody>
      </p:sp>
      <p:sp>
        <p:nvSpPr>
          <p:cNvPr id="3" name="Title"/>
          <p:cNvSpPr txBox="1"/>
          <p:nvPr/>
        </p:nvSpPr>
        <p:spPr>
          <a:xfrm>
            <a:off x="548640" y="1783080"/>
            <a:ext cx="11094415" cy="1280160"/>
          </a:xfrm>
          <a:prstGeom prst="rect">
            <a:avLst/>
          </a:prstGeom>
          <a:noFill/>
          <a:ln/>
        </p:spPr>
        <p:txBody>
          <a:bodyPr wrap="square" lIns="0" tIns="0" rIns="0" bIns="0" rtlCol="0" anchor="t"/>
          <a:lstStyle/>
          <a:p>
            <a:pPr indent="0" marL="0">
              <a:buNone/>
            </a:pPr>
            <a:r>
              <a:rPr lang="en-US" sz="4400" b="1" dirty="0">
                <a:solidFill>
                  <a:srgbClr val="1F1F1F"/>
                </a:solidFill>
                <a:latin typeface="Calibri" pitchFamily="34" charset="0"/>
                <a:ea typeface="Calibri" pitchFamily="34" charset="-122"/>
                <a:cs typeface="Calibri" pitchFamily="34" charset="-120"/>
              </a:rPr>
              <a:t>Introduction to Pharmacology — Session 2</a:t>
            </a:r>
            <a:endParaRPr lang="en-US" sz="4400" dirty="0"/>
          </a:p>
        </p:txBody>
      </p:sp>
      <p:sp>
        <p:nvSpPr>
          <p:cNvPr id="4" name="Text 2"/>
          <p:cNvSpPr txBox="1"/>
          <p:nvPr/>
        </p:nvSpPr>
        <p:spPr>
          <a:xfrm>
            <a:off x="548640" y="3063240"/>
            <a:ext cx="9144000" cy="365760"/>
          </a:xfrm>
          <a:prstGeom prst="rect">
            <a:avLst/>
          </a:prstGeom>
          <a:noFill/>
          <a:ln/>
        </p:spPr>
        <p:txBody>
          <a:bodyPr wrap="square" lIns="0" tIns="0" rIns="0" bIns="0" rtlCol="0" anchor="ctr"/>
          <a:lstStyle/>
          <a:p>
            <a:pPr indent="0" marL="0">
              <a:buNone/>
            </a:pPr>
            <a:r>
              <a:rPr lang="en-US" sz="1800" dirty="0">
                <a:solidFill>
                  <a:srgbClr val="666666"/>
                </a:solidFill>
              </a:rPr>
              <a:t>Pharmacology study deck · organized by topic</a:t>
            </a:r>
            <a:endParaRPr lang="en-US" sz="1800" dirty="0"/>
          </a:p>
        </p:txBody>
      </p:sp>
      <p:sp>
        <p:nvSpPr>
          <p:cNvPr id="5" name="Legend card"/>
          <p:cNvSpPr/>
          <p:nvPr/>
        </p:nvSpPr>
        <p:spPr>
          <a:xfrm>
            <a:off x="548640" y="3840480"/>
            <a:ext cx="11094415" cy="2103120"/>
          </a:xfrm>
          <a:prstGeom prst="roundRect">
            <a:avLst>
              <a:gd name="adj" fmla="val 5217"/>
            </a:avLst>
          </a:prstGeom>
          <a:solidFill>
            <a:srgbClr val="F2F4F7"/>
          </a:solidFill>
          <a:ln w="12700">
            <a:solidFill>
              <a:srgbClr val="F2F4F7"/>
            </a:solidFill>
            <a:prstDash val="solid"/>
          </a:ln>
        </p:spPr>
      </p:sp>
      <p:sp>
        <p:nvSpPr>
          <p:cNvPr id="6" name="Text 4"/>
          <p:cNvSpPr txBox="1"/>
          <p:nvPr/>
        </p:nvSpPr>
        <p:spPr>
          <a:xfrm>
            <a:off x="822960" y="4023360"/>
            <a:ext cx="5486400" cy="365760"/>
          </a:xfrm>
          <a:prstGeom prst="rect">
            <a:avLst/>
          </a:prstGeom>
          <a:noFill/>
          <a:ln/>
        </p:spPr>
        <p:txBody>
          <a:bodyPr wrap="square" lIns="0" tIns="0" rIns="0" bIns="0" rtlCol="0" anchor="ctr"/>
          <a:lstStyle/>
          <a:p>
            <a:pPr indent="0" marL="0">
              <a:buNone/>
            </a:pPr>
            <a:r>
              <a:rPr lang="en-US" sz="1600" b="1" dirty="0">
                <a:solidFill>
                  <a:srgbClr val="1F1F1F"/>
                </a:solidFill>
              </a:rPr>
              <a:t>How to read this deck</a:t>
            </a:r>
            <a:endParaRPr lang="en-US" sz="1600" dirty="0"/>
          </a:p>
        </p:txBody>
      </p:sp>
      <p:sp>
        <p:nvSpPr>
          <p:cNvPr id="7" name="Legend"/>
          <p:cNvSpPr txBox="1"/>
          <p:nvPr/>
        </p:nvSpPr>
        <p:spPr>
          <a:xfrm>
            <a:off x="822960" y="4389120"/>
            <a:ext cx="10545775" cy="1463040"/>
          </a:xfrm>
          <a:prstGeom prst="rect">
            <a:avLst/>
          </a:prstGeom>
          <a:noFill/>
          <a:ln/>
        </p:spPr>
        <p:txBody>
          <a:bodyPr wrap="square" lIns="0" tIns="0" rIns="0" bIns="0" rtlCol="0" anchor="t"/>
          <a:lstStyle/>
          <a:p>
            <a:pPr indent="0" marL="0">
              <a:spcAft>
                <a:spcPts val="400"/>
              </a:spcAft>
              <a:buNone/>
            </a:pPr>
            <a:r>
              <a:rPr lang="en-US" sz="1400" b="1" dirty="0">
                <a:solidFill>
                  <a:srgbClr val="000000"/>
                </a:solidFill>
                <a:highlight>
                  <a:srgbClr val="FFC000"/>
                </a:highlight>
              </a:rPr>
              <a:t> TB </a:t>
            </a:r>
            <a:r>
              <a:rPr lang="en-US" sz="1400" dirty="0">
                <a:solidFill>
                  <a:srgbClr val="1F1F1F"/>
                </a:solidFill>
              </a:rPr>
              <a:t>  = textbook only (not on the lecture slides)</a:t>
            </a:r>
            <a:endParaRPr lang="en-US" sz="1400" dirty="0"/>
          </a:p>
          <a:p>
            <a:pPr indent="0" marL="0">
              <a:spcAft>
                <a:spcPts val="400"/>
              </a:spcAft>
              <a:buNone/>
            </a:pPr>
            <a:r>
              <a:rPr lang="en-US" sz="1400" b="1" dirty="0">
                <a:solidFill>
                  <a:srgbClr val="000000"/>
                </a:solidFill>
                <a:highlight>
                  <a:srgbClr val="9FE0D8"/>
                </a:highlight>
              </a:rPr>
              <a:t> SG </a:t>
            </a:r>
            <a:r>
              <a:rPr lang="en-US" sz="1400" dirty="0">
                <a:solidFill>
                  <a:srgbClr val="1F1F1F"/>
                </a:solidFill>
              </a:rPr>
              <a:t>  = course study guide only (not on the lecture slides)</a:t>
            </a:r>
            <a:endParaRPr lang="en-US" sz="1400" dirty="0"/>
          </a:p>
          <a:p>
            <a:pPr indent="0" marL="0">
              <a:spcAft>
                <a:spcPts val="400"/>
              </a:spcAft>
              <a:buNone/>
            </a:pPr>
            <a:r>
              <a:rPr lang="en-US" sz="1400" b="1" dirty="0">
                <a:solidFill>
                  <a:srgbClr val="1F1F1F"/>
                </a:solidFill>
              </a:rPr>
              <a:t>Bold</a:t>
            </a:r>
            <a:r>
              <a:rPr lang="en-US" sz="1400" dirty="0">
                <a:solidFill>
                  <a:srgbClr val="1F1F1F"/>
                </a:solidFill>
              </a:rPr>
              <a:t> = emphasized on the lecture slides</a:t>
            </a:r>
            <a:endParaRPr lang="en-US" sz="1400" dirty="0"/>
          </a:p>
          <a:p>
            <a:pPr indent="0" marL="0">
              <a:spcAft>
                <a:spcPts val="400"/>
              </a:spcAft>
              <a:buNone/>
            </a:pPr>
            <a:r>
              <a:rPr lang="en-US" sz="1400" dirty="0">
                <a:solidFill>
                  <a:srgbClr val="666666"/>
                </a:solidFill>
              </a:rPr>
              <a:t>S12</a:t>
            </a:r>
            <a:r>
              <a:rPr lang="en-US" sz="1400" dirty="0">
                <a:solidFill>
                  <a:srgbClr val="1F1F1F"/>
                </a:solidFill>
              </a:rPr>
              <a:t> = lecture slide 12   ·   </a:t>
            </a:r>
            <a:r>
              <a:rPr lang="en-US" sz="1400" dirty="0">
                <a:solidFill>
                  <a:srgbClr val="666666"/>
                </a:solidFill>
              </a:rPr>
              <a:t>p. 245</a:t>
            </a:r>
            <a:r>
              <a:rPr lang="en-US" sz="1400" dirty="0">
                <a:solidFill>
                  <a:srgbClr val="1F1F1F"/>
                </a:solidFill>
              </a:rPr>
              <a:t> = textbook page 245   ·   </a:t>
            </a:r>
            <a:r>
              <a:rPr lang="en-US" sz="1400" dirty="0">
                <a:solidFill>
                  <a:srgbClr val="666666"/>
                </a:solidFill>
              </a:rPr>
              <a:t>SG U1-R3</a:t>
            </a:r>
            <a:r>
              <a:rPr lang="en-US" sz="1400" dirty="0">
                <a:solidFill>
                  <a:srgbClr val="1F1F1F"/>
                </a:solidFill>
              </a:rPr>
              <a:t> = study guide item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1109441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START HERE</a:t>
            </a:r>
            <a:endParaRPr lang="en-US" sz="1200" dirty="0"/>
          </a:p>
        </p:txBody>
      </p:sp>
      <p:sp>
        <p:nvSpPr>
          <p:cNvPr id="3" name="Title"/>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Learning objectives</a:t>
            </a:r>
            <a:endParaRPr lang="en-US" sz="3000" dirty="0"/>
          </a:p>
        </p:txBody>
      </p:sp>
      <p:sp>
        <p:nvSpPr>
          <p:cNvPr id="4"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5"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2</a:t>
            </a:r>
            <a:endParaRPr lang="en-US" sz="1000" dirty="0"/>
          </a:p>
        </p:txBody>
      </p:sp>
      <p:sp>
        <p:nvSpPr>
          <p:cNvPr id="6" name="Objective IO1.1"/>
          <p:cNvSpPr/>
          <p:nvPr/>
        </p:nvSpPr>
        <p:spPr>
          <a:xfrm>
            <a:off x="548640" y="1325880"/>
            <a:ext cx="11094415" cy="1018032"/>
          </a:xfrm>
          <a:prstGeom prst="roundRect">
            <a:avLst>
              <a:gd name="adj" fmla="val 8982"/>
            </a:avLst>
          </a:prstGeom>
          <a:solidFill>
            <a:srgbClr val="F2F4F7"/>
          </a:solidFill>
          <a:ln w="12700">
            <a:solidFill>
              <a:srgbClr val="F2F4F7"/>
            </a:solidFill>
            <a:prstDash val="solid"/>
          </a:ln>
        </p:spPr>
      </p:sp>
      <p:sp>
        <p:nvSpPr>
          <p:cNvPr id="7" name="Text 5"/>
          <p:cNvSpPr txBox="1"/>
          <p:nvPr/>
        </p:nvSpPr>
        <p:spPr>
          <a:xfrm>
            <a:off x="731520" y="1325880"/>
            <a:ext cx="731520" cy="1018032"/>
          </a:xfrm>
          <a:prstGeom prst="rect">
            <a:avLst/>
          </a:prstGeom>
          <a:noFill/>
          <a:ln/>
        </p:spPr>
        <p:txBody>
          <a:bodyPr wrap="square" lIns="0" tIns="0" rIns="0" bIns="0" rtlCol="0" anchor="ctr"/>
          <a:lstStyle/>
          <a:p>
            <a:pPr indent="0" marL="0">
              <a:buNone/>
            </a:pPr>
            <a:r>
              <a:rPr lang="en-US" sz="1600" b="1" dirty="0">
                <a:solidFill>
                  <a:srgbClr val="4472C4"/>
                </a:solidFill>
              </a:rPr>
              <a:t>IO1.1</a:t>
            </a:r>
            <a:endParaRPr lang="en-US" sz="1600" dirty="0"/>
          </a:p>
        </p:txBody>
      </p:sp>
      <p:sp>
        <p:nvSpPr>
          <p:cNvPr id="8" name="Text 6"/>
          <p:cNvSpPr txBox="1"/>
          <p:nvPr/>
        </p:nvSpPr>
        <p:spPr>
          <a:xfrm>
            <a:off x="1463040" y="1325880"/>
            <a:ext cx="6217920" cy="1018032"/>
          </a:xfrm>
          <a:prstGeom prst="rect">
            <a:avLst/>
          </a:prstGeom>
          <a:noFill/>
          <a:ln/>
        </p:spPr>
        <p:txBody>
          <a:bodyPr wrap="square" lIns="0" tIns="0" rIns="0" bIns="0" rtlCol="0" anchor="ctr"/>
          <a:lstStyle/>
          <a:p>
            <a:pPr indent="0" marL="0">
              <a:buNone/>
            </a:pPr>
            <a:r>
              <a:rPr lang="en-US" sz="1600" dirty="0">
                <a:solidFill>
                  <a:srgbClr val="1F1F1F"/>
                </a:solidFill>
              </a:rPr>
              <a:t>Define and describe fundamental pharmacologic concepts, including pharmacokinetics, pharmacodynamics, drug-receptor interactions, dose-response relationships, therapeutic index, half-life, and steady state.</a:t>
            </a:r>
            <a:endParaRPr lang="en-US" sz="1600" dirty="0"/>
          </a:p>
        </p:txBody>
      </p:sp>
      <p:sp>
        <p:nvSpPr>
          <p:cNvPr id="9" name="Text 7"/>
          <p:cNvSpPr txBox="1"/>
          <p:nvPr/>
        </p:nvSpPr>
        <p:spPr>
          <a:xfrm>
            <a:off x="7863840" y="1325880"/>
            <a:ext cx="3596335" cy="1018032"/>
          </a:xfrm>
          <a:prstGeom prst="rect">
            <a:avLst/>
          </a:prstGeom>
          <a:noFill/>
          <a:ln/>
        </p:spPr>
        <p:txBody>
          <a:bodyPr wrap="square" lIns="0" tIns="0" rIns="0" bIns="0" rtlCol="0" anchor="ctr"/>
          <a:lstStyle/>
          <a:p>
            <a:pPr indent="0" marL="0">
              <a:buNone/>
            </a:pPr>
            <a:r>
              <a:rPr lang="en-US" sz="1200" dirty="0">
                <a:solidFill>
                  <a:srgbClr val="666666"/>
                </a:solidFill>
              </a:rPr>
              <a:t>PK Calculations: Half-Life, Steady State &amp; Clearance</a:t>
            </a:r>
            <a:endParaRPr lang="en-US" sz="1200" dirty="0"/>
          </a:p>
        </p:txBody>
      </p:sp>
      <p:sp>
        <p:nvSpPr>
          <p:cNvPr id="10" name="Objective IO1.2"/>
          <p:cNvSpPr/>
          <p:nvPr/>
        </p:nvSpPr>
        <p:spPr>
          <a:xfrm>
            <a:off x="548640" y="2453640"/>
            <a:ext cx="11094415" cy="770128"/>
          </a:xfrm>
          <a:prstGeom prst="roundRect">
            <a:avLst>
              <a:gd name="adj" fmla="val 11873"/>
            </a:avLst>
          </a:prstGeom>
          <a:solidFill>
            <a:srgbClr val="F2F4F7"/>
          </a:solidFill>
          <a:ln w="12700">
            <a:solidFill>
              <a:srgbClr val="F2F4F7"/>
            </a:solidFill>
            <a:prstDash val="solid"/>
          </a:ln>
        </p:spPr>
      </p:sp>
      <p:sp>
        <p:nvSpPr>
          <p:cNvPr id="11" name="Text 9"/>
          <p:cNvSpPr txBox="1"/>
          <p:nvPr/>
        </p:nvSpPr>
        <p:spPr>
          <a:xfrm>
            <a:off x="731520" y="2453640"/>
            <a:ext cx="731520" cy="770128"/>
          </a:xfrm>
          <a:prstGeom prst="rect">
            <a:avLst/>
          </a:prstGeom>
          <a:noFill/>
          <a:ln/>
        </p:spPr>
        <p:txBody>
          <a:bodyPr wrap="square" lIns="0" tIns="0" rIns="0" bIns="0" rtlCol="0" anchor="ctr"/>
          <a:lstStyle/>
          <a:p>
            <a:pPr indent="0" marL="0">
              <a:buNone/>
            </a:pPr>
            <a:r>
              <a:rPr lang="en-US" sz="1600" b="1" dirty="0">
                <a:solidFill>
                  <a:srgbClr val="4472C4"/>
                </a:solidFill>
              </a:rPr>
              <a:t>IO1.2</a:t>
            </a:r>
            <a:endParaRPr lang="en-US" sz="1600" dirty="0"/>
          </a:p>
        </p:txBody>
      </p:sp>
      <p:sp>
        <p:nvSpPr>
          <p:cNvPr id="12" name="Text 10"/>
          <p:cNvSpPr txBox="1"/>
          <p:nvPr/>
        </p:nvSpPr>
        <p:spPr>
          <a:xfrm>
            <a:off x="1463040" y="2453640"/>
            <a:ext cx="6217920" cy="770128"/>
          </a:xfrm>
          <a:prstGeom prst="rect">
            <a:avLst/>
          </a:prstGeom>
          <a:noFill/>
          <a:ln/>
        </p:spPr>
        <p:txBody>
          <a:bodyPr wrap="square" lIns="0" tIns="0" rIns="0" bIns="0" rtlCol="0" anchor="ctr"/>
          <a:lstStyle/>
          <a:p>
            <a:pPr indent="0" marL="0">
              <a:buNone/>
            </a:pPr>
            <a:r>
              <a:rPr lang="en-US" sz="1600" dirty="0">
                <a:solidFill>
                  <a:srgbClr val="1F1F1F"/>
                </a:solidFill>
              </a:rPr>
              <a:t>Describe the processes of drug absorption, distribution, metabolism, and excretion and factors that influence these processes.</a:t>
            </a:r>
            <a:endParaRPr lang="en-US" sz="1600" dirty="0"/>
          </a:p>
        </p:txBody>
      </p:sp>
      <p:sp>
        <p:nvSpPr>
          <p:cNvPr id="13" name="Text 11"/>
          <p:cNvSpPr txBox="1"/>
          <p:nvPr/>
        </p:nvSpPr>
        <p:spPr>
          <a:xfrm>
            <a:off x="7863840" y="2453640"/>
            <a:ext cx="3596335" cy="770128"/>
          </a:xfrm>
          <a:prstGeom prst="rect">
            <a:avLst/>
          </a:prstGeom>
          <a:noFill/>
          <a:ln/>
        </p:spPr>
        <p:txBody>
          <a:bodyPr wrap="square" lIns="0" tIns="0" rIns="0" bIns="0" rtlCol="0" anchor="ctr"/>
          <a:lstStyle/>
          <a:p>
            <a:pPr indent="0" marL="0">
              <a:buNone/>
            </a:pPr>
            <a:r>
              <a:rPr lang="en-US" sz="1200" dirty="0">
                <a:solidFill>
                  <a:srgbClr val="666666"/>
                </a:solidFill>
              </a:rPr>
              <a:t>Drug Metabolism &amp; CYP450 Interactions, Drug Excretion &amp; Renal Dosing</a:t>
            </a:r>
            <a:endParaRPr lang="en-US" sz="1200" dirty="0"/>
          </a:p>
        </p:txBody>
      </p:sp>
      <p:sp>
        <p:nvSpPr>
          <p:cNvPr id="14" name="Objective IO1.3"/>
          <p:cNvSpPr/>
          <p:nvPr/>
        </p:nvSpPr>
        <p:spPr>
          <a:xfrm>
            <a:off x="548640" y="3333496"/>
            <a:ext cx="11094415" cy="1158240"/>
          </a:xfrm>
          <a:prstGeom prst="roundRect">
            <a:avLst>
              <a:gd name="adj" fmla="val 7895"/>
            </a:avLst>
          </a:prstGeom>
          <a:solidFill>
            <a:srgbClr val="FCE9DA"/>
          </a:solidFill>
          <a:ln w="12700">
            <a:solidFill>
              <a:srgbClr val="FCE9DA"/>
            </a:solidFill>
            <a:prstDash val="solid"/>
          </a:ln>
        </p:spPr>
      </p:sp>
      <p:sp>
        <p:nvSpPr>
          <p:cNvPr id="15" name="Text 13"/>
          <p:cNvSpPr txBox="1"/>
          <p:nvPr/>
        </p:nvSpPr>
        <p:spPr>
          <a:xfrm>
            <a:off x="731520" y="3333496"/>
            <a:ext cx="731520" cy="1158240"/>
          </a:xfrm>
          <a:prstGeom prst="rect">
            <a:avLst/>
          </a:prstGeom>
          <a:noFill/>
          <a:ln/>
        </p:spPr>
        <p:txBody>
          <a:bodyPr wrap="square" lIns="0" tIns="0" rIns="0" bIns="0" rtlCol="0" anchor="ctr"/>
          <a:lstStyle/>
          <a:p>
            <a:pPr indent="0" marL="0">
              <a:buNone/>
            </a:pPr>
            <a:r>
              <a:rPr lang="en-US" sz="1600" b="1" dirty="0">
                <a:solidFill>
                  <a:srgbClr val="4472C4"/>
                </a:solidFill>
              </a:rPr>
              <a:t>IO1.3</a:t>
            </a:r>
            <a:endParaRPr lang="en-US" sz="1600" dirty="0"/>
          </a:p>
        </p:txBody>
      </p:sp>
      <p:sp>
        <p:nvSpPr>
          <p:cNvPr id="16" name="Text 14"/>
          <p:cNvSpPr txBox="1"/>
          <p:nvPr/>
        </p:nvSpPr>
        <p:spPr>
          <a:xfrm>
            <a:off x="1463040" y="3333496"/>
            <a:ext cx="6217920" cy="1158240"/>
          </a:xfrm>
          <a:prstGeom prst="rect">
            <a:avLst/>
          </a:prstGeom>
          <a:noFill/>
          <a:ln/>
        </p:spPr>
        <p:txBody>
          <a:bodyPr wrap="square" lIns="0" tIns="0" rIns="0" bIns="0" rtlCol="0" anchor="ctr"/>
          <a:lstStyle/>
          <a:p>
            <a:pPr indent="0" marL="0">
              <a:buNone/>
            </a:pPr>
            <a:r>
              <a:rPr lang="en-US" sz="1600" dirty="0">
                <a:solidFill>
                  <a:srgbClr val="1F1F1F"/>
                </a:solidFill>
              </a:rPr>
              <a:t>Explain how patient-specific factors, including age, pregnancy, renal and hepatic function, and pharmacogenetic variation, may affect medication response.</a:t>
            </a:r>
            <a:endParaRPr lang="en-US" sz="1600" dirty="0"/>
          </a:p>
        </p:txBody>
      </p:sp>
      <p:sp>
        <p:nvSpPr>
          <p:cNvPr id="17" name="Text 15"/>
          <p:cNvSpPr txBox="1"/>
          <p:nvPr/>
        </p:nvSpPr>
        <p:spPr>
          <a:xfrm>
            <a:off x="7863840" y="3333496"/>
            <a:ext cx="3596335" cy="1158240"/>
          </a:xfrm>
          <a:prstGeom prst="rect">
            <a:avLst/>
          </a:prstGeom>
          <a:noFill/>
          <a:ln/>
        </p:spPr>
        <p:txBody>
          <a:bodyPr wrap="square" lIns="0" tIns="0" rIns="0" bIns="0" rtlCol="0" anchor="ctr"/>
          <a:lstStyle/>
          <a:p>
            <a:pPr indent="0" marL="0">
              <a:buNone/>
            </a:pPr>
            <a:r>
              <a:rPr lang="en-US" sz="1200" b="1" dirty="0">
                <a:solidFill>
                  <a:srgbClr val="C55A11"/>
                </a:solidFill>
              </a:rPr>
              <a:t>⚠ Thin coverage
</a:t>
            </a:r>
            <a:r>
              <a:rPr lang="en-US" sz="1200" dirty="0">
                <a:solidFill>
                  <a:srgbClr val="666666"/>
                </a:solidFill>
              </a:rPr>
              <a:t>Age and pregnancy are only named in the prescribing checklist · Drug Excretion &amp; Renal Dosing, PK Calculations: Half-Life, Steady State &amp; Clearance, Pharmacogenomics, Putting It All Together: Clinical Decision-Making</a:t>
            </a:r>
            <a:endParaRPr lang="en-US" sz="1200" dirty="0"/>
          </a:p>
        </p:txBody>
      </p:sp>
      <p:sp>
        <p:nvSpPr>
          <p:cNvPr id="18" name="Objective IO1.4"/>
          <p:cNvSpPr/>
          <p:nvPr/>
        </p:nvSpPr>
        <p:spPr>
          <a:xfrm>
            <a:off x="548640" y="4601464"/>
            <a:ext cx="11094415" cy="786384"/>
          </a:xfrm>
          <a:prstGeom prst="roundRect">
            <a:avLst>
              <a:gd name="adj" fmla="val 11628"/>
            </a:avLst>
          </a:prstGeom>
          <a:solidFill>
            <a:srgbClr val="F2F4F7"/>
          </a:solidFill>
          <a:ln w="12700">
            <a:solidFill>
              <a:srgbClr val="F2F4F7"/>
            </a:solidFill>
            <a:prstDash val="solid"/>
          </a:ln>
        </p:spPr>
      </p:sp>
      <p:sp>
        <p:nvSpPr>
          <p:cNvPr id="19" name="Text 17"/>
          <p:cNvSpPr txBox="1"/>
          <p:nvPr/>
        </p:nvSpPr>
        <p:spPr>
          <a:xfrm>
            <a:off x="731520" y="4601464"/>
            <a:ext cx="731520" cy="786384"/>
          </a:xfrm>
          <a:prstGeom prst="rect">
            <a:avLst/>
          </a:prstGeom>
          <a:noFill/>
          <a:ln/>
        </p:spPr>
        <p:txBody>
          <a:bodyPr wrap="square" lIns="0" tIns="0" rIns="0" bIns="0" rtlCol="0" anchor="ctr"/>
          <a:lstStyle/>
          <a:p>
            <a:pPr indent="0" marL="0">
              <a:buNone/>
            </a:pPr>
            <a:r>
              <a:rPr lang="en-US" sz="1600" b="1" dirty="0">
                <a:solidFill>
                  <a:srgbClr val="4472C4"/>
                </a:solidFill>
              </a:rPr>
              <a:t>IO1.4</a:t>
            </a:r>
            <a:endParaRPr lang="en-US" sz="1600" dirty="0"/>
          </a:p>
        </p:txBody>
      </p:sp>
      <p:sp>
        <p:nvSpPr>
          <p:cNvPr id="20" name="Text 18"/>
          <p:cNvSpPr txBox="1"/>
          <p:nvPr/>
        </p:nvSpPr>
        <p:spPr>
          <a:xfrm>
            <a:off x="1463040" y="4601464"/>
            <a:ext cx="6217920" cy="786384"/>
          </a:xfrm>
          <a:prstGeom prst="rect">
            <a:avLst/>
          </a:prstGeom>
          <a:noFill/>
          <a:ln/>
        </p:spPr>
        <p:txBody>
          <a:bodyPr wrap="square" lIns="0" tIns="0" rIns="0" bIns="0" rtlCol="0" anchor="ctr"/>
          <a:lstStyle/>
          <a:p>
            <a:pPr indent="0" marL="0">
              <a:buNone/>
            </a:pPr>
            <a:r>
              <a:rPr lang="en-US" sz="1600" dirty="0">
                <a:solidFill>
                  <a:srgbClr val="1F1F1F"/>
                </a:solidFill>
              </a:rPr>
              <a:t>Identify common types and mechanisms of adverse drug reactions, drug-drug interactions, and drug-disease interactions.</a:t>
            </a:r>
            <a:endParaRPr lang="en-US" sz="1600" dirty="0"/>
          </a:p>
        </p:txBody>
      </p:sp>
      <p:sp>
        <p:nvSpPr>
          <p:cNvPr id="21" name="Text 19"/>
          <p:cNvSpPr txBox="1"/>
          <p:nvPr/>
        </p:nvSpPr>
        <p:spPr>
          <a:xfrm>
            <a:off x="7863840" y="4601464"/>
            <a:ext cx="3596335" cy="786384"/>
          </a:xfrm>
          <a:prstGeom prst="rect">
            <a:avLst/>
          </a:prstGeom>
          <a:noFill/>
          <a:ln/>
        </p:spPr>
        <p:txBody>
          <a:bodyPr wrap="square" lIns="0" tIns="0" rIns="0" bIns="0" rtlCol="0" anchor="ctr"/>
          <a:lstStyle/>
          <a:p>
            <a:pPr indent="0" marL="0">
              <a:buNone/>
            </a:pPr>
            <a:r>
              <a:rPr lang="en-US" sz="1200" dirty="0">
                <a:solidFill>
                  <a:srgbClr val="666666"/>
                </a:solidFill>
              </a:rPr>
              <a:t>Drug Metabolism &amp; CYP450 Interactions, Pharmacogenomics, Putting It All Together: Clinical Decision-Making</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1109441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START HERE</a:t>
            </a:r>
            <a:endParaRPr lang="en-US" sz="1200" dirty="0"/>
          </a:p>
        </p:txBody>
      </p:sp>
      <p:sp>
        <p:nvSpPr>
          <p:cNvPr id="3" name="Title"/>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Learning objectives (cont.)</a:t>
            </a:r>
            <a:endParaRPr lang="en-US" sz="3000" dirty="0"/>
          </a:p>
        </p:txBody>
      </p:sp>
      <p:sp>
        <p:nvSpPr>
          <p:cNvPr id="4"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5"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3</a:t>
            </a:r>
            <a:endParaRPr lang="en-US" sz="1000" dirty="0"/>
          </a:p>
        </p:txBody>
      </p:sp>
      <p:sp>
        <p:nvSpPr>
          <p:cNvPr id="6" name="Objective IO1.5"/>
          <p:cNvSpPr/>
          <p:nvPr/>
        </p:nvSpPr>
        <p:spPr>
          <a:xfrm>
            <a:off x="548640" y="1325880"/>
            <a:ext cx="11094415" cy="972312"/>
          </a:xfrm>
          <a:prstGeom prst="roundRect">
            <a:avLst>
              <a:gd name="adj" fmla="val 9404"/>
            </a:avLst>
          </a:prstGeom>
          <a:solidFill>
            <a:srgbClr val="FCE9DA"/>
          </a:solidFill>
          <a:ln w="12700">
            <a:solidFill>
              <a:srgbClr val="FCE9DA"/>
            </a:solidFill>
            <a:prstDash val="solid"/>
          </a:ln>
        </p:spPr>
      </p:sp>
      <p:sp>
        <p:nvSpPr>
          <p:cNvPr id="7" name="Text 5"/>
          <p:cNvSpPr txBox="1"/>
          <p:nvPr/>
        </p:nvSpPr>
        <p:spPr>
          <a:xfrm>
            <a:off x="731520" y="1325880"/>
            <a:ext cx="731520" cy="972312"/>
          </a:xfrm>
          <a:prstGeom prst="rect">
            <a:avLst/>
          </a:prstGeom>
          <a:noFill/>
          <a:ln/>
        </p:spPr>
        <p:txBody>
          <a:bodyPr wrap="square" lIns="0" tIns="0" rIns="0" bIns="0" rtlCol="0" anchor="ctr"/>
          <a:lstStyle/>
          <a:p>
            <a:pPr indent="0" marL="0">
              <a:buNone/>
            </a:pPr>
            <a:r>
              <a:rPr lang="en-US" sz="1600" b="1" dirty="0">
                <a:solidFill>
                  <a:srgbClr val="4472C4"/>
                </a:solidFill>
              </a:rPr>
              <a:t>IO1.5</a:t>
            </a:r>
            <a:endParaRPr lang="en-US" sz="1600" dirty="0"/>
          </a:p>
        </p:txBody>
      </p:sp>
      <p:sp>
        <p:nvSpPr>
          <p:cNvPr id="8" name="Text 6"/>
          <p:cNvSpPr txBox="1"/>
          <p:nvPr/>
        </p:nvSpPr>
        <p:spPr>
          <a:xfrm>
            <a:off x="1463040" y="1325880"/>
            <a:ext cx="6217920" cy="972312"/>
          </a:xfrm>
          <a:prstGeom prst="rect">
            <a:avLst/>
          </a:prstGeom>
          <a:noFill/>
          <a:ln/>
        </p:spPr>
        <p:txBody>
          <a:bodyPr wrap="square" lIns="0" tIns="0" rIns="0" bIns="0" rtlCol="0" anchor="ctr"/>
          <a:lstStyle/>
          <a:p>
            <a:pPr indent="0" marL="0">
              <a:buNone/>
            </a:pPr>
            <a:r>
              <a:rPr lang="en-US" sz="1600" dirty="0">
                <a:solidFill>
                  <a:srgbClr val="1F1F1F"/>
                </a:solidFill>
              </a:rPr>
              <a:t>Interpret common components of medication orders and prescriptions, including drug name, dose, route, frequency, and duration.</a:t>
            </a:r>
            <a:endParaRPr lang="en-US" sz="1600" dirty="0"/>
          </a:p>
        </p:txBody>
      </p:sp>
      <p:sp>
        <p:nvSpPr>
          <p:cNvPr id="9" name="Text 7"/>
          <p:cNvSpPr txBox="1"/>
          <p:nvPr/>
        </p:nvSpPr>
        <p:spPr>
          <a:xfrm>
            <a:off x="7863840" y="1325880"/>
            <a:ext cx="3596335" cy="972312"/>
          </a:xfrm>
          <a:prstGeom prst="rect">
            <a:avLst/>
          </a:prstGeom>
          <a:noFill/>
          <a:ln/>
        </p:spPr>
        <p:txBody>
          <a:bodyPr wrap="square" lIns="0" tIns="0" rIns="0" bIns="0" rtlCol="0" anchor="ctr"/>
          <a:lstStyle/>
          <a:p>
            <a:pPr indent="0" marL="0">
              <a:buNone/>
            </a:pPr>
            <a:r>
              <a:rPr lang="en-US" sz="1200" b="1" dirty="0">
                <a:solidFill>
                  <a:srgbClr val="C55A11"/>
                </a:solidFill>
              </a:rPr>
              <a:t>⚠ Thin coverage
</a:t>
            </a:r>
            <a:r>
              <a:rPr lang="en-US" sz="1200" dirty="0">
                <a:solidFill>
                  <a:srgbClr val="666666"/>
                </a:solidFill>
              </a:rPr>
              <a:t>Only dose, route, interval, and monitoring (checklist, renal dosing); no prescription-reading content · Drug Excretion &amp; Renal Dosing, Putting It All Together: Clinical Decision-Making</a:t>
            </a:r>
            <a:endParaRPr lang="en-US" sz="1200" dirty="0"/>
          </a:p>
        </p:txBody>
      </p:sp>
      <p:sp>
        <p:nvSpPr>
          <p:cNvPr id="10" name="Objective SO1"/>
          <p:cNvSpPr/>
          <p:nvPr/>
        </p:nvSpPr>
        <p:spPr>
          <a:xfrm>
            <a:off x="548640" y="2407920"/>
            <a:ext cx="11094415" cy="770128"/>
          </a:xfrm>
          <a:prstGeom prst="roundRect">
            <a:avLst>
              <a:gd name="adj" fmla="val 11873"/>
            </a:avLst>
          </a:prstGeom>
          <a:solidFill>
            <a:srgbClr val="F2F4F7"/>
          </a:solidFill>
          <a:ln w="12700">
            <a:solidFill>
              <a:srgbClr val="F2F4F7"/>
            </a:solidFill>
            <a:prstDash val="solid"/>
          </a:ln>
        </p:spPr>
      </p:sp>
      <p:sp>
        <p:nvSpPr>
          <p:cNvPr id="11" name="Text 9"/>
          <p:cNvSpPr txBox="1"/>
          <p:nvPr/>
        </p:nvSpPr>
        <p:spPr>
          <a:xfrm>
            <a:off x="731520" y="2407920"/>
            <a:ext cx="731520" cy="770128"/>
          </a:xfrm>
          <a:prstGeom prst="rect">
            <a:avLst/>
          </a:prstGeom>
          <a:noFill/>
          <a:ln/>
        </p:spPr>
        <p:txBody>
          <a:bodyPr wrap="square" lIns="0" tIns="0" rIns="0" bIns="0" rtlCol="0" anchor="ctr"/>
          <a:lstStyle/>
          <a:p>
            <a:pPr indent="0" marL="0">
              <a:buNone/>
            </a:pPr>
            <a:r>
              <a:rPr lang="en-US" sz="1600" b="1" dirty="0">
                <a:solidFill>
                  <a:srgbClr val="4472C4"/>
                </a:solidFill>
              </a:rPr>
              <a:t>SO1</a:t>
            </a:r>
            <a:endParaRPr lang="en-US" sz="1600" dirty="0"/>
          </a:p>
        </p:txBody>
      </p:sp>
      <p:sp>
        <p:nvSpPr>
          <p:cNvPr id="12" name="Text 10"/>
          <p:cNvSpPr txBox="1"/>
          <p:nvPr/>
        </p:nvSpPr>
        <p:spPr>
          <a:xfrm>
            <a:off x="1463040" y="2407920"/>
            <a:ext cx="6217920" cy="770128"/>
          </a:xfrm>
          <a:prstGeom prst="rect">
            <a:avLst/>
          </a:prstGeom>
          <a:noFill/>
          <a:ln/>
        </p:spPr>
        <p:txBody>
          <a:bodyPr wrap="square" lIns="0" tIns="0" rIns="0" bIns="0" rtlCol="0" anchor="ctr"/>
          <a:lstStyle/>
          <a:p>
            <a:pPr indent="0" marL="0">
              <a:buNone/>
            </a:pPr>
            <a:r>
              <a:rPr lang="en-US" sz="1600" dirty="0">
                <a:solidFill>
                  <a:srgbClr val="1F1F1F"/>
                </a:solidFill>
              </a:rPr>
              <a:t>Explain drug biotransformation (Phase I/II metabolism) and the clinical impact of CYP450 enzyme inhibition and induction.</a:t>
            </a:r>
            <a:endParaRPr lang="en-US" sz="1600" dirty="0"/>
          </a:p>
        </p:txBody>
      </p:sp>
      <p:sp>
        <p:nvSpPr>
          <p:cNvPr id="13" name="Text 11"/>
          <p:cNvSpPr txBox="1"/>
          <p:nvPr/>
        </p:nvSpPr>
        <p:spPr>
          <a:xfrm>
            <a:off x="7863840" y="2407920"/>
            <a:ext cx="3596335" cy="770128"/>
          </a:xfrm>
          <a:prstGeom prst="rect">
            <a:avLst/>
          </a:prstGeom>
          <a:noFill/>
          <a:ln/>
        </p:spPr>
        <p:txBody>
          <a:bodyPr wrap="square" lIns="0" tIns="0" rIns="0" bIns="0" rtlCol="0" anchor="ctr"/>
          <a:lstStyle/>
          <a:p>
            <a:pPr indent="0" marL="0">
              <a:buNone/>
            </a:pPr>
            <a:r>
              <a:rPr lang="en-US" sz="1200" dirty="0">
                <a:solidFill>
                  <a:srgbClr val="666666"/>
                </a:solidFill>
              </a:rPr>
              <a:t>Drug Metabolism &amp; CYP450 Interactions</a:t>
            </a:r>
            <a:endParaRPr lang="en-US" sz="1200" dirty="0"/>
          </a:p>
        </p:txBody>
      </p:sp>
      <p:sp>
        <p:nvSpPr>
          <p:cNvPr id="14" name="Objective SO2"/>
          <p:cNvSpPr/>
          <p:nvPr/>
        </p:nvSpPr>
        <p:spPr>
          <a:xfrm>
            <a:off x="548640" y="3287776"/>
            <a:ext cx="11094415" cy="770128"/>
          </a:xfrm>
          <a:prstGeom prst="roundRect">
            <a:avLst>
              <a:gd name="adj" fmla="val 11873"/>
            </a:avLst>
          </a:prstGeom>
          <a:solidFill>
            <a:srgbClr val="F2F4F7"/>
          </a:solidFill>
          <a:ln w="12700">
            <a:solidFill>
              <a:srgbClr val="F2F4F7"/>
            </a:solidFill>
            <a:prstDash val="solid"/>
          </a:ln>
        </p:spPr>
      </p:sp>
      <p:sp>
        <p:nvSpPr>
          <p:cNvPr id="15" name="Text 13"/>
          <p:cNvSpPr txBox="1"/>
          <p:nvPr/>
        </p:nvSpPr>
        <p:spPr>
          <a:xfrm>
            <a:off x="731520" y="3287776"/>
            <a:ext cx="731520" cy="770128"/>
          </a:xfrm>
          <a:prstGeom prst="rect">
            <a:avLst/>
          </a:prstGeom>
          <a:noFill/>
          <a:ln/>
        </p:spPr>
        <p:txBody>
          <a:bodyPr wrap="square" lIns="0" tIns="0" rIns="0" bIns="0" rtlCol="0" anchor="ctr"/>
          <a:lstStyle/>
          <a:p>
            <a:pPr indent="0" marL="0">
              <a:buNone/>
            </a:pPr>
            <a:r>
              <a:rPr lang="en-US" sz="1600" b="1" dirty="0">
                <a:solidFill>
                  <a:srgbClr val="4472C4"/>
                </a:solidFill>
              </a:rPr>
              <a:t>SO2</a:t>
            </a:r>
            <a:endParaRPr lang="en-US" sz="1600" dirty="0"/>
          </a:p>
        </p:txBody>
      </p:sp>
      <p:sp>
        <p:nvSpPr>
          <p:cNvPr id="16" name="Text 14"/>
          <p:cNvSpPr txBox="1"/>
          <p:nvPr/>
        </p:nvSpPr>
        <p:spPr>
          <a:xfrm>
            <a:off x="1463040" y="3287776"/>
            <a:ext cx="6217920" cy="770128"/>
          </a:xfrm>
          <a:prstGeom prst="rect">
            <a:avLst/>
          </a:prstGeom>
          <a:noFill/>
          <a:ln/>
        </p:spPr>
        <p:txBody>
          <a:bodyPr wrap="square" lIns="0" tIns="0" rIns="0" bIns="0" rtlCol="0" anchor="ctr"/>
          <a:lstStyle/>
          <a:p>
            <a:pPr indent="0" marL="0">
              <a:buNone/>
            </a:pPr>
            <a:r>
              <a:rPr lang="en-US" sz="1600" dirty="0">
                <a:solidFill>
                  <a:srgbClr val="1F1F1F"/>
                </a:solidFill>
              </a:rPr>
              <a:t>Explain mechanisms of drug excretion and how renal function affects dosing.</a:t>
            </a:r>
            <a:endParaRPr lang="en-US" sz="1600" dirty="0"/>
          </a:p>
        </p:txBody>
      </p:sp>
      <p:sp>
        <p:nvSpPr>
          <p:cNvPr id="17" name="Text 15"/>
          <p:cNvSpPr txBox="1"/>
          <p:nvPr/>
        </p:nvSpPr>
        <p:spPr>
          <a:xfrm>
            <a:off x="7863840" y="3287776"/>
            <a:ext cx="3596335" cy="770128"/>
          </a:xfrm>
          <a:prstGeom prst="rect">
            <a:avLst/>
          </a:prstGeom>
          <a:noFill/>
          <a:ln/>
        </p:spPr>
        <p:txBody>
          <a:bodyPr wrap="square" lIns="0" tIns="0" rIns="0" bIns="0" rtlCol="0" anchor="ctr"/>
          <a:lstStyle/>
          <a:p>
            <a:pPr indent="0" marL="0">
              <a:buNone/>
            </a:pPr>
            <a:r>
              <a:rPr lang="en-US" sz="1200" dirty="0">
                <a:solidFill>
                  <a:srgbClr val="666666"/>
                </a:solidFill>
              </a:rPr>
              <a:t>Drug Excretion &amp; Renal Dosing</a:t>
            </a:r>
            <a:endParaRPr lang="en-US" sz="1200" dirty="0"/>
          </a:p>
        </p:txBody>
      </p:sp>
      <p:sp>
        <p:nvSpPr>
          <p:cNvPr id="18" name="Objective SO3"/>
          <p:cNvSpPr/>
          <p:nvPr/>
        </p:nvSpPr>
        <p:spPr>
          <a:xfrm>
            <a:off x="548640" y="4167632"/>
            <a:ext cx="11094415" cy="770128"/>
          </a:xfrm>
          <a:prstGeom prst="roundRect">
            <a:avLst>
              <a:gd name="adj" fmla="val 11873"/>
            </a:avLst>
          </a:prstGeom>
          <a:solidFill>
            <a:srgbClr val="F2F4F7"/>
          </a:solidFill>
          <a:ln w="12700">
            <a:solidFill>
              <a:srgbClr val="F2F4F7"/>
            </a:solidFill>
            <a:prstDash val="solid"/>
          </a:ln>
        </p:spPr>
      </p:sp>
      <p:sp>
        <p:nvSpPr>
          <p:cNvPr id="19" name="Text 17"/>
          <p:cNvSpPr txBox="1"/>
          <p:nvPr/>
        </p:nvSpPr>
        <p:spPr>
          <a:xfrm>
            <a:off x="731520" y="4167632"/>
            <a:ext cx="731520" cy="770128"/>
          </a:xfrm>
          <a:prstGeom prst="rect">
            <a:avLst/>
          </a:prstGeom>
          <a:noFill/>
          <a:ln/>
        </p:spPr>
        <p:txBody>
          <a:bodyPr wrap="square" lIns="0" tIns="0" rIns="0" bIns="0" rtlCol="0" anchor="ctr"/>
          <a:lstStyle/>
          <a:p>
            <a:pPr indent="0" marL="0">
              <a:buNone/>
            </a:pPr>
            <a:r>
              <a:rPr lang="en-US" sz="1600" b="1" dirty="0">
                <a:solidFill>
                  <a:srgbClr val="4472C4"/>
                </a:solidFill>
              </a:rPr>
              <a:t>SO3</a:t>
            </a:r>
            <a:endParaRPr lang="en-US" sz="1600" dirty="0"/>
          </a:p>
        </p:txBody>
      </p:sp>
      <p:sp>
        <p:nvSpPr>
          <p:cNvPr id="20" name="Text 18"/>
          <p:cNvSpPr txBox="1"/>
          <p:nvPr/>
        </p:nvSpPr>
        <p:spPr>
          <a:xfrm>
            <a:off x="1463040" y="4167632"/>
            <a:ext cx="6217920" cy="770128"/>
          </a:xfrm>
          <a:prstGeom prst="rect">
            <a:avLst/>
          </a:prstGeom>
          <a:noFill/>
          <a:ln/>
        </p:spPr>
        <p:txBody>
          <a:bodyPr wrap="square" lIns="0" tIns="0" rIns="0" bIns="0" rtlCol="0" anchor="ctr"/>
          <a:lstStyle/>
          <a:p>
            <a:pPr indent="0" marL="0">
              <a:buNone/>
            </a:pPr>
            <a:r>
              <a:rPr lang="en-US" sz="1600" dirty="0">
                <a:solidFill>
                  <a:srgbClr val="1F1F1F"/>
                </a:solidFill>
              </a:rPr>
              <a:t>Calculate and apply basic pharmacokinetic parameters (half-life, steady state, clearance).</a:t>
            </a:r>
            <a:endParaRPr lang="en-US" sz="1600" dirty="0"/>
          </a:p>
        </p:txBody>
      </p:sp>
      <p:sp>
        <p:nvSpPr>
          <p:cNvPr id="21" name="Text 19"/>
          <p:cNvSpPr txBox="1"/>
          <p:nvPr/>
        </p:nvSpPr>
        <p:spPr>
          <a:xfrm>
            <a:off x="7863840" y="4167632"/>
            <a:ext cx="3596335" cy="770128"/>
          </a:xfrm>
          <a:prstGeom prst="rect">
            <a:avLst/>
          </a:prstGeom>
          <a:noFill/>
          <a:ln/>
        </p:spPr>
        <p:txBody>
          <a:bodyPr wrap="square" lIns="0" tIns="0" rIns="0" bIns="0" rtlCol="0" anchor="ctr"/>
          <a:lstStyle/>
          <a:p>
            <a:pPr indent="0" marL="0">
              <a:buNone/>
            </a:pPr>
            <a:r>
              <a:rPr lang="en-US" sz="1200" dirty="0">
                <a:solidFill>
                  <a:srgbClr val="666666"/>
                </a:solidFill>
              </a:rPr>
              <a:t>PK Calculations: Half-Life, Steady State &amp; Clearance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1109441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START HERE</a:t>
            </a:r>
            <a:endParaRPr lang="en-US" sz="1200" dirty="0"/>
          </a:p>
        </p:txBody>
      </p:sp>
      <p:sp>
        <p:nvSpPr>
          <p:cNvPr id="3" name="Title"/>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Learning objectives (cont.)</a:t>
            </a:r>
            <a:endParaRPr lang="en-US" sz="3000" dirty="0"/>
          </a:p>
        </p:txBody>
      </p:sp>
      <p:sp>
        <p:nvSpPr>
          <p:cNvPr id="4"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5"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4</a:t>
            </a:r>
            <a:endParaRPr lang="en-US" sz="1000" dirty="0"/>
          </a:p>
        </p:txBody>
      </p:sp>
      <p:sp>
        <p:nvSpPr>
          <p:cNvPr id="6" name="Objective SO4"/>
          <p:cNvSpPr/>
          <p:nvPr/>
        </p:nvSpPr>
        <p:spPr>
          <a:xfrm>
            <a:off x="548640" y="1325880"/>
            <a:ext cx="11094415" cy="566928"/>
          </a:xfrm>
          <a:prstGeom prst="roundRect">
            <a:avLst>
              <a:gd name="adj" fmla="val 16129"/>
            </a:avLst>
          </a:prstGeom>
          <a:solidFill>
            <a:srgbClr val="F2F4F7"/>
          </a:solidFill>
          <a:ln w="12700">
            <a:solidFill>
              <a:srgbClr val="F2F4F7"/>
            </a:solidFill>
            <a:prstDash val="solid"/>
          </a:ln>
        </p:spPr>
      </p:sp>
      <p:sp>
        <p:nvSpPr>
          <p:cNvPr id="7" name="Text 5"/>
          <p:cNvSpPr txBox="1"/>
          <p:nvPr/>
        </p:nvSpPr>
        <p:spPr>
          <a:xfrm>
            <a:off x="731520" y="1325880"/>
            <a:ext cx="731520" cy="566928"/>
          </a:xfrm>
          <a:prstGeom prst="rect">
            <a:avLst/>
          </a:prstGeom>
          <a:noFill/>
          <a:ln/>
        </p:spPr>
        <p:txBody>
          <a:bodyPr wrap="square" lIns="0" tIns="0" rIns="0" bIns="0" rtlCol="0" anchor="ctr"/>
          <a:lstStyle/>
          <a:p>
            <a:pPr indent="0" marL="0">
              <a:buNone/>
            </a:pPr>
            <a:r>
              <a:rPr lang="en-US" sz="1600" b="1" dirty="0">
                <a:solidFill>
                  <a:srgbClr val="4472C4"/>
                </a:solidFill>
              </a:rPr>
              <a:t>SO4</a:t>
            </a:r>
            <a:endParaRPr lang="en-US" sz="1600" dirty="0"/>
          </a:p>
        </p:txBody>
      </p:sp>
      <p:sp>
        <p:nvSpPr>
          <p:cNvPr id="8" name="Text 6"/>
          <p:cNvSpPr txBox="1"/>
          <p:nvPr/>
        </p:nvSpPr>
        <p:spPr>
          <a:xfrm>
            <a:off x="1463040" y="1325880"/>
            <a:ext cx="6217920" cy="566928"/>
          </a:xfrm>
          <a:prstGeom prst="rect">
            <a:avLst/>
          </a:prstGeom>
          <a:noFill/>
          <a:ln/>
        </p:spPr>
        <p:txBody>
          <a:bodyPr wrap="square" lIns="0" tIns="0" rIns="0" bIns="0" rtlCol="0" anchor="ctr"/>
          <a:lstStyle/>
          <a:p>
            <a:pPr indent="0" marL="0">
              <a:buNone/>
            </a:pPr>
            <a:r>
              <a:rPr lang="en-US" sz="1600" dirty="0">
                <a:solidFill>
                  <a:srgbClr val="1F1F1F"/>
                </a:solidFill>
              </a:rPr>
              <a:t>Describe how pharmacogenomic variation can alter drug response.</a:t>
            </a:r>
            <a:endParaRPr lang="en-US" sz="1600" dirty="0"/>
          </a:p>
        </p:txBody>
      </p:sp>
      <p:sp>
        <p:nvSpPr>
          <p:cNvPr id="9" name="Text 7"/>
          <p:cNvSpPr txBox="1"/>
          <p:nvPr/>
        </p:nvSpPr>
        <p:spPr>
          <a:xfrm>
            <a:off x="7863840" y="1325880"/>
            <a:ext cx="3596335" cy="566928"/>
          </a:xfrm>
          <a:prstGeom prst="rect">
            <a:avLst/>
          </a:prstGeom>
          <a:noFill/>
          <a:ln/>
        </p:spPr>
        <p:txBody>
          <a:bodyPr wrap="square" lIns="0" tIns="0" rIns="0" bIns="0" rtlCol="0" anchor="ctr"/>
          <a:lstStyle/>
          <a:p>
            <a:pPr indent="0" marL="0">
              <a:buNone/>
            </a:pPr>
            <a:r>
              <a:rPr lang="en-US" sz="1200" dirty="0">
                <a:solidFill>
                  <a:srgbClr val="666666"/>
                </a:solidFill>
              </a:rPr>
              <a:t>Pharmacogenomics</a:t>
            </a:r>
            <a:endParaRPr lang="en-US" sz="1200" dirty="0"/>
          </a:p>
        </p:txBody>
      </p:sp>
      <p:sp>
        <p:nvSpPr>
          <p:cNvPr id="10" name="Objective SO5"/>
          <p:cNvSpPr/>
          <p:nvPr/>
        </p:nvSpPr>
        <p:spPr>
          <a:xfrm>
            <a:off x="548640" y="2002536"/>
            <a:ext cx="11094415" cy="566928"/>
          </a:xfrm>
          <a:prstGeom prst="roundRect">
            <a:avLst>
              <a:gd name="adj" fmla="val 16129"/>
            </a:avLst>
          </a:prstGeom>
          <a:solidFill>
            <a:srgbClr val="F2F4F7"/>
          </a:solidFill>
          <a:ln w="12700">
            <a:solidFill>
              <a:srgbClr val="F2F4F7"/>
            </a:solidFill>
            <a:prstDash val="solid"/>
          </a:ln>
        </p:spPr>
      </p:sp>
      <p:sp>
        <p:nvSpPr>
          <p:cNvPr id="11" name="Text 9"/>
          <p:cNvSpPr txBox="1"/>
          <p:nvPr/>
        </p:nvSpPr>
        <p:spPr>
          <a:xfrm>
            <a:off x="731520" y="2002536"/>
            <a:ext cx="731520" cy="566928"/>
          </a:xfrm>
          <a:prstGeom prst="rect">
            <a:avLst/>
          </a:prstGeom>
          <a:noFill/>
          <a:ln/>
        </p:spPr>
        <p:txBody>
          <a:bodyPr wrap="square" lIns="0" tIns="0" rIns="0" bIns="0" rtlCol="0" anchor="ctr"/>
          <a:lstStyle/>
          <a:p>
            <a:pPr indent="0" marL="0">
              <a:buNone/>
            </a:pPr>
            <a:r>
              <a:rPr lang="en-US" sz="1600" b="1" dirty="0">
                <a:solidFill>
                  <a:srgbClr val="4472C4"/>
                </a:solidFill>
              </a:rPr>
              <a:t>SO5</a:t>
            </a:r>
            <a:endParaRPr lang="en-US" sz="1600" dirty="0"/>
          </a:p>
        </p:txBody>
      </p:sp>
      <p:sp>
        <p:nvSpPr>
          <p:cNvPr id="12" name="Text 10"/>
          <p:cNvSpPr txBox="1"/>
          <p:nvPr/>
        </p:nvSpPr>
        <p:spPr>
          <a:xfrm>
            <a:off x="1463040" y="2002536"/>
            <a:ext cx="6217920" cy="566928"/>
          </a:xfrm>
          <a:prstGeom prst="rect">
            <a:avLst/>
          </a:prstGeom>
          <a:noFill/>
          <a:ln/>
        </p:spPr>
        <p:txBody>
          <a:bodyPr wrap="square" lIns="0" tIns="0" rIns="0" bIns="0" rtlCol="0" anchor="ctr"/>
          <a:lstStyle/>
          <a:p>
            <a:pPr indent="0" marL="0">
              <a:buNone/>
            </a:pPr>
            <a:r>
              <a:rPr lang="en-US" sz="1600" dirty="0">
                <a:solidFill>
                  <a:srgbClr val="1F1F1F"/>
                </a:solidFill>
              </a:rPr>
              <a:t>Apply a structured framework to clinical prescribing decisions.</a:t>
            </a:r>
            <a:endParaRPr lang="en-US" sz="1600" dirty="0"/>
          </a:p>
        </p:txBody>
      </p:sp>
      <p:sp>
        <p:nvSpPr>
          <p:cNvPr id="13" name="Text 11"/>
          <p:cNvSpPr txBox="1"/>
          <p:nvPr/>
        </p:nvSpPr>
        <p:spPr>
          <a:xfrm>
            <a:off x="7863840" y="2002536"/>
            <a:ext cx="3596335" cy="566928"/>
          </a:xfrm>
          <a:prstGeom prst="rect">
            <a:avLst/>
          </a:prstGeom>
          <a:noFill/>
          <a:ln/>
        </p:spPr>
        <p:txBody>
          <a:bodyPr wrap="square" lIns="0" tIns="0" rIns="0" bIns="0" rtlCol="0" anchor="ctr"/>
          <a:lstStyle/>
          <a:p>
            <a:pPr indent="0" marL="0">
              <a:buNone/>
            </a:pPr>
            <a:r>
              <a:rPr lang="en-US" sz="1200" dirty="0">
                <a:solidFill>
                  <a:srgbClr val="666666"/>
                </a:solidFill>
              </a:rPr>
              <a:t>Putting It All Together: Clinical Decision-Making</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1109441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START HERE</a:t>
            </a:r>
            <a:endParaRPr lang="en-US" sz="1200" dirty="0"/>
          </a:p>
        </p:txBody>
      </p:sp>
      <p:sp>
        <p:nvSpPr>
          <p:cNvPr id="3" name="Title"/>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About this lecture</a:t>
            </a:r>
            <a:endParaRPr lang="en-US" sz="3000" dirty="0"/>
          </a:p>
        </p:txBody>
      </p:sp>
      <p:sp>
        <p:nvSpPr>
          <p:cNvPr id="4"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5"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5</a:t>
            </a:r>
            <a:endParaRPr lang="en-US" sz="1000" dirty="0"/>
          </a:p>
        </p:txBody>
      </p:sp>
      <p:sp>
        <p:nvSpPr>
          <p:cNvPr id="6" name="Scope, readings &amp; sources card"/>
          <p:cNvSpPr/>
          <p:nvPr/>
        </p:nvSpPr>
        <p:spPr>
          <a:xfrm>
            <a:off x="548640" y="1325880"/>
            <a:ext cx="11094415" cy="2665476"/>
          </a:xfrm>
          <a:prstGeom prst="roundRect">
            <a:avLst>
              <a:gd name="adj" fmla="val 4117"/>
            </a:avLst>
          </a:prstGeom>
          <a:solidFill>
            <a:srgbClr val="F2F4F7"/>
          </a:solidFill>
          <a:ln w="12700">
            <a:solidFill>
              <a:srgbClr val="F2F4F7"/>
            </a:solidFill>
            <a:prstDash val="solid"/>
          </a:ln>
        </p:spPr>
      </p:sp>
      <p:sp>
        <p:nvSpPr>
          <p:cNvPr id="7" name="Scope, readings &amp; sources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8" name="Scope, readings &amp; source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9" name="Scope, readings &amp;amp; sources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4472C4"/>
                </a:solidFill>
              </a:rPr>
              <a:t>Scope, readings &amp; sources</a:t>
            </a:r>
            <a:endParaRPr lang="en-US" sz="1800" dirty="0"/>
          </a:p>
        </p:txBody>
      </p:sp>
      <p:sp>
        <p:nvSpPr>
          <p:cNvPr id="10" name="Scope, readings &amp; sources body"/>
          <p:cNvSpPr txBox="1"/>
          <p:nvPr/>
        </p:nvSpPr>
        <p:spPr>
          <a:xfrm>
            <a:off x="777240" y="2075688"/>
            <a:ext cx="10637215" cy="1796796"/>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Session 2 of 2 on Introduction to Pharmacology (Thursday, October 22): metabolism, excretion, PK calculations, pharmacogenomics &amp; clinical integration.</a:t>
            </a:r>
            <a:r>
              <a:rPr lang="en-US" sz="1300" dirty="0">
                <a:solidFill>
                  <a:srgbClr val="666666"/>
                </a:solidFill>
              </a:rPr>
              <a:t>  S1</a:t>
            </a:r>
            <a:endParaRPr lang="en-US" sz="1800" dirty="0"/>
          </a:p>
          <a:p>
            <a:pPr marL="228600" indent="-228600">
              <a:spcAft>
                <a:spcPts val="800"/>
              </a:spcAft>
              <a:buSzPct val="100000"/>
              <a:buChar char="•"/>
            </a:pPr>
            <a:r>
              <a:rPr lang="en-US" sz="1800" dirty="0">
                <a:solidFill>
                  <a:srgbClr val="1F1F1F"/>
                </a:solidFill>
              </a:rPr>
              <a:t>Recap: Session 1 covered pharmacology vocabulary, drug development, pharmacodynamics, dose-response relationships, and ADME through distribution. Today picks up with metabolism (Section 6) and runs through the integrated clinical framework and recall quiz.</a:t>
            </a:r>
            <a:r>
              <a:rPr lang="en-US" sz="1300" dirty="0">
                <a:solidFill>
                  <a:srgbClr val="666666"/>
                </a:solidFill>
              </a:rPr>
              <a:t>  S2; S2 (notes)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1109441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START HERE</a:t>
            </a:r>
            <a:endParaRPr lang="en-US" sz="1200" dirty="0"/>
          </a:p>
        </p:txBody>
      </p:sp>
      <p:sp>
        <p:nvSpPr>
          <p:cNvPr id="3" name="Title"/>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About this lecture (cont.)</a:t>
            </a:r>
            <a:endParaRPr lang="en-US" sz="3000" dirty="0"/>
          </a:p>
        </p:txBody>
      </p:sp>
      <p:sp>
        <p:nvSpPr>
          <p:cNvPr id="4"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5"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6</a:t>
            </a:r>
            <a:endParaRPr lang="en-US" sz="1000" dirty="0"/>
          </a:p>
        </p:txBody>
      </p:sp>
      <p:sp>
        <p:nvSpPr>
          <p:cNvPr id="6" name="Scope, readings &amp; sources card"/>
          <p:cNvSpPr/>
          <p:nvPr/>
        </p:nvSpPr>
        <p:spPr>
          <a:xfrm>
            <a:off x="548640" y="1325880"/>
            <a:ext cx="11094415" cy="3502152"/>
          </a:xfrm>
          <a:prstGeom prst="roundRect">
            <a:avLst>
              <a:gd name="adj" fmla="val 3133"/>
            </a:avLst>
          </a:prstGeom>
          <a:solidFill>
            <a:srgbClr val="F2F4F7"/>
          </a:solidFill>
          <a:ln w="12700">
            <a:solidFill>
              <a:srgbClr val="F2F4F7"/>
            </a:solidFill>
            <a:prstDash val="solid"/>
          </a:ln>
        </p:spPr>
      </p:sp>
      <p:sp>
        <p:nvSpPr>
          <p:cNvPr id="7" name="Scope, readings &amp; sources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8" name="Scope, readings &amp; source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9" name="Scope, readings &amp;amp; sources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4472C4"/>
                </a:solidFill>
              </a:rPr>
              <a:t>Scope, readings &amp; sources</a:t>
            </a:r>
            <a:endParaRPr lang="en-US" sz="1800" dirty="0"/>
          </a:p>
        </p:txBody>
      </p:sp>
      <p:sp>
        <p:nvSpPr>
          <p:cNvPr id="10" name="Scope, readings &amp; sources body"/>
          <p:cNvSpPr txBox="1"/>
          <p:nvPr/>
        </p:nvSpPr>
        <p:spPr>
          <a:xfrm>
            <a:off x="777240" y="2075688"/>
            <a:ext cx="10637215" cy="2633472"/>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The Lecture Recall Quiz is a cumulative self-test covering both sessions — a standalone recall resource, separate from the in-lecture quick checks; revisit it on your own before the exam. (Rebuilt here as practice questions.)</a:t>
            </a:r>
            <a:r>
              <a:rPr lang="en-US" sz="1300" dirty="0">
                <a:solidFill>
                  <a:srgbClr val="666666"/>
                </a:solidFill>
              </a:rPr>
              <a:t>  S45; S48 (notes)</a:t>
            </a:r>
            <a:endParaRPr lang="en-US" sz="1800" dirty="0"/>
          </a:p>
          <a:p>
            <a:pPr marL="228600" indent="-228600">
              <a:spcAft>
                <a:spcPts val="800"/>
              </a:spcAft>
              <a:buSzPct val="100000"/>
              <a:buChar char="•"/>
            </a:pPr>
            <a:r>
              <a:rPr lang="en-US" sz="1800" b="1" dirty="0">
                <a:solidFill>
                  <a:srgbClr val="1F1F1F"/>
                </a:solidFill>
              </a:rPr>
              <a:t>Original figures in this deck:</a:t>
            </a:r>
            <a:r>
              <a:rPr lang="en-US" sz="1800" dirty="0">
                <a:solidFill>
                  <a:srgbClr val="1F1F1F"/>
                </a:solidFill>
              </a:rPr>
              <a:t> Figures 6–8 (CYP450 inhibition vs. induction; exponential decay over half-lives; reaching steady state with and without a loading dose) were generated by the course director using the AI tool Claude to illustrate standard, non-copyrighted pharmacologic concepts — original diagrams, not reproduced from Katzung or any other copyrighted source. </a:t>
            </a:r>
            <a:r>
              <a:rPr lang="en-US" sz="1800" b="1" dirty="0">
                <a:solidFill>
                  <a:srgbClr val="1F1F1F"/>
                </a:solidFill>
              </a:rPr>
              <a:t>Reference:</a:t>
            </a:r>
            <a:r>
              <a:rPr lang="en-US" sz="1800" dirty="0">
                <a:solidFill>
                  <a:srgbClr val="1F1F1F"/>
                </a:solidFill>
              </a:rPr>
              <a:t> Anthropic. (2026). Claude (Sonnet 5) [Large language model]. https://claude.ai</a:t>
            </a:r>
            <a:r>
              <a:rPr lang="en-US" sz="1300" dirty="0">
                <a:solidFill>
                  <a:srgbClr val="666666"/>
                </a:solidFill>
              </a:rPr>
              <a:t>  S49; S49 (notes)</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1109441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ROADMAP</a:t>
            </a:r>
            <a:endParaRPr lang="en-US" sz="1200" dirty="0"/>
          </a:p>
        </p:txBody>
      </p:sp>
      <p:sp>
        <p:nvSpPr>
          <p:cNvPr id="3" name="Title"/>
          <p:cNvSpPr txBox="1"/>
          <p:nvPr/>
        </p:nvSpPr>
        <p:spPr>
          <a:xfrm>
            <a:off x="548640" y="566928"/>
            <a:ext cx="1109441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Topics in this lecture</a:t>
            </a:r>
            <a:endParaRPr lang="en-US" sz="3000" dirty="0"/>
          </a:p>
        </p:txBody>
      </p:sp>
      <p:sp>
        <p:nvSpPr>
          <p:cNvPr id="4"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5"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7</a:t>
            </a:r>
            <a:endParaRPr lang="en-US" sz="1000" dirty="0"/>
          </a:p>
        </p:txBody>
      </p:sp>
      <p:sp>
        <p:nvSpPr>
          <p:cNvPr id="6" name="Shape 4"/>
          <p:cNvSpPr/>
          <p:nvPr/>
        </p:nvSpPr>
        <p:spPr>
          <a:xfrm>
            <a:off x="548640" y="1325880"/>
            <a:ext cx="5364328" cy="914400"/>
          </a:xfrm>
          <a:prstGeom prst="roundRect">
            <a:avLst>
              <a:gd name="adj" fmla="val 10000"/>
            </a:avLst>
          </a:prstGeom>
          <a:solidFill>
            <a:srgbClr val="F2F4F7"/>
          </a:solidFill>
          <a:ln w="12700">
            <a:solidFill>
              <a:srgbClr val="F2F4F7"/>
            </a:solidFill>
            <a:prstDash val="solid"/>
          </a:ln>
        </p:spPr>
      </p:sp>
      <p:sp>
        <p:nvSpPr>
          <p:cNvPr id="7" name="Shape 5"/>
          <p:cNvSpPr/>
          <p:nvPr/>
        </p:nvSpPr>
        <p:spPr>
          <a:xfrm>
            <a:off x="731520" y="1554480"/>
            <a:ext cx="457200" cy="457200"/>
          </a:xfrm>
          <a:prstGeom prst="ellipse">
            <a:avLst/>
          </a:prstGeom>
          <a:solidFill>
            <a:srgbClr val="4472C4"/>
          </a:solidFill>
          <a:ln w="12700">
            <a:solidFill>
              <a:srgbClr val="4472C4"/>
            </a:solidFill>
            <a:prstDash val="solid"/>
          </a:ln>
        </p:spPr>
      </p:sp>
      <p:sp>
        <p:nvSpPr>
          <p:cNvPr id="8" name="Text 6"/>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9" name="Text 7"/>
          <p:cNvSpPr txBox="1"/>
          <p:nvPr/>
        </p:nvSpPr>
        <p:spPr>
          <a:xfrm>
            <a:off x="1371600" y="1325880"/>
            <a:ext cx="4358488" cy="914400"/>
          </a:xfrm>
          <a:prstGeom prst="rect">
            <a:avLst/>
          </a:prstGeom>
          <a:noFill/>
          <a:ln/>
        </p:spPr>
        <p:txBody>
          <a:bodyPr wrap="square" lIns="0" tIns="0" rIns="0" bIns="0" rtlCol="0" anchor="ctr"/>
          <a:lstStyle/>
          <a:p>
            <a:pPr indent="0" marL="0">
              <a:buNone/>
            </a:pPr>
            <a:r>
              <a:rPr lang="en-US" sz="1800" b="1" dirty="0">
                <a:solidFill>
                  <a:srgbClr val="1F1F1F"/>
                </a:solidFill>
              </a:rPr>
              <a:t>Drug Metabolism &amp; CYP450 Interactions</a:t>
            </a:r>
            <a:endParaRPr lang="en-US" sz="1800" dirty="0"/>
          </a:p>
          <a:p>
            <a:pPr indent="0" marL="0">
              <a:buNone/>
            </a:pPr>
            <a:r>
              <a:rPr lang="en-US" sz="1200" dirty="0">
                <a:solidFill>
                  <a:srgbClr val="666666"/>
                </a:solidFill>
              </a:rPr>
              <a:t>Objectives: SO1, IO1.2, IO1.4</a:t>
            </a:r>
            <a:endParaRPr lang="en-US" sz="1800" dirty="0"/>
          </a:p>
        </p:txBody>
      </p:sp>
      <p:sp>
        <p:nvSpPr>
          <p:cNvPr id="10" name="Shape 8"/>
          <p:cNvSpPr/>
          <p:nvPr/>
        </p:nvSpPr>
        <p:spPr>
          <a:xfrm>
            <a:off x="548640" y="2377440"/>
            <a:ext cx="5364328" cy="914400"/>
          </a:xfrm>
          <a:prstGeom prst="roundRect">
            <a:avLst>
              <a:gd name="adj" fmla="val 10000"/>
            </a:avLst>
          </a:prstGeom>
          <a:solidFill>
            <a:srgbClr val="F2F4F7"/>
          </a:solidFill>
          <a:ln w="12700">
            <a:solidFill>
              <a:srgbClr val="F2F4F7"/>
            </a:solidFill>
            <a:prstDash val="solid"/>
          </a:ln>
        </p:spPr>
      </p:sp>
      <p:sp>
        <p:nvSpPr>
          <p:cNvPr id="11" name="Shape 9"/>
          <p:cNvSpPr/>
          <p:nvPr/>
        </p:nvSpPr>
        <p:spPr>
          <a:xfrm>
            <a:off x="731520" y="2606040"/>
            <a:ext cx="457200" cy="457200"/>
          </a:xfrm>
          <a:prstGeom prst="ellipse">
            <a:avLst/>
          </a:prstGeom>
          <a:solidFill>
            <a:srgbClr val="4472C4"/>
          </a:solidFill>
          <a:ln w="12700">
            <a:solidFill>
              <a:srgbClr val="4472C4"/>
            </a:solidFill>
            <a:prstDash val="solid"/>
          </a:ln>
        </p:spPr>
      </p:sp>
      <p:sp>
        <p:nvSpPr>
          <p:cNvPr id="12" name="Text 10"/>
          <p:cNvSpPr txBox="1"/>
          <p:nvPr/>
        </p:nvSpPr>
        <p:spPr>
          <a:xfrm>
            <a:off x="731520" y="2606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3" name="Text 11"/>
          <p:cNvSpPr txBox="1"/>
          <p:nvPr/>
        </p:nvSpPr>
        <p:spPr>
          <a:xfrm>
            <a:off x="1371600" y="2377440"/>
            <a:ext cx="4358488" cy="914400"/>
          </a:xfrm>
          <a:prstGeom prst="rect">
            <a:avLst/>
          </a:prstGeom>
          <a:noFill/>
          <a:ln/>
        </p:spPr>
        <p:txBody>
          <a:bodyPr wrap="square" lIns="0" tIns="0" rIns="0" bIns="0" rtlCol="0" anchor="ctr"/>
          <a:lstStyle/>
          <a:p>
            <a:pPr indent="0" marL="0">
              <a:buNone/>
            </a:pPr>
            <a:r>
              <a:rPr lang="en-US" sz="1800" b="1" dirty="0">
                <a:solidFill>
                  <a:srgbClr val="1F1F1F"/>
                </a:solidFill>
              </a:rPr>
              <a:t>Drug Excretion &amp; Renal Dosing</a:t>
            </a:r>
            <a:endParaRPr lang="en-US" sz="1800" dirty="0"/>
          </a:p>
          <a:p>
            <a:pPr indent="0" marL="0">
              <a:buNone/>
            </a:pPr>
            <a:r>
              <a:rPr lang="en-US" sz="1200" dirty="0">
                <a:solidFill>
                  <a:srgbClr val="666666"/>
                </a:solidFill>
              </a:rPr>
              <a:t>Objectives: SO2, IO1.2, IO1.3, IO1.5</a:t>
            </a:r>
            <a:endParaRPr lang="en-US" sz="1800" dirty="0"/>
          </a:p>
        </p:txBody>
      </p:sp>
      <p:sp>
        <p:nvSpPr>
          <p:cNvPr id="14" name="Shape 12"/>
          <p:cNvSpPr/>
          <p:nvPr/>
        </p:nvSpPr>
        <p:spPr>
          <a:xfrm>
            <a:off x="548640" y="3429000"/>
            <a:ext cx="5364328" cy="914400"/>
          </a:xfrm>
          <a:prstGeom prst="roundRect">
            <a:avLst>
              <a:gd name="adj" fmla="val 10000"/>
            </a:avLst>
          </a:prstGeom>
          <a:solidFill>
            <a:srgbClr val="F2F4F7"/>
          </a:solidFill>
          <a:ln w="12700">
            <a:solidFill>
              <a:srgbClr val="F2F4F7"/>
            </a:solidFill>
            <a:prstDash val="solid"/>
          </a:ln>
        </p:spPr>
      </p:sp>
      <p:sp>
        <p:nvSpPr>
          <p:cNvPr id="15" name="Shape 13"/>
          <p:cNvSpPr/>
          <p:nvPr/>
        </p:nvSpPr>
        <p:spPr>
          <a:xfrm>
            <a:off x="731520" y="3657600"/>
            <a:ext cx="457200" cy="457200"/>
          </a:xfrm>
          <a:prstGeom prst="ellipse">
            <a:avLst/>
          </a:prstGeom>
          <a:solidFill>
            <a:srgbClr val="4472C4"/>
          </a:solidFill>
          <a:ln w="12700">
            <a:solidFill>
              <a:srgbClr val="4472C4"/>
            </a:solidFill>
            <a:prstDash val="solid"/>
          </a:ln>
        </p:spPr>
      </p:sp>
      <p:sp>
        <p:nvSpPr>
          <p:cNvPr id="16" name="Text 14"/>
          <p:cNvSpPr txBox="1"/>
          <p:nvPr/>
        </p:nvSpPr>
        <p:spPr>
          <a:xfrm>
            <a:off x="731520" y="3657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7" name="Text 15"/>
          <p:cNvSpPr txBox="1"/>
          <p:nvPr/>
        </p:nvSpPr>
        <p:spPr>
          <a:xfrm>
            <a:off x="1371600" y="3429000"/>
            <a:ext cx="4358488" cy="914400"/>
          </a:xfrm>
          <a:prstGeom prst="rect">
            <a:avLst/>
          </a:prstGeom>
          <a:noFill/>
          <a:ln/>
        </p:spPr>
        <p:txBody>
          <a:bodyPr wrap="square" lIns="0" tIns="0" rIns="0" bIns="0" rtlCol="0" anchor="ctr"/>
          <a:lstStyle/>
          <a:p>
            <a:pPr indent="0" marL="0">
              <a:buNone/>
            </a:pPr>
            <a:r>
              <a:rPr lang="en-US" sz="1800" b="1" dirty="0">
                <a:solidFill>
                  <a:srgbClr val="1F1F1F"/>
                </a:solidFill>
              </a:rPr>
              <a:t>PK Calculations: Half-Life, Steady State &amp; Clearance</a:t>
            </a:r>
            <a:endParaRPr lang="en-US" sz="1800" dirty="0"/>
          </a:p>
          <a:p>
            <a:pPr indent="0" marL="0">
              <a:buNone/>
            </a:pPr>
            <a:r>
              <a:rPr lang="en-US" sz="1200" dirty="0">
                <a:solidFill>
                  <a:srgbClr val="666666"/>
                </a:solidFill>
              </a:rPr>
              <a:t>Objectives: SO3, IO1.1, IO1.3</a:t>
            </a:r>
            <a:endParaRPr lang="en-US" sz="1800" dirty="0"/>
          </a:p>
        </p:txBody>
      </p:sp>
      <p:sp>
        <p:nvSpPr>
          <p:cNvPr id="18" name="Shape 16"/>
          <p:cNvSpPr/>
          <p:nvPr/>
        </p:nvSpPr>
        <p:spPr>
          <a:xfrm>
            <a:off x="6278728" y="1325880"/>
            <a:ext cx="5364328" cy="914400"/>
          </a:xfrm>
          <a:prstGeom prst="roundRect">
            <a:avLst>
              <a:gd name="adj" fmla="val 10000"/>
            </a:avLst>
          </a:prstGeom>
          <a:solidFill>
            <a:srgbClr val="F2F4F7"/>
          </a:solidFill>
          <a:ln w="12700">
            <a:solidFill>
              <a:srgbClr val="F2F4F7"/>
            </a:solidFill>
            <a:prstDash val="solid"/>
          </a:ln>
        </p:spPr>
      </p:sp>
      <p:sp>
        <p:nvSpPr>
          <p:cNvPr id="19" name="Shape 17"/>
          <p:cNvSpPr/>
          <p:nvPr/>
        </p:nvSpPr>
        <p:spPr>
          <a:xfrm>
            <a:off x="6461608" y="1554480"/>
            <a:ext cx="457200" cy="457200"/>
          </a:xfrm>
          <a:prstGeom prst="ellipse">
            <a:avLst/>
          </a:prstGeom>
          <a:solidFill>
            <a:srgbClr val="4472C4"/>
          </a:solidFill>
          <a:ln w="12700">
            <a:solidFill>
              <a:srgbClr val="4472C4"/>
            </a:solidFill>
            <a:prstDash val="solid"/>
          </a:ln>
        </p:spPr>
      </p:sp>
      <p:sp>
        <p:nvSpPr>
          <p:cNvPr id="20" name="Text 18"/>
          <p:cNvSpPr txBox="1"/>
          <p:nvPr/>
        </p:nvSpPr>
        <p:spPr>
          <a:xfrm>
            <a:off x="6461608" y="15544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1" name="Text 19"/>
          <p:cNvSpPr txBox="1"/>
          <p:nvPr/>
        </p:nvSpPr>
        <p:spPr>
          <a:xfrm>
            <a:off x="7101688" y="1325880"/>
            <a:ext cx="4358488" cy="914400"/>
          </a:xfrm>
          <a:prstGeom prst="rect">
            <a:avLst/>
          </a:prstGeom>
          <a:noFill/>
          <a:ln/>
        </p:spPr>
        <p:txBody>
          <a:bodyPr wrap="square" lIns="0" tIns="0" rIns="0" bIns="0" rtlCol="0" anchor="ctr"/>
          <a:lstStyle/>
          <a:p>
            <a:pPr indent="0" marL="0">
              <a:buNone/>
            </a:pPr>
            <a:r>
              <a:rPr lang="en-US" sz="1800" b="1" dirty="0">
                <a:solidFill>
                  <a:srgbClr val="1F1F1F"/>
                </a:solidFill>
              </a:rPr>
              <a:t>Pharmacogenomics</a:t>
            </a:r>
            <a:endParaRPr lang="en-US" sz="1800" dirty="0"/>
          </a:p>
          <a:p>
            <a:pPr indent="0" marL="0">
              <a:buNone/>
            </a:pPr>
            <a:r>
              <a:rPr lang="en-US" sz="1200" dirty="0">
                <a:solidFill>
                  <a:srgbClr val="666666"/>
                </a:solidFill>
              </a:rPr>
              <a:t>Objectives: SO4, IO1.3, IO1.4</a:t>
            </a:r>
            <a:endParaRPr lang="en-US" sz="1800" dirty="0"/>
          </a:p>
        </p:txBody>
      </p:sp>
      <p:sp>
        <p:nvSpPr>
          <p:cNvPr id="22" name="Shape 20"/>
          <p:cNvSpPr/>
          <p:nvPr/>
        </p:nvSpPr>
        <p:spPr>
          <a:xfrm>
            <a:off x="6278728" y="2377440"/>
            <a:ext cx="5364328" cy="914400"/>
          </a:xfrm>
          <a:prstGeom prst="roundRect">
            <a:avLst>
              <a:gd name="adj" fmla="val 10000"/>
            </a:avLst>
          </a:prstGeom>
          <a:solidFill>
            <a:srgbClr val="F2F4F7"/>
          </a:solidFill>
          <a:ln w="12700">
            <a:solidFill>
              <a:srgbClr val="F2F4F7"/>
            </a:solidFill>
            <a:prstDash val="solid"/>
          </a:ln>
        </p:spPr>
      </p:sp>
      <p:sp>
        <p:nvSpPr>
          <p:cNvPr id="23" name="Shape 21"/>
          <p:cNvSpPr/>
          <p:nvPr/>
        </p:nvSpPr>
        <p:spPr>
          <a:xfrm>
            <a:off x="6461608" y="2606040"/>
            <a:ext cx="457200" cy="457200"/>
          </a:xfrm>
          <a:prstGeom prst="ellipse">
            <a:avLst/>
          </a:prstGeom>
          <a:solidFill>
            <a:srgbClr val="4472C4"/>
          </a:solidFill>
          <a:ln w="12700">
            <a:solidFill>
              <a:srgbClr val="4472C4"/>
            </a:solidFill>
            <a:prstDash val="solid"/>
          </a:ln>
        </p:spPr>
      </p:sp>
      <p:sp>
        <p:nvSpPr>
          <p:cNvPr id="24" name="Text 22"/>
          <p:cNvSpPr txBox="1"/>
          <p:nvPr/>
        </p:nvSpPr>
        <p:spPr>
          <a:xfrm>
            <a:off x="6461608" y="2606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25" name="Text 23"/>
          <p:cNvSpPr txBox="1"/>
          <p:nvPr/>
        </p:nvSpPr>
        <p:spPr>
          <a:xfrm>
            <a:off x="7101688" y="2377440"/>
            <a:ext cx="4358488" cy="914400"/>
          </a:xfrm>
          <a:prstGeom prst="rect">
            <a:avLst/>
          </a:prstGeom>
          <a:noFill/>
          <a:ln/>
        </p:spPr>
        <p:txBody>
          <a:bodyPr wrap="square" lIns="0" tIns="0" rIns="0" bIns="0" rtlCol="0" anchor="ctr"/>
          <a:lstStyle/>
          <a:p>
            <a:pPr indent="0" marL="0">
              <a:buNone/>
            </a:pPr>
            <a:r>
              <a:rPr lang="en-US" sz="1800" b="1" dirty="0">
                <a:solidFill>
                  <a:srgbClr val="1F1F1F"/>
                </a:solidFill>
              </a:rPr>
              <a:t>Putting It All Together: Clinical Decision-Making</a:t>
            </a:r>
            <a:endParaRPr lang="en-US" sz="1800" dirty="0"/>
          </a:p>
          <a:p>
            <a:pPr indent="0" marL="0">
              <a:buNone/>
            </a:pPr>
            <a:r>
              <a:rPr lang="en-US" sz="1200" dirty="0">
                <a:solidFill>
                  <a:srgbClr val="666666"/>
                </a:solidFill>
              </a:rPr>
              <a:t>Objectives: SO5, IO1.3, IO1.4, IO1.5</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F4F8A"/>
        </a:solidFill>
      </p:bgPr>
    </p:bg>
    <p:spTree>
      <p:nvGrpSpPr>
        <p:cNvPr id="1" name=""/>
        <p:cNvGrpSpPr/>
        <p:nvPr/>
      </p:nvGrpSpPr>
      <p:grpSpPr>
        <a:xfrm>
          <a:off x="0" y="0"/>
          <a:ext cx="0" cy="0"/>
          <a:chOff x="0" y="0"/>
          <a:chExt cx="0" cy="0"/>
        </a:xfrm>
      </p:grpSpPr>
      <p:sp>
        <p:nvSpPr>
          <p:cNvPr id="2" name="Text 0"/>
          <p:cNvSpPr txBox="1"/>
          <p:nvPr/>
        </p:nvSpPr>
        <p:spPr>
          <a:xfrm>
            <a:off x="548640" y="1463040"/>
            <a:ext cx="7315200" cy="365760"/>
          </a:xfrm>
          <a:prstGeom prst="rect">
            <a:avLst/>
          </a:prstGeom>
          <a:noFill/>
          <a:ln/>
        </p:spPr>
        <p:txBody>
          <a:bodyPr wrap="square" lIns="0" tIns="0" rIns="0" bIns="0" rtlCol="0" anchor="ctr"/>
          <a:lstStyle/>
          <a:p>
            <a:pPr indent="0" marL="0">
              <a:buNone/>
            </a:pPr>
            <a:r>
              <a:rPr lang="en-US" sz="1600" b="1" dirty="0">
                <a:solidFill>
                  <a:srgbClr val="D6E0F5"/>
                </a:solidFill>
              </a:rPr>
              <a:t>Topic 1 of 5</a:t>
            </a:r>
            <a:endParaRPr lang="en-US" sz="1600" dirty="0"/>
          </a:p>
        </p:txBody>
      </p:sp>
      <p:sp>
        <p:nvSpPr>
          <p:cNvPr id="3" name="Title"/>
          <p:cNvSpPr txBox="1"/>
          <p:nvPr/>
        </p:nvSpPr>
        <p:spPr>
          <a:xfrm>
            <a:off x="548640" y="1874520"/>
            <a:ext cx="11094415" cy="118872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Drug Metabolism &amp; CYP450 Interactions</a:t>
            </a:r>
            <a:endParaRPr lang="en-US" sz="4400" dirty="0"/>
          </a:p>
        </p:txBody>
      </p:sp>
      <p:sp>
        <p:nvSpPr>
          <p:cNvPr id="4" name="Text 2"/>
          <p:cNvSpPr txBox="1"/>
          <p:nvPr/>
        </p:nvSpPr>
        <p:spPr>
          <a:xfrm>
            <a:off x="548640" y="3108960"/>
            <a:ext cx="9144000" cy="365760"/>
          </a:xfrm>
          <a:prstGeom prst="rect">
            <a:avLst/>
          </a:prstGeom>
          <a:noFill/>
          <a:ln/>
        </p:spPr>
        <p:txBody>
          <a:bodyPr wrap="square" lIns="0" tIns="0" rIns="0" bIns="0" rtlCol="0" anchor="ctr"/>
          <a:lstStyle/>
          <a:p>
            <a:pPr indent="0" marL="0">
              <a:buNone/>
            </a:pPr>
            <a:r>
              <a:rPr lang="en-US" sz="1800" dirty="0">
                <a:solidFill>
                  <a:srgbClr val="D6E0F5"/>
                </a:solidFill>
              </a:rPr>
              <a:t>Covers objectives: SO1 · IO1.2 · IO1.4</a:t>
            </a:r>
            <a:endParaRPr lang="en-US" sz="1800" dirty="0"/>
          </a:p>
        </p:txBody>
      </p:sp>
      <p:sp>
        <p:nvSpPr>
          <p:cNvPr id="5" name="Shape 3"/>
          <p:cNvSpPr/>
          <p:nvPr/>
        </p:nvSpPr>
        <p:spPr>
          <a:xfrm>
            <a:off x="1338042" y="4297680"/>
            <a:ext cx="640080" cy="640080"/>
          </a:xfrm>
          <a:prstGeom prst="ellipse">
            <a:avLst/>
          </a:prstGeom>
          <a:solidFill>
            <a:srgbClr val="44546A"/>
          </a:solidFill>
          <a:ln w="1905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1493490" y="4453128"/>
            <a:ext cx="329184" cy="329184"/>
          </a:xfrm>
          <a:prstGeom prst="rect">
            <a:avLst/>
          </a:prstGeom>
        </p:spPr>
      </p:pic>
      <p:sp>
        <p:nvSpPr>
          <p:cNvPr id="7" name="Text 4"/>
          <p:cNvSpPr txBox="1"/>
          <p:nvPr/>
        </p:nvSpPr>
        <p:spPr>
          <a:xfrm>
            <a:off x="594360"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Key definitions</a:t>
            </a:r>
            <a:endParaRPr lang="en-US" sz="1200" dirty="0"/>
          </a:p>
        </p:txBody>
      </p:sp>
      <p:sp>
        <p:nvSpPr>
          <p:cNvPr id="8" name="Shape 5"/>
          <p:cNvSpPr/>
          <p:nvPr/>
        </p:nvSpPr>
        <p:spPr>
          <a:xfrm>
            <a:off x="3556925" y="4297680"/>
            <a:ext cx="640080" cy="640080"/>
          </a:xfrm>
          <a:prstGeom prst="ellipse">
            <a:avLst/>
          </a:prstGeom>
          <a:solidFill>
            <a:srgbClr val="7030A0"/>
          </a:solidFill>
          <a:ln w="1905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3712373" y="4453128"/>
            <a:ext cx="329184" cy="329184"/>
          </a:xfrm>
          <a:prstGeom prst="rect">
            <a:avLst/>
          </a:prstGeom>
        </p:spPr>
      </p:pic>
      <p:sp>
        <p:nvSpPr>
          <p:cNvPr id="10" name="Text 6"/>
          <p:cNvSpPr txBox="1"/>
          <p:nvPr/>
        </p:nvSpPr>
        <p:spPr>
          <a:xfrm>
            <a:off x="2813243"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How it works</a:t>
            </a:r>
            <a:endParaRPr lang="en-US" sz="1200" dirty="0"/>
          </a:p>
        </p:txBody>
      </p:sp>
      <p:sp>
        <p:nvSpPr>
          <p:cNvPr id="11" name="Shape 7"/>
          <p:cNvSpPr/>
          <p:nvPr/>
        </p:nvSpPr>
        <p:spPr>
          <a:xfrm>
            <a:off x="5775808" y="4297680"/>
            <a:ext cx="640080" cy="640080"/>
          </a:xfrm>
          <a:prstGeom prst="ellipse">
            <a:avLst/>
          </a:prstGeom>
          <a:solidFill>
            <a:srgbClr val="548235"/>
          </a:solidFill>
          <a:ln w="19050">
            <a:solidFill>
              <a:srgbClr val="FFFFFF"/>
            </a:solidFill>
            <a:prstDash val="solid"/>
          </a:ln>
        </p:spPr>
      </p:sp>
      <p:pic>
        <p:nvPicPr>
          <p:cNvPr id="12" name="Image 2" descr="preencoded.png">    </p:cNvPr>
          <p:cNvPicPr>
            <a:picLocks noChangeAspect="1"/>
          </p:cNvPicPr>
          <p:nvPr/>
        </p:nvPicPr>
        <p:blipFill>
          <a:blip r:embed="rId3"/>
          <a:stretch>
            <a:fillRect/>
          </a:stretch>
        </p:blipFill>
        <p:spPr>
          <a:xfrm>
            <a:off x="5931256" y="4453128"/>
            <a:ext cx="329184" cy="329184"/>
          </a:xfrm>
          <a:prstGeom prst="rect">
            <a:avLst/>
          </a:prstGeom>
        </p:spPr>
      </p:pic>
      <p:sp>
        <p:nvSpPr>
          <p:cNvPr id="13" name="Text 8"/>
          <p:cNvSpPr txBox="1"/>
          <p:nvPr/>
        </p:nvSpPr>
        <p:spPr>
          <a:xfrm>
            <a:off x="5032126"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Clinical relevance</a:t>
            </a:r>
            <a:endParaRPr lang="en-US" sz="1200" dirty="0"/>
          </a:p>
        </p:txBody>
      </p:sp>
      <p:sp>
        <p:nvSpPr>
          <p:cNvPr id="14" name="Shape 9"/>
          <p:cNvSpPr/>
          <p:nvPr/>
        </p:nvSpPr>
        <p:spPr>
          <a:xfrm>
            <a:off x="7994691" y="4297680"/>
            <a:ext cx="640080" cy="640080"/>
          </a:xfrm>
          <a:prstGeom prst="ellipse">
            <a:avLst/>
          </a:prstGeom>
          <a:solidFill>
            <a:srgbClr val="4472C4"/>
          </a:solidFill>
          <a:ln w="19050">
            <a:solidFill>
              <a:srgbClr val="FFFFFF"/>
            </a:solidFill>
            <a:prstDash val="solid"/>
          </a:ln>
        </p:spPr>
      </p:sp>
      <p:pic>
        <p:nvPicPr>
          <p:cNvPr id="15" name="Image 3" descr="preencoded.png">    </p:cNvPr>
          <p:cNvPicPr>
            <a:picLocks noChangeAspect="1"/>
          </p:cNvPicPr>
          <p:nvPr/>
        </p:nvPicPr>
        <p:blipFill>
          <a:blip r:embed="rId4"/>
          <a:stretch>
            <a:fillRect/>
          </a:stretch>
        </p:blipFill>
        <p:spPr>
          <a:xfrm>
            <a:off x="8150139" y="4453128"/>
            <a:ext cx="329184" cy="329184"/>
          </a:xfrm>
          <a:prstGeom prst="rect">
            <a:avLst/>
          </a:prstGeom>
        </p:spPr>
      </p:pic>
      <p:sp>
        <p:nvSpPr>
          <p:cNvPr id="16" name="Text 10"/>
          <p:cNvSpPr txBox="1"/>
          <p:nvPr/>
        </p:nvSpPr>
        <p:spPr>
          <a:xfrm>
            <a:off x="7251009"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Drugs named as examples</a:t>
            </a:r>
            <a:endParaRPr lang="en-US" sz="1200" dirty="0"/>
          </a:p>
        </p:txBody>
      </p:sp>
      <p:sp>
        <p:nvSpPr>
          <p:cNvPr id="17" name="Shape 11"/>
          <p:cNvSpPr/>
          <p:nvPr/>
        </p:nvSpPr>
        <p:spPr>
          <a:xfrm>
            <a:off x="10213574" y="4297680"/>
            <a:ext cx="640080" cy="640080"/>
          </a:xfrm>
          <a:prstGeom prst="ellipse">
            <a:avLst/>
          </a:prstGeom>
          <a:solidFill>
            <a:srgbClr val="C00000"/>
          </a:solidFill>
          <a:ln w="19050">
            <a:solidFill>
              <a:srgbClr val="FFFFFF"/>
            </a:solidFill>
            <a:prstDash val="solid"/>
          </a:ln>
        </p:spPr>
      </p:sp>
      <p:pic>
        <p:nvPicPr>
          <p:cNvPr id="18" name="Image 4" descr="preencoded.png">    </p:cNvPr>
          <p:cNvPicPr>
            <a:picLocks noChangeAspect="1"/>
          </p:cNvPicPr>
          <p:nvPr/>
        </p:nvPicPr>
        <p:blipFill>
          <a:blip r:embed="rId5"/>
          <a:stretch>
            <a:fillRect/>
          </a:stretch>
        </p:blipFill>
        <p:spPr>
          <a:xfrm>
            <a:off x="10369022" y="4453128"/>
            <a:ext cx="329184" cy="329184"/>
          </a:xfrm>
          <a:prstGeom prst="rect">
            <a:avLst/>
          </a:prstGeom>
        </p:spPr>
      </p:pic>
      <p:sp>
        <p:nvSpPr>
          <p:cNvPr id="19" name="Text 12"/>
          <p:cNvSpPr txBox="1"/>
          <p:nvPr/>
        </p:nvSpPr>
        <p:spPr>
          <a:xfrm>
            <a:off x="9469892"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Exam traps</a:t>
            </a:r>
            <a:endParaRPr lang="en-US" sz="1200" dirty="0"/>
          </a:p>
        </p:txBody>
      </p:sp>
      <p:sp>
        <p:nvSpPr>
          <p:cNvPr id="20" name="Text 1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D6E0F5"/>
                </a:solidFill>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METABOLISM &amp; CYP450 INTERACTIONS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Key definitions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9</a:t>
            </a:r>
            <a:endParaRPr lang="en-US" sz="1000" dirty="0"/>
          </a:p>
        </p:txBody>
      </p:sp>
      <p:sp>
        <p:nvSpPr>
          <p:cNvPr id="7" name="Key definitions card"/>
          <p:cNvSpPr/>
          <p:nvPr/>
        </p:nvSpPr>
        <p:spPr>
          <a:xfrm>
            <a:off x="548640" y="1325880"/>
            <a:ext cx="11094415" cy="4219956"/>
          </a:xfrm>
          <a:prstGeom prst="roundRect">
            <a:avLst>
              <a:gd name="adj" fmla="val 2600"/>
            </a:avLst>
          </a:prstGeom>
          <a:solidFill>
            <a:srgbClr val="F2F4F7"/>
          </a:solidFill>
          <a:ln w="12700">
            <a:solidFill>
              <a:srgbClr val="F2F4F7"/>
            </a:solidFill>
            <a:prstDash val="solid"/>
          </a:ln>
        </p:spPr>
      </p:sp>
      <p:sp>
        <p:nvSpPr>
          <p:cNvPr id="8" name="Key definitions icon circle"/>
          <p:cNvSpPr/>
          <p:nvPr/>
        </p:nvSpPr>
        <p:spPr>
          <a:xfrm>
            <a:off x="777240" y="1508760"/>
            <a:ext cx="438912" cy="438912"/>
          </a:xfrm>
          <a:prstGeom prst="ellipse">
            <a:avLst/>
          </a:prstGeom>
          <a:solidFill>
            <a:srgbClr val="44546A"/>
          </a:solidFill>
          <a:ln w="12700">
            <a:solidFill>
              <a:srgbClr val="44546A"/>
            </a:solidFill>
            <a:prstDash val="solid"/>
          </a:ln>
        </p:spPr>
      </p:sp>
      <p:pic>
        <p:nvPicPr>
          <p:cNvPr id="9" name="Key definition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Key definitions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44546A"/>
                </a:solidFill>
              </a:rPr>
              <a:t>Key definitions</a:t>
            </a:r>
            <a:endParaRPr lang="en-US" sz="1800" dirty="0"/>
          </a:p>
        </p:txBody>
      </p:sp>
      <p:sp>
        <p:nvSpPr>
          <p:cNvPr id="11" name="Key definitions body"/>
          <p:cNvSpPr txBox="1"/>
          <p:nvPr/>
        </p:nvSpPr>
        <p:spPr>
          <a:xfrm>
            <a:off x="777240" y="2075688"/>
            <a:ext cx="10637215" cy="3351276"/>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Drug metabolism = how the body chemically transforms drugs.</a:t>
            </a:r>
            <a:r>
              <a:rPr lang="en-US" sz="1300" dirty="0">
                <a:solidFill>
                  <a:srgbClr val="666666"/>
                </a:solidFill>
              </a:rPr>
              <a:t>  S3</a:t>
            </a:r>
            <a:endParaRPr lang="en-US" sz="1800" dirty="0"/>
          </a:p>
          <a:p>
            <a:pPr marL="228600" indent="-228600">
              <a:spcAft>
                <a:spcPts val="800"/>
              </a:spcAft>
              <a:buSzPct val="100000"/>
              <a:buChar char="•"/>
            </a:pPr>
            <a:r>
              <a:rPr lang="en-US" sz="1800" dirty="0">
                <a:solidFill>
                  <a:srgbClr val="1F1F1F"/>
                </a:solidFill>
              </a:rPr>
              <a:t>Phase I — Functionalization: oxidation, reduction, hydrolysis.</a:t>
            </a:r>
            <a:r>
              <a:rPr lang="en-US" sz="1300" dirty="0">
                <a:solidFill>
                  <a:srgbClr val="666666"/>
                </a:solidFill>
              </a:rPr>
              <a:t>  S5</a:t>
            </a:r>
            <a:endParaRPr lang="en-US" sz="1800" dirty="0"/>
          </a:p>
          <a:p>
            <a:pPr marL="228600" indent="-228600">
              <a:spcAft>
                <a:spcPts val="800"/>
              </a:spcAft>
              <a:buSzPct val="100000"/>
              <a:buChar char="•"/>
            </a:pPr>
            <a:r>
              <a:rPr lang="en-US" sz="1800" dirty="0">
                <a:solidFill>
                  <a:srgbClr val="1F1F1F"/>
                </a:solidFill>
              </a:rPr>
              <a:t>Phase II — Conjugation: glucuronidation, sulfation, acetylation, methylation, glutathione conjugation.</a:t>
            </a:r>
            <a:r>
              <a:rPr lang="en-US" sz="1300" dirty="0">
                <a:solidFill>
                  <a:srgbClr val="666666"/>
                </a:solidFill>
              </a:rPr>
              <a:t>  S5</a:t>
            </a:r>
            <a:endParaRPr lang="en-US" sz="1800" dirty="0"/>
          </a:p>
          <a:p>
            <a:pPr marL="228600" indent="-228600">
              <a:spcAft>
                <a:spcPts val="800"/>
              </a:spcAft>
              <a:buSzPct val="100000"/>
              <a:buChar char="•"/>
            </a:pPr>
            <a:r>
              <a:rPr lang="en-US" sz="1800" b="1" dirty="0">
                <a:solidFill>
                  <a:srgbClr val="1F1F1F"/>
                </a:solidFill>
              </a:rPr>
              <a:t>Enzyme inhibition:</a:t>
            </a:r>
            <a:r>
              <a:rPr lang="en-US" sz="1800" dirty="0">
                <a:solidFill>
                  <a:srgbClr val="1F1F1F"/>
                </a:solidFill>
              </a:rPr>
              <a:t> a drug slows a CYP enzyme, raising the blood level of any drug that CYP normally clears.</a:t>
            </a:r>
            <a:r>
              <a:rPr lang="en-US" sz="1300" dirty="0">
                <a:solidFill>
                  <a:srgbClr val="666666"/>
                </a:solidFill>
              </a:rPr>
              <a:t>  S6; SG U1-R10</a:t>
            </a:r>
            <a:endParaRPr lang="en-US" sz="1800" dirty="0"/>
          </a:p>
          <a:p>
            <a:pPr marL="228600" indent="-228600">
              <a:spcAft>
                <a:spcPts val="800"/>
              </a:spcAft>
              <a:buSzPct val="100000"/>
              <a:buChar char="•"/>
            </a:pPr>
            <a:r>
              <a:rPr lang="en-US" sz="1800" b="1" dirty="0">
                <a:solidFill>
                  <a:srgbClr val="1F1F1F"/>
                </a:solidFill>
              </a:rPr>
              <a:t>Enzyme induction:</a:t>
            </a:r>
            <a:r>
              <a:rPr lang="en-US" sz="1800" dirty="0">
                <a:solidFill>
                  <a:srgbClr val="1F1F1F"/>
                </a:solidFill>
              </a:rPr>
              <a:t> a drug increases CYP enzyme production, lowering the blood level (and effect) of drugs that CYP clears.</a:t>
            </a:r>
            <a:r>
              <a:rPr lang="en-US" sz="1300" dirty="0">
                <a:solidFill>
                  <a:srgbClr val="666666"/>
                </a:solidFill>
              </a:rPr>
              <a:t>  S6; SG U1-R10</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b="1" dirty="0">
                <a:solidFill>
                  <a:srgbClr val="1F1F1F"/>
                </a:solidFill>
              </a:rPr>
              <a:t>Cytochrome P450</a:t>
            </a:r>
            <a:r>
              <a:rPr lang="en-US" sz="1800" dirty="0">
                <a:solidFill>
                  <a:srgbClr val="1F1F1F"/>
                </a:solidFill>
              </a:rPr>
              <a:t> (in the liver’s smooth endoplasmic reticulum) does most Phase I work and has low substrate specificity: lipid-soluble drugs are its common thread.</a:t>
            </a:r>
            <a:r>
              <a:rPr lang="en-US" sz="1300" dirty="0">
                <a:solidFill>
                  <a:srgbClr val="666666"/>
                </a:solidFill>
              </a:rPr>
              <a:t>  p. 59; p. 60</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METABOLISM &amp; CYP450 INTERACTIONS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How it works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10</a:t>
            </a:r>
            <a:endParaRPr lang="en-US" sz="1000" dirty="0"/>
          </a:p>
        </p:txBody>
      </p:sp>
      <p:sp>
        <p:nvSpPr>
          <p:cNvPr id="7" name="How it works (1/2) card"/>
          <p:cNvSpPr/>
          <p:nvPr/>
        </p:nvSpPr>
        <p:spPr>
          <a:xfrm>
            <a:off x="548640" y="1325880"/>
            <a:ext cx="11094415" cy="3941064"/>
          </a:xfrm>
          <a:prstGeom prst="roundRect">
            <a:avLst>
              <a:gd name="adj" fmla="val 2784"/>
            </a:avLst>
          </a:prstGeom>
          <a:solidFill>
            <a:srgbClr val="F2F4F7"/>
          </a:solidFill>
          <a:ln w="12700">
            <a:solidFill>
              <a:srgbClr val="F2F4F7"/>
            </a:solidFill>
            <a:prstDash val="solid"/>
          </a:ln>
        </p:spPr>
      </p:sp>
      <p:sp>
        <p:nvSpPr>
          <p:cNvPr id="8" name="How it works (1/2) icon circle"/>
          <p:cNvSpPr/>
          <p:nvPr/>
        </p:nvSpPr>
        <p:spPr>
          <a:xfrm>
            <a:off x="777240" y="1508760"/>
            <a:ext cx="438912" cy="438912"/>
          </a:xfrm>
          <a:prstGeom prst="ellipse">
            <a:avLst/>
          </a:prstGeom>
          <a:solidFill>
            <a:srgbClr val="7030A0"/>
          </a:solidFill>
          <a:ln w="12700">
            <a:solidFill>
              <a:srgbClr val="7030A0"/>
            </a:solidFill>
            <a:prstDash val="solid"/>
          </a:ln>
        </p:spPr>
      </p:sp>
      <p:pic>
        <p:nvPicPr>
          <p:cNvPr id="9" name="How it works (1/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How it works (1/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7030A0"/>
                </a:solidFill>
              </a:rPr>
              <a:t>How it works (1/2)</a:t>
            </a:r>
            <a:endParaRPr lang="en-US" sz="1800" dirty="0"/>
          </a:p>
        </p:txBody>
      </p:sp>
      <p:sp>
        <p:nvSpPr>
          <p:cNvPr id="11" name="How it works (1/2) body"/>
          <p:cNvSpPr txBox="1"/>
          <p:nvPr/>
        </p:nvSpPr>
        <p:spPr>
          <a:xfrm>
            <a:off x="777240" y="2075688"/>
            <a:ext cx="10637215" cy="3072384"/>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Why metabolize? To inactivate an active drug, making it easier to excrete.</a:t>
            </a:r>
            <a:r>
              <a:rPr lang="en-US" sz="1300" dirty="0">
                <a:solidFill>
                  <a:srgbClr val="666666"/>
                </a:solidFill>
              </a:rPr>
              <a:t>  S4</a:t>
            </a:r>
            <a:endParaRPr lang="en-US" sz="1800" dirty="0"/>
          </a:p>
          <a:p>
            <a:pPr marL="228600" indent="-228600">
              <a:spcAft>
                <a:spcPts val="800"/>
              </a:spcAft>
              <a:buSzPct val="100000"/>
              <a:buChar char="•"/>
            </a:pPr>
            <a:r>
              <a:rPr lang="en-US" sz="1800" dirty="0">
                <a:solidFill>
                  <a:srgbClr val="1F1F1F"/>
                </a:solidFill>
              </a:rPr>
              <a:t>To activate a prodrug into its active form.</a:t>
            </a:r>
            <a:r>
              <a:rPr lang="en-US" sz="1300" dirty="0">
                <a:solidFill>
                  <a:srgbClr val="666666"/>
                </a:solidFill>
              </a:rPr>
              <a:t>  S4</a:t>
            </a:r>
            <a:endParaRPr lang="en-US" sz="1800" dirty="0"/>
          </a:p>
          <a:p>
            <a:pPr marL="228600" indent="-228600">
              <a:spcAft>
                <a:spcPts val="800"/>
              </a:spcAft>
              <a:buSzPct val="100000"/>
              <a:buChar char="•"/>
            </a:pPr>
            <a:r>
              <a:rPr lang="en-US" sz="1800" dirty="0">
                <a:solidFill>
                  <a:srgbClr val="1F1F1F"/>
                </a:solidFill>
              </a:rPr>
              <a:t>To produce an active metabolite that contributes to (or extends) the drug effect.</a:t>
            </a:r>
            <a:r>
              <a:rPr lang="en-US" sz="1300" dirty="0">
                <a:solidFill>
                  <a:srgbClr val="666666"/>
                </a:solidFill>
              </a:rPr>
              <a:t>  S4</a:t>
            </a:r>
            <a:endParaRPr lang="en-US" sz="1800" dirty="0"/>
          </a:p>
          <a:p>
            <a:pPr marL="228600" indent="-228600">
              <a:spcAft>
                <a:spcPts val="800"/>
              </a:spcAft>
              <a:buSzPct val="100000"/>
              <a:buChar char="•"/>
            </a:pPr>
            <a:r>
              <a:rPr lang="en-US" sz="1800" b="1" dirty="0">
                <a:solidFill>
                  <a:srgbClr val="1F1F1F"/>
                </a:solidFill>
              </a:rPr>
              <a:t>Occasionally to produce a toxic metabolite — the basis of some drug-induced organ injury.</a:t>
            </a:r>
            <a:r>
              <a:rPr lang="en-US" sz="1300" dirty="0">
                <a:solidFill>
                  <a:srgbClr val="666666"/>
                </a:solidFill>
              </a:rPr>
              <a:t>  S4</a:t>
            </a:r>
            <a:endParaRPr lang="en-US" sz="1800" dirty="0"/>
          </a:p>
          <a:p>
            <a:pPr marL="228600" indent="-228600">
              <a:spcAft>
                <a:spcPts val="800"/>
              </a:spcAft>
              <a:buSzPct val="100000"/>
              <a:buChar char="•"/>
            </a:pPr>
            <a:r>
              <a:rPr lang="en-US" sz="1800" dirty="0">
                <a:solidFill>
                  <a:srgbClr val="1F1F1F"/>
                </a:solidFill>
              </a:rPr>
              <a:t>Phase I is primarily carried out by cytochrome P450 (CYP450) enzymes and often creates or unmasks a reactive functional group.</a:t>
            </a:r>
            <a:r>
              <a:rPr lang="en-US" sz="1300" dirty="0">
                <a:solidFill>
                  <a:srgbClr val="666666"/>
                </a:solidFill>
              </a:rPr>
              <a:t>  S5</a:t>
            </a:r>
            <a:endParaRPr lang="en-US" sz="1800" dirty="0"/>
          </a:p>
          <a:p>
            <a:pPr marL="228600" indent="-228600">
              <a:spcAft>
                <a:spcPts val="800"/>
              </a:spcAft>
              <a:buSzPct val="100000"/>
              <a:buChar char="•"/>
            </a:pPr>
            <a:r>
              <a:rPr lang="en-US" sz="1800" dirty="0">
                <a:solidFill>
                  <a:srgbClr val="1F1F1F"/>
                </a:solidFill>
              </a:rPr>
              <a:t>Phase II attaches a polar group to the molecule, producing a more water-soluble product for renal/biliary excretion.</a:t>
            </a:r>
            <a:r>
              <a:rPr lang="en-US" sz="1300" dirty="0">
                <a:solidFill>
                  <a:srgbClr val="666666"/>
                </a:solidFill>
              </a:rPr>
              <a:t>  S5</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METABOLISM &amp; CYP450 INTERACTIONS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How it works (cont.)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11</a:t>
            </a:r>
            <a:endParaRPr lang="en-US" sz="1000" dirty="0"/>
          </a:p>
        </p:txBody>
      </p:sp>
      <p:sp>
        <p:nvSpPr>
          <p:cNvPr id="7" name="How it works (2/2) card"/>
          <p:cNvSpPr/>
          <p:nvPr/>
        </p:nvSpPr>
        <p:spPr>
          <a:xfrm>
            <a:off x="548640" y="1325880"/>
            <a:ext cx="11094415" cy="4777740"/>
          </a:xfrm>
          <a:prstGeom prst="roundRect">
            <a:avLst>
              <a:gd name="adj" fmla="val 2297"/>
            </a:avLst>
          </a:prstGeom>
          <a:solidFill>
            <a:srgbClr val="F2F4F7"/>
          </a:solidFill>
          <a:ln w="12700">
            <a:solidFill>
              <a:srgbClr val="F2F4F7"/>
            </a:solidFill>
            <a:prstDash val="solid"/>
          </a:ln>
        </p:spPr>
      </p:sp>
      <p:sp>
        <p:nvSpPr>
          <p:cNvPr id="8" name="How it works (2/2) icon circle"/>
          <p:cNvSpPr/>
          <p:nvPr/>
        </p:nvSpPr>
        <p:spPr>
          <a:xfrm>
            <a:off x="777240" y="1508760"/>
            <a:ext cx="438912" cy="438912"/>
          </a:xfrm>
          <a:prstGeom prst="ellipse">
            <a:avLst/>
          </a:prstGeom>
          <a:solidFill>
            <a:srgbClr val="7030A0"/>
          </a:solidFill>
          <a:ln w="12700">
            <a:solidFill>
              <a:srgbClr val="7030A0"/>
            </a:solidFill>
            <a:prstDash val="solid"/>
          </a:ln>
        </p:spPr>
      </p:sp>
      <p:pic>
        <p:nvPicPr>
          <p:cNvPr id="9" name="How it works (2/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How it works (2/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7030A0"/>
                </a:solidFill>
              </a:rPr>
              <a:t>How it works (2/2)</a:t>
            </a:r>
            <a:endParaRPr lang="en-US" sz="1800" dirty="0"/>
          </a:p>
        </p:txBody>
      </p:sp>
      <p:sp>
        <p:nvSpPr>
          <p:cNvPr id="11" name="How it works (2/2) body"/>
          <p:cNvSpPr txBox="1"/>
          <p:nvPr/>
        </p:nvSpPr>
        <p:spPr>
          <a:xfrm>
            <a:off x="777240" y="2075688"/>
            <a:ext cx="10637215" cy="390906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Phase I often comes before Phase II, but not always — some drugs go straight to conjugation.</a:t>
            </a:r>
            <a:r>
              <a:rPr lang="en-US" sz="1300" dirty="0">
                <a:solidFill>
                  <a:srgbClr val="666666"/>
                </a:solidFill>
              </a:rPr>
              <a:t>  S5 (notes)</a:t>
            </a:r>
            <a:endParaRPr lang="en-US" sz="1800" dirty="0"/>
          </a:p>
          <a:p>
            <a:pPr marL="228600" indent="-228600">
              <a:spcAft>
                <a:spcPts val="800"/>
              </a:spcAft>
              <a:buSzPct val="100000"/>
              <a:buChar char="•"/>
            </a:pPr>
            <a:r>
              <a:rPr lang="en-US" sz="1800" dirty="0">
                <a:solidFill>
                  <a:srgbClr val="1F1F1F"/>
                </a:solidFill>
              </a:rPr>
              <a:t>Inhibition slows clearance (substrate level rises); induction speeds clearance (substrate level falls).</a:t>
            </a:r>
            <a:r>
              <a:rPr lang="en-US" sz="1300" dirty="0">
                <a:solidFill>
                  <a:srgbClr val="666666"/>
                </a:solidFill>
              </a:rPr>
              <a:t>  S6; SG U1-R10</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Acetaminophen is mostly conjugated (glucuronide/sulfate); in overdose glutathione is depleted and the toxic metabolite (NAPQI) injures the liver — </a:t>
            </a:r>
            <a:r>
              <a:rPr lang="en-US" sz="1800" b="1" dirty="0">
                <a:solidFill>
                  <a:srgbClr val="1F1F1F"/>
                </a:solidFill>
              </a:rPr>
              <a:t>N-acetylcysteine</a:t>
            </a:r>
            <a:r>
              <a:rPr lang="en-US" sz="1800" dirty="0">
                <a:solidFill>
                  <a:srgbClr val="1F1F1F"/>
                </a:solidFill>
              </a:rPr>
              <a:t> given within 8–16 hours protects against fulminant hepatotoxicity.</a:t>
            </a:r>
            <a:r>
              <a:rPr lang="en-US" sz="1300" dirty="0">
                <a:solidFill>
                  <a:srgbClr val="666666"/>
                </a:solidFill>
              </a:rPr>
              <a:t>  p. 66</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Share of liver P450: CYP3A4 about 30%, CYP2C9 about 20%, CYP1A2 about 15%, CYP2D6 about 5%.</a:t>
            </a:r>
            <a:r>
              <a:rPr lang="en-US" sz="1300" dirty="0">
                <a:solidFill>
                  <a:srgbClr val="666666"/>
                </a:solidFill>
              </a:rPr>
              <a:t>  p. 60</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b="1" dirty="0">
                <a:solidFill>
                  <a:srgbClr val="1F1F1F"/>
                </a:solidFill>
              </a:rPr>
              <a:t>Commensal gut microbiota</a:t>
            </a:r>
            <a:r>
              <a:rPr lang="en-US" sz="1800" dirty="0">
                <a:solidFill>
                  <a:srgbClr val="1F1F1F"/>
                </a:solidFill>
              </a:rPr>
              <a:t> (gut bacteria) metabolize drugs too: they inactivate digoxin, so antibiotics such as erythromycin can double digoxin levels.</a:t>
            </a:r>
            <a:r>
              <a:rPr lang="en-US" sz="1300" dirty="0">
                <a:solidFill>
                  <a:srgbClr val="666666"/>
                </a:solidFill>
              </a:rPr>
              <a:t>  p. 71</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An inducer can speed up its own metabolism (</a:t>
            </a:r>
            <a:r>
              <a:rPr lang="en-US" sz="1800" b="1" dirty="0">
                <a:solidFill>
                  <a:srgbClr val="1F1F1F"/>
                </a:solidFill>
              </a:rPr>
              <a:t>pharmacokinetic tolerance</a:t>
            </a:r>
            <a:r>
              <a:rPr lang="en-US" sz="1800" dirty="0">
                <a:solidFill>
                  <a:srgbClr val="1F1F1F"/>
                </a:solidFill>
              </a:rPr>
              <a:t>): the same dose works less over time.</a:t>
            </a:r>
            <a:r>
              <a:rPr lang="en-US" sz="1300" dirty="0">
                <a:solidFill>
                  <a:srgbClr val="666666"/>
                </a:solidFill>
              </a:rPr>
              <a:t>  p. 72</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METABOLISM &amp; CYP450 INTERACTIONS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Clinical relevance</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12</a:t>
            </a:r>
            <a:endParaRPr lang="en-US" sz="1000" dirty="0"/>
          </a:p>
        </p:txBody>
      </p:sp>
      <p:sp>
        <p:nvSpPr>
          <p:cNvPr id="7" name="Clinical relevance (1/2) card"/>
          <p:cNvSpPr/>
          <p:nvPr/>
        </p:nvSpPr>
        <p:spPr>
          <a:xfrm>
            <a:off x="548640" y="1325880"/>
            <a:ext cx="11094415" cy="3721608"/>
          </a:xfrm>
          <a:prstGeom prst="roundRect">
            <a:avLst>
              <a:gd name="adj" fmla="val 2948"/>
            </a:avLst>
          </a:prstGeom>
          <a:solidFill>
            <a:srgbClr val="F2F4F7"/>
          </a:solidFill>
          <a:ln w="12700">
            <a:solidFill>
              <a:srgbClr val="F2F4F7"/>
            </a:solidFill>
            <a:prstDash val="solid"/>
          </a:ln>
        </p:spPr>
      </p:sp>
      <p:sp>
        <p:nvSpPr>
          <p:cNvPr id="8" name="Clinical relevance (1/2) icon circle"/>
          <p:cNvSpPr/>
          <p:nvPr/>
        </p:nvSpPr>
        <p:spPr>
          <a:xfrm>
            <a:off x="777240" y="1508760"/>
            <a:ext cx="438912" cy="438912"/>
          </a:xfrm>
          <a:prstGeom prst="ellipse">
            <a:avLst/>
          </a:prstGeom>
          <a:solidFill>
            <a:srgbClr val="548235"/>
          </a:solidFill>
          <a:ln w="12700">
            <a:solidFill>
              <a:srgbClr val="548235"/>
            </a:solidFill>
            <a:prstDash val="solid"/>
          </a:ln>
        </p:spPr>
      </p:sp>
      <p:pic>
        <p:nvPicPr>
          <p:cNvPr id="9" name="Clinical relevance (1/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Clinical relevance (1/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548235"/>
                </a:solidFill>
              </a:rPr>
              <a:t>Clinical relevance (1/2)</a:t>
            </a:r>
            <a:endParaRPr lang="en-US" sz="1800" dirty="0"/>
          </a:p>
        </p:txBody>
      </p:sp>
      <p:sp>
        <p:nvSpPr>
          <p:cNvPr id="11" name="Clinical relevance (1/2) body"/>
          <p:cNvSpPr txBox="1"/>
          <p:nvPr/>
        </p:nvSpPr>
        <p:spPr>
          <a:xfrm>
            <a:off x="777240" y="2075688"/>
            <a:ext cx="10637215" cy="2852928"/>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CYP450 interactions are one of the highest-yield concepts in all of pharmacology — nearly every major drug class has at least one clinically important CYP interaction.</a:t>
            </a:r>
            <a:r>
              <a:rPr lang="en-US" sz="1300" dirty="0">
                <a:solidFill>
                  <a:srgbClr val="666666"/>
                </a:solidFill>
              </a:rPr>
              <a:t>  S6 (notes)</a:t>
            </a:r>
            <a:endParaRPr lang="en-US" sz="1800" dirty="0"/>
          </a:p>
          <a:p>
            <a:pPr marL="228600" indent="-228600">
              <a:spcAft>
                <a:spcPts val="800"/>
              </a:spcAft>
              <a:buSzPct val="100000"/>
              <a:buChar char="•"/>
            </a:pPr>
            <a:r>
              <a:rPr lang="en-US" sz="1800" b="1" dirty="0">
                <a:solidFill>
                  <a:srgbClr val="1F1F1F"/>
                </a:solidFill>
              </a:rPr>
              <a:t>Example: Drug A inhibits CYP3A4 → Drug B (a CYP3A4 substrate) accumulates → toxicity risk rises.</a:t>
            </a:r>
            <a:r>
              <a:rPr lang="en-US" sz="1300" dirty="0">
                <a:solidFill>
                  <a:srgbClr val="666666"/>
                </a:solidFill>
              </a:rPr>
              <a:t>  S6; SG U1-R10</a:t>
            </a:r>
            <a:endParaRPr lang="en-US" sz="1800" dirty="0"/>
          </a:p>
          <a:p>
            <a:pPr marL="228600" indent="-228600">
              <a:spcAft>
                <a:spcPts val="800"/>
              </a:spcAft>
              <a:buSzPct val="100000"/>
              <a:buChar char="•"/>
            </a:pPr>
            <a:r>
              <a:rPr lang="en-US" sz="1800" dirty="0">
                <a:solidFill>
                  <a:srgbClr val="1F1F1F"/>
                </a:solidFill>
              </a:rPr>
              <a:t>Inhibition pushes a substrate's level ABOVE 100% of baseline (toxicity risk); induction pushes it BELOW 100% (therapeutic-failure risk).</a:t>
            </a:r>
            <a:r>
              <a:rPr lang="en-US" sz="1300" dirty="0">
                <a:solidFill>
                  <a:srgbClr val="666666"/>
                </a:solidFill>
              </a:rPr>
              <a:t>  S7 (notes)</a:t>
            </a:r>
            <a:endParaRPr lang="en-US" sz="1800" dirty="0"/>
          </a:p>
          <a:p>
            <a:pPr marL="228600" indent="-228600">
              <a:spcAft>
                <a:spcPts val="800"/>
              </a:spcAft>
              <a:buSzPct val="100000"/>
              <a:buChar char="•"/>
            </a:pPr>
            <a:r>
              <a:rPr lang="en-US" sz="1800" dirty="0">
                <a:solidFill>
                  <a:srgbClr val="1F1F1F"/>
                </a:solidFill>
              </a:rPr>
              <a:t>Inhibiting the CYP that clears a substrate is especially dangerous when the substrate has a narrow therapeutic index.</a:t>
            </a:r>
            <a:r>
              <a:rPr lang="en-US" sz="1300" dirty="0">
                <a:solidFill>
                  <a:srgbClr val="666666"/>
                </a:solidFill>
              </a:rPr>
              <a:t>  S11</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METABOLISM &amp; CYP450 INTERACTIONS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Clinical relevance (cont.)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13</a:t>
            </a:r>
            <a:endParaRPr lang="en-US" sz="1000" dirty="0"/>
          </a:p>
        </p:txBody>
      </p:sp>
      <p:sp>
        <p:nvSpPr>
          <p:cNvPr id="7" name="Clinical relevance (2/2) card"/>
          <p:cNvSpPr/>
          <p:nvPr/>
        </p:nvSpPr>
        <p:spPr>
          <a:xfrm>
            <a:off x="548640" y="1325880"/>
            <a:ext cx="11094415" cy="3442716"/>
          </a:xfrm>
          <a:prstGeom prst="roundRect">
            <a:avLst>
              <a:gd name="adj" fmla="val 3187"/>
            </a:avLst>
          </a:prstGeom>
          <a:solidFill>
            <a:srgbClr val="F2F4F7"/>
          </a:solidFill>
          <a:ln w="12700">
            <a:solidFill>
              <a:srgbClr val="F2F4F7"/>
            </a:solidFill>
            <a:prstDash val="solid"/>
          </a:ln>
        </p:spPr>
      </p:sp>
      <p:sp>
        <p:nvSpPr>
          <p:cNvPr id="8" name="Clinical relevance (2/2) icon circle"/>
          <p:cNvSpPr/>
          <p:nvPr/>
        </p:nvSpPr>
        <p:spPr>
          <a:xfrm>
            <a:off x="777240" y="1508760"/>
            <a:ext cx="438912" cy="438912"/>
          </a:xfrm>
          <a:prstGeom prst="ellipse">
            <a:avLst/>
          </a:prstGeom>
          <a:solidFill>
            <a:srgbClr val="548235"/>
          </a:solidFill>
          <a:ln w="12700">
            <a:solidFill>
              <a:srgbClr val="548235"/>
            </a:solidFill>
            <a:prstDash val="solid"/>
          </a:ln>
        </p:spPr>
      </p:sp>
      <p:pic>
        <p:nvPicPr>
          <p:cNvPr id="9" name="Clinical relevance (2/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Clinical relevance (2/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548235"/>
                </a:solidFill>
              </a:rPr>
              <a:t>Clinical relevance (2/2)</a:t>
            </a:r>
            <a:endParaRPr lang="en-US" sz="1800" dirty="0"/>
          </a:p>
        </p:txBody>
      </p:sp>
      <p:sp>
        <p:nvSpPr>
          <p:cNvPr id="11" name="Clinical relevance (2/2) body"/>
          <p:cNvSpPr txBox="1"/>
          <p:nvPr/>
        </p:nvSpPr>
        <p:spPr>
          <a:xfrm>
            <a:off x="777240" y="2075688"/>
            <a:ext cx="10637215" cy="2574036"/>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Enzyme induction speeds substrate clearance, lowering its level and effect — the opposite of inhibition.</a:t>
            </a:r>
            <a:r>
              <a:rPr lang="en-US" sz="1300" dirty="0">
                <a:solidFill>
                  <a:srgbClr val="666666"/>
                </a:solidFill>
              </a:rPr>
              <a:t>  S48</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Liver disease (cirrhosis, hepatitis) slows metabolism enough that ordinary doses can cause coma. CYP3A4 handles over 50% of liver-metabolized prescriptions.</a:t>
            </a:r>
            <a:r>
              <a:rPr lang="en-US" sz="1300" dirty="0">
                <a:solidFill>
                  <a:srgbClr val="666666"/>
                </a:solidFill>
              </a:rPr>
              <a:t>  p. 60; p. 73</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b="1" dirty="0">
                <a:solidFill>
                  <a:srgbClr val="1F1F1F"/>
                </a:solidFill>
              </a:rPr>
              <a:t>Diet and environment:</a:t>
            </a:r>
            <a:r>
              <a:rPr lang="en-US" sz="1800" dirty="0">
                <a:solidFill>
                  <a:srgbClr val="1F1F1F"/>
                </a:solidFill>
              </a:rPr>
              <a:t> smoking, charcoal-broiled food and cruciferous vegetables induce CYP1A; grapefruit juice inhibits CYP3A.</a:t>
            </a:r>
            <a:r>
              <a:rPr lang="en-US" sz="1300" dirty="0">
                <a:solidFill>
                  <a:srgbClr val="666666"/>
                </a:solidFill>
              </a:rPr>
              <a:t>  p. 60; p. 71</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Stopping an inducer is as risky as starting one: when the inducer stops, warfarin metabolism slows, levels rise and bleeding can follow.</a:t>
            </a:r>
            <a:r>
              <a:rPr lang="en-US" sz="1300" dirty="0">
                <a:solidFill>
                  <a:srgbClr val="666666"/>
                </a:solidFill>
              </a:rPr>
              <a:t>  p. 72</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METABOLISM &amp; CYP450 INTERACTIONS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Drugs named as examples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14</a:t>
            </a:r>
            <a:endParaRPr lang="en-US" sz="1000" dirty="0"/>
          </a:p>
        </p:txBody>
      </p:sp>
      <p:sp>
        <p:nvSpPr>
          <p:cNvPr id="7" name="Drugs named as examples card"/>
          <p:cNvSpPr/>
          <p:nvPr/>
        </p:nvSpPr>
        <p:spPr>
          <a:xfrm>
            <a:off x="548640" y="1325880"/>
            <a:ext cx="11094415" cy="4777740"/>
          </a:xfrm>
          <a:prstGeom prst="roundRect">
            <a:avLst>
              <a:gd name="adj" fmla="val 2297"/>
            </a:avLst>
          </a:prstGeom>
          <a:solidFill>
            <a:srgbClr val="F2F4F7"/>
          </a:solidFill>
          <a:ln w="12700">
            <a:solidFill>
              <a:srgbClr val="F2F4F7"/>
            </a:solidFill>
            <a:prstDash val="solid"/>
          </a:ln>
        </p:spPr>
      </p:sp>
      <p:sp>
        <p:nvSpPr>
          <p:cNvPr id="8" name="Drugs named as examples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9" name="Drugs named as example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Drugs named as examples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4472C4"/>
                </a:solidFill>
              </a:rPr>
              <a:t>Drugs named as examples</a:t>
            </a:r>
            <a:endParaRPr lang="en-US" sz="1800" dirty="0"/>
          </a:p>
        </p:txBody>
      </p:sp>
      <p:sp>
        <p:nvSpPr>
          <p:cNvPr id="11" name="Drugs named as examples body"/>
          <p:cNvSpPr txBox="1"/>
          <p:nvPr/>
        </p:nvSpPr>
        <p:spPr>
          <a:xfrm>
            <a:off x="777240" y="2075688"/>
            <a:ext cx="10637215" cy="390906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NAPQI (from acetaminophen) is the textbook example of a toxic metabolite produced by normal Phase I metabolism — previewing the acetaminophen toxicity lecture.</a:t>
            </a:r>
            <a:r>
              <a:rPr lang="en-US" sz="1300" dirty="0">
                <a:solidFill>
                  <a:srgbClr val="666666"/>
                </a:solidFill>
              </a:rPr>
              <a:t>  S4 (notes)</a:t>
            </a:r>
            <a:endParaRPr lang="en-US" sz="1800" dirty="0"/>
          </a:p>
          <a:p>
            <a:pPr marL="228600" indent="-228600">
              <a:spcAft>
                <a:spcPts val="800"/>
              </a:spcAft>
              <a:buSzPct val="100000"/>
              <a:buChar char="•"/>
            </a:pPr>
            <a:r>
              <a:rPr lang="en-US" sz="1800" dirty="0">
                <a:solidFill>
                  <a:srgbClr val="1F1F1F"/>
                </a:solidFill>
              </a:rPr>
              <a:t>CYP3A4 — the enzyme in the lecture's inhibitor/substrate example.</a:t>
            </a:r>
            <a:r>
              <a:rPr lang="en-US" sz="1300" dirty="0">
                <a:solidFill>
                  <a:srgbClr val="666666"/>
                </a:solidFill>
              </a:rPr>
              <a:t>  S6</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b="1" dirty="0">
                <a:solidFill>
                  <a:srgbClr val="1F1F1F"/>
                </a:solidFill>
              </a:rPr>
              <a:t>Inducers:</a:t>
            </a:r>
            <a:r>
              <a:rPr lang="en-US" sz="1800" dirty="0">
                <a:solidFill>
                  <a:srgbClr val="1F1F1F"/>
                </a:solidFill>
              </a:rPr>
              <a:t> rifampin, carbamazepine, phenytoin, barbiturates, St. John's wort; </a:t>
            </a:r>
            <a:r>
              <a:rPr lang="en-US" sz="1800" b="1" dirty="0">
                <a:solidFill>
                  <a:srgbClr val="1F1F1F"/>
                </a:solidFill>
              </a:rPr>
              <a:t>inhibitors:</a:t>
            </a:r>
            <a:r>
              <a:rPr lang="en-US" sz="1800" dirty="0">
                <a:solidFill>
                  <a:srgbClr val="1F1F1F"/>
                </a:solidFill>
              </a:rPr>
              <a:t> ketoconazole, clarithromycin/erythromycin, ritonavir, grapefruit juice.</a:t>
            </a:r>
            <a:r>
              <a:rPr lang="en-US" sz="1300" dirty="0">
                <a:solidFill>
                  <a:srgbClr val="666666"/>
                </a:solidFill>
              </a:rPr>
              <a:t>  p. 63; p. 64</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St. John's wort induces CYP3A4 and speeds metabolism of oral contraceptives, warfarin, cyclosporine, and others.</a:t>
            </a:r>
            <a:r>
              <a:rPr lang="en-US" sz="1300" dirty="0">
                <a:solidFill>
                  <a:srgbClr val="666666"/>
                </a:solidFill>
              </a:rPr>
              <a:t>  p. 72</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Terfenadine plus CYP3A4 inhibitors (ketoconazole, erythromycin, grapefruit juice) caused fatal torsades de pointes; terfenadine was withdrawn.</a:t>
            </a:r>
            <a:r>
              <a:rPr lang="en-US" sz="1300" dirty="0">
                <a:solidFill>
                  <a:srgbClr val="666666"/>
                </a:solidFill>
              </a:rPr>
              <a:t>  p. 72</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Allopurinol inhibits xanthine oxidase, so the mercaptopurine dose must be reduced when both are given.</a:t>
            </a:r>
            <a:r>
              <a:rPr lang="en-US" sz="1300" dirty="0">
                <a:solidFill>
                  <a:srgbClr val="666666"/>
                </a:solidFill>
              </a:rPr>
              <a:t>  p. 72</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METABOLISM &amp; CYP450 INTERACTIONS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Exam traps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15</a:t>
            </a:r>
            <a:endParaRPr lang="en-US" sz="1000" dirty="0"/>
          </a:p>
        </p:txBody>
      </p:sp>
      <p:sp>
        <p:nvSpPr>
          <p:cNvPr id="7" name="Exam traps card"/>
          <p:cNvSpPr/>
          <p:nvPr/>
        </p:nvSpPr>
        <p:spPr>
          <a:xfrm>
            <a:off x="548640" y="1325880"/>
            <a:ext cx="11094415" cy="2496312"/>
          </a:xfrm>
          <a:prstGeom prst="roundRect">
            <a:avLst>
              <a:gd name="adj" fmla="val 4396"/>
            </a:avLst>
          </a:prstGeom>
          <a:solidFill>
            <a:srgbClr val="F2F4F7"/>
          </a:solidFill>
          <a:ln w="12700">
            <a:solidFill>
              <a:srgbClr val="F2F4F7"/>
            </a:solidFill>
            <a:prstDash val="solid"/>
          </a:ln>
        </p:spPr>
      </p:sp>
      <p:sp>
        <p:nvSpPr>
          <p:cNvPr id="8" name="Exam traps icon circle"/>
          <p:cNvSpPr/>
          <p:nvPr/>
        </p:nvSpPr>
        <p:spPr>
          <a:xfrm>
            <a:off x="777240" y="1508760"/>
            <a:ext cx="438912" cy="438912"/>
          </a:xfrm>
          <a:prstGeom prst="ellipse">
            <a:avLst/>
          </a:prstGeom>
          <a:solidFill>
            <a:srgbClr val="C00000"/>
          </a:solidFill>
          <a:ln w="12700">
            <a:solidFill>
              <a:srgbClr val="C00000"/>
            </a:solidFill>
            <a:prstDash val="solid"/>
          </a:ln>
        </p:spPr>
      </p:sp>
      <p:pic>
        <p:nvPicPr>
          <p:cNvPr id="9" name="Exam trap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Exam traps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C00000"/>
                </a:solidFill>
              </a:rPr>
              <a:t>Exam traps</a:t>
            </a:r>
            <a:endParaRPr lang="en-US" sz="1800" dirty="0"/>
          </a:p>
        </p:txBody>
      </p:sp>
      <p:sp>
        <p:nvSpPr>
          <p:cNvPr id="11" name="Exam traps body"/>
          <p:cNvSpPr txBox="1"/>
          <p:nvPr/>
        </p:nvSpPr>
        <p:spPr>
          <a:xfrm>
            <a:off x="777240" y="2075688"/>
            <a:ext cx="10637215" cy="1627632"/>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Inhibitor → substrate level UP (toxicity); inducer → substrate level DOWN (therapeutic failure). Don't swap them.</a:t>
            </a:r>
            <a:r>
              <a:rPr lang="en-US" sz="1300" dirty="0">
                <a:solidFill>
                  <a:srgbClr val="666666"/>
                </a:solidFill>
              </a:rPr>
              <a:t>  S7 (notes); S9</a:t>
            </a:r>
            <a:endParaRPr lang="en-US" sz="1800" dirty="0"/>
          </a:p>
          <a:p>
            <a:pPr marL="228600" indent="-228600">
              <a:spcAft>
                <a:spcPts val="800"/>
              </a:spcAft>
              <a:buSzPct val="100000"/>
              <a:buChar char="•"/>
            </a:pPr>
            <a:r>
              <a:rPr lang="en-US" sz="1800" dirty="0">
                <a:solidFill>
                  <a:srgbClr val="1F1F1F"/>
                </a:solidFill>
              </a:rPr>
              <a:t>CYP3A4 is a Phase I (CYP450) enzyme — it does not "only affect Phase II metabolism."</a:t>
            </a:r>
            <a:r>
              <a:rPr lang="en-US" sz="1300" dirty="0">
                <a:solidFill>
                  <a:srgbClr val="666666"/>
                </a:solidFill>
              </a:rPr>
              <a:t>  S5; S10-11</a:t>
            </a:r>
            <a:endParaRPr lang="en-US" sz="1800" dirty="0"/>
          </a:p>
          <a:p>
            <a:pPr marL="228600" indent="-228600">
              <a:spcAft>
                <a:spcPts val="800"/>
              </a:spcAft>
              <a:buSzPct val="100000"/>
              <a:buChar char="•"/>
            </a:pPr>
            <a:r>
              <a:rPr lang="en-US" sz="1800" dirty="0">
                <a:solidFill>
                  <a:srgbClr val="1F1F1F"/>
                </a:solidFill>
              </a:rPr>
              <a:t>Not every drug goes through Phase I first — some go straight to Phase II conjugation.</a:t>
            </a:r>
            <a:r>
              <a:rPr lang="en-US" sz="1300" dirty="0">
                <a:solidFill>
                  <a:srgbClr val="666666"/>
                </a:solidFill>
              </a:rPr>
              <a:t>  S5 (notes)</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METABOLISM &amp; CYP450 INTERACTIONS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Figure 6 · CYP450 inhibition vs. induction</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16</a:t>
            </a:r>
            <a:endParaRPr lang="en-US" sz="1000" dirty="0"/>
          </a:p>
        </p:txBody>
      </p:sp>
      <p:pic>
        <p:nvPicPr>
          <p:cNvPr id="7" name="Figure S7_1.png" descr="/home/user/dpas-pharm/work/L02/figures/S7_1.png">    </p:cNvPr>
          <p:cNvPicPr>
            <a:picLocks noChangeAspect="1"/>
          </p:cNvPicPr>
          <p:nvPr/>
        </p:nvPicPr>
        <p:blipFill>
          <a:blip r:embed="rId1"/>
          <a:stretch>
            <a:fillRect/>
          </a:stretch>
        </p:blipFill>
        <p:spPr>
          <a:xfrm>
            <a:off x="2672436" y="1325880"/>
            <a:ext cx="6846824" cy="4167632"/>
          </a:xfrm>
          <a:prstGeom prst="rect">
            <a:avLst/>
          </a:prstGeom>
        </p:spPr>
      </p:pic>
      <p:sp>
        <p:nvSpPr>
          <p:cNvPr id="8" name="Figure caption"/>
          <p:cNvSpPr txBox="1"/>
          <p:nvPr/>
        </p:nvSpPr>
        <p:spPr>
          <a:xfrm>
            <a:off x="548640" y="5676392"/>
            <a:ext cx="11094415" cy="587248"/>
          </a:xfrm>
          <a:prstGeom prst="rect">
            <a:avLst/>
          </a:prstGeom>
          <a:noFill/>
          <a:ln/>
        </p:spPr>
        <p:txBody>
          <a:bodyPr wrap="square" lIns="0" tIns="0" rIns="0" bIns="0" rtlCol="0" anchor="t"/>
          <a:lstStyle/>
          <a:p>
            <a:pPr indent="0" marL="0">
              <a:buNone/>
            </a:pPr>
            <a:r>
              <a:rPr lang="en-US" sz="1600" dirty="0">
                <a:solidFill>
                  <a:srgbClr val="1F1F1F"/>
                </a:solidFill>
              </a:rPr>
              <a:t>Original illustrative bar chart (illustrative values): a CYP450 inhibitor raises a substrate drug's blood level (to 240% of baseline — toxicity risk); an inducer lowers it (to 42% — therapeutic-failure risk).</a:t>
            </a:r>
            <a:r>
              <a:rPr lang="en-US" sz="1100" dirty="0">
                <a:solidFill>
                  <a:srgbClr val="666666"/>
                </a:solidFill>
              </a:rPr>
              <a:t>  S7; S7 (notes); S8</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METABOLISM &amp; CYP450 INTERACTIONS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Compare: Phase I vs. Phase II metabolism</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17</a:t>
            </a:r>
            <a:endParaRPr lang="en-US" sz="1000" dirty="0"/>
          </a:p>
        </p:txBody>
      </p:sp>
      <p:graphicFrame>
        <p:nvGraphicFramePr>
          <p:cNvPr id="18"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4358488"/>
                <a:gridCol w="4358488"/>
              </a:tblGrid>
              <a:tr h="0">
                <a:tc>
                  <a:txBody>
                    <a:bodyPr/>
                    <a:lstStyle/>
                    <a:p>
                      <a:pPr indent="0" marL="0">
                        <a:buNone/>
                      </a:pP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Phase I — Functionalization</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Phase II — Conjugation</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600" b="1" dirty="0">
                          <a:solidFill>
                            <a:srgbClr val="1F1F1F"/>
                          </a:solidFill>
                        </a:rPr>
                        <a:t>Reactions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Oxidation, reduction, hydrolysis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Glucuronidation, sulfation, acetylation, methylation, glutathione conjugation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Main enzymes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Cytochrome P450 (CYP450)</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Not covered in materials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What it does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Creates or unmasks a reactive functional group</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Attaches a polar group</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Result</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Not covered in materials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More water-soluble product for renal/biliary excretion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Order</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Often first — but not always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Some drugs go straight here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bl>
          </a:graphicData>
        </a:graphic>
      </p:graphicFrame>
      <p:sp>
        <p:nvSpPr>
          <p:cNvPr id="8" name="Table sources"/>
          <p:cNvSpPr txBox="1"/>
          <p:nvPr/>
        </p:nvSpPr>
        <p:spPr>
          <a:xfrm>
            <a:off x="548640" y="4214368"/>
            <a:ext cx="11094415" cy="274320"/>
          </a:xfrm>
          <a:prstGeom prst="rect">
            <a:avLst/>
          </a:prstGeom>
          <a:noFill/>
          <a:ln/>
        </p:spPr>
        <p:txBody>
          <a:bodyPr wrap="square" lIns="0" tIns="0" rIns="0" bIns="0" rtlCol="0" anchor="ctr"/>
          <a:lstStyle/>
          <a:p>
            <a:pPr indent="0" marL="0">
              <a:buNone/>
            </a:pPr>
            <a:r>
              <a:rPr lang="en-US" sz="1100" dirty="0">
                <a:solidFill>
                  <a:srgbClr val="666666"/>
                </a:solidFill>
              </a:rPr>
              <a:t>Focus: what tells these apart.  Sources: S5; S5 (notes)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METABOLISM &amp; CYP450 INTERACTIONS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Compare: CYP450 inhibition vs. induction</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18</a:t>
            </a:r>
            <a:endParaRPr lang="en-US" sz="1000" dirty="0"/>
          </a:p>
        </p:txBody>
      </p:sp>
      <p:graphicFrame>
        <p:nvGraphicFramePr>
          <p:cNvPr id="19"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4358488"/>
                <a:gridCol w="4358488"/>
              </a:tblGrid>
              <a:tr h="0">
                <a:tc>
                  <a:txBody>
                    <a:bodyPr/>
                    <a:lstStyle/>
                    <a:p>
                      <a:pPr indent="0" marL="0">
                        <a:buNone/>
                      </a:pP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Enzyme inhibition</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Enzyme induction</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600" b="1" dirty="0">
                          <a:solidFill>
                            <a:srgbClr val="1F1F1F"/>
                          </a:solidFill>
                        </a:rPr>
                        <a:t>What happens to the CYP enzyme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Slowed</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More enzyme produced</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Substrate drug's blood level</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b="1" dirty="0">
                          <a:solidFill>
                            <a:srgbClr val="1F1F1F"/>
                          </a:solidFill>
                        </a:rPr>
                        <a:t>Rises</a:t>
                      </a:r>
                      <a:r>
                        <a:rPr lang="en-US" sz="1600" dirty="0">
                          <a:solidFill>
                            <a:srgbClr val="1F1F1F"/>
                          </a:solidFill>
                        </a:rPr>
                        <a:t> (Figure 6: 240%)</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b="1" dirty="0">
                          <a:solidFill>
                            <a:srgbClr val="1F1F1F"/>
                          </a:solidFill>
                        </a:rPr>
                        <a:t>Falls</a:t>
                      </a:r>
                      <a:r>
                        <a:rPr lang="en-US" sz="1600" dirty="0">
                          <a:solidFill>
                            <a:srgbClr val="1F1F1F"/>
                          </a:solidFill>
                        </a:rPr>
                        <a:t> (Figure 6: 42%)</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Clinical risk</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b="1" dirty="0">
                          <a:solidFill>
                            <a:srgbClr val="1F1F1F"/>
                          </a:solidFill>
                        </a:rPr>
                        <a:t>Toxicity</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b="1" dirty="0">
                          <a:solidFill>
                            <a:srgbClr val="1F1F1F"/>
                          </a:solidFill>
                        </a:rPr>
                        <a:t>Therapeutic failure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Worst case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Narrow-TI substrate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Not covered in materials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bl>
          </a:graphicData>
        </a:graphic>
      </p:graphicFrame>
      <p:sp>
        <p:nvSpPr>
          <p:cNvPr id="8" name="Table sources"/>
          <p:cNvSpPr txBox="1"/>
          <p:nvPr/>
        </p:nvSpPr>
        <p:spPr>
          <a:xfrm>
            <a:off x="548640" y="3838448"/>
            <a:ext cx="11094415" cy="274320"/>
          </a:xfrm>
          <a:prstGeom prst="rect">
            <a:avLst/>
          </a:prstGeom>
          <a:noFill/>
          <a:ln/>
        </p:spPr>
        <p:txBody>
          <a:bodyPr wrap="square" lIns="0" tIns="0" rIns="0" bIns="0" rtlCol="0" anchor="ctr"/>
          <a:lstStyle/>
          <a:p>
            <a:pPr indent="0" marL="0">
              <a:buNone/>
            </a:pPr>
            <a:r>
              <a:rPr lang="en-US" sz="1100" dirty="0">
                <a:solidFill>
                  <a:srgbClr val="666666"/>
                </a:solidFill>
              </a:rPr>
              <a:t>Focus: what tells these apart.  Sources: S6; S7 (notes); S8-9; S11</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METABOLISM &amp; CYP450 INTERACTIONS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2200" b="1" dirty="0">
                <a:solidFill>
                  <a:srgbClr val="1F1F1F"/>
                </a:solidFill>
                <a:latin typeface="Calibri" pitchFamily="34" charset="0"/>
                <a:ea typeface="Calibri" pitchFamily="34" charset="-122"/>
                <a:cs typeface="Calibri" pitchFamily="34" charset="-120"/>
              </a:rPr>
              <a:t>Compare: Which inducers switch on which enzyme (textbook Ch. 4)</a:t>
            </a:r>
            <a:endParaRPr lang="en-US" sz="22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19</a:t>
            </a:r>
            <a:endParaRPr lang="en-US" sz="1000" dirty="0"/>
          </a:p>
        </p:txBody>
      </p:sp>
      <p:graphicFrame>
        <p:nvGraphicFramePr>
          <p:cNvPr id="20"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8716975"/>
              </a:tblGrid>
              <a:tr h="0">
                <a:tc>
                  <a:txBody>
                    <a:bodyPr/>
                    <a:lstStyle/>
                    <a:p>
                      <a:pPr indent="0" marL="0">
                        <a:buNone/>
                      </a:pPr>
                      <a:r>
                        <a:rPr lang="en-US" sz="1600" b="1" dirty="0">
                          <a:solidFill>
                            <a:srgbClr val="FFFFFF"/>
                          </a:solidFill>
                        </a:rPr>
                        <a:t>Inducers</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Enzyme induced</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600" b="1" dirty="0">
                          <a:solidFill>
                            <a:srgbClr val="1F1F1F"/>
                          </a:solidFill>
                        </a:rPr>
                        <a:t>Tobacco smoke, charcoal-broiled meat, cruciferous vegetables, omeprazole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CYP1A</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Rifampin, St. John’s wort, dexamethasone, phenobarbital</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CYP3A</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bl>
          </a:graphicData>
        </a:graphic>
      </p:graphicFrame>
      <p:sp>
        <p:nvSpPr>
          <p:cNvPr id="8" name="Table sources"/>
          <p:cNvSpPr txBox="1"/>
          <p:nvPr/>
        </p:nvSpPr>
        <p:spPr>
          <a:xfrm>
            <a:off x="548640" y="3830320"/>
            <a:ext cx="11094415" cy="274320"/>
          </a:xfrm>
          <a:prstGeom prst="rect">
            <a:avLst/>
          </a:prstGeom>
          <a:noFill/>
          <a:ln/>
        </p:spPr>
        <p:txBody>
          <a:bodyPr wrap="square" lIns="0" tIns="0" rIns="0" bIns="0" rtlCol="0" anchor="ctr"/>
          <a:lstStyle/>
          <a:p>
            <a:pPr indent="0" marL="0">
              <a:buNone/>
            </a:pPr>
            <a:r>
              <a:rPr lang="en-US" sz="1000" b="1" dirty="0">
                <a:solidFill>
                  <a:srgbClr val="000000"/>
                </a:solidFill>
                <a:highlight>
                  <a:srgbClr val="FFC000"/>
                </a:highlight>
              </a:rPr>
              <a:t> TB </a:t>
            </a:r>
            <a:r>
              <a:rPr lang="en-US" sz="1000" dirty="0">
                <a:solidFill>
                  <a:srgbClr val="000000"/>
                </a:solidFill>
              </a:rPr>
              <a:t>  </a:t>
            </a:r>
            <a:r>
              <a:rPr lang="en-US" sz="1100" dirty="0">
                <a:solidFill>
                  <a:srgbClr val="666666"/>
                </a:solidFill>
              </a:rPr>
              <a:t>Focus: what tells these apart.  Sources: p. 60</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METABOLISM &amp; CYP450 INTERACTIONS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Memory hooks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20</a:t>
            </a:r>
            <a:endParaRPr lang="en-US" sz="1000" dirty="0"/>
          </a:p>
        </p:txBody>
      </p:sp>
      <p:sp>
        <p:nvSpPr>
          <p:cNvPr id="7" name="Why it happens card"/>
          <p:cNvSpPr/>
          <p:nvPr/>
        </p:nvSpPr>
        <p:spPr>
          <a:xfrm>
            <a:off x="548640" y="1325880"/>
            <a:ext cx="5364328" cy="2276856"/>
          </a:xfrm>
          <a:prstGeom prst="roundRect">
            <a:avLst>
              <a:gd name="adj" fmla="val 4819"/>
            </a:avLst>
          </a:prstGeom>
          <a:solidFill>
            <a:srgbClr val="F2F4F7"/>
          </a:solidFill>
          <a:ln w="12700">
            <a:solidFill>
              <a:srgbClr val="F2F4F7"/>
            </a:solidFill>
            <a:prstDash val="solid"/>
          </a:ln>
        </p:spPr>
      </p:sp>
      <p:sp>
        <p:nvSpPr>
          <p:cNvPr id="8" name="Why it happens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9" name="Why it happen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Why it happens heading"/>
          <p:cNvSpPr txBox="1"/>
          <p:nvPr/>
        </p:nvSpPr>
        <p:spPr>
          <a:xfrm>
            <a:off x="1353312" y="1508760"/>
            <a:ext cx="4358488" cy="438912"/>
          </a:xfrm>
          <a:prstGeom prst="rect">
            <a:avLst/>
          </a:prstGeom>
          <a:noFill/>
          <a:ln/>
        </p:spPr>
        <p:txBody>
          <a:bodyPr wrap="square" lIns="0" tIns="0" rIns="0" bIns="0" rtlCol="0" anchor="ctr"/>
          <a:lstStyle/>
          <a:p>
            <a:pPr indent="0" marL="0">
              <a:buNone/>
            </a:pPr>
            <a:r>
              <a:rPr lang="en-US" sz="1800" b="1" dirty="0">
                <a:solidFill>
                  <a:srgbClr val="4472C4"/>
                </a:solidFill>
              </a:rPr>
              <a:t>Why it happens</a:t>
            </a:r>
            <a:endParaRPr lang="en-US" sz="1800" dirty="0"/>
          </a:p>
        </p:txBody>
      </p:sp>
      <p:sp>
        <p:nvSpPr>
          <p:cNvPr id="11" name="Why it happens body"/>
          <p:cNvSpPr txBox="1"/>
          <p:nvPr/>
        </p:nvSpPr>
        <p:spPr>
          <a:xfrm>
            <a:off x="777240" y="2075688"/>
            <a:ext cx="4907128" cy="1408176"/>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Why does an inhibitor cause toxicity? The CYP enzyme that normally clears the substrate is slowed, so the substrate can no longer be cleared normally and accumulates.</a:t>
            </a:r>
            <a:r>
              <a:rPr lang="en-US" sz="1300" dirty="0">
                <a:solidFill>
                  <a:srgbClr val="666666"/>
                </a:solidFill>
              </a:rPr>
              <a:t>  S6; S9</a:t>
            </a:r>
            <a:endParaRPr lang="en-US" sz="1800" dirty="0"/>
          </a:p>
        </p:txBody>
      </p:sp>
      <p:sp>
        <p:nvSpPr>
          <p:cNvPr id="12" name="Mnemonic (memory aid) card"/>
          <p:cNvSpPr/>
          <p:nvPr/>
        </p:nvSpPr>
        <p:spPr>
          <a:xfrm>
            <a:off x="548640" y="3831336"/>
            <a:ext cx="5364328" cy="1997964"/>
          </a:xfrm>
          <a:prstGeom prst="roundRect">
            <a:avLst>
              <a:gd name="adj" fmla="val 5492"/>
            </a:avLst>
          </a:prstGeom>
          <a:solidFill>
            <a:srgbClr val="F2F4F7"/>
          </a:solidFill>
          <a:ln w="12700">
            <a:solidFill>
              <a:srgbClr val="F2F4F7"/>
            </a:solidFill>
            <a:prstDash val="solid"/>
          </a:ln>
        </p:spPr>
      </p:sp>
      <p:sp>
        <p:nvSpPr>
          <p:cNvPr id="13" name="Mnemonic (memory aid) icon circle"/>
          <p:cNvSpPr/>
          <p:nvPr/>
        </p:nvSpPr>
        <p:spPr>
          <a:xfrm>
            <a:off x="777240" y="4014216"/>
            <a:ext cx="438912" cy="438912"/>
          </a:xfrm>
          <a:prstGeom prst="ellipse">
            <a:avLst/>
          </a:prstGeom>
          <a:solidFill>
            <a:srgbClr val="7030A0"/>
          </a:solidFill>
          <a:ln w="12700">
            <a:solidFill>
              <a:srgbClr val="7030A0"/>
            </a:solidFill>
            <a:prstDash val="solid"/>
          </a:ln>
        </p:spPr>
      </p:sp>
      <p:pic>
        <p:nvPicPr>
          <p:cNvPr id="14" name="Mnemonic (memory aid) icon" descr="preencoded.png">    </p:cNvPr>
          <p:cNvPicPr>
            <a:picLocks noChangeAspect="1"/>
          </p:cNvPicPr>
          <p:nvPr/>
        </p:nvPicPr>
        <p:blipFill>
          <a:blip r:embed="rId2"/>
          <a:stretch>
            <a:fillRect/>
          </a:stretch>
        </p:blipFill>
        <p:spPr>
          <a:xfrm>
            <a:off x="877824" y="4114800"/>
            <a:ext cx="237744" cy="237744"/>
          </a:xfrm>
          <a:prstGeom prst="rect">
            <a:avLst/>
          </a:prstGeom>
        </p:spPr>
      </p:pic>
      <p:sp>
        <p:nvSpPr>
          <p:cNvPr id="15" name="Mnemonic (memory aid) heading"/>
          <p:cNvSpPr txBox="1"/>
          <p:nvPr/>
        </p:nvSpPr>
        <p:spPr>
          <a:xfrm>
            <a:off x="1353312" y="4014216"/>
            <a:ext cx="4358488" cy="438912"/>
          </a:xfrm>
          <a:prstGeom prst="rect">
            <a:avLst/>
          </a:prstGeom>
          <a:noFill/>
          <a:ln/>
        </p:spPr>
        <p:txBody>
          <a:bodyPr wrap="square" lIns="0" tIns="0" rIns="0" bIns="0" rtlCol="0" anchor="ctr"/>
          <a:lstStyle/>
          <a:p>
            <a:pPr indent="0" marL="0">
              <a:buNone/>
            </a:pPr>
            <a:r>
              <a:rPr lang="en-US" sz="1800" b="1" dirty="0">
                <a:solidFill>
                  <a:srgbClr val="7030A0"/>
                </a:solidFill>
              </a:rPr>
              <a:t>Mnemonic (memory aid)</a:t>
            </a:r>
            <a:endParaRPr lang="en-US" sz="1800" dirty="0"/>
          </a:p>
        </p:txBody>
      </p:sp>
      <p:sp>
        <p:nvSpPr>
          <p:cNvPr id="16" name="Mnemonic (memory aid) body"/>
          <p:cNvSpPr txBox="1"/>
          <p:nvPr/>
        </p:nvSpPr>
        <p:spPr>
          <a:xfrm>
            <a:off x="777240" y="4581144"/>
            <a:ext cx="4907128" cy="1129284"/>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Phase </a:t>
            </a:r>
            <a:r>
              <a:rPr lang="en-US" sz="1800" b="1" dirty="0">
                <a:solidFill>
                  <a:srgbClr val="1F1F1F"/>
                </a:solidFill>
              </a:rPr>
              <a:t>I</a:t>
            </a:r>
            <a:r>
              <a:rPr lang="en-US" sz="1800" dirty="0">
                <a:solidFill>
                  <a:srgbClr val="1F1F1F"/>
                </a:solidFill>
              </a:rPr>
              <a:t> = </a:t>
            </a:r>
            <a:r>
              <a:rPr lang="en-US" sz="1800" b="1" dirty="0">
                <a:solidFill>
                  <a:srgbClr val="1F1F1F"/>
                </a:solidFill>
              </a:rPr>
              <a:t>I</a:t>
            </a:r>
            <a:r>
              <a:rPr lang="en-US" sz="1800" dirty="0">
                <a:solidFill>
                  <a:srgbClr val="1F1F1F"/>
                </a:solidFill>
              </a:rPr>
              <a:t>nitial change (oxidize, reduce, hydrolyze — CYP450). Phase </a:t>
            </a:r>
            <a:r>
              <a:rPr lang="en-US" sz="1800" b="1" dirty="0">
                <a:solidFill>
                  <a:srgbClr val="1F1F1F"/>
                </a:solidFill>
              </a:rPr>
              <a:t>II</a:t>
            </a:r>
            <a:r>
              <a:rPr lang="en-US" sz="1800" dirty="0">
                <a:solidFill>
                  <a:srgbClr val="1F1F1F"/>
                </a:solidFill>
              </a:rPr>
              <a:t> = </a:t>
            </a:r>
            <a:r>
              <a:rPr lang="en-US" sz="1800" b="1" dirty="0">
                <a:solidFill>
                  <a:srgbClr val="1F1F1F"/>
                </a:solidFill>
              </a:rPr>
              <a:t>T</a:t>
            </a:r>
            <a:r>
              <a:rPr lang="en-US" sz="1800" dirty="0">
                <a:solidFill>
                  <a:srgbClr val="1F1F1F"/>
                </a:solidFill>
              </a:rPr>
              <a:t>ag it (conjugate a polar group → water-soluble).</a:t>
            </a:r>
            <a:r>
              <a:rPr lang="en-US" sz="1300" dirty="0">
                <a:solidFill>
                  <a:srgbClr val="666666"/>
                </a:solidFill>
              </a:rPr>
              <a:t>  S5</a:t>
            </a:r>
            <a:endParaRPr lang="en-US" sz="1800" dirty="0"/>
          </a:p>
        </p:txBody>
      </p:sp>
      <p:sp>
        <p:nvSpPr>
          <p:cNvPr id="17" name="Why it happens card"/>
          <p:cNvSpPr/>
          <p:nvPr/>
        </p:nvSpPr>
        <p:spPr>
          <a:xfrm>
            <a:off x="6278728" y="1325880"/>
            <a:ext cx="5364328" cy="1997964"/>
          </a:xfrm>
          <a:prstGeom prst="roundRect">
            <a:avLst>
              <a:gd name="adj" fmla="val 5492"/>
            </a:avLst>
          </a:prstGeom>
          <a:solidFill>
            <a:srgbClr val="F2F4F7"/>
          </a:solidFill>
          <a:ln w="12700">
            <a:solidFill>
              <a:srgbClr val="F2F4F7"/>
            </a:solidFill>
            <a:prstDash val="solid"/>
          </a:ln>
        </p:spPr>
      </p:sp>
      <p:sp>
        <p:nvSpPr>
          <p:cNvPr id="18" name="Why it happens icon circle"/>
          <p:cNvSpPr/>
          <p:nvPr/>
        </p:nvSpPr>
        <p:spPr>
          <a:xfrm>
            <a:off x="6507328" y="1508760"/>
            <a:ext cx="438912" cy="438912"/>
          </a:xfrm>
          <a:prstGeom prst="ellipse">
            <a:avLst/>
          </a:prstGeom>
          <a:solidFill>
            <a:srgbClr val="4472C4"/>
          </a:solidFill>
          <a:ln w="12700">
            <a:solidFill>
              <a:srgbClr val="4472C4"/>
            </a:solidFill>
            <a:prstDash val="solid"/>
          </a:ln>
        </p:spPr>
      </p:sp>
      <p:pic>
        <p:nvPicPr>
          <p:cNvPr id="19" name="Why it happens icon" descr="preencoded.png">    </p:cNvPr>
          <p:cNvPicPr>
            <a:picLocks noChangeAspect="1"/>
          </p:cNvPicPr>
          <p:nvPr/>
        </p:nvPicPr>
        <p:blipFill>
          <a:blip r:embed="rId3"/>
          <a:stretch>
            <a:fillRect/>
          </a:stretch>
        </p:blipFill>
        <p:spPr>
          <a:xfrm>
            <a:off x="6607912" y="1609344"/>
            <a:ext cx="237744" cy="237744"/>
          </a:xfrm>
          <a:prstGeom prst="rect">
            <a:avLst/>
          </a:prstGeom>
        </p:spPr>
      </p:pic>
      <p:sp>
        <p:nvSpPr>
          <p:cNvPr id="20" name="Why it happens heading"/>
          <p:cNvSpPr txBox="1"/>
          <p:nvPr/>
        </p:nvSpPr>
        <p:spPr>
          <a:xfrm>
            <a:off x="7083400" y="1508760"/>
            <a:ext cx="4358488" cy="438912"/>
          </a:xfrm>
          <a:prstGeom prst="rect">
            <a:avLst/>
          </a:prstGeom>
          <a:noFill/>
          <a:ln/>
        </p:spPr>
        <p:txBody>
          <a:bodyPr wrap="square" lIns="0" tIns="0" rIns="0" bIns="0" rtlCol="0" anchor="ctr"/>
          <a:lstStyle/>
          <a:p>
            <a:pPr indent="0" marL="0">
              <a:buNone/>
            </a:pPr>
            <a:r>
              <a:rPr lang="en-US" sz="1800" b="1" dirty="0">
                <a:solidFill>
                  <a:srgbClr val="4472C4"/>
                </a:solidFill>
              </a:rPr>
              <a:t>Why it happens</a:t>
            </a:r>
            <a:endParaRPr lang="en-US" sz="1800" dirty="0"/>
          </a:p>
        </p:txBody>
      </p:sp>
      <p:sp>
        <p:nvSpPr>
          <p:cNvPr id="21" name="Why it happens body"/>
          <p:cNvSpPr txBox="1"/>
          <p:nvPr/>
        </p:nvSpPr>
        <p:spPr>
          <a:xfrm>
            <a:off x="6507328" y="2075688"/>
            <a:ext cx="4907128" cy="1129284"/>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Why does Phase II help excretion? Attaching a polar group makes the drug more water-soluble, so it can leave in urine or bile.</a:t>
            </a:r>
            <a:r>
              <a:rPr lang="en-US" sz="1300" dirty="0">
                <a:solidFill>
                  <a:srgbClr val="666666"/>
                </a:solidFill>
              </a:rPr>
              <a:t>  S5</a:t>
            </a:r>
            <a:endParaRPr lang="en-US" sz="1800" dirty="0"/>
          </a:p>
        </p:txBody>
      </p:sp>
      <p:sp>
        <p:nvSpPr>
          <p:cNvPr id="22" name="Mnemonic (memory aid) card"/>
          <p:cNvSpPr/>
          <p:nvPr/>
        </p:nvSpPr>
        <p:spPr>
          <a:xfrm>
            <a:off x="6278728" y="3552444"/>
            <a:ext cx="5364328" cy="1997964"/>
          </a:xfrm>
          <a:prstGeom prst="roundRect">
            <a:avLst>
              <a:gd name="adj" fmla="val 5492"/>
            </a:avLst>
          </a:prstGeom>
          <a:solidFill>
            <a:srgbClr val="F2F4F7"/>
          </a:solidFill>
          <a:ln w="12700">
            <a:solidFill>
              <a:srgbClr val="F2F4F7"/>
            </a:solidFill>
            <a:prstDash val="solid"/>
          </a:ln>
        </p:spPr>
      </p:sp>
      <p:sp>
        <p:nvSpPr>
          <p:cNvPr id="23" name="Mnemonic (memory aid) icon circle"/>
          <p:cNvSpPr/>
          <p:nvPr/>
        </p:nvSpPr>
        <p:spPr>
          <a:xfrm>
            <a:off x="6507328" y="3735324"/>
            <a:ext cx="438912" cy="438912"/>
          </a:xfrm>
          <a:prstGeom prst="ellipse">
            <a:avLst/>
          </a:prstGeom>
          <a:solidFill>
            <a:srgbClr val="7030A0"/>
          </a:solidFill>
          <a:ln w="12700">
            <a:solidFill>
              <a:srgbClr val="7030A0"/>
            </a:solidFill>
            <a:prstDash val="solid"/>
          </a:ln>
        </p:spPr>
      </p:sp>
      <p:pic>
        <p:nvPicPr>
          <p:cNvPr id="24" name="Mnemonic (memory aid) icon" descr="preencoded.png">    </p:cNvPr>
          <p:cNvPicPr>
            <a:picLocks noChangeAspect="1"/>
          </p:cNvPicPr>
          <p:nvPr/>
        </p:nvPicPr>
        <p:blipFill>
          <a:blip r:embed="rId4"/>
          <a:stretch>
            <a:fillRect/>
          </a:stretch>
        </p:blipFill>
        <p:spPr>
          <a:xfrm>
            <a:off x="6607912" y="3835908"/>
            <a:ext cx="237744" cy="237744"/>
          </a:xfrm>
          <a:prstGeom prst="rect">
            <a:avLst/>
          </a:prstGeom>
        </p:spPr>
      </p:pic>
      <p:sp>
        <p:nvSpPr>
          <p:cNvPr id="25" name="Mnemonic (memory aid) heading"/>
          <p:cNvSpPr txBox="1"/>
          <p:nvPr/>
        </p:nvSpPr>
        <p:spPr>
          <a:xfrm>
            <a:off x="7083400" y="3735324"/>
            <a:ext cx="4358488" cy="438912"/>
          </a:xfrm>
          <a:prstGeom prst="rect">
            <a:avLst/>
          </a:prstGeom>
          <a:noFill/>
          <a:ln/>
        </p:spPr>
        <p:txBody>
          <a:bodyPr wrap="square" lIns="0" tIns="0" rIns="0" bIns="0" rtlCol="0" anchor="ctr"/>
          <a:lstStyle/>
          <a:p>
            <a:pPr indent="0" marL="0">
              <a:buNone/>
            </a:pPr>
            <a:r>
              <a:rPr lang="en-US" sz="1800" b="1" dirty="0">
                <a:solidFill>
                  <a:srgbClr val="7030A0"/>
                </a:solidFill>
              </a:rPr>
              <a:t>Mnemonic (memory aid)</a:t>
            </a:r>
            <a:endParaRPr lang="en-US" sz="1800" dirty="0"/>
          </a:p>
        </p:txBody>
      </p:sp>
      <p:sp>
        <p:nvSpPr>
          <p:cNvPr id="26" name="Mnemonic (memory aid) body"/>
          <p:cNvSpPr txBox="1"/>
          <p:nvPr/>
        </p:nvSpPr>
        <p:spPr>
          <a:xfrm>
            <a:off x="6507328" y="4302252"/>
            <a:ext cx="4907128" cy="1129284"/>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IN</a:t>
            </a:r>
            <a:r>
              <a:rPr lang="en-US" sz="1800" dirty="0">
                <a:solidFill>
                  <a:srgbClr val="1F1F1F"/>
                </a:solidFill>
              </a:rPr>
              <a:t>hibitor = level goes </a:t>
            </a:r>
            <a:r>
              <a:rPr lang="en-US" sz="1800" b="1" dirty="0">
                <a:solidFill>
                  <a:srgbClr val="1F1F1F"/>
                </a:solidFill>
              </a:rPr>
              <a:t>IN</a:t>
            </a:r>
            <a:r>
              <a:rPr lang="en-US" sz="1800" dirty="0">
                <a:solidFill>
                  <a:srgbClr val="1F1F1F"/>
                </a:solidFill>
              </a:rPr>
              <a:t>to the danger zone (↑, toxicity). In</a:t>
            </a:r>
            <a:r>
              <a:rPr lang="en-US" sz="1800" b="1" dirty="0">
                <a:solidFill>
                  <a:srgbClr val="1F1F1F"/>
                </a:solidFill>
              </a:rPr>
              <a:t>DU</a:t>
            </a:r>
            <a:r>
              <a:rPr lang="en-US" sz="1800" dirty="0">
                <a:solidFill>
                  <a:srgbClr val="1F1F1F"/>
                </a:solidFill>
              </a:rPr>
              <a:t>cer = level goes </a:t>
            </a:r>
            <a:r>
              <a:rPr lang="en-US" sz="1800" b="1" dirty="0">
                <a:solidFill>
                  <a:srgbClr val="1F1F1F"/>
                </a:solidFill>
              </a:rPr>
              <a:t>D</a:t>
            </a:r>
            <a:r>
              <a:rPr lang="en-US" sz="1800" dirty="0">
                <a:solidFill>
                  <a:srgbClr val="1F1F1F"/>
                </a:solidFill>
              </a:rPr>
              <a:t>own (↓, failure).</a:t>
            </a:r>
            <a:r>
              <a:rPr lang="en-US" sz="1300" dirty="0">
                <a:solidFill>
                  <a:srgbClr val="666666"/>
                </a:solidFill>
              </a:rPr>
              <a:t>  S6; S7 (notes)</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METABOLISM &amp; CYP450 INTERACTIONS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High-yield summary</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21</a:t>
            </a:r>
            <a:endParaRPr lang="en-US" sz="1000" dirty="0"/>
          </a:p>
        </p:txBody>
      </p:sp>
      <p:sp>
        <p:nvSpPr>
          <p:cNvPr id="7" name="If you remember nothing else card"/>
          <p:cNvSpPr/>
          <p:nvPr/>
        </p:nvSpPr>
        <p:spPr>
          <a:xfrm>
            <a:off x="548640" y="1325880"/>
            <a:ext cx="11094415" cy="2606040"/>
          </a:xfrm>
          <a:prstGeom prst="roundRect">
            <a:avLst>
              <a:gd name="adj" fmla="val 4211"/>
            </a:avLst>
          </a:prstGeom>
          <a:solidFill>
            <a:srgbClr val="F2F4F7"/>
          </a:solidFill>
          <a:ln w="12700">
            <a:solidFill>
              <a:srgbClr val="F2F4F7"/>
            </a:solidFill>
            <a:prstDash val="solid"/>
          </a:ln>
        </p:spPr>
      </p:sp>
      <p:sp>
        <p:nvSpPr>
          <p:cNvPr id="8" name="If you remember nothing else icon circle"/>
          <p:cNvSpPr/>
          <p:nvPr/>
        </p:nvSpPr>
        <p:spPr>
          <a:xfrm>
            <a:off x="777240" y="1508760"/>
            <a:ext cx="438912" cy="438912"/>
          </a:xfrm>
          <a:prstGeom prst="ellipse">
            <a:avLst/>
          </a:prstGeom>
          <a:solidFill>
            <a:srgbClr val="C55A11"/>
          </a:solidFill>
          <a:ln w="12700">
            <a:solidFill>
              <a:srgbClr val="C55A11"/>
            </a:solidFill>
            <a:prstDash val="solid"/>
          </a:ln>
        </p:spPr>
      </p:sp>
      <p:pic>
        <p:nvPicPr>
          <p:cNvPr id="9" name="If you remember nothing else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If you remember nothing else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C55A11"/>
                </a:solidFill>
              </a:rPr>
              <a:t>If you remember nothing else</a:t>
            </a:r>
            <a:endParaRPr lang="en-US" sz="1800" dirty="0"/>
          </a:p>
        </p:txBody>
      </p:sp>
      <p:sp>
        <p:nvSpPr>
          <p:cNvPr id="11" name="If you remember nothing else body"/>
          <p:cNvSpPr txBox="1"/>
          <p:nvPr/>
        </p:nvSpPr>
        <p:spPr>
          <a:xfrm>
            <a:off x="777240" y="2075688"/>
            <a:ext cx="10637215" cy="173736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Phase I (CYP450): oxidation, reduction, hydrolysis. Phase II: conjugation → water-soluble.</a:t>
            </a:r>
            <a:r>
              <a:rPr lang="en-US" sz="1300" dirty="0">
                <a:solidFill>
                  <a:srgbClr val="666666"/>
                </a:solidFill>
              </a:rPr>
              <a:t>  S5</a:t>
            </a:r>
            <a:endParaRPr lang="en-US" sz="1800" dirty="0"/>
          </a:p>
          <a:p>
            <a:pPr marL="228600" indent="-228600">
              <a:spcAft>
                <a:spcPts val="800"/>
              </a:spcAft>
              <a:buSzPct val="100000"/>
              <a:buChar char="•"/>
            </a:pPr>
            <a:r>
              <a:rPr lang="en-US" sz="1800" b="1" dirty="0">
                <a:solidFill>
                  <a:srgbClr val="1F1F1F"/>
                </a:solidFill>
              </a:rPr>
              <a:t>Inhibitor → substrate ↑ → toxicity</a:t>
            </a:r>
            <a:r>
              <a:rPr lang="en-US" sz="1800" dirty="0">
                <a:solidFill>
                  <a:srgbClr val="1F1F1F"/>
                </a:solidFill>
              </a:rPr>
              <a:t>; </a:t>
            </a:r>
            <a:r>
              <a:rPr lang="en-US" sz="1800" b="1" dirty="0">
                <a:solidFill>
                  <a:srgbClr val="1F1F1F"/>
                </a:solidFill>
              </a:rPr>
              <a:t>inducer → substrate ↓ → therapeutic failure</a:t>
            </a:r>
            <a:r>
              <a:rPr lang="en-US" sz="1800" dirty="0">
                <a:solidFill>
                  <a:srgbClr val="1F1F1F"/>
                </a:solidFill>
              </a:rPr>
              <a:t>.</a:t>
            </a:r>
            <a:r>
              <a:rPr lang="en-US" sz="1300" dirty="0">
                <a:solidFill>
                  <a:srgbClr val="666666"/>
                </a:solidFill>
              </a:rPr>
              <a:t>  S6; S7 (notes)</a:t>
            </a:r>
            <a:endParaRPr lang="en-US" sz="1800" dirty="0"/>
          </a:p>
          <a:p>
            <a:pPr marL="228600" indent="-228600">
              <a:spcAft>
                <a:spcPts val="800"/>
              </a:spcAft>
              <a:buSzPct val="100000"/>
              <a:buChar char="•"/>
            </a:pPr>
            <a:r>
              <a:rPr lang="en-US" sz="1800" dirty="0">
                <a:solidFill>
                  <a:srgbClr val="1F1F1F"/>
                </a:solidFill>
              </a:rPr>
              <a:t>Narrow-TI substrate + CYP inhibitor = especially dangerous.</a:t>
            </a:r>
            <a:r>
              <a:rPr lang="en-US" sz="1300" dirty="0">
                <a:solidFill>
                  <a:srgbClr val="666666"/>
                </a:solidFill>
              </a:rPr>
              <a:t>  S11</a:t>
            </a:r>
            <a:endParaRPr lang="en-US" sz="1800" dirty="0"/>
          </a:p>
          <a:p>
            <a:pPr marL="228600" indent="-228600">
              <a:spcAft>
                <a:spcPts val="800"/>
              </a:spcAft>
              <a:buSzPct val="100000"/>
              <a:buChar char="•"/>
            </a:pPr>
            <a:r>
              <a:rPr lang="en-US" sz="1800" dirty="0">
                <a:solidFill>
                  <a:srgbClr val="1F1F1F"/>
                </a:solidFill>
              </a:rPr>
              <a:t>Metabolism can produce toxic metabolites (e.g., NAPQI).</a:t>
            </a:r>
            <a:r>
              <a:rPr lang="en-US" sz="1300" dirty="0">
                <a:solidFill>
                  <a:srgbClr val="666666"/>
                </a:solidFill>
              </a:rPr>
              <a:t>  S4; S4 (notes)</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LECTURE QUICK CHECK S8-9</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1</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22</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In Figure 6, the "+ Enzyme inhibitor" bar rises to 240% of baseline, while the "+ Enzyme inducer" bar falls to 42%. For a patient on a stable dose of the substrate drug, which condition poses the greatest risk of toxicity?</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Enzyme inhibition, because it raises the substrate drug's blood level</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Both equally, because any CYP change doubles the toxicity risk</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Neither condition, because CYP changes do not alter drug levels</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Enzyme induction, because it lowers the substrate drug's blood level</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Normal metabolism, because the substrate is cleared at baseline</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1: A</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23</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A. </a:t>
            </a:r>
            <a:r>
              <a:rPr lang="en-US" sz="1600" b="1" dirty="0">
                <a:solidFill>
                  <a:srgbClr val="1F1F1F"/>
                </a:solidFill>
              </a:rPr>
              <a:t>Enzyme inhibition, because it raises the substrate drug's blood level</a:t>
            </a:r>
            <a:endParaRPr lang="en-US" sz="1600" dirty="0"/>
          </a:p>
        </p:txBody>
      </p:sp>
      <p:sp>
        <p:nvSpPr>
          <p:cNvPr id="10" name="Why correct"/>
          <p:cNvSpPr txBox="1"/>
          <p:nvPr/>
        </p:nvSpPr>
        <p:spPr>
          <a:xfrm>
            <a:off x="777240" y="2011680"/>
            <a:ext cx="10637215" cy="724408"/>
          </a:xfrm>
          <a:prstGeom prst="rect">
            <a:avLst/>
          </a:prstGeom>
          <a:noFill/>
          <a:ln/>
        </p:spPr>
        <p:txBody>
          <a:bodyPr wrap="square" lIns="0" tIns="0" rIns="0" bIns="0" rtlCol="0" anchor="t"/>
          <a:lstStyle/>
          <a:p>
            <a:pPr indent="0" marL="0">
              <a:buNone/>
            </a:pPr>
            <a:r>
              <a:rPr lang="en-US" sz="1600" dirty="0">
                <a:solidFill>
                  <a:srgbClr val="1F1F1F"/>
                </a:solidFill>
              </a:rPr>
              <a:t>The inhibitor bar at 240% shows the substrate accumulating because it can no longer be cleared normally, raising toxicity risk (S9).</a:t>
            </a:r>
            <a:r>
              <a:rPr lang="en-US" sz="1100" dirty="0">
                <a:solidFill>
                  <a:srgbClr val="666666"/>
                </a:solidFill>
              </a:rPr>
              <a:t>  S7; S8-9</a:t>
            </a:r>
            <a:endParaRPr lang="en-US" sz="1600" dirty="0"/>
          </a:p>
        </p:txBody>
      </p:sp>
      <p:sp>
        <p:nvSpPr>
          <p:cNvPr id="11" name="Why others wrong card"/>
          <p:cNvSpPr/>
          <p:nvPr/>
        </p:nvSpPr>
        <p:spPr>
          <a:xfrm>
            <a:off x="548640" y="2873248"/>
            <a:ext cx="11094415" cy="2200656"/>
          </a:xfrm>
          <a:prstGeom prst="roundRect">
            <a:avLst>
              <a:gd name="adj" fmla="val 4155"/>
            </a:avLst>
          </a:prstGeom>
          <a:solidFill>
            <a:srgbClr val="F2F4F7"/>
          </a:solidFill>
          <a:ln w="12700">
            <a:solidFill>
              <a:srgbClr val="F2F4F7"/>
            </a:solidFill>
            <a:prstDash val="solid"/>
          </a:ln>
        </p:spPr>
      </p:sp>
      <p:sp>
        <p:nvSpPr>
          <p:cNvPr id="12" name="Why others wrong"/>
          <p:cNvSpPr txBox="1"/>
          <p:nvPr/>
        </p:nvSpPr>
        <p:spPr>
          <a:xfrm>
            <a:off x="777240" y="2982976"/>
            <a:ext cx="10637215" cy="2017776"/>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B. Both equally, because any CYP change doubles the toxicity risk — </a:t>
            </a:r>
            <a:r>
              <a:rPr lang="en-US" sz="1600" dirty="0">
                <a:solidFill>
                  <a:srgbClr val="1F1F1F"/>
                </a:solidFill>
              </a:rPr>
              <a:t>Only inhibition raises the level; induction lowers it (S6, S9).</a:t>
            </a:r>
            <a:endParaRPr lang="en-US" sz="1600" dirty="0"/>
          </a:p>
          <a:p>
            <a:pPr indent="0" marL="0">
              <a:buNone/>
            </a:pPr>
            <a:r>
              <a:rPr lang="en-US" sz="1600" b="1" dirty="0">
                <a:solidFill>
                  <a:srgbClr val="1F1F1F"/>
                </a:solidFill>
              </a:rPr>
              <a:t>C. Neither condition, because CYP changes do not alter drug levels — </a:t>
            </a:r>
            <a:r>
              <a:rPr lang="en-US" sz="1600" dirty="0">
                <a:solidFill>
                  <a:srgbClr val="1F1F1F"/>
                </a:solidFill>
              </a:rPr>
              <a:t>Both conditions clearly change the substrate's level (S7).</a:t>
            </a:r>
            <a:endParaRPr lang="en-US" sz="1600" dirty="0"/>
          </a:p>
          <a:p>
            <a:pPr indent="0" marL="0">
              <a:buNone/>
            </a:pPr>
            <a:r>
              <a:rPr lang="en-US" sz="1600" b="1" dirty="0">
                <a:solidFill>
                  <a:srgbClr val="1F1F1F"/>
                </a:solidFill>
              </a:rPr>
              <a:t>D. Enzyme induction, because it lowers the substrate drug's blood level — </a:t>
            </a:r>
            <a:r>
              <a:rPr lang="en-US" sz="1600" dirty="0">
                <a:solidFill>
                  <a:srgbClr val="1F1F1F"/>
                </a:solidFill>
              </a:rPr>
              <a:t>The inducer bar (42%) shows the opposite problem — therapeutic failure, not toxicity (S9).</a:t>
            </a:r>
            <a:endParaRPr lang="en-US" sz="1600" dirty="0"/>
          </a:p>
          <a:p>
            <a:pPr indent="0" marL="0">
              <a:buNone/>
            </a:pPr>
            <a:r>
              <a:rPr lang="en-US" sz="1600" b="1" dirty="0">
                <a:solidFill>
                  <a:srgbClr val="1F1F1F"/>
                </a:solidFill>
              </a:rPr>
              <a:t>E. Normal metabolism, because the substrate is cleared at baseline — </a:t>
            </a:r>
            <a:r>
              <a:rPr lang="en-US" sz="1600" dirty="0">
                <a:solidFill>
                  <a:srgbClr val="1F1F1F"/>
                </a:solidFill>
              </a:rPr>
              <a:t>Baseline (100%) is the reference level, not the highest-risk state (S7-9).</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LECTURE QUICK CHECK S10-11</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2</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24</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A patient stable on a CYP3A4-substrate medication with a narrow therapeutic index is started on a new drug that is a strong CYP3A4 inhibitor. What is the most likely consequence?</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Decreased substrate drug level and reduced drug effect</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No change, since CYP3A4 only affects Phase II metabolism</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Increased substrate drug level and increased toxicity risk</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Decreased substrate level from faster CYP3A4 clearance</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Increased renal clearance of the substrate drug overall</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2: C</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25</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C. </a:t>
            </a:r>
            <a:r>
              <a:rPr lang="en-US" sz="1600" b="1" dirty="0">
                <a:solidFill>
                  <a:srgbClr val="1F1F1F"/>
                </a:solidFill>
              </a:rPr>
              <a:t>Increased substrate drug level and increased toxicity risk</a:t>
            </a:r>
            <a:endParaRPr lang="en-US" sz="1600" dirty="0"/>
          </a:p>
        </p:txBody>
      </p:sp>
      <p:sp>
        <p:nvSpPr>
          <p:cNvPr id="10" name="Why correct"/>
          <p:cNvSpPr txBox="1"/>
          <p:nvPr/>
        </p:nvSpPr>
        <p:spPr>
          <a:xfrm>
            <a:off x="777240" y="2011680"/>
            <a:ext cx="10637215" cy="724408"/>
          </a:xfrm>
          <a:prstGeom prst="rect">
            <a:avLst/>
          </a:prstGeom>
          <a:noFill/>
          <a:ln/>
        </p:spPr>
        <p:txBody>
          <a:bodyPr wrap="square" lIns="0" tIns="0" rIns="0" bIns="0" rtlCol="0" anchor="t"/>
          <a:lstStyle/>
          <a:p>
            <a:pPr indent="0" marL="0">
              <a:buNone/>
            </a:pPr>
            <a:r>
              <a:rPr lang="en-US" sz="1600" dirty="0">
                <a:solidFill>
                  <a:srgbClr val="1F1F1F"/>
                </a:solidFill>
              </a:rPr>
              <a:t>Inhibiting the CYP enzyme that clears the substrate slows its metabolism and raises its level — especially dangerous with a narrow therapeutic index (S11).</a:t>
            </a:r>
            <a:r>
              <a:rPr lang="en-US" sz="1100" dirty="0">
                <a:solidFill>
                  <a:srgbClr val="666666"/>
                </a:solidFill>
              </a:rPr>
              <a:t>  S10-11</a:t>
            </a:r>
            <a:endParaRPr lang="en-US" sz="1600" dirty="0"/>
          </a:p>
        </p:txBody>
      </p:sp>
      <p:sp>
        <p:nvSpPr>
          <p:cNvPr id="11" name="Why others wrong card"/>
          <p:cNvSpPr/>
          <p:nvPr/>
        </p:nvSpPr>
        <p:spPr>
          <a:xfrm>
            <a:off x="548640" y="2873248"/>
            <a:ext cx="11094415" cy="2200656"/>
          </a:xfrm>
          <a:prstGeom prst="roundRect">
            <a:avLst>
              <a:gd name="adj" fmla="val 4155"/>
            </a:avLst>
          </a:prstGeom>
          <a:solidFill>
            <a:srgbClr val="F2F4F7"/>
          </a:solidFill>
          <a:ln w="12700">
            <a:solidFill>
              <a:srgbClr val="F2F4F7"/>
            </a:solidFill>
            <a:prstDash val="solid"/>
          </a:ln>
        </p:spPr>
      </p:sp>
      <p:sp>
        <p:nvSpPr>
          <p:cNvPr id="12" name="Why others wrong"/>
          <p:cNvSpPr txBox="1"/>
          <p:nvPr/>
        </p:nvSpPr>
        <p:spPr>
          <a:xfrm>
            <a:off x="777240" y="2982976"/>
            <a:ext cx="10637215" cy="2017776"/>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Decreased substrate drug level and reduced drug effect — </a:t>
            </a:r>
            <a:r>
              <a:rPr lang="en-US" sz="1600" dirty="0">
                <a:solidFill>
                  <a:srgbClr val="1F1F1F"/>
                </a:solidFill>
              </a:rPr>
              <a:t>That is the effect of an INDUCER, not an inhibitor (S6).</a:t>
            </a:r>
            <a:endParaRPr lang="en-US" sz="1600" dirty="0"/>
          </a:p>
          <a:p>
            <a:pPr indent="0" marL="0">
              <a:buNone/>
            </a:pPr>
            <a:r>
              <a:rPr lang="en-US" sz="1600" b="1" dirty="0">
                <a:solidFill>
                  <a:srgbClr val="1F1F1F"/>
                </a:solidFill>
              </a:rPr>
              <a:t>B. No change, since CYP3A4 only affects Phase II metabolism — </a:t>
            </a:r>
            <a:r>
              <a:rPr lang="en-US" sz="1600" dirty="0">
                <a:solidFill>
                  <a:srgbClr val="1F1F1F"/>
                </a:solidFill>
              </a:rPr>
              <a:t>CYP450 enzymes carry out Phase I metabolism (S5).</a:t>
            </a:r>
            <a:endParaRPr lang="en-US" sz="1600" dirty="0"/>
          </a:p>
          <a:p>
            <a:pPr indent="0" marL="0">
              <a:buNone/>
            </a:pPr>
            <a:r>
              <a:rPr lang="en-US" sz="1600" b="1" dirty="0">
                <a:solidFill>
                  <a:srgbClr val="1F1F1F"/>
                </a:solidFill>
              </a:rPr>
              <a:t>D. Decreased substrate level from faster CYP3A4 clearance — </a:t>
            </a:r>
            <a:r>
              <a:rPr lang="en-US" sz="1600" dirty="0">
                <a:solidFill>
                  <a:srgbClr val="1F1F1F"/>
                </a:solidFill>
              </a:rPr>
              <a:t>Faster clearance describes induction; an inhibitor slows clearance (S6).</a:t>
            </a:r>
            <a:endParaRPr lang="en-US" sz="1600" dirty="0"/>
          </a:p>
          <a:p>
            <a:pPr indent="0" marL="0">
              <a:buNone/>
            </a:pPr>
            <a:r>
              <a:rPr lang="en-US" sz="1600" b="1" dirty="0">
                <a:solidFill>
                  <a:srgbClr val="1F1F1F"/>
                </a:solidFill>
              </a:rPr>
              <a:t>E. Increased renal clearance of the substrate drug overall — </a:t>
            </a:r>
            <a:r>
              <a:rPr lang="en-US" sz="1600" dirty="0">
                <a:solidFill>
                  <a:srgbClr val="1F1F1F"/>
                </a:solidFill>
              </a:rPr>
              <a:t>A CYP inhibitor slows metabolic clearance; it doesn't raise renal clearance (S6, S11).</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LECTURE QUICK CHECK S47-48</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3</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26</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Drug A, a CYP enzyme inducer, is started in a patient taking Drug B, a substrate of that same CYP enzyme. What happens to Drug B's level and effect?</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Decreases, risking therapeutic failure</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No change in level or effect</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Increases, raising toxicity risk</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Elimination changes to biliary</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Increases, then quickly normalizes</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3: A</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27</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A. </a:t>
            </a:r>
            <a:r>
              <a:rPr lang="en-US" sz="1600" b="1" dirty="0">
                <a:solidFill>
                  <a:srgbClr val="1F1F1F"/>
                </a:solidFill>
              </a:rPr>
              <a:t>Decreases, risking therapeutic failure</a:t>
            </a:r>
            <a:endParaRPr lang="en-US" sz="1600" dirty="0"/>
          </a:p>
        </p:txBody>
      </p:sp>
      <p:sp>
        <p:nvSpPr>
          <p:cNvPr id="10" name="Why correct"/>
          <p:cNvSpPr txBox="1"/>
          <p:nvPr/>
        </p:nvSpPr>
        <p:spPr>
          <a:xfrm>
            <a:off x="777240" y="2011680"/>
            <a:ext cx="10637215" cy="476504"/>
          </a:xfrm>
          <a:prstGeom prst="rect">
            <a:avLst/>
          </a:prstGeom>
          <a:noFill/>
          <a:ln/>
        </p:spPr>
        <p:txBody>
          <a:bodyPr wrap="square" lIns="0" tIns="0" rIns="0" bIns="0" rtlCol="0" anchor="t"/>
          <a:lstStyle/>
          <a:p>
            <a:pPr indent="0" marL="0">
              <a:buNone/>
            </a:pPr>
            <a:r>
              <a:rPr lang="en-US" sz="1600" dirty="0">
                <a:solidFill>
                  <a:srgbClr val="1F1F1F"/>
                </a:solidFill>
              </a:rPr>
              <a:t>Enzyme induction speeds substrate clearance, lowering its level and effect — the opposite of inhibition (S48).</a:t>
            </a:r>
            <a:r>
              <a:rPr lang="en-US" sz="1100" dirty="0">
                <a:solidFill>
                  <a:srgbClr val="666666"/>
                </a:solidFill>
              </a:rPr>
              <a:t>  S47-48</a:t>
            </a:r>
            <a:endParaRPr lang="en-US" sz="1600" dirty="0"/>
          </a:p>
        </p:txBody>
      </p:sp>
      <p:sp>
        <p:nvSpPr>
          <p:cNvPr id="11" name="Why others wrong card"/>
          <p:cNvSpPr/>
          <p:nvPr/>
        </p:nvSpPr>
        <p:spPr>
          <a:xfrm>
            <a:off x="548640" y="2625344"/>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735072"/>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B. No change in level or effect — </a:t>
            </a:r>
            <a:r>
              <a:rPr lang="en-US" sz="1600" dirty="0">
                <a:solidFill>
                  <a:srgbClr val="1F1F1F"/>
                </a:solidFill>
              </a:rPr>
              <a:t>Induction lowers the level and effect of drugs that CYP clears (S6).</a:t>
            </a:r>
            <a:endParaRPr lang="en-US" sz="1600" dirty="0"/>
          </a:p>
          <a:p>
            <a:pPr indent="0" marL="0">
              <a:buNone/>
            </a:pPr>
            <a:r>
              <a:rPr lang="en-US" sz="1600" b="1" dirty="0">
                <a:solidFill>
                  <a:srgbClr val="1F1F1F"/>
                </a:solidFill>
              </a:rPr>
              <a:t>C. Increases, raising toxicity risk — </a:t>
            </a:r>
            <a:r>
              <a:rPr lang="en-US" sz="1600" dirty="0">
                <a:solidFill>
                  <a:srgbClr val="1F1F1F"/>
                </a:solidFill>
              </a:rPr>
              <a:t>Rising levels and toxicity follow an INHIBITOR (S6).</a:t>
            </a:r>
            <a:endParaRPr lang="en-US" sz="1600" dirty="0"/>
          </a:p>
          <a:p>
            <a:pPr indent="0" marL="0">
              <a:buNone/>
            </a:pPr>
            <a:r>
              <a:rPr lang="en-US" sz="1600" b="1" dirty="0">
                <a:solidFill>
                  <a:srgbClr val="1F1F1F"/>
                </a:solidFill>
              </a:rPr>
              <a:t>D. Elimination changes to biliary — </a:t>
            </a:r>
            <a:r>
              <a:rPr lang="en-US" sz="1600" dirty="0">
                <a:solidFill>
                  <a:srgbClr val="1F1F1F"/>
                </a:solidFill>
              </a:rPr>
              <a:t>Induction changes how fast the drug is cleared, not its route (S48).</a:t>
            </a:r>
            <a:endParaRPr lang="en-US" sz="1600" dirty="0"/>
          </a:p>
          <a:p>
            <a:pPr indent="0" marL="0">
              <a:buNone/>
            </a:pPr>
            <a:r>
              <a:rPr lang="en-US" sz="1600" b="1" dirty="0">
                <a:solidFill>
                  <a:srgbClr val="1F1F1F"/>
                </a:solidFill>
              </a:rPr>
              <a:t>E. Increases, then quickly normalizes — </a:t>
            </a:r>
            <a:r>
              <a:rPr lang="en-US" sz="1600" dirty="0">
                <a:solidFill>
                  <a:srgbClr val="1F1F1F"/>
                </a:solidFill>
              </a:rPr>
              <a:t>Induction lowers, not raises, the substrate level (S6, S48).</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5</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28</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A 19-year-old arrives 6 hours after a large intentional acetaminophen ingestion. Labs are pending. Which treatment best protects against fulminant liver injury?</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Sodium bicarbonate to alkalinize the urine and speed excretion</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N-acetylcysteine, started within the 8–16 hour window</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Protamine to bind and neutralize the circulating drug</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Rifampin to induce CYP enzymes and clear the drug faster</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Waiting for levels before giving any treatment at all</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5: B</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SO1 · IO1.2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29</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B. </a:t>
            </a:r>
            <a:r>
              <a:rPr lang="en-US" sz="1600" b="1" dirty="0">
                <a:solidFill>
                  <a:srgbClr val="1F1F1F"/>
                </a:solidFill>
              </a:rPr>
              <a:t>N-acetylcysteine, started within the 8–16 hour window</a:t>
            </a:r>
            <a:endParaRPr lang="en-US" sz="1600" dirty="0"/>
          </a:p>
        </p:txBody>
      </p:sp>
      <p:sp>
        <p:nvSpPr>
          <p:cNvPr id="10" name="Why correct"/>
          <p:cNvSpPr txBox="1"/>
          <p:nvPr/>
        </p:nvSpPr>
        <p:spPr>
          <a:xfrm>
            <a:off x="777240" y="2011680"/>
            <a:ext cx="10637215" cy="724408"/>
          </a:xfrm>
          <a:prstGeom prst="rect">
            <a:avLst/>
          </a:prstGeom>
          <a:noFill/>
          <a:ln/>
        </p:spPr>
        <p:txBody>
          <a:bodyPr wrap="square" lIns="0" tIns="0" rIns="0" bIns="0" rtlCol="0" anchor="t"/>
          <a:lstStyle/>
          <a:p>
            <a:pPr indent="0" marL="0">
              <a:buNone/>
            </a:pPr>
            <a:r>
              <a:rPr lang="en-US" sz="1600" dirty="0">
                <a:solidFill>
                  <a:srgbClr val="1F1F1F"/>
                </a:solidFill>
              </a:rPr>
              <a:t>N-acetylcysteine given within 8–16 hours protects against acetaminophen hepatotoxicity by replacing depleted glutathione (p. 66).</a:t>
            </a:r>
            <a:r>
              <a:rPr lang="en-US" sz="1100" dirty="0">
                <a:solidFill>
                  <a:srgbClr val="666666"/>
                </a:solidFill>
              </a:rPr>
              <a:t>  p. 66</a:t>
            </a:r>
            <a:endParaRPr lang="en-US" sz="1600" dirty="0"/>
          </a:p>
        </p:txBody>
      </p:sp>
      <p:sp>
        <p:nvSpPr>
          <p:cNvPr id="11" name="Why others wrong card"/>
          <p:cNvSpPr/>
          <p:nvPr/>
        </p:nvSpPr>
        <p:spPr>
          <a:xfrm>
            <a:off x="548640" y="2873248"/>
            <a:ext cx="11094415" cy="2448560"/>
          </a:xfrm>
          <a:prstGeom prst="roundRect">
            <a:avLst>
              <a:gd name="adj" fmla="val 3734"/>
            </a:avLst>
          </a:prstGeom>
          <a:solidFill>
            <a:srgbClr val="F2F4F7"/>
          </a:solidFill>
          <a:ln w="12700">
            <a:solidFill>
              <a:srgbClr val="F2F4F7"/>
            </a:solidFill>
            <a:prstDash val="solid"/>
          </a:ln>
        </p:spPr>
      </p:sp>
      <p:sp>
        <p:nvSpPr>
          <p:cNvPr id="12" name="Why others wrong"/>
          <p:cNvSpPr txBox="1"/>
          <p:nvPr/>
        </p:nvSpPr>
        <p:spPr>
          <a:xfrm>
            <a:off x="777240" y="2982976"/>
            <a:ext cx="10637215" cy="2265680"/>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Sodium bicarbonate to alkalinize the urine and speed excretion — </a:t>
            </a:r>
            <a:r>
              <a:rPr lang="en-US" sz="1600" dirty="0">
                <a:solidFill>
                  <a:srgbClr val="1F1F1F"/>
                </a:solidFill>
              </a:rPr>
              <a:t>Urine alkalinization is used for aspirin overdose, a weak acid (p. 20).</a:t>
            </a:r>
            <a:endParaRPr lang="en-US" sz="1600" dirty="0"/>
          </a:p>
          <a:p>
            <a:pPr indent="0" marL="0">
              <a:buNone/>
            </a:pPr>
            <a:r>
              <a:rPr lang="en-US" sz="1600" b="1" dirty="0">
                <a:solidFill>
                  <a:srgbClr val="1F1F1F"/>
                </a:solidFill>
              </a:rPr>
              <a:t>C. Protamine to bind and neutralize the circulating drug — </a:t>
            </a:r>
            <a:r>
              <a:rPr lang="en-US" sz="1600" dirty="0">
                <a:solidFill>
                  <a:srgbClr val="1F1F1F"/>
                </a:solidFill>
              </a:rPr>
              <a:t>Protamine neutralizes heparin (p. 26), not acetaminophen.</a:t>
            </a:r>
            <a:endParaRPr lang="en-US" sz="1600" dirty="0"/>
          </a:p>
          <a:p>
            <a:pPr indent="0" marL="0">
              <a:buNone/>
            </a:pPr>
            <a:r>
              <a:rPr lang="en-US" sz="1600" b="1" dirty="0">
                <a:solidFill>
                  <a:srgbClr val="1F1F1F"/>
                </a:solidFill>
              </a:rPr>
              <a:t>D. Rifampin to induce CYP enzymes and clear the drug faster — </a:t>
            </a:r>
            <a:r>
              <a:rPr lang="en-US" sz="1600" dirty="0">
                <a:solidFill>
                  <a:srgbClr val="1F1F1F"/>
                </a:solidFill>
              </a:rPr>
              <a:t>Induction would increase toxic metabolite formation, not protect the liver (p. 66).</a:t>
            </a:r>
            <a:endParaRPr lang="en-US" sz="1600" dirty="0"/>
          </a:p>
          <a:p>
            <a:pPr indent="0" marL="0">
              <a:buNone/>
            </a:pPr>
            <a:r>
              <a:rPr lang="en-US" sz="1600" b="1" dirty="0">
                <a:solidFill>
                  <a:srgbClr val="1F1F1F"/>
                </a:solidFill>
              </a:rPr>
              <a:t>E. Waiting for levels before giving any treatment at all — </a:t>
            </a:r>
            <a:r>
              <a:rPr lang="en-US" sz="1600" dirty="0">
                <a:solidFill>
                  <a:srgbClr val="1F1F1F"/>
                </a:solidFill>
              </a:rPr>
              <a:t>The protective window is 8–16 hours, so delay risks liver failure (p. 66).</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F4F8A"/>
        </a:solidFill>
      </p:bgPr>
    </p:bg>
    <p:spTree>
      <p:nvGrpSpPr>
        <p:cNvPr id="1" name=""/>
        <p:cNvGrpSpPr/>
        <p:nvPr/>
      </p:nvGrpSpPr>
      <p:grpSpPr>
        <a:xfrm>
          <a:off x="0" y="0"/>
          <a:ext cx="0" cy="0"/>
          <a:chOff x="0" y="0"/>
          <a:chExt cx="0" cy="0"/>
        </a:xfrm>
      </p:grpSpPr>
      <p:sp>
        <p:nvSpPr>
          <p:cNvPr id="2" name="Text 0"/>
          <p:cNvSpPr txBox="1"/>
          <p:nvPr/>
        </p:nvSpPr>
        <p:spPr>
          <a:xfrm>
            <a:off x="548640" y="1463040"/>
            <a:ext cx="7315200" cy="365760"/>
          </a:xfrm>
          <a:prstGeom prst="rect">
            <a:avLst/>
          </a:prstGeom>
          <a:noFill/>
          <a:ln/>
        </p:spPr>
        <p:txBody>
          <a:bodyPr wrap="square" lIns="0" tIns="0" rIns="0" bIns="0" rtlCol="0" anchor="ctr"/>
          <a:lstStyle/>
          <a:p>
            <a:pPr indent="0" marL="0">
              <a:buNone/>
            </a:pPr>
            <a:r>
              <a:rPr lang="en-US" sz="1600" b="1" dirty="0">
                <a:solidFill>
                  <a:srgbClr val="D6E0F5"/>
                </a:solidFill>
              </a:rPr>
              <a:t>Topic 2 of 5</a:t>
            </a:r>
            <a:endParaRPr lang="en-US" sz="1600" dirty="0"/>
          </a:p>
        </p:txBody>
      </p:sp>
      <p:sp>
        <p:nvSpPr>
          <p:cNvPr id="3" name="Title"/>
          <p:cNvSpPr txBox="1"/>
          <p:nvPr/>
        </p:nvSpPr>
        <p:spPr>
          <a:xfrm>
            <a:off x="548640" y="1874520"/>
            <a:ext cx="11094415" cy="118872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Drug Excretion &amp; Renal Dosing</a:t>
            </a:r>
            <a:endParaRPr lang="en-US" sz="4400" dirty="0"/>
          </a:p>
        </p:txBody>
      </p:sp>
      <p:sp>
        <p:nvSpPr>
          <p:cNvPr id="4" name="Text 2"/>
          <p:cNvSpPr txBox="1"/>
          <p:nvPr/>
        </p:nvSpPr>
        <p:spPr>
          <a:xfrm>
            <a:off x="548640" y="3108960"/>
            <a:ext cx="9144000" cy="365760"/>
          </a:xfrm>
          <a:prstGeom prst="rect">
            <a:avLst/>
          </a:prstGeom>
          <a:noFill/>
          <a:ln/>
        </p:spPr>
        <p:txBody>
          <a:bodyPr wrap="square" lIns="0" tIns="0" rIns="0" bIns="0" rtlCol="0" anchor="ctr"/>
          <a:lstStyle/>
          <a:p>
            <a:pPr indent="0" marL="0">
              <a:buNone/>
            </a:pPr>
            <a:r>
              <a:rPr lang="en-US" sz="1800" dirty="0">
                <a:solidFill>
                  <a:srgbClr val="D6E0F5"/>
                </a:solidFill>
              </a:rPr>
              <a:t>Covers objectives: SO2 · IO1.2 · IO1.3 · IO1.5</a:t>
            </a:r>
            <a:endParaRPr lang="en-US" sz="1800" dirty="0"/>
          </a:p>
        </p:txBody>
      </p:sp>
      <p:sp>
        <p:nvSpPr>
          <p:cNvPr id="5" name="Shape 3"/>
          <p:cNvSpPr/>
          <p:nvPr/>
        </p:nvSpPr>
        <p:spPr>
          <a:xfrm>
            <a:off x="1338042" y="4297680"/>
            <a:ext cx="640080" cy="640080"/>
          </a:xfrm>
          <a:prstGeom prst="ellipse">
            <a:avLst/>
          </a:prstGeom>
          <a:solidFill>
            <a:srgbClr val="44546A"/>
          </a:solidFill>
          <a:ln w="1905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1493490" y="4453128"/>
            <a:ext cx="329184" cy="329184"/>
          </a:xfrm>
          <a:prstGeom prst="rect">
            <a:avLst/>
          </a:prstGeom>
        </p:spPr>
      </p:pic>
      <p:sp>
        <p:nvSpPr>
          <p:cNvPr id="7" name="Text 4"/>
          <p:cNvSpPr txBox="1"/>
          <p:nvPr/>
        </p:nvSpPr>
        <p:spPr>
          <a:xfrm>
            <a:off x="594360"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Key definitions</a:t>
            </a:r>
            <a:endParaRPr lang="en-US" sz="1200" dirty="0"/>
          </a:p>
        </p:txBody>
      </p:sp>
      <p:sp>
        <p:nvSpPr>
          <p:cNvPr id="8" name="Shape 5"/>
          <p:cNvSpPr/>
          <p:nvPr/>
        </p:nvSpPr>
        <p:spPr>
          <a:xfrm>
            <a:off x="3556925" y="4297680"/>
            <a:ext cx="640080" cy="640080"/>
          </a:xfrm>
          <a:prstGeom prst="ellipse">
            <a:avLst/>
          </a:prstGeom>
          <a:solidFill>
            <a:srgbClr val="7030A0"/>
          </a:solidFill>
          <a:ln w="1905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3712373" y="4453128"/>
            <a:ext cx="329184" cy="329184"/>
          </a:xfrm>
          <a:prstGeom prst="rect">
            <a:avLst/>
          </a:prstGeom>
        </p:spPr>
      </p:pic>
      <p:sp>
        <p:nvSpPr>
          <p:cNvPr id="10" name="Text 6"/>
          <p:cNvSpPr txBox="1"/>
          <p:nvPr/>
        </p:nvSpPr>
        <p:spPr>
          <a:xfrm>
            <a:off x="2813243"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How it works</a:t>
            </a:r>
            <a:endParaRPr lang="en-US" sz="1200" dirty="0"/>
          </a:p>
        </p:txBody>
      </p:sp>
      <p:sp>
        <p:nvSpPr>
          <p:cNvPr id="11" name="Shape 7"/>
          <p:cNvSpPr/>
          <p:nvPr/>
        </p:nvSpPr>
        <p:spPr>
          <a:xfrm>
            <a:off x="5775808" y="4297680"/>
            <a:ext cx="640080" cy="640080"/>
          </a:xfrm>
          <a:prstGeom prst="ellipse">
            <a:avLst/>
          </a:prstGeom>
          <a:solidFill>
            <a:srgbClr val="548235"/>
          </a:solidFill>
          <a:ln w="19050">
            <a:solidFill>
              <a:srgbClr val="FFFFFF"/>
            </a:solidFill>
            <a:prstDash val="solid"/>
          </a:ln>
        </p:spPr>
      </p:sp>
      <p:pic>
        <p:nvPicPr>
          <p:cNvPr id="12" name="Image 2" descr="preencoded.png">    </p:cNvPr>
          <p:cNvPicPr>
            <a:picLocks noChangeAspect="1"/>
          </p:cNvPicPr>
          <p:nvPr/>
        </p:nvPicPr>
        <p:blipFill>
          <a:blip r:embed="rId3"/>
          <a:stretch>
            <a:fillRect/>
          </a:stretch>
        </p:blipFill>
        <p:spPr>
          <a:xfrm>
            <a:off x="5931256" y="4453128"/>
            <a:ext cx="329184" cy="329184"/>
          </a:xfrm>
          <a:prstGeom prst="rect">
            <a:avLst/>
          </a:prstGeom>
        </p:spPr>
      </p:pic>
      <p:sp>
        <p:nvSpPr>
          <p:cNvPr id="13" name="Text 8"/>
          <p:cNvSpPr txBox="1"/>
          <p:nvPr/>
        </p:nvSpPr>
        <p:spPr>
          <a:xfrm>
            <a:off x="5032126"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Clinical relevance</a:t>
            </a:r>
            <a:endParaRPr lang="en-US" sz="1200" dirty="0"/>
          </a:p>
        </p:txBody>
      </p:sp>
      <p:sp>
        <p:nvSpPr>
          <p:cNvPr id="14" name="Shape 9"/>
          <p:cNvSpPr/>
          <p:nvPr/>
        </p:nvSpPr>
        <p:spPr>
          <a:xfrm>
            <a:off x="7994691" y="4297680"/>
            <a:ext cx="640080" cy="640080"/>
          </a:xfrm>
          <a:prstGeom prst="ellipse">
            <a:avLst/>
          </a:prstGeom>
          <a:solidFill>
            <a:srgbClr val="4472C4"/>
          </a:solidFill>
          <a:ln w="19050">
            <a:solidFill>
              <a:srgbClr val="FFFFFF"/>
            </a:solidFill>
            <a:prstDash val="solid"/>
          </a:ln>
        </p:spPr>
      </p:sp>
      <p:pic>
        <p:nvPicPr>
          <p:cNvPr id="15" name="Image 3" descr="preencoded.png">    </p:cNvPr>
          <p:cNvPicPr>
            <a:picLocks noChangeAspect="1"/>
          </p:cNvPicPr>
          <p:nvPr/>
        </p:nvPicPr>
        <p:blipFill>
          <a:blip r:embed="rId4"/>
          <a:stretch>
            <a:fillRect/>
          </a:stretch>
        </p:blipFill>
        <p:spPr>
          <a:xfrm>
            <a:off x="8150139" y="4453128"/>
            <a:ext cx="329184" cy="329184"/>
          </a:xfrm>
          <a:prstGeom prst="rect">
            <a:avLst/>
          </a:prstGeom>
        </p:spPr>
      </p:pic>
      <p:sp>
        <p:nvSpPr>
          <p:cNvPr id="16" name="Text 10"/>
          <p:cNvSpPr txBox="1"/>
          <p:nvPr/>
        </p:nvSpPr>
        <p:spPr>
          <a:xfrm>
            <a:off x="7251009"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Drugs named as examples</a:t>
            </a:r>
            <a:endParaRPr lang="en-US" sz="1200" dirty="0"/>
          </a:p>
        </p:txBody>
      </p:sp>
      <p:sp>
        <p:nvSpPr>
          <p:cNvPr id="17" name="Shape 11"/>
          <p:cNvSpPr/>
          <p:nvPr/>
        </p:nvSpPr>
        <p:spPr>
          <a:xfrm>
            <a:off x="10213574" y="4297680"/>
            <a:ext cx="640080" cy="640080"/>
          </a:xfrm>
          <a:prstGeom prst="ellipse">
            <a:avLst/>
          </a:prstGeom>
          <a:solidFill>
            <a:srgbClr val="C00000"/>
          </a:solidFill>
          <a:ln w="19050">
            <a:solidFill>
              <a:srgbClr val="FFFFFF"/>
            </a:solidFill>
            <a:prstDash val="solid"/>
          </a:ln>
        </p:spPr>
      </p:sp>
      <p:pic>
        <p:nvPicPr>
          <p:cNvPr id="18" name="Image 4" descr="preencoded.png">    </p:cNvPr>
          <p:cNvPicPr>
            <a:picLocks noChangeAspect="1"/>
          </p:cNvPicPr>
          <p:nvPr/>
        </p:nvPicPr>
        <p:blipFill>
          <a:blip r:embed="rId5"/>
          <a:stretch>
            <a:fillRect/>
          </a:stretch>
        </p:blipFill>
        <p:spPr>
          <a:xfrm>
            <a:off x="10369022" y="4453128"/>
            <a:ext cx="329184" cy="329184"/>
          </a:xfrm>
          <a:prstGeom prst="rect">
            <a:avLst/>
          </a:prstGeom>
        </p:spPr>
      </p:pic>
      <p:sp>
        <p:nvSpPr>
          <p:cNvPr id="19" name="Text 12"/>
          <p:cNvSpPr txBox="1"/>
          <p:nvPr/>
        </p:nvSpPr>
        <p:spPr>
          <a:xfrm>
            <a:off x="9469892"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Exam traps</a:t>
            </a:r>
            <a:endParaRPr lang="en-US" sz="1200" dirty="0"/>
          </a:p>
        </p:txBody>
      </p:sp>
      <p:sp>
        <p:nvSpPr>
          <p:cNvPr id="20" name="Text 1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D6E0F5"/>
                </a:solidFill>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EXCRETION &amp; RENAL DOSING</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Key definitions · How it works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SO2 · IO1.2 · IO1.3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31</a:t>
            </a:r>
            <a:endParaRPr lang="en-US" sz="1000" dirty="0"/>
          </a:p>
        </p:txBody>
      </p:sp>
      <p:sp>
        <p:nvSpPr>
          <p:cNvPr id="7" name="Key definitions card"/>
          <p:cNvSpPr/>
          <p:nvPr/>
        </p:nvSpPr>
        <p:spPr>
          <a:xfrm>
            <a:off x="548640" y="1325880"/>
            <a:ext cx="5410048" cy="4389120"/>
          </a:xfrm>
          <a:prstGeom prst="roundRect">
            <a:avLst>
              <a:gd name="adj" fmla="val 2500"/>
            </a:avLst>
          </a:prstGeom>
          <a:solidFill>
            <a:srgbClr val="F2F4F7"/>
          </a:solidFill>
          <a:ln w="12700">
            <a:solidFill>
              <a:srgbClr val="F2F4F7"/>
            </a:solidFill>
            <a:prstDash val="solid"/>
          </a:ln>
        </p:spPr>
      </p:sp>
      <p:sp>
        <p:nvSpPr>
          <p:cNvPr id="8" name="Key definitions icon circle"/>
          <p:cNvSpPr/>
          <p:nvPr/>
        </p:nvSpPr>
        <p:spPr>
          <a:xfrm>
            <a:off x="777240" y="1508760"/>
            <a:ext cx="438912" cy="438912"/>
          </a:xfrm>
          <a:prstGeom prst="ellipse">
            <a:avLst/>
          </a:prstGeom>
          <a:solidFill>
            <a:srgbClr val="44546A"/>
          </a:solidFill>
          <a:ln w="12700">
            <a:solidFill>
              <a:srgbClr val="44546A"/>
            </a:solidFill>
            <a:prstDash val="solid"/>
          </a:ln>
        </p:spPr>
      </p:sp>
      <p:pic>
        <p:nvPicPr>
          <p:cNvPr id="9" name="Key definition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Key definitions heading"/>
          <p:cNvSpPr txBox="1"/>
          <p:nvPr/>
        </p:nvSpPr>
        <p:spPr>
          <a:xfrm>
            <a:off x="1353312" y="1508760"/>
            <a:ext cx="4404208" cy="438912"/>
          </a:xfrm>
          <a:prstGeom prst="rect">
            <a:avLst/>
          </a:prstGeom>
          <a:noFill/>
          <a:ln/>
        </p:spPr>
        <p:txBody>
          <a:bodyPr wrap="square" lIns="0" tIns="0" rIns="0" bIns="0" rtlCol="0" anchor="ctr"/>
          <a:lstStyle/>
          <a:p>
            <a:pPr indent="0" marL="0">
              <a:buNone/>
            </a:pPr>
            <a:r>
              <a:rPr lang="en-US" sz="1800" b="1" dirty="0">
                <a:solidFill>
                  <a:srgbClr val="44546A"/>
                </a:solidFill>
              </a:rPr>
              <a:t>Key definitions</a:t>
            </a:r>
            <a:endParaRPr lang="en-US" sz="1800" dirty="0"/>
          </a:p>
        </p:txBody>
      </p:sp>
      <p:sp>
        <p:nvSpPr>
          <p:cNvPr id="11" name="Key definitions body"/>
          <p:cNvSpPr txBox="1"/>
          <p:nvPr/>
        </p:nvSpPr>
        <p:spPr>
          <a:xfrm>
            <a:off x="777240" y="2075688"/>
            <a:ext cx="4952848" cy="35204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Drug excretion = clearing drug from the body.</a:t>
            </a:r>
            <a:r>
              <a:rPr lang="en-US" sz="1300" dirty="0">
                <a:solidFill>
                  <a:srgbClr val="666666"/>
                </a:solidFill>
              </a:rPr>
              <a:t>  S12</a:t>
            </a:r>
            <a:endParaRPr lang="en-US" sz="1800" dirty="0"/>
          </a:p>
          <a:p>
            <a:pPr marL="228600" indent="-228600">
              <a:spcAft>
                <a:spcPts val="800"/>
              </a:spcAft>
              <a:buSzPct val="100000"/>
              <a:buChar char="•"/>
            </a:pPr>
            <a:r>
              <a:rPr lang="en-US" sz="1800" b="1" dirty="0">
                <a:solidFill>
                  <a:srgbClr val="1F1F1F"/>
                </a:solidFill>
              </a:rPr>
              <a:t>Glomerular filtration:</a:t>
            </a:r>
            <a:r>
              <a:rPr lang="en-US" sz="1800" dirty="0">
                <a:solidFill>
                  <a:srgbClr val="1F1F1F"/>
                </a:solidFill>
              </a:rPr>
              <a:t> free (unbound) drug passes from blood into the renal tubule based on molecular size.</a:t>
            </a:r>
            <a:r>
              <a:rPr lang="en-US" sz="1300" dirty="0">
                <a:solidFill>
                  <a:srgbClr val="666666"/>
                </a:solidFill>
              </a:rPr>
              <a:t>  S14</a:t>
            </a:r>
            <a:endParaRPr lang="en-US" sz="1800" dirty="0"/>
          </a:p>
          <a:p>
            <a:pPr marL="228600" indent="-228600">
              <a:spcAft>
                <a:spcPts val="800"/>
              </a:spcAft>
              <a:buSzPct val="100000"/>
              <a:buChar char="•"/>
            </a:pPr>
            <a:r>
              <a:rPr lang="en-US" sz="1800" b="1" dirty="0">
                <a:solidFill>
                  <a:srgbClr val="1F1F1F"/>
                </a:solidFill>
              </a:rPr>
              <a:t>Tubular secretion:</a:t>
            </a:r>
            <a:r>
              <a:rPr lang="en-US" sz="1800" dirty="0">
                <a:solidFill>
                  <a:srgbClr val="1F1F1F"/>
                </a:solidFill>
              </a:rPr>
              <a:t> active transporters move additional drug from blood into the tubule.</a:t>
            </a:r>
            <a:r>
              <a:rPr lang="en-US" sz="1300" dirty="0">
                <a:solidFill>
                  <a:srgbClr val="666666"/>
                </a:solidFill>
              </a:rPr>
              <a:t>  S14</a:t>
            </a:r>
            <a:endParaRPr lang="en-US" sz="1800" dirty="0"/>
          </a:p>
          <a:p>
            <a:pPr marL="228600" indent="-228600">
              <a:spcAft>
                <a:spcPts val="800"/>
              </a:spcAft>
              <a:buSzPct val="100000"/>
              <a:buChar char="•"/>
            </a:pPr>
            <a:r>
              <a:rPr lang="en-US" sz="1800" b="1" dirty="0">
                <a:solidFill>
                  <a:srgbClr val="1F1F1F"/>
                </a:solidFill>
              </a:rPr>
              <a:t>Tubular reabsorption:</a:t>
            </a:r>
            <a:r>
              <a:rPr lang="en-US" sz="1800" dirty="0">
                <a:solidFill>
                  <a:srgbClr val="1F1F1F"/>
                </a:solidFill>
              </a:rPr>
              <a:t> lipophilic, un-ionized drug can passively diffuse back into the blood, reducing net elimination.</a:t>
            </a:r>
            <a:r>
              <a:rPr lang="en-US" sz="1300" dirty="0">
                <a:solidFill>
                  <a:srgbClr val="666666"/>
                </a:solidFill>
              </a:rPr>
              <a:t>  S14</a:t>
            </a:r>
            <a:endParaRPr lang="en-US" sz="1800" dirty="0"/>
          </a:p>
        </p:txBody>
      </p:sp>
      <p:sp>
        <p:nvSpPr>
          <p:cNvPr id="12" name="How it works card"/>
          <p:cNvSpPr/>
          <p:nvPr/>
        </p:nvSpPr>
        <p:spPr>
          <a:xfrm>
            <a:off x="6233008" y="1325880"/>
            <a:ext cx="5410048" cy="4389120"/>
          </a:xfrm>
          <a:prstGeom prst="roundRect">
            <a:avLst>
              <a:gd name="adj" fmla="val 2500"/>
            </a:avLst>
          </a:prstGeom>
          <a:solidFill>
            <a:srgbClr val="F2F4F7"/>
          </a:solidFill>
          <a:ln w="12700">
            <a:solidFill>
              <a:srgbClr val="F2F4F7"/>
            </a:solidFill>
            <a:prstDash val="solid"/>
          </a:ln>
        </p:spPr>
      </p:sp>
      <p:sp>
        <p:nvSpPr>
          <p:cNvPr id="13" name="How it works icon circle"/>
          <p:cNvSpPr/>
          <p:nvPr/>
        </p:nvSpPr>
        <p:spPr>
          <a:xfrm>
            <a:off x="6461608" y="1508760"/>
            <a:ext cx="438912" cy="438912"/>
          </a:xfrm>
          <a:prstGeom prst="ellipse">
            <a:avLst/>
          </a:prstGeom>
          <a:solidFill>
            <a:srgbClr val="7030A0"/>
          </a:solidFill>
          <a:ln w="12700">
            <a:solidFill>
              <a:srgbClr val="7030A0"/>
            </a:solidFill>
            <a:prstDash val="solid"/>
          </a:ln>
        </p:spPr>
      </p:sp>
      <p:pic>
        <p:nvPicPr>
          <p:cNvPr id="14" name="How it works icon" descr="preencoded.png">    </p:cNvPr>
          <p:cNvPicPr>
            <a:picLocks noChangeAspect="1"/>
          </p:cNvPicPr>
          <p:nvPr/>
        </p:nvPicPr>
        <p:blipFill>
          <a:blip r:embed="rId2"/>
          <a:stretch>
            <a:fillRect/>
          </a:stretch>
        </p:blipFill>
        <p:spPr>
          <a:xfrm>
            <a:off x="6562192" y="1609344"/>
            <a:ext cx="237744" cy="237744"/>
          </a:xfrm>
          <a:prstGeom prst="rect">
            <a:avLst/>
          </a:prstGeom>
        </p:spPr>
      </p:pic>
      <p:sp>
        <p:nvSpPr>
          <p:cNvPr id="15" name="How it works heading"/>
          <p:cNvSpPr txBox="1"/>
          <p:nvPr/>
        </p:nvSpPr>
        <p:spPr>
          <a:xfrm>
            <a:off x="7037680" y="1508760"/>
            <a:ext cx="4404208" cy="438912"/>
          </a:xfrm>
          <a:prstGeom prst="rect">
            <a:avLst/>
          </a:prstGeom>
          <a:noFill/>
          <a:ln/>
        </p:spPr>
        <p:txBody>
          <a:bodyPr wrap="square" lIns="0" tIns="0" rIns="0" bIns="0" rtlCol="0" anchor="ctr"/>
          <a:lstStyle/>
          <a:p>
            <a:pPr indent="0" marL="0">
              <a:buNone/>
            </a:pPr>
            <a:r>
              <a:rPr lang="en-US" sz="1800" b="1" dirty="0">
                <a:solidFill>
                  <a:srgbClr val="7030A0"/>
                </a:solidFill>
              </a:rPr>
              <a:t>How it works</a:t>
            </a:r>
            <a:endParaRPr lang="en-US" sz="1800" dirty="0"/>
          </a:p>
        </p:txBody>
      </p:sp>
      <p:sp>
        <p:nvSpPr>
          <p:cNvPr id="16" name="How it works body"/>
          <p:cNvSpPr txBox="1"/>
          <p:nvPr/>
        </p:nvSpPr>
        <p:spPr>
          <a:xfrm>
            <a:off x="6461608" y="2075688"/>
            <a:ext cx="4952848" cy="352044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Kidney: the dominant route for most drugs and metabolites.</a:t>
            </a:r>
            <a:r>
              <a:rPr lang="en-US" sz="1300" dirty="0">
                <a:solidFill>
                  <a:srgbClr val="666666"/>
                </a:solidFill>
              </a:rPr>
              <a:t>  S13</a:t>
            </a:r>
            <a:endParaRPr lang="en-US" sz="1800" dirty="0"/>
          </a:p>
          <a:p>
            <a:pPr marL="228600" indent="-228600">
              <a:spcAft>
                <a:spcPts val="800"/>
              </a:spcAft>
              <a:buSzPct val="100000"/>
              <a:buChar char="•"/>
            </a:pPr>
            <a:r>
              <a:rPr lang="en-US" sz="1800" dirty="0">
                <a:solidFill>
                  <a:srgbClr val="1F1F1F"/>
                </a:solidFill>
              </a:rPr>
              <a:t>Bile / feces: important for some large or protein-bound drugs.</a:t>
            </a:r>
            <a:r>
              <a:rPr lang="en-US" sz="1300" dirty="0">
                <a:solidFill>
                  <a:srgbClr val="666666"/>
                </a:solidFill>
              </a:rPr>
              <a:t>  S13</a:t>
            </a:r>
            <a:endParaRPr lang="en-US" sz="1800" dirty="0"/>
          </a:p>
          <a:p>
            <a:pPr marL="228600" indent="-228600">
              <a:spcAft>
                <a:spcPts val="800"/>
              </a:spcAft>
              <a:buSzPct val="100000"/>
              <a:buChar char="•"/>
            </a:pPr>
            <a:r>
              <a:rPr lang="en-US" sz="1800" dirty="0">
                <a:solidFill>
                  <a:srgbClr val="1F1F1F"/>
                </a:solidFill>
              </a:rPr>
              <a:t>Lungs: volatile agents (e.g., anesthetic gases).</a:t>
            </a:r>
            <a:r>
              <a:rPr lang="en-US" sz="1300" dirty="0">
                <a:solidFill>
                  <a:srgbClr val="666666"/>
                </a:solidFill>
              </a:rPr>
              <a:t>  S13</a:t>
            </a:r>
            <a:endParaRPr lang="en-US" sz="1800" dirty="0"/>
          </a:p>
          <a:p>
            <a:pPr marL="228600" indent="-228600">
              <a:spcAft>
                <a:spcPts val="800"/>
              </a:spcAft>
              <a:buSzPct val="100000"/>
              <a:buChar char="•"/>
            </a:pPr>
            <a:r>
              <a:rPr lang="en-US" sz="1800" dirty="0">
                <a:solidFill>
                  <a:srgbClr val="1F1F1F"/>
                </a:solidFill>
              </a:rPr>
              <a:t>Sweat / breast milk: minor routes, but breast milk matters for lactating patients.</a:t>
            </a:r>
            <a:r>
              <a:rPr lang="en-US" sz="1300" dirty="0">
                <a:solidFill>
                  <a:srgbClr val="666666"/>
                </a:solidFill>
              </a:rPr>
              <a:t>  S13</a:t>
            </a:r>
            <a:endParaRPr lang="en-US" sz="1800" dirty="0"/>
          </a:p>
          <a:p>
            <a:pPr marL="228600" indent="-228600">
              <a:spcAft>
                <a:spcPts val="800"/>
              </a:spcAft>
              <a:buSzPct val="100000"/>
              <a:buChar char="•"/>
            </a:pPr>
            <a:r>
              <a:rPr lang="en-US" sz="1800" b="1" dirty="0">
                <a:solidFill>
                  <a:srgbClr val="1F1F1F"/>
                </a:solidFill>
              </a:rPr>
              <a:t>Decreased renal function → decreased drug clearance → increased drug exposure and accumulation risk.</a:t>
            </a:r>
            <a:r>
              <a:rPr lang="en-US" sz="1300" dirty="0">
                <a:solidFill>
                  <a:srgbClr val="666666"/>
                </a:solidFill>
              </a:rPr>
              <a:t>  S15</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EXCRETION &amp; RENAL DOSING</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Clinical relevance</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SO2 · IO1.2 · IO1.3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32</a:t>
            </a:r>
            <a:endParaRPr lang="en-US" sz="1000" dirty="0"/>
          </a:p>
        </p:txBody>
      </p:sp>
      <p:sp>
        <p:nvSpPr>
          <p:cNvPr id="7" name="Clinical relevance card"/>
          <p:cNvSpPr/>
          <p:nvPr/>
        </p:nvSpPr>
        <p:spPr>
          <a:xfrm>
            <a:off x="548640" y="1325880"/>
            <a:ext cx="11094415" cy="4110228"/>
          </a:xfrm>
          <a:prstGeom prst="roundRect">
            <a:avLst>
              <a:gd name="adj" fmla="val 2670"/>
            </a:avLst>
          </a:prstGeom>
          <a:solidFill>
            <a:srgbClr val="F2F4F7"/>
          </a:solidFill>
          <a:ln w="12700">
            <a:solidFill>
              <a:srgbClr val="F2F4F7"/>
            </a:solidFill>
            <a:prstDash val="solid"/>
          </a:ln>
        </p:spPr>
      </p:sp>
      <p:sp>
        <p:nvSpPr>
          <p:cNvPr id="8" name="Clinical relevance icon circle"/>
          <p:cNvSpPr/>
          <p:nvPr/>
        </p:nvSpPr>
        <p:spPr>
          <a:xfrm>
            <a:off x="777240" y="1508760"/>
            <a:ext cx="438912" cy="438912"/>
          </a:xfrm>
          <a:prstGeom prst="ellipse">
            <a:avLst/>
          </a:prstGeom>
          <a:solidFill>
            <a:srgbClr val="548235"/>
          </a:solidFill>
          <a:ln w="12700">
            <a:solidFill>
              <a:srgbClr val="548235"/>
            </a:solidFill>
            <a:prstDash val="solid"/>
          </a:ln>
        </p:spPr>
      </p:sp>
      <p:pic>
        <p:nvPicPr>
          <p:cNvPr id="9" name="Clinical relevance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Clinical relevance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548235"/>
                </a:solidFill>
              </a:rPr>
              <a:t>Clinical relevance</a:t>
            </a:r>
            <a:endParaRPr lang="en-US" sz="1800" dirty="0"/>
          </a:p>
        </p:txBody>
      </p:sp>
      <p:sp>
        <p:nvSpPr>
          <p:cNvPr id="11" name="Clinical relevance body"/>
          <p:cNvSpPr txBox="1"/>
          <p:nvPr/>
        </p:nvSpPr>
        <p:spPr>
          <a:xfrm>
            <a:off x="777240" y="2075688"/>
            <a:ext cx="10637215" cy="3241548"/>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eGFR and creatinine clearance (CrCl) are the standard bedside estimates of renal function used to adjust dosing.</a:t>
            </a:r>
            <a:r>
              <a:rPr lang="en-US" sz="1300" dirty="0">
                <a:solidFill>
                  <a:srgbClr val="666666"/>
                </a:solidFill>
              </a:rPr>
              <a:t>  S15</a:t>
            </a:r>
            <a:endParaRPr lang="en-US" sz="1800" dirty="0"/>
          </a:p>
          <a:p>
            <a:pPr marL="228600" indent="-228600">
              <a:spcAft>
                <a:spcPts val="800"/>
              </a:spcAft>
              <a:buSzPct val="100000"/>
              <a:buChar char="•"/>
            </a:pPr>
            <a:r>
              <a:rPr lang="en-US" sz="1800" dirty="0">
                <a:solidFill>
                  <a:srgbClr val="1F1F1F"/>
                </a:solidFill>
              </a:rPr>
              <a:t>Any renally-cleared, narrow-therapeutic-index drug (think: many antibiotics, digoxin, lithium) needs a dose or interval adjustment in renal impairment.</a:t>
            </a:r>
            <a:r>
              <a:rPr lang="en-US" sz="1300" dirty="0">
                <a:solidFill>
                  <a:srgbClr val="666666"/>
                </a:solidFill>
              </a:rPr>
              <a:t>  S15</a:t>
            </a:r>
            <a:endParaRPr lang="en-US" sz="1800" dirty="0"/>
          </a:p>
          <a:p>
            <a:pPr marL="228600" indent="-228600">
              <a:spcAft>
                <a:spcPts val="800"/>
              </a:spcAft>
              <a:buSzPct val="100000"/>
              <a:buChar char="•"/>
            </a:pPr>
            <a:r>
              <a:rPr lang="en-US" sz="1800" dirty="0">
                <a:solidFill>
                  <a:srgbClr val="1F1F1F"/>
                </a:solidFill>
              </a:rPr>
              <a:t>For a primarily renally eliminated drug when eGFR drops: decrease the dose and/or extend the dosing interval, guided by eGFR/CrCl.</a:t>
            </a:r>
            <a:r>
              <a:rPr lang="en-US" sz="1300" dirty="0">
                <a:solidFill>
                  <a:srgbClr val="666666"/>
                </a:solidFill>
              </a:rPr>
              <a:t>  S16-17</a:t>
            </a:r>
            <a:endParaRPr lang="en-US" sz="1800" dirty="0"/>
          </a:p>
          <a:p>
            <a:pPr marL="228600" indent="-228600">
              <a:spcAft>
                <a:spcPts val="800"/>
              </a:spcAft>
              <a:buSzPct val="100000"/>
              <a:buChar char="•"/>
            </a:pPr>
            <a:r>
              <a:rPr lang="en-US" sz="1800" dirty="0">
                <a:solidFill>
                  <a:srgbClr val="1F1F1F"/>
                </a:solidFill>
              </a:rPr>
              <a:t>Urine pH manipulation (e.g., alkalinizing urine in aspirin overdose) works by trapping ionized drug in the tubule, blocking reabsorption.</a:t>
            </a:r>
            <a:r>
              <a:rPr lang="en-US" sz="1300" dirty="0">
                <a:solidFill>
                  <a:srgbClr val="666666"/>
                </a:solidFill>
              </a:rPr>
              <a:t>  S14 (notes)</a:t>
            </a:r>
            <a:endParaRPr lang="en-US" sz="1800" dirty="0"/>
          </a:p>
          <a:p>
            <a:pPr marL="228600" indent="-228600">
              <a:spcAft>
                <a:spcPts val="800"/>
              </a:spcAft>
              <a:buSzPct val="100000"/>
              <a:buChar char="•"/>
            </a:pPr>
            <a:r>
              <a:rPr lang="en-US" sz="1800" dirty="0">
                <a:solidFill>
                  <a:srgbClr val="1F1F1F"/>
                </a:solidFill>
              </a:rPr>
              <a:t>This is the PK foundation for the renal-impairment case and the NSAID-in-CKD case later.</a:t>
            </a:r>
            <a:r>
              <a:rPr lang="en-US" sz="1300" dirty="0">
                <a:solidFill>
                  <a:srgbClr val="666666"/>
                </a:solidFill>
              </a:rPr>
              <a:t>  S15 (notes)</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EXCRETION &amp; RENAL DOSING</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Drugs named as examples · Exam traps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SO2 · IO1.2 · IO1.3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33</a:t>
            </a:r>
            <a:endParaRPr lang="en-US" sz="1000" dirty="0"/>
          </a:p>
        </p:txBody>
      </p:sp>
      <p:sp>
        <p:nvSpPr>
          <p:cNvPr id="7" name="Drugs named as examples card"/>
          <p:cNvSpPr/>
          <p:nvPr/>
        </p:nvSpPr>
        <p:spPr>
          <a:xfrm>
            <a:off x="548640" y="1325880"/>
            <a:ext cx="5410048" cy="3332988"/>
          </a:xfrm>
          <a:prstGeom prst="roundRect">
            <a:avLst>
              <a:gd name="adj" fmla="val 3292"/>
            </a:avLst>
          </a:prstGeom>
          <a:solidFill>
            <a:srgbClr val="F2F4F7"/>
          </a:solidFill>
          <a:ln w="12700">
            <a:solidFill>
              <a:srgbClr val="F2F4F7"/>
            </a:solidFill>
            <a:prstDash val="solid"/>
          </a:ln>
        </p:spPr>
      </p:sp>
      <p:sp>
        <p:nvSpPr>
          <p:cNvPr id="8" name="Drugs named as examples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9" name="Drugs named as example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Drugs named as examples heading"/>
          <p:cNvSpPr txBox="1"/>
          <p:nvPr/>
        </p:nvSpPr>
        <p:spPr>
          <a:xfrm>
            <a:off x="1353312" y="1508760"/>
            <a:ext cx="4404208" cy="438912"/>
          </a:xfrm>
          <a:prstGeom prst="rect">
            <a:avLst/>
          </a:prstGeom>
          <a:noFill/>
          <a:ln/>
        </p:spPr>
        <p:txBody>
          <a:bodyPr wrap="square" lIns="0" tIns="0" rIns="0" bIns="0" rtlCol="0" anchor="ctr"/>
          <a:lstStyle/>
          <a:p>
            <a:pPr indent="0" marL="0">
              <a:buNone/>
            </a:pPr>
            <a:r>
              <a:rPr lang="en-US" sz="1800" b="1" dirty="0">
                <a:solidFill>
                  <a:srgbClr val="4472C4"/>
                </a:solidFill>
              </a:rPr>
              <a:t>Drugs named as examples</a:t>
            </a:r>
            <a:endParaRPr lang="en-US" sz="1800" dirty="0"/>
          </a:p>
        </p:txBody>
      </p:sp>
      <p:sp>
        <p:nvSpPr>
          <p:cNvPr id="11" name="Drugs named as examples body"/>
          <p:cNvSpPr txBox="1"/>
          <p:nvPr/>
        </p:nvSpPr>
        <p:spPr>
          <a:xfrm>
            <a:off x="777240" y="2075688"/>
            <a:ext cx="4952848" cy="2464308"/>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Renally-cleared, narrow-TI drugs: many antibiotics, digoxin, lithium.</a:t>
            </a:r>
            <a:r>
              <a:rPr lang="en-US" sz="1300" dirty="0">
                <a:solidFill>
                  <a:srgbClr val="666666"/>
                </a:solidFill>
              </a:rPr>
              <a:t>  S15</a:t>
            </a:r>
            <a:endParaRPr lang="en-US" sz="1800" dirty="0"/>
          </a:p>
          <a:p>
            <a:pPr marL="228600" indent="-228600">
              <a:spcAft>
                <a:spcPts val="800"/>
              </a:spcAft>
              <a:buSzPct val="100000"/>
              <a:buChar char="•"/>
            </a:pPr>
            <a:r>
              <a:rPr lang="en-US" sz="1800" dirty="0">
                <a:solidFill>
                  <a:srgbClr val="1F1F1F"/>
                </a:solidFill>
              </a:rPr>
              <a:t>Aspirin overdose — urine alkalinization traps ionized drug.</a:t>
            </a:r>
            <a:r>
              <a:rPr lang="en-US" sz="1300" dirty="0">
                <a:solidFill>
                  <a:srgbClr val="666666"/>
                </a:solidFill>
              </a:rPr>
              <a:t>  S14 (notes)</a:t>
            </a:r>
            <a:endParaRPr lang="en-US" sz="1800" dirty="0"/>
          </a:p>
          <a:p>
            <a:pPr marL="228600" indent="-228600">
              <a:spcAft>
                <a:spcPts val="800"/>
              </a:spcAft>
              <a:buSzPct val="100000"/>
              <a:buChar char="•"/>
            </a:pPr>
            <a:r>
              <a:rPr lang="en-US" sz="1800" dirty="0">
                <a:solidFill>
                  <a:srgbClr val="1F1F1F"/>
                </a:solidFill>
              </a:rPr>
              <a:t>Anesthetic gases — eliminated by the lungs.</a:t>
            </a:r>
            <a:r>
              <a:rPr lang="en-US" sz="1300" dirty="0">
                <a:solidFill>
                  <a:srgbClr val="666666"/>
                </a:solidFill>
              </a:rPr>
              <a:t>  S13</a:t>
            </a:r>
            <a:endParaRPr lang="en-US" sz="1800" dirty="0"/>
          </a:p>
        </p:txBody>
      </p:sp>
      <p:sp>
        <p:nvSpPr>
          <p:cNvPr id="12" name="Exam traps card"/>
          <p:cNvSpPr/>
          <p:nvPr/>
        </p:nvSpPr>
        <p:spPr>
          <a:xfrm>
            <a:off x="6233008" y="1325880"/>
            <a:ext cx="5410048" cy="3332988"/>
          </a:xfrm>
          <a:prstGeom prst="roundRect">
            <a:avLst>
              <a:gd name="adj" fmla="val 3292"/>
            </a:avLst>
          </a:prstGeom>
          <a:solidFill>
            <a:srgbClr val="F2F4F7"/>
          </a:solidFill>
          <a:ln w="12700">
            <a:solidFill>
              <a:srgbClr val="F2F4F7"/>
            </a:solidFill>
            <a:prstDash val="solid"/>
          </a:ln>
        </p:spPr>
      </p:sp>
      <p:sp>
        <p:nvSpPr>
          <p:cNvPr id="13" name="Exam traps icon circle"/>
          <p:cNvSpPr/>
          <p:nvPr/>
        </p:nvSpPr>
        <p:spPr>
          <a:xfrm>
            <a:off x="6461608" y="1508760"/>
            <a:ext cx="438912" cy="438912"/>
          </a:xfrm>
          <a:prstGeom prst="ellipse">
            <a:avLst/>
          </a:prstGeom>
          <a:solidFill>
            <a:srgbClr val="C00000"/>
          </a:solidFill>
          <a:ln w="12700">
            <a:solidFill>
              <a:srgbClr val="C00000"/>
            </a:solidFill>
            <a:prstDash val="solid"/>
          </a:ln>
        </p:spPr>
      </p:sp>
      <p:pic>
        <p:nvPicPr>
          <p:cNvPr id="14" name="Exam traps icon" descr="preencoded.png">    </p:cNvPr>
          <p:cNvPicPr>
            <a:picLocks noChangeAspect="1"/>
          </p:cNvPicPr>
          <p:nvPr/>
        </p:nvPicPr>
        <p:blipFill>
          <a:blip r:embed="rId2"/>
          <a:stretch>
            <a:fillRect/>
          </a:stretch>
        </p:blipFill>
        <p:spPr>
          <a:xfrm>
            <a:off x="6562192" y="1609344"/>
            <a:ext cx="237744" cy="237744"/>
          </a:xfrm>
          <a:prstGeom prst="rect">
            <a:avLst/>
          </a:prstGeom>
        </p:spPr>
      </p:pic>
      <p:sp>
        <p:nvSpPr>
          <p:cNvPr id="15" name="Exam traps heading"/>
          <p:cNvSpPr txBox="1"/>
          <p:nvPr/>
        </p:nvSpPr>
        <p:spPr>
          <a:xfrm>
            <a:off x="7037680" y="1508760"/>
            <a:ext cx="4404208" cy="438912"/>
          </a:xfrm>
          <a:prstGeom prst="rect">
            <a:avLst/>
          </a:prstGeom>
          <a:noFill/>
          <a:ln/>
        </p:spPr>
        <p:txBody>
          <a:bodyPr wrap="square" lIns="0" tIns="0" rIns="0" bIns="0" rtlCol="0" anchor="ctr"/>
          <a:lstStyle/>
          <a:p>
            <a:pPr indent="0" marL="0">
              <a:buNone/>
            </a:pPr>
            <a:r>
              <a:rPr lang="en-US" sz="1800" b="1" dirty="0">
                <a:solidFill>
                  <a:srgbClr val="C00000"/>
                </a:solidFill>
              </a:rPr>
              <a:t>Exam traps</a:t>
            </a:r>
            <a:endParaRPr lang="en-US" sz="1800" dirty="0"/>
          </a:p>
        </p:txBody>
      </p:sp>
      <p:sp>
        <p:nvSpPr>
          <p:cNvPr id="16" name="Exam traps body"/>
          <p:cNvSpPr txBox="1"/>
          <p:nvPr/>
        </p:nvSpPr>
        <p:spPr>
          <a:xfrm>
            <a:off x="6461608" y="2075688"/>
            <a:ext cx="4952848" cy="2464308"/>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Only FREE (unbound) drug is filtered at the glomerulus.</a:t>
            </a:r>
            <a:r>
              <a:rPr lang="en-US" sz="1300" dirty="0">
                <a:solidFill>
                  <a:srgbClr val="666666"/>
                </a:solidFill>
              </a:rPr>
              <a:t>  S14</a:t>
            </a:r>
            <a:endParaRPr lang="en-US" sz="1800" dirty="0"/>
          </a:p>
          <a:p>
            <a:pPr marL="228600" indent="-228600">
              <a:spcAft>
                <a:spcPts val="800"/>
              </a:spcAft>
              <a:buSzPct val="100000"/>
              <a:buChar char="•"/>
            </a:pPr>
            <a:r>
              <a:rPr lang="en-US" sz="1800" dirty="0">
                <a:solidFill>
                  <a:srgbClr val="1F1F1F"/>
                </a:solidFill>
              </a:rPr>
              <a:t>Reabsorption REDUCES net elimination — and only lipophilic, un-ionized drug is reabsorbed.</a:t>
            </a:r>
            <a:r>
              <a:rPr lang="en-US" sz="1300" dirty="0">
                <a:solidFill>
                  <a:srgbClr val="666666"/>
                </a:solidFill>
              </a:rPr>
              <a:t>  S14</a:t>
            </a:r>
            <a:endParaRPr lang="en-US" sz="1800" dirty="0"/>
          </a:p>
          <a:p>
            <a:pPr marL="228600" indent="-228600">
              <a:spcAft>
                <a:spcPts val="800"/>
              </a:spcAft>
              <a:buSzPct val="100000"/>
              <a:buChar char="•"/>
            </a:pPr>
            <a:r>
              <a:rPr lang="en-US" sz="1800" dirty="0">
                <a:solidFill>
                  <a:srgbClr val="1F1F1F"/>
                </a:solidFill>
              </a:rPr>
              <a:t>Renal impairment → lower dose and/or longer interval — NOT "no adjustment," a higher dose, or "IV only."</a:t>
            </a:r>
            <a:r>
              <a:rPr lang="en-US" sz="1300" dirty="0">
                <a:solidFill>
                  <a:srgbClr val="666666"/>
                </a:solidFill>
              </a:rPr>
              <a:t>  S16-17</a:t>
            </a: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EXCRETION &amp; RENAL DOSING</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Compare: Three renal processes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SO2 · IO1.2 · IO1.3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34</a:t>
            </a:r>
            <a:endParaRPr lang="en-US" sz="1000" dirty="0"/>
          </a:p>
        </p:txBody>
      </p:sp>
      <p:graphicFrame>
        <p:nvGraphicFramePr>
          <p:cNvPr id="35"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2905658"/>
                <a:gridCol w="2905658"/>
                <a:gridCol w="2905658"/>
              </a:tblGrid>
              <a:tr h="0">
                <a:tc>
                  <a:txBody>
                    <a:bodyPr/>
                    <a:lstStyle/>
                    <a:p>
                      <a:pPr indent="0" marL="0">
                        <a:buNone/>
                      </a:pPr>
                      <a:r>
                        <a:rPr lang="en-US" sz="1600" b="1" dirty="0">
                          <a:solidFill>
                            <a:srgbClr val="FFFFFF"/>
                          </a:solidFill>
                        </a:rPr>
                        <a:t>Process</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Direction</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How</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Which drug</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600" b="1" dirty="0">
                          <a:solidFill>
                            <a:srgbClr val="1F1F1F"/>
                          </a:solidFill>
                        </a:rPr>
                        <a:t>Glomerular filtration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Blood → tubule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Based on molecular size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Free (unbound) drug</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Tubular secretion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Blood → tubule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Active transporters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Additional drug</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Tubular reabsorption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Tubule → blood</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Passive diffusion — </a:t>
                      </a:r>
                      <a:r>
                        <a:rPr lang="en-US" sz="1600" b="1" dirty="0">
                          <a:solidFill>
                            <a:srgbClr val="1F1F1F"/>
                          </a:solidFill>
                        </a:rPr>
                        <a:t>reduces net elimination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Lipophilic, un-ionized drug</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bl>
          </a:graphicData>
        </a:graphic>
      </p:graphicFrame>
      <p:sp>
        <p:nvSpPr>
          <p:cNvPr id="8" name="Table sources"/>
          <p:cNvSpPr txBox="1"/>
          <p:nvPr/>
        </p:nvSpPr>
        <p:spPr>
          <a:xfrm>
            <a:off x="548640" y="3214624"/>
            <a:ext cx="11094415" cy="274320"/>
          </a:xfrm>
          <a:prstGeom prst="rect">
            <a:avLst/>
          </a:prstGeom>
          <a:noFill/>
          <a:ln/>
        </p:spPr>
        <p:txBody>
          <a:bodyPr wrap="square" lIns="0" tIns="0" rIns="0" bIns="0" rtlCol="0" anchor="ctr"/>
          <a:lstStyle/>
          <a:p>
            <a:pPr indent="0" marL="0">
              <a:buNone/>
            </a:pPr>
            <a:r>
              <a:rPr lang="en-US" sz="1100" dirty="0">
                <a:solidFill>
                  <a:srgbClr val="666666"/>
                </a:solidFill>
              </a:rPr>
              <a:t>Focus: what tells these apart.  Sources: S14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EXCRETION &amp; RENAL DOSING</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Compare: Routes of drug elimination</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SO2 · IO1.2 · IO1.3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35</a:t>
            </a:r>
            <a:endParaRPr lang="en-US" sz="1000" dirty="0"/>
          </a:p>
        </p:txBody>
      </p:sp>
      <p:graphicFrame>
        <p:nvGraphicFramePr>
          <p:cNvPr id="36"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4358488"/>
                <a:gridCol w="4358488"/>
              </a:tblGrid>
              <a:tr h="0">
                <a:tc>
                  <a:txBody>
                    <a:bodyPr/>
                    <a:lstStyle/>
                    <a:p>
                      <a:pPr indent="0" marL="0">
                        <a:buNone/>
                      </a:pPr>
                      <a:r>
                        <a:rPr lang="en-US" sz="1600" b="1" dirty="0">
                          <a:solidFill>
                            <a:srgbClr val="FFFFFF"/>
                          </a:solidFill>
                        </a:rPr>
                        <a:t>Route</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Importance</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Example / who it matters for</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600" b="1" dirty="0">
                          <a:solidFill>
                            <a:srgbClr val="1F1F1F"/>
                          </a:solidFill>
                        </a:rPr>
                        <a:t>Kidney</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b="1" dirty="0">
                          <a:solidFill>
                            <a:srgbClr val="1F1F1F"/>
                          </a:solidFill>
                        </a:rPr>
                        <a:t>Dominant</a:t>
                      </a:r>
                      <a:r>
                        <a:rPr lang="en-US" sz="1600" dirty="0">
                          <a:solidFill>
                            <a:srgbClr val="1F1F1F"/>
                          </a:solidFill>
                        </a:rPr>
                        <a:t> for most drugs and metabolites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Not covered in materials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Bile / feces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Important for some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Large or protein-bound drugs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Lungs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Specific agents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Volatile agents (anesthetic gases)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Sweat / breast milk</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Minor</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Breast milk matters for lactating patients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bl>
          </a:graphicData>
        </a:graphic>
      </p:graphicFrame>
      <p:sp>
        <p:nvSpPr>
          <p:cNvPr id="8" name="Table sources"/>
          <p:cNvSpPr txBox="1"/>
          <p:nvPr/>
        </p:nvSpPr>
        <p:spPr>
          <a:xfrm>
            <a:off x="548640" y="3342640"/>
            <a:ext cx="11094415" cy="274320"/>
          </a:xfrm>
          <a:prstGeom prst="rect">
            <a:avLst/>
          </a:prstGeom>
          <a:noFill/>
          <a:ln/>
        </p:spPr>
        <p:txBody>
          <a:bodyPr wrap="square" lIns="0" tIns="0" rIns="0" bIns="0" rtlCol="0" anchor="ctr"/>
          <a:lstStyle/>
          <a:p>
            <a:pPr indent="0" marL="0">
              <a:buNone/>
            </a:pPr>
            <a:r>
              <a:rPr lang="en-US" sz="1100" dirty="0">
                <a:solidFill>
                  <a:srgbClr val="666666"/>
                </a:solidFill>
              </a:rPr>
              <a:t>Focus: what tells these apart.  Sources: S13</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EXCRETION &amp; RENAL DOSING</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Memory hooks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SO2 · IO1.2 · IO1.3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36</a:t>
            </a:r>
            <a:endParaRPr lang="en-US" sz="1000" dirty="0"/>
          </a:p>
        </p:txBody>
      </p:sp>
      <p:sp>
        <p:nvSpPr>
          <p:cNvPr id="7" name="Why it happens card"/>
          <p:cNvSpPr/>
          <p:nvPr/>
        </p:nvSpPr>
        <p:spPr>
          <a:xfrm>
            <a:off x="548640" y="1325880"/>
            <a:ext cx="5364328" cy="2555748"/>
          </a:xfrm>
          <a:prstGeom prst="roundRect">
            <a:avLst>
              <a:gd name="adj" fmla="val 4293"/>
            </a:avLst>
          </a:prstGeom>
          <a:solidFill>
            <a:srgbClr val="F2F4F7"/>
          </a:solidFill>
          <a:ln w="12700">
            <a:solidFill>
              <a:srgbClr val="F2F4F7"/>
            </a:solidFill>
            <a:prstDash val="solid"/>
          </a:ln>
        </p:spPr>
      </p:sp>
      <p:sp>
        <p:nvSpPr>
          <p:cNvPr id="8" name="Why it happens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9" name="Why it happen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Why it happens heading"/>
          <p:cNvSpPr txBox="1"/>
          <p:nvPr/>
        </p:nvSpPr>
        <p:spPr>
          <a:xfrm>
            <a:off x="1353312" y="1508760"/>
            <a:ext cx="4358488" cy="438912"/>
          </a:xfrm>
          <a:prstGeom prst="rect">
            <a:avLst/>
          </a:prstGeom>
          <a:noFill/>
          <a:ln/>
        </p:spPr>
        <p:txBody>
          <a:bodyPr wrap="square" lIns="0" tIns="0" rIns="0" bIns="0" rtlCol="0" anchor="ctr"/>
          <a:lstStyle/>
          <a:p>
            <a:pPr indent="0" marL="0">
              <a:buNone/>
            </a:pPr>
            <a:r>
              <a:rPr lang="en-US" sz="1800" b="1" dirty="0">
                <a:solidFill>
                  <a:srgbClr val="4472C4"/>
                </a:solidFill>
              </a:rPr>
              <a:t>Why it happens</a:t>
            </a:r>
            <a:endParaRPr lang="en-US" sz="1800" dirty="0"/>
          </a:p>
        </p:txBody>
      </p:sp>
      <p:sp>
        <p:nvSpPr>
          <p:cNvPr id="11" name="Why it happens body"/>
          <p:cNvSpPr txBox="1"/>
          <p:nvPr/>
        </p:nvSpPr>
        <p:spPr>
          <a:xfrm>
            <a:off x="777240" y="2075688"/>
            <a:ext cx="4907128" cy="1687068"/>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Why does alkalinizing urine help in aspirin overdose? It keeps the drug ionized in the tubule, and only un-ionized drug can diffuse back — so reabsorption is blocked and more drug leaves.</a:t>
            </a:r>
            <a:r>
              <a:rPr lang="en-US" sz="1300" dirty="0">
                <a:solidFill>
                  <a:srgbClr val="666666"/>
                </a:solidFill>
              </a:rPr>
              <a:t>  S14; S14 (notes)</a:t>
            </a:r>
            <a:endParaRPr lang="en-US" sz="1800" dirty="0"/>
          </a:p>
        </p:txBody>
      </p:sp>
      <p:sp>
        <p:nvSpPr>
          <p:cNvPr id="12" name="Why it happens card"/>
          <p:cNvSpPr/>
          <p:nvPr/>
        </p:nvSpPr>
        <p:spPr>
          <a:xfrm>
            <a:off x="6278728" y="1325880"/>
            <a:ext cx="5364328" cy="1997964"/>
          </a:xfrm>
          <a:prstGeom prst="roundRect">
            <a:avLst>
              <a:gd name="adj" fmla="val 5492"/>
            </a:avLst>
          </a:prstGeom>
          <a:solidFill>
            <a:srgbClr val="F2F4F7"/>
          </a:solidFill>
          <a:ln w="12700">
            <a:solidFill>
              <a:srgbClr val="F2F4F7"/>
            </a:solidFill>
            <a:prstDash val="solid"/>
          </a:ln>
        </p:spPr>
      </p:sp>
      <p:sp>
        <p:nvSpPr>
          <p:cNvPr id="13" name="Why it happens icon circle"/>
          <p:cNvSpPr/>
          <p:nvPr/>
        </p:nvSpPr>
        <p:spPr>
          <a:xfrm>
            <a:off x="6507328" y="1508760"/>
            <a:ext cx="438912" cy="438912"/>
          </a:xfrm>
          <a:prstGeom prst="ellipse">
            <a:avLst/>
          </a:prstGeom>
          <a:solidFill>
            <a:srgbClr val="4472C4"/>
          </a:solidFill>
          <a:ln w="12700">
            <a:solidFill>
              <a:srgbClr val="4472C4"/>
            </a:solidFill>
            <a:prstDash val="solid"/>
          </a:ln>
        </p:spPr>
      </p:sp>
      <p:pic>
        <p:nvPicPr>
          <p:cNvPr id="14" name="Why it happens icon" descr="preencoded.png">    </p:cNvPr>
          <p:cNvPicPr>
            <a:picLocks noChangeAspect="1"/>
          </p:cNvPicPr>
          <p:nvPr/>
        </p:nvPicPr>
        <p:blipFill>
          <a:blip r:embed="rId2"/>
          <a:stretch>
            <a:fillRect/>
          </a:stretch>
        </p:blipFill>
        <p:spPr>
          <a:xfrm>
            <a:off x="6607912" y="1609344"/>
            <a:ext cx="237744" cy="237744"/>
          </a:xfrm>
          <a:prstGeom prst="rect">
            <a:avLst/>
          </a:prstGeom>
        </p:spPr>
      </p:pic>
      <p:sp>
        <p:nvSpPr>
          <p:cNvPr id="15" name="Why it happens heading"/>
          <p:cNvSpPr txBox="1"/>
          <p:nvPr/>
        </p:nvSpPr>
        <p:spPr>
          <a:xfrm>
            <a:off x="7083400" y="1508760"/>
            <a:ext cx="4358488" cy="438912"/>
          </a:xfrm>
          <a:prstGeom prst="rect">
            <a:avLst/>
          </a:prstGeom>
          <a:noFill/>
          <a:ln/>
        </p:spPr>
        <p:txBody>
          <a:bodyPr wrap="square" lIns="0" tIns="0" rIns="0" bIns="0" rtlCol="0" anchor="ctr"/>
          <a:lstStyle/>
          <a:p>
            <a:pPr indent="0" marL="0">
              <a:buNone/>
            </a:pPr>
            <a:r>
              <a:rPr lang="en-US" sz="1800" b="1" dirty="0">
                <a:solidFill>
                  <a:srgbClr val="4472C4"/>
                </a:solidFill>
              </a:rPr>
              <a:t>Why it happens</a:t>
            </a:r>
            <a:endParaRPr lang="en-US" sz="1800" dirty="0"/>
          </a:p>
        </p:txBody>
      </p:sp>
      <p:sp>
        <p:nvSpPr>
          <p:cNvPr id="16" name="Why it happens body"/>
          <p:cNvSpPr txBox="1"/>
          <p:nvPr/>
        </p:nvSpPr>
        <p:spPr>
          <a:xfrm>
            <a:off x="6507328" y="2075688"/>
            <a:ext cx="4907128" cy="1129284"/>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Why adjust doses in CKD? Less renal function → less clearance → more exposure and accumulation of renally-cleared drugs.</a:t>
            </a:r>
            <a:r>
              <a:rPr lang="en-US" sz="1300" dirty="0">
                <a:solidFill>
                  <a:srgbClr val="666666"/>
                </a:solidFill>
              </a:rPr>
              <a:t>  S15</a:t>
            </a:r>
            <a:endParaRPr lang="en-US" sz="1800" dirty="0"/>
          </a:p>
        </p:txBody>
      </p:sp>
      <p:sp>
        <p:nvSpPr>
          <p:cNvPr id="17" name="Mnemonic (memory aid) card"/>
          <p:cNvSpPr/>
          <p:nvPr/>
        </p:nvSpPr>
        <p:spPr>
          <a:xfrm>
            <a:off x="6278728" y="3552444"/>
            <a:ext cx="5364328" cy="1997964"/>
          </a:xfrm>
          <a:prstGeom prst="roundRect">
            <a:avLst>
              <a:gd name="adj" fmla="val 5492"/>
            </a:avLst>
          </a:prstGeom>
          <a:solidFill>
            <a:srgbClr val="F2F4F7"/>
          </a:solidFill>
          <a:ln w="12700">
            <a:solidFill>
              <a:srgbClr val="F2F4F7"/>
            </a:solidFill>
            <a:prstDash val="solid"/>
          </a:ln>
        </p:spPr>
      </p:sp>
      <p:sp>
        <p:nvSpPr>
          <p:cNvPr id="18" name="Mnemonic (memory aid) icon circle"/>
          <p:cNvSpPr/>
          <p:nvPr/>
        </p:nvSpPr>
        <p:spPr>
          <a:xfrm>
            <a:off x="6507328" y="3735324"/>
            <a:ext cx="438912" cy="438912"/>
          </a:xfrm>
          <a:prstGeom prst="ellipse">
            <a:avLst/>
          </a:prstGeom>
          <a:solidFill>
            <a:srgbClr val="7030A0"/>
          </a:solidFill>
          <a:ln w="12700">
            <a:solidFill>
              <a:srgbClr val="7030A0"/>
            </a:solidFill>
            <a:prstDash val="solid"/>
          </a:ln>
        </p:spPr>
      </p:sp>
      <p:pic>
        <p:nvPicPr>
          <p:cNvPr id="19" name="Mnemonic (memory aid) icon" descr="preencoded.png">    </p:cNvPr>
          <p:cNvPicPr>
            <a:picLocks noChangeAspect="1"/>
          </p:cNvPicPr>
          <p:nvPr/>
        </p:nvPicPr>
        <p:blipFill>
          <a:blip r:embed="rId3"/>
          <a:stretch>
            <a:fillRect/>
          </a:stretch>
        </p:blipFill>
        <p:spPr>
          <a:xfrm>
            <a:off x="6607912" y="3835908"/>
            <a:ext cx="237744" cy="237744"/>
          </a:xfrm>
          <a:prstGeom prst="rect">
            <a:avLst/>
          </a:prstGeom>
        </p:spPr>
      </p:pic>
      <p:sp>
        <p:nvSpPr>
          <p:cNvPr id="20" name="Mnemonic (memory aid) heading"/>
          <p:cNvSpPr txBox="1"/>
          <p:nvPr/>
        </p:nvSpPr>
        <p:spPr>
          <a:xfrm>
            <a:off x="7083400" y="3735324"/>
            <a:ext cx="4358488" cy="438912"/>
          </a:xfrm>
          <a:prstGeom prst="rect">
            <a:avLst/>
          </a:prstGeom>
          <a:noFill/>
          <a:ln/>
        </p:spPr>
        <p:txBody>
          <a:bodyPr wrap="square" lIns="0" tIns="0" rIns="0" bIns="0" rtlCol="0" anchor="ctr"/>
          <a:lstStyle/>
          <a:p>
            <a:pPr indent="0" marL="0">
              <a:buNone/>
            </a:pPr>
            <a:r>
              <a:rPr lang="en-US" sz="1800" b="1" dirty="0">
                <a:solidFill>
                  <a:srgbClr val="7030A0"/>
                </a:solidFill>
              </a:rPr>
              <a:t>Mnemonic (memory aid)</a:t>
            </a:r>
            <a:endParaRPr lang="en-US" sz="1800" dirty="0"/>
          </a:p>
        </p:txBody>
      </p:sp>
      <p:sp>
        <p:nvSpPr>
          <p:cNvPr id="21" name="Mnemonic (memory aid) body"/>
          <p:cNvSpPr txBox="1"/>
          <p:nvPr/>
        </p:nvSpPr>
        <p:spPr>
          <a:xfrm>
            <a:off x="6507328" y="4302252"/>
            <a:ext cx="4907128" cy="1129284"/>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Kidney handling = "</a:t>
            </a:r>
            <a:r>
              <a:rPr lang="en-US" sz="1800" b="1" dirty="0">
                <a:solidFill>
                  <a:srgbClr val="1F1F1F"/>
                </a:solidFill>
              </a:rPr>
              <a:t>F</a:t>
            </a:r>
            <a:r>
              <a:rPr lang="en-US" sz="1800" dirty="0">
                <a:solidFill>
                  <a:srgbClr val="1F1F1F"/>
                </a:solidFill>
              </a:rPr>
              <a:t>ilter, </a:t>
            </a:r>
            <a:r>
              <a:rPr lang="en-US" sz="1800" b="1" dirty="0">
                <a:solidFill>
                  <a:srgbClr val="1F1F1F"/>
                </a:solidFill>
              </a:rPr>
              <a:t>S</a:t>
            </a:r>
            <a:r>
              <a:rPr lang="en-US" sz="1800" dirty="0">
                <a:solidFill>
                  <a:srgbClr val="1F1F1F"/>
                </a:solidFill>
              </a:rPr>
              <a:t>ecrete, </a:t>
            </a:r>
            <a:r>
              <a:rPr lang="en-US" sz="1800" b="1" dirty="0">
                <a:solidFill>
                  <a:srgbClr val="1F1F1F"/>
                </a:solidFill>
              </a:rPr>
              <a:t>R</a:t>
            </a:r>
            <a:r>
              <a:rPr lang="en-US" sz="1800" dirty="0">
                <a:solidFill>
                  <a:srgbClr val="1F1F1F"/>
                </a:solidFill>
              </a:rPr>
              <a:t>eabsorb" — </a:t>
            </a:r>
            <a:r>
              <a:rPr lang="en-US" sz="1800" b="1" dirty="0">
                <a:solidFill>
                  <a:srgbClr val="1F1F1F"/>
                </a:solidFill>
              </a:rPr>
              <a:t>F</a:t>
            </a:r>
            <a:r>
              <a:rPr lang="en-US" sz="1800" dirty="0">
                <a:solidFill>
                  <a:srgbClr val="1F1F1F"/>
                </a:solidFill>
              </a:rPr>
              <a:t>ree drug filtered, </a:t>
            </a:r>
            <a:r>
              <a:rPr lang="en-US" sz="1800" b="1" dirty="0">
                <a:solidFill>
                  <a:srgbClr val="1F1F1F"/>
                </a:solidFill>
              </a:rPr>
              <a:t>S</a:t>
            </a:r>
            <a:r>
              <a:rPr lang="en-US" sz="1800" dirty="0">
                <a:solidFill>
                  <a:srgbClr val="1F1F1F"/>
                </a:solidFill>
              </a:rPr>
              <a:t>ecreted by transporters, </a:t>
            </a:r>
            <a:r>
              <a:rPr lang="en-US" sz="1800" b="1" dirty="0">
                <a:solidFill>
                  <a:srgbClr val="1F1F1F"/>
                </a:solidFill>
              </a:rPr>
              <a:t>R</a:t>
            </a:r>
            <a:r>
              <a:rPr lang="en-US" sz="1800" dirty="0">
                <a:solidFill>
                  <a:srgbClr val="1F1F1F"/>
                </a:solidFill>
              </a:rPr>
              <a:t>eabsorbed if lipophilic &amp; un-ionized.</a:t>
            </a:r>
            <a:r>
              <a:rPr lang="en-US" sz="1300" dirty="0">
                <a:solidFill>
                  <a:srgbClr val="666666"/>
                </a:solidFill>
              </a:rPr>
              <a:t>  S14</a:t>
            </a:r>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DRUG EXCRETION &amp; RENAL DOSING</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High-yield summary</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SO2 · IO1.2 · IO1.3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37</a:t>
            </a:r>
            <a:endParaRPr lang="en-US" sz="1000" dirty="0"/>
          </a:p>
        </p:txBody>
      </p:sp>
      <p:sp>
        <p:nvSpPr>
          <p:cNvPr id="7" name="If you remember nothing else card"/>
          <p:cNvSpPr/>
          <p:nvPr/>
        </p:nvSpPr>
        <p:spPr>
          <a:xfrm>
            <a:off x="548640" y="1325880"/>
            <a:ext cx="11094415" cy="2775204"/>
          </a:xfrm>
          <a:prstGeom prst="roundRect">
            <a:avLst>
              <a:gd name="adj" fmla="val 3954"/>
            </a:avLst>
          </a:prstGeom>
          <a:solidFill>
            <a:srgbClr val="F2F4F7"/>
          </a:solidFill>
          <a:ln w="12700">
            <a:solidFill>
              <a:srgbClr val="F2F4F7"/>
            </a:solidFill>
            <a:prstDash val="solid"/>
          </a:ln>
        </p:spPr>
      </p:sp>
      <p:sp>
        <p:nvSpPr>
          <p:cNvPr id="8" name="If you remember nothing else icon circle"/>
          <p:cNvSpPr/>
          <p:nvPr/>
        </p:nvSpPr>
        <p:spPr>
          <a:xfrm>
            <a:off x="777240" y="1508760"/>
            <a:ext cx="438912" cy="438912"/>
          </a:xfrm>
          <a:prstGeom prst="ellipse">
            <a:avLst/>
          </a:prstGeom>
          <a:solidFill>
            <a:srgbClr val="C55A11"/>
          </a:solidFill>
          <a:ln w="12700">
            <a:solidFill>
              <a:srgbClr val="C55A11"/>
            </a:solidFill>
            <a:prstDash val="solid"/>
          </a:ln>
        </p:spPr>
      </p:sp>
      <p:pic>
        <p:nvPicPr>
          <p:cNvPr id="9" name="If you remember nothing else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If you remember nothing else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C55A11"/>
                </a:solidFill>
              </a:rPr>
              <a:t>If you remember nothing else</a:t>
            </a:r>
            <a:endParaRPr lang="en-US" sz="1800" dirty="0"/>
          </a:p>
        </p:txBody>
      </p:sp>
      <p:sp>
        <p:nvSpPr>
          <p:cNvPr id="11" name="If you remember nothing else body"/>
          <p:cNvSpPr txBox="1"/>
          <p:nvPr/>
        </p:nvSpPr>
        <p:spPr>
          <a:xfrm>
            <a:off x="777240" y="2075688"/>
            <a:ext cx="10637215" cy="1906524"/>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Kidney = dominant elimination route; filtration (free drug), secretion (transporters), reabsorption (lipophilic, un-ionized).</a:t>
            </a:r>
            <a:r>
              <a:rPr lang="en-US" sz="1300" dirty="0">
                <a:solidFill>
                  <a:srgbClr val="666666"/>
                </a:solidFill>
              </a:rPr>
              <a:t>  S13; S14</a:t>
            </a:r>
            <a:endParaRPr lang="en-US" sz="1800" dirty="0"/>
          </a:p>
          <a:p>
            <a:pPr marL="228600" indent="-228600">
              <a:spcAft>
                <a:spcPts val="800"/>
              </a:spcAft>
              <a:buSzPct val="100000"/>
              <a:buChar char="•"/>
            </a:pPr>
            <a:r>
              <a:rPr lang="en-US" sz="1800" b="1" dirty="0">
                <a:solidFill>
                  <a:srgbClr val="1F1F1F"/>
                </a:solidFill>
              </a:rPr>
              <a:t>↓ renal function → ↓ clearance → ↑ exposure</a:t>
            </a:r>
            <a:r>
              <a:rPr lang="en-US" sz="1800" dirty="0">
                <a:solidFill>
                  <a:srgbClr val="1F1F1F"/>
                </a:solidFill>
              </a:rPr>
              <a:t> → lower dose and/or longer interval, guided by </a:t>
            </a:r>
            <a:r>
              <a:rPr lang="en-US" sz="1800" b="1" dirty="0">
                <a:solidFill>
                  <a:srgbClr val="1F1F1F"/>
                </a:solidFill>
              </a:rPr>
              <a:t>eGFR/CrCl</a:t>
            </a:r>
            <a:r>
              <a:rPr lang="en-US" sz="1800" dirty="0">
                <a:solidFill>
                  <a:srgbClr val="1F1F1F"/>
                </a:solidFill>
              </a:rPr>
              <a:t>.</a:t>
            </a:r>
            <a:r>
              <a:rPr lang="en-US" sz="1300" dirty="0">
                <a:solidFill>
                  <a:srgbClr val="666666"/>
                </a:solidFill>
              </a:rPr>
              <a:t>  S15; S17</a:t>
            </a:r>
            <a:endParaRPr lang="en-US" sz="1800" dirty="0"/>
          </a:p>
          <a:p>
            <a:pPr marL="228600" indent="-228600">
              <a:spcAft>
                <a:spcPts val="800"/>
              </a:spcAft>
              <a:buSzPct val="100000"/>
              <a:buChar char="•"/>
            </a:pPr>
            <a:r>
              <a:rPr lang="en-US" sz="1800" dirty="0">
                <a:solidFill>
                  <a:srgbClr val="1F1F1F"/>
                </a:solidFill>
              </a:rPr>
              <a:t>Renally cleared narrow-TI drugs: many antibiotics, digoxin, lithium.</a:t>
            </a:r>
            <a:r>
              <a:rPr lang="en-US" sz="1300" dirty="0">
                <a:solidFill>
                  <a:srgbClr val="666666"/>
                </a:solidFill>
              </a:rPr>
              <a:t>  S15</a:t>
            </a:r>
            <a:endParaRPr lang="en-US"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LECTURE QUICK CHECK S16-17</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7</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SO2 · IO1.2 · IO1.3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38</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A patient's eGFR drops significantly due to new chronic kidney disease. For a drug that is primarily renally eliminated, what dosing adjustment is most appropriate?</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Increase the dose to maintain the effect</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Shorten the dosing interval to every few hours</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Decrease the dose and/or extend the dosing interval</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No dose or interval adjustment is needed</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Switch to IV administration only for now</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7: C</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SO2 · IO1.2 · IO1.3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39</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C. </a:t>
            </a:r>
            <a:r>
              <a:rPr lang="en-US" sz="1600" b="1" dirty="0">
                <a:solidFill>
                  <a:srgbClr val="1F1F1F"/>
                </a:solidFill>
              </a:rPr>
              <a:t>Decrease the dose and/or extend the dosing interval</a:t>
            </a:r>
            <a:endParaRPr lang="en-US" sz="1600" dirty="0"/>
          </a:p>
        </p:txBody>
      </p:sp>
      <p:sp>
        <p:nvSpPr>
          <p:cNvPr id="10" name="Why correct"/>
          <p:cNvSpPr txBox="1"/>
          <p:nvPr/>
        </p:nvSpPr>
        <p:spPr>
          <a:xfrm>
            <a:off x="777240" y="2011680"/>
            <a:ext cx="10637215" cy="724408"/>
          </a:xfrm>
          <a:prstGeom prst="rect">
            <a:avLst/>
          </a:prstGeom>
          <a:noFill/>
          <a:ln/>
        </p:spPr>
        <p:txBody>
          <a:bodyPr wrap="square" lIns="0" tIns="0" rIns="0" bIns="0" rtlCol="0" anchor="t"/>
          <a:lstStyle/>
          <a:p>
            <a:pPr indent="0" marL="0">
              <a:buNone/>
            </a:pPr>
            <a:r>
              <a:rPr lang="en-US" sz="1600" dirty="0">
                <a:solidFill>
                  <a:srgbClr val="1F1F1F"/>
                </a:solidFill>
              </a:rPr>
              <a:t>Reduced renal clearance raises exposure to renally-eliminated drugs; the standard response is a lower dose, a longer interval, or both, guided by eGFR/CrCl (S17).</a:t>
            </a:r>
            <a:r>
              <a:rPr lang="en-US" sz="1100" dirty="0">
                <a:solidFill>
                  <a:srgbClr val="666666"/>
                </a:solidFill>
              </a:rPr>
              <a:t>  S15; S16-17</a:t>
            </a:r>
            <a:endParaRPr lang="en-US" sz="1600" dirty="0"/>
          </a:p>
        </p:txBody>
      </p:sp>
      <p:sp>
        <p:nvSpPr>
          <p:cNvPr id="11" name="Why others wrong card"/>
          <p:cNvSpPr/>
          <p:nvPr/>
        </p:nvSpPr>
        <p:spPr>
          <a:xfrm>
            <a:off x="548640" y="2873248"/>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982976"/>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Increase the dose to maintain the effect — </a:t>
            </a:r>
            <a:r>
              <a:rPr lang="en-US" sz="1600" dirty="0">
                <a:solidFill>
                  <a:srgbClr val="1F1F1F"/>
                </a:solidFill>
              </a:rPr>
              <a:t>Exposure is already increased; a higher dose would worsen accumulation (S15).</a:t>
            </a:r>
            <a:endParaRPr lang="en-US" sz="1600" dirty="0"/>
          </a:p>
          <a:p>
            <a:pPr indent="0" marL="0">
              <a:buNone/>
            </a:pPr>
            <a:r>
              <a:rPr lang="en-US" sz="1600" b="1" dirty="0">
                <a:solidFill>
                  <a:srgbClr val="1F1F1F"/>
                </a:solidFill>
              </a:rPr>
              <a:t>B. Shorten the dosing interval to every few hours — </a:t>
            </a:r>
            <a:r>
              <a:rPr lang="en-US" sz="1600" dirty="0">
                <a:solidFill>
                  <a:srgbClr val="1F1F1F"/>
                </a:solidFill>
              </a:rPr>
              <a:t>Intervals should be EXTENDED, not shortened, in renal impairment (S17).</a:t>
            </a:r>
            <a:endParaRPr lang="en-US" sz="1600" dirty="0"/>
          </a:p>
          <a:p>
            <a:pPr indent="0" marL="0">
              <a:buNone/>
            </a:pPr>
            <a:r>
              <a:rPr lang="en-US" sz="1600" b="1" dirty="0">
                <a:solidFill>
                  <a:srgbClr val="1F1F1F"/>
                </a:solidFill>
              </a:rPr>
              <a:t>D. No dose or interval adjustment is needed — </a:t>
            </a:r>
            <a:r>
              <a:rPr lang="en-US" sz="1600" dirty="0">
                <a:solidFill>
                  <a:srgbClr val="1F1F1F"/>
                </a:solidFill>
              </a:rPr>
              <a:t>Decreased renal function raises exposure and accumulation risk (S15).</a:t>
            </a:r>
            <a:endParaRPr lang="en-US" sz="1600" dirty="0"/>
          </a:p>
          <a:p>
            <a:pPr indent="0" marL="0">
              <a:buNone/>
            </a:pPr>
            <a:r>
              <a:rPr lang="en-US" sz="1600" b="1" dirty="0">
                <a:solidFill>
                  <a:srgbClr val="1F1F1F"/>
                </a:solidFill>
              </a:rPr>
              <a:t>E. Switch to IV administration only for now — </a:t>
            </a:r>
            <a:r>
              <a:rPr lang="en-US" sz="1600" dirty="0">
                <a:solidFill>
                  <a:srgbClr val="1F1F1F"/>
                </a:solidFill>
              </a:rPr>
              <a:t>Route doesn't fix reduced renal clearance; adjust dose/interval (S17).</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8</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SO2 · IO1.2 · IO1.3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40</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A patient arrives after an aspirin overdose, and the team alkalinizes the urine. How does this increase elimination of the drug?</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It shifts elimination from the kidney to bile and feces</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It makes the drug more lipophilic so it is reabsorbed</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It increases glomerular filtration of protein-bound drug</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It activates tubular transporters that secrete the drug</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It traps ionized drug in the tubule, blocking its reabsorption</a:t>
            </a:r>
            <a:endParaRPr lang="en-US" sz="1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8: E</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SO2 · IO1.2 · IO1.3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41</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E. </a:t>
            </a:r>
            <a:r>
              <a:rPr lang="en-US" sz="1600" b="1" dirty="0">
                <a:solidFill>
                  <a:srgbClr val="1F1F1F"/>
                </a:solidFill>
              </a:rPr>
              <a:t>It traps ionized drug in the tubule, blocking its reabsorption</a:t>
            </a:r>
            <a:endParaRPr lang="en-US" sz="1600" dirty="0"/>
          </a:p>
        </p:txBody>
      </p:sp>
      <p:sp>
        <p:nvSpPr>
          <p:cNvPr id="10" name="Why correct"/>
          <p:cNvSpPr txBox="1"/>
          <p:nvPr/>
        </p:nvSpPr>
        <p:spPr>
          <a:xfrm>
            <a:off x="777240" y="2011680"/>
            <a:ext cx="10637215" cy="724408"/>
          </a:xfrm>
          <a:prstGeom prst="rect">
            <a:avLst/>
          </a:prstGeom>
          <a:noFill/>
          <a:ln/>
        </p:spPr>
        <p:txBody>
          <a:bodyPr wrap="square" lIns="0" tIns="0" rIns="0" bIns="0" rtlCol="0" anchor="t"/>
          <a:lstStyle/>
          <a:p>
            <a:pPr indent="0" marL="0">
              <a:buNone/>
            </a:pPr>
            <a:r>
              <a:rPr lang="en-US" sz="1600" dirty="0">
                <a:solidFill>
                  <a:srgbClr val="1F1F1F"/>
                </a:solidFill>
              </a:rPr>
              <a:t>Urine pH manipulation works by trapping ionized drug in the tubule, blocking reabsorption (S14 notes); only lipophilic, un-ionized drug is reabsorbed (S14).</a:t>
            </a:r>
            <a:r>
              <a:rPr lang="en-US" sz="1100" dirty="0">
                <a:solidFill>
                  <a:srgbClr val="666666"/>
                </a:solidFill>
              </a:rPr>
              <a:t>  S14; S14 (notes)</a:t>
            </a:r>
            <a:endParaRPr lang="en-US" sz="1600" dirty="0"/>
          </a:p>
        </p:txBody>
      </p:sp>
      <p:sp>
        <p:nvSpPr>
          <p:cNvPr id="11" name="Why others wrong card"/>
          <p:cNvSpPr/>
          <p:nvPr/>
        </p:nvSpPr>
        <p:spPr>
          <a:xfrm>
            <a:off x="548640" y="2873248"/>
            <a:ext cx="11094415" cy="2200656"/>
          </a:xfrm>
          <a:prstGeom prst="roundRect">
            <a:avLst>
              <a:gd name="adj" fmla="val 4155"/>
            </a:avLst>
          </a:prstGeom>
          <a:solidFill>
            <a:srgbClr val="F2F4F7"/>
          </a:solidFill>
          <a:ln w="12700">
            <a:solidFill>
              <a:srgbClr val="F2F4F7"/>
            </a:solidFill>
            <a:prstDash val="solid"/>
          </a:ln>
        </p:spPr>
      </p:sp>
      <p:sp>
        <p:nvSpPr>
          <p:cNvPr id="12" name="Why others wrong"/>
          <p:cNvSpPr txBox="1"/>
          <p:nvPr/>
        </p:nvSpPr>
        <p:spPr>
          <a:xfrm>
            <a:off x="777240" y="2982976"/>
            <a:ext cx="10637215" cy="2017776"/>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It shifts elimination from the kidney to bile and feces — </a:t>
            </a:r>
            <a:r>
              <a:rPr lang="en-US" sz="1600" dirty="0">
                <a:solidFill>
                  <a:srgbClr val="1F1F1F"/>
                </a:solidFill>
              </a:rPr>
              <a:t>The mechanism acts in the renal tubule (S14 notes).</a:t>
            </a:r>
            <a:endParaRPr lang="en-US" sz="1600" dirty="0"/>
          </a:p>
          <a:p>
            <a:pPr indent="0" marL="0">
              <a:buNone/>
            </a:pPr>
            <a:r>
              <a:rPr lang="en-US" sz="1600" b="1" dirty="0">
                <a:solidFill>
                  <a:srgbClr val="1F1F1F"/>
                </a:solidFill>
              </a:rPr>
              <a:t>B. It makes the drug more lipophilic so it is reabsorbed — </a:t>
            </a:r>
            <a:r>
              <a:rPr lang="en-US" sz="1600" dirty="0">
                <a:solidFill>
                  <a:srgbClr val="1F1F1F"/>
                </a:solidFill>
              </a:rPr>
              <a:t>Lipophilic, un-ionized drug is reabsorbed — the opposite of the goal (S14).</a:t>
            </a:r>
            <a:endParaRPr lang="en-US" sz="1600" dirty="0"/>
          </a:p>
          <a:p>
            <a:pPr indent="0" marL="0">
              <a:buNone/>
            </a:pPr>
            <a:r>
              <a:rPr lang="en-US" sz="1600" b="1" dirty="0">
                <a:solidFill>
                  <a:srgbClr val="1F1F1F"/>
                </a:solidFill>
              </a:rPr>
              <a:t>C. It increases glomerular filtration of protein-bound drug — </a:t>
            </a:r>
            <a:r>
              <a:rPr lang="en-US" sz="1600" dirty="0">
                <a:solidFill>
                  <a:srgbClr val="1F1F1F"/>
                </a:solidFill>
              </a:rPr>
              <a:t>Only free (unbound) drug is filtered (S14).</a:t>
            </a:r>
            <a:endParaRPr lang="en-US" sz="1600" dirty="0"/>
          </a:p>
          <a:p>
            <a:pPr indent="0" marL="0">
              <a:buNone/>
            </a:pPr>
            <a:r>
              <a:rPr lang="en-US" sz="1600" b="1" dirty="0">
                <a:solidFill>
                  <a:srgbClr val="1F1F1F"/>
                </a:solidFill>
              </a:rPr>
              <a:t>D. It activates tubular transporters that secrete the drug — </a:t>
            </a:r>
            <a:r>
              <a:rPr lang="en-US" sz="1600" dirty="0">
                <a:solidFill>
                  <a:srgbClr val="1F1F1F"/>
                </a:solidFill>
              </a:rPr>
              <a:t>Secretion uses active transporters (S14), but urine pH works by blocking reabsorption (S14 notes).</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2F4F8A"/>
        </a:solidFill>
      </p:bgPr>
    </p:bg>
    <p:spTree>
      <p:nvGrpSpPr>
        <p:cNvPr id="1" name=""/>
        <p:cNvGrpSpPr/>
        <p:nvPr/>
      </p:nvGrpSpPr>
      <p:grpSpPr>
        <a:xfrm>
          <a:off x="0" y="0"/>
          <a:ext cx="0" cy="0"/>
          <a:chOff x="0" y="0"/>
          <a:chExt cx="0" cy="0"/>
        </a:xfrm>
      </p:grpSpPr>
      <p:sp>
        <p:nvSpPr>
          <p:cNvPr id="2" name="Text 0"/>
          <p:cNvSpPr txBox="1"/>
          <p:nvPr/>
        </p:nvSpPr>
        <p:spPr>
          <a:xfrm>
            <a:off x="548640" y="1463040"/>
            <a:ext cx="7315200" cy="365760"/>
          </a:xfrm>
          <a:prstGeom prst="rect">
            <a:avLst/>
          </a:prstGeom>
          <a:noFill/>
          <a:ln/>
        </p:spPr>
        <p:txBody>
          <a:bodyPr wrap="square" lIns="0" tIns="0" rIns="0" bIns="0" rtlCol="0" anchor="ctr"/>
          <a:lstStyle/>
          <a:p>
            <a:pPr indent="0" marL="0">
              <a:buNone/>
            </a:pPr>
            <a:r>
              <a:rPr lang="en-US" sz="1600" b="1" dirty="0">
                <a:solidFill>
                  <a:srgbClr val="D6E0F5"/>
                </a:solidFill>
              </a:rPr>
              <a:t>Topic 3 of 5</a:t>
            </a:r>
            <a:endParaRPr lang="en-US" sz="1600" dirty="0"/>
          </a:p>
        </p:txBody>
      </p:sp>
      <p:sp>
        <p:nvSpPr>
          <p:cNvPr id="3" name="Title"/>
          <p:cNvSpPr txBox="1"/>
          <p:nvPr/>
        </p:nvSpPr>
        <p:spPr>
          <a:xfrm>
            <a:off x="548640" y="1874520"/>
            <a:ext cx="11094415" cy="1188720"/>
          </a:xfrm>
          <a:prstGeom prst="rect">
            <a:avLst/>
          </a:prstGeom>
          <a:noFill/>
          <a:ln/>
        </p:spPr>
        <p:txBody>
          <a:bodyPr wrap="square" lIns="0" tIns="0" rIns="0" bIns="0" rtlCol="0" anchor="t"/>
          <a:lstStyle/>
          <a:p>
            <a:pPr indent="0" marL="0">
              <a:buNone/>
            </a:pPr>
            <a:r>
              <a:rPr lang="en-US" sz="4100" b="1" dirty="0">
                <a:solidFill>
                  <a:srgbClr val="FFFFFF"/>
                </a:solidFill>
                <a:latin typeface="Calibri" pitchFamily="34" charset="0"/>
                <a:ea typeface="Calibri" pitchFamily="34" charset="-122"/>
                <a:cs typeface="Calibri" pitchFamily="34" charset="-120"/>
              </a:rPr>
              <a:t>PK Calculations: Half-Life, Steady State &amp; Clearance</a:t>
            </a:r>
            <a:endParaRPr lang="en-US" sz="4100" dirty="0"/>
          </a:p>
        </p:txBody>
      </p:sp>
      <p:sp>
        <p:nvSpPr>
          <p:cNvPr id="4" name="Text 2"/>
          <p:cNvSpPr txBox="1"/>
          <p:nvPr/>
        </p:nvSpPr>
        <p:spPr>
          <a:xfrm>
            <a:off x="548640" y="3108960"/>
            <a:ext cx="9144000" cy="365760"/>
          </a:xfrm>
          <a:prstGeom prst="rect">
            <a:avLst/>
          </a:prstGeom>
          <a:noFill/>
          <a:ln/>
        </p:spPr>
        <p:txBody>
          <a:bodyPr wrap="square" lIns="0" tIns="0" rIns="0" bIns="0" rtlCol="0" anchor="ctr"/>
          <a:lstStyle/>
          <a:p>
            <a:pPr indent="0" marL="0">
              <a:buNone/>
            </a:pPr>
            <a:r>
              <a:rPr lang="en-US" sz="1800" dirty="0">
                <a:solidFill>
                  <a:srgbClr val="D6E0F5"/>
                </a:solidFill>
              </a:rPr>
              <a:t>Covers objectives: SO3 · IO1.1 · IO1.3</a:t>
            </a:r>
            <a:endParaRPr lang="en-US" sz="1800" dirty="0"/>
          </a:p>
        </p:txBody>
      </p:sp>
      <p:sp>
        <p:nvSpPr>
          <p:cNvPr id="5" name="Shape 3"/>
          <p:cNvSpPr/>
          <p:nvPr/>
        </p:nvSpPr>
        <p:spPr>
          <a:xfrm>
            <a:off x="1338042" y="4297680"/>
            <a:ext cx="640080" cy="640080"/>
          </a:xfrm>
          <a:prstGeom prst="ellipse">
            <a:avLst/>
          </a:prstGeom>
          <a:solidFill>
            <a:srgbClr val="44546A"/>
          </a:solidFill>
          <a:ln w="1905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1493490" y="4453128"/>
            <a:ext cx="329184" cy="329184"/>
          </a:xfrm>
          <a:prstGeom prst="rect">
            <a:avLst/>
          </a:prstGeom>
        </p:spPr>
      </p:pic>
      <p:sp>
        <p:nvSpPr>
          <p:cNvPr id="7" name="Text 4"/>
          <p:cNvSpPr txBox="1"/>
          <p:nvPr/>
        </p:nvSpPr>
        <p:spPr>
          <a:xfrm>
            <a:off x="594360"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Key definitions</a:t>
            </a:r>
            <a:endParaRPr lang="en-US" sz="1200" dirty="0"/>
          </a:p>
        </p:txBody>
      </p:sp>
      <p:sp>
        <p:nvSpPr>
          <p:cNvPr id="8" name="Shape 5"/>
          <p:cNvSpPr/>
          <p:nvPr/>
        </p:nvSpPr>
        <p:spPr>
          <a:xfrm>
            <a:off x="3556925" y="4297680"/>
            <a:ext cx="640080" cy="640080"/>
          </a:xfrm>
          <a:prstGeom prst="ellipse">
            <a:avLst/>
          </a:prstGeom>
          <a:solidFill>
            <a:srgbClr val="7030A0"/>
          </a:solidFill>
          <a:ln w="1905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3712373" y="4453128"/>
            <a:ext cx="329184" cy="329184"/>
          </a:xfrm>
          <a:prstGeom prst="rect">
            <a:avLst/>
          </a:prstGeom>
        </p:spPr>
      </p:pic>
      <p:sp>
        <p:nvSpPr>
          <p:cNvPr id="10" name="Text 6"/>
          <p:cNvSpPr txBox="1"/>
          <p:nvPr/>
        </p:nvSpPr>
        <p:spPr>
          <a:xfrm>
            <a:off x="2813243"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How it works</a:t>
            </a:r>
            <a:endParaRPr lang="en-US" sz="1200" dirty="0"/>
          </a:p>
        </p:txBody>
      </p:sp>
      <p:sp>
        <p:nvSpPr>
          <p:cNvPr id="11" name="Shape 7"/>
          <p:cNvSpPr/>
          <p:nvPr/>
        </p:nvSpPr>
        <p:spPr>
          <a:xfrm>
            <a:off x="5775808" y="4297680"/>
            <a:ext cx="640080" cy="640080"/>
          </a:xfrm>
          <a:prstGeom prst="ellipse">
            <a:avLst/>
          </a:prstGeom>
          <a:solidFill>
            <a:srgbClr val="548235"/>
          </a:solidFill>
          <a:ln w="19050">
            <a:solidFill>
              <a:srgbClr val="FFFFFF"/>
            </a:solidFill>
            <a:prstDash val="solid"/>
          </a:ln>
        </p:spPr>
      </p:sp>
      <p:pic>
        <p:nvPicPr>
          <p:cNvPr id="12" name="Image 2" descr="preencoded.png">    </p:cNvPr>
          <p:cNvPicPr>
            <a:picLocks noChangeAspect="1"/>
          </p:cNvPicPr>
          <p:nvPr/>
        </p:nvPicPr>
        <p:blipFill>
          <a:blip r:embed="rId3"/>
          <a:stretch>
            <a:fillRect/>
          </a:stretch>
        </p:blipFill>
        <p:spPr>
          <a:xfrm>
            <a:off x="5931256" y="4453128"/>
            <a:ext cx="329184" cy="329184"/>
          </a:xfrm>
          <a:prstGeom prst="rect">
            <a:avLst/>
          </a:prstGeom>
        </p:spPr>
      </p:pic>
      <p:sp>
        <p:nvSpPr>
          <p:cNvPr id="13" name="Text 8"/>
          <p:cNvSpPr txBox="1"/>
          <p:nvPr/>
        </p:nvSpPr>
        <p:spPr>
          <a:xfrm>
            <a:off x="5032126"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Clinical relevance</a:t>
            </a:r>
            <a:endParaRPr lang="en-US" sz="1200" dirty="0"/>
          </a:p>
        </p:txBody>
      </p:sp>
      <p:sp>
        <p:nvSpPr>
          <p:cNvPr id="14" name="Shape 9"/>
          <p:cNvSpPr/>
          <p:nvPr/>
        </p:nvSpPr>
        <p:spPr>
          <a:xfrm>
            <a:off x="7994691" y="4297680"/>
            <a:ext cx="640080" cy="640080"/>
          </a:xfrm>
          <a:prstGeom prst="ellipse">
            <a:avLst/>
          </a:prstGeom>
          <a:solidFill>
            <a:srgbClr val="4472C4"/>
          </a:solidFill>
          <a:ln w="19050">
            <a:solidFill>
              <a:srgbClr val="FFFFFF"/>
            </a:solidFill>
            <a:prstDash val="solid"/>
          </a:ln>
        </p:spPr>
      </p:sp>
      <p:pic>
        <p:nvPicPr>
          <p:cNvPr id="15" name="Image 3" descr="preencoded.png">    </p:cNvPr>
          <p:cNvPicPr>
            <a:picLocks noChangeAspect="1"/>
          </p:cNvPicPr>
          <p:nvPr/>
        </p:nvPicPr>
        <p:blipFill>
          <a:blip r:embed="rId4"/>
          <a:stretch>
            <a:fillRect/>
          </a:stretch>
        </p:blipFill>
        <p:spPr>
          <a:xfrm>
            <a:off x="8150139" y="4453128"/>
            <a:ext cx="329184" cy="329184"/>
          </a:xfrm>
          <a:prstGeom prst="rect">
            <a:avLst/>
          </a:prstGeom>
        </p:spPr>
      </p:pic>
      <p:sp>
        <p:nvSpPr>
          <p:cNvPr id="16" name="Text 10"/>
          <p:cNvSpPr txBox="1"/>
          <p:nvPr/>
        </p:nvSpPr>
        <p:spPr>
          <a:xfrm>
            <a:off x="7251009"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Drugs named as examples</a:t>
            </a:r>
            <a:endParaRPr lang="en-US" sz="1200" dirty="0"/>
          </a:p>
        </p:txBody>
      </p:sp>
      <p:sp>
        <p:nvSpPr>
          <p:cNvPr id="17" name="Shape 11"/>
          <p:cNvSpPr/>
          <p:nvPr/>
        </p:nvSpPr>
        <p:spPr>
          <a:xfrm>
            <a:off x="10213574" y="4297680"/>
            <a:ext cx="640080" cy="640080"/>
          </a:xfrm>
          <a:prstGeom prst="ellipse">
            <a:avLst/>
          </a:prstGeom>
          <a:solidFill>
            <a:srgbClr val="C00000"/>
          </a:solidFill>
          <a:ln w="19050">
            <a:solidFill>
              <a:srgbClr val="FFFFFF"/>
            </a:solidFill>
            <a:prstDash val="solid"/>
          </a:ln>
        </p:spPr>
      </p:sp>
      <p:pic>
        <p:nvPicPr>
          <p:cNvPr id="18" name="Image 4" descr="preencoded.png">    </p:cNvPr>
          <p:cNvPicPr>
            <a:picLocks noChangeAspect="1"/>
          </p:cNvPicPr>
          <p:nvPr/>
        </p:nvPicPr>
        <p:blipFill>
          <a:blip r:embed="rId5"/>
          <a:stretch>
            <a:fillRect/>
          </a:stretch>
        </p:blipFill>
        <p:spPr>
          <a:xfrm>
            <a:off x="10369022" y="4453128"/>
            <a:ext cx="329184" cy="329184"/>
          </a:xfrm>
          <a:prstGeom prst="rect">
            <a:avLst/>
          </a:prstGeom>
        </p:spPr>
      </p:pic>
      <p:sp>
        <p:nvSpPr>
          <p:cNvPr id="19" name="Text 12"/>
          <p:cNvSpPr txBox="1"/>
          <p:nvPr/>
        </p:nvSpPr>
        <p:spPr>
          <a:xfrm>
            <a:off x="9469892"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Exam traps</a:t>
            </a:r>
            <a:endParaRPr lang="en-US" sz="1200" dirty="0"/>
          </a:p>
        </p:txBody>
      </p:sp>
      <p:sp>
        <p:nvSpPr>
          <p:cNvPr id="20" name="Text 1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D6E0F5"/>
                </a:solidFill>
              </a:rPr>
              <a:t>42</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PK CALCULATIONS: HALF-LIFE, STEADY STATE &amp; CLEARANCE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Key definitions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43</a:t>
            </a:r>
            <a:endParaRPr lang="en-US" sz="1000" dirty="0"/>
          </a:p>
        </p:txBody>
      </p:sp>
      <p:sp>
        <p:nvSpPr>
          <p:cNvPr id="7" name="Key definitions (1/2) card"/>
          <p:cNvSpPr/>
          <p:nvPr/>
        </p:nvSpPr>
        <p:spPr>
          <a:xfrm>
            <a:off x="548640" y="1325880"/>
            <a:ext cx="11094415" cy="3831336"/>
          </a:xfrm>
          <a:prstGeom prst="roundRect">
            <a:avLst>
              <a:gd name="adj" fmla="val 2864"/>
            </a:avLst>
          </a:prstGeom>
          <a:solidFill>
            <a:srgbClr val="F2F4F7"/>
          </a:solidFill>
          <a:ln w="12700">
            <a:solidFill>
              <a:srgbClr val="F2F4F7"/>
            </a:solidFill>
            <a:prstDash val="solid"/>
          </a:ln>
        </p:spPr>
      </p:sp>
      <p:sp>
        <p:nvSpPr>
          <p:cNvPr id="8" name="Key definitions (1/2) icon circle"/>
          <p:cNvSpPr/>
          <p:nvPr/>
        </p:nvSpPr>
        <p:spPr>
          <a:xfrm>
            <a:off x="777240" y="1508760"/>
            <a:ext cx="438912" cy="438912"/>
          </a:xfrm>
          <a:prstGeom prst="ellipse">
            <a:avLst/>
          </a:prstGeom>
          <a:solidFill>
            <a:srgbClr val="44546A"/>
          </a:solidFill>
          <a:ln w="12700">
            <a:solidFill>
              <a:srgbClr val="44546A"/>
            </a:solidFill>
            <a:prstDash val="solid"/>
          </a:ln>
        </p:spPr>
      </p:sp>
      <p:pic>
        <p:nvPicPr>
          <p:cNvPr id="9" name="Key definitions (1/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Key definitions (1/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44546A"/>
                </a:solidFill>
              </a:rPr>
              <a:t>Key definitions (1/2)</a:t>
            </a:r>
            <a:endParaRPr lang="en-US" sz="1800" dirty="0"/>
          </a:p>
        </p:txBody>
      </p:sp>
      <p:sp>
        <p:nvSpPr>
          <p:cNvPr id="11" name="Key definitions (1/2) body"/>
          <p:cNvSpPr txBox="1"/>
          <p:nvPr/>
        </p:nvSpPr>
        <p:spPr>
          <a:xfrm>
            <a:off x="777240" y="2075688"/>
            <a:ext cx="10637215" cy="2962656"/>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Half-life (t½) = the time required for the plasma drug concentration to fall by 50%.</a:t>
            </a:r>
            <a:r>
              <a:rPr lang="en-US" sz="1300" dirty="0">
                <a:solidFill>
                  <a:srgbClr val="666666"/>
                </a:solidFill>
              </a:rPr>
              <a:t>  S19</a:t>
            </a:r>
            <a:endParaRPr lang="en-US" sz="1800" dirty="0"/>
          </a:p>
          <a:p>
            <a:pPr marL="228600" indent="-228600">
              <a:spcAft>
                <a:spcPts val="800"/>
              </a:spcAft>
              <a:buSzPct val="100000"/>
              <a:buChar char="•"/>
            </a:pPr>
            <a:r>
              <a:rPr lang="en-US" sz="1800" b="1" dirty="0">
                <a:solidFill>
                  <a:srgbClr val="1F1F1F"/>
                </a:solidFill>
              </a:rPr>
              <a:t>Steady state:</a:t>
            </a:r>
            <a:r>
              <a:rPr lang="en-US" sz="1800" dirty="0">
                <a:solidFill>
                  <a:srgbClr val="1F1F1F"/>
                </a:solidFill>
              </a:rPr>
              <a:t> the point at which drug intake equals drug elimination; reached in about 4–5 half-lives with regular dosing.</a:t>
            </a:r>
            <a:r>
              <a:rPr lang="en-US" sz="1300" dirty="0">
                <a:solidFill>
                  <a:srgbClr val="666666"/>
                </a:solidFill>
              </a:rPr>
              <a:t>  S23; SG U1-R11</a:t>
            </a:r>
            <a:endParaRPr lang="en-US" sz="1800" dirty="0"/>
          </a:p>
          <a:p>
            <a:pPr marL="228600" indent="-228600">
              <a:spcAft>
                <a:spcPts val="800"/>
              </a:spcAft>
              <a:buSzPct val="100000"/>
              <a:buChar char="•"/>
            </a:pPr>
            <a:r>
              <a:rPr lang="en-US" sz="1800" b="1" dirty="0">
                <a:solidFill>
                  <a:srgbClr val="1F1F1F"/>
                </a:solidFill>
              </a:rPr>
              <a:t>Loading dose:</a:t>
            </a:r>
            <a:r>
              <a:rPr lang="en-US" sz="1800" dirty="0">
                <a:solidFill>
                  <a:srgbClr val="1F1F1F"/>
                </a:solidFill>
              </a:rPr>
              <a:t> a larger initial dose used to rapidly reach a therapeutic concentration, without waiting for steady state.</a:t>
            </a:r>
            <a:r>
              <a:rPr lang="en-US" sz="1300" dirty="0">
                <a:solidFill>
                  <a:srgbClr val="666666"/>
                </a:solidFill>
              </a:rPr>
              <a:t>  S23</a:t>
            </a:r>
            <a:endParaRPr lang="en-US" sz="1800" dirty="0"/>
          </a:p>
          <a:p>
            <a:pPr marL="228600" indent="-228600">
              <a:spcAft>
                <a:spcPts val="800"/>
              </a:spcAft>
              <a:buSzPct val="100000"/>
              <a:buChar char="•"/>
            </a:pPr>
            <a:r>
              <a:rPr lang="en-US" sz="1800" b="1" dirty="0">
                <a:solidFill>
                  <a:srgbClr val="1F1F1F"/>
                </a:solidFill>
              </a:rPr>
              <a:t>Maintenance dose:</a:t>
            </a:r>
            <a:r>
              <a:rPr lang="en-US" sz="1800" dirty="0">
                <a:solidFill>
                  <a:srgbClr val="1F1F1F"/>
                </a:solidFill>
              </a:rPr>
              <a:t> the regular, ongoing dose that keeps the drug within the therapeutic range once steady state is reached.</a:t>
            </a:r>
            <a:r>
              <a:rPr lang="en-US" sz="1300" dirty="0">
                <a:solidFill>
                  <a:srgbClr val="666666"/>
                </a:solidFill>
              </a:rPr>
              <a:t>  S23</a:t>
            </a:r>
            <a:endParaRPr lang="en-US" sz="1800" dirty="0"/>
          </a:p>
          <a:p>
            <a:pPr marL="228600" indent="-228600">
              <a:spcAft>
                <a:spcPts val="800"/>
              </a:spcAft>
              <a:buSzPct val="100000"/>
              <a:buChar char="•"/>
            </a:pPr>
            <a:r>
              <a:rPr lang="en-US" sz="1800" b="1" dirty="0">
                <a:solidFill>
                  <a:srgbClr val="1F1F1F"/>
                </a:solidFill>
              </a:rPr>
              <a:t>Clearance = the volume of plasma from which drug is completely removed per unit time.</a:t>
            </a:r>
            <a:r>
              <a:rPr lang="en-US" sz="1300" dirty="0">
                <a:solidFill>
                  <a:srgbClr val="666666"/>
                </a:solidFill>
              </a:rPr>
              <a:t>  S27</a:t>
            </a:r>
            <a:endParaRPr lang="en-US" sz="1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PK CALCULATIONS: HALF-LIFE, STEADY STATE &amp; CLEARANCE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Key definitions (cont.)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44</a:t>
            </a:r>
            <a:endParaRPr lang="en-US" sz="1000" dirty="0"/>
          </a:p>
        </p:txBody>
      </p:sp>
      <p:sp>
        <p:nvSpPr>
          <p:cNvPr id="7" name="Key definitions (2/2) card"/>
          <p:cNvSpPr/>
          <p:nvPr/>
        </p:nvSpPr>
        <p:spPr>
          <a:xfrm>
            <a:off x="548640" y="1325880"/>
            <a:ext cx="11094415" cy="4110228"/>
          </a:xfrm>
          <a:prstGeom prst="roundRect">
            <a:avLst>
              <a:gd name="adj" fmla="val 2670"/>
            </a:avLst>
          </a:prstGeom>
          <a:solidFill>
            <a:srgbClr val="F2F4F7"/>
          </a:solidFill>
          <a:ln w="12700">
            <a:solidFill>
              <a:srgbClr val="F2F4F7"/>
            </a:solidFill>
            <a:prstDash val="solid"/>
          </a:ln>
        </p:spPr>
      </p:sp>
      <p:sp>
        <p:nvSpPr>
          <p:cNvPr id="8" name="Key definitions (2/2) icon circle"/>
          <p:cNvSpPr/>
          <p:nvPr/>
        </p:nvSpPr>
        <p:spPr>
          <a:xfrm>
            <a:off x="777240" y="1508760"/>
            <a:ext cx="438912" cy="438912"/>
          </a:xfrm>
          <a:prstGeom prst="ellipse">
            <a:avLst/>
          </a:prstGeom>
          <a:solidFill>
            <a:srgbClr val="44546A"/>
          </a:solidFill>
          <a:ln w="12700">
            <a:solidFill>
              <a:srgbClr val="44546A"/>
            </a:solidFill>
            <a:prstDash val="solid"/>
          </a:ln>
        </p:spPr>
      </p:sp>
      <p:pic>
        <p:nvPicPr>
          <p:cNvPr id="9" name="Key definitions (2/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Key definitions (2/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44546A"/>
                </a:solidFill>
              </a:rPr>
              <a:t>Key definitions (2/2)</a:t>
            </a:r>
            <a:endParaRPr lang="en-US" sz="1800" dirty="0"/>
          </a:p>
        </p:txBody>
      </p:sp>
      <p:sp>
        <p:nvSpPr>
          <p:cNvPr id="11" name="Key definitions (2/2) body"/>
          <p:cNvSpPr txBox="1"/>
          <p:nvPr/>
        </p:nvSpPr>
        <p:spPr>
          <a:xfrm>
            <a:off x="777240" y="2075688"/>
            <a:ext cx="10637215" cy="3241548"/>
          </a:xfrm>
          <a:prstGeom prst="rect">
            <a:avLst/>
          </a:prstGeom>
          <a:noFill/>
          <a:ln/>
        </p:spPr>
        <p:txBody>
          <a:bodyPr wrap="square" lIns="0" tIns="0" rIns="0" bIns="0" rtlCol="0" anchor="t"/>
          <a:lstStyle/>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b="1" dirty="0">
                <a:solidFill>
                  <a:srgbClr val="1F1F1F"/>
                </a:solidFill>
              </a:rPr>
              <a:t>t½ = 0.7 × Vd / CL</a:t>
            </a:r>
            <a:r>
              <a:rPr lang="en-US" sz="1800" dirty="0">
                <a:solidFill>
                  <a:srgbClr val="1F1F1F"/>
                </a:solidFill>
              </a:rPr>
              <a:t> — half-life rises when Vd rises or clearance falls.</a:t>
            </a:r>
            <a:r>
              <a:rPr lang="en-US" sz="1300" dirty="0">
                <a:solidFill>
                  <a:srgbClr val="666666"/>
                </a:solidFill>
              </a:rPr>
              <a:t>  p. 56</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b="1" dirty="0">
                <a:solidFill>
                  <a:srgbClr val="1F1F1F"/>
                </a:solidFill>
              </a:rPr>
              <a:t>Loading dose = Vd × target concentration</a:t>
            </a:r>
            <a:r>
              <a:rPr lang="en-US" sz="1800" dirty="0">
                <a:solidFill>
                  <a:srgbClr val="1F1F1F"/>
                </a:solidFill>
              </a:rPr>
              <a:t> (e.g., theophylline: 35 L × 10 mg/L = 350 mg for a 70-kg adult).</a:t>
            </a:r>
            <a:r>
              <a:rPr lang="en-US" sz="1300" dirty="0">
                <a:solidFill>
                  <a:srgbClr val="666666"/>
                </a:solidFill>
              </a:rPr>
              <a:t>  p. 52</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b="1" dirty="0">
                <a:solidFill>
                  <a:srgbClr val="1F1F1F"/>
                </a:solidFill>
              </a:rPr>
              <a:t>Extraction ratio:</a:t>
            </a:r>
            <a:r>
              <a:rPr lang="en-US" sz="1800" dirty="0">
                <a:solidFill>
                  <a:srgbClr val="1F1F1F"/>
                </a:solidFill>
              </a:rPr>
              <a:t> the share of drug the liver removes in one pass. High-ER drugs have low oral bioavailability (morphine ER 0.67 → about 33%).</a:t>
            </a:r>
            <a:r>
              <a:rPr lang="en-US" sz="1300" dirty="0">
                <a:solidFill>
                  <a:srgbClr val="666666"/>
                </a:solidFill>
              </a:rPr>
              <a:t>  p. 49</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b="1" dirty="0">
                <a:solidFill>
                  <a:srgbClr val="1F1F1F"/>
                </a:solidFill>
              </a:rPr>
              <a:t>Target concentration approach</a:t>
            </a:r>
            <a:r>
              <a:rPr lang="en-US" sz="1800" dirty="0">
                <a:solidFill>
                  <a:srgbClr val="1F1F1F"/>
                </a:solidFill>
              </a:rPr>
              <a:t> (the rational way to design a dosage regimen): pick the level that gives the desired effect, then dose from the patient’s clearance and Vd.</a:t>
            </a:r>
            <a:r>
              <a:rPr lang="en-US" sz="1300" dirty="0">
                <a:solidFill>
                  <a:srgbClr val="666666"/>
                </a:solidFill>
              </a:rPr>
              <a:t>  p. 51</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b="1" dirty="0">
                <a:solidFill>
                  <a:srgbClr val="1F1F1F"/>
                </a:solidFill>
              </a:rPr>
              <a:t>Zero-order absorption</a:t>
            </a:r>
            <a:r>
              <a:rPr lang="en-US" sz="1800" dirty="0">
                <a:solidFill>
                  <a:srgbClr val="1F1F1F"/>
                </a:solidFill>
              </a:rPr>
              <a:t> runs at a constant rate (controlled-release forms); </a:t>
            </a:r>
            <a:r>
              <a:rPr lang="en-US" sz="1800" b="1" dirty="0">
                <a:solidFill>
                  <a:srgbClr val="1F1F1F"/>
                </a:solidFill>
              </a:rPr>
              <a:t>first-order</a:t>
            </a:r>
            <a:r>
              <a:rPr lang="en-US" sz="1800" dirty="0">
                <a:solidFill>
                  <a:srgbClr val="1F1F1F"/>
                </a:solidFill>
              </a:rPr>
              <a:t> is proportional to the amount left.</a:t>
            </a:r>
            <a:r>
              <a:rPr lang="en-US" sz="1300" dirty="0">
                <a:solidFill>
                  <a:srgbClr val="666666"/>
                </a:solidFill>
              </a:rPr>
              <a:t>  p. 49</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PK CALCULATIONS: HALF-LIFE, STEADY STATE &amp; CLEARANCE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How it works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45</a:t>
            </a:r>
            <a:endParaRPr lang="en-US" sz="1000" dirty="0"/>
          </a:p>
        </p:txBody>
      </p:sp>
      <p:sp>
        <p:nvSpPr>
          <p:cNvPr id="7" name="How it works (1/3) card"/>
          <p:cNvSpPr/>
          <p:nvPr/>
        </p:nvSpPr>
        <p:spPr>
          <a:xfrm>
            <a:off x="548640" y="1325880"/>
            <a:ext cx="11094415" cy="3941064"/>
          </a:xfrm>
          <a:prstGeom prst="roundRect">
            <a:avLst>
              <a:gd name="adj" fmla="val 2784"/>
            </a:avLst>
          </a:prstGeom>
          <a:solidFill>
            <a:srgbClr val="F2F4F7"/>
          </a:solidFill>
          <a:ln w="12700">
            <a:solidFill>
              <a:srgbClr val="F2F4F7"/>
            </a:solidFill>
            <a:prstDash val="solid"/>
          </a:ln>
        </p:spPr>
      </p:sp>
      <p:sp>
        <p:nvSpPr>
          <p:cNvPr id="8" name="How it works (1/3) icon circle"/>
          <p:cNvSpPr/>
          <p:nvPr/>
        </p:nvSpPr>
        <p:spPr>
          <a:xfrm>
            <a:off x="777240" y="1508760"/>
            <a:ext cx="438912" cy="438912"/>
          </a:xfrm>
          <a:prstGeom prst="ellipse">
            <a:avLst/>
          </a:prstGeom>
          <a:solidFill>
            <a:srgbClr val="7030A0"/>
          </a:solidFill>
          <a:ln w="12700">
            <a:solidFill>
              <a:srgbClr val="7030A0"/>
            </a:solidFill>
            <a:prstDash val="solid"/>
          </a:ln>
        </p:spPr>
      </p:sp>
      <p:pic>
        <p:nvPicPr>
          <p:cNvPr id="9" name="How it works (1/3)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How it works (1/3)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7030A0"/>
                </a:solidFill>
              </a:rPr>
              <a:t>How it works (1/3)</a:t>
            </a:r>
            <a:endParaRPr lang="en-US" sz="1800" dirty="0"/>
          </a:p>
        </p:txBody>
      </p:sp>
      <p:sp>
        <p:nvSpPr>
          <p:cNvPr id="11" name="How it works (1/3) body"/>
          <p:cNvSpPr txBox="1"/>
          <p:nvPr/>
        </p:nvSpPr>
        <p:spPr>
          <a:xfrm>
            <a:off x="777240" y="2075688"/>
            <a:ext cx="10637215" cy="3072384"/>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PK calculations = the math PAs actually use at the bedside.</a:t>
            </a:r>
            <a:r>
              <a:rPr lang="en-US" sz="1300" dirty="0">
                <a:solidFill>
                  <a:srgbClr val="666666"/>
                </a:solidFill>
              </a:rPr>
              <a:t>  S18</a:t>
            </a:r>
            <a:endParaRPr lang="en-US" sz="1800" dirty="0"/>
          </a:p>
          <a:p>
            <a:pPr marL="228600" indent="-228600">
              <a:spcAft>
                <a:spcPts val="800"/>
              </a:spcAft>
              <a:buSzPct val="100000"/>
              <a:buChar char="•"/>
            </a:pPr>
            <a:r>
              <a:rPr lang="en-US" sz="1800" dirty="0">
                <a:solidFill>
                  <a:srgbClr val="1F1F1F"/>
                </a:solidFill>
              </a:rPr>
              <a:t>Half-life is determined by clearance and volume of distribution together — it is not a fixed drug "property" independent of physiology.</a:t>
            </a:r>
            <a:r>
              <a:rPr lang="en-US" sz="1300" dirty="0">
                <a:solidFill>
                  <a:srgbClr val="666666"/>
                </a:solidFill>
              </a:rPr>
              <a:t>  S19</a:t>
            </a:r>
            <a:endParaRPr lang="en-US" sz="1800" dirty="0"/>
          </a:p>
          <a:p>
            <a:pPr marL="228600" indent="-228600">
              <a:spcAft>
                <a:spcPts val="800"/>
              </a:spcAft>
              <a:buSzPct val="100000"/>
              <a:buChar char="•"/>
            </a:pPr>
            <a:r>
              <a:rPr lang="en-US" sz="1800" dirty="0">
                <a:solidFill>
                  <a:srgbClr val="1F1F1F"/>
                </a:solidFill>
              </a:rPr>
              <a:t>A drug is roughly 97% eliminated after about 5 half-lives.</a:t>
            </a:r>
            <a:r>
              <a:rPr lang="en-US" sz="1300" dirty="0">
                <a:solidFill>
                  <a:srgbClr val="666666"/>
                </a:solidFill>
              </a:rPr>
              <a:t>  S19; SG U1-R11</a:t>
            </a:r>
            <a:endParaRPr lang="en-US" sz="1800" dirty="0"/>
          </a:p>
          <a:p>
            <a:pPr marL="228600" indent="-228600">
              <a:spcAft>
                <a:spcPts val="800"/>
              </a:spcAft>
              <a:buSzPct val="100000"/>
              <a:buChar char="•"/>
            </a:pPr>
            <a:r>
              <a:rPr lang="en-US" sz="1800" b="1" dirty="0">
                <a:solidFill>
                  <a:srgbClr val="1F1F1F"/>
                </a:solidFill>
              </a:rPr>
              <a:t>Formula: % remaining = 100% x (1/2)^(number of half-life)</a:t>
            </a:r>
            <a:r>
              <a:rPr lang="en-US" sz="1800" dirty="0">
                <a:solidFill>
                  <a:srgbClr val="1F1F1F"/>
                </a:solidFill>
              </a:rPr>
              <a:t> — i.e., per number of half-lives elapsed.</a:t>
            </a:r>
            <a:r>
              <a:rPr lang="en-US" sz="1300" dirty="0">
                <a:solidFill>
                  <a:srgbClr val="666666"/>
                </a:solidFill>
              </a:rPr>
              <a:t>  S19</a:t>
            </a:r>
            <a:endParaRPr lang="en-US" sz="1800" dirty="0"/>
          </a:p>
          <a:p>
            <a:pPr marL="228600" indent="-228600">
              <a:spcAft>
                <a:spcPts val="800"/>
              </a:spcAft>
              <a:buSzPct val="100000"/>
              <a:buChar char="•"/>
            </a:pPr>
            <a:r>
              <a:rPr lang="en-US" sz="1800" b="1" dirty="0">
                <a:solidFill>
                  <a:srgbClr val="1F1F1F"/>
                </a:solidFill>
              </a:rPr>
              <a:t>Formula: C(t) = C₀ x (1/2)^(t/t½)</a:t>
            </a:r>
            <a:r>
              <a:rPr lang="en-US" sz="1800" dirty="0">
                <a:solidFill>
                  <a:srgbClr val="1F1F1F"/>
                </a:solidFill>
              </a:rPr>
              <a:t> — C₀ = starting concentration, t = time elapsed.</a:t>
            </a:r>
            <a:r>
              <a:rPr lang="en-US" sz="1300" dirty="0">
                <a:solidFill>
                  <a:srgbClr val="666666"/>
                </a:solidFill>
              </a:rPr>
              <a:t>  S19</a:t>
            </a:r>
            <a:endParaRPr lang="en-US" sz="1800" dirty="0"/>
          </a:p>
          <a:p>
            <a:pPr marL="228600" indent="-228600">
              <a:spcAft>
                <a:spcPts val="800"/>
              </a:spcAft>
              <a:buSzPct val="100000"/>
              <a:buChar char="•"/>
            </a:pPr>
            <a:r>
              <a:rPr lang="en-US" sz="1800" dirty="0">
                <a:solidFill>
                  <a:srgbClr val="1F1F1F"/>
                </a:solidFill>
              </a:rPr>
              <a:t>Worked example (both formulas): t½ = 6 h; an IV dose gives a starting plasma concentration of 100 mg/L — see the table for each half-life.</a:t>
            </a:r>
            <a:r>
              <a:rPr lang="en-US" sz="1300" dirty="0">
                <a:solidFill>
                  <a:srgbClr val="666666"/>
                </a:solidFill>
              </a:rPr>
              <a:t>  S19</a:t>
            </a:r>
            <a:endParaRPr lang="en-US" sz="1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PK CALCULATIONS: HALF-LIFE, STEADY STATE &amp; CLEARANCE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How it works (cont.)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46</a:t>
            </a:r>
            <a:endParaRPr lang="en-US" sz="1000" dirty="0"/>
          </a:p>
        </p:txBody>
      </p:sp>
      <p:sp>
        <p:nvSpPr>
          <p:cNvPr id="7" name="How it works (2/3) card"/>
          <p:cNvSpPr/>
          <p:nvPr/>
        </p:nvSpPr>
        <p:spPr>
          <a:xfrm>
            <a:off x="548640" y="1325880"/>
            <a:ext cx="11094415" cy="3941064"/>
          </a:xfrm>
          <a:prstGeom prst="roundRect">
            <a:avLst>
              <a:gd name="adj" fmla="val 2784"/>
            </a:avLst>
          </a:prstGeom>
          <a:solidFill>
            <a:srgbClr val="F2F4F7"/>
          </a:solidFill>
          <a:ln w="12700">
            <a:solidFill>
              <a:srgbClr val="F2F4F7"/>
            </a:solidFill>
            <a:prstDash val="solid"/>
          </a:ln>
        </p:spPr>
      </p:sp>
      <p:sp>
        <p:nvSpPr>
          <p:cNvPr id="8" name="How it works (2/3) icon circle"/>
          <p:cNvSpPr/>
          <p:nvPr/>
        </p:nvSpPr>
        <p:spPr>
          <a:xfrm>
            <a:off x="777240" y="1508760"/>
            <a:ext cx="438912" cy="438912"/>
          </a:xfrm>
          <a:prstGeom prst="ellipse">
            <a:avLst/>
          </a:prstGeom>
          <a:solidFill>
            <a:srgbClr val="7030A0"/>
          </a:solidFill>
          <a:ln w="12700">
            <a:solidFill>
              <a:srgbClr val="7030A0"/>
            </a:solidFill>
            <a:prstDash val="solid"/>
          </a:ln>
        </p:spPr>
      </p:sp>
      <p:pic>
        <p:nvPicPr>
          <p:cNvPr id="9" name="How it works (2/3)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How it works (2/3)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7030A0"/>
                </a:solidFill>
              </a:rPr>
              <a:t>How it works (2/3)</a:t>
            </a:r>
            <a:endParaRPr lang="en-US" sz="1800" dirty="0"/>
          </a:p>
        </p:txBody>
      </p:sp>
      <p:sp>
        <p:nvSpPr>
          <p:cNvPr id="11" name="How it works (2/3) body"/>
          <p:cNvSpPr txBox="1"/>
          <p:nvPr/>
        </p:nvSpPr>
        <p:spPr>
          <a:xfrm>
            <a:off x="777240" y="2075688"/>
            <a:ext cx="10637215" cy="3072384"/>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Clearance determines how efficiently a drug is removed — and, along with Vd, determines half-life.</a:t>
            </a:r>
            <a:r>
              <a:rPr lang="en-US" sz="1300" dirty="0">
                <a:solidFill>
                  <a:srgbClr val="666666"/>
                </a:solidFill>
              </a:rPr>
              <a:t>  S27</a:t>
            </a:r>
            <a:endParaRPr lang="en-US" sz="1800" dirty="0"/>
          </a:p>
          <a:p>
            <a:pPr marL="228600" indent="-228600">
              <a:spcAft>
                <a:spcPts val="800"/>
              </a:spcAft>
              <a:buSzPct val="100000"/>
              <a:buChar char="•"/>
            </a:pPr>
            <a:r>
              <a:rPr lang="en-US" sz="1800" dirty="0">
                <a:solidFill>
                  <a:srgbClr val="1F1F1F"/>
                </a:solidFill>
              </a:rPr>
              <a:t>Total clearance is usually the sum of hepatic and renal clearance.</a:t>
            </a:r>
            <a:r>
              <a:rPr lang="en-US" sz="1300" dirty="0">
                <a:solidFill>
                  <a:srgbClr val="666666"/>
                </a:solidFill>
              </a:rPr>
              <a:t>  S27</a:t>
            </a:r>
            <a:endParaRPr lang="en-US" sz="1800" dirty="0"/>
          </a:p>
          <a:p>
            <a:pPr marL="228600" indent="-228600">
              <a:spcAft>
                <a:spcPts val="800"/>
              </a:spcAft>
              <a:buSzPct val="100000"/>
              <a:buChar char="•"/>
            </a:pPr>
            <a:r>
              <a:rPr lang="en-US" sz="1800" dirty="0">
                <a:solidFill>
                  <a:srgbClr val="1F1F1F"/>
                </a:solidFill>
              </a:rPr>
              <a:t>Loading doses are based on Vd; maintenance doses are based on clearance.</a:t>
            </a:r>
            <a:r>
              <a:rPr lang="en-US" sz="1300" dirty="0">
                <a:solidFill>
                  <a:srgbClr val="666666"/>
                </a:solidFill>
              </a:rPr>
              <a:t>  S23 (notes)</a:t>
            </a:r>
            <a:endParaRPr lang="en-US" sz="1800" dirty="0"/>
          </a:p>
          <a:p>
            <a:pPr marL="228600" indent="-228600">
              <a:spcAft>
                <a:spcPts val="800"/>
              </a:spcAft>
              <a:buSzPct val="100000"/>
              <a:buChar char="•"/>
            </a:pPr>
            <a:r>
              <a:rPr lang="en-US" sz="1800" dirty="0">
                <a:solidFill>
                  <a:srgbClr val="1F1F1F"/>
                </a:solidFill>
              </a:rPr>
              <a:t>Steady state takes ~4–5 half-lives regardless of dose size — the same reason a drug is ~97% eliminated ~5 half-lives after stopping it.</a:t>
            </a:r>
            <a:r>
              <a:rPr lang="en-US" sz="1300" dirty="0">
                <a:solidFill>
                  <a:srgbClr val="666666"/>
                </a:solidFill>
              </a:rPr>
              <a:t>  S30</a:t>
            </a:r>
            <a:endParaRPr lang="en-US" sz="1800" dirty="0"/>
          </a:p>
          <a:p>
            <a:pPr marL="228600" indent="-228600">
              <a:spcAft>
                <a:spcPts val="800"/>
              </a:spcAft>
              <a:buSzPct val="100000"/>
              <a:buChar char="•"/>
            </a:pPr>
            <a:r>
              <a:rPr lang="en-US" sz="1800" dirty="0">
                <a:solidFill>
                  <a:srgbClr val="1F1F1F"/>
                </a:solidFill>
              </a:rPr>
              <a:t>Time to steady state (about 4–5 half-lives) is governed by half-life.</a:t>
            </a:r>
            <a:r>
              <a:rPr lang="en-US" sz="1300" dirty="0">
                <a:solidFill>
                  <a:srgbClr val="666666"/>
                </a:solidFill>
              </a:rPr>
              <a:t>  S48</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During regular dosing: 50% of steady state after 1 half-life, 75% after 2, and over 90% after 4 — the textbook's "four half-lives" rule of thumb.</a:t>
            </a:r>
            <a:r>
              <a:rPr lang="en-US" sz="1300" dirty="0">
                <a:solidFill>
                  <a:srgbClr val="666666"/>
                </a:solidFill>
              </a:rPr>
              <a:t>  p. 47</a:t>
            </a:r>
            <a:endParaRPr lang="en-US" sz="1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PK CALCULATIONS: HALF-LIFE, STEADY STATE &amp; CLEARANCE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How it works (cont.)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47</a:t>
            </a:r>
            <a:endParaRPr lang="en-US" sz="1000" dirty="0"/>
          </a:p>
        </p:txBody>
      </p:sp>
      <p:sp>
        <p:nvSpPr>
          <p:cNvPr id="7" name="How it works (3/3) card"/>
          <p:cNvSpPr/>
          <p:nvPr/>
        </p:nvSpPr>
        <p:spPr>
          <a:xfrm>
            <a:off x="548640" y="1325880"/>
            <a:ext cx="11094415" cy="3442716"/>
          </a:xfrm>
          <a:prstGeom prst="roundRect">
            <a:avLst>
              <a:gd name="adj" fmla="val 3187"/>
            </a:avLst>
          </a:prstGeom>
          <a:solidFill>
            <a:srgbClr val="F2F4F7"/>
          </a:solidFill>
          <a:ln w="12700">
            <a:solidFill>
              <a:srgbClr val="F2F4F7"/>
            </a:solidFill>
            <a:prstDash val="solid"/>
          </a:ln>
        </p:spPr>
      </p:sp>
      <p:sp>
        <p:nvSpPr>
          <p:cNvPr id="8" name="How it works (3/3) icon circle"/>
          <p:cNvSpPr/>
          <p:nvPr/>
        </p:nvSpPr>
        <p:spPr>
          <a:xfrm>
            <a:off x="777240" y="1508760"/>
            <a:ext cx="438912" cy="438912"/>
          </a:xfrm>
          <a:prstGeom prst="ellipse">
            <a:avLst/>
          </a:prstGeom>
          <a:solidFill>
            <a:srgbClr val="7030A0"/>
          </a:solidFill>
          <a:ln w="12700">
            <a:solidFill>
              <a:srgbClr val="7030A0"/>
            </a:solidFill>
            <a:prstDash val="solid"/>
          </a:ln>
        </p:spPr>
      </p:sp>
      <p:pic>
        <p:nvPicPr>
          <p:cNvPr id="9" name="How it works (3/3)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How it works (3/3)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7030A0"/>
                </a:solidFill>
              </a:rPr>
              <a:t>How it works (3/3)</a:t>
            </a:r>
            <a:endParaRPr lang="en-US" sz="1800" dirty="0"/>
          </a:p>
        </p:txBody>
      </p:sp>
      <p:sp>
        <p:nvSpPr>
          <p:cNvPr id="11" name="How it works (3/3) body"/>
          <p:cNvSpPr txBox="1"/>
          <p:nvPr/>
        </p:nvSpPr>
        <p:spPr>
          <a:xfrm>
            <a:off x="777240" y="2075688"/>
            <a:ext cx="10637215" cy="2574036"/>
          </a:xfrm>
          <a:prstGeom prst="rect">
            <a:avLst/>
          </a:prstGeom>
          <a:noFill/>
          <a:ln/>
        </p:spPr>
        <p:txBody>
          <a:bodyPr wrap="square" lIns="0" tIns="0" rIns="0" bIns="0" rtlCol="0" anchor="t"/>
          <a:lstStyle/>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b="1" dirty="0">
                <a:solidFill>
                  <a:srgbClr val="1F1F1F"/>
                </a:solidFill>
              </a:rPr>
              <a:t>Capacity-limited (saturable) elimination:</a:t>
            </a:r>
            <a:r>
              <a:rPr lang="en-US" sz="1800" dirty="0">
                <a:solidFill>
                  <a:srgbClr val="1F1F1F"/>
                </a:solidFill>
              </a:rPr>
              <a:t> clearance falls as concentration rises — important for phenytoin, ethanol, and aspirin.</a:t>
            </a:r>
            <a:r>
              <a:rPr lang="en-US" sz="1300" dirty="0">
                <a:solidFill>
                  <a:srgbClr val="666666"/>
                </a:solidFill>
              </a:rPr>
              <a:t>  p. 47</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b="1" dirty="0">
                <a:solidFill>
                  <a:srgbClr val="1F1F1F"/>
                </a:solidFill>
              </a:rPr>
              <a:t>Maintenance dosing rate = clearance × target concentration</a:t>
            </a:r>
            <a:r>
              <a:rPr lang="en-US" sz="1800" dirty="0">
                <a:solidFill>
                  <a:srgbClr val="1F1F1F"/>
                </a:solidFill>
              </a:rPr>
              <a:t> (÷ F if oral). The dosing interval changes only peaks and troughs, not the average level.</a:t>
            </a:r>
            <a:r>
              <a:rPr lang="en-US" sz="1300" dirty="0">
                <a:solidFill>
                  <a:srgbClr val="666666"/>
                </a:solidFill>
              </a:rPr>
              <a:t>  p. 51</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Half-life can change without clearance changing: diazepam’s half-life lengthens with age because its Vd grows.</a:t>
            </a:r>
            <a:r>
              <a:rPr lang="en-US" sz="1300" dirty="0">
                <a:solidFill>
                  <a:srgbClr val="666666"/>
                </a:solidFill>
              </a:rPr>
              <a:t>  p. 54</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Effects can outlast plasma levels (delayed effects): warfarin acts only as clotting factors turn over.</a:t>
            </a:r>
            <a:r>
              <a:rPr lang="en-US" sz="1300" dirty="0">
                <a:solidFill>
                  <a:srgbClr val="666666"/>
                </a:solidFill>
              </a:rPr>
              <a:t>  p. 50</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PK CALCULATIONS: HALF-LIFE, STEADY STATE &amp; CLEARANCE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Clinical relevance</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48</a:t>
            </a:r>
            <a:endParaRPr lang="en-US" sz="1000" dirty="0"/>
          </a:p>
        </p:txBody>
      </p:sp>
      <p:sp>
        <p:nvSpPr>
          <p:cNvPr id="7" name="Clinical relevance (1/2) card"/>
          <p:cNvSpPr/>
          <p:nvPr/>
        </p:nvSpPr>
        <p:spPr>
          <a:xfrm>
            <a:off x="548640" y="1325880"/>
            <a:ext cx="11094415" cy="4110228"/>
          </a:xfrm>
          <a:prstGeom prst="roundRect">
            <a:avLst>
              <a:gd name="adj" fmla="val 2670"/>
            </a:avLst>
          </a:prstGeom>
          <a:solidFill>
            <a:srgbClr val="F2F4F7"/>
          </a:solidFill>
          <a:ln w="12700">
            <a:solidFill>
              <a:srgbClr val="F2F4F7"/>
            </a:solidFill>
            <a:prstDash val="solid"/>
          </a:ln>
        </p:spPr>
      </p:sp>
      <p:sp>
        <p:nvSpPr>
          <p:cNvPr id="8" name="Clinical relevance (1/2) icon circle"/>
          <p:cNvSpPr/>
          <p:nvPr/>
        </p:nvSpPr>
        <p:spPr>
          <a:xfrm>
            <a:off x="777240" y="1508760"/>
            <a:ext cx="438912" cy="438912"/>
          </a:xfrm>
          <a:prstGeom prst="ellipse">
            <a:avLst/>
          </a:prstGeom>
          <a:solidFill>
            <a:srgbClr val="548235"/>
          </a:solidFill>
          <a:ln w="12700">
            <a:solidFill>
              <a:srgbClr val="548235"/>
            </a:solidFill>
            <a:prstDash val="solid"/>
          </a:ln>
        </p:spPr>
      </p:sp>
      <p:pic>
        <p:nvPicPr>
          <p:cNvPr id="9" name="Clinical relevance (1/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Clinical relevance (1/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548235"/>
                </a:solidFill>
              </a:rPr>
              <a:t>Clinical relevance (1/2)</a:t>
            </a:r>
            <a:endParaRPr lang="en-US" sz="1800" dirty="0"/>
          </a:p>
        </p:txBody>
      </p:sp>
      <p:sp>
        <p:nvSpPr>
          <p:cNvPr id="11" name="Clinical relevance (1/2) body"/>
          <p:cNvSpPr txBox="1"/>
          <p:nvPr/>
        </p:nvSpPr>
        <p:spPr>
          <a:xfrm>
            <a:off x="777240" y="2075688"/>
            <a:ext cx="10637215" cy="3241548"/>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Case: significant CKD + a medication primarily eliminated unchanged by the kidney. </a:t>
            </a:r>
            <a:r>
              <a:rPr lang="en-US" sz="1800" b="1" dirty="0">
                <a:solidFill>
                  <a:srgbClr val="1F1F1F"/>
                </a:solidFill>
              </a:rPr>
              <a:t>What happens to the drug's concentration and half-life, and would you adjust the dose, the dosing interval, or both?</a:t>
            </a:r>
            <a:r>
              <a:rPr lang="en-US" sz="1300" dirty="0">
                <a:solidFill>
                  <a:srgbClr val="666666"/>
                </a:solidFill>
              </a:rPr>
              <a:t>  S28</a:t>
            </a:r>
            <a:endParaRPr lang="en-US" sz="1800" dirty="0"/>
          </a:p>
          <a:p>
            <a:pPr marL="228600" indent="-228600">
              <a:spcAft>
                <a:spcPts val="800"/>
              </a:spcAft>
              <a:buSzPct val="100000"/>
              <a:buChar char="•"/>
            </a:pPr>
            <a:r>
              <a:rPr lang="en-US" sz="1800" b="1" dirty="0">
                <a:solidFill>
                  <a:srgbClr val="1F1F1F"/>
                </a:solidFill>
              </a:rPr>
              <a:t>Clinical pearl:</a:t>
            </a:r>
            <a:r>
              <a:rPr lang="en-US" sz="1800" dirty="0">
                <a:solidFill>
                  <a:srgbClr val="1F1F1F"/>
                </a:solidFill>
              </a:rPr>
              <a:t> reduced clearance raises drug concentration and prolongs half-life; many renally-cleared drugs are managed by extending the dosing interval, reducing the dose, or both, guided by eGFR/CrCl.</a:t>
            </a:r>
            <a:r>
              <a:rPr lang="en-US" sz="1300" dirty="0">
                <a:solidFill>
                  <a:srgbClr val="666666"/>
                </a:solidFill>
              </a:rPr>
              <a:t>  S28</a:t>
            </a:r>
            <a:endParaRPr lang="en-US" sz="1800" dirty="0"/>
          </a:p>
          <a:p>
            <a:pPr marL="228600" indent="-228600">
              <a:spcAft>
                <a:spcPts val="800"/>
              </a:spcAft>
              <a:buSzPct val="100000"/>
              <a:buChar char="•"/>
            </a:pPr>
            <a:r>
              <a:rPr lang="en-US" sz="1800" dirty="0">
                <a:solidFill>
                  <a:srgbClr val="1F1F1F"/>
                </a:solidFill>
              </a:rPr>
              <a:t>The logic chain: clearance ↓ → half-life ↑ → time to steady state ↑ → accumulation risk ↑ if the regimen is not adjusted.</a:t>
            </a:r>
            <a:r>
              <a:rPr lang="en-US" sz="1300" dirty="0">
                <a:solidFill>
                  <a:srgbClr val="666666"/>
                </a:solidFill>
              </a:rPr>
              <a:t>  S28 (notes)</a:t>
            </a:r>
            <a:endParaRPr lang="en-US" sz="1800" dirty="0"/>
          </a:p>
          <a:p>
            <a:pPr marL="228600" indent="-228600">
              <a:spcAft>
                <a:spcPts val="800"/>
              </a:spcAft>
              <a:buSzPct val="100000"/>
              <a:buChar char="•"/>
            </a:pPr>
            <a:r>
              <a:rPr lang="en-US" sz="1800" dirty="0">
                <a:solidFill>
                  <a:srgbClr val="1F1F1F"/>
                </a:solidFill>
              </a:rPr>
              <a:t>Reduced renal clearance raises both drug concentration and half-life.</a:t>
            </a:r>
            <a:r>
              <a:rPr lang="en-US" sz="1300" dirty="0">
                <a:solidFill>
                  <a:srgbClr val="666666"/>
                </a:solidFill>
              </a:rPr>
              <a:t>  S48</a:t>
            </a:r>
            <a:endParaRPr lang="en-US" sz="1800" dirty="0"/>
          </a:p>
          <a:p>
            <a:pPr marL="228600" indent="-228600">
              <a:spcAft>
                <a:spcPts val="800"/>
              </a:spcAft>
              <a:buSzPct val="100000"/>
              <a:buChar char="•"/>
            </a:pPr>
            <a:r>
              <a:rPr lang="en-US" sz="1800" dirty="0">
                <a:solidFill>
                  <a:srgbClr val="1F1F1F"/>
                </a:solidFill>
              </a:rPr>
              <a:t>A loading dose reaches the therapeutic target immediately instead of waiting ~4–5 half-lives; it does not change the maintenance dose or remove the need for monitoring.</a:t>
            </a:r>
            <a:r>
              <a:rPr lang="en-US" sz="1300" dirty="0">
                <a:solidFill>
                  <a:srgbClr val="666666"/>
                </a:solidFill>
              </a:rPr>
              <a:t>  S26</a:t>
            </a:r>
            <a:endParaRPr lang="en-US" sz="1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PK CALCULATIONS: HALF-LIFE, STEADY STATE &amp; CLEARANCE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Clinical relevance (cont.)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49</a:t>
            </a:r>
            <a:endParaRPr lang="en-US" sz="1000" dirty="0"/>
          </a:p>
        </p:txBody>
      </p:sp>
      <p:sp>
        <p:nvSpPr>
          <p:cNvPr id="7" name="Clinical relevance (2/2) card"/>
          <p:cNvSpPr/>
          <p:nvPr/>
        </p:nvSpPr>
        <p:spPr>
          <a:xfrm>
            <a:off x="548640" y="1325880"/>
            <a:ext cx="11094415" cy="3552444"/>
          </a:xfrm>
          <a:prstGeom prst="roundRect">
            <a:avLst>
              <a:gd name="adj" fmla="val 3089"/>
            </a:avLst>
          </a:prstGeom>
          <a:solidFill>
            <a:srgbClr val="F2F4F7"/>
          </a:solidFill>
          <a:ln w="12700">
            <a:solidFill>
              <a:srgbClr val="F2F4F7"/>
            </a:solidFill>
            <a:prstDash val="solid"/>
          </a:ln>
        </p:spPr>
      </p:sp>
      <p:sp>
        <p:nvSpPr>
          <p:cNvPr id="8" name="Clinical relevance (2/2) icon circle"/>
          <p:cNvSpPr/>
          <p:nvPr/>
        </p:nvSpPr>
        <p:spPr>
          <a:xfrm>
            <a:off x="777240" y="1508760"/>
            <a:ext cx="438912" cy="438912"/>
          </a:xfrm>
          <a:prstGeom prst="ellipse">
            <a:avLst/>
          </a:prstGeom>
          <a:solidFill>
            <a:srgbClr val="548235"/>
          </a:solidFill>
          <a:ln w="12700">
            <a:solidFill>
              <a:srgbClr val="548235"/>
            </a:solidFill>
            <a:prstDash val="solid"/>
          </a:ln>
        </p:spPr>
      </p:sp>
      <p:pic>
        <p:nvPicPr>
          <p:cNvPr id="9" name="Clinical relevance (2/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Clinical relevance (2/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548235"/>
                </a:solidFill>
              </a:rPr>
              <a:t>Clinical relevance (2/2)</a:t>
            </a:r>
            <a:endParaRPr lang="en-US" sz="1800" dirty="0"/>
          </a:p>
        </p:txBody>
      </p:sp>
      <p:sp>
        <p:nvSpPr>
          <p:cNvPr id="11" name="Clinical relevance (2/2) body"/>
          <p:cNvSpPr txBox="1"/>
          <p:nvPr/>
        </p:nvSpPr>
        <p:spPr>
          <a:xfrm>
            <a:off x="777240" y="2075688"/>
            <a:ext cx="10637215" cy="2683764"/>
          </a:xfrm>
          <a:prstGeom prst="rect">
            <a:avLst/>
          </a:prstGeom>
          <a:noFill/>
          <a:ln/>
        </p:spPr>
        <p:txBody>
          <a:bodyPr wrap="square" lIns="0" tIns="0" rIns="0" bIns="0" rtlCol="0" anchor="t"/>
          <a:lstStyle/>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High-extraction drugs (morphine, propranolol, verapamil) vary widely between patients, and far more drug gets through in cirrhosis.</a:t>
            </a:r>
            <a:r>
              <a:rPr lang="en-US" sz="1300" dirty="0">
                <a:solidFill>
                  <a:srgbClr val="666666"/>
                </a:solidFill>
              </a:rPr>
              <a:t>  p. 49</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b="1" dirty="0">
                <a:solidFill>
                  <a:srgbClr val="1F1F1F"/>
                </a:solidFill>
              </a:rPr>
              <a:t>Schedule matters:</a:t>
            </a:r>
            <a:r>
              <a:rPr lang="en-US" sz="1800" dirty="0">
                <a:solidFill>
                  <a:srgbClr val="1F1F1F"/>
                </a:solidFill>
              </a:rPr>
              <a:t> gentamicin is more nephrotoxic as a constant infusion than as intermittent doses at the same average level.</a:t>
            </a:r>
            <a:r>
              <a:rPr lang="en-US" sz="1300" dirty="0">
                <a:solidFill>
                  <a:srgbClr val="666666"/>
                </a:solidFill>
              </a:rPr>
              <a:t>  p. 50</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Give IV loading doses slowly (over an hour): a fast bolus can overshoot into toxicity, e.g., phenytoin.</a:t>
            </a:r>
            <a:r>
              <a:rPr lang="en-US" sz="1300" dirty="0">
                <a:solidFill>
                  <a:srgbClr val="666666"/>
                </a:solidFill>
              </a:rPr>
              <a:t>  p. 52</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Timing drug levels: digoxin at least 6 hours after the dose; lithium just before the next dose.</a:t>
            </a:r>
            <a:r>
              <a:rPr lang="en-US" sz="1300" dirty="0">
                <a:solidFill>
                  <a:srgbClr val="666666"/>
                </a:solidFill>
              </a:rPr>
              <a:t>  p. 55</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In obesity, dose drugs that stay out of fat (gentamicin, digoxin) on fat-free mass.</a:t>
            </a:r>
            <a:r>
              <a:rPr lang="en-US" sz="1300" dirty="0">
                <a:solidFill>
                  <a:srgbClr val="666666"/>
                </a:solidFill>
              </a:rPr>
              <a:t>  p. 53; p. 55</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PK CALCULATIONS: HALF-LIFE, STEADY STATE &amp; CLEARANCE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Drugs named as examples · Exam traps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50</a:t>
            </a:r>
            <a:endParaRPr lang="en-US" sz="1000" dirty="0"/>
          </a:p>
        </p:txBody>
      </p:sp>
      <p:sp>
        <p:nvSpPr>
          <p:cNvPr id="7" name="Drugs named as examples card"/>
          <p:cNvSpPr/>
          <p:nvPr/>
        </p:nvSpPr>
        <p:spPr>
          <a:xfrm>
            <a:off x="548640" y="1325880"/>
            <a:ext cx="5410048" cy="4279392"/>
          </a:xfrm>
          <a:prstGeom prst="roundRect">
            <a:avLst>
              <a:gd name="adj" fmla="val 2564"/>
            </a:avLst>
          </a:prstGeom>
          <a:solidFill>
            <a:srgbClr val="F2F4F7"/>
          </a:solidFill>
          <a:ln w="12700">
            <a:solidFill>
              <a:srgbClr val="F2F4F7"/>
            </a:solidFill>
            <a:prstDash val="solid"/>
          </a:ln>
        </p:spPr>
      </p:sp>
      <p:sp>
        <p:nvSpPr>
          <p:cNvPr id="8" name="Drugs named as examples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9" name="Drugs named as example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Drugs named as examples heading"/>
          <p:cNvSpPr txBox="1"/>
          <p:nvPr/>
        </p:nvSpPr>
        <p:spPr>
          <a:xfrm>
            <a:off x="1353312" y="1508760"/>
            <a:ext cx="4404208" cy="438912"/>
          </a:xfrm>
          <a:prstGeom prst="rect">
            <a:avLst/>
          </a:prstGeom>
          <a:noFill/>
          <a:ln/>
        </p:spPr>
        <p:txBody>
          <a:bodyPr wrap="square" lIns="0" tIns="0" rIns="0" bIns="0" rtlCol="0" anchor="ctr"/>
          <a:lstStyle/>
          <a:p>
            <a:pPr indent="0" marL="0">
              <a:buNone/>
            </a:pPr>
            <a:r>
              <a:rPr lang="en-US" sz="1800" b="1" dirty="0">
                <a:solidFill>
                  <a:srgbClr val="4472C4"/>
                </a:solidFill>
              </a:rPr>
              <a:t>Drugs named as examples</a:t>
            </a:r>
            <a:endParaRPr lang="en-US" sz="1800" dirty="0"/>
          </a:p>
        </p:txBody>
      </p:sp>
      <p:sp>
        <p:nvSpPr>
          <p:cNvPr id="11" name="Drugs named as examples body"/>
          <p:cNvSpPr txBox="1"/>
          <p:nvPr/>
        </p:nvSpPr>
        <p:spPr>
          <a:xfrm>
            <a:off x="777240" y="2075688"/>
            <a:ext cx="4952848" cy="3410712"/>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Not covered in materials — this section uses illustrative drugs ("a drug with a half-life of 6 hours").</a:t>
            </a:r>
            <a:r>
              <a:rPr lang="en-US" sz="1300" dirty="0">
                <a:solidFill>
                  <a:srgbClr val="666666"/>
                </a:solidFill>
              </a:rPr>
              <a:t>  S19</a:t>
            </a:r>
            <a:endParaRPr lang="en-US" sz="1800" dirty="0"/>
          </a:p>
        </p:txBody>
      </p:sp>
      <p:sp>
        <p:nvSpPr>
          <p:cNvPr id="12" name="Exam traps card"/>
          <p:cNvSpPr/>
          <p:nvPr/>
        </p:nvSpPr>
        <p:spPr>
          <a:xfrm>
            <a:off x="6233008" y="1325880"/>
            <a:ext cx="5410048" cy="4279392"/>
          </a:xfrm>
          <a:prstGeom prst="roundRect">
            <a:avLst>
              <a:gd name="adj" fmla="val 2564"/>
            </a:avLst>
          </a:prstGeom>
          <a:solidFill>
            <a:srgbClr val="F2F4F7"/>
          </a:solidFill>
          <a:ln w="12700">
            <a:solidFill>
              <a:srgbClr val="F2F4F7"/>
            </a:solidFill>
            <a:prstDash val="solid"/>
          </a:ln>
        </p:spPr>
      </p:sp>
      <p:sp>
        <p:nvSpPr>
          <p:cNvPr id="13" name="Exam traps icon circle"/>
          <p:cNvSpPr/>
          <p:nvPr/>
        </p:nvSpPr>
        <p:spPr>
          <a:xfrm>
            <a:off x="6461608" y="1508760"/>
            <a:ext cx="438912" cy="438912"/>
          </a:xfrm>
          <a:prstGeom prst="ellipse">
            <a:avLst/>
          </a:prstGeom>
          <a:solidFill>
            <a:srgbClr val="C00000"/>
          </a:solidFill>
          <a:ln w="12700">
            <a:solidFill>
              <a:srgbClr val="C00000"/>
            </a:solidFill>
            <a:prstDash val="solid"/>
          </a:ln>
        </p:spPr>
      </p:sp>
      <p:pic>
        <p:nvPicPr>
          <p:cNvPr id="14" name="Exam traps icon" descr="preencoded.png">    </p:cNvPr>
          <p:cNvPicPr>
            <a:picLocks noChangeAspect="1"/>
          </p:cNvPicPr>
          <p:nvPr/>
        </p:nvPicPr>
        <p:blipFill>
          <a:blip r:embed="rId2"/>
          <a:stretch>
            <a:fillRect/>
          </a:stretch>
        </p:blipFill>
        <p:spPr>
          <a:xfrm>
            <a:off x="6562192" y="1609344"/>
            <a:ext cx="237744" cy="237744"/>
          </a:xfrm>
          <a:prstGeom prst="rect">
            <a:avLst/>
          </a:prstGeom>
        </p:spPr>
      </p:pic>
      <p:sp>
        <p:nvSpPr>
          <p:cNvPr id="15" name="Exam traps heading"/>
          <p:cNvSpPr txBox="1"/>
          <p:nvPr/>
        </p:nvSpPr>
        <p:spPr>
          <a:xfrm>
            <a:off x="7037680" y="1508760"/>
            <a:ext cx="4404208" cy="438912"/>
          </a:xfrm>
          <a:prstGeom prst="rect">
            <a:avLst/>
          </a:prstGeom>
          <a:noFill/>
          <a:ln/>
        </p:spPr>
        <p:txBody>
          <a:bodyPr wrap="square" lIns="0" tIns="0" rIns="0" bIns="0" rtlCol="0" anchor="ctr"/>
          <a:lstStyle/>
          <a:p>
            <a:pPr indent="0" marL="0">
              <a:buNone/>
            </a:pPr>
            <a:r>
              <a:rPr lang="en-US" sz="1800" b="1" dirty="0">
                <a:solidFill>
                  <a:srgbClr val="C00000"/>
                </a:solidFill>
              </a:rPr>
              <a:t>Exam traps</a:t>
            </a:r>
            <a:endParaRPr lang="en-US" sz="1800" dirty="0"/>
          </a:p>
        </p:txBody>
      </p:sp>
      <p:sp>
        <p:nvSpPr>
          <p:cNvPr id="16" name="Exam traps body"/>
          <p:cNvSpPr txBox="1"/>
          <p:nvPr/>
        </p:nvSpPr>
        <p:spPr>
          <a:xfrm>
            <a:off x="6461608" y="2075688"/>
            <a:ext cx="4952848" cy="3410712"/>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After 3 half-lives, 12.5% REMAINS (87.5% eliminated) — read whether the question asks remaining or eliminated.</a:t>
            </a:r>
            <a:r>
              <a:rPr lang="en-US" sz="1300" dirty="0">
                <a:solidFill>
                  <a:srgbClr val="666666"/>
                </a:solidFill>
              </a:rPr>
              <a:t>  S19; S22</a:t>
            </a:r>
            <a:endParaRPr lang="en-US" sz="1800" dirty="0"/>
          </a:p>
          <a:p>
            <a:pPr marL="228600" indent="-228600">
              <a:spcAft>
                <a:spcPts val="800"/>
              </a:spcAft>
              <a:buSzPct val="100000"/>
              <a:buChar char="•"/>
            </a:pPr>
            <a:r>
              <a:rPr lang="en-US" sz="1800" dirty="0">
                <a:solidFill>
                  <a:srgbClr val="1F1F1F"/>
                </a:solidFill>
              </a:rPr>
              <a:t>Time to steady state depends on half-life — not on dose size, bioavailability, or route.</a:t>
            </a:r>
            <a:r>
              <a:rPr lang="en-US" sz="1300" dirty="0">
                <a:solidFill>
                  <a:srgbClr val="666666"/>
                </a:solidFill>
              </a:rPr>
              <a:t>  S30; S48</a:t>
            </a:r>
            <a:endParaRPr lang="en-US" sz="1800" dirty="0"/>
          </a:p>
          <a:p>
            <a:pPr marL="228600" indent="-228600">
              <a:spcAft>
                <a:spcPts val="800"/>
              </a:spcAft>
              <a:buSzPct val="100000"/>
              <a:buChar char="•"/>
            </a:pPr>
            <a:r>
              <a:rPr lang="en-US" sz="1800" dirty="0">
                <a:solidFill>
                  <a:srgbClr val="1F1F1F"/>
                </a:solidFill>
              </a:rPr>
              <a:t>Half-life is not a fixed property — it changes with clearance and Vd (e.g., in renal impairment).</a:t>
            </a:r>
            <a:r>
              <a:rPr lang="en-US" sz="1300" dirty="0">
                <a:solidFill>
                  <a:srgbClr val="666666"/>
                </a:solidFill>
              </a:rPr>
              <a:t>  S19; S28</a:t>
            </a:r>
            <a:endParaRPr lang="en-US" sz="1800" dirty="0"/>
          </a:p>
          <a:p>
            <a:pPr marL="228600" indent="-228600">
              <a:spcAft>
                <a:spcPts val="800"/>
              </a:spcAft>
              <a:buSzPct val="100000"/>
              <a:buChar char="•"/>
            </a:pPr>
            <a:r>
              <a:rPr lang="en-US" sz="1800" dirty="0">
                <a:solidFill>
                  <a:srgbClr val="1F1F1F"/>
                </a:solidFill>
              </a:rPr>
              <a:t>A loading dose does NOT permanently lower the maintenance dose or eliminate monitoring.</a:t>
            </a:r>
            <a:r>
              <a:rPr lang="en-US" sz="1300" dirty="0">
                <a:solidFill>
                  <a:srgbClr val="666666"/>
                </a:solidFill>
              </a:rPr>
              <a:t>  S26</a:t>
            </a:r>
            <a:endParaRPr lang="en-US" sz="1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PK CALCULATIONS: HALF-LIFE, STEADY STATE &amp; CLEARANCE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Figure 7 · Exponential decay over half-lives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51</a:t>
            </a:r>
            <a:endParaRPr lang="en-US" sz="1000" dirty="0"/>
          </a:p>
        </p:txBody>
      </p:sp>
      <p:pic>
        <p:nvPicPr>
          <p:cNvPr id="7" name="Figure S20_1.png" descr="/home/user/dpas-pharm/work/L02/figures/S20_1.png">    </p:cNvPr>
          <p:cNvPicPr>
            <a:picLocks noChangeAspect="1"/>
          </p:cNvPicPr>
          <p:nvPr/>
        </p:nvPicPr>
        <p:blipFill>
          <a:blip r:embed="rId1"/>
          <a:stretch>
            <a:fillRect/>
          </a:stretch>
        </p:blipFill>
        <p:spPr>
          <a:xfrm>
            <a:off x="2074556" y="1325880"/>
            <a:ext cx="8042583" cy="4415536"/>
          </a:xfrm>
          <a:prstGeom prst="rect">
            <a:avLst/>
          </a:prstGeom>
        </p:spPr>
      </p:pic>
      <p:sp>
        <p:nvSpPr>
          <p:cNvPr id="8" name="Figure caption"/>
          <p:cNvSpPr txBox="1"/>
          <p:nvPr/>
        </p:nvSpPr>
        <p:spPr>
          <a:xfrm>
            <a:off x="548640" y="5924296"/>
            <a:ext cx="11094415" cy="339344"/>
          </a:xfrm>
          <a:prstGeom prst="rect">
            <a:avLst/>
          </a:prstGeom>
          <a:noFill/>
          <a:ln/>
        </p:spPr>
        <p:txBody>
          <a:bodyPr wrap="square" lIns="0" tIns="0" rIns="0" bIns="0" rtlCol="0" anchor="t"/>
          <a:lstStyle/>
          <a:p>
            <a:pPr indent="0" marL="0">
              <a:buNone/>
            </a:pPr>
            <a:r>
              <a:rPr lang="en-US" sz="1600" dirty="0">
                <a:solidFill>
                  <a:srgbClr val="1F1F1F"/>
                </a:solidFill>
              </a:rPr>
              <a:t>Original illustrative decay curve: plasma concentration falls by 50% with each half-life, leaving ~3% remaining after 5 half-lives.</a:t>
            </a:r>
            <a:r>
              <a:rPr lang="en-US" sz="1100" dirty="0">
                <a:solidFill>
                  <a:srgbClr val="666666"/>
                </a:solidFill>
              </a:rPr>
              <a:t>  S20</a:t>
            </a:r>
            <a:endParaRPr lang="en-US" sz="16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PK CALCULATIONS: HALF-LIFE, STEADY STATE &amp; CLEARANCE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2700" b="1" dirty="0">
                <a:solidFill>
                  <a:srgbClr val="1F1F1F"/>
                </a:solidFill>
                <a:latin typeface="Calibri" pitchFamily="34" charset="0"/>
                <a:ea typeface="Calibri" pitchFamily="34" charset="-122"/>
                <a:cs typeface="Calibri" pitchFamily="34" charset="-120"/>
              </a:rPr>
              <a:t>Figure 8 · Steady state with and without a loading dose</a:t>
            </a:r>
            <a:endParaRPr lang="en-US" sz="27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52</a:t>
            </a:r>
            <a:endParaRPr lang="en-US" sz="1000" dirty="0"/>
          </a:p>
        </p:txBody>
      </p:sp>
      <p:pic>
        <p:nvPicPr>
          <p:cNvPr id="7" name="Figure S24_1.png" descr="/home/user/dpas-pharm/work/L02/figures/S24_1.png">    </p:cNvPr>
          <p:cNvPicPr>
            <a:picLocks noChangeAspect="1"/>
          </p:cNvPicPr>
          <p:nvPr/>
        </p:nvPicPr>
        <p:blipFill>
          <a:blip r:embed="rId1"/>
          <a:stretch>
            <a:fillRect/>
          </a:stretch>
        </p:blipFill>
        <p:spPr>
          <a:xfrm>
            <a:off x="2151482" y="1325880"/>
            <a:ext cx="7888732" cy="4167632"/>
          </a:xfrm>
          <a:prstGeom prst="rect">
            <a:avLst/>
          </a:prstGeom>
        </p:spPr>
      </p:pic>
      <p:sp>
        <p:nvSpPr>
          <p:cNvPr id="8" name="Figure caption"/>
          <p:cNvSpPr txBox="1"/>
          <p:nvPr/>
        </p:nvSpPr>
        <p:spPr>
          <a:xfrm>
            <a:off x="548640" y="5676392"/>
            <a:ext cx="11094415" cy="587248"/>
          </a:xfrm>
          <a:prstGeom prst="rect">
            <a:avLst/>
          </a:prstGeom>
          <a:noFill/>
          <a:ln/>
        </p:spPr>
        <p:txBody>
          <a:bodyPr wrap="square" lIns="0" tIns="0" rIns="0" bIns="0" rtlCol="0" anchor="t"/>
          <a:lstStyle/>
          <a:p>
            <a:pPr indent="0" marL="0">
              <a:buNone/>
            </a:pPr>
            <a:r>
              <a:rPr lang="en-US" sz="1600" dirty="0">
                <a:solidFill>
                  <a:srgbClr val="1F1F1F"/>
                </a:solidFill>
              </a:rPr>
              <a:t>Original illustrative multi-dose simulation: maintenance dosing alone climbs gradually (a sawtooth climb) to steady state; adding a loading dose reaches the target level immediately, right from the first dose.</a:t>
            </a:r>
            <a:r>
              <a:rPr lang="en-US" sz="1100" dirty="0">
                <a:solidFill>
                  <a:srgbClr val="666666"/>
                </a:solidFill>
              </a:rPr>
              <a:t>  S24; S24 (notes)</a:t>
            </a:r>
            <a:endParaRPr lang="en-US" sz="16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PK CALCULATIONS: HALF-LIFE, STEADY STATE &amp; CLEARANCE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Textbook concept · Five to fill, five to empty</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53</a:t>
            </a:r>
            <a:endParaRPr lang="en-US" sz="1000" dirty="0"/>
          </a:p>
        </p:txBody>
      </p:sp>
      <p:pic>
        <p:nvPicPr>
          <p:cNvPr id="7" name="Figure TB_fill_empty.png" descr="/home/user/dpas-pharm/work/L02/figures/TB_fill_empty.png">    </p:cNvPr>
          <p:cNvPicPr>
            <a:picLocks noChangeAspect="1"/>
          </p:cNvPicPr>
          <p:nvPr/>
        </p:nvPicPr>
        <p:blipFill>
          <a:blip r:embed="rId1"/>
          <a:stretch>
            <a:fillRect/>
          </a:stretch>
        </p:blipFill>
        <p:spPr>
          <a:xfrm>
            <a:off x="2596090" y="1325880"/>
            <a:ext cx="6999514" cy="3919728"/>
          </a:xfrm>
          <a:prstGeom prst="rect">
            <a:avLst/>
          </a:prstGeom>
        </p:spPr>
      </p:pic>
      <p:sp>
        <p:nvSpPr>
          <p:cNvPr id="8" name="Figure caption"/>
          <p:cNvSpPr txBox="1"/>
          <p:nvPr/>
        </p:nvSpPr>
        <p:spPr>
          <a:xfrm>
            <a:off x="548640" y="5428488"/>
            <a:ext cx="11094415" cy="835152"/>
          </a:xfrm>
          <a:prstGeom prst="rect">
            <a:avLst/>
          </a:prstGeom>
          <a:noFill/>
          <a:ln/>
        </p:spPr>
        <p:txBody>
          <a:bodyPr wrap="square" lIns="0" tIns="0" rIns="0" bIns="0" rtlCol="0" anchor="t"/>
          <a:lstStyle/>
          <a:p>
            <a:pPr indent="0" marL="0">
              <a:buNone/>
            </a:pPr>
            <a:r>
              <a:rPr lang="en-US" sz="1600" dirty="0">
                <a:solidFill>
                  <a:srgbClr val="1F1F1F"/>
                </a:solidFill>
              </a:rPr>
              <a:t>Original diagram: starting regular dosing, each half-life closes half of the remaining gap to steady state (50 → 75 → 87.5 → 93.75 → ~97%); after stopping, each half-life removes half of what remains (50 → 25 → 12.5 → 6.25 → 3.125%). The same 4–5 half-lives govern both.</a:t>
            </a:r>
            <a:r>
              <a:rPr lang="en-US" sz="1100" dirty="0">
                <a:solidFill>
                  <a:srgbClr val="666666"/>
                </a:solidFill>
              </a:rPr>
              <a:t>  S19; S23; p. 47</a:t>
            </a:r>
            <a:endParaRPr lang="en-US" sz="16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PK CALCULATIONS: HALF-LIFE, STEADY STATE &amp; CLEARANCE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2500" b="1" dirty="0">
                <a:solidFill>
                  <a:srgbClr val="1F1F1F"/>
                </a:solidFill>
                <a:latin typeface="Calibri" pitchFamily="34" charset="0"/>
                <a:ea typeface="Calibri" pitchFamily="34" charset="-122"/>
                <a:cs typeface="Calibri" pitchFamily="34" charset="-120"/>
              </a:rPr>
              <a:t>Compare: Half-life worked example (t½ = 6 h, start 100 mg/L)</a:t>
            </a:r>
            <a:endParaRPr lang="en-US" sz="25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54</a:t>
            </a:r>
            <a:endParaRPr lang="en-US" sz="1000" dirty="0"/>
          </a:p>
        </p:txBody>
      </p:sp>
      <p:graphicFrame>
        <p:nvGraphicFramePr>
          <p:cNvPr id="55"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218883"/>
                <a:gridCol w="2218883"/>
                <a:gridCol w="2218883"/>
                <a:gridCol w="2218883"/>
                <a:gridCol w="2218883"/>
              </a:tblGrid>
              <a:tr h="0">
                <a:tc>
                  <a:txBody>
                    <a:bodyPr/>
                    <a:lstStyle/>
                    <a:p>
                      <a:pPr indent="0" marL="0">
                        <a:buNone/>
                      </a:pPr>
                      <a:r>
                        <a:rPr lang="en-US" sz="1600" b="1" dirty="0">
                          <a:solidFill>
                            <a:srgbClr val="FFFFFF"/>
                          </a:solidFill>
                        </a:rPr>
                        <a:t>Half-lives</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Time</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Concentration</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 remaining</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 eliminated</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600" b="1" dirty="0">
                          <a:solidFill>
                            <a:srgbClr val="1F1F1F"/>
                          </a:solidFill>
                        </a:rPr>
                        <a:t>1</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6 h</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50 mg/L</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50%</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50%</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2</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12 h</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25 mg/L</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25%</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75%</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3</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18 h</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12.5 mg/L</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12.5%</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87.5%</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4</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24 h</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6.25 mg/L</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6.25%</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93.75%</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5</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30 h</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3.125 mg/L</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3.125%</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b="1" dirty="0">
                          <a:solidFill>
                            <a:srgbClr val="1F1F1F"/>
                          </a:solidFill>
                        </a:rPr>
                        <a:t>~97%</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bl>
          </a:graphicData>
        </a:graphic>
      </p:graphicFrame>
      <p:sp>
        <p:nvSpPr>
          <p:cNvPr id="8" name="Table sources"/>
          <p:cNvSpPr txBox="1"/>
          <p:nvPr/>
        </p:nvSpPr>
        <p:spPr>
          <a:xfrm>
            <a:off x="548640" y="3718560"/>
            <a:ext cx="11094415" cy="274320"/>
          </a:xfrm>
          <a:prstGeom prst="rect">
            <a:avLst/>
          </a:prstGeom>
          <a:noFill/>
          <a:ln/>
        </p:spPr>
        <p:txBody>
          <a:bodyPr wrap="square" lIns="0" tIns="0" rIns="0" bIns="0" rtlCol="0" anchor="ctr"/>
          <a:lstStyle/>
          <a:p>
            <a:pPr indent="0" marL="0">
              <a:buNone/>
            </a:pPr>
            <a:r>
              <a:rPr lang="en-US" sz="1100" dirty="0">
                <a:solidFill>
                  <a:srgbClr val="666666"/>
                </a:solidFill>
              </a:rPr>
              <a:t>Focus: what tells these apart.  Sources: S19</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PK CALCULATIONS: HALF-LIFE, STEADY STATE &amp; CLEARANCE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Compare: Loading dose vs. maintenance dose</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55</a:t>
            </a:r>
            <a:endParaRPr lang="en-US" sz="1000" dirty="0"/>
          </a:p>
        </p:txBody>
      </p:sp>
      <p:graphicFrame>
        <p:nvGraphicFramePr>
          <p:cNvPr id="56"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4358488"/>
                <a:gridCol w="4358488"/>
              </a:tblGrid>
              <a:tr h="0">
                <a:tc>
                  <a:txBody>
                    <a:bodyPr/>
                    <a:lstStyle/>
                    <a:p>
                      <a:pPr indent="0" marL="0">
                        <a:buNone/>
                      </a:pP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Loading dose</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Maintenance dose</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600" b="1" dirty="0">
                          <a:solidFill>
                            <a:srgbClr val="1F1F1F"/>
                          </a:solidFill>
                        </a:rPr>
                        <a:t>Purpose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Reach therapeutic concentration rapidly</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Keep the drug in the therapeutic range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Size / timing</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Larger, initial</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Regular, ongoing</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Based 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b="1" dirty="0">
                          <a:solidFill>
                            <a:srgbClr val="1F1F1F"/>
                          </a:solidFill>
                        </a:rPr>
                        <a:t>Vd</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b="1" dirty="0">
                          <a:solidFill>
                            <a:srgbClr val="1F1F1F"/>
                          </a:solidFill>
                        </a:rPr>
                        <a:t>Clearance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On Figure 8</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Starts at target immediately</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Sawtooth climb over ~4–5 half-lives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bl>
          </a:graphicData>
        </a:graphic>
      </p:graphicFrame>
      <p:sp>
        <p:nvSpPr>
          <p:cNvPr id="8" name="Table sources"/>
          <p:cNvSpPr txBox="1"/>
          <p:nvPr/>
        </p:nvSpPr>
        <p:spPr>
          <a:xfrm>
            <a:off x="548640" y="3342640"/>
            <a:ext cx="11094415" cy="274320"/>
          </a:xfrm>
          <a:prstGeom prst="rect">
            <a:avLst/>
          </a:prstGeom>
          <a:noFill/>
          <a:ln/>
        </p:spPr>
        <p:txBody>
          <a:bodyPr wrap="square" lIns="0" tIns="0" rIns="0" bIns="0" rtlCol="0" anchor="ctr"/>
          <a:lstStyle/>
          <a:p>
            <a:pPr indent="0" marL="0">
              <a:buNone/>
            </a:pPr>
            <a:r>
              <a:rPr lang="en-US" sz="1100" dirty="0">
                <a:solidFill>
                  <a:srgbClr val="666666"/>
                </a:solidFill>
              </a:rPr>
              <a:t>Focus: what tells these apart.  Sources: S23; S23 (notes); S24 (notes)</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PK CALCULATIONS: HALF-LIFE, STEADY STATE &amp; CLEARANCE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2300" b="1" dirty="0">
                <a:solidFill>
                  <a:srgbClr val="1F1F1F"/>
                </a:solidFill>
                <a:latin typeface="Calibri" pitchFamily="34" charset="0"/>
                <a:ea typeface="Calibri" pitchFamily="34" charset="-122"/>
                <a:cs typeface="Calibri" pitchFamily="34" charset="-120"/>
              </a:rPr>
              <a:t>Compare: Dosing from the target concentration (textbook Ch. 3)</a:t>
            </a:r>
            <a:endParaRPr lang="en-US" sz="23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56</a:t>
            </a:r>
            <a:endParaRPr lang="en-US" sz="1000" dirty="0"/>
          </a:p>
        </p:txBody>
      </p:sp>
      <p:graphicFrame>
        <p:nvGraphicFramePr>
          <p:cNvPr id="57"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4358488"/>
                <a:gridCol w="4358488"/>
              </a:tblGrid>
              <a:tr h="0">
                <a:tc>
                  <a:txBody>
                    <a:bodyPr/>
                    <a:lstStyle/>
                    <a:p>
                      <a:pPr indent="0" marL="0">
                        <a:buNone/>
                      </a:pPr>
                      <a:r>
                        <a:rPr lang="en-US" sz="1600" b="1" dirty="0">
                          <a:solidFill>
                            <a:srgbClr val="FFFFFF"/>
                          </a:solidFill>
                        </a:rPr>
                        <a:t>Goal</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Formula</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Depends on</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600" b="1" dirty="0">
                          <a:solidFill>
                            <a:srgbClr val="1F1F1F"/>
                          </a:solidFill>
                        </a:rPr>
                        <a:t>Keep the level steady</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Maintenance dosing rate = CL × target concentration (÷ F if oral)</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Clearance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Reach the target now</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Loading dose = Vd × target concentration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Volume of distribution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Match the peak at steady state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Loading dose = maintenance dose × accumulation factor</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Dosing interval and half-life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bl>
          </a:graphicData>
        </a:graphic>
      </p:graphicFrame>
      <p:sp>
        <p:nvSpPr>
          <p:cNvPr id="8" name="Table sources"/>
          <p:cNvSpPr txBox="1"/>
          <p:nvPr/>
        </p:nvSpPr>
        <p:spPr>
          <a:xfrm>
            <a:off x="548640" y="3462528"/>
            <a:ext cx="11094415" cy="274320"/>
          </a:xfrm>
          <a:prstGeom prst="rect">
            <a:avLst/>
          </a:prstGeom>
          <a:noFill/>
          <a:ln/>
        </p:spPr>
        <p:txBody>
          <a:bodyPr wrap="square" lIns="0" tIns="0" rIns="0" bIns="0" rtlCol="0" anchor="ctr"/>
          <a:lstStyle/>
          <a:p>
            <a:pPr indent="0" marL="0">
              <a:buNone/>
            </a:pPr>
            <a:r>
              <a:rPr lang="en-US" sz="1000" b="1" dirty="0">
                <a:solidFill>
                  <a:srgbClr val="000000"/>
                </a:solidFill>
                <a:highlight>
                  <a:srgbClr val="FFC000"/>
                </a:highlight>
              </a:rPr>
              <a:t> TB </a:t>
            </a:r>
            <a:r>
              <a:rPr lang="en-US" sz="1000" dirty="0">
                <a:solidFill>
                  <a:srgbClr val="000000"/>
                </a:solidFill>
              </a:rPr>
              <a:t>  </a:t>
            </a:r>
            <a:r>
              <a:rPr lang="en-US" sz="1100" dirty="0">
                <a:solidFill>
                  <a:srgbClr val="666666"/>
                </a:solidFill>
              </a:rPr>
              <a:t>Focus: what tells these apart.  Sources: p. 51; p. 52</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PK CALCULATIONS: HALF-LIFE, STEADY STATE &amp; CLEARANCE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Memory hooks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57</a:t>
            </a:r>
            <a:endParaRPr lang="en-US" sz="1000" dirty="0"/>
          </a:p>
        </p:txBody>
      </p:sp>
      <p:sp>
        <p:nvSpPr>
          <p:cNvPr id="7" name="Why it happens card"/>
          <p:cNvSpPr/>
          <p:nvPr/>
        </p:nvSpPr>
        <p:spPr>
          <a:xfrm>
            <a:off x="548640" y="1325880"/>
            <a:ext cx="5364328" cy="2555748"/>
          </a:xfrm>
          <a:prstGeom prst="roundRect">
            <a:avLst>
              <a:gd name="adj" fmla="val 4293"/>
            </a:avLst>
          </a:prstGeom>
          <a:solidFill>
            <a:srgbClr val="F2F4F7"/>
          </a:solidFill>
          <a:ln w="12700">
            <a:solidFill>
              <a:srgbClr val="F2F4F7"/>
            </a:solidFill>
            <a:prstDash val="solid"/>
          </a:ln>
        </p:spPr>
      </p:sp>
      <p:sp>
        <p:nvSpPr>
          <p:cNvPr id="8" name="Why it happens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9" name="Why it happen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Why it happens heading"/>
          <p:cNvSpPr txBox="1"/>
          <p:nvPr/>
        </p:nvSpPr>
        <p:spPr>
          <a:xfrm>
            <a:off x="1353312" y="1508760"/>
            <a:ext cx="4358488" cy="438912"/>
          </a:xfrm>
          <a:prstGeom prst="rect">
            <a:avLst/>
          </a:prstGeom>
          <a:noFill/>
          <a:ln/>
        </p:spPr>
        <p:txBody>
          <a:bodyPr wrap="square" lIns="0" tIns="0" rIns="0" bIns="0" rtlCol="0" anchor="ctr"/>
          <a:lstStyle/>
          <a:p>
            <a:pPr indent="0" marL="0">
              <a:buNone/>
            </a:pPr>
            <a:r>
              <a:rPr lang="en-US" sz="1800" b="1" dirty="0">
                <a:solidFill>
                  <a:srgbClr val="4472C4"/>
                </a:solidFill>
              </a:rPr>
              <a:t>Why it happens</a:t>
            </a:r>
            <a:endParaRPr lang="en-US" sz="1800" dirty="0"/>
          </a:p>
        </p:txBody>
      </p:sp>
      <p:sp>
        <p:nvSpPr>
          <p:cNvPr id="11" name="Why it happens body"/>
          <p:cNvSpPr txBox="1"/>
          <p:nvPr/>
        </p:nvSpPr>
        <p:spPr>
          <a:xfrm>
            <a:off x="777240" y="2075688"/>
            <a:ext cx="4907128" cy="1687068"/>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Why does CKD prolong half-life? Half-life depends on clearance (with Vd) — less renal clearance means the concentration takes longer to fall by 50%, so the drug accumulates.</a:t>
            </a:r>
            <a:r>
              <a:rPr lang="en-US" sz="1300" dirty="0">
                <a:solidFill>
                  <a:srgbClr val="666666"/>
                </a:solidFill>
              </a:rPr>
              <a:t>  S19; S27; S28 (notes)</a:t>
            </a:r>
            <a:endParaRPr lang="en-US" sz="1800" dirty="0"/>
          </a:p>
        </p:txBody>
      </p:sp>
      <p:sp>
        <p:nvSpPr>
          <p:cNvPr id="12" name="Mnemonic (memory aid) card"/>
          <p:cNvSpPr/>
          <p:nvPr/>
        </p:nvSpPr>
        <p:spPr>
          <a:xfrm>
            <a:off x="548640" y="4110228"/>
            <a:ext cx="5364328" cy="1719072"/>
          </a:xfrm>
          <a:prstGeom prst="roundRect">
            <a:avLst>
              <a:gd name="adj" fmla="val 6383"/>
            </a:avLst>
          </a:prstGeom>
          <a:solidFill>
            <a:srgbClr val="F2F4F7"/>
          </a:solidFill>
          <a:ln w="12700">
            <a:solidFill>
              <a:srgbClr val="F2F4F7"/>
            </a:solidFill>
            <a:prstDash val="solid"/>
          </a:ln>
        </p:spPr>
      </p:sp>
      <p:sp>
        <p:nvSpPr>
          <p:cNvPr id="13" name="Mnemonic (memory aid) icon circle"/>
          <p:cNvSpPr/>
          <p:nvPr/>
        </p:nvSpPr>
        <p:spPr>
          <a:xfrm>
            <a:off x="777240" y="4293108"/>
            <a:ext cx="438912" cy="438912"/>
          </a:xfrm>
          <a:prstGeom prst="ellipse">
            <a:avLst/>
          </a:prstGeom>
          <a:solidFill>
            <a:srgbClr val="7030A0"/>
          </a:solidFill>
          <a:ln w="12700">
            <a:solidFill>
              <a:srgbClr val="7030A0"/>
            </a:solidFill>
            <a:prstDash val="solid"/>
          </a:ln>
        </p:spPr>
      </p:sp>
      <p:pic>
        <p:nvPicPr>
          <p:cNvPr id="14" name="Mnemonic (memory aid) icon" descr="preencoded.png">    </p:cNvPr>
          <p:cNvPicPr>
            <a:picLocks noChangeAspect="1"/>
          </p:cNvPicPr>
          <p:nvPr/>
        </p:nvPicPr>
        <p:blipFill>
          <a:blip r:embed="rId2"/>
          <a:stretch>
            <a:fillRect/>
          </a:stretch>
        </p:blipFill>
        <p:spPr>
          <a:xfrm>
            <a:off x="877824" y="4393692"/>
            <a:ext cx="237744" cy="237744"/>
          </a:xfrm>
          <a:prstGeom prst="rect">
            <a:avLst/>
          </a:prstGeom>
        </p:spPr>
      </p:pic>
      <p:sp>
        <p:nvSpPr>
          <p:cNvPr id="15" name="Mnemonic (memory aid) heading"/>
          <p:cNvSpPr txBox="1"/>
          <p:nvPr/>
        </p:nvSpPr>
        <p:spPr>
          <a:xfrm>
            <a:off x="1353312" y="4293108"/>
            <a:ext cx="4358488" cy="438912"/>
          </a:xfrm>
          <a:prstGeom prst="rect">
            <a:avLst/>
          </a:prstGeom>
          <a:noFill/>
          <a:ln/>
        </p:spPr>
        <p:txBody>
          <a:bodyPr wrap="square" lIns="0" tIns="0" rIns="0" bIns="0" rtlCol="0" anchor="ctr"/>
          <a:lstStyle/>
          <a:p>
            <a:pPr indent="0" marL="0">
              <a:buNone/>
            </a:pPr>
            <a:r>
              <a:rPr lang="en-US" sz="1800" b="1" dirty="0">
                <a:solidFill>
                  <a:srgbClr val="7030A0"/>
                </a:solidFill>
              </a:rPr>
              <a:t>Mnemonic (memory aid)</a:t>
            </a:r>
            <a:endParaRPr lang="en-US" sz="1800" dirty="0"/>
          </a:p>
        </p:txBody>
      </p:sp>
      <p:sp>
        <p:nvSpPr>
          <p:cNvPr id="16" name="Mnemonic (memory aid) body"/>
          <p:cNvSpPr txBox="1"/>
          <p:nvPr/>
        </p:nvSpPr>
        <p:spPr>
          <a:xfrm>
            <a:off x="777240" y="4860036"/>
            <a:ext cx="4907128" cy="850392"/>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L</a:t>
            </a:r>
            <a:r>
              <a:rPr lang="en-US" sz="1800" dirty="0">
                <a:solidFill>
                  <a:srgbClr val="1F1F1F"/>
                </a:solidFill>
              </a:rPr>
              <a:t>oading → </a:t>
            </a:r>
            <a:r>
              <a:rPr lang="en-US" sz="1800" b="1" dirty="0">
                <a:solidFill>
                  <a:srgbClr val="1F1F1F"/>
                </a:solidFill>
              </a:rPr>
              <a:t>L</a:t>
            </a:r>
            <a:r>
              <a:rPr lang="en-US" sz="1800" dirty="0">
                <a:solidFill>
                  <a:srgbClr val="1F1F1F"/>
                </a:solidFill>
              </a:rPr>
              <a:t>iters (Vd). </a:t>
            </a:r>
            <a:r>
              <a:rPr lang="en-US" sz="1800" b="1" dirty="0">
                <a:solidFill>
                  <a:srgbClr val="1F1F1F"/>
                </a:solidFill>
              </a:rPr>
              <a:t>M</a:t>
            </a:r>
            <a:r>
              <a:rPr lang="en-US" sz="1800" dirty="0">
                <a:solidFill>
                  <a:srgbClr val="1F1F1F"/>
                </a:solidFill>
              </a:rPr>
              <a:t>aintenance → </a:t>
            </a:r>
            <a:r>
              <a:rPr lang="en-US" sz="1800" b="1" dirty="0">
                <a:solidFill>
                  <a:srgbClr val="1F1F1F"/>
                </a:solidFill>
              </a:rPr>
              <a:t>M</a:t>
            </a:r>
            <a:r>
              <a:rPr lang="en-US" sz="1800" dirty="0">
                <a:solidFill>
                  <a:srgbClr val="1F1F1F"/>
                </a:solidFill>
              </a:rPr>
              <a:t>oving out (clearance).</a:t>
            </a:r>
            <a:r>
              <a:rPr lang="en-US" sz="1300" dirty="0">
                <a:solidFill>
                  <a:srgbClr val="666666"/>
                </a:solidFill>
              </a:rPr>
              <a:t>  S23 (notes)</a:t>
            </a:r>
            <a:endParaRPr lang="en-US" sz="1800" dirty="0"/>
          </a:p>
        </p:txBody>
      </p:sp>
      <p:sp>
        <p:nvSpPr>
          <p:cNvPr id="17" name="Why it happens card"/>
          <p:cNvSpPr/>
          <p:nvPr/>
        </p:nvSpPr>
        <p:spPr>
          <a:xfrm>
            <a:off x="6278728" y="1325880"/>
            <a:ext cx="5364328" cy="2276856"/>
          </a:xfrm>
          <a:prstGeom prst="roundRect">
            <a:avLst>
              <a:gd name="adj" fmla="val 4819"/>
            </a:avLst>
          </a:prstGeom>
          <a:solidFill>
            <a:srgbClr val="F2F4F7"/>
          </a:solidFill>
          <a:ln w="12700">
            <a:solidFill>
              <a:srgbClr val="F2F4F7"/>
            </a:solidFill>
            <a:prstDash val="solid"/>
          </a:ln>
        </p:spPr>
      </p:sp>
      <p:sp>
        <p:nvSpPr>
          <p:cNvPr id="18" name="Why it happens icon circle"/>
          <p:cNvSpPr/>
          <p:nvPr/>
        </p:nvSpPr>
        <p:spPr>
          <a:xfrm>
            <a:off x="6507328" y="1508760"/>
            <a:ext cx="438912" cy="438912"/>
          </a:xfrm>
          <a:prstGeom prst="ellipse">
            <a:avLst/>
          </a:prstGeom>
          <a:solidFill>
            <a:srgbClr val="4472C4"/>
          </a:solidFill>
          <a:ln w="12700">
            <a:solidFill>
              <a:srgbClr val="4472C4"/>
            </a:solidFill>
            <a:prstDash val="solid"/>
          </a:ln>
        </p:spPr>
      </p:sp>
      <p:pic>
        <p:nvPicPr>
          <p:cNvPr id="19" name="Why it happens icon" descr="preencoded.png">    </p:cNvPr>
          <p:cNvPicPr>
            <a:picLocks noChangeAspect="1"/>
          </p:cNvPicPr>
          <p:nvPr/>
        </p:nvPicPr>
        <p:blipFill>
          <a:blip r:embed="rId3"/>
          <a:stretch>
            <a:fillRect/>
          </a:stretch>
        </p:blipFill>
        <p:spPr>
          <a:xfrm>
            <a:off x="6607912" y="1609344"/>
            <a:ext cx="237744" cy="237744"/>
          </a:xfrm>
          <a:prstGeom prst="rect">
            <a:avLst/>
          </a:prstGeom>
        </p:spPr>
      </p:pic>
      <p:sp>
        <p:nvSpPr>
          <p:cNvPr id="20" name="Why it happens heading"/>
          <p:cNvSpPr txBox="1"/>
          <p:nvPr/>
        </p:nvSpPr>
        <p:spPr>
          <a:xfrm>
            <a:off x="7083400" y="1508760"/>
            <a:ext cx="4358488" cy="438912"/>
          </a:xfrm>
          <a:prstGeom prst="rect">
            <a:avLst/>
          </a:prstGeom>
          <a:noFill/>
          <a:ln/>
        </p:spPr>
        <p:txBody>
          <a:bodyPr wrap="square" lIns="0" tIns="0" rIns="0" bIns="0" rtlCol="0" anchor="ctr"/>
          <a:lstStyle/>
          <a:p>
            <a:pPr indent="0" marL="0">
              <a:buNone/>
            </a:pPr>
            <a:r>
              <a:rPr lang="en-US" sz="1800" b="1" dirty="0">
                <a:solidFill>
                  <a:srgbClr val="4472C4"/>
                </a:solidFill>
              </a:rPr>
              <a:t>Why it happens</a:t>
            </a:r>
            <a:endParaRPr lang="en-US" sz="1800" dirty="0"/>
          </a:p>
        </p:txBody>
      </p:sp>
      <p:sp>
        <p:nvSpPr>
          <p:cNvPr id="21" name="Why it happens body"/>
          <p:cNvSpPr txBox="1"/>
          <p:nvPr/>
        </p:nvSpPr>
        <p:spPr>
          <a:xfrm>
            <a:off x="6507328" y="2075688"/>
            <a:ext cx="4907128" cy="1408176"/>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Why does a loading dose skip the wait? It is a larger first dose that reaches the therapeutic concentration right away instead of building up over ~4–5 half-lives.</a:t>
            </a:r>
            <a:r>
              <a:rPr lang="en-US" sz="1300" dirty="0">
                <a:solidFill>
                  <a:srgbClr val="666666"/>
                </a:solidFill>
              </a:rPr>
              <a:t>  S23; S26</a:t>
            </a:r>
            <a:endParaRPr lang="en-US" sz="1800" dirty="0"/>
          </a:p>
        </p:txBody>
      </p:sp>
      <p:sp>
        <p:nvSpPr>
          <p:cNvPr id="22" name="Mnemonic (memory aid) card"/>
          <p:cNvSpPr/>
          <p:nvPr/>
        </p:nvSpPr>
        <p:spPr>
          <a:xfrm>
            <a:off x="6278728" y="3831336"/>
            <a:ext cx="5364328" cy="1997964"/>
          </a:xfrm>
          <a:prstGeom prst="roundRect">
            <a:avLst>
              <a:gd name="adj" fmla="val 5492"/>
            </a:avLst>
          </a:prstGeom>
          <a:solidFill>
            <a:srgbClr val="F2F4F7"/>
          </a:solidFill>
          <a:ln w="12700">
            <a:solidFill>
              <a:srgbClr val="F2F4F7"/>
            </a:solidFill>
            <a:prstDash val="solid"/>
          </a:ln>
        </p:spPr>
      </p:sp>
      <p:sp>
        <p:nvSpPr>
          <p:cNvPr id="23" name="Mnemonic (memory aid) icon circle"/>
          <p:cNvSpPr/>
          <p:nvPr/>
        </p:nvSpPr>
        <p:spPr>
          <a:xfrm>
            <a:off x="6507328" y="4014216"/>
            <a:ext cx="438912" cy="438912"/>
          </a:xfrm>
          <a:prstGeom prst="ellipse">
            <a:avLst/>
          </a:prstGeom>
          <a:solidFill>
            <a:srgbClr val="7030A0"/>
          </a:solidFill>
          <a:ln w="12700">
            <a:solidFill>
              <a:srgbClr val="7030A0"/>
            </a:solidFill>
            <a:prstDash val="solid"/>
          </a:ln>
        </p:spPr>
      </p:sp>
      <p:pic>
        <p:nvPicPr>
          <p:cNvPr id="24" name="Mnemonic (memory aid) icon" descr="preencoded.png">    </p:cNvPr>
          <p:cNvPicPr>
            <a:picLocks noChangeAspect="1"/>
          </p:cNvPicPr>
          <p:nvPr/>
        </p:nvPicPr>
        <p:blipFill>
          <a:blip r:embed="rId4"/>
          <a:stretch>
            <a:fillRect/>
          </a:stretch>
        </p:blipFill>
        <p:spPr>
          <a:xfrm>
            <a:off x="6607912" y="4114800"/>
            <a:ext cx="237744" cy="237744"/>
          </a:xfrm>
          <a:prstGeom prst="rect">
            <a:avLst/>
          </a:prstGeom>
        </p:spPr>
      </p:pic>
      <p:sp>
        <p:nvSpPr>
          <p:cNvPr id="25" name="Mnemonic (memory aid) heading"/>
          <p:cNvSpPr txBox="1"/>
          <p:nvPr/>
        </p:nvSpPr>
        <p:spPr>
          <a:xfrm>
            <a:off x="7083400" y="4014216"/>
            <a:ext cx="4358488" cy="438912"/>
          </a:xfrm>
          <a:prstGeom prst="rect">
            <a:avLst/>
          </a:prstGeom>
          <a:noFill/>
          <a:ln/>
        </p:spPr>
        <p:txBody>
          <a:bodyPr wrap="square" lIns="0" tIns="0" rIns="0" bIns="0" rtlCol="0" anchor="ctr"/>
          <a:lstStyle/>
          <a:p>
            <a:pPr indent="0" marL="0">
              <a:buNone/>
            </a:pPr>
            <a:r>
              <a:rPr lang="en-US" sz="1800" b="1" dirty="0">
                <a:solidFill>
                  <a:srgbClr val="7030A0"/>
                </a:solidFill>
              </a:rPr>
              <a:t>Mnemonic (memory aid)</a:t>
            </a:r>
            <a:endParaRPr lang="en-US" sz="1800" dirty="0"/>
          </a:p>
        </p:txBody>
      </p:sp>
      <p:sp>
        <p:nvSpPr>
          <p:cNvPr id="26" name="Mnemonic (memory aid) body"/>
          <p:cNvSpPr txBox="1"/>
          <p:nvPr/>
        </p:nvSpPr>
        <p:spPr>
          <a:xfrm>
            <a:off x="6507328" y="4581144"/>
            <a:ext cx="4907128" cy="1129284"/>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a:t>
            </a:r>
            <a:r>
              <a:rPr lang="en-US" sz="1800" b="1" dirty="0">
                <a:solidFill>
                  <a:srgbClr val="1F1F1F"/>
                </a:solidFill>
              </a:rPr>
              <a:t>Five to fill, five to empty</a:t>
            </a:r>
            <a:r>
              <a:rPr lang="en-US" sz="1800" dirty="0">
                <a:solidFill>
                  <a:srgbClr val="1F1F1F"/>
                </a:solidFill>
              </a:rPr>
              <a:t>": ~4–5 half-lives to reach steady state; ~5 half-lives to be ~97% eliminated.</a:t>
            </a:r>
            <a:r>
              <a:rPr lang="en-US" sz="1300" dirty="0">
                <a:solidFill>
                  <a:srgbClr val="666666"/>
                </a:solidFill>
              </a:rPr>
              <a:t>  S19; S23; S30</a:t>
            </a:r>
            <a:endParaRPr lang="en-US" sz="1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PK CALCULATIONS: HALF-LIFE, STEADY STATE &amp; CLEARANCE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High-yield summary</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58</a:t>
            </a:r>
            <a:endParaRPr lang="en-US" sz="1000" dirty="0"/>
          </a:p>
        </p:txBody>
      </p:sp>
      <p:sp>
        <p:nvSpPr>
          <p:cNvPr id="7" name="If you remember nothing else card"/>
          <p:cNvSpPr/>
          <p:nvPr/>
        </p:nvSpPr>
        <p:spPr>
          <a:xfrm>
            <a:off x="548640" y="1325880"/>
            <a:ext cx="11094415" cy="2994660"/>
          </a:xfrm>
          <a:prstGeom prst="roundRect">
            <a:avLst>
              <a:gd name="adj" fmla="val 3664"/>
            </a:avLst>
          </a:prstGeom>
          <a:solidFill>
            <a:srgbClr val="F2F4F7"/>
          </a:solidFill>
          <a:ln w="12700">
            <a:solidFill>
              <a:srgbClr val="F2F4F7"/>
            </a:solidFill>
            <a:prstDash val="solid"/>
          </a:ln>
        </p:spPr>
      </p:sp>
      <p:sp>
        <p:nvSpPr>
          <p:cNvPr id="8" name="If you remember nothing else icon circle"/>
          <p:cNvSpPr/>
          <p:nvPr/>
        </p:nvSpPr>
        <p:spPr>
          <a:xfrm>
            <a:off x="777240" y="1508760"/>
            <a:ext cx="438912" cy="438912"/>
          </a:xfrm>
          <a:prstGeom prst="ellipse">
            <a:avLst/>
          </a:prstGeom>
          <a:solidFill>
            <a:srgbClr val="C55A11"/>
          </a:solidFill>
          <a:ln w="12700">
            <a:solidFill>
              <a:srgbClr val="C55A11"/>
            </a:solidFill>
            <a:prstDash val="solid"/>
          </a:ln>
        </p:spPr>
      </p:sp>
      <p:pic>
        <p:nvPicPr>
          <p:cNvPr id="9" name="If you remember nothing else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If you remember nothing else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C55A11"/>
                </a:solidFill>
              </a:rPr>
              <a:t>If you remember nothing else</a:t>
            </a:r>
            <a:endParaRPr lang="en-US" sz="1800" dirty="0"/>
          </a:p>
        </p:txBody>
      </p:sp>
      <p:sp>
        <p:nvSpPr>
          <p:cNvPr id="11" name="If you remember nothing else body"/>
          <p:cNvSpPr txBox="1"/>
          <p:nvPr/>
        </p:nvSpPr>
        <p:spPr>
          <a:xfrm>
            <a:off x="777240" y="2075688"/>
            <a:ext cx="10637215" cy="2125980"/>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t½</a:t>
            </a:r>
            <a:r>
              <a:rPr lang="en-US" sz="1800" dirty="0">
                <a:solidFill>
                  <a:srgbClr val="1F1F1F"/>
                </a:solidFill>
              </a:rPr>
              <a:t> = time for plasma concentration to fall 50%; set by </a:t>
            </a:r>
            <a:r>
              <a:rPr lang="en-US" sz="1800" b="1" dirty="0">
                <a:solidFill>
                  <a:srgbClr val="1F1F1F"/>
                </a:solidFill>
              </a:rPr>
              <a:t>clearance + Vd</a:t>
            </a:r>
            <a:r>
              <a:rPr lang="en-US" sz="1800" dirty="0">
                <a:solidFill>
                  <a:srgbClr val="1F1F1F"/>
                </a:solidFill>
              </a:rPr>
              <a:t>.</a:t>
            </a:r>
            <a:r>
              <a:rPr lang="en-US" sz="1300" dirty="0">
                <a:solidFill>
                  <a:srgbClr val="666666"/>
                </a:solidFill>
              </a:rPr>
              <a:t>  S19</a:t>
            </a:r>
            <a:endParaRPr lang="en-US" sz="1800" dirty="0"/>
          </a:p>
          <a:p>
            <a:pPr marL="228600" indent="-228600">
              <a:spcAft>
                <a:spcPts val="800"/>
              </a:spcAft>
              <a:buSzPct val="100000"/>
              <a:buChar char="•"/>
            </a:pPr>
            <a:r>
              <a:rPr lang="en-US" sz="1800" dirty="0">
                <a:solidFill>
                  <a:srgbClr val="1F1F1F"/>
                </a:solidFill>
              </a:rPr>
              <a:t>Each t½ halves what remains: 50 → 25 → 12.5 → 6.25 → ~3% (~97% eliminated at 5 t½).</a:t>
            </a:r>
            <a:r>
              <a:rPr lang="en-US" sz="1300" dirty="0">
                <a:solidFill>
                  <a:srgbClr val="666666"/>
                </a:solidFill>
              </a:rPr>
              <a:t>  S19; S22</a:t>
            </a:r>
            <a:endParaRPr lang="en-US" sz="1800" dirty="0"/>
          </a:p>
          <a:p>
            <a:pPr marL="228600" indent="-228600">
              <a:spcAft>
                <a:spcPts val="800"/>
              </a:spcAft>
              <a:buSzPct val="100000"/>
              <a:buChar char="•"/>
            </a:pPr>
            <a:r>
              <a:rPr lang="en-US" sz="1800" b="1" dirty="0">
                <a:solidFill>
                  <a:srgbClr val="1F1F1F"/>
                </a:solidFill>
              </a:rPr>
              <a:t>Steady state ≈ 4–5 t½</a:t>
            </a:r>
            <a:r>
              <a:rPr lang="en-US" sz="1800" dirty="0">
                <a:solidFill>
                  <a:srgbClr val="1F1F1F"/>
                </a:solidFill>
              </a:rPr>
              <a:t>, regardless of dose; loading dose gets there immediately.</a:t>
            </a:r>
            <a:r>
              <a:rPr lang="en-US" sz="1300" dirty="0">
                <a:solidFill>
                  <a:srgbClr val="666666"/>
                </a:solidFill>
              </a:rPr>
              <a:t>  S23; S26; S30</a:t>
            </a:r>
            <a:endParaRPr lang="en-US" sz="1800" dirty="0"/>
          </a:p>
          <a:p>
            <a:pPr marL="228600" indent="-228600">
              <a:spcAft>
                <a:spcPts val="800"/>
              </a:spcAft>
              <a:buSzPct val="100000"/>
              <a:buChar char="•"/>
            </a:pPr>
            <a:r>
              <a:rPr lang="en-US" sz="1800" b="1" dirty="0">
                <a:solidFill>
                  <a:srgbClr val="1F1F1F"/>
                </a:solidFill>
              </a:rPr>
              <a:t>Clearance</a:t>
            </a:r>
            <a:r>
              <a:rPr lang="en-US" sz="1800" dirty="0">
                <a:solidFill>
                  <a:srgbClr val="1F1F1F"/>
                </a:solidFill>
              </a:rPr>
              <a:t> = plasma volume cleared per unit time; total = hepatic + renal.</a:t>
            </a:r>
            <a:r>
              <a:rPr lang="en-US" sz="1300" dirty="0">
                <a:solidFill>
                  <a:srgbClr val="666666"/>
                </a:solidFill>
              </a:rPr>
              <a:t>  S27</a:t>
            </a:r>
            <a:endParaRPr lang="en-US" sz="1800" dirty="0"/>
          </a:p>
          <a:p>
            <a:pPr marL="228600" indent="-228600">
              <a:spcAft>
                <a:spcPts val="800"/>
              </a:spcAft>
              <a:buSzPct val="100000"/>
              <a:buChar char="•"/>
            </a:pPr>
            <a:r>
              <a:rPr lang="en-US" sz="1800" dirty="0">
                <a:solidFill>
                  <a:srgbClr val="1F1F1F"/>
                </a:solidFill>
              </a:rPr>
              <a:t>CKD: clearance ↓ → t½ ↑ → concentration ↑ → adjust dose and/or interval.</a:t>
            </a:r>
            <a:r>
              <a:rPr lang="en-US" sz="1300" dirty="0">
                <a:solidFill>
                  <a:srgbClr val="666666"/>
                </a:solidFill>
              </a:rPr>
              <a:t>  S28; S28 (notes)</a:t>
            </a:r>
            <a:endParaRPr lang="en-US" sz="1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LECTURE QUICK CHECK S21-22</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10</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59</a:t>
            </a:r>
            <a:endParaRPr lang="en-US" sz="1000" dirty="0"/>
          </a:p>
        </p:txBody>
      </p:sp>
      <p:sp>
        <p:nvSpPr>
          <p:cNvPr id="7" name="Question stem card"/>
          <p:cNvSpPr/>
          <p:nvPr/>
        </p:nvSpPr>
        <p:spPr>
          <a:xfrm>
            <a:off x="548640" y="1325880"/>
            <a:ext cx="11094415" cy="644652"/>
          </a:xfrm>
          <a:prstGeom prst="roundRect">
            <a:avLst>
              <a:gd name="adj" fmla="val 14184"/>
            </a:avLst>
          </a:prstGeom>
          <a:solidFill>
            <a:srgbClr val="F2F4F7"/>
          </a:solidFill>
          <a:ln w="12700">
            <a:solidFill>
              <a:srgbClr val="F2F4F7"/>
            </a:solidFill>
            <a:prstDash val="solid"/>
          </a:ln>
        </p:spPr>
      </p:sp>
      <p:sp>
        <p:nvSpPr>
          <p:cNvPr id="8" name="Question stem"/>
          <p:cNvSpPr txBox="1"/>
          <p:nvPr/>
        </p:nvSpPr>
        <p:spPr>
          <a:xfrm>
            <a:off x="777240" y="1325880"/>
            <a:ext cx="10637215" cy="644652"/>
          </a:xfrm>
          <a:prstGeom prst="rect">
            <a:avLst/>
          </a:prstGeom>
          <a:noFill/>
          <a:ln/>
        </p:spPr>
        <p:txBody>
          <a:bodyPr wrap="square" lIns="0" tIns="0" rIns="0" bIns="0" rtlCol="0" anchor="ctr"/>
          <a:lstStyle/>
          <a:p>
            <a:pPr indent="0" marL="0">
              <a:buNone/>
            </a:pPr>
            <a:r>
              <a:rPr lang="en-US" sz="1800" dirty="0">
                <a:solidFill>
                  <a:srgbClr val="1F1F1F"/>
                </a:solidFill>
              </a:rPr>
              <a:t>Using Figure 7, approximately what percentage of the original drug concentration remains after 3 half-lives (3 t½)?</a:t>
            </a:r>
            <a:endParaRPr lang="en-US" sz="1800" dirty="0"/>
          </a:p>
        </p:txBody>
      </p:sp>
      <p:sp>
        <p:nvSpPr>
          <p:cNvPr id="9" name="Shape 7"/>
          <p:cNvSpPr/>
          <p:nvPr/>
        </p:nvSpPr>
        <p:spPr>
          <a:xfrm>
            <a:off x="548640" y="2180844"/>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18084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15341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3%</a:t>
            </a:r>
            <a:endParaRPr lang="en-US" sz="1800" dirty="0"/>
          </a:p>
        </p:txBody>
      </p:sp>
      <p:sp>
        <p:nvSpPr>
          <p:cNvPr id="12" name="Shape 10"/>
          <p:cNvSpPr/>
          <p:nvPr/>
        </p:nvSpPr>
        <p:spPr>
          <a:xfrm>
            <a:off x="548640" y="2729484"/>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272948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70205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25%</a:t>
            </a:r>
            <a:endParaRPr lang="en-US" sz="1800" dirty="0"/>
          </a:p>
        </p:txBody>
      </p:sp>
      <p:sp>
        <p:nvSpPr>
          <p:cNvPr id="15" name="Shape 13"/>
          <p:cNvSpPr/>
          <p:nvPr/>
        </p:nvSpPr>
        <p:spPr>
          <a:xfrm>
            <a:off x="548640" y="3278124"/>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27812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25069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6.25%</a:t>
            </a:r>
            <a:endParaRPr lang="en-US" sz="1800" dirty="0"/>
          </a:p>
        </p:txBody>
      </p:sp>
      <p:sp>
        <p:nvSpPr>
          <p:cNvPr id="18" name="Shape 16"/>
          <p:cNvSpPr/>
          <p:nvPr/>
        </p:nvSpPr>
        <p:spPr>
          <a:xfrm>
            <a:off x="548640" y="3826764"/>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382676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379933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12.5%</a:t>
            </a:r>
            <a:endParaRPr lang="en-US" sz="1800" dirty="0"/>
          </a:p>
        </p:txBody>
      </p:sp>
      <p:sp>
        <p:nvSpPr>
          <p:cNvPr id="21" name="Shape 19"/>
          <p:cNvSpPr/>
          <p:nvPr/>
        </p:nvSpPr>
        <p:spPr>
          <a:xfrm>
            <a:off x="548640" y="4375404"/>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37540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34797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50%</a:t>
            </a:r>
            <a:endParaRPr lang="en-US" sz="1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10: D</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60</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D. </a:t>
            </a:r>
            <a:r>
              <a:rPr lang="en-US" sz="1600" b="1" dirty="0">
                <a:solidFill>
                  <a:srgbClr val="1F1F1F"/>
                </a:solidFill>
              </a:rPr>
              <a:t>12.5%</a:t>
            </a:r>
            <a:endParaRPr lang="en-US" sz="1600" dirty="0"/>
          </a:p>
        </p:txBody>
      </p:sp>
      <p:sp>
        <p:nvSpPr>
          <p:cNvPr id="10" name="Why correct"/>
          <p:cNvSpPr txBox="1"/>
          <p:nvPr/>
        </p:nvSpPr>
        <p:spPr>
          <a:xfrm>
            <a:off x="777240" y="2011680"/>
            <a:ext cx="10637215" cy="476504"/>
          </a:xfrm>
          <a:prstGeom prst="rect">
            <a:avLst/>
          </a:prstGeom>
          <a:noFill/>
          <a:ln/>
        </p:spPr>
        <p:txBody>
          <a:bodyPr wrap="square" lIns="0" tIns="0" rIns="0" bIns="0" rtlCol="0" anchor="t"/>
          <a:lstStyle/>
          <a:p>
            <a:pPr indent="0" marL="0">
              <a:buNone/>
            </a:pPr>
            <a:r>
              <a:rPr lang="en-US" sz="1600" dirty="0">
                <a:solidFill>
                  <a:srgbClr val="1F1F1F"/>
                </a:solidFill>
              </a:rPr>
              <a:t>Each half-life halves what remains: 100% → 50% → 25% → 12.5% after 3 t½ (S22).</a:t>
            </a:r>
            <a:r>
              <a:rPr lang="en-US" sz="1100" dirty="0">
                <a:solidFill>
                  <a:srgbClr val="666666"/>
                </a:solidFill>
              </a:rPr>
              <a:t>  S20; S21-22</a:t>
            </a:r>
            <a:endParaRPr lang="en-US" sz="1600" dirty="0"/>
          </a:p>
        </p:txBody>
      </p:sp>
      <p:sp>
        <p:nvSpPr>
          <p:cNvPr id="11" name="Why others wrong card"/>
          <p:cNvSpPr/>
          <p:nvPr/>
        </p:nvSpPr>
        <p:spPr>
          <a:xfrm>
            <a:off x="548640" y="2625344"/>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735072"/>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3% — </a:t>
            </a:r>
            <a:r>
              <a:rPr lang="en-US" sz="1600" dirty="0">
                <a:solidFill>
                  <a:srgbClr val="1F1F1F"/>
                </a:solidFill>
              </a:rPr>
              <a:t>About 3% remains after 5 half-lives (S22).</a:t>
            </a:r>
            <a:endParaRPr lang="en-US" sz="1600" dirty="0"/>
          </a:p>
          <a:p>
            <a:pPr indent="0" marL="0">
              <a:buNone/>
            </a:pPr>
            <a:r>
              <a:rPr lang="en-US" sz="1600" b="1" dirty="0">
                <a:solidFill>
                  <a:srgbClr val="1F1F1F"/>
                </a:solidFill>
              </a:rPr>
              <a:t>B. 25% — </a:t>
            </a:r>
            <a:r>
              <a:rPr lang="en-US" sz="1600" dirty="0">
                <a:solidFill>
                  <a:srgbClr val="1F1F1F"/>
                </a:solidFill>
              </a:rPr>
              <a:t>25% remains after 2 half-lives (S22).</a:t>
            </a:r>
            <a:endParaRPr lang="en-US" sz="1600" dirty="0"/>
          </a:p>
          <a:p>
            <a:pPr indent="0" marL="0">
              <a:buNone/>
            </a:pPr>
            <a:r>
              <a:rPr lang="en-US" sz="1600" b="1" dirty="0">
                <a:solidFill>
                  <a:srgbClr val="1F1F1F"/>
                </a:solidFill>
              </a:rPr>
              <a:t>C. 6.25% — </a:t>
            </a:r>
            <a:r>
              <a:rPr lang="en-US" sz="1600" dirty="0">
                <a:solidFill>
                  <a:srgbClr val="1F1F1F"/>
                </a:solidFill>
              </a:rPr>
              <a:t>6.25% remains after 4 half-lives (S19).</a:t>
            </a:r>
            <a:endParaRPr lang="en-US" sz="1600" dirty="0"/>
          </a:p>
          <a:p>
            <a:pPr indent="0" marL="0">
              <a:buNone/>
            </a:pPr>
            <a:r>
              <a:rPr lang="en-US" sz="1600" b="1" dirty="0">
                <a:solidFill>
                  <a:srgbClr val="1F1F1F"/>
                </a:solidFill>
              </a:rPr>
              <a:t>E. 50% — </a:t>
            </a:r>
            <a:r>
              <a:rPr lang="en-US" sz="1600" dirty="0">
                <a:solidFill>
                  <a:srgbClr val="1F1F1F"/>
                </a:solidFill>
              </a:rPr>
              <a:t>50% remains after 1 half-life (S22).</a:t>
            </a:r>
            <a:endParaRPr lang="en-US" sz="16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LECTURE QUICK CHECK S25-26</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11</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61</a:t>
            </a:r>
            <a:endParaRPr lang="en-US" sz="1000" dirty="0"/>
          </a:p>
        </p:txBody>
      </p:sp>
      <p:sp>
        <p:nvSpPr>
          <p:cNvPr id="7" name="Question stem card"/>
          <p:cNvSpPr/>
          <p:nvPr/>
        </p:nvSpPr>
        <p:spPr>
          <a:xfrm>
            <a:off x="548640" y="1325880"/>
            <a:ext cx="11094415" cy="1202436"/>
          </a:xfrm>
          <a:prstGeom prst="roundRect">
            <a:avLst>
              <a:gd name="adj" fmla="val 7605"/>
            </a:avLst>
          </a:prstGeom>
          <a:solidFill>
            <a:srgbClr val="F2F4F7"/>
          </a:solidFill>
          <a:ln w="12700">
            <a:solidFill>
              <a:srgbClr val="F2F4F7"/>
            </a:solidFill>
            <a:prstDash val="solid"/>
          </a:ln>
        </p:spPr>
      </p:sp>
      <p:sp>
        <p:nvSpPr>
          <p:cNvPr id="8" name="Question stem"/>
          <p:cNvSpPr txBox="1"/>
          <p:nvPr/>
        </p:nvSpPr>
        <p:spPr>
          <a:xfrm>
            <a:off x="777240" y="1325880"/>
            <a:ext cx="10637215" cy="1202436"/>
          </a:xfrm>
          <a:prstGeom prst="rect">
            <a:avLst/>
          </a:prstGeom>
          <a:noFill/>
          <a:ln/>
        </p:spPr>
        <p:txBody>
          <a:bodyPr wrap="square" lIns="0" tIns="0" rIns="0" bIns="0" rtlCol="0" anchor="ctr"/>
          <a:lstStyle/>
          <a:p>
            <a:pPr indent="0" marL="0">
              <a:buNone/>
            </a:pPr>
            <a:r>
              <a:rPr lang="en-US" sz="1800" dirty="0">
                <a:solidFill>
                  <a:srgbClr val="1F1F1F"/>
                </a:solidFill>
              </a:rPr>
              <a:t>In Figure 8, the dashed loading-dose line starts at the target concentration immediately, while the maintenance-only line climbs gradually over several doses. What is the clinical advantage of adding a loading dose?</a:t>
            </a:r>
            <a:endParaRPr lang="en-US" sz="1800" dirty="0"/>
          </a:p>
        </p:txBody>
      </p:sp>
      <p:sp>
        <p:nvSpPr>
          <p:cNvPr id="9" name="Shape 7"/>
          <p:cNvSpPr/>
          <p:nvPr/>
        </p:nvSpPr>
        <p:spPr>
          <a:xfrm>
            <a:off x="548640" y="2738628"/>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738628"/>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711196"/>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It reaches the therapeutic target immediately instead of waiting ~4–5 half-lives</a:t>
            </a:r>
            <a:endParaRPr lang="en-US" sz="1800" dirty="0"/>
          </a:p>
        </p:txBody>
      </p:sp>
      <p:sp>
        <p:nvSpPr>
          <p:cNvPr id="12" name="Shape 10"/>
          <p:cNvSpPr/>
          <p:nvPr/>
        </p:nvSpPr>
        <p:spPr>
          <a:xfrm>
            <a:off x="548640" y="3287268"/>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287268"/>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3259836"/>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It shortens the drug's half-life so steady state comes sooner</a:t>
            </a:r>
            <a:endParaRPr lang="en-US" sz="1800" dirty="0"/>
          </a:p>
        </p:txBody>
      </p:sp>
      <p:sp>
        <p:nvSpPr>
          <p:cNvPr id="15" name="Shape 13"/>
          <p:cNvSpPr/>
          <p:nvPr/>
        </p:nvSpPr>
        <p:spPr>
          <a:xfrm>
            <a:off x="548640" y="3835908"/>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835908"/>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808476"/>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It has no real advantage over maintenance dosing used alone</a:t>
            </a:r>
            <a:endParaRPr lang="en-US" sz="1800" dirty="0"/>
          </a:p>
        </p:txBody>
      </p:sp>
      <p:sp>
        <p:nvSpPr>
          <p:cNvPr id="18" name="Shape 16"/>
          <p:cNvSpPr/>
          <p:nvPr/>
        </p:nvSpPr>
        <p:spPr>
          <a:xfrm>
            <a:off x="548640" y="4384548"/>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384548"/>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357116"/>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It permanently lowers the maintenance dose the patient will need</a:t>
            </a:r>
            <a:endParaRPr lang="en-US" sz="1800" dirty="0"/>
          </a:p>
        </p:txBody>
      </p:sp>
      <p:sp>
        <p:nvSpPr>
          <p:cNvPr id="21" name="Shape 19"/>
          <p:cNvSpPr/>
          <p:nvPr/>
        </p:nvSpPr>
        <p:spPr>
          <a:xfrm>
            <a:off x="548640" y="4933188"/>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933188"/>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905756"/>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It eliminates the need for any therapeutic drug level monitoring</a:t>
            </a:r>
            <a:endParaRPr lang="en-US" sz="1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11: A</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62</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A. </a:t>
            </a:r>
            <a:r>
              <a:rPr lang="en-US" sz="1600" b="1" dirty="0">
                <a:solidFill>
                  <a:srgbClr val="1F1F1F"/>
                </a:solidFill>
              </a:rPr>
              <a:t>It reaches the therapeutic target immediately instead of waiting ~4–5 half-lives</a:t>
            </a:r>
            <a:endParaRPr lang="en-US" sz="1600" dirty="0"/>
          </a:p>
        </p:txBody>
      </p:sp>
      <p:sp>
        <p:nvSpPr>
          <p:cNvPr id="10" name="Why correct"/>
          <p:cNvSpPr txBox="1"/>
          <p:nvPr/>
        </p:nvSpPr>
        <p:spPr>
          <a:xfrm>
            <a:off x="777240" y="2011680"/>
            <a:ext cx="10637215" cy="724408"/>
          </a:xfrm>
          <a:prstGeom prst="rect">
            <a:avLst/>
          </a:prstGeom>
          <a:noFill/>
          <a:ln/>
        </p:spPr>
        <p:txBody>
          <a:bodyPr wrap="square" lIns="0" tIns="0" rIns="0" bIns="0" rtlCol="0" anchor="t"/>
          <a:lstStyle/>
          <a:p>
            <a:pPr indent="0" marL="0">
              <a:buNone/>
            </a:pPr>
            <a:r>
              <a:rPr lang="en-US" sz="1600" dirty="0">
                <a:solidFill>
                  <a:srgbClr val="1F1F1F"/>
                </a:solidFill>
              </a:rPr>
              <a:t>The loading-dose curve starts at the steady-state line from the first dose; maintenance-only needs ~4–5 half-lives (S26).</a:t>
            </a:r>
            <a:r>
              <a:rPr lang="en-US" sz="1100" dirty="0">
                <a:solidFill>
                  <a:srgbClr val="666666"/>
                </a:solidFill>
              </a:rPr>
              <a:t>  S24; S25-26</a:t>
            </a:r>
            <a:endParaRPr lang="en-US" sz="1600" dirty="0"/>
          </a:p>
        </p:txBody>
      </p:sp>
      <p:sp>
        <p:nvSpPr>
          <p:cNvPr id="11" name="Why others wrong card"/>
          <p:cNvSpPr/>
          <p:nvPr/>
        </p:nvSpPr>
        <p:spPr>
          <a:xfrm>
            <a:off x="548640" y="2873248"/>
            <a:ext cx="11094415" cy="2448560"/>
          </a:xfrm>
          <a:prstGeom prst="roundRect">
            <a:avLst>
              <a:gd name="adj" fmla="val 3734"/>
            </a:avLst>
          </a:prstGeom>
          <a:solidFill>
            <a:srgbClr val="F2F4F7"/>
          </a:solidFill>
          <a:ln w="12700">
            <a:solidFill>
              <a:srgbClr val="F2F4F7"/>
            </a:solidFill>
            <a:prstDash val="solid"/>
          </a:ln>
        </p:spPr>
      </p:sp>
      <p:sp>
        <p:nvSpPr>
          <p:cNvPr id="12" name="Why others wrong"/>
          <p:cNvSpPr txBox="1"/>
          <p:nvPr/>
        </p:nvSpPr>
        <p:spPr>
          <a:xfrm>
            <a:off x="777240" y="2982976"/>
            <a:ext cx="10637215" cy="2265680"/>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B. It shortens the drug's half-life so steady state comes sooner — </a:t>
            </a:r>
            <a:r>
              <a:rPr lang="en-US" sz="1600" dirty="0">
                <a:solidFill>
                  <a:srgbClr val="1F1F1F"/>
                </a:solidFill>
              </a:rPr>
              <a:t>Half-life is set by clearance and Vd, not by a loading dose (S19).</a:t>
            </a:r>
            <a:endParaRPr lang="en-US" sz="1600" dirty="0"/>
          </a:p>
          <a:p>
            <a:pPr indent="0" marL="0">
              <a:buNone/>
            </a:pPr>
            <a:r>
              <a:rPr lang="en-US" sz="1600" b="1" dirty="0">
                <a:solidFill>
                  <a:srgbClr val="1F1F1F"/>
                </a:solidFill>
              </a:rPr>
              <a:t>C. It has no real advantage over maintenance dosing used alone — </a:t>
            </a:r>
            <a:r>
              <a:rPr lang="en-US" sz="1600" dirty="0">
                <a:solidFill>
                  <a:srgbClr val="1F1F1F"/>
                </a:solidFill>
              </a:rPr>
              <a:t>It reaches the target immediately (S26).</a:t>
            </a:r>
            <a:endParaRPr lang="en-US" sz="1600" dirty="0"/>
          </a:p>
          <a:p>
            <a:pPr indent="0" marL="0">
              <a:buNone/>
            </a:pPr>
            <a:r>
              <a:rPr lang="en-US" sz="1600" b="1" dirty="0">
                <a:solidFill>
                  <a:srgbClr val="1F1F1F"/>
                </a:solidFill>
              </a:rPr>
              <a:t>D. It permanently lowers the maintenance dose the patient will need — </a:t>
            </a:r>
            <a:r>
              <a:rPr lang="en-US" sz="1600" dirty="0">
                <a:solidFill>
                  <a:srgbClr val="1F1F1F"/>
                </a:solidFill>
              </a:rPr>
              <a:t>A loading dose does not change the maintenance dose itself (S26).</a:t>
            </a:r>
            <a:endParaRPr lang="en-US" sz="1600" dirty="0"/>
          </a:p>
          <a:p>
            <a:pPr indent="0" marL="0">
              <a:buNone/>
            </a:pPr>
            <a:r>
              <a:rPr lang="en-US" sz="1600" b="1" dirty="0">
                <a:solidFill>
                  <a:srgbClr val="1F1F1F"/>
                </a:solidFill>
              </a:rPr>
              <a:t>E. It eliminates the need for any therapeutic drug level monitoring — </a:t>
            </a:r>
            <a:r>
              <a:rPr lang="en-US" sz="1600" dirty="0">
                <a:solidFill>
                  <a:srgbClr val="1F1F1F"/>
                </a:solidFill>
              </a:rPr>
              <a:t>A loading dose does not remove the need for monitoring (S26).</a:t>
            </a:r>
            <a:endParaRPr lang="en-US" sz="16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LECTURE QUICK CHECK S29-30</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12</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63</a:t>
            </a:r>
            <a:endParaRPr lang="en-US" sz="1000" dirty="0"/>
          </a:p>
        </p:txBody>
      </p:sp>
      <p:sp>
        <p:nvSpPr>
          <p:cNvPr id="7" name="Question stem card"/>
          <p:cNvSpPr/>
          <p:nvPr/>
        </p:nvSpPr>
        <p:spPr>
          <a:xfrm>
            <a:off x="548640" y="1325880"/>
            <a:ext cx="11094415" cy="644652"/>
          </a:xfrm>
          <a:prstGeom prst="roundRect">
            <a:avLst>
              <a:gd name="adj" fmla="val 14184"/>
            </a:avLst>
          </a:prstGeom>
          <a:solidFill>
            <a:srgbClr val="F2F4F7"/>
          </a:solidFill>
          <a:ln w="12700">
            <a:solidFill>
              <a:srgbClr val="F2F4F7"/>
            </a:solidFill>
            <a:prstDash val="solid"/>
          </a:ln>
        </p:spPr>
      </p:sp>
      <p:sp>
        <p:nvSpPr>
          <p:cNvPr id="8" name="Question stem"/>
          <p:cNvSpPr txBox="1"/>
          <p:nvPr/>
        </p:nvSpPr>
        <p:spPr>
          <a:xfrm>
            <a:off x="777240" y="1325880"/>
            <a:ext cx="10637215" cy="644652"/>
          </a:xfrm>
          <a:prstGeom prst="rect">
            <a:avLst/>
          </a:prstGeom>
          <a:noFill/>
          <a:ln/>
        </p:spPr>
        <p:txBody>
          <a:bodyPr wrap="square" lIns="0" tIns="0" rIns="0" bIns="0" rtlCol="0" anchor="ctr"/>
          <a:lstStyle/>
          <a:p>
            <a:pPr indent="0" marL="0">
              <a:buNone/>
            </a:pPr>
            <a:r>
              <a:rPr lang="en-US" sz="1800" dirty="0">
                <a:solidFill>
                  <a:srgbClr val="1F1F1F"/>
                </a:solidFill>
              </a:rPr>
              <a:t>Approximately how many half-lives are required for a drug to reach steady state with regular, repeated dosing?</a:t>
            </a:r>
            <a:endParaRPr lang="en-US" sz="1800" dirty="0"/>
          </a:p>
        </p:txBody>
      </p:sp>
      <p:sp>
        <p:nvSpPr>
          <p:cNvPr id="9" name="Shape 7"/>
          <p:cNvSpPr/>
          <p:nvPr/>
        </p:nvSpPr>
        <p:spPr>
          <a:xfrm>
            <a:off x="548640" y="2180844"/>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18084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15341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After the first dose</a:t>
            </a:r>
            <a:endParaRPr lang="en-US" sz="1800" dirty="0"/>
          </a:p>
        </p:txBody>
      </p:sp>
      <p:sp>
        <p:nvSpPr>
          <p:cNvPr id="12" name="Shape 10"/>
          <p:cNvSpPr/>
          <p:nvPr/>
        </p:nvSpPr>
        <p:spPr>
          <a:xfrm>
            <a:off x="548640" y="2729484"/>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272948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70205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2–3 half-lives</a:t>
            </a:r>
            <a:endParaRPr lang="en-US" sz="1800" dirty="0"/>
          </a:p>
        </p:txBody>
      </p:sp>
      <p:sp>
        <p:nvSpPr>
          <p:cNvPr id="15" name="Shape 13"/>
          <p:cNvSpPr/>
          <p:nvPr/>
        </p:nvSpPr>
        <p:spPr>
          <a:xfrm>
            <a:off x="548640" y="3278124"/>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27812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25069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1–2 half-lives</a:t>
            </a:r>
            <a:endParaRPr lang="en-US" sz="1800" dirty="0"/>
          </a:p>
        </p:txBody>
      </p:sp>
      <p:sp>
        <p:nvSpPr>
          <p:cNvPr id="18" name="Shape 16"/>
          <p:cNvSpPr/>
          <p:nvPr/>
        </p:nvSpPr>
        <p:spPr>
          <a:xfrm>
            <a:off x="548640" y="3826764"/>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382676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379933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8–10 half-lives</a:t>
            </a:r>
            <a:endParaRPr lang="en-US" sz="1800" dirty="0"/>
          </a:p>
        </p:txBody>
      </p:sp>
      <p:sp>
        <p:nvSpPr>
          <p:cNvPr id="21" name="Shape 19"/>
          <p:cNvSpPr/>
          <p:nvPr/>
        </p:nvSpPr>
        <p:spPr>
          <a:xfrm>
            <a:off x="548640" y="4375404"/>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37540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34797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4–5 half-lives</a:t>
            </a:r>
            <a:endParaRPr lang="en-US" sz="1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12: E</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64</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E. </a:t>
            </a:r>
            <a:r>
              <a:rPr lang="en-US" sz="1600" b="1" dirty="0">
                <a:solidFill>
                  <a:srgbClr val="1F1F1F"/>
                </a:solidFill>
              </a:rPr>
              <a:t>4–5 half-lives</a:t>
            </a:r>
            <a:endParaRPr lang="en-US" sz="1600" dirty="0"/>
          </a:p>
        </p:txBody>
      </p:sp>
      <p:sp>
        <p:nvSpPr>
          <p:cNvPr id="10" name="Why correct"/>
          <p:cNvSpPr txBox="1"/>
          <p:nvPr/>
        </p:nvSpPr>
        <p:spPr>
          <a:xfrm>
            <a:off x="777240" y="2011680"/>
            <a:ext cx="10637215" cy="476504"/>
          </a:xfrm>
          <a:prstGeom prst="rect">
            <a:avLst/>
          </a:prstGeom>
          <a:noFill/>
          <a:ln/>
        </p:spPr>
        <p:txBody>
          <a:bodyPr wrap="square" lIns="0" tIns="0" rIns="0" bIns="0" rtlCol="0" anchor="t"/>
          <a:lstStyle/>
          <a:p>
            <a:pPr indent="0" marL="0">
              <a:buNone/>
            </a:pPr>
            <a:r>
              <a:rPr lang="en-US" sz="1600" dirty="0">
                <a:solidFill>
                  <a:srgbClr val="1F1F1F"/>
                </a:solidFill>
              </a:rPr>
              <a:t>Steady state is reached in roughly 4–5 half-lives, regardless of dose size (S30).</a:t>
            </a:r>
            <a:r>
              <a:rPr lang="en-US" sz="1100" dirty="0">
                <a:solidFill>
                  <a:srgbClr val="666666"/>
                </a:solidFill>
              </a:rPr>
              <a:t>  S29-30; SG U1-R11</a:t>
            </a:r>
            <a:endParaRPr lang="en-US" sz="1600" dirty="0"/>
          </a:p>
        </p:txBody>
      </p:sp>
      <p:sp>
        <p:nvSpPr>
          <p:cNvPr id="11" name="Why others wrong card"/>
          <p:cNvSpPr/>
          <p:nvPr/>
        </p:nvSpPr>
        <p:spPr>
          <a:xfrm>
            <a:off x="548640" y="2625344"/>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735072"/>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After the first dose — </a:t>
            </a:r>
            <a:r>
              <a:rPr lang="en-US" sz="1600" dirty="0">
                <a:solidFill>
                  <a:srgbClr val="1F1F1F"/>
                </a:solidFill>
              </a:rPr>
              <a:t>That describes a LOADING dose reaching target (S26), not steady state from regular dosing.</a:t>
            </a:r>
            <a:endParaRPr lang="en-US" sz="1600" dirty="0"/>
          </a:p>
          <a:p>
            <a:pPr indent="0" marL="0">
              <a:buNone/>
            </a:pPr>
            <a:r>
              <a:rPr lang="en-US" sz="1600" b="1" dirty="0">
                <a:solidFill>
                  <a:srgbClr val="1F1F1F"/>
                </a:solidFill>
              </a:rPr>
              <a:t>B. 2–3 half-lives — </a:t>
            </a:r>
            <a:r>
              <a:rPr lang="en-US" sz="1600" dirty="0">
                <a:solidFill>
                  <a:srgbClr val="1F1F1F"/>
                </a:solidFill>
              </a:rPr>
              <a:t>Too few — about 4–5 half-lives are needed (S23, S30).</a:t>
            </a:r>
            <a:endParaRPr lang="en-US" sz="1600" dirty="0"/>
          </a:p>
          <a:p>
            <a:pPr indent="0" marL="0">
              <a:buNone/>
            </a:pPr>
            <a:r>
              <a:rPr lang="en-US" sz="1600" b="1" dirty="0">
                <a:solidFill>
                  <a:srgbClr val="1F1F1F"/>
                </a:solidFill>
              </a:rPr>
              <a:t>C. 1–2 half-lives — </a:t>
            </a:r>
            <a:r>
              <a:rPr lang="en-US" sz="1600" dirty="0">
                <a:solidFill>
                  <a:srgbClr val="1F1F1F"/>
                </a:solidFill>
              </a:rPr>
              <a:t>Too few — steady state takes about 4–5 half-lives (S30).</a:t>
            </a:r>
            <a:endParaRPr lang="en-US" sz="1600" dirty="0"/>
          </a:p>
          <a:p>
            <a:pPr indent="0" marL="0">
              <a:buNone/>
            </a:pPr>
            <a:r>
              <a:rPr lang="en-US" sz="1600" b="1" dirty="0">
                <a:solidFill>
                  <a:srgbClr val="1F1F1F"/>
                </a:solidFill>
              </a:rPr>
              <a:t>D. 8–10 half-lives — </a:t>
            </a:r>
            <a:r>
              <a:rPr lang="en-US" sz="1600" dirty="0">
                <a:solidFill>
                  <a:srgbClr val="1F1F1F"/>
                </a:solidFill>
              </a:rPr>
              <a:t>Too many — steady state takes about 4–5 half-lives (S30).</a:t>
            </a:r>
            <a:endParaRPr lang="en-US" sz="16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LECTURE QUICK CHECK S46, S48</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13</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65</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A patient with CKD is prescribed a renally-cleared, narrow-TI drug without dose adjustment. Which two consequences would you expect together?</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Increased half-life and increased concentration</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No change in either half-life or concentration</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Decreased half-life and decreased concentration</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Increased clearance and decreased Vd</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Decreased half-life and increased concentration</a:t>
            </a:r>
            <a:endParaRPr lang="en-US" sz="1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13: A</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66</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A. </a:t>
            </a:r>
            <a:r>
              <a:rPr lang="en-US" sz="1600" b="1" dirty="0">
                <a:solidFill>
                  <a:srgbClr val="1F1F1F"/>
                </a:solidFill>
              </a:rPr>
              <a:t>Increased half-life and increased concentration</a:t>
            </a:r>
            <a:endParaRPr lang="en-US" sz="1600" dirty="0"/>
          </a:p>
        </p:txBody>
      </p:sp>
      <p:sp>
        <p:nvSpPr>
          <p:cNvPr id="10" name="Why correct"/>
          <p:cNvSpPr txBox="1"/>
          <p:nvPr/>
        </p:nvSpPr>
        <p:spPr>
          <a:xfrm>
            <a:off x="777240" y="2011680"/>
            <a:ext cx="10637215" cy="476504"/>
          </a:xfrm>
          <a:prstGeom prst="rect">
            <a:avLst/>
          </a:prstGeom>
          <a:noFill/>
          <a:ln/>
        </p:spPr>
        <p:txBody>
          <a:bodyPr wrap="square" lIns="0" tIns="0" rIns="0" bIns="0" rtlCol="0" anchor="t"/>
          <a:lstStyle/>
          <a:p>
            <a:pPr indent="0" marL="0">
              <a:buNone/>
            </a:pPr>
            <a:r>
              <a:rPr lang="en-US" sz="1600" dirty="0">
                <a:solidFill>
                  <a:srgbClr val="1F1F1F"/>
                </a:solidFill>
              </a:rPr>
              <a:t>Reduced renal clearance raises both drug concentration and half-life (S48, S28).</a:t>
            </a:r>
            <a:r>
              <a:rPr lang="en-US" sz="1100" dirty="0">
                <a:solidFill>
                  <a:srgbClr val="666666"/>
                </a:solidFill>
              </a:rPr>
              <a:t>  S46; S48</a:t>
            </a:r>
            <a:endParaRPr lang="en-US" sz="1600" dirty="0"/>
          </a:p>
        </p:txBody>
      </p:sp>
      <p:sp>
        <p:nvSpPr>
          <p:cNvPr id="11" name="Why others wrong card"/>
          <p:cNvSpPr/>
          <p:nvPr/>
        </p:nvSpPr>
        <p:spPr>
          <a:xfrm>
            <a:off x="548640" y="2625344"/>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735072"/>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B. No change in either half-life or concentration — </a:t>
            </a:r>
            <a:r>
              <a:rPr lang="en-US" sz="1600" dirty="0">
                <a:solidFill>
                  <a:srgbClr val="1F1F1F"/>
                </a:solidFill>
              </a:rPr>
              <a:t>Reduced clearance raises concentration and prolongs half-life (S28).</a:t>
            </a:r>
            <a:endParaRPr lang="en-US" sz="1600" dirty="0"/>
          </a:p>
          <a:p>
            <a:pPr indent="0" marL="0">
              <a:buNone/>
            </a:pPr>
            <a:r>
              <a:rPr lang="en-US" sz="1600" b="1" dirty="0">
                <a:solidFill>
                  <a:srgbClr val="1F1F1F"/>
                </a:solidFill>
              </a:rPr>
              <a:t>C. Decreased half-life and decreased concentration — </a:t>
            </a:r>
            <a:r>
              <a:rPr lang="en-US" sz="1600" dirty="0">
                <a:solidFill>
                  <a:srgbClr val="1F1F1F"/>
                </a:solidFill>
              </a:rPr>
              <a:t>Lower clearance has the opposite effect (S28).</a:t>
            </a:r>
            <a:endParaRPr lang="en-US" sz="1600" dirty="0"/>
          </a:p>
          <a:p>
            <a:pPr indent="0" marL="0">
              <a:buNone/>
            </a:pPr>
            <a:r>
              <a:rPr lang="en-US" sz="1600" b="1" dirty="0">
                <a:solidFill>
                  <a:srgbClr val="1F1F1F"/>
                </a:solidFill>
              </a:rPr>
              <a:t>D. Increased clearance and decreased Vd — </a:t>
            </a:r>
            <a:r>
              <a:rPr lang="en-US" sz="1600" dirty="0">
                <a:solidFill>
                  <a:srgbClr val="1F1F1F"/>
                </a:solidFill>
              </a:rPr>
              <a:t>CKD DECREASES clearance (S15).</a:t>
            </a:r>
            <a:endParaRPr lang="en-US" sz="1600" dirty="0"/>
          </a:p>
          <a:p>
            <a:pPr indent="0" marL="0">
              <a:buNone/>
            </a:pPr>
            <a:r>
              <a:rPr lang="en-US" sz="1600" b="1" dirty="0">
                <a:solidFill>
                  <a:srgbClr val="1F1F1F"/>
                </a:solidFill>
              </a:rPr>
              <a:t>E. Decreased half-life and increased concentration — </a:t>
            </a:r>
            <a:r>
              <a:rPr lang="en-US" sz="1600" dirty="0">
                <a:solidFill>
                  <a:srgbClr val="1F1F1F"/>
                </a:solidFill>
              </a:rPr>
              <a:t>Half-life is PROLONGED when clearance falls (S28).</a:t>
            </a:r>
            <a:endParaRPr lang="en-US" sz="16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LECTURE QUICK CHECK S47-48</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14</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67</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A narrow-therapeutic-index medication requires monitoring. Which pharmacokinetic parameter most directly determines how long it takes to reach steady-state concentration?</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Size of each dose given</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Half-life of the drug</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Chemical name of the drug</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Route of administration</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Bioavailability of the drug</a:t>
            </a:r>
            <a:endParaRPr lang="en-US" sz="1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14: B</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68</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B. </a:t>
            </a:r>
            <a:r>
              <a:rPr lang="en-US" sz="1600" b="1" dirty="0">
                <a:solidFill>
                  <a:srgbClr val="1F1F1F"/>
                </a:solidFill>
              </a:rPr>
              <a:t>Half-life of the drug</a:t>
            </a:r>
            <a:endParaRPr lang="en-US" sz="1600" dirty="0"/>
          </a:p>
        </p:txBody>
      </p:sp>
      <p:sp>
        <p:nvSpPr>
          <p:cNvPr id="10" name="Why correct"/>
          <p:cNvSpPr txBox="1"/>
          <p:nvPr/>
        </p:nvSpPr>
        <p:spPr>
          <a:xfrm>
            <a:off x="777240" y="2011680"/>
            <a:ext cx="10637215" cy="476504"/>
          </a:xfrm>
          <a:prstGeom prst="rect">
            <a:avLst/>
          </a:prstGeom>
          <a:noFill/>
          <a:ln/>
        </p:spPr>
        <p:txBody>
          <a:bodyPr wrap="square" lIns="0" tIns="0" rIns="0" bIns="0" rtlCol="0" anchor="t"/>
          <a:lstStyle/>
          <a:p>
            <a:pPr indent="0" marL="0">
              <a:buNone/>
            </a:pPr>
            <a:r>
              <a:rPr lang="en-US" sz="1600" dirty="0">
                <a:solidFill>
                  <a:srgbClr val="1F1F1F"/>
                </a:solidFill>
              </a:rPr>
              <a:t>Time to steady state (about 4–5 half-lives) is governed by half-life (S48).</a:t>
            </a:r>
            <a:r>
              <a:rPr lang="en-US" sz="1100" dirty="0">
                <a:solidFill>
                  <a:srgbClr val="666666"/>
                </a:solidFill>
              </a:rPr>
              <a:t>  S47-48</a:t>
            </a:r>
            <a:endParaRPr lang="en-US" sz="1600" dirty="0"/>
          </a:p>
        </p:txBody>
      </p:sp>
      <p:sp>
        <p:nvSpPr>
          <p:cNvPr id="11" name="Why others wrong card"/>
          <p:cNvSpPr/>
          <p:nvPr/>
        </p:nvSpPr>
        <p:spPr>
          <a:xfrm>
            <a:off x="548640" y="2625344"/>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735072"/>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Size of each dose given — </a:t>
            </a:r>
            <a:r>
              <a:rPr lang="en-US" sz="1600" dirty="0">
                <a:solidFill>
                  <a:srgbClr val="1F1F1F"/>
                </a:solidFill>
              </a:rPr>
              <a:t>Steady state takes ~4–5 half-lives regardless of dose size (S30).</a:t>
            </a:r>
            <a:endParaRPr lang="en-US" sz="1600" dirty="0"/>
          </a:p>
          <a:p>
            <a:pPr indent="0" marL="0">
              <a:buNone/>
            </a:pPr>
            <a:r>
              <a:rPr lang="en-US" sz="1600" b="1" dirty="0">
                <a:solidFill>
                  <a:srgbClr val="1F1F1F"/>
                </a:solidFill>
              </a:rPr>
              <a:t>C. Chemical name of the drug — </a:t>
            </a:r>
            <a:r>
              <a:rPr lang="en-US" sz="1600" dirty="0">
                <a:solidFill>
                  <a:srgbClr val="1F1F1F"/>
                </a:solidFill>
              </a:rPr>
              <a:t>A chemical name describes structure; it has no effect on PK (S48).</a:t>
            </a:r>
            <a:endParaRPr lang="en-US" sz="1600" dirty="0"/>
          </a:p>
          <a:p>
            <a:pPr indent="0" marL="0">
              <a:buNone/>
            </a:pPr>
            <a:r>
              <a:rPr lang="en-US" sz="1600" b="1" dirty="0">
                <a:solidFill>
                  <a:srgbClr val="1F1F1F"/>
                </a:solidFill>
              </a:rPr>
              <a:t>D. Route of administration — </a:t>
            </a:r>
            <a:r>
              <a:rPr lang="en-US" sz="1600" dirty="0">
                <a:solidFill>
                  <a:srgbClr val="1F1F1F"/>
                </a:solidFill>
              </a:rPr>
              <a:t>Time to steady state depends on half-life, not route (S48).</a:t>
            </a:r>
            <a:endParaRPr lang="en-US" sz="1600" dirty="0"/>
          </a:p>
          <a:p>
            <a:pPr indent="0" marL="0">
              <a:buNone/>
            </a:pPr>
            <a:r>
              <a:rPr lang="en-US" sz="1600" b="1" dirty="0">
                <a:solidFill>
                  <a:srgbClr val="1F1F1F"/>
                </a:solidFill>
              </a:rPr>
              <a:t>E. Bioavailability of the drug — </a:t>
            </a:r>
            <a:r>
              <a:rPr lang="en-US" sz="1600" dirty="0">
                <a:solidFill>
                  <a:srgbClr val="1F1F1F"/>
                </a:solidFill>
              </a:rPr>
              <a:t>Bioavailability is the fraction reaching circulation (Session 1), not the time to steady state (S48).</a:t>
            </a:r>
            <a:endParaRPr lang="en-US" sz="16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15</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69</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A patient receives an IV dose that gives a starting plasma concentration of 100 mg/L. The drug's half-life is 6 hours. What is the plasma concentration at 18 hours?</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6.25 mg/L, with 93.75% of the drug eliminated</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25 mg/L, with 75% of the drug eliminated</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12.5 mg/L, with 87.5% of the drug eliminated</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3.125 mg/L, with about 97% eliminated</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50 mg/L, with 50% of the drug eliminated</a:t>
            </a:r>
            <a:endParaRPr lang="en-US" sz="1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15: C</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SO3 · IO1.1 · IO1.3</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70</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C. </a:t>
            </a:r>
            <a:r>
              <a:rPr lang="en-US" sz="1600" b="1" dirty="0">
                <a:solidFill>
                  <a:srgbClr val="1F1F1F"/>
                </a:solidFill>
              </a:rPr>
              <a:t>12.5 mg/L, with 87.5% of the drug eliminated</a:t>
            </a:r>
            <a:endParaRPr lang="en-US" sz="1600" dirty="0"/>
          </a:p>
        </p:txBody>
      </p:sp>
      <p:sp>
        <p:nvSpPr>
          <p:cNvPr id="10" name="Why correct"/>
          <p:cNvSpPr txBox="1"/>
          <p:nvPr/>
        </p:nvSpPr>
        <p:spPr>
          <a:xfrm>
            <a:off x="777240" y="2011680"/>
            <a:ext cx="10637215" cy="476504"/>
          </a:xfrm>
          <a:prstGeom prst="rect">
            <a:avLst/>
          </a:prstGeom>
          <a:noFill/>
          <a:ln/>
        </p:spPr>
        <p:txBody>
          <a:bodyPr wrap="square" lIns="0" tIns="0" rIns="0" bIns="0" rtlCol="0" anchor="t"/>
          <a:lstStyle/>
          <a:p>
            <a:pPr indent="0" marL="0">
              <a:buNone/>
            </a:pPr>
            <a:r>
              <a:rPr lang="en-US" sz="1600" dirty="0">
                <a:solidFill>
                  <a:srgbClr val="1F1F1F"/>
                </a:solidFill>
              </a:rPr>
              <a:t>18 h = 3 half-lives: C(t) = 100 × (1/2)^3 = 12.5 mg/L (87.5% eliminated) (S19).</a:t>
            </a:r>
            <a:r>
              <a:rPr lang="en-US" sz="1100" dirty="0">
                <a:solidFill>
                  <a:srgbClr val="666666"/>
                </a:solidFill>
              </a:rPr>
              <a:t>  S19</a:t>
            </a:r>
            <a:endParaRPr lang="en-US" sz="1600" dirty="0"/>
          </a:p>
        </p:txBody>
      </p:sp>
      <p:sp>
        <p:nvSpPr>
          <p:cNvPr id="11" name="Why others wrong card"/>
          <p:cNvSpPr/>
          <p:nvPr/>
        </p:nvSpPr>
        <p:spPr>
          <a:xfrm>
            <a:off x="548640" y="2625344"/>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735072"/>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6.25 mg/L, with 93.75% of the drug eliminated — </a:t>
            </a:r>
            <a:r>
              <a:rPr lang="en-US" sz="1600" dirty="0">
                <a:solidFill>
                  <a:srgbClr val="1F1F1F"/>
                </a:solidFill>
              </a:rPr>
              <a:t>That is 24 h — 4 half-lives (S19).</a:t>
            </a:r>
            <a:endParaRPr lang="en-US" sz="1600" dirty="0"/>
          </a:p>
          <a:p>
            <a:pPr indent="0" marL="0">
              <a:buNone/>
            </a:pPr>
            <a:r>
              <a:rPr lang="en-US" sz="1600" b="1" dirty="0">
                <a:solidFill>
                  <a:srgbClr val="1F1F1F"/>
                </a:solidFill>
              </a:rPr>
              <a:t>B. 25 mg/L, with 75% of the drug eliminated — </a:t>
            </a:r>
            <a:r>
              <a:rPr lang="en-US" sz="1600" dirty="0">
                <a:solidFill>
                  <a:srgbClr val="1F1F1F"/>
                </a:solidFill>
              </a:rPr>
              <a:t>That is 12 h — 2 half-lives (S19).</a:t>
            </a:r>
            <a:endParaRPr lang="en-US" sz="1600" dirty="0"/>
          </a:p>
          <a:p>
            <a:pPr indent="0" marL="0">
              <a:buNone/>
            </a:pPr>
            <a:r>
              <a:rPr lang="en-US" sz="1600" b="1" dirty="0">
                <a:solidFill>
                  <a:srgbClr val="1F1F1F"/>
                </a:solidFill>
              </a:rPr>
              <a:t>D. 3.125 mg/L, with about 97% eliminated — </a:t>
            </a:r>
            <a:r>
              <a:rPr lang="en-US" sz="1600" dirty="0">
                <a:solidFill>
                  <a:srgbClr val="1F1F1F"/>
                </a:solidFill>
              </a:rPr>
              <a:t>That is 30 h — 5 half-lives (S19).</a:t>
            </a:r>
            <a:endParaRPr lang="en-US" sz="1600" dirty="0"/>
          </a:p>
          <a:p>
            <a:pPr indent="0" marL="0">
              <a:buNone/>
            </a:pPr>
            <a:r>
              <a:rPr lang="en-US" sz="1600" b="1" dirty="0">
                <a:solidFill>
                  <a:srgbClr val="1F1F1F"/>
                </a:solidFill>
              </a:rPr>
              <a:t>E. 50 mg/L, with 50% of the drug eliminated — </a:t>
            </a:r>
            <a:r>
              <a:rPr lang="en-US" sz="1600" dirty="0">
                <a:solidFill>
                  <a:srgbClr val="1F1F1F"/>
                </a:solidFill>
              </a:rPr>
              <a:t>That is 6 h — 1 half-life (S19).</a:t>
            </a:r>
            <a:endParaRPr lang="en-US" sz="16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2F4F8A"/>
        </a:solidFill>
      </p:bgPr>
    </p:bg>
    <p:spTree>
      <p:nvGrpSpPr>
        <p:cNvPr id="1" name=""/>
        <p:cNvGrpSpPr/>
        <p:nvPr/>
      </p:nvGrpSpPr>
      <p:grpSpPr>
        <a:xfrm>
          <a:off x="0" y="0"/>
          <a:ext cx="0" cy="0"/>
          <a:chOff x="0" y="0"/>
          <a:chExt cx="0" cy="0"/>
        </a:xfrm>
      </p:grpSpPr>
      <p:sp>
        <p:nvSpPr>
          <p:cNvPr id="2" name="Text 0"/>
          <p:cNvSpPr txBox="1"/>
          <p:nvPr/>
        </p:nvSpPr>
        <p:spPr>
          <a:xfrm>
            <a:off x="548640" y="1463040"/>
            <a:ext cx="7315200" cy="365760"/>
          </a:xfrm>
          <a:prstGeom prst="rect">
            <a:avLst/>
          </a:prstGeom>
          <a:noFill/>
          <a:ln/>
        </p:spPr>
        <p:txBody>
          <a:bodyPr wrap="square" lIns="0" tIns="0" rIns="0" bIns="0" rtlCol="0" anchor="ctr"/>
          <a:lstStyle/>
          <a:p>
            <a:pPr indent="0" marL="0">
              <a:buNone/>
            </a:pPr>
            <a:r>
              <a:rPr lang="en-US" sz="1600" b="1" dirty="0">
                <a:solidFill>
                  <a:srgbClr val="D6E0F5"/>
                </a:solidFill>
              </a:rPr>
              <a:t>Topic 4 of 5</a:t>
            </a:r>
            <a:endParaRPr lang="en-US" sz="1600" dirty="0"/>
          </a:p>
        </p:txBody>
      </p:sp>
      <p:sp>
        <p:nvSpPr>
          <p:cNvPr id="3" name="Title"/>
          <p:cNvSpPr txBox="1"/>
          <p:nvPr/>
        </p:nvSpPr>
        <p:spPr>
          <a:xfrm>
            <a:off x="548640" y="1874520"/>
            <a:ext cx="11094415" cy="118872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Pharmacogenomics</a:t>
            </a:r>
            <a:endParaRPr lang="en-US" sz="4400" dirty="0"/>
          </a:p>
        </p:txBody>
      </p:sp>
      <p:sp>
        <p:nvSpPr>
          <p:cNvPr id="4" name="Text 2"/>
          <p:cNvSpPr txBox="1"/>
          <p:nvPr/>
        </p:nvSpPr>
        <p:spPr>
          <a:xfrm>
            <a:off x="548640" y="3108960"/>
            <a:ext cx="9144000" cy="365760"/>
          </a:xfrm>
          <a:prstGeom prst="rect">
            <a:avLst/>
          </a:prstGeom>
          <a:noFill/>
          <a:ln/>
        </p:spPr>
        <p:txBody>
          <a:bodyPr wrap="square" lIns="0" tIns="0" rIns="0" bIns="0" rtlCol="0" anchor="ctr"/>
          <a:lstStyle/>
          <a:p>
            <a:pPr indent="0" marL="0">
              <a:buNone/>
            </a:pPr>
            <a:r>
              <a:rPr lang="en-US" sz="1800" dirty="0">
                <a:solidFill>
                  <a:srgbClr val="D6E0F5"/>
                </a:solidFill>
              </a:rPr>
              <a:t>Covers objectives: SO4 · IO1.3 · IO1.4</a:t>
            </a:r>
            <a:endParaRPr lang="en-US" sz="1800" dirty="0"/>
          </a:p>
        </p:txBody>
      </p:sp>
      <p:sp>
        <p:nvSpPr>
          <p:cNvPr id="5" name="Shape 3"/>
          <p:cNvSpPr/>
          <p:nvPr/>
        </p:nvSpPr>
        <p:spPr>
          <a:xfrm>
            <a:off x="1338042" y="4297680"/>
            <a:ext cx="640080" cy="640080"/>
          </a:xfrm>
          <a:prstGeom prst="ellipse">
            <a:avLst/>
          </a:prstGeom>
          <a:solidFill>
            <a:srgbClr val="44546A"/>
          </a:solidFill>
          <a:ln w="1905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1493490" y="4453128"/>
            <a:ext cx="329184" cy="329184"/>
          </a:xfrm>
          <a:prstGeom prst="rect">
            <a:avLst/>
          </a:prstGeom>
        </p:spPr>
      </p:pic>
      <p:sp>
        <p:nvSpPr>
          <p:cNvPr id="7" name="Text 4"/>
          <p:cNvSpPr txBox="1"/>
          <p:nvPr/>
        </p:nvSpPr>
        <p:spPr>
          <a:xfrm>
            <a:off x="594360"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Key definitions</a:t>
            </a:r>
            <a:endParaRPr lang="en-US" sz="1200" dirty="0"/>
          </a:p>
        </p:txBody>
      </p:sp>
      <p:sp>
        <p:nvSpPr>
          <p:cNvPr id="8" name="Shape 5"/>
          <p:cNvSpPr/>
          <p:nvPr/>
        </p:nvSpPr>
        <p:spPr>
          <a:xfrm>
            <a:off x="3556925" y="4297680"/>
            <a:ext cx="640080" cy="640080"/>
          </a:xfrm>
          <a:prstGeom prst="ellipse">
            <a:avLst/>
          </a:prstGeom>
          <a:solidFill>
            <a:srgbClr val="7030A0"/>
          </a:solidFill>
          <a:ln w="1905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3712373" y="4453128"/>
            <a:ext cx="329184" cy="329184"/>
          </a:xfrm>
          <a:prstGeom prst="rect">
            <a:avLst/>
          </a:prstGeom>
        </p:spPr>
      </p:pic>
      <p:sp>
        <p:nvSpPr>
          <p:cNvPr id="10" name="Text 6"/>
          <p:cNvSpPr txBox="1"/>
          <p:nvPr/>
        </p:nvSpPr>
        <p:spPr>
          <a:xfrm>
            <a:off x="2813243"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How it works</a:t>
            </a:r>
            <a:endParaRPr lang="en-US" sz="1200" dirty="0"/>
          </a:p>
        </p:txBody>
      </p:sp>
      <p:sp>
        <p:nvSpPr>
          <p:cNvPr id="11" name="Shape 7"/>
          <p:cNvSpPr/>
          <p:nvPr/>
        </p:nvSpPr>
        <p:spPr>
          <a:xfrm>
            <a:off x="5775808" y="4297680"/>
            <a:ext cx="640080" cy="640080"/>
          </a:xfrm>
          <a:prstGeom prst="ellipse">
            <a:avLst/>
          </a:prstGeom>
          <a:solidFill>
            <a:srgbClr val="548235"/>
          </a:solidFill>
          <a:ln w="19050">
            <a:solidFill>
              <a:srgbClr val="FFFFFF"/>
            </a:solidFill>
            <a:prstDash val="solid"/>
          </a:ln>
        </p:spPr>
      </p:sp>
      <p:pic>
        <p:nvPicPr>
          <p:cNvPr id="12" name="Image 2" descr="preencoded.png">    </p:cNvPr>
          <p:cNvPicPr>
            <a:picLocks noChangeAspect="1"/>
          </p:cNvPicPr>
          <p:nvPr/>
        </p:nvPicPr>
        <p:blipFill>
          <a:blip r:embed="rId3"/>
          <a:stretch>
            <a:fillRect/>
          </a:stretch>
        </p:blipFill>
        <p:spPr>
          <a:xfrm>
            <a:off x="5931256" y="4453128"/>
            <a:ext cx="329184" cy="329184"/>
          </a:xfrm>
          <a:prstGeom prst="rect">
            <a:avLst/>
          </a:prstGeom>
        </p:spPr>
      </p:pic>
      <p:sp>
        <p:nvSpPr>
          <p:cNvPr id="13" name="Text 8"/>
          <p:cNvSpPr txBox="1"/>
          <p:nvPr/>
        </p:nvSpPr>
        <p:spPr>
          <a:xfrm>
            <a:off x="5032126"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Clinical relevance</a:t>
            </a:r>
            <a:endParaRPr lang="en-US" sz="1200" dirty="0"/>
          </a:p>
        </p:txBody>
      </p:sp>
      <p:sp>
        <p:nvSpPr>
          <p:cNvPr id="14" name="Shape 9"/>
          <p:cNvSpPr/>
          <p:nvPr/>
        </p:nvSpPr>
        <p:spPr>
          <a:xfrm>
            <a:off x="7994691" y="4297680"/>
            <a:ext cx="640080" cy="640080"/>
          </a:xfrm>
          <a:prstGeom prst="ellipse">
            <a:avLst/>
          </a:prstGeom>
          <a:solidFill>
            <a:srgbClr val="4472C4"/>
          </a:solidFill>
          <a:ln w="19050">
            <a:solidFill>
              <a:srgbClr val="FFFFFF"/>
            </a:solidFill>
            <a:prstDash val="solid"/>
          </a:ln>
        </p:spPr>
      </p:sp>
      <p:pic>
        <p:nvPicPr>
          <p:cNvPr id="15" name="Image 3" descr="preencoded.png">    </p:cNvPr>
          <p:cNvPicPr>
            <a:picLocks noChangeAspect="1"/>
          </p:cNvPicPr>
          <p:nvPr/>
        </p:nvPicPr>
        <p:blipFill>
          <a:blip r:embed="rId4"/>
          <a:stretch>
            <a:fillRect/>
          </a:stretch>
        </p:blipFill>
        <p:spPr>
          <a:xfrm>
            <a:off x="8150139" y="4453128"/>
            <a:ext cx="329184" cy="329184"/>
          </a:xfrm>
          <a:prstGeom prst="rect">
            <a:avLst/>
          </a:prstGeom>
        </p:spPr>
      </p:pic>
      <p:sp>
        <p:nvSpPr>
          <p:cNvPr id="16" name="Text 10"/>
          <p:cNvSpPr txBox="1"/>
          <p:nvPr/>
        </p:nvSpPr>
        <p:spPr>
          <a:xfrm>
            <a:off x="7251009"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Drugs named as examples</a:t>
            </a:r>
            <a:endParaRPr lang="en-US" sz="1200" dirty="0"/>
          </a:p>
        </p:txBody>
      </p:sp>
      <p:sp>
        <p:nvSpPr>
          <p:cNvPr id="17" name="Shape 11"/>
          <p:cNvSpPr/>
          <p:nvPr/>
        </p:nvSpPr>
        <p:spPr>
          <a:xfrm>
            <a:off x="10213574" y="4297680"/>
            <a:ext cx="640080" cy="640080"/>
          </a:xfrm>
          <a:prstGeom prst="ellipse">
            <a:avLst/>
          </a:prstGeom>
          <a:solidFill>
            <a:srgbClr val="C00000"/>
          </a:solidFill>
          <a:ln w="19050">
            <a:solidFill>
              <a:srgbClr val="FFFFFF"/>
            </a:solidFill>
            <a:prstDash val="solid"/>
          </a:ln>
        </p:spPr>
      </p:sp>
      <p:pic>
        <p:nvPicPr>
          <p:cNvPr id="18" name="Image 4" descr="preencoded.png">    </p:cNvPr>
          <p:cNvPicPr>
            <a:picLocks noChangeAspect="1"/>
          </p:cNvPicPr>
          <p:nvPr/>
        </p:nvPicPr>
        <p:blipFill>
          <a:blip r:embed="rId5"/>
          <a:stretch>
            <a:fillRect/>
          </a:stretch>
        </p:blipFill>
        <p:spPr>
          <a:xfrm>
            <a:off x="10369022" y="4453128"/>
            <a:ext cx="329184" cy="329184"/>
          </a:xfrm>
          <a:prstGeom prst="rect">
            <a:avLst/>
          </a:prstGeom>
        </p:spPr>
      </p:pic>
      <p:sp>
        <p:nvSpPr>
          <p:cNvPr id="19" name="Text 12"/>
          <p:cNvSpPr txBox="1"/>
          <p:nvPr/>
        </p:nvSpPr>
        <p:spPr>
          <a:xfrm>
            <a:off x="9469892"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Exam traps</a:t>
            </a:r>
            <a:endParaRPr lang="en-US" sz="1200" dirty="0"/>
          </a:p>
        </p:txBody>
      </p:sp>
      <p:sp>
        <p:nvSpPr>
          <p:cNvPr id="20" name="Text 1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D6E0F5"/>
                </a:solidFill>
              </a:rPr>
              <a:t>71</a:t>
            </a:r>
            <a:endParaRPr lang="en-US" sz="1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PHARMACOGENOMICS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Key definitions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SO4 · IO1.3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72</a:t>
            </a:r>
            <a:endParaRPr lang="en-US" sz="1000" dirty="0"/>
          </a:p>
        </p:txBody>
      </p:sp>
      <p:sp>
        <p:nvSpPr>
          <p:cNvPr id="7" name="Key definitions card"/>
          <p:cNvSpPr/>
          <p:nvPr/>
        </p:nvSpPr>
        <p:spPr>
          <a:xfrm>
            <a:off x="548640" y="1325880"/>
            <a:ext cx="11094415" cy="2217420"/>
          </a:xfrm>
          <a:prstGeom prst="roundRect">
            <a:avLst>
              <a:gd name="adj" fmla="val 4948"/>
            </a:avLst>
          </a:prstGeom>
          <a:solidFill>
            <a:srgbClr val="F2F4F7"/>
          </a:solidFill>
          <a:ln w="12700">
            <a:solidFill>
              <a:srgbClr val="F2F4F7"/>
            </a:solidFill>
            <a:prstDash val="solid"/>
          </a:ln>
        </p:spPr>
      </p:sp>
      <p:sp>
        <p:nvSpPr>
          <p:cNvPr id="8" name="Key definitions icon circle"/>
          <p:cNvSpPr/>
          <p:nvPr/>
        </p:nvSpPr>
        <p:spPr>
          <a:xfrm>
            <a:off x="777240" y="1508760"/>
            <a:ext cx="438912" cy="438912"/>
          </a:xfrm>
          <a:prstGeom prst="ellipse">
            <a:avLst/>
          </a:prstGeom>
          <a:solidFill>
            <a:srgbClr val="44546A"/>
          </a:solidFill>
          <a:ln w="12700">
            <a:solidFill>
              <a:srgbClr val="44546A"/>
            </a:solidFill>
            <a:prstDash val="solid"/>
          </a:ln>
        </p:spPr>
      </p:sp>
      <p:pic>
        <p:nvPicPr>
          <p:cNvPr id="9" name="Key definition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Key definitions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44546A"/>
                </a:solidFill>
              </a:rPr>
              <a:t>Key definitions</a:t>
            </a:r>
            <a:endParaRPr lang="en-US" sz="1800" dirty="0"/>
          </a:p>
        </p:txBody>
      </p:sp>
      <p:sp>
        <p:nvSpPr>
          <p:cNvPr id="11" name="Key definitions body"/>
          <p:cNvSpPr txBox="1"/>
          <p:nvPr/>
        </p:nvSpPr>
        <p:spPr>
          <a:xfrm>
            <a:off x="777240" y="2075688"/>
            <a:ext cx="10637215" cy="1348740"/>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1F1F1F"/>
                </a:solidFill>
              </a:rPr>
              <a:t>Pharmacogenomics studies how genetic variation changes an individual's response to a drug.</a:t>
            </a:r>
            <a:r>
              <a:rPr lang="en-US" sz="1300" dirty="0">
                <a:solidFill>
                  <a:srgbClr val="666666"/>
                </a:solidFill>
              </a:rPr>
              <a:t>  S32</a:t>
            </a:r>
            <a:endParaRPr lang="en-US" sz="1800" dirty="0"/>
          </a:p>
          <a:p>
            <a:pPr marL="228600" indent="-228600">
              <a:spcAft>
                <a:spcPts val="800"/>
              </a:spcAft>
              <a:buSzPct val="100000"/>
              <a:buChar char="•"/>
            </a:pPr>
            <a:r>
              <a:rPr lang="en-US" sz="1800" dirty="0">
                <a:solidFill>
                  <a:srgbClr val="1F1F1F"/>
                </a:solidFill>
              </a:rPr>
              <a:t>Why the same dose does not work the same way in everyone.</a:t>
            </a:r>
            <a:r>
              <a:rPr lang="en-US" sz="1300" dirty="0">
                <a:solidFill>
                  <a:srgbClr val="666666"/>
                </a:solidFill>
              </a:rPr>
              <a:t>  S31</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b="1" dirty="0">
                <a:solidFill>
                  <a:srgbClr val="1F1F1F"/>
                </a:solidFill>
              </a:rPr>
              <a:t>PM, IM, EM, UM:</a:t>
            </a:r>
            <a:r>
              <a:rPr lang="en-US" sz="1800" dirty="0">
                <a:solidFill>
                  <a:srgbClr val="1F1F1F"/>
                </a:solidFill>
              </a:rPr>
              <a:t> poor, intermediate, extensive (normal) and ultrarapid metabolizer.</a:t>
            </a:r>
            <a:r>
              <a:rPr lang="en-US" sz="1300" dirty="0">
                <a:solidFill>
                  <a:srgbClr val="666666"/>
                </a:solidFill>
              </a:rPr>
              <a:t>  p. 78</a:t>
            </a:r>
            <a:endParaRPr lang="en-US" sz="18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PHARMACOGENOMICS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How it works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SO4 · IO1.3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73</a:t>
            </a:r>
            <a:endParaRPr lang="en-US" sz="1000" dirty="0"/>
          </a:p>
        </p:txBody>
      </p:sp>
      <p:sp>
        <p:nvSpPr>
          <p:cNvPr id="7" name="How it works (1/2) card"/>
          <p:cNvSpPr/>
          <p:nvPr/>
        </p:nvSpPr>
        <p:spPr>
          <a:xfrm>
            <a:off x="548640" y="1325880"/>
            <a:ext cx="11094415" cy="3662172"/>
          </a:xfrm>
          <a:prstGeom prst="roundRect">
            <a:avLst>
              <a:gd name="adj" fmla="val 2996"/>
            </a:avLst>
          </a:prstGeom>
          <a:solidFill>
            <a:srgbClr val="F2F4F7"/>
          </a:solidFill>
          <a:ln w="12700">
            <a:solidFill>
              <a:srgbClr val="F2F4F7"/>
            </a:solidFill>
            <a:prstDash val="solid"/>
          </a:ln>
        </p:spPr>
      </p:sp>
      <p:sp>
        <p:nvSpPr>
          <p:cNvPr id="8" name="How it works (1/2) icon circle"/>
          <p:cNvSpPr/>
          <p:nvPr/>
        </p:nvSpPr>
        <p:spPr>
          <a:xfrm>
            <a:off x="777240" y="1508760"/>
            <a:ext cx="438912" cy="438912"/>
          </a:xfrm>
          <a:prstGeom prst="ellipse">
            <a:avLst/>
          </a:prstGeom>
          <a:solidFill>
            <a:srgbClr val="7030A0"/>
          </a:solidFill>
          <a:ln w="12700">
            <a:solidFill>
              <a:srgbClr val="7030A0"/>
            </a:solidFill>
            <a:prstDash val="solid"/>
          </a:ln>
        </p:spPr>
      </p:sp>
      <p:pic>
        <p:nvPicPr>
          <p:cNvPr id="9" name="How it works (1/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How it works (1/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7030A0"/>
                </a:solidFill>
              </a:rPr>
              <a:t>How it works (1/2)</a:t>
            </a:r>
            <a:endParaRPr lang="en-US" sz="1800" dirty="0"/>
          </a:p>
        </p:txBody>
      </p:sp>
      <p:sp>
        <p:nvSpPr>
          <p:cNvPr id="11" name="How it works (1/2) body"/>
          <p:cNvSpPr txBox="1"/>
          <p:nvPr/>
        </p:nvSpPr>
        <p:spPr>
          <a:xfrm>
            <a:off x="777240" y="2075688"/>
            <a:ext cx="10637215" cy="2793492"/>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Genetic variation can alter drug metabolism (e.g., CYP enzyme activity).</a:t>
            </a:r>
            <a:r>
              <a:rPr lang="en-US" sz="1300" dirty="0">
                <a:solidFill>
                  <a:srgbClr val="666666"/>
                </a:solidFill>
              </a:rPr>
              <a:t>  S32</a:t>
            </a:r>
            <a:endParaRPr lang="en-US" sz="1800" dirty="0"/>
          </a:p>
          <a:p>
            <a:pPr marL="228600" indent="-228600">
              <a:spcAft>
                <a:spcPts val="800"/>
              </a:spcAft>
              <a:buSzPct val="100000"/>
              <a:buChar char="•"/>
            </a:pPr>
            <a:r>
              <a:rPr lang="en-US" sz="1800" dirty="0">
                <a:solidFill>
                  <a:srgbClr val="1F1F1F"/>
                </a:solidFill>
              </a:rPr>
              <a:t>It can alter drug transport across membranes.</a:t>
            </a:r>
            <a:r>
              <a:rPr lang="en-US" sz="1300" dirty="0">
                <a:solidFill>
                  <a:srgbClr val="666666"/>
                </a:solidFill>
              </a:rPr>
              <a:t>  S32</a:t>
            </a:r>
            <a:endParaRPr lang="en-US" sz="1800" dirty="0"/>
          </a:p>
          <a:p>
            <a:pPr marL="228600" indent="-228600">
              <a:spcAft>
                <a:spcPts val="800"/>
              </a:spcAft>
              <a:buSzPct val="100000"/>
              <a:buChar char="•"/>
            </a:pPr>
            <a:r>
              <a:rPr lang="en-US" sz="1800" dirty="0">
                <a:solidFill>
                  <a:srgbClr val="1F1F1F"/>
                </a:solidFill>
              </a:rPr>
              <a:t>It can alter drug target structure or expression.</a:t>
            </a:r>
            <a:r>
              <a:rPr lang="en-US" sz="1300" dirty="0">
                <a:solidFill>
                  <a:srgbClr val="666666"/>
                </a:solidFill>
              </a:rPr>
              <a:t>  S32</a:t>
            </a:r>
            <a:endParaRPr lang="en-US" sz="1800" dirty="0"/>
          </a:p>
          <a:p>
            <a:pPr marL="228600" indent="-228600">
              <a:spcAft>
                <a:spcPts val="800"/>
              </a:spcAft>
              <a:buSzPct val="100000"/>
              <a:buChar char="•"/>
            </a:pPr>
            <a:r>
              <a:rPr lang="en-US" sz="1800" dirty="0">
                <a:solidFill>
                  <a:srgbClr val="1F1F1F"/>
                </a:solidFill>
              </a:rPr>
              <a:t>It can alter overall drug response and risk of adverse reactions.</a:t>
            </a:r>
            <a:r>
              <a:rPr lang="en-US" sz="1300" dirty="0">
                <a:solidFill>
                  <a:srgbClr val="666666"/>
                </a:solidFill>
              </a:rPr>
              <a:t>  S32</a:t>
            </a:r>
            <a:endParaRPr lang="en-US" sz="1800" dirty="0"/>
          </a:p>
          <a:p>
            <a:pPr marL="228600" indent="-228600">
              <a:spcAft>
                <a:spcPts val="800"/>
              </a:spcAft>
              <a:buSzPct val="100000"/>
              <a:buChar char="•"/>
            </a:pPr>
            <a:r>
              <a:rPr lang="en-US" sz="1800" dirty="0">
                <a:solidFill>
                  <a:srgbClr val="1F1F1F"/>
                </a:solidFill>
              </a:rPr>
              <a:t>Personalized pharmacotherapy combines genotype, phenotype, disease state, and other medications into individualized therapy.</a:t>
            </a:r>
            <a:r>
              <a:rPr lang="en-US" sz="1300" dirty="0">
                <a:solidFill>
                  <a:srgbClr val="666666"/>
                </a:solidFill>
              </a:rPr>
              <a:t>  S34</a:t>
            </a:r>
            <a:endParaRPr lang="en-US" sz="1800" dirty="0"/>
          </a:p>
          <a:p>
            <a:pPr marL="228600" indent="-228600">
              <a:spcAft>
                <a:spcPts val="800"/>
              </a:spcAft>
              <a:buSzPct val="100000"/>
              <a:buChar char="•"/>
            </a:pPr>
            <a:r>
              <a:rPr lang="en-US" sz="1800" b="1" dirty="0">
                <a:solidFill>
                  <a:srgbClr val="1F1F1F"/>
                </a:solidFill>
              </a:rPr>
              <a:t>Pharmacogenomics is one input among several — genotype alone never dictates therapy in isolation.</a:t>
            </a:r>
            <a:r>
              <a:rPr lang="en-US" sz="1300" dirty="0">
                <a:solidFill>
                  <a:srgbClr val="666666"/>
                </a:solidFill>
              </a:rPr>
              <a:t>  S34</a:t>
            </a:r>
            <a:endParaRPr lang="en-US" sz="18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PHARMACOGENOMICS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How it works (cont.)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SO4 · IO1.3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74</a:t>
            </a:r>
            <a:endParaRPr lang="en-US" sz="1000" dirty="0"/>
          </a:p>
        </p:txBody>
      </p:sp>
      <p:sp>
        <p:nvSpPr>
          <p:cNvPr id="7" name="How it works (2/2) card"/>
          <p:cNvSpPr/>
          <p:nvPr/>
        </p:nvSpPr>
        <p:spPr>
          <a:xfrm>
            <a:off x="548640" y="1325880"/>
            <a:ext cx="11094415" cy="4777740"/>
          </a:xfrm>
          <a:prstGeom prst="roundRect">
            <a:avLst>
              <a:gd name="adj" fmla="val 2297"/>
            </a:avLst>
          </a:prstGeom>
          <a:solidFill>
            <a:srgbClr val="F2F4F7"/>
          </a:solidFill>
          <a:ln w="12700">
            <a:solidFill>
              <a:srgbClr val="F2F4F7"/>
            </a:solidFill>
            <a:prstDash val="solid"/>
          </a:ln>
        </p:spPr>
      </p:sp>
      <p:sp>
        <p:nvSpPr>
          <p:cNvPr id="8" name="How it works (2/2) icon circle"/>
          <p:cNvSpPr/>
          <p:nvPr/>
        </p:nvSpPr>
        <p:spPr>
          <a:xfrm>
            <a:off x="777240" y="1508760"/>
            <a:ext cx="438912" cy="438912"/>
          </a:xfrm>
          <a:prstGeom prst="ellipse">
            <a:avLst/>
          </a:prstGeom>
          <a:solidFill>
            <a:srgbClr val="7030A0"/>
          </a:solidFill>
          <a:ln w="12700">
            <a:solidFill>
              <a:srgbClr val="7030A0"/>
            </a:solidFill>
            <a:prstDash val="solid"/>
          </a:ln>
        </p:spPr>
      </p:sp>
      <p:pic>
        <p:nvPicPr>
          <p:cNvPr id="9" name="How it works (2/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How it works (2/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7030A0"/>
                </a:solidFill>
              </a:rPr>
              <a:t>How it works (2/2)</a:t>
            </a:r>
            <a:endParaRPr lang="en-US" sz="1800" dirty="0"/>
          </a:p>
        </p:txBody>
      </p:sp>
      <p:sp>
        <p:nvSpPr>
          <p:cNvPr id="11" name="How it works (2/2) body"/>
          <p:cNvSpPr txBox="1"/>
          <p:nvPr/>
        </p:nvSpPr>
        <p:spPr>
          <a:xfrm>
            <a:off x="777240" y="2075688"/>
            <a:ext cx="10637215" cy="3909060"/>
          </a:xfrm>
          <a:prstGeom prst="rect">
            <a:avLst/>
          </a:prstGeom>
          <a:noFill/>
          <a:ln/>
        </p:spPr>
        <p:txBody>
          <a:bodyPr wrap="square" lIns="0" tIns="0" rIns="0" bIns="0" rtlCol="0" anchor="t"/>
          <a:lstStyle/>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Codeine is converted to morphine (200× more potent) by CYP2D6; CPIC recommends an alternative analgesic for CYP2D6 poor </a:t>
            </a:r>
            <a:r>
              <a:rPr lang="en-US" sz="1800" b="1" dirty="0">
                <a:solidFill>
                  <a:srgbClr val="1F1F1F"/>
                </a:solidFill>
              </a:rPr>
              <a:t>and</a:t>
            </a:r>
            <a:r>
              <a:rPr lang="en-US" sz="1800" dirty="0">
                <a:solidFill>
                  <a:srgbClr val="1F1F1F"/>
                </a:solidFill>
              </a:rPr>
              <a:t> ultrarapid metabolizers.</a:t>
            </a:r>
            <a:r>
              <a:rPr lang="en-US" sz="1300" dirty="0">
                <a:solidFill>
                  <a:srgbClr val="666666"/>
                </a:solidFill>
              </a:rPr>
              <a:t>  p. 81; p. 83</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Clopidogrel: about 85% of a dose is inactivated by esterases; CYP2C19 activates the rest. CYP2C19 poor/intermediate metabolizers → prasugrel or ticagrelor.</a:t>
            </a:r>
            <a:r>
              <a:rPr lang="en-US" sz="1300" dirty="0">
                <a:solidFill>
                  <a:srgbClr val="666666"/>
                </a:solidFill>
              </a:rPr>
              <a:t>  p. 81; p. 82</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TPMT intermediate activity: start thiopurines at 30–70% of the target dose; deficient: use a drastically reduced dose or an alternative.</a:t>
            </a:r>
            <a:r>
              <a:rPr lang="en-US" sz="1300" dirty="0">
                <a:solidFill>
                  <a:srgbClr val="666666"/>
                </a:solidFill>
              </a:rPr>
              <a:t>  p. 83</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Warfarin dose varies up to 20-fold between patients; CYP2C9 and VKORC1 genotypes explain much of it.</a:t>
            </a:r>
            <a:r>
              <a:rPr lang="en-US" sz="1300" dirty="0">
                <a:solidFill>
                  <a:srgbClr val="666666"/>
                </a:solidFill>
              </a:rPr>
              <a:t>  p. 90</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b="1" dirty="0">
                <a:solidFill>
                  <a:srgbClr val="1F1F1F"/>
                </a:solidFill>
              </a:rPr>
              <a:t>G6PD deficiency</a:t>
            </a:r>
            <a:r>
              <a:rPr lang="en-US" sz="1800" dirty="0">
                <a:solidFill>
                  <a:srgbClr val="1F1F1F"/>
                </a:solidFill>
              </a:rPr>
              <a:t> (X-linked): red cells cannot make enough NADPH, so they hemolyze under oxidative stress (infection, fava beans, certain drugs).</a:t>
            </a:r>
            <a:r>
              <a:rPr lang="en-US" sz="1300" dirty="0">
                <a:solidFill>
                  <a:srgbClr val="666666"/>
                </a:solidFill>
              </a:rPr>
              <a:t>  p. 86</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NUDT15 variants, like TPMT, cause thiopurine intolerance.</a:t>
            </a:r>
            <a:r>
              <a:rPr lang="en-US" sz="1300" dirty="0">
                <a:solidFill>
                  <a:srgbClr val="666666"/>
                </a:solidFill>
              </a:rPr>
              <a:t>  p. 86</a:t>
            </a:r>
            <a:endParaRPr lang="en-US" sz="14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PHARMACOGENOMICS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Clinical relevance</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SO4 · IO1.3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75</a:t>
            </a:r>
            <a:endParaRPr lang="en-US" sz="1000" dirty="0"/>
          </a:p>
        </p:txBody>
      </p:sp>
      <p:sp>
        <p:nvSpPr>
          <p:cNvPr id="7" name="Clinical relevance card"/>
          <p:cNvSpPr/>
          <p:nvPr/>
        </p:nvSpPr>
        <p:spPr>
          <a:xfrm>
            <a:off x="548640" y="1325880"/>
            <a:ext cx="11094415" cy="3552444"/>
          </a:xfrm>
          <a:prstGeom prst="roundRect">
            <a:avLst>
              <a:gd name="adj" fmla="val 3089"/>
            </a:avLst>
          </a:prstGeom>
          <a:solidFill>
            <a:srgbClr val="F2F4F7"/>
          </a:solidFill>
          <a:ln w="12700">
            <a:solidFill>
              <a:srgbClr val="F2F4F7"/>
            </a:solidFill>
            <a:prstDash val="solid"/>
          </a:ln>
        </p:spPr>
      </p:sp>
      <p:sp>
        <p:nvSpPr>
          <p:cNvPr id="8" name="Clinical relevance icon circle"/>
          <p:cNvSpPr/>
          <p:nvPr/>
        </p:nvSpPr>
        <p:spPr>
          <a:xfrm>
            <a:off x="777240" y="1508760"/>
            <a:ext cx="438912" cy="438912"/>
          </a:xfrm>
          <a:prstGeom prst="ellipse">
            <a:avLst/>
          </a:prstGeom>
          <a:solidFill>
            <a:srgbClr val="548235"/>
          </a:solidFill>
          <a:ln w="12700">
            <a:solidFill>
              <a:srgbClr val="548235"/>
            </a:solidFill>
            <a:prstDash val="solid"/>
          </a:ln>
        </p:spPr>
      </p:sp>
      <p:pic>
        <p:nvPicPr>
          <p:cNvPr id="9" name="Clinical relevance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Clinical relevance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548235"/>
                </a:solidFill>
              </a:rPr>
              <a:t>Clinical relevance</a:t>
            </a:r>
            <a:endParaRPr lang="en-US" sz="1800" dirty="0"/>
          </a:p>
        </p:txBody>
      </p:sp>
      <p:sp>
        <p:nvSpPr>
          <p:cNvPr id="11" name="Clinical relevance body"/>
          <p:cNvSpPr txBox="1"/>
          <p:nvPr/>
        </p:nvSpPr>
        <p:spPr>
          <a:xfrm>
            <a:off x="777240" y="2075688"/>
            <a:ext cx="10637215" cy="2683764"/>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CYP2D6 variation alters metabolism of many antidepressants and opioids (e.g., codeine activation).</a:t>
            </a:r>
            <a:r>
              <a:rPr lang="en-US" sz="1300" dirty="0">
                <a:solidFill>
                  <a:srgbClr val="666666"/>
                </a:solidFill>
              </a:rPr>
              <a:t>  S33; SG U1-R12</a:t>
            </a:r>
            <a:endParaRPr lang="en-US" sz="1800" dirty="0"/>
          </a:p>
          <a:p>
            <a:pPr marL="228600" indent="-228600">
              <a:spcAft>
                <a:spcPts val="800"/>
              </a:spcAft>
              <a:buSzPct val="100000"/>
              <a:buChar char="•"/>
            </a:pPr>
            <a:r>
              <a:rPr lang="en-US" sz="1800" dirty="0">
                <a:solidFill>
                  <a:srgbClr val="1F1F1F"/>
                </a:solidFill>
              </a:rPr>
              <a:t>CYP2C19 variation affects clopidogrel activation and some antidepressant/PPI dosing.</a:t>
            </a:r>
            <a:r>
              <a:rPr lang="en-US" sz="1300" dirty="0">
                <a:solidFill>
                  <a:srgbClr val="666666"/>
                </a:solidFill>
              </a:rPr>
              <a:t>  S33</a:t>
            </a:r>
            <a:endParaRPr lang="en-US" sz="1800" dirty="0"/>
          </a:p>
          <a:p>
            <a:pPr marL="228600" indent="-228600">
              <a:spcAft>
                <a:spcPts val="800"/>
              </a:spcAft>
              <a:buSzPct val="100000"/>
              <a:buChar char="•"/>
            </a:pPr>
            <a:r>
              <a:rPr lang="en-US" sz="1800" dirty="0">
                <a:solidFill>
                  <a:srgbClr val="1F1F1F"/>
                </a:solidFill>
              </a:rPr>
              <a:t>TPMT deficiency raises toxicity risk with thiopurine drugs (e.g., azathioprine).</a:t>
            </a:r>
            <a:r>
              <a:rPr lang="en-US" sz="1300" dirty="0">
                <a:solidFill>
                  <a:srgbClr val="666666"/>
                </a:solidFill>
              </a:rPr>
              <a:t>  S33; SG U1-R12</a:t>
            </a:r>
            <a:endParaRPr lang="en-US" sz="1800" dirty="0"/>
          </a:p>
          <a:p>
            <a:pPr marL="228600" indent="-228600">
              <a:spcAft>
                <a:spcPts val="800"/>
              </a:spcAft>
              <a:buSzPct val="100000"/>
              <a:buChar char="•"/>
            </a:pPr>
            <a:r>
              <a:rPr lang="en-US" sz="1800" dirty="0">
                <a:solidFill>
                  <a:srgbClr val="1F1F1F"/>
                </a:solidFill>
              </a:rPr>
              <a:t>Certain HLA alleles sharply raise the risk of severe hypersensitivity to specific drugs.</a:t>
            </a:r>
            <a:r>
              <a:rPr lang="en-US" sz="1300" dirty="0">
                <a:solidFill>
                  <a:srgbClr val="666666"/>
                </a:solidFill>
              </a:rPr>
              <a:t>  S33</a:t>
            </a:r>
            <a:endParaRPr lang="en-US" sz="1800" dirty="0"/>
          </a:p>
          <a:p>
            <a:pPr marL="228600" indent="-228600">
              <a:spcAft>
                <a:spcPts val="800"/>
              </a:spcAft>
              <a:buSzPct val="100000"/>
              <a:buChar char="•"/>
            </a:pPr>
            <a:r>
              <a:rPr lang="en-US" sz="1800" dirty="0">
                <a:solidFill>
                  <a:srgbClr val="1F1F1F"/>
                </a:solidFill>
              </a:rPr>
              <a:t>HLA-B*5801 is associated with severe hypersensitivity reactions to allopurinol — a textbook pharmacogenomic screening consideration (seen again in the gout lecture).</a:t>
            </a:r>
            <a:r>
              <a:rPr lang="en-US" sz="1300" dirty="0">
                <a:solidFill>
                  <a:srgbClr val="666666"/>
                </a:solidFill>
              </a:rPr>
              <a:t>  S36; S33 (notes); SG U1-R12</a:t>
            </a:r>
            <a:endParaRPr lang="en-US" sz="1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PHARMACOGENOMICS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Drugs named as examples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SO4 · IO1.3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76</a:t>
            </a:r>
            <a:endParaRPr lang="en-US" sz="1000" dirty="0"/>
          </a:p>
        </p:txBody>
      </p:sp>
      <p:sp>
        <p:nvSpPr>
          <p:cNvPr id="7" name="Drugs named as examples (1/2) card"/>
          <p:cNvSpPr/>
          <p:nvPr/>
        </p:nvSpPr>
        <p:spPr>
          <a:xfrm>
            <a:off x="548640" y="1325880"/>
            <a:ext cx="11094415" cy="3054096"/>
          </a:xfrm>
          <a:prstGeom prst="roundRect">
            <a:avLst>
              <a:gd name="adj" fmla="val 3593"/>
            </a:avLst>
          </a:prstGeom>
          <a:solidFill>
            <a:srgbClr val="F2F4F7"/>
          </a:solidFill>
          <a:ln w="12700">
            <a:solidFill>
              <a:srgbClr val="F2F4F7"/>
            </a:solidFill>
            <a:prstDash val="solid"/>
          </a:ln>
        </p:spPr>
      </p:sp>
      <p:sp>
        <p:nvSpPr>
          <p:cNvPr id="8" name="Drugs named as examples (1/2)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9" name="Drugs named as examples (1/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Drugs named as examples (1/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4472C4"/>
                </a:solidFill>
              </a:rPr>
              <a:t>Drugs named as examples (1/2)</a:t>
            </a:r>
            <a:endParaRPr lang="en-US" sz="1800" dirty="0"/>
          </a:p>
        </p:txBody>
      </p:sp>
      <p:sp>
        <p:nvSpPr>
          <p:cNvPr id="11" name="Drugs named as examples (1/2) body"/>
          <p:cNvSpPr txBox="1"/>
          <p:nvPr/>
        </p:nvSpPr>
        <p:spPr>
          <a:xfrm>
            <a:off x="777240" y="2075688"/>
            <a:ext cx="10637215" cy="2185416"/>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Codeine (CYP2D6), clopidogrel (CYP2C19), azathioprine (TPMT), allopurinol (HLA-B*5801); also antidepressants, opioids, PPIs.</a:t>
            </a:r>
            <a:r>
              <a:rPr lang="en-US" sz="1300" dirty="0">
                <a:solidFill>
                  <a:srgbClr val="666666"/>
                </a:solidFill>
              </a:rPr>
              <a:t>  S33; S36</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CYP2D6 metabolizes up to one-quarter of clinically used drugs (β blockers, antidepressants, antipsychotics, opioids).</a:t>
            </a:r>
            <a:r>
              <a:rPr lang="en-US" sz="1300" dirty="0">
                <a:solidFill>
                  <a:srgbClr val="666666"/>
                </a:solidFill>
              </a:rPr>
              <a:t>  p. 78</a:t>
            </a:r>
            <a:endParaRPr lang="en-US" sz="18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CYP2D6 ultrarapid metabolizers: up to one-third of Ethiopians and Saudi Arabians; CYP2C19 poor metabolizers: 3–5% of Caucasians, 18–23% of Japanese.</a:t>
            </a:r>
            <a:r>
              <a:rPr lang="en-US" sz="1300" dirty="0">
                <a:solidFill>
                  <a:srgbClr val="666666"/>
                </a:solidFill>
              </a:rPr>
              <a:t>  p. 67</a:t>
            </a:r>
            <a:endParaRPr lang="en-US" sz="18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PHARMACOGENOMICS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Drugs named as examples (cont.)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SO4 · IO1.3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77</a:t>
            </a:r>
            <a:endParaRPr lang="en-US" sz="1000" dirty="0"/>
          </a:p>
        </p:txBody>
      </p:sp>
      <p:sp>
        <p:nvSpPr>
          <p:cNvPr id="7" name="Drugs named as examples (2/2) card"/>
          <p:cNvSpPr/>
          <p:nvPr/>
        </p:nvSpPr>
        <p:spPr>
          <a:xfrm>
            <a:off x="548640" y="1325880"/>
            <a:ext cx="11094415" cy="3054096"/>
          </a:xfrm>
          <a:prstGeom prst="roundRect">
            <a:avLst>
              <a:gd name="adj" fmla="val 3593"/>
            </a:avLst>
          </a:prstGeom>
          <a:solidFill>
            <a:srgbClr val="F2F4F7"/>
          </a:solidFill>
          <a:ln w="12700">
            <a:solidFill>
              <a:srgbClr val="F2F4F7"/>
            </a:solidFill>
            <a:prstDash val="solid"/>
          </a:ln>
        </p:spPr>
      </p:sp>
      <p:sp>
        <p:nvSpPr>
          <p:cNvPr id="8" name="Drugs named as examples (2/2)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9" name="Drugs named as examples (2/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Drugs named as examples (2/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4472C4"/>
                </a:solidFill>
              </a:rPr>
              <a:t>Drugs named as examples (2/2)</a:t>
            </a:r>
            <a:endParaRPr lang="en-US" sz="1800" dirty="0"/>
          </a:p>
        </p:txBody>
      </p:sp>
      <p:sp>
        <p:nvSpPr>
          <p:cNvPr id="11" name="Drugs named as examples (2/2) body"/>
          <p:cNvSpPr txBox="1"/>
          <p:nvPr/>
        </p:nvSpPr>
        <p:spPr>
          <a:xfrm>
            <a:off x="777240" y="2075688"/>
            <a:ext cx="10637215" cy="2185416"/>
          </a:xfrm>
          <a:prstGeom prst="rect">
            <a:avLst/>
          </a:prstGeom>
          <a:noFill/>
          <a:ln/>
        </p:spPr>
        <p:txBody>
          <a:bodyPr wrap="square" lIns="0" tIns="0" rIns="0" bIns="0" rtlCol="0" anchor="t"/>
          <a:lstStyle/>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dirty="0">
                <a:solidFill>
                  <a:srgbClr val="1F1F1F"/>
                </a:solidFill>
              </a:rPr>
              <a:t>Immune system genes: **HLA-B*57:01</a:t>
            </a:r>
            <a:r>
              <a:rPr lang="en-US" sz="1800" b="1" dirty="0">
                <a:solidFill>
                  <a:srgbClr val="1F1F1F"/>
                </a:solidFill>
              </a:rPr>
              <a:t> → abacavir hypersensitivity; </a:t>
            </a:r>
            <a:r>
              <a:rPr lang="en-US" sz="1800" dirty="0">
                <a:solidFill>
                  <a:srgbClr val="1F1F1F"/>
                </a:solidFill>
              </a:rPr>
              <a:t>G6PD deficiency** → rasburicase contraindicated; slow NAT2 acetylators (~50% in the USA) → isoniazid toxicity.</a:t>
            </a:r>
            <a:r>
              <a:rPr lang="en-US" sz="1300" dirty="0">
                <a:solidFill>
                  <a:srgbClr val="666666"/>
                </a:solidFill>
              </a:rPr>
              <a:t>  p. 70; p. 83; p. 88</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b="1" dirty="0">
                <a:solidFill>
                  <a:srgbClr val="1F1F1F"/>
                </a:solidFill>
              </a:rPr>
              <a:t>ABCG2 (BCRP)</a:t>
            </a:r>
            <a:r>
              <a:rPr lang="en-US" sz="1800" dirty="0">
                <a:solidFill>
                  <a:srgbClr val="1F1F1F"/>
                </a:solidFill>
              </a:rPr>
              <a:t> variant, common in East Asians, raises rosuvastatin levels; the label suggests half the dose.</a:t>
            </a:r>
            <a:r>
              <a:rPr lang="en-US" sz="1300" dirty="0">
                <a:solidFill>
                  <a:srgbClr val="666666"/>
                </a:solidFill>
              </a:rPr>
              <a:t>  p. 87</a:t>
            </a:r>
            <a:endParaRPr lang="en-US" sz="1400" dirty="0"/>
          </a:p>
          <a:p>
            <a:pPr marL="228600" indent="-228600">
              <a:spcAft>
                <a:spcPts val="800"/>
              </a:spcAft>
              <a:buSzPct val="100000"/>
              <a:buChar char="•"/>
            </a:pPr>
            <a:r>
              <a:rPr lang="en-US" sz="1400" b="1" dirty="0">
                <a:solidFill>
                  <a:srgbClr val="000000"/>
                </a:solidFill>
                <a:highlight>
                  <a:srgbClr val="FFC000"/>
                </a:highlight>
              </a:rPr>
              <a:t> TB </a:t>
            </a:r>
            <a:r>
              <a:rPr lang="en-US" sz="1800" dirty="0">
                <a:solidFill>
                  <a:srgbClr val="000000"/>
                </a:solidFill>
              </a:rPr>
              <a:t> </a:t>
            </a:r>
            <a:r>
              <a:rPr lang="en-US" sz="1800" b="1" dirty="0">
                <a:solidFill>
                  <a:srgbClr val="1F1F1F"/>
                </a:solidFill>
              </a:rPr>
              <a:t>SLCO1B1</a:t>
            </a:r>
            <a:r>
              <a:rPr lang="en-US" sz="1800" dirty="0">
                <a:solidFill>
                  <a:srgbClr val="1F1F1F"/>
                </a:solidFill>
              </a:rPr>
              <a:t> (the OATP1B1 organic anion transporter) reduced-function variants raise simvastatin levels and myopathy risk: use a lower dose or another statin.</a:t>
            </a:r>
            <a:r>
              <a:rPr lang="en-US" sz="1300" dirty="0">
                <a:solidFill>
                  <a:srgbClr val="666666"/>
                </a:solidFill>
              </a:rPr>
              <a:t>  p. 87</a:t>
            </a:r>
            <a:endParaRPr lang="en-US" sz="14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PHARMACOGENOMICS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Exam traps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SO4 · IO1.3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78</a:t>
            </a:r>
            <a:endParaRPr lang="en-US" sz="1000" dirty="0"/>
          </a:p>
        </p:txBody>
      </p:sp>
      <p:sp>
        <p:nvSpPr>
          <p:cNvPr id="7" name="Exam traps card"/>
          <p:cNvSpPr/>
          <p:nvPr/>
        </p:nvSpPr>
        <p:spPr>
          <a:xfrm>
            <a:off x="548640" y="1325880"/>
            <a:ext cx="11094415" cy="2107692"/>
          </a:xfrm>
          <a:prstGeom prst="roundRect">
            <a:avLst>
              <a:gd name="adj" fmla="val 5206"/>
            </a:avLst>
          </a:prstGeom>
          <a:solidFill>
            <a:srgbClr val="F2F4F7"/>
          </a:solidFill>
          <a:ln w="12700">
            <a:solidFill>
              <a:srgbClr val="F2F4F7"/>
            </a:solidFill>
            <a:prstDash val="solid"/>
          </a:ln>
        </p:spPr>
      </p:sp>
      <p:sp>
        <p:nvSpPr>
          <p:cNvPr id="8" name="Exam traps icon circle"/>
          <p:cNvSpPr/>
          <p:nvPr/>
        </p:nvSpPr>
        <p:spPr>
          <a:xfrm>
            <a:off x="777240" y="1508760"/>
            <a:ext cx="438912" cy="438912"/>
          </a:xfrm>
          <a:prstGeom prst="ellipse">
            <a:avLst/>
          </a:prstGeom>
          <a:solidFill>
            <a:srgbClr val="C00000"/>
          </a:solidFill>
          <a:ln w="12700">
            <a:solidFill>
              <a:srgbClr val="C00000"/>
            </a:solidFill>
            <a:prstDash val="solid"/>
          </a:ln>
        </p:spPr>
      </p:sp>
      <p:pic>
        <p:nvPicPr>
          <p:cNvPr id="9" name="Exam trap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Exam traps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C00000"/>
                </a:solidFill>
              </a:rPr>
              <a:t>Exam traps</a:t>
            </a:r>
            <a:endParaRPr lang="en-US" sz="1800" dirty="0"/>
          </a:p>
        </p:txBody>
      </p:sp>
      <p:sp>
        <p:nvSpPr>
          <p:cNvPr id="11" name="Exam traps body"/>
          <p:cNvSpPr txBox="1"/>
          <p:nvPr/>
        </p:nvSpPr>
        <p:spPr>
          <a:xfrm>
            <a:off x="777240" y="2075688"/>
            <a:ext cx="10637215" cy="1239012"/>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HLA-B*5801 before allopurinol = severe hypersensitivity risk — not absorption, not taste, and not irrelevant to drug selection.</a:t>
            </a:r>
            <a:r>
              <a:rPr lang="en-US" sz="1300" dirty="0">
                <a:solidFill>
                  <a:srgbClr val="666666"/>
                </a:solidFill>
              </a:rPr>
              <a:t>  S35-36</a:t>
            </a:r>
            <a:endParaRPr lang="en-US" sz="1800" dirty="0"/>
          </a:p>
          <a:p>
            <a:pPr marL="228600" indent="-228600">
              <a:spcAft>
                <a:spcPts val="800"/>
              </a:spcAft>
              <a:buSzPct val="100000"/>
              <a:buChar char="•"/>
            </a:pPr>
            <a:r>
              <a:rPr lang="en-US" sz="1800" dirty="0">
                <a:solidFill>
                  <a:srgbClr val="1F1F1F"/>
                </a:solidFill>
              </a:rPr>
              <a:t>Genotype is one input — never the sole basis for therapy.</a:t>
            </a:r>
            <a:r>
              <a:rPr lang="en-US" sz="1300" dirty="0">
                <a:solidFill>
                  <a:srgbClr val="666666"/>
                </a:solidFill>
              </a:rPr>
              <a:t>  S34</a:t>
            </a:r>
            <a:endParaRPr lang="en-US" sz="18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PHARMACOGENOMICS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Compare: Pharmacogenomics in practice</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SO4 · IO1.3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79</a:t>
            </a:r>
            <a:endParaRPr lang="en-US" sz="1000" dirty="0"/>
          </a:p>
        </p:txBody>
      </p:sp>
      <p:graphicFrame>
        <p:nvGraphicFramePr>
          <p:cNvPr id="80"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4358488"/>
                <a:gridCol w="4358488"/>
              </a:tblGrid>
              <a:tr h="0">
                <a:tc>
                  <a:txBody>
                    <a:bodyPr/>
                    <a:lstStyle/>
                    <a:p>
                      <a:pPr indent="0" marL="0">
                        <a:buNone/>
                      </a:pPr>
                      <a:r>
                        <a:rPr lang="en-US" sz="1600" b="1" dirty="0">
                          <a:solidFill>
                            <a:srgbClr val="FFFFFF"/>
                          </a:solidFill>
                        </a:rPr>
                        <a:t>Variant</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What it changes</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Drugs named</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600" b="1" dirty="0">
                          <a:solidFill>
                            <a:srgbClr val="1F1F1F"/>
                          </a:solidFill>
                        </a:rPr>
                        <a:t>CYP2D6 variation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Metabolism (incl. codeine </a:t>
                      </a:r>
                      <a:r>
                        <a:rPr lang="en-US" sz="1600" b="1" dirty="0">
                          <a:solidFill>
                            <a:srgbClr val="1F1F1F"/>
                          </a:solidFill>
                        </a:rPr>
                        <a:t>activation</a:t>
                      </a:r>
                      <a:r>
                        <a:rPr lang="en-US" sz="1600" dirty="0">
                          <a:solidFill>
                            <a:srgbClr val="1F1F1F"/>
                          </a:solidFill>
                        </a:rPr>
                        <a:t>)</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Many antidepressants, opioids (codeine)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CYP2C19 variation</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Activation / dosing</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Clopidogrel; some antidepressants, PPIs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TPMT deficiency</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 Toxicity risk</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Thiopurines (azathioprine)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HLA alleles (HLA-B*5801)</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 Severe hypersensitivity risk</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Allopurinol</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bl>
          </a:graphicData>
        </a:graphic>
      </p:graphicFrame>
      <p:sp>
        <p:nvSpPr>
          <p:cNvPr id="8" name="Table sources"/>
          <p:cNvSpPr txBox="1"/>
          <p:nvPr/>
        </p:nvSpPr>
        <p:spPr>
          <a:xfrm>
            <a:off x="548640" y="3342640"/>
            <a:ext cx="11094415" cy="274320"/>
          </a:xfrm>
          <a:prstGeom prst="rect">
            <a:avLst/>
          </a:prstGeom>
          <a:noFill/>
          <a:ln/>
        </p:spPr>
        <p:txBody>
          <a:bodyPr wrap="square" lIns="0" tIns="0" rIns="0" bIns="0" rtlCol="0" anchor="ctr"/>
          <a:lstStyle/>
          <a:p>
            <a:pPr indent="0" marL="0">
              <a:buNone/>
            </a:pPr>
            <a:r>
              <a:rPr lang="en-US" sz="1100" dirty="0">
                <a:solidFill>
                  <a:srgbClr val="666666"/>
                </a:solidFill>
              </a:rPr>
              <a:t>Focus: what tells these apart.  Sources: S33; S36</a:t>
            </a:r>
            <a:endParaRPr lang="en-US" sz="11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PHARMACOGENOMICS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Memory hooks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SO4 · IO1.3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80</a:t>
            </a:r>
            <a:endParaRPr lang="en-US" sz="1000" dirty="0"/>
          </a:p>
        </p:txBody>
      </p:sp>
      <p:sp>
        <p:nvSpPr>
          <p:cNvPr id="7" name="Why it happens card"/>
          <p:cNvSpPr/>
          <p:nvPr/>
        </p:nvSpPr>
        <p:spPr>
          <a:xfrm>
            <a:off x="548640" y="1325880"/>
            <a:ext cx="5364328" cy="2276856"/>
          </a:xfrm>
          <a:prstGeom prst="roundRect">
            <a:avLst>
              <a:gd name="adj" fmla="val 4819"/>
            </a:avLst>
          </a:prstGeom>
          <a:solidFill>
            <a:srgbClr val="F2F4F7"/>
          </a:solidFill>
          <a:ln w="12700">
            <a:solidFill>
              <a:srgbClr val="F2F4F7"/>
            </a:solidFill>
            <a:prstDash val="solid"/>
          </a:ln>
        </p:spPr>
      </p:sp>
      <p:sp>
        <p:nvSpPr>
          <p:cNvPr id="8" name="Why it happens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9" name="Why it happen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Why it happens heading"/>
          <p:cNvSpPr txBox="1"/>
          <p:nvPr/>
        </p:nvSpPr>
        <p:spPr>
          <a:xfrm>
            <a:off x="1353312" y="1508760"/>
            <a:ext cx="4358488" cy="438912"/>
          </a:xfrm>
          <a:prstGeom prst="rect">
            <a:avLst/>
          </a:prstGeom>
          <a:noFill/>
          <a:ln/>
        </p:spPr>
        <p:txBody>
          <a:bodyPr wrap="square" lIns="0" tIns="0" rIns="0" bIns="0" rtlCol="0" anchor="ctr"/>
          <a:lstStyle/>
          <a:p>
            <a:pPr indent="0" marL="0">
              <a:buNone/>
            </a:pPr>
            <a:r>
              <a:rPr lang="en-US" sz="1800" b="1" dirty="0">
                <a:solidFill>
                  <a:srgbClr val="4472C4"/>
                </a:solidFill>
              </a:rPr>
              <a:t>Why it happens</a:t>
            </a:r>
            <a:endParaRPr lang="en-US" sz="1800" dirty="0"/>
          </a:p>
        </p:txBody>
      </p:sp>
      <p:sp>
        <p:nvSpPr>
          <p:cNvPr id="11" name="Why it happens body"/>
          <p:cNvSpPr txBox="1"/>
          <p:nvPr/>
        </p:nvSpPr>
        <p:spPr>
          <a:xfrm>
            <a:off x="777240" y="2075688"/>
            <a:ext cx="4907128" cy="1408176"/>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Why can a CYP2D6 variant change codeine's effect? Codeine needs CYP2D6 activation — change the enzyme's activity and you change how much active drug is made.</a:t>
            </a:r>
            <a:r>
              <a:rPr lang="en-US" sz="1300" dirty="0">
                <a:solidFill>
                  <a:srgbClr val="666666"/>
                </a:solidFill>
              </a:rPr>
              <a:t>  S32; S33</a:t>
            </a:r>
            <a:endParaRPr lang="en-US" sz="1800" dirty="0"/>
          </a:p>
        </p:txBody>
      </p:sp>
      <p:sp>
        <p:nvSpPr>
          <p:cNvPr id="12" name="Mnemonic (memory aid) card"/>
          <p:cNvSpPr/>
          <p:nvPr/>
        </p:nvSpPr>
        <p:spPr>
          <a:xfrm>
            <a:off x="6278728" y="1325880"/>
            <a:ext cx="5364328" cy="2276856"/>
          </a:xfrm>
          <a:prstGeom prst="roundRect">
            <a:avLst>
              <a:gd name="adj" fmla="val 4819"/>
            </a:avLst>
          </a:prstGeom>
          <a:solidFill>
            <a:srgbClr val="F2F4F7"/>
          </a:solidFill>
          <a:ln w="12700">
            <a:solidFill>
              <a:srgbClr val="F2F4F7"/>
            </a:solidFill>
            <a:prstDash val="solid"/>
          </a:ln>
        </p:spPr>
      </p:sp>
      <p:sp>
        <p:nvSpPr>
          <p:cNvPr id="13" name="Mnemonic (memory aid) icon circle"/>
          <p:cNvSpPr/>
          <p:nvPr/>
        </p:nvSpPr>
        <p:spPr>
          <a:xfrm>
            <a:off x="6507328" y="1508760"/>
            <a:ext cx="438912" cy="438912"/>
          </a:xfrm>
          <a:prstGeom prst="ellipse">
            <a:avLst/>
          </a:prstGeom>
          <a:solidFill>
            <a:srgbClr val="7030A0"/>
          </a:solidFill>
          <a:ln w="12700">
            <a:solidFill>
              <a:srgbClr val="7030A0"/>
            </a:solidFill>
            <a:prstDash val="solid"/>
          </a:ln>
        </p:spPr>
      </p:sp>
      <p:pic>
        <p:nvPicPr>
          <p:cNvPr id="14" name="Mnemonic (memory aid) icon" descr="preencoded.png">    </p:cNvPr>
          <p:cNvPicPr>
            <a:picLocks noChangeAspect="1"/>
          </p:cNvPicPr>
          <p:nvPr/>
        </p:nvPicPr>
        <p:blipFill>
          <a:blip r:embed="rId2"/>
          <a:stretch>
            <a:fillRect/>
          </a:stretch>
        </p:blipFill>
        <p:spPr>
          <a:xfrm>
            <a:off x="6607912" y="1609344"/>
            <a:ext cx="237744" cy="237744"/>
          </a:xfrm>
          <a:prstGeom prst="rect">
            <a:avLst/>
          </a:prstGeom>
        </p:spPr>
      </p:pic>
      <p:sp>
        <p:nvSpPr>
          <p:cNvPr id="15" name="Mnemonic (memory aid) heading"/>
          <p:cNvSpPr txBox="1"/>
          <p:nvPr/>
        </p:nvSpPr>
        <p:spPr>
          <a:xfrm>
            <a:off x="7083400" y="1508760"/>
            <a:ext cx="4358488" cy="438912"/>
          </a:xfrm>
          <a:prstGeom prst="rect">
            <a:avLst/>
          </a:prstGeom>
          <a:noFill/>
          <a:ln/>
        </p:spPr>
        <p:txBody>
          <a:bodyPr wrap="square" lIns="0" tIns="0" rIns="0" bIns="0" rtlCol="0" anchor="ctr"/>
          <a:lstStyle/>
          <a:p>
            <a:pPr indent="0" marL="0">
              <a:buNone/>
            </a:pPr>
            <a:r>
              <a:rPr lang="en-US" sz="1800" b="1" dirty="0">
                <a:solidFill>
                  <a:srgbClr val="7030A0"/>
                </a:solidFill>
              </a:rPr>
              <a:t>Mnemonic (memory aid)</a:t>
            </a:r>
            <a:endParaRPr lang="en-US" sz="1800" dirty="0"/>
          </a:p>
        </p:txBody>
      </p:sp>
      <p:sp>
        <p:nvSpPr>
          <p:cNvPr id="16" name="Mnemonic (memory aid) body"/>
          <p:cNvSpPr txBox="1"/>
          <p:nvPr/>
        </p:nvSpPr>
        <p:spPr>
          <a:xfrm>
            <a:off x="6507328" y="2075688"/>
            <a:ext cx="4907128" cy="1408176"/>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Gene → drug pairs: </a:t>
            </a:r>
            <a:r>
              <a:rPr lang="en-US" sz="1800" b="1" dirty="0">
                <a:solidFill>
                  <a:srgbClr val="1F1F1F"/>
                </a:solidFill>
              </a:rPr>
              <a:t>2D6</a:t>
            </a:r>
            <a:r>
              <a:rPr lang="en-US" sz="1800" dirty="0">
                <a:solidFill>
                  <a:srgbClr val="1F1F1F"/>
                </a:solidFill>
              </a:rPr>
              <a:t> → co</a:t>
            </a:r>
            <a:r>
              <a:rPr lang="en-US" sz="1800" b="1" dirty="0">
                <a:solidFill>
                  <a:srgbClr val="1F1F1F"/>
                </a:solidFill>
              </a:rPr>
              <a:t>D</a:t>
            </a:r>
            <a:r>
              <a:rPr lang="en-US" sz="1800" dirty="0">
                <a:solidFill>
                  <a:srgbClr val="1F1F1F"/>
                </a:solidFill>
              </a:rPr>
              <a:t>eine; </a:t>
            </a:r>
            <a:r>
              <a:rPr lang="en-US" sz="1800" b="1" dirty="0">
                <a:solidFill>
                  <a:srgbClr val="1F1F1F"/>
                </a:solidFill>
              </a:rPr>
              <a:t>2C19</a:t>
            </a:r>
            <a:r>
              <a:rPr lang="en-US" sz="1800" dirty="0">
                <a:solidFill>
                  <a:srgbClr val="1F1F1F"/>
                </a:solidFill>
              </a:rPr>
              <a:t> → </a:t>
            </a:r>
            <a:r>
              <a:rPr lang="en-US" sz="1800" b="1" dirty="0">
                <a:solidFill>
                  <a:srgbClr val="1F1F1F"/>
                </a:solidFill>
              </a:rPr>
              <a:t>C</a:t>
            </a:r>
            <a:r>
              <a:rPr lang="en-US" sz="1800" dirty="0">
                <a:solidFill>
                  <a:srgbClr val="1F1F1F"/>
                </a:solidFill>
              </a:rPr>
              <a:t>lopidogrel; </a:t>
            </a:r>
            <a:r>
              <a:rPr lang="en-US" sz="1800" b="1" dirty="0">
                <a:solidFill>
                  <a:srgbClr val="1F1F1F"/>
                </a:solidFill>
              </a:rPr>
              <a:t>T</a:t>
            </a:r>
            <a:r>
              <a:rPr lang="en-US" sz="1800" dirty="0">
                <a:solidFill>
                  <a:srgbClr val="1F1F1F"/>
                </a:solidFill>
              </a:rPr>
              <a:t>PMT → </a:t>
            </a:r>
            <a:r>
              <a:rPr lang="en-US" sz="1800" b="1" dirty="0">
                <a:solidFill>
                  <a:srgbClr val="1F1F1F"/>
                </a:solidFill>
              </a:rPr>
              <a:t>T</a:t>
            </a:r>
            <a:r>
              <a:rPr lang="en-US" sz="1800" dirty="0">
                <a:solidFill>
                  <a:srgbClr val="1F1F1F"/>
                </a:solidFill>
              </a:rPr>
              <a:t>hiopurines; **HLA-B*58</a:t>
            </a:r>
            <a:r>
              <a:rPr lang="en-US" sz="1800" b="1" dirty="0">
                <a:solidFill>
                  <a:srgbClr val="1F1F1F"/>
                </a:solidFill>
              </a:rPr>
              <a:t> → </a:t>
            </a:r>
            <a:r>
              <a:rPr lang="en-US" sz="1800" dirty="0">
                <a:solidFill>
                  <a:srgbClr val="1F1F1F"/>
                </a:solidFill>
              </a:rPr>
              <a:t>A</a:t>
            </a:r>
            <a:r>
              <a:rPr lang="en-US" sz="1800" b="1" dirty="0">
                <a:solidFill>
                  <a:srgbClr val="1F1F1F"/>
                </a:solidFill>
              </a:rPr>
              <a:t>llopurinol (</a:t>
            </a:r>
            <a:r>
              <a:rPr lang="en-US" sz="1800" dirty="0">
                <a:solidFill>
                  <a:srgbClr val="1F1F1F"/>
                </a:solidFill>
              </a:rPr>
              <a:t>A**llergy-like hypersensitivity).</a:t>
            </a:r>
            <a:r>
              <a:rPr lang="en-US" sz="1300" dirty="0">
                <a:solidFill>
                  <a:srgbClr val="666666"/>
                </a:solidFill>
              </a:rPr>
              <a:t>  S33; S36</a:t>
            </a:r>
            <a:endParaRPr lang="en-US" sz="18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PHARMACOGENOMICS</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High-yield summary</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SO4 · IO1.3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81</a:t>
            </a:r>
            <a:endParaRPr lang="en-US" sz="1000" dirty="0"/>
          </a:p>
        </p:txBody>
      </p:sp>
      <p:sp>
        <p:nvSpPr>
          <p:cNvPr id="7" name="If you remember nothing else card"/>
          <p:cNvSpPr/>
          <p:nvPr/>
        </p:nvSpPr>
        <p:spPr>
          <a:xfrm>
            <a:off x="548640" y="1325880"/>
            <a:ext cx="11094415" cy="2606040"/>
          </a:xfrm>
          <a:prstGeom prst="roundRect">
            <a:avLst>
              <a:gd name="adj" fmla="val 4211"/>
            </a:avLst>
          </a:prstGeom>
          <a:solidFill>
            <a:srgbClr val="F2F4F7"/>
          </a:solidFill>
          <a:ln w="12700">
            <a:solidFill>
              <a:srgbClr val="F2F4F7"/>
            </a:solidFill>
            <a:prstDash val="solid"/>
          </a:ln>
        </p:spPr>
      </p:sp>
      <p:sp>
        <p:nvSpPr>
          <p:cNvPr id="8" name="If you remember nothing else icon circle"/>
          <p:cNvSpPr/>
          <p:nvPr/>
        </p:nvSpPr>
        <p:spPr>
          <a:xfrm>
            <a:off x="777240" y="1508760"/>
            <a:ext cx="438912" cy="438912"/>
          </a:xfrm>
          <a:prstGeom prst="ellipse">
            <a:avLst/>
          </a:prstGeom>
          <a:solidFill>
            <a:srgbClr val="C55A11"/>
          </a:solidFill>
          <a:ln w="12700">
            <a:solidFill>
              <a:srgbClr val="C55A11"/>
            </a:solidFill>
            <a:prstDash val="solid"/>
          </a:ln>
        </p:spPr>
      </p:sp>
      <p:pic>
        <p:nvPicPr>
          <p:cNvPr id="9" name="If you remember nothing else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If you remember nothing else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C55A11"/>
                </a:solidFill>
              </a:rPr>
              <a:t>If you remember nothing else</a:t>
            </a:r>
            <a:endParaRPr lang="en-US" sz="1800" dirty="0"/>
          </a:p>
        </p:txBody>
      </p:sp>
      <p:sp>
        <p:nvSpPr>
          <p:cNvPr id="11" name="If you remember nothing else body"/>
          <p:cNvSpPr txBox="1"/>
          <p:nvPr/>
        </p:nvSpPr>
        <p:spPr>
          <a:xfrm>
            <a:off x="777240" y="2075688"/>
            <a:ext cx="10637215" cy="173736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Pharmacogenomics = genetic variation changing drug response (metabolism, transport, target, ADR risk).</a:t>
            </a:r>
            <a:r>
              <a:rPr lang="en-US" sz="1300" dirty="0">
                <a:solidFill>
                  <a:srgbClr val="666666"/>
                </a:solidFill>
              </a:rPr>
              <a:t>  S32</a:t>
            </a:r>
            <a:endParaRPr lang="en-US" sz="1800" dirty="0"/>
          </a:p>
          <a:p>
            <a:pPr marL="228600" indent="-228600">
              <a:spcAft>
                <a:spcPts val="800"/>
              </a:spcAft>
              <a:buSzPct val="100000"/>
              <a:buChar char="•"/>
            </a:pPr>
            <a:r>
              <a:rPr lang="en-US" sz="1800" dirty="0">
                <a:solidFill>
                  <a:srgbClr val="1F1F1F"/>
                </a:solidFill>
              </a:rPr>
              <a:t>**HLA-B*5801 + allopurinol** → severe hypersensitivity risk.</a:t>
            </a:r>
            <a:r>
              <a:rPr lang="en-US" sz="1300" dirty="0">
                <a:solidFill>
                  <a:srgbClr val="666666"/>
                </a:solidFill>
              </a:rPr>
              <a:t>  S36</a:t>
            </a:r>
            <a:endParaRPr lang="en-US" sz="1800" dirty="0"/>
          </a:p>
          <a:p>
            <a:pPr marL="228600" indent="-228600">
              <a:spcAft>
                <a:spcPts val="800"/>
              </a:spcAft>
              <a:buSzPct val="100000"/>
              <a:buChar char="•"/>
            </a:pPr>
            <a:r>
              <a:rPr lang="en-US" sz="1800" dirty="0">
                <a:solidFill>
                  <a:srgbClr val="1F1F1F"/>
                </a:solidFill>
              </a:rPr>
              <a:t>CYP2D6–codeine; CYP2C19–clopidogrel; TPMT–azathioprine.</a:t>
            </a:r>
            <a:r>
              <a:rPr lang="en-US" sz="1300" dirty="0">
                <a:solidFill>
                  <a:srgbClr val="666666"/>
                </a:solidFill>
              </a:rPr>
              <a:t>  S33</a:t>
            </a:r>
            <a:endParaRPr lang="en-US" sz="1800" dirty="0"/>
          </a:p>
          <a:p>
            <a:pPr marL="228600" indent="-228600">
              <a:spcAft>
                <a:spcPts val="800"/>
              </a:spcAft>
              <a:buSzPct val="100000"/>
              <a:buChar char="•"/>
            </a:pPr>
            <a:r>
              <a:rPr lang="en-US" sz="1800" dirty="0">
                <a:solidFill>
                  <a:srgbClr val="1F1F1F"/>
                </a:solidFill>
              </a:rPr>
              <a:t>Genotype is </a:t>
            </a:r>
            <a:r>
              <a:rPr lang="en-US" sz="1800" b="1" dirty="0">
                <a:solidFill>
                  <a:srgbClr val="1F1F1F"/>
                </a:solidFill>
              </a:rPr>
              <a:t>one input among several</a:t>
            </a:r>
            <a:r>
              <a:rPr lang="en-US" sz="1800" dirty="0">
                <a:solidFill>
                  <a:srgbClr val="1F1F1F"/>
                </a:solidFill>
              </a:rPr>
              <a:t>.</a:t>
            </a:r>
            <a:r>
              <a:rPr lang="en-US" sz="1300" dirty="0">
                <a:solidFill>
                  <a:srgbClr val="666666"/>
                </a:solidFill>
              </a:rPr>
              <a:t>  S34</a:t>
            </a:r>
            <a:endParaRPr lang="en-US" sz="18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LECTURE QUICK CHECK S35-36</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18</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SO4 · IO1.3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82</a:t>
            </a:r>
            <a:endParaRPr lang="en-US" sz="1000" dirty="0"/>
          </a:p>
        </p:txBody>
      </p:sp>
      <p:sp>
        <p:nvSpPr>
          <p:cNvPr id="7" name="Question stem card"/>
          <p:cNvSpPr/>
          <p:nvPr/>
        </p:nvSpPr>
        <p:spPr>
          <a:xfrm>
            <a:off x="548640" y="1325880"/>
            <a:ext cx="11094415" cy="644652"/>
          </a:xfrm>
          <a:prstGeom prst="roundRect">
            <a:avLst>
              <a:gd name="adj" fmla="val 14184"/>
            </a:avLst>
          </a:prstGeom>
          <a:solidFill>
            <a:srgbClr val="F2F4F7"/>
          </a:solidFill>
          <a:ln w="12700">
            <a:solidFill>
              <a:srgbClr val="F2F4F7"/>
            </a:solidFill>
            <a:prstDash val="solid"/>
          </a:ln>
        </p:spPr>
      </p:sp>
      <p:sp>
        <p:nvSpPr>
          <p:cNvPr id="8" name="Question stem"/>
          <p:cNvSpPr txBox="1"/>
          <p:nvPr/>
        </p:nvSpPr>
        <p:spPr>
          <a:xfrm>
            <a:off x="777240" y="1325880"/>
            <a:ext cx="10637215" cy="644652"/>
          </a:xfrm>
          <a:prstGeom prst="rect">
            <a:avLst/>
          </a:prstGeom>
          <a:noFill/>
          <a:ln/>
        </p:spPr>
        <p:txBody>
          <a:bodyPr wrap="square" lIns="0" tIns="0" rIns="0" bIns="0" rtlCol="0" anchor="ctr"/>
          <a:lstStyle/>
          <a:p>
            <a:pPr indent="0" marL="0">
              <a:buNone/>
            </a:pPr>
            <a:r>
              <a:rPr lang="en-US" sz="1800" dirty="0">
                <a:solidFill>
                  <a:srgbClr val="1F1F1F"/>
                </a:solidFill>
              </a:rPr>
              <a:t>A patient is found to carry the HLA-B*5801 allele before starting allopurinol. Why does this matter clinically?</a:t>
            </a:r>
            <a:endParaRPr lang="en-US" sz="1800" dirty="0"/>
          </a:p>
        </p:txBody>
      </p:sp>
      <p:sp>
        <p:nvSpPr>
          <p:cNvPr id="9" name="Shape 7"/>
          <p:cNvSpPr/>
          <p:nvPr/>
        </p:nvSpPr>
        <p:spPr>
          <a:xfrm>
            <a:off x="548640" y="2180844"/>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18084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15341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It has no bearing on drug selection for this patient</a:t>
            </a:r>
            <a:endParaRPr lang="en-US" sz="1800" dirty="0"/>
          </a:p>
        </p:txBody>
      </p:sp>
      <p:sp>
        <p:nvSpPr>
          <p:cNvPr id="12" name="Shape 10"/>
          <p:cNvSpPr/>
          <p:nvPr/>
        </p:nvSpPr>
        <p:spPr>
          <a:xfrm>
            <a:off x="548640" y="2729484"/>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272948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70205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It predicts faster CYP2D6 metabolism of allopurinol</a:t>
            </a:r>
            <a:endParaRPr lang="en-US" sz="1800" dirty="0"/>
          </a:p>
        </p:txBody>
      </p:sp>
      <p:sp>
        <p:nvSpPr>
          <p:cNvPr id="15" name="Shape 13"/>
          <p:cNvSpPr/>
          <p:nvPr/>
        </p:nvSpPr>
        <p:spPr>
          <a:xfrm>
            <a:off x="548640" y="3278124"/>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27812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25069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It only affects how the drug tastes to the patient</a:t>
            </a:r>
            <a:endParaRPr lang="en-US" sz="1800" dirty="0"/>
          </a:p>
        </p:txBody>
      </p:sp>
      <p:sp>
        <p:nvSpPr>
          <p:cNvPr id="18" name="Shape 16"/>
          <p:cNvSpPr/>
          <p:nvPr/>
        </p:nvSpPr>
        <p:spPr>
          <a:xfrm>
            <a:off x="548640" y="3826764"/>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382676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379933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It predicts reduced absorption of allopurinol from the gut</a:t>
            </a:r>
            <a:endParaRPr lang="en-US" sz="1800" dirty="0"/>
          </a:p>
        </p:txBody>
      </p:sp>
      <p:sp>
        <p:nvSpPr>
          <p:cNvPr id="21" name="Shape 19"/>
          <p:cNvSpPr/>
          <p:nvPr/>
        </p:nvSpPr>
        <p:spPr>
          <a:xfrm>
            <a:off x="548640" y="4375404"/>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37540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34797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It flags a sharply higher risk of severe hypersensitivity</a:t>
            </a:r>
            <a:endParaRPr lang="en-US" sz="18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18: E</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SO4 · IO1.3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83</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E. </a:t>
            </a:r>
            <a:r>
              <a:rPr lang="en-US" sz="1600" b="1" dirty="0">
                <a:solidFill>
                  <a:srgbClr val="1F1F1F"/>
                </a:solidFill>
              </a:rPr>
              <a:t>It flags a sharply higher risk of severe hypersensitivity</a:t>
            </a:r>
            <a:endParaRPr lang="en-US" sz="1600" dirty="0"/>
          </a:p>
        </p:txBody>
      </p:sp>
      <p:sp>
        <p:nvSpPr>
          <p:cNvPr id="10" name="Why correct"/>
          <p:cNvSpPr txBox="1"/>
          <p:nvPr/>
        </p:nvSpPr>
        <p:spPr>
          <a:xfrm>
            <a:off x="777240" y="2011680"/>
            <a:ext cx="10637215" cy="724408"/>
          </a:xfrm>
          <a:prstGeom prst="rect">
            <a:avLst/>
          </a:prstGeom>
          <a:noFill/>
          <a:ln/>
        </p:spPr>
        <p:txBody>
          <a:bodyPr wrap="square" lIns="0" tIns="0" rIns="0" bIns="0" rtlCol="0" anchor="t"/>
          <a:lstStyle/>
          <a:p>
            <a:pPr indent="0" marL="0">
              <a:buNone/>
            </a:pPr>
            <a:r>
              <a:rPr lang="en-US" sz="1600" dirty="0">
                <a:solidFill>
                  <a:srgbClr val="1F1F1F"/>
                </a:solidFill>
              </a:rPr>
              <a:t>HLA-B*5801 is associated with severe hypersensitivity reactions to allopurinol — a textbook screening consideration (S36).</a:t>
            </a:r>
            <a:r>
              <a:rPr lang="en-US" sz="1100" dirty="0">
                <a:solidFill>
                  <a:srgbClr val="666666"/>
                </a:solidFill>
              </a:rPr>
              <a:t>  S35-36</a:t>
            </a:r>
            <a:endParaRPr lang="en-US" sz="1600" dirty="0"/>
          </a:p>
        </p:txBody>
      </p:sp>
      <p:sp>
        <p:nvSpPr>
          <p:cNvPr id="11" name="Why others wrong card"/>
          <p:cNvSpPr/>
          <p:nvPr/>
        </p:nvSpPr>
        <p:spPr>
          <a:xfrm>
            <a:off x="548640" y="2873248"/>
            <a:ext cx="11094415" cy="1952752"/>
          </a:xfrm>
          <a:prstGeom prst="roundRect">
            <a:avLst>
              <a:gd name="adj" fmla="val 4683"/>
            </a:avLst>
          </a:prstGeom>
          <a:solidFill>
            <a:srgbClr val="F2F4F7"/>
          </a:solidFill>
          <a:ln w="12700">
            <a:solidFill>
              <a:srgbClr val="F2F4F7"/>
            </a:solidFill>
            <a:prstDash val="solid"/>
          </a:ln>
        </p:spPr>
      </p:sp>
      <p:sp>
        <p:nvSpPr>
          <p:cNvPr id="12" name="Why others wrong"/>
          <p:cNvSpPr txBox="1"/>
          <p:nvPr/>
        </p:nvSpPr>
        <p:spPr>
          <a:xfrm>
            <a:off x="777240" y="2982976"/>
            <a:ext cx="10637215" cy="1769872"/>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It has no bearing on drug selection for this patient — </a:t>
            </a:r>
            <a:r>
              <a:rPr lang="en-US" sz="1600" dirty="0">
                <a:solidFill>
                  <a:srgbClr val="1F1F1F"/>
                </a:solidFill>
              </a:rPr>
              <a:t>It is a key pharmacogenomic screening consideration (S36).</a:t>
            </a:r>
            <a:endParaRPr lang="en-US" sz="1600" dirty="0"/>
          </a:p>
          <a:p>
            <a:pPr indent="0" marL="0">
              <a:buNone/>
            </a:pPr>
            <a:r>
              <a:rPr lang="en-US" sz="1600" b="1" dirty="0">
                <a:solidFill>
                  <a:srgbClr val="1F1F1F"/>
                </a:solidFill>
              </a:rPr>
              <a:t>B. It predicts faster CYP2D6 metabolism of allopurinol — </a:t>
            </a:r>
            <a:r>
              <a:rPr lang="en-US" sz="1600" dirty="0">
                <a:solidFill>
                  <a:srgbClr val="1F1F1F"/>
                </a:solidFill>
              </a:rPr>
              <a:t>HLA alleles relate to hypersensitivity; CYP2D6 relates to metabolism (S33).</a:t>
            </a:r>
            <a:endParaRPr lang="en-US" sz="1600" dirty="0"/>
          </a:p>
          <a:p>
            <a:pPr indent="0" marL="0">
              <a:buNone/>
            </a:pPr>
            <a:r>
              <a:rPr lang="en-US" sz="1600" b="1" dirty="0">
                <a:solidFill>
                  <a:srgbClr val="1F1F1F"/>
                </a:solidFill>
              </a:rPr>
              <a:t>C. It only affects how the drug tastes to the patient — </a:t>
            </a:r>
            <a:r>
              <a:rPr lang="en-US" sz="1600" dirty="0">
                <a:solidFill>
                  <a:srgbClr val="1F1F1F"/>
                </a:solidFill>
              </a:rPr>
              <a:t>It flags a severe hypersensitivity risk (S36).</a:t>
            </a:r>
            <a:endParaRPr lang="en-US" sz="1600" dirty="0"/>
          </a:p>
          <a:p>
            <a:pPr indent="0" marL="0">
              <a:buNone/>
            </a:pPr>
            <a:r>
              <a:rPr lang="en-US" sz="1600" b="1" dirty="0">
                <a:solidFill>
                  <a:srgbClr val="1F1F1F"/>
                </a:solidFill>
              </a:rPr>
              <a:t>D. It predicts reduced absorption of allopurinol from the gut — </a:t>
            </a:r>
            <a:r>
              <a:rPr lang="en-US" sz="1600" dirty="0">
                <a:solidFill>
                  <a:srgbClr val="1F1F1F"/>
                </a:solidFill>
              </a:rPr>
              <a:t>The allele flags hypersensitivity risk, not absorption (S36).</a:t>
            </a:r>
            <a:endParaRPr lang="en-US" sz="16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19</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SO4 · IO1.3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84</a:t>
            </a:r>
            <a:endParaRPr lang="en-US" sz="1000" dirty="0"/>
          </a:p>
        </p:txBody>
      </p:sp>
      <p:sp>
        <p:nvSpPr>
          <p:cNvPr id="7" name="Question stem card"/>
          <p:cNvSpPr/>
          <p:nvPr/>
        </p:nvSpPr>
        <p:spPr>
          <a:xfrm>
            <a:off x="548640" y="1325880"/>
            <a:ext cx="11094415" cy="644652"/>
          </a:xfrm>
          <a:prstGeom prst="roundRect">
            <a:avLst>
              <a:gd name="adj" fmla="val 14184"/>
            </a:avLst>
          </a:prstGeom>
          <a:solidFill>
            <a:srgbClr val="F2F4F7"/>
          </a:solidFill>
          <a:ln w="12700">
            <a:solidFill>
              <a:srgbClr val="F2F4F7"/>
            </a:solidFill>
            <a:prstDash val="solid"/>
          </a:ln>
        </p:spPr>
      </p:sp>
      <p:sp>
        <p:nvSpPr>
          <p:cNvPr id="8" name="Question stem"/>
          <p:cNvSpPr txBox="1"/>
          <p:nvPr/>
        </p:nvSpPr>
        <p:spPr>
          <a:xfrm>
            <a:off x="777240" y="1325880"/>
            <a:ext cx="10637215" cy="644652"/>
          </a:xfrm>
          <a:prstGeom prst="rect">
            <a:avLst/>
          </a:prstGeom>
          <a:noFill/>
          <a:ln/>
        </p:spPr>
        <p:txBody>
          <a:bodyPr wrap="square" lIns="0" tIns="0" rIns="0" bIns="0" rtlCol="0" anchor="ctr"/>
          <a:lstStyle/>
          <a:p>
            <a:pPr indent="0" marL="0">
              <a:buNone/>
            </a:pPr>
            <a:r>
              <a:rPr lang="en-US" sz="1800" dirty="0">
                <a:solidFill>
                  <a:srgbClr val="1F1F1F"/>
                </a:solidFill>
              </a:rPr>
              <a:t>A patient is about to start azathioprine. Testing shows TPMT deficiency. What is the main clinical concern?</a:t>
            </a:r>
            <a:endParaRPr lang="en-US" sz="1800" dirty="0"/>
          </a:p>
        </p:txBody>
      </p:sp>
      <p:sp>
        <p:nvSpPr>
          <p:cNvPr id="9" name="Shape 7"/>
          <p:cNvSpPr/>
          <p:nvPr/>
        </p:nvSpPr>
        <p:spPr>
          <a:xfrm>
            <a:off x="548640" y="2180844"/>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18084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15341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Reduced activation of the drug into its active form</a:t>
            </a:r>
            <a:endParaRPr lang="en-US" sz="1800" dirty="0"/>
          </a:p>
        </p:txBody>
      </p:sp>
      <p:sp>
        <p:nvSpPr>
          <p:cNvPr id="12" name="Shape 10"/>
          <p:cNvSpPr/>
          <p:nvPr/>
        </p:nvSpPr>
        <p:spPr>
          <a:xfrm>
            <a:off x="548640" y="2729484"/>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272948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70205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Faster CYP2D6 metabolism of the drug and lost effect</a:t>
            </a:r>
            <a:endParaRPr lang="en-US" sz="1800" dirty="0"/>
          </a:p>
        </p:txBody>
      </p:sp>
      <p:sp>
        <p:nvSpPr>
          <p:cNvPr id="15" name="Shape 13"/>
          <p:cNvSpPr/>
          <p:nvPr/>
        </p:nvSpPr>
        <p:spPr>
          <a:xfrm>
            <a:off x="548640" y="3278124"/>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27812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25069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Increased risk of toxicity from the thiopurine drug</a:t>
            </a:r>
            <a:endParaRPr lang="en-US" sz="1800" dirty="0"/>
          </a:p>
        </p:txBody>
      </p:sp>
      <p:sp>
        <p:nvSpPr>
          <p:cNvPr id="18" name="Shape 16"/>
          <p:cNvSpPr/>
          <p:nvPr/>
        </p:nvSpPr>
        <p:spPr>
          <a:xfrm>
            <a:off x="548640" y="3826764"/>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382676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379933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Severe HLA-associated hypersensitivity to the drug</a:t>
            </a:r>
            <a:endParaRPr lang="en-US" sz="1800" dirty="0"/>
          </a:p>
        </p:txBody>
      </p:sp>
      <p:sp>
        <p:nvSpPr>
          <p:cNvPr id="21" name="Shape 19"/>
          <p:cNvSpPr/>
          <p:nvPr/>
        </p:nvSpPr>
        <p:spPr>
          <a:xfrm>
            <a:off x="548640" y="4375404"/>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37540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34797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No concern, since genotype never affects therapy</a:t>
            </a:r>
            <a:endParaRPr lang="en-US" sz="18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19: C</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SO4 · IO1.3 · IO1.4</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85</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C. </a:t>
            </a:r>
            <a:r>
              <a:rPr lang="en-US" sz="1600" b="1" dirty="0">
                <a:solidFill>
                  <a:srgbClr val="1F1F1F"/>
                </a:solidFill>
              </a:rPr>
              <a:t>Increased risk of toxicity from the thiopurine drug</a:t>
            </a:r>
            <a:endParaRPr lang="en-US" sz="1600" dirty="0"/>
          </a:p>
        </p:txBody>
      </p:sp>
      <p:sp>
        <p:nvSpPr>
          <p:cNvPr id="10" name="Why correct"/>
          <p:cNvSpPr txBox="1"/>
          <p:nvPr/>
        </p:nvSpPr>
        <p:spPr>
          <a:xfrm>
            <a:off x="777240" y="2011680"/>
            <a:ext cx="10637215" cy="476504"/>
          </a:xfrm>
          <a:prstGeom prst="rect">
            <a:avLst/>
          </a:prstGeom>
          <a:noFill/>
          <a:ln/>
        </p:spPr>
        <p:txBody>
          <a:bodyPr wrap="square" lIns="0" tIns="0" rIns="0" bIns="0" rtlCol="0" anchor="t"/>
          <a:lstStyle/>
          <a:p>
            <a:pPr indent="0" marL="0">
              <a:buNone/>
            </a:pPr>
            <a:r>
              <a:rPr lang="en-US" sz="1600" dirty="0">
                <a:solidFill>
                  <a:srgbClr val="1F1F1F"/>
                </a:solidFill>
              </a:rPr>
              <a:t>TPMT deficiency raises toxicity risk with thiopurine drugs such as azathioprine (S33).</a:t>
            </a:r>
            <a:r>
              <a:rPr lang="en-US" sz="1100" dirty="0">
                <a:solidFill>
                  <a:srgbClr val="666666"/>
                </a:solidFill>
              </a:rPr>
              <a:t>  S33</a:t>
            </a:r>
            <a:endParaRPr lang="en-US" sz="1600" dirty="0"/>
          </a:p>
        </p:txBody>
      </p:sp>
      <p:sp>
        <p:nvSpPr>
          <p:cNvPr id="11" name="Why others wrong card"/>
          <p:cNvSpPr/>
          <p:nvPr/>
        </p:nvSpPr>
        <p:spPr>
          <a:xfrm>
            <a:off x="548640" y="2625344"/>
            <a:ext cx="11094415" cy="1952752"/>
          </a:xfrm>
          <a:prstGeom prst="roundRect">
            <a:avLst>
              <a:gd name="adj" fmla="val 4683"/>
            </a:avLst>
          </a:prstGeom>
          <a:solidFill>
            <a:srgbClr val="F2F4F7"/>
          </a:solidFill>
          <a:ln w="12700">
            <a:solidFill>
              <a:srgbClr val="F2F4F7"/>
            </a:solidFill>
            <a:prstDash val="solid"/>
          </a:ln>
        </p:spPr>
      </p:sp>
      <p:sp>
        <p:nvSpPr>
          <p:cNvPr id="12" name="Why others wrong"/>
          <p:cNvSpPr txBox="1"/>
          <p:nvPr/>
        </p:nvSpPr>
        <p:spPr>
          <a:xfrm>
            <a:off x="777240" y="2735072"/>
            <a:ext cx="10637215" cy="1769872"/>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Reduced activation of the drug into its active form — </a:t>
            </a:r>
            <a:r>
              <a:rPr lang="en-US" sz="1600" dirty="0">
                <a:solidFill>
                  <a:srgbClr val="1F1F1F"/>
                </a:solidFill>
              </a:rPr>
              <a:t>Reduced activation is the CYP2C19–clopidogrel example (S33).</a:t>
            </a:r>
            <a:endParaRPr lang="en-US" sz="1600" dirty="0"/>
          </a:p>
          <a:p>
            <a:pPr indent="0" marL="0">
              <a:buNone/>
            </a:pPr>
            <a:r>
              <a:rPr lang="en-US" sz="1600" b="1" dirty="0">
                <a:solidFill>
                  <a:srgbClr val="1F1F1F"/>
                </a:solidFill>
              </a:rPr>
              <a:t>B. Faster CYP2D6 metabolism of the drug and lost effect — </a:t>
            </a:r>
            <a:r>
              <a:rPr lang="en-US" sz="1600" dirty="0">
                <a:solidFill>
                  <a:srgbClr val="1F1F1F"/>
                </a:solidFill>
              </a:rPr>
              <a:t>CYP2D6 variation affects antidepressants and opioids (S33).</a:t>
            </a:r>
            <a:endParaRPr lang="en-US" sz="1600" dirty="0"/>
          </a:p>
          <a:p>
            <a:pPr indent="0" marL="0">
              <a:buNone/>
            </a:pPr>
            <a:r>
              <a:rPr lang="en-US" sz="1600" b="1" dirty="0">
                <a:solidFill>
                  <a:srgbClr val="1F1F1F"/>
                </a:solidFill>
              </a:rPr>
              <a:t>D. Severe HLA-associated hypersensitivity to the drug — </a:t>
            </a:r>
            <a:r>
              <a:rPr lang="en-US" sz="1600" dirty="0">
                <a:solidFill>
                  <a:srgbClr val="1F1F1F"/>
                </a:solidFill>
              </a:rPr>
              <a:t>That is the HLA allele example (e.g., HLA-B*5801 with allopurinol) (S33, S36).</a:t>
            </a:r>
            <a:endParaRPr lang="en-US" sz="1600" dirty="0"/>
          </a:p>
          <a:p>
            <a:pPr indent="0" marL="0">
              <a:buNone/>
            </a:pPr>
            <a:r>
              <a:rPr lang="en-US" sz="1600" b="1" dirty="0">
                <a:solidFill>
                  <a:srgbClr val="1F1F1F"/>
                </a:solidFill>
              </a:rPr>
              <a:t>E. No concern, since genotype never affects therapy — </a:t>
            </a:r>
            <a:r>
              <a:rPr lang="en-US" sz="1600" dirty="0">
                <a:solidFill>
                  <a:srgbClr val="1F1F1F"/>
                </a:solidFill>
              </a:rPr>
              <a:t>Genotype is one input among several — it still matters (S34).</a:t>
            </a:r>
            <a:endParaRPr lang="en-US" sz="16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2F4F8A"/>
        </a:solidFill>
      </p:bgPr>
    </p:bg>
    <p:spTree>
      <p:nvGrpSpPr>
        <p:cNvPr id="1" name=""/>
        <p:cNvGrpSpPr/>
        <p:nvPr/>
      </p:nvGrpSpPr>
      <p:grpSpPr>
        <a:xfrm>
          <a:off x="0" y="0"/>
          <a:ext cx="0" cy="0"/>
          <a:chOff x="0" y="0"/>
          <a:chExt cx="0" cy="0"/>
        </a:xfrm>
      </p:grpSpPr>
      <p:sp>
        <p:nvSpPr>
          <p:cNvPr id="2" name="Text 0"/>
          <p:cNvSpPr txBox="1"/>
          <p:nvPr/>
        </p:nvSpPr>
        <p:spPr>
          <a:xfrm>
            <a:off x="548640" y="1463040"/>
            <a:ext cx="7315200" cy="365760"/>
          </a:xfrm>
          <a:prstGeom prst="rect">
            <a:avLst/>
          </a:prstGeom>
          <a:noFill/>
          <a:ln/>
        </p:spPr>
        <p:txBody>
          <a:bodyPr wrap="square" lIns="0" tIns="0" rIns="0" bIns="0" rtlCol="0" anchor="ctr"/>
          <a:lstStyle/>
          <a:p>
            <a:pPr indent="0" marL="0">
              <a:buNone/>
            </a:pPr>
            <a:r>
              <a:rPr lang="en-US" sz="1600" b="1" dirty="0">
                <a:solidFill>
                  <a:srgbClr val="D6E0F5"/>
                </a:solidFill>
              </a:rPr>
              <a:t>Topic 5 of 5</a:t>
            </a:r>
            <a:endParaRPr lang="en-US" sz="1600" dirty="0"/>
          </a:p>
        </p:txBody>
      </p:sp>
      <p:sp>
        <p:nvSpPr>
          <p:cNvPr id="3" name="Title"/>
          <p:cNvSpPr txBox="1"/>
          <p:nvPr/>
        </p:nvSpPr>
        <p:spPr>
          <a:xfrm>
            <a:off x="548640" y="1874520"/>
            <a:ext cx="11094415" cy="118872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Putting It All Together: Clinical Decision-Making</a:t>
            </a:r>
            <a:endParaRPr lang="en-US" sz="4400" dirty="0"/>
          </a:p>
        </p:txBody>
      </p:sp>
      <p:sp>
        <p:nvSpPr>
          <p:cNvPr id="4" name="Text 2"/>
          <p:cNvSpPr txBox="1"/>
          <p:nvPr/>
        </p:nvSpPr>
        <p:spPr>
          <a:xfrm>
            <a:off x="548640" y="3108960"/>
            <a:ext cx="9144000" cy="365760"/>
          </a:xfrm>
          <a:prstGeom prst="rect">
            <a:avLst/>
          </a:prstGeom>
          <a:noFill/>
          <a:ln/>
        </p:spPr>
        <p:txBody>
          <a:bodyPr wrap="square" lIns="0" tIns="0" rIns="0" bIns="0" rtlCol="0" anchor="ctr"/>
          <a:lstStyle/>
          <a:p>
            <a:pPr indent="0" marL="0">
              <a:buNone/>
            </a:pPr>
            <a:r>
              <a:rPr lang="en-US" sz="1800" dirty="0">
                <a:solidFill>
                  <a:srgbClr val="D6E0F5"/>
                </a:solidFill>
              </a:rPr>
              <a:t>Covers objectives: SO5 · IO1.3 · IO1.4 · IO1.5</a:t>
            </a:r>
            <a:endParaRPr lang="en-US" sz="1800" dirty="0"/>
          </a:p>
        </p:txBody>
      </p:sp>
      <p:sp>
        <p:nvSpPr>
          <p:cNvPr id="5" name="Shape 3"/>
          <p:cNvSpPr/>
          <p:nvPr/>
        </p:nvSpPr>
        <p:spPr>
          <a:xfrm>
            <a:off x="1338042" y="4297680"/>
            <a:ext cx="640080" cy="640080"/>
          </a:xfrm>
          <a:prstGeom prst="ellipse">
            <a:avLst/>
          </a:prstGeom>
          <a:solidFill>
            <a:srgbClr val="44546A"/>
          </a:solidFill>
          <a:ln w="1905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1493490" y="4453128"/>
            <a:ext cx="329184" cy="329184"/>
          </a:xfrm>
          <a:prstGeom prst="rect">
            <a:avLst/>
          </a:prstGeom>
        </p:spPr>
      </p:pic>
      <p:sp>
        <p:nvSpPr>
          <p:cNvPr id="7" name="Text 4"/>
          <p:cNvSpPr txBox="1"/>
          <p:nvPr/>
        </p:nvSpPr>
        <p:spPr>
          <a:xfrm>
            <a:off x="594360"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Key definitions</a:t>
            </a:r>
            <a:endParaRPr lang="en-US" sz="1200" dirty="0"/>
          </a:p>
        </p:txBody>
      </p:sp>
      <p:sp>
        <p:nvSpPr>
          <p:cNvPr id="8" name="Shape 5"/>
          <p:cNvSpPr/>
          <p:nvPr/>
        </p:nvSpPr>
        <p:spPr>
          <a:xfrm>
            <a:off x="3556925" y="4297680"/>
            <a:ext cx="640080" cy="640080"/>
          </a:xfrm>
          <a:prstGeom prst="ellipse">
            <a:avLst/>
          </a:prstGeom>
          <a:solidFill>
            <a:srgbClr val="7030A0"/>
          </a:solidFill>
          <a:ln w="1905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3712373" y="4453128"/>
            <a:ext cx="329184" cy="329184"/>
          </a:xfrm>
          <a:prstGeom prst="rect">
            <a:avLst/>
          </a:prstGeom>
        </p:spPr>
      </p:pic>
      <p:sp>
        <p:nvSpPr>
          <p:cNvPr id="10" name="Text 6"/>
          <p:cNvSpPr txBox="1"/>
          <p:nvPr/>
        </p:nvSpPr>
        <p:spPr>
          <a:xfrm>
            <a:off x="2813243"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How it works</a:t>
            </a:r>
            <a:endParaRPr lang="en-US" sz="1200" dirty="0"/>
          </a:p>
        </p:txBody>
      </p:sp>
      <p:sp>
        <p:nvSpPr>
          <p:cNvPr id="11" name="Shape 7"/>
          <p:cNvSpPr/>
          <p:nvPr/>
        </p:nvSpPr>
        <p:spPr>
          <a:xfrm>
            <a:off x="5775808" y="4297680"/>
            <a:ext cx="640080" cy="640080"/>
          </a:xfrm>
          <a:prstGeom prst="ellipse">
            <a:avLst/>
          </a:prstGeom>
          <a:solidFill>
            <a:srgbClr val="548235"/>
          </a:solidFill>
          <a:ln w="19050">
            <a:solidFill>
              <a:srgbClr val="FFFFFF"/>
            </a:solidFill>
            <a:prstDash val="solid"/>
          </a:ln>
        </p:spPr>
      </p:sp>
      <p:pic>
        <p:nvPicPr>
          <p:cNvPr id="12" name="Image 2" descr="preencoded.png">    </p:cNvPr>
          <p:cNvPicPr>
            <a:picLocks noChangeAspect="1"/>
          </p:cNvPicPr>
          <p:nvPr/>
        </p:nvPicPr>
        <p:blipFill>
          <a:blip r:embed="rId3"/>
          <a:stretch>
            <a:fillRect/>
          </a:stretch>
        </p:blipFill>
        <p:spPr>
          <a:xfrm>
            <a:off x="5931256" y="4453128"/>
            <a:ext cx="329184" cy="329184"/>
          </a:xfrm>
          <a:prstGeom prst="rect">
            <a:avLst/>
          </a:prstGeom>
        </p:spPr>
      </p:pic>
      <p:sp>
        <p:nvSpPr>
          <p:cNvPr id="13" name="Text 8"/>
          <p:cNvSpPr txBox="1"/>
          <p:nvPr/>
        </p:nvSpPr>
        <p:spPr>
          <a:xfrm>
            <a:off x="5032126"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Clinical relevance</a:t>
            </a:r>
            <a:endParaRPr lang="en-US" sz="1200" dirty="0"/>
          </a:p>
        </p:txBody>
      </p:sp>
      <p:sp>
        <p:nvSpPr>
          <p:cNvPr id="14" name="Shape 9"/>
          <p:cNvSpPr/>
          <p:nvPr/>
        </p:nvSpPr>
        <p:spPr>
          <a:xfrm>
            <a:off x="7994691" y="4297680"/>
            <a:ext cx="640080" cy="640080"/>
          </a:xfrm>
          <a:prstGeom prst="ellipse">
            <a:avLst/>
          </a:prstGeom>
          <a:solidFill>
            <a:srgbClr val="4472C4"/>
          </a:solidFill>
          <a:ln w="19050">
            <a:solidFill>
              <a:srgbClr val="FFFFFF"/>
            </a:solidFill>
            <a:prstDash val="solid"/>
          </a:ln>
        </p:spPr>
      </p:sp>
      <p:pic>
        <p:nvPicPr>
          <p:cNvPr id="15" name="Image 3" descr="preencoded.png">    </p:cNvPr>
          <p:cNvPicPr>
            <a:picLocks noChangeAspect="1"/>
          </p:cNvPicPr>
          <p:nvPr/>
        </p:nvPicPr>
        <p:blipFill>
          <a:blip r:embed="rId4"/>
          <a:stretch>
            <a:fillRect/>
          </a:stretch>
        </p:blipFill>
        <p:spPr>
          <a:xfrm>
            <a:off x="8150139" y="4453128"/>
            <a:ext cx="329184" cy="329184"/>
          </a:xfrm>
          <a:prstGeom prst="rect">
            <a:avLst/>
          </a:prstGeom>
        </p:spPr>
      </p:pic>
      <p:sp>
        <p:nvSpPr>
          <p:cNvPr id="16" name="Text 10"/>
          <p:cNvSpPr txBox="1"/>
          <p:nvPr/>
        </p:nvSpPr>
        <p:spPr>
          <a:xfrm>
            <a:off x="7251009"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Drugs named as examples</a:t>
            </a:r>
            <a:endParaRPr lang="en-US" sz="1200" dirty="0"/>
          </a:p>
        </p:txBody>
      </p:sp>
      <p:sp>
        <p:nvSpPr>
          <p:cNvPr id="17" name="Shape 11"/>
          <p:cNvSpPr/>
          <p:nvPr/>
        </p:nvSpPr>
        <p:spPr>
          <a:xfrm>
            <a:off x="10213574" y="4297680"/>
            <a:ext cx="640080" cy="640080"/>
          </a:xfrm>
          <a:prstGeom prst="ellipse">
            <a:avLst/>
          </a:prstGeom>
          <a:solidFill>
            <a:srgbClr val="C00000"/>
          </a:solidFill>
          <a:ln w="19050">
            <a:solidFill>
              <a:srgbClr val="FFFFFF"/>
            </a:solidFill>
            <a:prstDash val="solid"/>
          </a:ln>
        </p:spPr>
      </p:sp>
      <p:pic>
        <p:nvPicPr>
          <p:cNvPr id="18" name="Image 4" descr="preencoded.png">    </p:cNvPr>
          <p:cNvPicPr>
            <a:picLocks noChangeAspect="1"/>
          </p:cNvPicPr>
          <p:nvPr/>
        </p:nvPicPr>
        <p:blipFill>
          <a:blip r:embed="rId5"/>
          <a:stretch>
            <a:fillRect/>
          </a:stretch>
        </p:blipFill>
        <p:spPr>
          <a:xfrm>
            <a:off x="10369022" y="4453128"/>
            <a:ext cx="329184" cy="329184"/>
          </a:xfrm>
          <a:prstGeom prst="rect">
            <a:avLst/>
          </a:prstGeom>
        </p:spPr>
      </p:pic>
      <p:sp>
        <p:nvSpPr>
          <p:cNvPr id="19" name="Text 12"/>
          <p:cNvSpPr txBox="1"/>
          <p:nvPr/>
        </p:nvSpPr>
        <p:spPr>
          <a:xfrm>
            <a:off x="9469892" y="5029200"/>
            <a:ext cx="2127443" cy="640080"/>
          </a:xfrm>
          <a:prstGeom prst="rect">
            <a:avLst/>
          </a:prstGeom>
          <a:noFill/>
          <a:ln/>
        </p:spPr>
        <p:txBody>
          <a:bodyPr wrap="square" lIns="0" tIns="0" rIns="0" bIns="0" rtlCol="0" anchor="t"/>
          <a:lstStyle/>
          <a:p>
            <a:pPr algn="ctr" indent="0" marL="0">
              <a:buNone/>
            </a:pPr>
            <a:r>
              <a:rPr lang="en-US" sz="1200" dirty="0">
                <a:solidFill>
                  <a:srgbClr val="FFFFFF"/>
                </a:solidFill>
              </a:rPr>
              <a:t>Exam traps</a:t>
            </a:r>
            <a:endParaRPr lang="en-US" sz="1200" dirty="0"/>
          </a:p>
        </p:txBody>
      </p:sp>
      <p:sp>
        <p:nvSpPr>
          <p:cNvPr id="20" name="Text 1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D6E0F5"/>
                </a:solidFill>
              </a:rPr>
              <a:t>86</a:t>
            </a:r>
            <a:endParaRPr lang="en-US" sz="10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PUTTING IT ALL TOGETHER: CLINICAL DECISION-MAKING</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Key definitions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87</a:t>
            </a:r>
            <a:endParaRPr lang="en-US" sz="1000" dirty="0"/>
          </a:p>
        </p:txBody>
      </p:sp>
      <p:sp>
        <p:nvSpPr>
          <p:cNvPr id="7" name="Key definitions card"/>
          <p:cNvSpPr/>
          <p:nvPr/>
        </p:nvSpPr>
        <p:spPr>
          <a:xfrm>
            <a:off x="548640" y="1325880"/>
            <a:ext cx="11094415" cy="2386584"/>
          </a:xfrm>
          <a:prstGeom prst="roundRect">
            <a:avLst>
              <a:gd name="adj" fmla="val 4598"/>
            </a:avLst>
          </a:prstGeom>
          <a:solidFill>
            <a:srgbClr val="F2F4F7"/>
          </a:solidFill>
          <a:ln w="12700">
            <a:solidFill>
              <a:srgbClr val="F2F4F7"/>
            </a:solidFill>
            <a:prstDash val="solid"/>
          </a:ln>
        </p:spPr>
      </p:sp>
      <p:sp>
        <p:nvSpPr>
          <p:cNvPr id="8" name="Key definitions icon circle"/>
          <p:cNvSpPr/>
          <p:nvPr/>
        </p:nvSpPr>
        <p:spPr>
          <a:xfrm>
            <a:off x="777240" y="1508760"/>
            <a:ext cx="438912" cy="438912"/>
          </a:xfrm>
          <a:prstGeom prst="ellipse">
            <a:avLst/>
          </a:prstGeom>
          <a:solidFill>
            <a:srgbClr val="44546A"/>
          </a:solidFill>
          <a:ln w="12700">
            <a:solidFill>
              <a:srgbClr val="44546A"/>
            </a:solidFill>
            <a:prstDash val="solid"/>
          </a:ln>
        </p:spPr>
      </p:sp>
      <p:pic>
        <p:nvPicPr>
          <p:cNvPr id="9" name="Key definition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Key definitions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44546A"/>
                </a:solidFill>
              </a:rPr>
              <a:t>Key definitions</a:t>
            </a:r>
            <a:endParaRPr lang="en-US" sz="1800" dirty="0"/>
          </a:p>
        </p:txBody>
      </p:sp>
      <p:sp>
        <p:nvSpPr>
          <p:cNvPr id="11" name="Key definitions body"/>
          <p:cNvSpPr txBox="1"/>
          <p:nvPr/>
        </p:nvSpPr>
        <p:spPr>
          <a:xfrm>
            <a:off x="777240" y="2075688"/>
            <a:ext cx="10637215" cy="1517904"/>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From concepts to clinical decisions: one integrated pharmacology pathway — Dose → Absorption → Distribution → Receptor / Target → Effect, with Metabolism and Excretion clearing the drug.</a:t>
            </a:r>
            <a:r>
              <a:rPr lang="en-US" sz="1300" dirty="0">
                <a:solidFill>
                  <a:srgbClr val="666666"/>
                </a:solidFill>
              </a:rPr>
              <a:t>  S37; S38</a:t>
            </a:r>
            <a:endParaRPr lang="en-US" sz="1800" dirty="0"/>
          </a:p>
          <a:p>
            <a:pPr marL="228600" indent="-228600">
              <a:spcAft>
                <a:spcPts val="800"/>
              </a:spcAft>
              <a:buSzPct val="100000"/>
              <a:buChar char="•"/>
            </a:pPr>
            <a:r>
              <a:rPr lang="en-US" sz="1800" b="1" dirty="0">
                <a:solidFill>
                  <a:srgbClr val="1F1F1F"/>
                </a:solidFill>
              </a:rPr>
              <a:t>Every topic in this lecture is a stop somewhere along this pathway — use it as your mental checklist when you evaluate any drug.</a:t>
            </a:r>
            <a:r>
              <a:rPr lang="en-US" sz="1300" dirty="0">
                <a:solidFill>
                  <a:srgbClr val="666666"/>
                </a:solidFill>
              </a:rPr>
              <a:t>  S38</a:t>
            </a:r>
            <a:endParaRPr lang="en-US" sz="18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PUTTING IT ALL TOGETHER: CLINICAL DECISION-MAKING</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How it works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88</a:t>
            </a:r>
            <a:endParaRPr lang="en-US" sz="1000" dirty="0"/>
          </a:p>
        </p:txBody>
      </p:sp>
      <p:sp>
        <p:nvSpPr>
          <p:cNvPr id="7" name="How it works card"/>
          <p:cNvSpPr/>
          <p:nvPr/>
        </p:nvSpPr>
        <p:spPr>
          <a:xfrm>
            <a:off x="548640" y="1325880"/>
            <a:ext cx="11094415" cy="4050792"/>
          </a:xfrm>
          <a:prstGeom prst="roundRect">
            <a:avLst>
              <a:gd name="adj" fmla="val 2709"/>
            </a:avLst>
          </a:prstGeom>
          <a:solidFill>
            <a:srgbClr val="F2F4F7"/>
          </a:solidFill>
          <a:ln w="12700">
            <a:solidFill>
              <a:srgbClr val="F2F4F7"/>
            </a:solidFill>
            <a:prstDash val="solid"/>
          </a:ln>
        </p:spPr>
      </p:sp>
      <p:sp>
        <p:nvSpPr>
          <p:cNvPr id="8" name="How it works icon circle"/>
          <p:cNvSpPr/>
          <p:nvPr/>
        </p:nvSpPr>
        <p:spPr>
          <a:xfrm>
            <a:off x="777240" y="1508760"/>
            <a:ext cx="438912" cy="438912"/>
          </a:xfrm>
          <a:prstGeom prst="ellipse">
            <a:avLst/>
          </a:prstGeom>
          <a:solidFill>
            <a:srgbClr val="7030A0"/>
          </a:solidFill>
          <a:ln w="12700">
            <a:solidFill>
              <a:srgbClr val="7030A0"/>
            </a:solidFill>
            <a:prstDash val="solid"/>
          </a:ln>
        </p:spPr>
      </p:sp>
      <p:pic>
        <p:nvPicPr>
          <p:cNvPr id="9" name="How it work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How it works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7030A0"/>
                </a:solidFill>
              </a:rPr>
              <a:t>How it works</a:t>
            </a:r>
            <a:endParaRPr lang="en-US" sz="1800" dirty="0"/>
          </a:p>
        </p:txBody>
      </p:sp>
      <p:sp>
        <p:nvSpPr>
          <p:cNvPr id="11" name="How it works body"/>
          <p:cNvSpPr txBox="1"/>
          <p:nvPr/>
        </p:nvSpPr>
        <p:spPr>
          <a:xfrm>
            <a:off x="777240" y="2075688"/>
            <a:ext cx="10637215" cy="3182112"/>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Before you prescribe — the clinical decision-making checklist: Indication — is there a clear reason to treat?</a:t>
            </a:r>
            <a:r>
              <a:rPr lang="en-US" sz="1300" dirty="0">
                <a:solidFill>
                  <a:srgbClr val="666666"/>
                </a:solidFill>
              </a:rPr>
              <a:t>  S39</a:t>
            </a:r>
            <a:endParaRPr lang="en-US" sz="1800" dirty="0"/>
          </a:p>
          <a:p>
            <a:pPr marL="228600" indent="-228600">
              <a:spcAft>
                <a:spcPts val="800"/>
              </a:spcAft>
              <a:buSzPct val="100000"/>
              <a:buChar char="•"/>
            </a:pPr>
            <a:r>
              <a:rPr lang="en-US" sz="1800" dirty="0">
                <a:solidFill>
                  <a:srgbClr val="1F1F1F"/>
                </a:solidFill>
              </a:rPr>
              <a:t>Contraindications and allergies.</a:t>
            </a:r>
            <a:r>
              <a:rPr lang="en-US" sz="1300" dirty="0">
                <a:solidFill>
                  <a:srgbClr val="666666"/>
                </a:solidFill>
              </a:rPr>
              <a:t>  S39</a:t>
            </a:r>
            <a:endParaRPr lang="en-US" sz="1800" dirty="0"/>
          </a:p>
          <a:p>
            <a:pPr marL="228600" indent="-228600">
              <a:spcAft>
                <a:spcPts val="800"/>
              </a:spcAft>
              <a:buSzPct val="100000"/>
              <a:buChar char="•"/>
            </a:pPr>
            <a:r>
              <a:rPr lang="en-US" sz="1800" dirty="0">
                <a:solidFill>
                  <a:srgbClr val="1F1F1F"/>
                </a:solidFill>
              </a:rPr>
              <a:t>Renal and hepatic function.</a:t>
            </a:r>
            <a:r>
              <a:rPr lang="en-US" sz="1300" dirty="0">
                <a:solidFill>
                  <a:srgbClr val="666666"/>
                </a:solidFill>
              </a:rPr>
              <a:t>  S39</a:t>
            </a:r>
            <a:endParaRPr lang="en-US" sz="1800" dirty="0"/>
          </a:p>
          <a:p>
            <a:pPr marL="228600" indent="-228600">
              <a:spcAft>
                <a:spcPts val="800"/>
              </a:spcAft>
              <a:buSzPct val="100000"/>
              <a:buChar char="•"/>
            </a:pPr>
            <a:r>
              <a:rPr lang="en-US" sz="1800" dirty="0">
                <a:solidFill>
                  <a:srgbClr val="1F1F1F"/>
                </a:solidFill>
              </a:rPr>
              <a:t>Drug interactions (including CYP450).</a:t>
            </a:r>
            <a:r>
              <a:rPr lang="en-US" sz="1300" dirty="0">
                <a:solidFill>
                  <a:srgbClr val="666666"/>
                </a:solidFill>
              </a:rPr>
              <a:t>  S39</a:t>
            </a:r>
            <a:endParaRPr lang="en-US" sz="1800" dirty="0"/>
          </a:p>
          <a:p>
            <a:pPr marL="228600" indent="-228600">
              <a:spcAft>
                <a:spcPts val="800"/>
              </a:spcAft>
              <a:buSzPct val="100000"/>
              <a:buChar char="•"/>
            </a:pPr>
            <a:r>
              <a:rPr lang="en-US" sz="1800" dirty="0">
                <a:solidFill>
                  <a:srgbClr val="1F1F1F"/>
                </a:solidFill>
              </a:rPr>
              <a:t>Age, pregnancy, and other patient-specific factors.</a:t>
            </a:r>
            <a:r>
              <a:rPr lang="en-US" sz="1300" dirty="0">
                <a:solidFill>
                  <a:srgbClr val="666666"/>
                </a:solidFill>
              </a:rPr>
              <a:t>  S39</a:t>
            </a:r>
            <a:endParaRPr lang="en-US" sz="1800" dirty="0"/>
          </a:p>
          <a:p>
            <a:pPr marL="228600" indent="-228600">
              <a:spcAft>
                <a:spcPts val="800"/>
              </a:spcAft>
              <a:buSzPct val="100000"/>
              <a:buChar char="•"/>
            </a:pPr>
            <a:r>
              <a:rPr lang="en-US" sz="1800" dirty="0">
                <a:solidFill>
                  <a:srgbClr val="1F1F1F"/>
                </a:solidFill>
              </a:rPr>
              <a:t>Correct dose, route, and monitoring plan.</a:t>
            </a:r>
            <a:r>
              <a:rPr lang="en-US" sz="1300" dirty="0">
                <a:solidFill>
                  <a:srgbClr val="666666"/>
                </a:solidFill>
              </a:rPr>
              <a:t>  S39</a:t>
            </a:r>
            <a:endParaRPr lang="en-US" sz="1800" dirty="0"/>
          </a:p>
          <a:p>
            <a:pPr marL="228600" indent="-228600">
              <a:spcAft>
                <a:spcPts val="800"/>
              </a:spcAft>
              <a:buSzPct val="100000"/>
              <a:buChar char="•"/>
            </a:pPr>
            <a:r>
              <a:rPr lang="en-US" sz="1800" dirty="0">
                <a:solidFill>
                  <a:srgbClr val="1F1F1F"/>
                </a:solidFill>
              </a:rPr>
              <a:t>Memorize this list — it is exactly the checklist applied in the MSK cases (NSAID in CKD, methotrexate in pregnancy, etc.).</a:t>
            </a:r>
            <a:r>
              <a:rPr lang="en-US" sz="1300" dirty="0">
                <a:solidFill>
                  <a:srgbClr val="666666"/>
                </a:solidFill>
              </a:rPr>
              <a:t>  S39 (notes)</a:t>
            </a:r>
            <a:endParaRPr lang="en-US" sz="18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PUTTING IT ALL TOGETHER: CLINICAL DECISION-MAKING</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Clinical relevance</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89</a:t>
            </a:r>
            <a:endParaRPr lang="en-US" sz="1000" dirty="0"/>
          </a:p>
        </p:txBody>
      </p:sp>
      <p:sp>
        <p:nvSpPr>
          <p:cNvPr id="7" name="Clinical relevance (1/2) card"/>
          <p:cNvSpPr/>
          <p:nvPr/>
        </p:nvSpPr>
        <p:spPr>
          <a:xfrm>
            <a:off x="548640" y="1325880"/>
            <a:ext cx="11094415" cy="4000500"/>
          </a:xfrm>
          <a:prstGeom prst="roundRect">
            <a:avLst>
              <a:gd name="adj" fmla="val 2743"/>
            </a:avLst>
          </a:prstGeom>
          <a:solidFill>
            <a:srgbClr val="F2F4F7"/>
          </a:solidFill>
          <a:ln w="12700">
            <a:solidFill>
              <a:srgbClr val="F2F4F7"/>
            </a:solidFill>
            <a:prstDash val="solid"/>
          </a:ln>
        </p:spPr>
      </p:sp>
      <p:sp>
        <p:nvSpPr>
          <p:cNvPr id="8" name="Clinical relevance (1/2) icon circle"/>
          <p:cNvSpPr/>
          <p:nvPr/>
        </p:nvSpPr>
        <p:spPr>
          <a:xfrm>
            <a:off x="777240" y="1508760"/>
            <a:ext cx="438912" cy="438912"/>
          </a:xfrm>
          <a:prstGeom prst="ellipse">
            <a:avLst/>
          </a:prstGeom>
          <a:solidFill>
            <a:srgbClr val="548235"/>
          </a:solidFill>
          <a:ln w="12700">
            <a:solidFill>
              <a:srgbClr val="548235"/>
            </a:solidFill>
            <a:prstDash val="solid"/>
          </a:ln>
        </p:spPr>
      </p:sp>
      <p:pic>
        <p:nvPicPr>
          <p:cNvPr id="9" name="Clinical relevance (1/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Clinical relevance (1/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548235"/>
                </a:solidFill>
              </a:rPr>
              <a:t>Clinical relevance (1/2)</a:t>
            </a:r>
            <a:endParaRPr lang="en-US" sz="1800" dirty="0"/>
          </a:p>
        </p:txBody>
      </p:sp>
      <p:sp>
        <p:nvSpPr>
          <p:cNvPr id="11" name="Clinical relevance (1/2) body"/>
          <p:cNvSpPr txBox="1"/>
          <p:nvPr/>
        </p:nvSpPr>
        <p:spPr>
          <a:xfrm>
            <a:off x="777240" y="2075688"/>
            <a:ext cx="10637215" cy="313182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CYP interaction in action: a patient stable on a CYP3A4-substrate medication starts a potent CYP3A4 inhibitor. </a:t>
            </a:r>
            <a:r>
              <a:rPr lang="en-US" sz="1800" b="1" dirty="0">
                <a:solidFill>
                  <a:srgbClr val="1F1F1F"/>
                </a:solidFill>
              </a:rPr>
              <a:t>What happens to the first drug's level, and what would you watch for clinically?</a:t>
            </a:r>
            <a:r>
              <a:rPr lang="en-US" sz="1300" dirty="0">
                <a:solidFill>
                  <a:srgbClr val="666666"/>
                </a:solidFill>
              </a:rPr>
              <a:t>  S40</a:t>
            </a:r>
            <a:endParaRPr lang="en-US" sz="1800" dirty="0"/>
          </a:p>
          <a:p>
            <a:pPr marL="228600" indent="-228600">
              <a:spcAft>
                <a:spcPts val="800"/>
              </a:spcAft>
              <a:buSzPct val="100000"/>
              <a:buChar char="•"/>
            </a:pPr>
            <a:r>
              <a:rPr lang="en-US" sz="1800" b="1" dirty="0">
                <a:solidFill>
                  <a:srgbClr val="1F1F1F"/>
                </a:solidFill>
              </a:rPr>
              <a:t>Clinical pearl: always check for CYP450 interactions before adding a new drug to an existing regimen — one of the most preventable causes of toxicity.</a:t>
            </a:r>
            <a:r>
              <a:rPr lang="en-US" sz="1300" dirty="0">
                <a:solidFill>
                  <a:srgbClr val="666666"/>
                </a:solidFill>
              </a:rPr>
              <a:t>  S40; S43</a:t>
            </a:r>
            <a:endParaRPr lang="en-US" sz="1800" dirty="0"/>
          </a:p>
          <a:p>
            <a:pPr marL="228600" indent="-228600">
              <a:spcAft>
                <a:spcPts val="800"/>
              </a:spcAft>
              <a:buSzPct val="100000"/>
              <a:buChar char="•"/>
            </a:pPr>
            <a:r>
              <a:rPr lang="en-US" sz="1800" dirty="0">
                <a:solidFill>
                  <a:srgbClr val="1F1F1F"/>
                </a:solidFill>
              </a:rPr>
              <a:t>Agonist or antagonist? A new drug binds the same receptor as a home medication, and the home medication's effect weakens. </a:t>
            </a:r>
            <a:r>
              <a:rPr lang="en-US" sz="1800" b="1" dirty="0">
                <a:solidFill>
                  <a:srgbClr val="1F1F1F"/>
                </a:solidFill>
              </a:rPr>
              <a:t>Is the new drug most likely a competitive antagonist, and how could you confirm it pharmacologically?</a:t>
            </a:r>
            <a:r>
              <a:rPr lang="en-US" sz="1300" dirty="0">
                <a:solidFill>
                  <a:srgbClr val="666666"/>
                </a:solidFill>
              </a:rPr>
              <a:t>  S41</a:t>
            </a:r>
            <a:endParaRPr lang="en-US" sz="1800" dirty="0"/>
          </a:p>
          <a:p>
            <a:pPr marL="228600" indent="-228600">
              <a:spcAft>
                <a:spcPts val="800"/>
              </a:spcAft>
              <a:buSzPct val="100000"/>
              <a:buChar char="•"/>
            </a:pPr>
            <a:r>
              <a:rPr lang="en-US" sz="1800" b="1" dirty="0">
                <a:solidFill>
                  <a:srgbClr val="1F1F1F"/>
                </a:solidFill>
              </a:rPr>
              <a:t>Clinical pearl: a competitive antagonist can be overcome by increasing the agonist dose — if raising the home medication's dose restores the effect, that supports competitive (rather than irreversible) antagonism.</a:t>
            </a:r>
            <a:r>
              <a:rPr lang="en-US" sz="1300" dirty="0">
                <a:solidFill>
                  <a:srgbClr val="666666"/>
                </a:solidFill>
              </a:rPr>
              <a:t>  S41</a:t>
            </a:r>
            <a:endParaRPr lang="en-US" sz="18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PUTTING IT ALL TOGETHER: CLINICAL DECISION-MAKING</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Clinical relevance (cont.)</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90</a:t>
            </a:r>
            <a:endParaRPr lang="en-US" sz="1000" dirty="0"/>
          </a:p>
        </p:txBody>
      </p:sp>
      <p:sp>
        <p:nvSpPr>
          <p:cNvPr id="7" name="Clinical relevance (2/2) card"/>
          <p:cNvSpPr/>
          <p:nvPr/>
        </p:nvSpPr>
        <p:spPr>
          <a:xfrm>
            <a:off x="548640" y="1325880"/>
            <a:ext cx="11094415" cy="4558284"/>
          </a:xfrm>
          <a:prstGeom prst="roundRect">
            <a:avLst>
              <a:gd name="adj" fmla="val 2407"/>
            </a:avLst>
          </a:prstGeom>
          <a:solidFill>
            <a:srgbClr val="F2F4F7"/>
          </a:solidFill>
          <a:ln w="12700">
            <a:solidFill>
              <a:srgbClr val="F2F4F7"/>
            </a:solidFill>
            <a:prstDash val="solid"/>
          </a:ln>
        </p:spPr>
      </p:sp>
      <p:sp>
        <p:nvSpPr>
          <p:cNvPr id="8" name="Clinical relevance (2/2) icon circle"/>
          <p:cNvSpPr/>
          <p:nvPr/>
        </p:nvSpPr>
        <p:spPr>
          <a:xfrm>
            <a:off x="777240" y="1508760"/>
            <a:ext cx="438912" cy="438912"/>
          </a:xfrm>
          <a:prstGeom prst="ellipse">
            <a:avLst/>
          </a:prstGeom>
          <a:solidFill>
            <a:srgbClr val="548235"/>
          </a:solidFill>
          <a:ln w="12700">
            <a:solidFill>
              <a:srgbClr val="548235"/>
            </a:solidFill>
            <a:prstDash val="solid"/>
          </a:ln>
        </p:spPr>
      </p:sp>
      <p:pic>
        <p:nvPicPr>
          <p:cNvPr id="9" name="Clinical relevance (2/2)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Clinical relevance (2/2)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548235"/>
                </a:solidFill>
              </a:rPr>
              <a:t>Clinical relevance (2/2)</a:t>
            </a:r>
            <a:endParaRPr lang="en-US" sz="1800" dirty="0"/>
          </a:p>
        </p:txBody>
      </p:sp>
      <p:sp>
        <p:nvSpPr>
          <p:cNvPr id="11" name="Clinical relevance (2/2) body"/>
          <p:cNvSpPr txBox="1"/>
          <p:nvPr/>
        </p:nvSpPr>
        <p:spPr>
          <a:xfrm>
            <a:off x="777240" y="2075688"/>
            <a:ext cx="10637215" cy="3689604"/>
          </a:xfrm>
          <a:prstGeom prst="rect">
            <a:avLst/>
          </a:prstGeom>
          <a:noFill/>
          <a:ln/>
        </p:spPr>
        <p:txBody>
          <a:bodyPr wrap="square" lIns="0" tIns="0" rIns="0" bIns="0" rtlCol="0" anchor="t"/>
          <a:lstStyle/>
          <a:p>
            <a:pPr marL="228600" indent="-228600">
              <a:spcAft>
                <a:spcPts val="800"/>
              </a:spcAft>
              <a:buSzPct val="100000"/>
              <a:buChar char="•"/>
            </a:pPr>
            <a:r>
              <a:rPr lang="en-US" sz="1400" b="1" dirty="0">
                <a:solidFill>
                  <a:srgbClr val="000000"/>
                </a:solidFill>
                <a:highlight>
                  <a:srgbClr val="9FE0D8"/>
                </a:highlight>
              </a:rPr>
              <a:t> SG </a:t>
            </a:r>
            <a:r>
              <a:rPr lang="en-US" sz="1800" dirty="0">
                <a:solidFill>
                  <a:srgbClr val="000000"/>
                </a:solidFill>
              </a:rPr>
              <a:t> </a:t>
            </a:r>
            <a:r>
              <a:rPr lang="en-US" sz="1800" dirty="0">
                <a:solidFill>
                  <a:srgbClr val="1F1F1F"/>
                </a:solidFill>
              </a:rPr>
              <a:t>Study-guide case: 68-year-old woman, stage 4 CKD (eGFR 24 mL/min), starting a narrow-TI oral antiarrhythmic eliminated mainly unchanged by the kidney; she started a strong CYP3A4 inhibitor 3 weeks ago.</a:t>
            </a:r>
            <a:r>
              <a:rPr lang="en-US" sz="1300" dirty="0">
                <a:solidFill>
                  <a:srgbClr val="666666"/>
                </a:solidFill>
              </a:rPr>
              <a:t>  SG U1-S</a:t>
            </a:r>
            <a:endParaRPr lang="en-US" sz="1400" dirty="0"/>
          </a:p>
          <a:p>
            <a:pPr marL="228600" indent="-228600">
              <a:spcAft>
                <a:spcPts val="800"/>
              </a:spcAft>
              <a:buSzPct val="100000"/>
              <a:buChar char="•"/>
            </a:pPr>
            <a:r>
              <a:rPr lang="en-US" sz="1400" b="1" dirty="0">
                <a:solidFill>
                  <a:srgbClr val="000000"/>
                </a:solidFill>
                <a:highlight>
                  <a:srgbClr val="9FE0D8"/>
                </a:highlight>
              </a:rPr>
              <a:t> SG </a:t>
            </a:r>
            <a:r>
              <a:rPr lang="en-US" sz="1800" dirty="0">
                <a:solidFill>
                  <a:srgbClr val="000000"/>
                </a:solidFill>
              </a:rPr>
              <a:t> </a:t>
            </a:r>
            <a:r>
              <a:rPr lang="en-US" sz="1800" dirty="0">
                <a:solidFill>
                  <a:srgbClr val="1F1F1F"/>
                </a:solidFill>
              </a:rPr>
              <a:t>Two concerns: reduced renal clearance from CKD will raise the antiarrhythmic's concentration and prolong its half-life regardless of the new drug; separately, if it has any hepatic/CYP3A4 component, the CYP3A4 inhibitor would compound accumulation further.</a:t>
            </a:r>
            <a:r>
              <a:rPr lang="en-US" sz="1300" dirty="0">
                <a:solidFill>
                  <a:srgbClr val="666666"/>
                </a:solidFill>
              </a:rPr>
              <a:t>  SG U1-S</a:t>
            </a:r>
            <a:endParaRPr lang="en-US" sz="1400" dirty="0"/>
          </a:p>
          <a:p>
            <a:pPr marL="228600" indent="-228600">
              <a:spcAft>
                <a:spcPts val="800"/>
              </a:spcAft>
              <a:buSzPct val="100000"/>
              <a:buChar char="•"/>
            </a:pPr>
            <a:r>
              <a:rPr lang="en-US" sz="1400" b="1" dirty="0">
                <a:solidFill>
                  <a:srgbClr val="000000"/>
                </a:solidFill>
                <a:highlight>
                  <a:srgbClr val="9FE0D8"/>
                </a:highlight>
              </a:rPr>
              <a:t> SG </a:t>
            </a:r>
            <a:r>
              <a:rPr lang="en-US" sz="1800" dirty="0">
                <a:solidFill>
                  <a:srgbClr val="000000"/>
                </a:solidFill>
              </a:rPr>
              <a:t> </a:t>
            </a:r>
            <a:r>
              <a:rPr lang="en-US" sz="1800" dirty="0">
                <a:solidFill>
                  <a:srgbClr val="1F1F1F"/>
                </a:solidFill>
              </a:rPr>
              <a:t>Before dispensing: check eGFR/CrCl, consider a lower dose or extended interval, and closely monitor renal function and signs of toxicity (arrhythmia worsening, other drug-specific toxicity) after starting.</a:t>
            </a:r>
            <a:r>
              <a:rPr lang="en-US" sz="1300" dirty="0">
                <a:solidFill>
                  <a:srgbClr val="666666"/>
                </a:solidFill>
              </a:rPr>
              <a:t>  SG U1-S</a:t>
            </a:r>
            <a:endParaRPr lang="en-US" sz="1400" dirty="0"/>
          </a:p>
          <a:p>
            <a:pPr marL="228600" indent="-228600">
              <a:spcAft>
                <a:spcPts val="800"/>
              </a:spcAft>
              <a:buSzPct val="100000"/>
              <a:buChar char="•"/>
            </a:pPr>
            <a:r>
              <a:rPr lang="en-US" sz="1400" b="1" dirty="0">
                <a:solidFill>
                  <a:srgbClr val="000000"/>
                </a:solidFill>
                <a:highlight>
                  <a:srgbClr val="9FE0D8"/>
                </a:highlight>
              </a:rPr>
              <a:t> SG </a:t>
            </a:r>
            <a:r>
              <a:rPr lang="en-US" sz="1800" dirty="0">
                <a:solidFill>
                  <a:srgbClr val="000000"/>
                </a:solidFill>
              </a:rPr>
              <a:t> </a:t>
            </a:r>
            <a:r>
              <a:rPr lang="en-US" sz="1800" dirty="0">
                <a:solidFill>
                  <a:srgbClr val="1F1F1F"/>
                </a:solidFill>
              </a:rPr>
              <a:t>If the drug were instead cleared by the liver via CYP3A4: the direct renal-clearance concern becomes less central (though CKD can still indirectly affect hepatic drug handling), and the CYP3A4 interaction becomes the dominant concern.</a:t>
            </a:r>
            <a:r>
              <a:rPr lang="en-US" sz="1300" dirty="0">
                <a:solidFill>
                  <a:srgbClr val="666666"/>
                </a:solidFill>
              </a:rPr>
              <a:t>  SG U1-S</a:t>
            </a:r>
            <a:endParaRPr lang="en-US" sz="14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PUTTING IT ALL TOGETHER: CLINICAL DECISION-MAKING</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Drugs named as examples · Exam traps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91</a:t>
            </a:r>
            <a:endParaRPr lang="en-US" sz="1000" dirty="0"/>
          </a:p>
        </p:txBody>
      </p:sp>
      <p:sp>
        <p:nvSpPr>
          <p:cNvPr id="7" name="Drugs named as examples card"/>
          <p:cNvSpPr/>
          <p:nvPr/>
        </p:nvSpPr>
        <p:spPr>
          <a:xfrm>
            <a:off x="548640" y="1325880"/>
            <a:ext cx="5410048" cy="4727448"/>
          </a:xfrm>
          <a:prstGeom prst="roundRect">
            <a:avLst>
              <a:gd name="adj" fmla="val 2321"/>
            </a:avLst>
          </a:prstGeom>
          <a:solidFill>
            <a:srgbClr val="F2F4F7"/>
          </a:solidFill>
          <a:ln w="12700">
            <a:solidFill>
              <a:srgbClr val="F2F4F7"/>
            </a:solidFill>
            <a:prstDash val="solid"/>
          </a:ln>
        </p:spPr>
      </p:sp>
      <p:sp>
        <p:nvSpPr>
          <p:cNvPr id="8" name="Drugs named as examples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9" name="Drugs named as example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Drugs named as examples heading"/>
          <p:cNvSpPr txBox="1"/>
          <p:nvPr/>
        </p:nvSpPr>
        <p:spPr>
          <a:xfrm>
            <a:off x="1353312" y="1508760"/>
            <a:ext cx="4404208" cy="438912"/>
          </a:xfrm>
          <a:prstGeom prst="rect">
            <a:avLst/>
          </a:prstGeom>
          <a:noFill/>
          <a:ln/>
        </p:spPr>
        <p:txBody>
          <a:bodyPr wrap="square" lIns="0" tIns="0" rIns="0" bIns="0" rtlCol="0" anchor="ctr"/>
          <a:lstStyle/>
          <a:p>
            <a:pPr indent="0" marL="0">
              <a:buNone/>
            </a:pPr>
            <a:r>
              <a:rPr lang="en-US" sz="1800" b="1" dirty="0">
                <a:solidFill>
                  <a:srgbClr val="4472C4"/>
                </a:solidFill>
              </a:rPr>
              <a:t>Drugs named as examples</a:t>
            </a:r>
            <a:endParaRPr lang="en-US" sz="1800" dirty="0"/>
          </a:p>
        </p:txBody>
      </p:sp>
      <p:sp>
        <p:nvSpPr>
          <p:cNvPr id="11" name="Drugs named as examples body"/>
          <p:cNvSpPr txBox="1"/>
          <p:nvPr/>
        </p:nvSpPr>
        <p:spPr>
          <a:xfrm>
            <a:off x="777240" y="2075688"/>
            <a:ext cx="4952848" cy="3858768"/>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Not covered in materials — the integrated vignettes use unnamed drugs ("a CYP3A4-substrate medication," "a home medication").</a:t>
            </a:r>
            <a:r>
              <a:rPr lang="en-US" sz="1300" dirty="0">
                <a:solidFill>
                  <a:srgbClr val="666666"/>
                </a:solidFill>
              </a:rPr>
              <a:t>  S40; S41</a:t>
            </a:r>
            <a:endParaRPr lang="en-US" sz="1800" dirty="0"/>
          </a:p>
        </p:txBody>
      </p:sp>
      <p:sp>
        <p:nvSpPr>
          <p:cNvPr id="12" name="Exam traps card"/>
          <p:cNvSpPr/>
          <p:nvPr/>
        </p:nvSpPr>
        <p:spPr>
          <a:xfrm>
            <a:off x="6233008" y="1325880"/>
            <a:ext cx="5410048" cy="4727448"/>
          </a:xfrm>
          <a:prstGeom prst="roundRect">
            <a:avLst>
              <a:gd name="adj" fmla="val 2321"/>
            </a:avLst>
          </a:prstGeom>
          <a:solidFill>
            <a:srgbClr val="F2F4F7"/>
          </a:solidFill>
          <a:ln w="12700">
            <a:solidFill>
              <a:srgbClr val="F2F4F7"/>
            </a:solidFill>
            <a:prstDash val="solid"/>
          </a:ln>
        </p:spPr>
      </p:sp>
      <p:sp>
        <p:nvSpPr>
          <p:cNvPr id="13" name="Exam traps icon circle"/>
          <p:cNvSpPr/>
          <p:nvPr/>
        </p:nvSpPr>
        <p:spPr>
          <a:xfrm>
            <a:off x="6461608" y="1508760"/>
            <a:ext cx="438912" cy="438912"/>
          </a:xfrm>
          <a:prstGeom prst="ellipse">
            <a:avLst/>
          </a:prstGeom>
          <a:solidFill>
            <a:srgbClr val="C00000"/>
          </a:solidFill>
          <a:ln w="12700">
            <a:solidFill>
              <a:srgbClr val="C00000"/>
            </a:solidFill>
            <a:prstDash val="solid"/>
          </a:ln>
        </p:spPr>
      </p:sp>
      <p:pic>
        <p:nvPicPr>
          <p:cNvPr id="14" name="Exam traps icon" descr="preencoded.png">    </p:cNvPr>
          <p:cNvPicPr>
            <a:picLocks noChangeAspect="1"/>
          </p:cNvPicPr>
          <p:nvPr/>
        </p:nvPicPr>
        <p:blipFill>
          <a:blip r:embed="rId2"/>
          <a:stretch>
            <a:fillRect/>
          </a:stretch>
        </p:blipFill>
        <p:spPr>
          <a:xfrm>
            <a:off x="6562192" y="1609344"/>
            <a:ext cx="237744" cy="237744"/>
          </a:xfrm>
          <a:prstGeom prst="rect">
            <a:avLst/>
          </a:prstGeom>
        </p:spPr>
      </p:pic>
      <p:sp>
        <p:nvSpPr>
          <p:cNvPr id="15" name="Exam traps heading"/>
          <p:cNvSpPr txBox="1"/>
          <p:nvPr/>
        </p:nvSpPr>
        <p:spPr>
          <a:xfrm>
            <a:off x="7037680" y="1508760"/>
            <a:ext cx="4404208" cy="438912"/>
          </a:xfrm>
          <a:prstGeom prst="rect">
            <a:avLst/>
          </a:prstGeom>
          <a:noFill/>
          <a:ln/>
        </p:spPr>
        <p:txBody>
          <a:bodyPr wrap="square" lIns="0" tIns="0" rIns="0" bIns="0" rtlCol="0" anchor="ctr"/>
          <a:lstStyle/>
          <a:p>
            <a:pPr indent="0" marL="0">
              <a:buNone/>
            </a:pPr>
            <a:r>
              <a:rPr lang="en-US" sz="1800" b="1" dirty="0">
                <a:solidFill>
                  <a:srgbClr val="C00000"/>
                </a:solidFill>
              </a:rPr>
              <a:t>Exam traps</a:t>
            </a:r>
            <a:endParaRPr lang="en-US" sz="1800" dirty="0"/>
          </a:p>
        </p:txBody>
      </p:sp>
      <p:sp>
        <p:nvSpPr>
          <p:cNvPr id="16" name="Exam traps body"/>
          <p:cNvSpPr txBox="1"/>
          <p:nvPr/>
        </p:nvSpPr>
        <p:spPr>
          <a:xfrm>
            <a:off x="6461608" y="2075688"/>
            <a:ext cx="4952848" cy="3858768"/>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The single check most aimed at preventing a toxic, predictable drug-drug interaction is reviewing CYP450 interactions — not brand name, chemical name, or half-life alone.</a:t>
            </a:r>
            <a:r>
              <a:rPr lang="en-US" sz="1300" dirty="0">
                <a:solidFill>
                  <a:srgbClr val="666666"/>
                </a:solidFill>
              </a:rPr>
              <a:t>  S42-43</a:t>
            </a:r>
            <a:endParaRPr lang="en-US" sz="1800" dirty="0"/>
          </a:p>
          <a:p>
            <a:pPr marL="228600" indent="-228600">
              <a:spcAft>
                <a:spcPts val="800"/>
              </a:spcAft>
              <a:buSzPct val="100000"/>
              <a:buChar char="•"/>
            </a:pPr>
            <a:r>
              <a:rPr lang="en-US" sz="1800" dirty="0">
                <a:solidFill>
                  <a:srgbClr val="1F1F1F"/>
                </a:solidFill>
              </a:rPr>
              <a:t>Weaker home-medication effect + restored by a higher dose = competitive; not restored = irreversible.</a:t>
            </a:r>
            <a:r>
              <a:rPr lang="en-US" sz="1300" dirty="0">
                <a:solidFill>
                  <a:srgbClr val="666666"/>
                </a:solidFill>
              </a:rPr>
              <a:t>  S41</a:t>
            </a:r>
            <a:endParaRPr lang="en-US" sz="1800" dirty="0"/>
          </a:p>
          <a:p>
            <a:pPr marL="228600" indent="-228600">
              <a:spcAft>
                <a:spcPts val="800"/>
              </a:spcAft>
              <a:buSzPct val="100000"/>
              <a:buChar char="•"/>
            </a:pPr>
            <a:r>
              <a:rPr lang="en-US" sz="1800" dirty="0">
                <a:solidFill>
                  <a:srgbClr val="1F1F1F"/>
                </a:solidFill>
              </a:rPr>
              <a:t>Reviewing indication, contraindications, renal/hepatic function, interactions, and monitoring = the clinical decision-making framework — not pharmacogenomic testing or Phase IV surveillance.</a:t>
            </a:r>
            <a:r>
              <a:rPr lang="en-US" sz="1300" dirty="0">
                <a:solidFill>
                  <a:srgbClr val="666666"/>
                </a:solidFill>
              </a:rPr>
              <a:t>  S47-48</a:t>
            </a:r>
            <a:endParaRPr lang="en-US" sz="18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PUTTING IT ALL TOGETHER: CLINICAL DECISION-MAKING</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2600" b="1" dirty="0">
                <a:solidFill>
                  <a:srgbClr val="1F1F1F"/>
                </a:solidFill>
                <a:latin typeface="Calibri" pitchFamily="34" charset="0"/>
                <a:ea typeface="Calibri" pitchFamily="34" charset="-122"/>
                <a:cs typeface="Calibri" pitchFamily="34" charset="-120"/>
              </a:rPr>
              <a:t>Compare: Key takeaways: the toolkit for every drug class</a:t>
            </a:r>
            <a:endParaRPr lang="en-US" sz="26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92</a:t>
            </a:r>
            <a:endParaRPr lang="en-US" sz="1000" dirty="0"/>
          </a:p>
        </p:txBody>
      </p:sp>
      <p:graphicFrame>
        <p:nvGraphicFramePr>
          <p:cNvPr id="93"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8716975"/>
              </a:tblGrid>
              <a:tr h="0">
                <a:tc>
                  <a:txBody>
                    <a:bodyPr/>
                    <a:lstStyle/>
                    <a:p>
                      <a:pPr indent="0" marL="0">
                        <a:buNone/>
                      </a:pPr>
                      <a:r>
                        <a:rPr lang="en-US" sz="1600" b="1" dirty="0">
                          <a:solidFill>
                            <a:srgbClr val="FFFFFF"/>
                          </a:solidFill>
                        </a:rPr>
                        <a:t>#</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c>
                  <a:txBody>
                    <a:bodyPr/>
                    <a:lstStyle/>
                    <a:p>
                      <a:pPr indent="0" marL="0">
                        <a:buNone/>
                      </a:pPr>
                      <a:r>
                        <a:rPr lang="en-US" sz="1600" b="1" dirty="0">
                          <a:solidFill>
                            <a:srgbClr val="FFFFFF"/>
                          </a:solidFill>
                        </a:rPr>
                        <a:t>Idea</a:t>
                      </a:r>
                      <a:endParaRPr lang="en-US" sz="16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4472C4"/>
                    </a:solidFill>
                  </a:tcPr>
                </a:tc>
              </a:tr>
              <a:tr h="0">
                <a:tc>
                  <a:txBody>
                    <a:bodyPr/>
                    <a:lstStyle/>
                    <a:p>
                      <a:pPr indent="0" marL="0">
                        <a:buNone/>
                      </a:pPr>
                      <a:r>
                        <a:rPr lang="en-US" sz="1600" b="1" dirty="0">
                          <a:solidFill>
                            <a:srgbClr val="1F1F1F"/>
                          </a:solidFill>
                        </a:rPr>
                        <a:t>1</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Pharmacodynamics = what the drug does to the body (receptors, potency, efficacy).</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2</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Pharmacokinetics = what the body does to the drug (ADME).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3</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Receptor interactions (agonism, antagonism) explain most drug effects.</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r h="0">
                <a:tc>
                  <a:txBody>
                    <a:bodyPr/>
                    <a:lstStyle/>
                    <a:p>
                      <a:pPr indent="0" marL="0">
                        <a:buNone/>
                      </a:pPr>
                      <a:r>
                        <a:rPr lang="en-US" sz="1600" b="1" dirty="0">
                          <a:solidFill>
                            <a:srgbClr val="1F1F1F"/>
                          </a:solidFill>
                        </a:rPr>
                        <a:t>4</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c>
                  <a:txBody>
                    <a:bodyPr/>
                    <a:lstStyle/>
                    <a:p>
                      <a:pPr indent="0" marL="0">
                        <a:buNone/>
                      </a:pPr>
                      <a:r>
                        <a:rPr lang="en-US" sz="1600" dirty="0">
                          <a:solidFill>
                            <a:srgbClr val="1F1F1F"/>
                          </a:solidFill>
                        </a:rPr>
                        <a:t>ADME together determine how much drug reaches the target, and for how long.</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F1F1F"/>
                          </a:solidFill>
                        </a:rPr>
                        <a:t>5</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c>
                  <a:txBody>
                    <a:bodyPr/>
                    <a:lstStyle/>
                    <a:p>
                      <a:pPr indent="0" marL="0">
                        <a:buNone/>
                      </a:pPr>
                      <a:r>
                        <a:rPr lang="en-US" sz="1600" dirty="0">
                          <a:solidFill>
                            <a:srgbClr val="1F1F1F"/>
                          </a:solidFill>
                        </a:rPr>
                        <a:t>Patient-specific factors — renal/hepatic function, genetics, interactions — determine the individual response.</a:t>
                      </a:r>
                      <a:endParaRPr lang="en-US" sz="1200" dirty="0"/>
                    </a:p>
                  </a:txBody>
                  <a:tcPr marL="76200" marR="76200" marT="50800" marB="5080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F2F4F7"/>
                    </a:solidFill>
                  </a:tcPr>
                </a:tc>
              </a:tr>
            </a:tbl>
          </a:graphicData>
        </a:graphic>
      </p:graphicFrame>
      <p:sp>
        <p:nvSpPr>
          <p:cNvPr id="8" name="Table sources"/>
          <p:cNvSpPr txBox="1"/>
          <p:nvPr/>
        </p:nvSpPr>
        <p:spPr>
          <a:xfrm>
            <a:off x="548640" y="3966464"/>
            <a:ext cx="11094415" cy="274320"/>
          </a:xfrm>
          <a:prstGeom prst="rect">
            <a:avLst/>
          </a:prstGeom>
          <a:noFill/>
          <a:ln/>
        </p:spPr>
        <p:txBody>
          <a:bodyPr wrap="square" lIns="0" tIns="0" rIns="0" bIns="0" rtlCol="0" anchor="ctr"/>
          <a:lstStyle/>
          <a:p>
            <a:pPr indent="0" marL="0">
              <a:buNone/>
            </a:pPr>
            <a:r>
              <a:rPr lang="en-US" sz="1100" dirty="0">
                <a:solidFill>
                  <a:srgbClr val="666666"/>
                </a:solidFill>
              </a:rPr>
              <a:t>Focus: what tells these apart.  Sources: S44; S44 (notes)</a:t>
            </a:r>
            <a:endParaRPr lang="en-US" sz="11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PUTTING IT ALL TOGETHER: CLINICAL DECISION-MAKING</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Memory hooks</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93</a:t>
            </a:r>
            <a:endParaRPr lang="en-US" sz="1000" dirty="0"/>
          </a:p>
        </p:txBody>
      </p:sp>
      <p:sp>
        <p:nvSpPr>
          <p:cNvPr id="7" name="Why it happens card"/>
          <p:cNvSpPr/>
          <p:nvPr/>
        </p:nvSpPr>
        <p:spPr>
          <a:xfrm>
            <a:off x="548640" y="1325880"/>
            <a:ext cx="5364328" cy="2276856"/>
          </a:xfrm>
          <a:prstGeom prst="roundRect">
            <a:avLst>
              <a:gd name="adj" fmla="val 4819"/>
            </a:avLst>
          </a:prstGeom>
          <a:solidFill>
            <a:srgbClr val="F2F4F7"/>
          </a:solidFill>
          <a:ln w="12700">
            <a:solidFill>
              <a:srgbClr val="F2F4F7"/>
            </a:solidFill>
            <a:prstDash val="solid"/>
          </a:ln>
        </p:spPr>
      </p:sp>
      <p:sp>
        <p:nvSpPr>
          <p:cNvPr id="8" name="Why it happens icon circle"/>
          <p:cNvSpPr/>
          <p:nvPr/>
        </p:nvSpPr>
        <p:spPr>
          <a:xfrm>
            <a:off x="777240" y="1508760"/>
            <a:ext cx="438912" cy="438912"/>
          </a:xfrm>
          <a:prstGeom prst="ellipse">
            <a:avLst/>
          </a:prstGeom>
          <a:solidFill>
            <a:srgbClr val="4472C4"/>
          </a:solidFill>
          <a:ln w="12700">
            <a:solidFill>
              <a:srgbClr val="4472C4"/>
            </a:solidFill>
            <a:prstDash val="solid"/>
          </a:ln>
        </p:spPr>
      </p:sp>
      <p:pic>
        <p:nvPicPr>
          <p:cNvPr id="9" name="Why it happens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Why it happens heading"/>
          <p:cNvSpPr txBox="1"/>
          <p:nvPr/>
        </p:nvSpPr>
        <p:spPr>
          <a:xfrm>
            <a:off x="1353312" y="1508760"/>
            <a:ext cx="4358488" cy="438912"/>
          </a:xfrm>
          <a:prstGeom prst="rect">
            <a:avLst/>
          </a:prstGeom>
          <a:noFill/>
          <a:ln/>
        </p:spPr>
        <p:txBody>
          <a:bodyPr wrap="square" lIns="0" tIns="0" rIns="0" bIns="0" rtlCol="0" anchor="ctr"/>
          <a:lstStyle/>
          <a:p>
            <a:pPr indent="0" marL="0">
              <a:buNone/>
            </a:pPr>
            <a:r>
              <a:rPr lang="en-US" sz="1800" b="1" dirty="0">
                <a:solidFill>
                  <a:srgbClr val="4472C4"/>
                </a:solidFill>
              </a:rPr>
              <a:t>Why it happens</a:t>
            </a:r>
            <a:endParaRPr lang="en-US" sz="1800" dirty="0"/>
          </a:p>
        </p:txBody>
      </p:sp>
      <p:sp>
        <p:nvSpPr>
          <p:cNvPr id="11" name="Why it happens body"/>
          <p:cNvSpPr txBox="1"/>
          <p:nvPr/>
        </p:nvSpPr>
        <p:spPr>
          <a:xfrm>
            <a:off x="777240" y="2075688"/>
            <a:ext cx="4907128" cy="1408176"/>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Why check CYP450 before adding any drug? An inhibitor added to a stable regimen raises the other drug's level — predictable, so it is one of the most preventable causes of toxicity.</a:t>
            </a:r>
            <a:r>
              <a:rPr lang="en-US" sz="1300" dirty="0">
                <a:solidFill>
                  <a:srgbClr val="666666"/>
                </a:solidFill>
              </a:rPr>
              <a:t>  S6; S40</a:t>
            </a:r>
            <a:endParaRPr lang="en-US" sz="1800" dirty="0"/>
          </a:p>
        </p:txBody>
      </p:sp>
      <p:sp>
        <p:nvSpPr>
          <p:cNvPr id="12" name="Mnemonic (memory aid) card"/>
          <p:cNvSpPr/>
          <p:nvPr/>
        </p:nvSpPr>
        <p:spPr>
          <a:xfrm>
            <a:off x="6278728" y="1325880"/>
            <a:ext cx="5364328" cy="2276856"/>
          </a:xfrm>
          <a:prstGeom prst="roundRect">
            <a:avLst>
              <a:gd name="adj" fmla="val 4819"/>
            </a:avLst>
          </a:prstGeom>
          <a:solidFill>
            <a:srgbClr val="F2F4F7"/>
          </a:solidFill>
          <a:ln w="12700">
            <a:solidFill>
              <a:srgbClr val="F2F4F7"/>
            </a:solidFill>
            <a:prstDash val="solid"/>
          </a:ln>
        </p:spPr>
      </p:sp>
      <p:sp>
        <p:nvSpPr>
          <p:cNvPr id="13" name="Mnemonic (memory aid) icon circle"/>
          <p:cNvSpPr/>
          <p:nvPr/>
        </p:nvSpPr>
        <p:spPr>
          <a:xfrm>
            <a:off x="6507328" y="1508760"/>
            <a:ext cx="438912" cy="438912"/>
          </a:xfrm>
          <a:prstGeom prst="ellipse">
            <a:avLst/>
          </a:prstGeom>
          <a:solidFill>
            <a:srgbClr val="7030A0"/>
          </a:solidFill>
          <a:ln w="12700">
            <a:solidFill>
              <a:srgbClr val="7030A0"/>
            </a:solidFill>
            <a:prstDash val="solid"/>
          </a:ln>
        </p:spPr>
      </p:sp>
      <p:pic>
        <p:nvPicPr>
          <p:cNvPr id="14" name="Mnemonic (memory aid) icon" descr="preencoded.png">    </p:cNvPr>
          <p:cNvPicPr>
            <a:picLocks noChangeAspect="1"/>
          </p:cNvPicPr>
          <p:nvPr/>
        </p:nvPicPr>
        <p:blipFill>
          <a:blip r:embed="rId2"/>
          <a:stretch>
            <a:fillRect/>
          </a:stretch>
        </p:blipFill>
        <p:spPr>
          <a:xfrm>
            <a:off x="6607912" y="1609344"/>
            <a:ext cx="237744" cy="237744"/>
          </a:xfrm>
          <a:prstGeom prst="rect">
            <a:avLst/>
          </a:prstGeom>
        </p:spPr>
      </p:pic>
      <p:sp>
        <p:nvSpPr>
          <p:cNvPr id="15" name="Mnemonic (memory aid) heading"/>
          <p:cNvSpPr txBox="1"/>
          <p:nvPr/>
        </p:nvSpPr>
        <p:spPr>
          <a:xfrm>
            <a:off x="7083400" y="1508760"/>
            <a:ext cx="4358488" cy="438912"/>
          </a:xfrm>
          <a:prstGeom prst="rect">
            <a:avLst/>
          </a:prstGeom>
          <a:noFill/>
          <a:ln/>
        </p:spPr>
        <p:txBody>
          <a:bodyPr wrap="square" lIns="0" tIns="0" rIns="0" bIns="0" rtlCol="0" anchor="ctr"/>
          <a:lstStyle/>
          <a:p>
            <a:pPr indent="0" marL="0">
              <a:buNone/>
            </a:pPr>
            <a:r>
              <a:rPr lang="en-US" sz="1800" b="1" dirty="0">
                <a:solidFill>
                  <a:srgbClr val="7030A0"/>
                </a:solidFill>
              </a:rPr>
              <a:t>Mnemonic (memory aid)</a:t>
            </a:r>
            <a:endParaRPr lang="en-US" sz="1800" dirty="0"/>
          </a:p>
        </p:txBody>
      </p:sp>
      <p:sp>
        <p:nvSpPr>
          <p:cNvPr id="16" name="Mnemonic (memory aid) body"/>
          <p:cNvSpPr txBox="1"/>
          <p:nvPr/>
        </p:nvSpPr>
        <p:spPr>
          <a:xfrm>
            <a:off x="6507328" y="2075688"/>
            <a:ext cx="4907128" cy="1408176"/>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Checklist "</a:t>
            </a:r>
            <a:r>
              <a:rPr lang="en-US" sz="1800" b="1" dirty="0">
                <a:solidFill>
                  <a:srgbClr val="1F1F1F"/>
                </a:solidFill>
              </a:rPr>
              <a:t>I C R I A D</a:t>
            </a:r>
            <a:r>
              <a:rPr lang="en-US" sz="1800" dirty="0">
                <a:solidFill>
                  <a:srgbClr val="1F1F1F"/>
                </a:solidFill>
              </a:rPr>
              <a:t>": </a:t>
            </a:r>
            <a:r>
              <a:rPr lang="en-US" sz="1800" b="1" dirty="0">
                <a:solidFill>
                  <a:srgbClr val="1F1F1F"/>
                </a:solidFill>
              </a:rPr>
              <a:t>I</a:t>
            </a:r>
            <a:r>
              <a:rPr lang="en-US" sz="1800" dirty="0">
                <a:solidFill>
                  <a:srgbClr val="1F1F1F"/>
                </a:solidFill>
              </a:rPr>
              <a:t>ndication · </a:t>
            </a:r>
            <a:r>
              <a:rPr lang="en-US" sz="1800" b="1" dirty="0">
                <a:solidFill>
                  <a:srgbClr val="1F1F1F"/>
                </a:solidFill>
              </a:rPr>
              <a:t>C</a:t>
            </a:r>
            <a:r>
              <a:rPr lang="en-US" sz="1800" dirty="0">
                <a:solidFill>
                  <a:srgbClr val="1F1F1F"/>
                </a:solidFill>
              </a:rPr>
              <a:t>ontraindications/allergies · </a:t>
            </a:r>
            <a:r>
              <a:rPr lang="en-US" sz="1800" b="1" dirty="0">
                <a:solidFill>
                  <a:srgbClr val="1F1F1F"/>
                </a:solidFill>
              </a:rPr>
              <a:t>R</a:t>
            </a:r>
            <a:r>
              <a:rPr lang="en-US" sz="1800" dirty="0">
                <a:solidFill>
                  <a:srgbClr val="1F1F1F"/>
                </a:solidFill>
              </a:rPr>
              <a:t>enal/hepatic · </a:t>
            </a:r>
            <a:r>
              <a:rPr lang="en-US" sz="1800" b="1" dirty="0">
                <a:solidFill>
                  <a:srgbClr val="1F1F1F"/>
                </a:solidFill>
              </a:rPr>
              <a:t>I</a:t>
            </a:r>
            <a:r>
              <a:rPr lang="en-US" sz="1800" dirty="0">
                <a:solidFill>
                  <a:srgbClr val="1F1F1F"/>
                </a:solidFill>
              </a:rPr>
              <a:t>nteractions (CYP450) · </a:t>
            </a:r>
            <a:r>
              <a:rPr lang="en-US" sz="1800" b="1" dirty="0">
                <a:solidFill>
                  <a:srgbClr val="1F1F1F"/>
                </a:solidFill>
              </a:rPr>
              <a:t>A</a:t>
            </a:r>
            <a:r>
              <a:rPr lang="en-US" sz="1800" dirty="0">
                <a:solidFill>
                  <a:srgbClr val="1F1F1F"/>
                </a:solidFill>
              </a:rPr>
              <a:t>ge/pregnancy · </a:t>
            </a:r>
            <a:r>
              <a:rPr lang="en-US" sz="1800" b="1" dirty="0">
                <a:solidFill>
                  <a:srgbClr val="1F1F1F"/>
                </a:solidFill>
              </a:rPr>
              <a:t>D</a:t>
            </a:r>
            <a:r>
              <a:rPr lang="en-US" sz="1800" dirty="0">
                <a:solidFill>
                  <a:srgbClr val="1F1F1F"/>
                </a:solidFill>
              </a:rPr>
              <a:t>ose, route, monitoring.</a:t>
            </a:r>
            <a:r>
              <a:rPr lang="en-US" sz="1300" dirty="0">
                <a:solidFill>
                  <a:srgbClr val="666666"/>
                </a:solidFill>
              </a:rPr>
              <a:t>  S39</a:t>
            </a:r>
            <a:endParaRPr lang="en-US" sz="18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PUTTING IT ALL TOGETHER: CLINICAL DECISION-MAKING</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High-yield summary</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94</a:t>
            </a:r>
            <a:endParaRPr lang="en-US" sz="1000" dirty="0"/>
          </a:p>
        </p:txBody>
      </p:sp>
      <p:sp>
        <p:nvSpPr>
          <p:cNvPr id="7" name="If you remember nothing else card"/>
          <p:cNvSpPr/>
          <p:nvPr/>
        </p:nvSpPr>
        <p:spPr>
          <a:xfrm>
            <a:off x="548640" y="1325880"/>
            <a:ext cx="11094415" cy="2775204"/>
          </a:xfrm>
          <a:prstGeom prst="roundRect">
            <a:avLst>
              <a:gd name="adj" fmla="val 3954"/>
            </a:avLst>
          </a:prstGeom>
          <a:solidFill>
            <a:srgbClr val="F2F4F7"/>
          </a:solidFill>
          <a:ln w="12700">
            <a:solidFill>
              <a:srgbClr val="F2F4F7"/>
            </a:solidFill>
            <a:prstDash val="solid"/>
          </a:ln>
        </p:spPr>
      </p:sp>
      <p:sp>
        <p:nvSpPr>
          <p:cNvPr id="8" name="If you remember nothing else icon circle"/>
          <p:cNvSpPr/>
          <p:nvPr/>
        </p:nvSpPr>
        <p:spPr>
          <a:xfrm>
            <a:off x="777240" y="1508760"/>
            <a:ext cx="438912" cy="438912"/>
          </a:xfrm>
          <a:prstGeom prst="ellipse">
            <a:avLst/>
          </a:prstGeom>
          <a:solidFill>
            <a:srgbClr val="C55A11"/>
          </a:solidFill>
          <a:ln w="12700">
            <a:solidFill>
              <a:srgbClr val="C55A11"/>
            </a:solidFill>
            <a:prstDash val="solid"/>
          </a:ln>
        </p:spPr>
      </p:sp>
      <p:pic>
        <p:nvPicPr>
          <p:cNvPr id="9" name="If you remember nothing else icon" descr="preencoded.png">    </p:cNvPr>
          <p:cNvPicPr>
            <a:picLocks noChangeAspect="1"/>
          </p:cNvPicPr>
          <p:nvPr/>
        </p:nvPicPr>
        <p:blipFill>
          <a:blip r:embed="rId1"/>
          <a:stretch>
            <a:fillRect/>
          </a:stretch>
        </p:blipFill>
        <p:spPr>
          <a:xfrm>
            <a:off x="877824" y="1609344"/>
            <a:ext cx="237744" cy="237744"/>
          </a:xfrm>
          <a:prstGeom prst="rect">
            <a:avLst/>
          </a:prstGeom>
        </p:spPr>
      </p:pic>
      <p:sp>
        <p:nvSpPr>
          <p:cNvPr id="10" name="If you remember nothing else heading"/>
          <p:cNvSpPr txBox="1"/>
          <p:nvPr/>
        </p:nvSpPr>
        <p:spPr>
          <a:xfrm>
            <a:off x="1353312" y="1508760"/>
            <a:ext cx="10088575" cy="438912"/>
          </a:xfrm>
          <a:prstGeom prst="rect">
            <a:avLst/>
          </a:prstGeom>
          <a:noFill/>
          <a:ln/>
        </p:spPr>
        <p:txBody>
          <a:bodyPr wrap="square" lIns="0" tIns="0" rIns="0" bIns="0" rtlCol="0" anchor="ctr"/>
          <a:lstStyle/>
          <a:p>
            <a:pPr indent="0" marL="0">
              <a:buNone/>
            </a:pPr>
            <a:r>
              <a:rPr lang="en-US" sz="1800" b="1" dirty="0">
                <a:solidFill>
                  <a:srgbClr val="C55A11"/>
                </a:solidFill>
              </a:rPr>
              <a:t>If you remember nothing else</a:t>
            </a:r>
            <a:endParaRPr lang="en-US" sz="1800" dirty="0"/>
          </a:p>
        </p:txBody>
      </p:sp>
      <p:sp>
        <p:nvSpPr>
          <p:cNvPr id="11" name="If you remember nothing else body"/>
          <p:cNvSpPr txBox="1"/>
          <p:nvPr/>
        </p:nvSpPr>
        <p:spPr>
          <a:xfrm>
            <a:off x="777240" y="2075688"/>
            <a:ext cx="10637215" cy="1906524"/>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rPr>
              <a:t>Memorize the checklist: indication, contraindications/allergies, renal/hepatic, interactions (CYP450), age/pregnancy, dose/route/monitoring.</a:t>
            </a:r>
            <a:r>
              <a:rPr lang="en-US" sz="1300" dirty="0">
                <a:solidFill>
                  <a:srgbClr val="666666"/>
                </a:solidFill>
              </a:rPr>
              <a:t>  S39; S39 (notes)</a:t>
            </a:r>
            <a:endParaRPr lang="en-US" sz="1800" dirty="0"/>
          </a:p>
          <a:p>
            <a:pPr marL="228600" indent="-228600">
              <a:spcAft>
                <a:spcPts val="800"/>
              </a:spcAft>
              <a:buSzPct val="100000"/>
              <a:buChar char="•"/>
            </a:pPr>
            <a:r>
              <a:rPr lang="en-US" sz="1800" b="1" dirty="0">
                <a:solidFill>
                  <a:srgbClr val="1F1F1F"/>
                </a:solidFill>
              </a:rPr>
              <a:t>Always check CYP450 interactions before adding a new drug.</a:t>
            </a:r>
            <a:r>
              <a:rPr lang="en-US" sz="1300" dirty="0">
                <a:solidFill>
                  <a:srgbClr val="666666"/>
                </a:solidFill>
              </a:rPr>
              <a:t>  S40</a:t>
            </a:r>
            <a:endParaRPr lang="en-US" sz="1800" dirty="0"/>
          </a:p>
          <a:p>
            <a:pPr marL="228600" indent="-228600">
              <a:spcAft>
                <a:spcPts val="800"/>
              </a:spcAft>
              <a:buSzPct val="100000"/>
              <a:buChar char="•"/>
            </a:pPr>
            <a:r>
              <a:rPr lang="en-US" sz="1800" dirty="0">
                <a:solidFill>
                  <a:srgbClr val="1F1F1F"/>
                </a:solidFill>
              </a:rPr>
              <a:t>These five ideas are the toolkit for every drug class for the rest of the course, starting with musculoskeletal pharmacology.</a:t>
            </a:r>
            <a:r>
              <a:rPr lang="en-US" sz="1300" dirty="0">
                <a:solidFill>
                  <a:srgbClr val="666666"/>
                </a:solidFill>
              </a:rPr>
              <a:t>  S44 (notes)</a:t>
            </a:r>
            <a:endParaRPr lang="en-US" sz="18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LECTURE QUICK CHECK S42-43</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23</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95</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Before prescribing any new medication, which single check is most directly aimed at preventing a toxic, often-predictable drug-drug interaction?</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Checking the drug's chemical name in a reference</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Reviewing the drug's half-life alone before dosing</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Confirming the drug's brand name with the patient</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Confirming the route of administration on the order</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Reviewing CYP450 interactions with the current medications</a:t>
            </a:r>
            <a:endParaRPr lang="en-US" sz="18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23: E</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96</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E. </a:t>
            </a:r>
            <a:r>
              <a:rPr lang="en-US" sz="1600" b="1" dirty="0">
                <a:solidFill>
                  <a:srgbClr val="1F1F1F"/>
                </a:solidFill>
              </a:rPr>
              <a:t>Reviewing CYP450 interactions with the current medications</a:t>
            </a:r>
            <a:endParaRPr lang="en-US" sz="1600" dirty="0"/>
          </a:p>
        </p:txBody>
      </p:sp>
      <p:sp>
        <p:nvSpPr>
          <p:cNvPr id="10" name="Why correct"/>
          <p:cNvSpPr txBox="1"/>
          <p:nvPr/>
        </p:nvSpPr>
        <p:spPr>
          <a:xfrm>
            <a:off x="777240" y="2011680"/>
            <a:ext cx="10637215" cy="476504"/>
          </a:xfrm>
          <a:prstGeom prst="rect">
            <a:avLst/>
          </a:prstGeom>
          <a:noFill/>
          <a:ln/>
        </p:spPr>
        <p:txBody>
          <a:bodyPr wrap="square" lIns="0" tIns="0" rIns="0" bIns="0" rtlCol="0" anchor="t"/>
          <a:lstStyle/>
          <a:p>
            <a:pPr indent="0" marL="0">
              <a:buNone/>
            </a:pPr>
            <a:r>
              <a:rPr lang="en-US" sz="1600" dirty="0">
                <a:solidFill>
                  <a:srgbClr val="1F1F1F"/>
                </a:solidFill>
              </a:rPr>
              <a:t>CYP450 interaction screening is one of the highest-yield steps for preventing predictable, preventable toxicity (S43).</a:t>
            </a:r>
            <a:r>
              <a:rPr lang="en-US" sz="1100" dirty="0">
                <a:solidFill>
                  <a:srgbClr val="666666"/>
                </a:solidFill>
              </a:rPr>
              <a:t>  S42-43</a:t>
            </a:r>
            <a:endParaRPr lang="en-US" sz="1600" dirty="0"/>
          </a:p>
        </p:txBody>
      </p:sp>
      <p:sp>
        <p:nvSpPr>
          <p:cNvPr id="11" name="Why others wrong card"/>
          <p:cNvSpPr/>
          <p:nvPr/>
        </p:nvSpPr>
        <p:spPr>
          <a:xfrm>
            <a:off x="548640" y="2625344"/>
            <a:ext cx="11094415" cy="2200656"/>
          </a:xfrm>
          <a:prstGeom prst="roundRect">
            <a:avLst>
              <a:gd name="adj" fmla="val 4155"/>
            </a:avLst>
          </a:prstGeom>
          <a:solidFill>
            <a:srgbClr val="F2F4F7"/>
          </a:solidFill>
          <a:ln w="12700">
            <a:solidFill>
              <a:srgbClr val="F2F4F7"/>
            </a:solidFill>
            <a:prstDash val="solid"/>
          </a:ln>
        </p:spPr>
      </p:sp>
      <p:sp>
        <p:nvSpPr>
          <p:cNvPr id="12" name="Why others wrong"/>
          <p:cNvSpPr txBox="1"/>
          <p:nvPr/>
        </p:nvSpPr>
        <p:spPr>
          <a:xfrm>
            <a:off x="777240" y="2735072"/>
            <a:ext cx="10637215" cy="2017776"/>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Checking the drug's chemical name in a reference — </a:t>
            </a:r>
            <a:r>
              <a:rPr lang="en-US" sz="1600" dirty="0">
                <a:solidFill>
                  <a:srgbClr val="1F1F1F"/>
                </a:solidFill>
              </a:rPr>
              <a:t>Chemical names describe structure; they don't screen interactions (S43).</a:t>
            </a:r>
            <a:endParaRPr lang="en-US" sz="1600" dirty="0"/>
          </a:p>
          <a:p>
            <a:pPr indent="0" marL="0">
              <a:buNone/>
            </a:pPr>
            <a:r>
              <a:rPr lang="en-US" sz="1600" b="1" dirty="0">
                <a:solidFill>
                  <a:srgbClr val="1F1F1F"/>
                </a:solidFill>
              </a:rPr>
              <a:t>B. Reviewing the drug's half-life alone before dosing — </a:t>
            </a:r>
            <a:r>
              <a:rPr lang="en-US" sz="1600" dirty="0">
                <a:solidFill>
                  <a:srgbClr val="1F1F1F"/>
                </a:solidFill>
              </a:rPr>
              <a:t>Half-life alone doesn't identify a drug-drug interaction (S43).</a:t>
            </a:r>
            <a:endParaRPr lang="en-US" sz="1600" dirty="0"/>
          </a:p>
          <a:p>
            <a:pPr indent="0" marL="0">
              <a:buNone/>
            </a:pPr>
            <a:r>
              <a:rPr lang="en-US" sz="1600" b="1" dirty="0">
                <a:solidFill>
                  <a:srgbClr val="1F1F1F"/>
                </a:solidFill>
              </a:rPr>
              <a:t>C. Confirming the drug's brand name with the patient — </a:t>
            </a:r>
            <a:r>
              <a:rPr lang="en-US" sz="1600" dirty="0">
                <a:solidFill>
                  <a:srgbClr val="1F1F1F"/>
                </a:solidFill>
              </a:rPr>
              <a:t>Brand names don't screen for interactions (S43).</a:t>
            </a:r>
            <a:endParaRPr lang="en-US" sz="1600" dirty="0"/>
          </a:p>
          <a:p>
            <a:pPr indent="0" marL="0">
              <a:buNone/>
            </a:pPr>
            <a:r>
              <a:rPr lang="en-US" sz="1600" b="1" dirty="0">
                <a:solidFill>
                  <a:srgbClr val="1F1F1F"/>
                </a:solidFill>
              </a:rPr>
              <a:t>D. Confirming the route of administration on the order — </a:t>
            </a:r>
            <a:r>
              <a:rPr lang="en-US" sz="1600" dirty="0">
                <a:solidFill>
                  <a:srgbClr val="1F1F1F"/>
                </a:solidFill>
              </a:rPr>
              <a:t>Route is part of the checklist, but interaction review targets this risk (S39, S43).</a:t>
            </a:r>
            <a:endParaRPr lang="en-US" sz="16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LECTURE QUICK CHECK S47-48</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24</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97</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A PA reviews indication, contraindications, renal/hepatic function, interactions, and a monitoring plan before prescribing. This process best reflects:</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Receptor pharmacology considered alone</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Phase IV postmarketing surveillance</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The clinical decision-making framework</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Therapeutic index testing of the drug</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Pharmacogenomic screening of the patient</a:t>
            </a:r>
            <a:endParaRPr lang="en-US" sz="18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24: C</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98</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C. </a:t>
            </a:r>
            <a:r>
              <a:rPr lang="en-US" sz="1600" b="1" dirty="0">
                <a:solidFill>
                  <a:srgbClr val="1F1F1F"/>
                </a:solidFill>
              </a:rPr>
              <a:t>The clinical decision-making framework</a:t>
            </a:r>
            <a:endParaRPr lang="en-US" sz="1600" dirty="0"/>
          </a:p>
        </p:txBody>
      </p:sp>
      <p:sp>
        <p:nvSpPr>
          <p:cNvPr id="10" name="Why correct"/>
          <p:cNvSpPr txBox="1"/>
          <p:nvPr/>
        </p:nvSpPr>
        <p:spPr>
          <a:xfrm>
            <a:off x="777240" y="2011680"/>
            <a:ext cx="10637215" cy="476504"/>
          </a:xfrm>
          <a:prstGeom prst="rect">
            <a:avLst/>
          </a:prstGeom>
          <a:noFill/>
          <a:ln/>
        </p:spPr>
        <p:txBody>
          <a:bodyPr wrap="square" lIns="0" tIns="0" rIns="0" bIns="0" rtlCol="0" anchor="t"/>
          <a:lstStyle/>
          <a:p>
            <a:pPr indent="0" marL="0">
              <a:buNone/>
            </a:pPr>
            <a:r>
              <a:rPr lang="en-US" sz="1600" dirty="0">
                <a:solidFill>
                  <a:srgbClr val="1F1F1F"/>
                </a:solidFill>
              </a:rPr>
              <a:t>This checklist is the clinical decision-making framework from "Putting It All Together" (S48, S39).</a:t>
            </a:r>
            <a:r>
              <a:rPr lang="en-US" sz="1100" dirty="0">
                <a:solidFill>
                  <a:srgbClr val="666666"/>
                </a:solidFill>
              </a:rPr>
              <a:t>  S47-48</a:t>
            </a:r>
            <a:endParaRPr lang="en-US" sz="1600" dirty="0"/>
          </a:p>
        </p:txBody>
      </p:sp>
      <p:sp>
        <p:nvSpPr>
          <p:cNvPr id="11" name="Why others wrong card"/>
          <p:cNvSpPr/>
          <p:nvPr/>
        </p:nvSpPr>
        <p:spPr>
          <a:xfrm>
            <a:off x="548640" y="2625344"/>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735072"/>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Receptor pharmacology considered alone — </a:t>
            </a:r>
            <a:r>
              <a:rPr lang="en-US" sz="1600" dirty="0">
                <a:solidFill>
                  <a:srgbClr val="1F1F1F"/>
                </a:solidFill>
              </a:rPr>
              <a:t>Receptor pharmacology is one stop on the pathway (S38).</a:t>
            </a:r>
            <a:endParaRPr lang="en-US" sz="1600" dirty="0"/>
          </a:p>
          <a:p>
            <a:pPr indent="0" marL="0">
              <a:buNone/>
            </a:pPr>
            <a:r>
              <a:rPr lang="en-US" sz="1600" b="1" dirty="0">
                <a:solidFill>
                  <a:srgbClr val="1F1F1F"/>
                </a:solidFill>
              </a:rPr>
              <a:t>B. Phase IV postmarketing surveillance — </a:t>
            </a:r>
            <a:r>
              <a:rPr lang="en-US" sz="1600" dirty="0">
                <a:solidFill>
                  <a:srgbClr val="1F1F1F"/>
                </a:solidFill>
              </a:rPr>
              <a:t>Phase IV is postmarketing surveillance after approval (Session 1; S47).</a:t>
            </a:r>
            <a:endParaRPr lang="en-US" sz="1600" dirty="0"/>
          </a:p>
          <a:p>
            <a:pPr indent="0" marL="0">
              <a:buNone/>
            </a:pPr>
            <a:r>
              <a:rPr lang="en-US" sz="1600" b="1" dirty="0">
                <a:solidFill>
                  <a:srgbClr val="1F1F1F"/>
                </a:solidFill>
              </a:rPr>
              <a:t>D. Therapeutic index testing of the drug — </a:t>
            </a:r>
            <a:r>
              <a:rPr lang="en-US" sz="1600" dirty="0">
                <a:solidFill>
                  <a:srgbClr val="1F1F1F"/>
                </a:solidFill>
              </a:rPr>
              <a:t>TI compares toxic vs. effective dose; it is not this checklist (S47-48).</a:t>
            </a:r>
            <a:endParaRPr lang="en-US" sz="1600" dirty="0"/>
          </a:p>
          <a:p>
            <a:pPr indent="0" marL="0">
              <a:buNone/>
            </a:pPr>
            <a:r>
              <a:rPr lang="en-US" sz="1600" b="1" dirty="0">
                <a:solidFill>
                  <a:srgbClr val="1F1F1F"/>
                </a:solidFill>
              </a:rPr>
              <a:t>E. Pharmacogenomic screening of the patient — </a:t>
            </a:r>
            <a:r>
              <a:rPr lang="en-US" sz="1600" dirty="0">
                <a:solidFill>
                  <a:srgbClr val="1F1F1F"/>
                </a:solidFill>
              </a:rPr>
              <a:t>Pharmacogenomics is one input among several, not the whole checklist (S34).</a:t>
            </a:r>
            <a:endParaRPr lang="en-US" sz="16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LECTURE QUICK CHECK S46, S48</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25</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99</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A drug has high potency but low efficacy compared with an alternative. For a patient needing maximum symptom relief, which factor matters more when choosing between the two?</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Efficacy</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Neither one</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Half-life</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Potency</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Both equally</a:t>
            </a:r>
            <a:endParaRPr lang="en-US" sz="18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25: A</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100</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A. </a:t>
            </a:r>
            <a:r>
              <a:rPr lang="en-US" sz="1600" b="1" dirty="0">
                <a:solidFill>
                  <a:srgbClr val="1F1F1F"/>
                </a:solidFill>
              </a:rPr>
              <a:t>Efficacy</a:t>
            </a:r>
            <a:endParaRPr lang="en-US" sz="1600" dirty="0"/>
          </a:p>
        </p:txBody>
      </p:sp>
      <p:sp>
        <p:nvSpPr>
          <p:cNvPr id="10" name="Why correct"/>
          <p:cNvSpPr txBox="1"/>
          <p:nvPr/>
        </p:nvSpPr>
        <p:spPr>
          <a:xfrm>
            <a:off x="777240" y="2011680"/>
            <a:ext cx="10637215" cy="476504"/>
          </a:xfrm>
          <a:prstGeom prst="rect">
            <a:avLst/>
          </a:prstGeom>
          <a:noFill/>
          <a:ln/>
        </p:spPr>
        <p:txBody>
          <a:bodyPr wrap="square" lIns="0" tIns="0" rIns="0" bIns="0" rtlCol="0" anchor="t"/>
          <a:lstStyle/>
          <a:p>
            <a:pPr indent="0" marL="0">
              <a:buNone/>
            </a:pPr>
            <a:r>
              <a:rPr lang="en-US" sz="1600" dirty="0">
                <a:solidFill>
                  <a:srgbClr val="1F1F1F"/>
                </a:solidFill>
              </a:rPr>
              <a:t>Efficacy (the maximum achievable effect) matters more than potency for most clinical outcomes (S48).</a:t>
            </a:r>
            <a:r>
              <a:rPr lang="en-US" sz="1100" dirty="0">
                <a:solidFill>
                  <a:srgbClr val="666666"/>
                </a:solidFill>
              </a:rPr>
              <a:t>  S46; S48</a:t>
            </a:r>
            <a:endParaRPr lang="en-US" sz="1600" dirty="0"/>
          </a:p>
        </p:txBody>
      </p:sp>
      <p:sp>
        <p:nvSpPr>
          <p:cNvPr id="11" name="Why others wrong card"/>
          <p:cNvSpPr/>
          <p:nvPr/>
        </p:nvSpPr>
        <p:spPr>
          <a:xfrm>
            <a:off x="548640" y="2625344"/>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735072"/>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B. Neither one — </a:t>
            </a:r>
            <a:r>
              <a:rPr lang="en-US" sz="1600" dirty="0">
                <a:solidFill>
                  <a:srgbClr val="1F1F1F"/>
                </a:solidFill>
              </a:rPr>
              <a:t>Efficacy predicts the maximum achievable benefit (S48).</a:t>
            </a:r>
            <a:endParaRPr lang="en-US" sz="1600" dirty="0"/>
          </a:p>
          <a:p>
            <a:pPr indent="0" marL="0">
              <a:buNone/>
            </a:pPr>
            <a:r>
              <a:rPr lang="en-US" sz="1600" b="1" dirty="0">
                <a:solidFill>
                  <a:srgbClr val="1F1F1F"/>
                </a:solidFill>
              </a:rPr>
              <a:t>C. Half-life — </a:t>
            </a:r>
            <a:r>
              <a:rPr lang="en-US" sz="1600" dirty="0">
                <a:solidFill>
                  <a:srgbClr val="1F1F1F"/>
                </a:solidFill>
              </a:rPr>
              <a:t>Half-life governs time to steady state, not maximal effect (S48).</a:t>
            </a:r>
            <a:endParaRPr lang="en-US" sz="1600" dirty="0"/>
          </a:p>
          <a:p>
            <a:pPr indent="0" marL="0">
              <a:buNone/>
            </a:pPr>
            <a:r>
              <a:rPr lang="en-US" sz="1600" b="1" dirty="0">
                <a:solidFill>
                  <a:srgbClr val="1F1F1F"/>
                </a:solidFill>
              </a:rPr>
              <a:t>D. Potency — </a:t>
            </a:r>
            <a:r>
              <a:rPr lang="en-US" sz="1600" dirty="0">
                <a:solidFill>
                  <a:srgbClr val="1F1F1F"/>
                </a:solidFill>
              </a:rPr>
              <a:t>Potency is the dose needed; it doesn't set the maximum effect (S48).</a:t>
            </a:r>
            <a:endParaRPr lang="en-US" sz="1600" dirty="0"/>
          </a:p>
          <a:p>
            <a:pPr indent="0" marL="0">
              <a:buNone/>
            </a:pPr>
            <a:r>
              <a:rPr lang="en-US" sz="1600" b="1" dirty="0">
                <a:solidFill>
                  <a:srgbClr val="1F1F1F"/>
                </a:solidFill>
              </a:rPr>
              <a:t>E. Both equally — </a:t>
            </a:r>
            <a:r>
              <a:rPr lang="en-US" sz="1600" dirty="0">
                <a:solidFill>
                  <a:srgbClr val="1F1F1F"/>
                </a:solidFill>
              </a:rPr>
              <a:t>Efficacy matters more than potency (S48).</a:t>
            </a:r>
            <a:endParaRPr lang="en-US" sz="16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LECTURE QUICK CHECK S46, S48</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26</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101</a:t>
            </a:r>
            <a:endParaRPr lang="en-US" sz="1000" dirty="0"/>
          </a:p>
        </p:txBody>
      </p:sp>
      <p:sp>
        <p:nvSpPr>
          <p:cNvPr id="7" name="Question stem card"/>
          <p:cNvSpPr/>
          <p:nvPr/>
        </p:nvSpPr>
        <p:spPr>
          <a:xfrm>
            <a:off x="548640" y="1325880"/>
            <a:ext cx="11094415" cy="644652"/>
          </a:xfrm>
          <a:prstGeom prst="roundRect">
            <a:avLst>
              <a:gd name="adj" fmla="val 14184"/>
            </a:avLst>
          </a:prstGeom>
          <a:solidFill>
            <a:srgbClr val="F2F4F7"/>
          </a:solidFill>
          <a:ln w="12700">
            <a:solidFill>
              <a:srgbClr val="F2F4F7"/>
            </a:solidFill>
            <a:prstDash val="solid"/>
          </a:ln>
        </p:spPr>
      </p:sp>
      <p:sp>
        <p:nvSpPr>
          <p:cNvPr id="8" name="Question stem"/>
          <p:cNvSpPr txBox="1"/>
          <p:nvPr/>
        </p:nvSpPr>
        <p:spPr>
          <a:xfrm>
            <a:off x="777240" y="1325880"/>
            <a:ext cx="10637215" cy="644652"/>
          </a:xfrm>
          <a:prstGeom prst="rect">
            <a:avLst/>
          </a:prstGeom>
          <a:noFill/>
          <a:ln/>
        </p:spPr>
        <p:txBody>
          <a:bodyPr wrap="square" lIns="0" tIns="0" rIns="0" bIns="0" rtlCol="0" anchor="ctr"/>
          <a:lstStyle/>
          <a:p>
            <a:pPr indent="0" marL="0">
              <a:buNone/>
            </a:pPr>
            <a:r>
              <a:rPr lang="en-US" sz="1800" dirty="0">
                <a:solidFill>
                  <a:srgbClr val="1F1F1F"/>
                </a:solidFill>
              </a:rPr>
              <a:t>Which best differentiates a competitive antagonist from a noncompetitive antagonist?</a:t>
            </a:r>
            <a:endParaRPr lang="en-US" sz="1800" dirty="0"/>
          </a:p>
        </p:txBody>
      </p:sp>
      <p:sp>
        <p:nvSpPr>
          <p:cNvPr id="9" name="Shape 7"/>
          <p:cNvSpPr/>
          <p:nvPr/>
        </p:nvSpPr>
        <p:spPr>
          <a:xfrm>
            <a:off x="548640" y="2180844"/>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18084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15341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Competitive raises Emax; noncompetitive shifts the curve left at the same Emax</a:t>
            </a:r>
            <a:endParaRPr lang="en-US" sz="1800" dirty="0"/>
          </a:p>
        </p:txBody>
      </p:sp>
      <p:sp>
        <p:nvSpPr>
          <p:cNvPr id="12" name="Shape 10"/>
          <p:cNvSpPr/>
          <p:nvPr/>
        </p:nvSpPr>
        <p:spPr>
          <a:xfrm>
            <a:off x="548640" y="2729484"/>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272948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70205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Noncompetitive lowers Emax; competitive shifts the curve right without changing Emax</a:t>
            </a:r>
            <a:endParaRPr lang="en-US" sz="1800" dirty="0"/>
          </a:p>
        </p:txBody>
      </p:sp>
      <p:sp>
        <p:nvSpPr>
          <p:cNvPr id="15" name="Shape 13"/>
          <p:cNvSpPr/>
          <p:nvPr/>
        </p:nvSpPr>
        <p:spPr>
          <a:xfrm>
            <a:off x="548640" y="3278124"/>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27812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25069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Competitive lowers Emax; noncompetitive shifts the curve right with the same Emax</a:t>
            </a:r>
            <a:endParaRPr lang="en-US" sz="1800" dirty="0"/>
          </a:p>
        </p:txBody>
      </p:sp>
      <p:sp>
        <p:nvSpPr>
          <p:cNvPr id="18" name="Shape 16"/>
          <p:cNvSpPr/>
          <p:nvPr/>
        </p:nvSpPr>
        <p:spPr>
          <a:xfrm>
            <a:off x="548640" y="3826764"/>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382676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379933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Only competitive antagonists cause adverse effects; noncompetitive ones never do</a:t>
            </a:r>
            <a:endParaRPr lang="en-US" sz="1800" dirty="0"/>
          </a:p>
        </p:txBody>
      </p:sp>
      <p:sp>
        <p:nvSpPr>
          <p:cNvPr id="21" name="Shape 19"/>
          <p:cNvSpPr/>
          <p:nvPr/>
        </p:nvSpPr>
        <p:spPr>
          <a:xfrm>
            <a:off x="548640" y="4375404"/>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375404"/>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347972"/>
            <a:ext cx="10271455" cy="457200"/>
          </a:xfrm>
          <a:prstGeom prst="rect">
            <a:avLst/>
          </a:prstGeom>
          <a:noFill/>
          <a:ln/>
        </p:spPr>
        <p:txBody>
          <a:bodyPr wrap="square" lIns="0" tIns="0" rIns="0" bIns="0" rtlCol="0" anchor="ctr"/>
          <a:lstStyle/>
          <a:p>
            <a:pPr indent="0" marL="0">
              <a:buNone/>
            </a:pPr>
            <a:r>
              <a:rPr lang="en-US" sz="1800" dirty="0">
                <a:solidFill>
                  <a:srgbClr val="1F1F1F"/>
                </a:solidFill>
              </a:rPr>
              <a:t>They are pharmacologically identical and produce the same dose-response curve</a:t>
            </a:r>
            <a:endParaRPr lang="en-US" sz="18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MECHANISM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26: B</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102</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B. </a:t>
            </a:r>
            <a:r>
              <a:rPr lang="en-US" sz="1600" b="1" dirty="0">
                <a:solidFill>
                  <a:srgbClr val="1F1F1F"/>
                </a:solidFill>
              </a:rPr>
              <a:t>Noncompetitive lowers Emax; competitive shifts the curve right without changing Emax</a:t>
            </a:r>
            <a:endParaRPr lang="en-US" sz="1600" dirty="0"/>
          </a:p>
        </p:txBody>
      </p:sp>
      <p:sp>
        <p:nvSpPr>
          <p:cNvPr id="10" name="Why correct"/>
          <p:cNvSpPr txBox="1"/>
          <p:nvPr/>
        </p:nvSpPr>
        <p:spPr>
          <a:xfrm>
            <a:off x="777240" y="2011680"/>
            <a:ext cx="10637215" cy="724408"/>
          </a:xfrm>
          <a:prstGeom prst="rect">
            <a:avLst/>
          </a:prstGeom>
          <a:noFill/>
          <a:ln/>
        </p:spPr>
        <p:txBody>
          <a:bodyPr wrap="square" lIns="0" tIns="0" rIns="0" bIns="0" rtlCol="0" anchor="t"/>
          <a:lstStyle/>
          <a:p>
            <a:pPr indent="0" marL="0">
              <a:buNone/>
            </a:pPr>
            <a:r>
              <a:rPr lang="en-US" sz="1600" dirty="0">
                <a:solidFill>
                  <a:srgbClr val="1F1F1F"/>
                </a:solidFill>
              </a:rPr>
              <a:t>Noncompetitive/irreversible antagonists lower Emax; competitive antagonists shift the curve right without changing Emax (S48).</a:t>
            </a:r>
            <a:r>
              <a:rPr lang="en-US" sz="1100" dirty="0">
                <a:solidFill>
                  <a:srgbClr val="666666"/>
                </a:solidFill>
              </a:rPr>
              <a:t>  S46; S48</a:t>
            </a:r>
            <a:endParaRPr lang="en-US" sz="1600" dirty="0"/>
          </a:p>
        </p:txBody>
      </p:sp>
      <p:sp>
        <p:nvSpPr>
          <p:cNvPr id="11" name="Why others wrong card"/>
          <p:cNvSpPr/>
          <p:nvPr/>
        </p:nvSpPr>
        <p:spPr>
          <a:xfrm>
            <a:off x="548640" y="2873248"/>
            <a:ext cx="11094415" cy="1952752"/>
          </a:xfrm>
          <a:prstGeom prst="roundRect">
            <a:avLst>
              <a:gd name="adj" fmla="val 4683"/>
            </a:avLst>
          </a:prstGeom>
          <a:solidFill>
            <a:srgbClr val="F2F4F7"/>
          </a:solidFill>
          <a:ln w="12700">
            <a:solidFill>
              <a:srgbClr val="F2F4F7"/>
            </a:solidFill>
            <a:prstDash val="solid"/>
          </a:ln>
        </p:spPr>
      </p:sp>
      <p:sp>
        <p:nvSpPr>
          <p:cNvPr id="12" name="Why others wrong"/>
          <p:cNvSpPr txBox="1"/>
          <p:nvPr/>
        </p:nvSpPr>
        <p:spPr>
          <a:xfrm>
            <a:off x="777240" y="2982976"/>
            <a:ext cx="10637215" cy="1769872"/>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Competitive raises Emax; noncompetitive shifts the curve left at the same Emax — </a:t>
            </a:r>
            <a:r>
              <a:rPr lang="en-US" sz="1600" dirty="0">
                <a:solidFill>
                  <a:srgbClr val="1F1F1F"/>
                </a:solidFill>
              </a:rPr>
              <a:t>Neither raises Emax or shifts left (S48).</a:t>
            </a:r>
            <a:endParaRPr lang="en-US" sz="1600" dirty="0"/>
          </a:p>
          <a:p>
            <a:pPr indent="0" marL="0">
              <a:buNone/>
            </a:pPr>
            <a:r>
              <a:rPr lang="en-US" sz="1600" b="1" dirty="0">
                <a:solidFill>
                  <a:srgbClr val="1F1F1F"/>
                </a:solidFill>
              </a:rPr>
              <a:t>C. Competitive lowers Emax; noncompetitive shifts the curve right with the same Emax — </a:t>
            </a:r>
            <a:r>
              <a:rPr lang="en-US" sz="1600" dirty="0">
                <a:solidFill>
                  <a:srgbClr val="1F1F1F"/>
                </a:solidFill>
              </a:rPr>
              <a:t>This reverses the two (S48).</a:t>
            </a:r>
            <a:endParaRPr lang="en-US" sz="1600" dirty="0"/>
          </a:p>
          <a:p>
            <a:pPr indent="0" marL="0">
              <a:buNone/>
            </a:pPr>
            <a:r>
              <a:rPr lang="en-US" sz="1600" b="1" dirty="0">
                <a:solidFill>
                  <a:srgbClr val="1F1F1F"/>
                </a:solidFill>
              </a:rPr>
              <a:t>D. Only competitive antagonists cause adverse effects; noncompetitive ones never do — </a:t>
            </a:r>
            <a:r>
              <a:rPr lang="en-US" sz="1600" dirty="0">
                <a:solidFill>
                  <a:srgbClr val="1F1F1F"/>
                </a:solidFill>
              </a:rPr>
              <a:t>Adverse effects are not what separates them (S46, S48).</a:t>
            </a:r>
            <a:endParaRPr lang="en-US" sz="1600" dirty="0"/>
          </a:p>
          <a:p>
            <a:pPr indent="0" marL="0">
              <a:buNone/>
            </a:pPr>
            <a:r>
              <a:rPr lang="en-US" sz="1600" b="1" dirty="0">
                <a:solidFill>
                  <a:srgbClr val="1F1F1F"/>
                </a:solidFill>
              </a:rPr>
              <a:t>E. They are pharmacologically identical and produce the same dose-response curve — </a:t>
            </a:r>
            <a:r>
              <a:rPr lang="en-US" sz="1600" dirty="0">
                <a:solidFill>
                  <a:srgbClr val="1F1F1F"/>
                </a:solidFill>
              </a:rPr>
              <a:t>Their curve effects differ (S48).</a:t>
            </a:r>
            <a:endParaRPr lang="en-US" sz="16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Question 27</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103</a:t>
            </a:r>
            <a:endParaRPr lang="en-US" sz="1000" dirty="0"/>
          </a:p>
        </p:txBody>
      </p:sp>
      <p:sp>
        <p:nvSpPr>
          <p:cNvPr id="7" name="Question stem card"/>
          <p:cNvSpPr/>
          <p:nvPr/>
        </p:nvSpPr>
        <p:spPr>
          <a:xfrm>
            <a:off x="548640" y="1325880"/>
            <a:ext cx="11094415" cy="923544"/>
          </a:xfrm>
          <a:prstGeom prst="roundRect">
            <a:avLst>
              <a:gd name="adj" fmla="val 9901"/>
            </a:avLst>
          </a:prstGeom>
          <a:solidFill>
            <a:srgbClr val="F2F4F7"/>
          </a:solidFill>
          <a:ln w="12700">
            <a:solidFill>
              <a:srgbClr val="F2F4F7"/>
            </a:solidFill>
            <a:prstDash val="solid"/>
          </a:ln>
        </p:spPr>
      </p:sp>
      <p:sp>
        <p:nvSpPr>
          <p:cNvPr id="8" name="Question stem"/>
          <p:cNvSpPr txBox="1"/>
          <p:nvPr/>
        </p:nvSpPr>
        <p:spPr>
          <a:xfrm>
            <a:off x="777240" y="1325880"/>
            <a:ext cx="10637215" cy="923544"/>
          </a:xfrm>
          <a:prstGeom prst="rect">
            <a:avLst/>
          </a:prstGeom>
          <a:noFill/>
          <a:ln/>
        </p:spPr>
        <p:txBody>
          <a:bodyPr wrap="square" lIns="0" tIns="0" rIns="0" bIns="0" rtlCol="0" anchor="ctr"/>
          <a:lstStyle/>
          <a:p>
            <a:pPr indent="0" marL="0">
              <a:buNone/>
            </a:pPr>
            <a:r>
              <a:rPr lang="en-US" sz="1800" dirty="0">
                <a:solidFill>
                  <a:srgbClr val="1F1F1F"/>
                </a:solidFill>
              </a:rPr>
              <a:t>A patient starts a new drug that binds the same receptor as their home medication, and the home medication's effect becomes weaker. Raising the home medication's dose restores the full effect. What does this support?</a:t>
            </a:r>
            <a:endParaRPr lang="en-US" sz="1800" dirty="0"/>
          </a:p>
        </p:txBody>
      </p:sp>
      <p:sp>
        <p:nvSpPr>
          <p:cNvPr id="9" name="Shape 7"/>
          <p:cNvSpPr/>
          <p:nvPr/>
        </p:nvSpPr>
        <p:spPr>
          <a:xfrm>
            <a:off x="548640" y="2459736"/>
            <a:ext cx="402336" cy="402336"/>
          </a:xfrm>
          <a:prstGeom prst="ellipse">
            <a:avLst/>
          </a:prstGeom>
          <a:solidFill>
            <a:srgbClr val="FFFFFF"/>
          </a:solidFill>
          <a:ln w="19050">
            <a:solidFill>
              <a:srgbClr val="4472C4"/>
            </a:solidFill>
            <a:prstDash val="solid"/>
          </a:ln>
        </p:spPr>
      </p:sp>
      <p:sp>
        <p:nvSpPr>
          <p:cNvPr id="10" name="Text 8"/>
          <p:cNvSpPr txBox="1"/>
          <p:nvPr/>
        </p:nvSpPr>
        <p:spPr>
          <a:xfrm>
            <a:off x="548640" y="245973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A</a:t>
            </a:r>
            <a:endParaRPr lang="en-US" sz="1400" dirty="0"/>
          </a:p>
        </p:txBody>
      </p:sp>
      <p:sp>
        <p:nvSpPr>
          <p:cNvPr id="11" name="Option A"/>
          <p:cNvSpPr txBox="1"/>
          <p:nvPr/>
        </p:nvSpPr>
        <p:spPr>
          <a:xfrm>
            <a:off x="1188720" y="243230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The new drug is a strong CYP3A4 inducer</a:t>
            </a:r>
            <a:endParaRPr lang="en-US" sz="1800" dirty="0"/>
          </a:p>
        </p:txBody>
      </p:sp>
      <p:sp>
        <p:nvSpPr>
          <p:cNvPr id="12" name="Shape 10"/>
          <p:cNvSpPr/>
          <p:nvPr/>
        </p:nvSpPr>
        <p:spPr>
          <a:xfrm>
            <a:off x="548640" y="3008376"/>
            <a:ext cx="402336" cy="402336"/>
          </a:xfrm>
          <a:prstGeom prst="ellipse">
            <a:avLst/>
          </a:prstGeom>
          <a:solidFill>
            <a:srgbClr val="FFFFFF"/>
          </a:solidFill>
          <a:ln w="19050">
            <a:solidFill>
              <a:srgbClr val="4472C4"/>
            </a:solidFill>
            <a:prstDash val="solid"/>
          </a:ln>
        </p:spPr>
      </p:sp>
      <p:sp>
        <p:nvSpPr>
          <p:cNvPr id="13" name="Text 11"/>
          <p:cNvSpPr txBox="1"/>
          <p:nvPr/>
        </p:nvSpPr>
        <p:spPr>
          <a:xfrm>
            <a:off x="548640" y="300837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B</a:t>
            </a:r>
            <a:endParaRPr lang="en-US" sz="1400" dirty="0"/>
          </a:p>
        </p:txBody>
      </p:sp>
      <p:sp>
        <p:nvSpPr>
          <p:cNvPr id="14" name="Option B"/>
          <p:cNvSpPr txBox="1"/>
          <p:nvPr/>
        </p:nvSpPr>
        <p:spPr>
          <a:xfrm>
            <a:off x="1188720" y="298094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The new drug is an irreversible antagonist</a:t>
            </a:r>
            <a:endParaRPr lang="en-US" sz="1800" dirty="0"/>
          </a:p>
        </p:txBody>
      </p:sp>
      <p:sp>
        <p:nvSpPr>
          <p:cNvPr id="15" name="Shape 13"/>
          <p:cNvSpPr/>
          <p:nvPr/>
        </p:nvSpPr>
        <p:spPr>
          <a:xfrm>
            <a:off x="548640" y="3557016"/>
            <a:ext cx="402336" cy="402336"/>
          </a:xfrm>
          <a:prstGeom prst="ellipse">
            <a:avLst/>
          </a:prstGeom>
          <a:solidFill>
            <a:srgbClr val="FFFFFF"/>
          </a:solidFill>
          <a:ln w="19050">
            <a:solidFill>
              <a:srgbClr val="4472C4"/>
            </a:solidFill>
            <a:prstDash val="solid"/>
          </a:ln>
        </p:spPr>
      </p:sp>
      <p:sp>
        <p:nvSpPr>
          <p:cNvPr id="16" name="Text 14"/>
          <p:cNvSpPr txBox="1"/>
          <p:nvPr/>
        </p:nvSpPr>
        <p:spPr>
          <a:xfrm>
            <a:off x="548640" y="355701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C</a:t>
            </a:r>
            <a:endParaRPr lang="en-US" sz="1400" dirty="0"/>
          </a:p>
        </p:txBody>
      </p:sp>
      <p:sp>
        <p:nvSpPr>
          <p:cNvPr id="17" name="Option C"/>
          <p:cNvSpPr txBox="1"/>
          <p:nvPr/>
        </p:nvSpPr>
        <p:spPr>
          <a:xfrm>
            <a:off x="1188720" y="352958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The home medication has become toxic</a:t>
            </a:r>
            <a:endParaRPr lang="en-US" sz="1800" dirty="0"/>
          </a:p>
        </p:txBody>
      </p:sp>
      <p:sp>
        <p:nvSpPr>
          <p:cNvPr id="18" name="Shape 16"/>
          <p:cNvSpPr/>
          <p:nvPr/>
        </p:nvSpPr>
        <p:spPr>
          <a:xfrm>
            <a:off x="548640" y="4105656"/>
            <a:ext cx="402336" cy="402336"/>
          </a:xfrm>
          <a:prstGeom prst="ellipse">
            <a:avLst/>
          </a:prstGeom>
          <a:solidFill>
            <a:srgbClr val="FFFFFF"/>
          </a:solidFill>
          <a:ln w="19050">
            <a:solidFill>
              <a:srgbClr val="4472C4"/>
            </a:solidFill>
            <a:prstDash val="solid"/>
          </a:ln>
        </p:spPr>
      </p:sp>
      <p:sp>
        <p:nvSpPr>
          <p:cNvPr id="19" name="Text 17"/>
          <p:cNvSpPr txBox="1"/>
          <p:nvPr/>
        </p:nvSpPr>
        <p:spPr>
          <a:xfrm>
            <a:off x="548640" y="410565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D</a:t>
            </a:r>
            <a:endParaRPr lang="en-US" sz="1400" dirty="0"/>
          </a:p>
        </p:txBody>
      </p:sp>
      <p:sp>
        <p:nvSpPr>
          <p:cNvPr id="20" name="Option D"/>
          <p:cNvSpPr txBox="1"/>
          <p:nvPr/>
        </p:nvSpPr>
        <p:spPr>
          <a:xfrm>
            <a:off x="1188720" y="407822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The new drug is a competitive antagonist</a:t>
            </a:r>
            <a:endParaRPr lang="en-US" sz="1800" dirty="0"/>
          </a:p>
        </p:txBody>
      </p:sp>
      <p:sp>
        <p:nvSpPr>
          <p:cNvPr id="21" name="Shape 19"/>
          <p:cNvSpPr/>
          <p:nvPr/>
        </p:nvSpPr>
        <p:spPr>
          <a:xfrm>
            <a:off x="548640" y="4654296"/>
            <a:ext cx="402336" cy="402336"/>
          </a:xfrm>
          <a:prstGeom prst="ellipse">
            <a:avLst/>
          </a:prstGeom>
          <a:solidFill>
            <a:srgbClr val="FFFFFF"/>
          </a:solidFill>
          <a:ln w="19050">
            <a:solidFill>
              <a:srgbClr val="4472C4"/>
            </a:solidFill>
            <a:prstDash val="solid"/>
          </a:ln>
        </p:spPr>
      </p:sp>
      <p:sp>
        <p:nvSpPr>
          <p:cNvPr id="22" name="Text 20"/>
          <p:cNvSpPr txBox="1"/>
          <p:nvPr/>
        </p:nvSpPr>
        <p:spPr>
          <a:xfrm>
            <a:off x="548640" y="4654296"/>
            <a:ext cx="402336" cy="402336"/>
          </a:xfrm>
          <a:prstGeom prst="rect">
            <a:avLst/>
          </a:prstGeom>
          <a:noFill/>
          <a:ln/>
        </p:spPr>
        <p:txBody>
          <a:bodyPr wrap="square" lIns="0" tIns="0" rIns="0" bIns="0" rtlCol="0" anchor="ctr"/>
          <a:lstStyle/>
          <a:p>
            <a:pPr algn="ctr" indent="0" marL="0">
              <a:buNone/>
            </a:pPr>
            <a:r>
              <a:rPr lang="en-US" sz="1400" b="1" dirty="0">
                <a:solidFill>
                  <a:srgbClr val="4472C4"/>
                </a:solidFill>
              </a:rPr>
              <a:t>E</a:t>
            </a:r>
            <a:endParaRPr lang="en-US" sz="1400" dirty="0"/>
          </a:p>
        </p:txBody>
      </p:sp>
      <p:sp>
        <p:nvSpPr>
          <p:cNvPr id="23" name="Option E"/>
          <p:cNvSpPr txBox="1"/>
          <p:nvPr/>
        </p:nvSpPr>
        <p:spPr>
          <a:xfrm>
            <a:off x="1188720" y="4626864"/>
            <a:ext cx="10271455" cy="457200"/>
          </a:xfrm>
          <a:prstGeom prst="rect">
            <a:avLst/>
          </a:prstGeom>
          <a:noFill/>
          <a:ln/>
        </p:spPr>
        <p:txBody>
          <a:bodyPr wrap="square" lIns="0" tIns="0" rIns="0" bIns="0" rtlCol="0" anchor="ctr"/>
          <a:lstStyle/>
          <a:p>
            <a:pPr indent="0" marL="0">
              <a:buNone/>
            </a:pPr>
            <a:r>
              <a:rPr lang="en-US" sz="1800" dirty="0">
                <a:solidFill>
                  <a:srgbClr val="1F1F1F"/>
                </a:solidFill>
              </a:rPr>
              <a:t>The new drug is a full agonist itself</a:t>
            </a:r>
            <a:endParaRPr lang="en-US" sz="18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Kicker"/>
          <p:cNvSpPr txBox="1"/>
          <p:nvPr/>
        </p:nvSpPr>
        <p:spPr>
          <a:xfrm>
            <a:off x="548640" y="292608"/>
            <a:ext cx="8076895" cy="274320"/>
          </a:xfrm>
          <a:prstGeom prst="rect">
            <a:avLst/>
          </a:prstGeom>
          <a:noFill/>
          <a:ln/>
        </p:spPr>
        <p:txBody>
          <a:bodyPr wrap="square" lIns="0" tIns="0" rIns="0" bIns="0" rtlCol="0" anchor="ctr"/>
          <a:lstStyle/>
          <a:p>
            <a:pPr indent="0" marL="0">
              <a:buNone/>
            </a:pPr>
            <a:r>
              <a:rPr lang="en-US" sz="1200" b="1" spc="100" kern="0" dirty="0">
                <a:solidFill>
                  <a:srgbClr val="4472C4"/>
                </a:solidFill>
              </a:rPr>
              <a:t>CLINICAL VIGNETTE · ANSWER</a:t>
            </a:r>
            <a:endParaRPr lang="en-US" sz="1200" dirty="0"/>
          </a:p>
        </p:txBody>
      </p:sp>
      <p:sp>
        <p:nvSpPr>
          <p:cNvPr id="3" name="Title"/>
          <p:cNvSpPr txBox="1"/>
          <p:nvPr/>
        </p:nvSpPr>
        <p:spPr>
          <a:xfrm>
            <a:off x="548640" y="566928"/>
            <a:ext cx="8076895" cy="713232"/>
          </a:xfrm>
          <a:prstGeom prst="rect">
            <a:avLst/>
          </a:prstGeom>
          <a:noFill/>
          <a:ln/>
        </p:spPr>
        <p:txBody>
          <a:bodyPr wrap="square" lIns="0" tIns="0" rIns="0" bIns="0" rtlCol="0" anchor="t"/>
          <a:lstStyle/>
          <a:p>
            <a:pPr indent="0" marL="0">
              <a:buNone/>
            </a:pPr>
            <a:r>
              <a:rPr lang="en-US" sz="3000" b="1" dirty="0">
                <a:solidFill>
                  <a:srgbClr val="1F1F1F"/>
                </a:solidFill>
                <a:latin typeface="Calibri" pitchFamily="34" charset="0"/>
                <a:ea typeface="Calibri" pitchFamily="34" charset="-122"/>
                <a:cs typeface="Calibri" pitchFamily="34" charset="-120"/>
              </a:rPr>
              <a:t>Answer 27: D</a:t>
            </a:r>
            <a:endParaRPr lang="en-US" sz="3000" dirty="0"/>
          </a:p>
        </p:txBody>
      </p:sp>
      <p:sp>
        <p:nvSpPr>
          <p:cNvPr id="4" name="Objective chip"/>
          <p:cNvSpPr/>
          <p:nvPr/>
        </p:nvSpPr>
        <p:spPr>
          <a:xfrm>
            <a:off x="8899855" y="365760"/>
            <a:ext cx="2743200" cy="384048"/>
          </a:xfrm>
          <a:prstGeom prst="roundRect">
            <a:avLst>
              <a:gd name="adj" fmla="val 35714"/>
            </a:avLst>
          </a:prstGeom>
          <a:solidFill>
            <a:srgbClr val="E3EBF8"/>
          </a:solidFill>
          <a:ln/>
        </p:spPr>
        <p:txBody>
          <a:bodyPr wrap="square" lIns="25400" tIns="25400" rIns="25400" bIns="25400" rtlCol="0" anchor="ctr"/>
          <a:lstStyle/>
          <a:p>
            <a:pPr algn="ctr" indent="0" marL="0">
              <a:buNone/>
            </a:pPr>
            <a:r>
              <a:rPr lang="en-US" sz="1200" b="1" dirty="0">
                <a:solidFill>
                  <a:srgbClr val="2F4F8A"/>
                </a:solidFill>
              </a:rPr>
              <a:t>Objectives: SO5 · IO1.3 · IO1.4 · IO1.5</a:t>
            </a:r>
            <a:endParaRPr lang="en-US" sz="1200" dirty="0"/>
          </a:p>
        </p:txBody>
      </p:sp>
      <p:sp>
        <p:nvSpPr>
          <p:cNvPr id="5" name="Footer"/>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666666"/>
                </a:solidFill>
              </a:rPr>
              <a:t>L02 · Introduction to Pharmacology — Session 2</a:t>
            </a:r>
            <a:endParaRPr lang="en-US" sz="1000" dirty="0"/>
          </a:p>
        </p:txBody>
      </p:sp>
      <p:sp>
        <p:nvSpPr>
          <p:cNvPr id="6" name="Slide number"/>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1000" dirty="0">
                <a:solidFill>
                  <a:srgbClr val="666666"/>
                </a:solidFill>
              </a:rPr>
              <a:t>104</a:t>
            </a:r>
            <a:endParaRPr lang="en-US" sz="1000" dirty="0"/>
          </a:p>
        </p:txBody>
      </p:sp>
      <p:sp>
        <p:nvSpPr>
          <p:cNvPr id="7" name="Correct answer"/>
          <p:cNvSpPr/>
          <p:nvPr/>
        </p:nvSpPr>
        <p:spPr>
          <a:xfrm>
            <a:off x="548640" y="1325880"/>
            <a:ext cx="11094415" cy="548640"/>
          </a:xfrm>
          <a:prstGeom prst="roundRect">
            <a:avLst>
              <a:gd name="adj" fmla="val 16667"/>
            </a:avLst>
          </a:prstGeom>
          <a:solidFill>
            <a:srgbClr val="E2F0D9"/>
          </a:solidFill>
          <a:ln w="19050">
            <a:solidFill>
              <a:srgbClr val="548235"/>
            </a:solidFill>
            <a:prstDash val="solid"/>
          </a:ln>
        </p:spPr>
      </p:sp>
      <p:pic>
        <p:nvPicPr>
          <p:cNvPr id="8" name="Image 0" descr="preencoded.png">    </p:cNvPr>
          <p:cNvPicPr>
            <a:picLocks noChangeAspect="1"/>
          </p:cNvPicPr>
          <p:nvPr/>
        </p:nvPicPr>
        <p:blipFill>
          <a:blip r:embed="rId1"/>
          <a:stretch>
            <a:fillRect/>
          </a:stretch>
        </p:blipFill>
        <p:spPr>
          <a:xfrm>
            <a:off x="731520" y="1435608"/>
            <a:ext cx="329184" cy="329184"/>
          </a:xfrm>
          <a:prstGeom prst="rect">
            <a:avLst/>
          </a:prstGeom>
        </p:spPr>
      </p:pic>
      <p:sp>
        <p:nvSpPr>
          <p:cNvPr id="9" name="Text 6"/>
          <p:cNvSpPr txBox="1"/>
          <p:nvPr/>
        </p:nvSpPr>
        <p:spPr>
          <a:xfrm>
            <a:off x="1234440" y="1325880"/>
            <a:ext cx="10180015" cy="548640"/>
          </a:xfrm>
          <a:prstGeom prst="rect">
            <a:avLst/>
          </a:prstGeom>
          <a:noFill/>
          <a:ln/>
        </p:spPr>
        <p:txBody>
          <a:bodyPr wrap="square" lIns="0" tIns="0" rIns="0" bIns="0" rtlCol="0" anchor="ctr"/>
          <a:lstStyle/>
          <a:p>
            <a:pPr indent="0" marL="0">
              <a:buNone/>
            </a:pPr>
            <a:r>
              <a:rPr lang="en-US" sz="1600" b="1" dirty="0">
                <a:solidFill>
                  <a:srgbClr val="1F1F1F"/>
                </a:solidFill>
              </a:rPr>
              <a:t>D. </a:t>
            </a:r>
            <a:r>
              <a:rPr lang="en-US" sz="1600" b="1" dirty="0">
                <a:solidFill>
                  <a:srgbClr val="1F1F1F"/>
                </a:solidFill>
              </a:rPr>
              <a:t>The new drug is a competitive antagonist</a:t>
            </a:r>
            <a:endParaRPr lang="en-US" sz="1600" dirty="0"/>
          </a:p>
        </p:txBody>
      </p:sp>
      <p:sp>
        <p:nvSpPr>
          <p:cNvPr id="10" name="Why correct"/>
          <p:cNvSpPr txBox="1"/>
          <p:nvPr/>
        </p:nvSpPr>
        <p:spPr>
          <a:xfrm>
            <a:off x="777240" y="2011680"/>
            <a:ext cx="10637215" cy="724408"/>
          </a:xfrm>
          <a:prstGeom prst="rect">
            <a:avLst/>
          </a:prstGeom>
          <a:noFill/>
          <a:ln/>
        </p:spPr>
        <p:txBody>
          <a:bodyPr wrap="square" lIns="0" tIns="0" rIns="0" bIns="0" rtlCol="0" anchor="t"/>
          <a:lstStyle/>
          <a:p>
            <a:pPr indent="0" marL="0">
              <a:buNone/>
            </a:pPr>
            <a:r>
              <a:rPr lang="en-US" sz="1600" dirty="0">
                <a:solidFill>
                  <a:srgbClr val="1F1F1F"/>
                </a:solidFill>
              </a:rPr>
              <a:t>A competitive antagonist can be overcome by increasing the agonist dose — restoring the effect supports competitive rather than irreversible antagonism (S41).</a:t>
            </a:r>
            <a:r>
              <a:rPr lang="en-US" sz="1100" dirty="0">
                <a:solidFill>
                  <a:srgbClr val="666666"/>
                </a:solidFill>
              </a:rPr>
              <a:t>  S41</a:t>
            </a:r>
            <a:endParaRPr lang="en-US" sz="1600" dirty="0"/>
          </a:p>
        </p:txBody>
      </p:sp>
      <p:sp>
        <p:nvSpPr>
          <p:cNvPr id="11" name="Why others wrong card"/>
          <p:cNvSpPr/>
          <p:nvPr/>
        </p:nvSpPr>
        <p:spPr>
          <a:xfrm>
            <a:off x="548640" y="2873248"/>
            <a:ext cx="11094415" cy="1704848"/>
          </a:xfrm>
          <a:prstGeom prst="roundRect">
            <a:avLst>
              <a:gd name="adj" fmla="val 5364"/>
            </a:avLst>
          </a:prstGeom>
          <a:solidFill>
            <a:srgbClr val="F2F4F7"/>
          </a:solidFill>
          <a:ln w="12700">
            <a:solidFill>
              <a:srgbClr val="F2F4F7"/>
            </a:solidFill>
            <a:prstDash val="solid"/>
          </a:ln>
        </p:spPr>
      </p:sp>
      <p:sp>
        <p:nvSpPr>
          <p:cNvPr id="12" name="Why others wrong"/>
          <p:cNvSpPr txBox="1"/>
          <p:nvPr/>
        </p:nvSpPr>
        <p:spPr>
          <a:xfrm>
            <a:off x="777240" y="2982976"/>
            <a:ext cx="10637215" cy="1521968"/>
          </a:xfrm>
          <a:prstGeom prst="rect">
            <a:avLst/>
          </a:prstGeom>
          <a:noFill/>
          <a:ln/>
        </p:spPr>
        <p:txBody>
          <a:bodyPr wrap="square" lIns="0" tIns="0" rIns="0" bIns="0" rtlCol="0" anchor="t"/>
          <a:lstStyle/>
          <a:p>
            <a:pPr indent="0" marL="0">
              <a:spcAft>
                <a:spcPts val="400"/>
              </a:spcAft>
              <a:buNone/>
            </a:pPr>
            <a:r>
              <a:rPr lang="en-US" sz="1600" b="1" dirty="0">
                <a:solidFill>
                  <a:srgbClr val="C00000"/>
                </a:solidFill>
              </a:rPr>
              <a:t>Why the other choices are wrong</a:t>
            </a:r>
            <a:endParaRPr lang="en-US" sz="1600" dirty="0"/>
          </a:p>
          <a:p>
            <a:pPr indent="0" marL="0">
              <a:buNone/>
            </a:pPr>
            <a:r>
              <a:rPr lang="en-US" sz="1600" b="1" dirty="0">
                <a:solidFill>
                  <a:srgbClr val="1F1F1F"/>
                </a:solidFill>
              </a:rPr>
              <a:t>A. The new drug is a strong CYP3A4 inducer — </a:t>
            </a:r>
            <a:r>
              <a:rPr lang="en-US" sz="1600" dirty="0">
                <a:solidFill>
                  <a:srgbClr val="1F1F1F"/>
                </a:solidFill>
              </a:rPr>
              <a:t>Nothing here involves CYP metabolism; it's receptor competition (S41).</a:t>
            </a:r>
            <a:endParaRPr lang="en-US" sz="1600" dirty="0"/>
          </a:p>
          <a:p>
            <a:pPr indent="0" marL="0">
              <a:buNone/>
            </a:pPr>
            <a:r>
              <a:rPr lang="en-US" sz="1600" b="1" dirty="0">
                <a:solidFill>
                  <a:srgbClr val="1F1F1F"/>
                </a:solidFill>
              </a:rPr>
              <a:t>B. The new drug is an irreversible antagonist — </a:t>
            </a:r>
            <a:r>
              <a:rPr lang="en-US" sz="1600" dirty="0">
                <a:solidFill>
                  <a:srgbClr val="1F1F1F"/>
                </a:solidFill>
              </a:rPr>
              <a:t>Irreversible antagonism would NOT be overcome by raising the dose (S41).</a:t>
            </a:r>
            <a:endParaRPr lang="en-US" sz="1600" dirty="0"/>
          </a:p>
          <a:p>
            <a:pPr indent="0" marL="0">
              <a:buNone/>
            </a:pPr>
            <a:r>
              <a:rPr lang="en-US" sz="1600" b="1" dirty="0">
                <a:solidFill>
                  <a:srgbClr val="1F1F1F"/>
                </a:solidFill>
              </a:rPr>
              <a:t>C. The home medication has become toxic — </a:t>
            </a:r>
            <a:r>
              <a:rPr lang="en-US" sz="1600" dirty="0">
                <a:solidFill>
                  <a:srgbClr val="1F1F1F"/>
                </a:solidFill>
              </a:rPr>
              <a:t>A weaker effect restored by a higher dose points to competition (S41).</a:t>
            </a:r>
            <a:endParaRPr lang="en-US" sz="1600" dirty="0"/>
          </a:p>
          <a:p>
            <a:pPr indent="0" marL="0">
              <a:buNone/>
            </a:pPr>
            <a:r>
              <a:rPr lang="en-US" sz="1600" b="1" dirty="0">
                <a:solidFill>
                  <a:srgbClr val="1F1F1F"/>
                </a:solidFill>
              </a:rPr>
              <a:t>E. The new drug is a full agonist itself — </a:t>
            </a:r>
            <a:r>
              <a:rPr lang="en-US" sz="1600" dirty="0">
                <a:solidFill>
                  <a:srgbClr val="1F1F1F"/>
                </a:solidFill>
              </a:rPr>
              <a:t>A drug that weakens the home medication's effect is acting as an antagonist (S41).</a:t>
            </a:r>
            <a:endParaRPr lang="en-US" sz="1600" dirty="0"/>
          </a:p>
        </p:txBody>
      </p:sp>
    </p:spTree>
  </p:cSld>
  <p:clrMapOvr>
    <a:masterClrMapping/>
  </p:clrMapOvr>
</p:sld>
</file>

<file path=ppt/theme/theme1.xml><?xml version="1.0" encoding="utf-8"?>
<a:theme xmlns:a="http://schemas.openxmlformats.org/drawingml/2006/main" name="Study deck light">
  <a:themeElements>
    <a:clrScheme name="Study deck light">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tudy deck ligh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104</Slides>
  <Notes>104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104</vt:i4>
      </vt:variant>
    </vt:vector>
  </HeadingPairs>
  <TitlesOfParts>
    <vt:vector size="10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L02 Introduction to Pharmacology — Session 2</dc:title>
  <dc:subject>PptxGenJS Presentation</dc:subject>
  <dc:creator>PptxGenJS</dc:creator>
  <cp:lastModifiedBy>PptxGenJS</cp:lastModifiedBy>
  <cp:revision>1</cp:revision>
  <dcterms:created xsi:type="dcterms:W3CDTF">2026-10-24T14:28:49Z</dcterms:created>
  <dcterms:modified xsi:type="dcterms:W3CDTF">2026-10-24T14:28:49Z</dcterms:modified>
</cp:coreProperties>
</file>