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notesMasterIdLst>
    <p:notesMasterId r:id="rId10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notesMaster" Target="notesMasters/notesMaster1.xml"/><Relationship Id="rId106" Type="http://schemas.openxmlformats.org/officeDocument/2006/relationships/presProps" Target="presProps.xml"/><Relationship Id="rId107" Type="http://schemas.openxmlformats.org/officeDocument/2006/relationships/viewProps" Target="viewProps.xml"/><Relationship Id="rId108" Type="http://schemas.openxmlformats.org/officeDocument/2006/relationships/theme" Target="theme/theme1.xml"/><Relationship Id="rId10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slideLayout" Target="../slideLayouts/slideLayout1.xml"/><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a:p>
            <a:pPr indent="0" marL="0">
              <a:spcAft>
                <a:spcPts val="400"/>
              </a:spcAft>
              <a:buNone/>
            </a:pPr>
            <a:r>
              <a:rPr lang="en-US" sz="1400" i="1" dirty="0">
                <a:solidFill>
                  <a:srgbClr val="C55A11"/>
                </a:solidFill>
              </a:rPr>
              <a:t>Textbook not added yet — this deck is built from the slides only.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graphicFrame>
        <p:nvGraphicFramePr>
          <p:cNvPr id="1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graphicFrame>
        <p:nvGraphicFramePr>
          <p:cNvPr id="1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C.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graphicFrame>
        <p:nvGraphicFramePr>
          <p:cNvPr id="3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graphicFrame>
        <p:nvGraphicFramePr>
          <p:cNvPr id="3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B. Switch to IV administration only for now — </a:t>
            </a:r>
            <a:r>
              <a:rPr lang="en-US" sz="1600" dirty="0">
                <a:solidFill>
                  <a:srgbClr val="1F1F1F"/>
                </a:solidFill>
              </a:rPr>
              <a:t>Route doesn't fix reduced renal clearance; adjust dose/interval (S17).</a:t>
            </a:r>
            <a:endParaRPr lang="en-US" sz="1600" dirty="0"/>
          </a:p>
          <a:p>
            <a:pPr indent="0" marL="0">
              <a:buNone/>
            </a:pPr>
            <a:r>
              <a:rPr lang="en-US" sz="1600" b="1" dirty="0">
                <a:solidFill>
                  <a:srgbClr val="1F1F1F"/>
                </a:solidFill>
              </a:rPr>
              <a:t>D.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E. Shorten the dosing interval to every few hours — </a:t>
            </a:r>
            <a:r>
              <a:rPr lang="en-US" sz="1600" dirty="0">
                <a:solidFill>
                  <a:srgbClr val="1F1F1F"/>
                </a:solidFill>
              </a:rPr>
              <a:t>Intervals should be EXTENDED, not shortened, in renal impairment (S17).</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D.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Tubular secretion by active transporters — </a:t>
            </a:r>
            <a:r>
              <a:rPr lang="en-US" sz="1600" dirty="0">
                <a:solidFill>
                  <a:srgbClr val="1F1F1F"/>
                </a:solidFill>
              </a:rPr>
              <a:t>Secretion moves additional drug INTO the tubule (S14).</a:t>
            </a:r>
            <a:endParaRPr lang="en-US" sz="1600" dirty="0"/>
          </a:p>
          <a:p>
            <a:pPr indent="0" marL="0">
              <a:buNone/>
            </a:pPr>
            <a:r>
              <a:rPr lang="en-US" sz="1600" b="1" dirty="0">
                <a:solidFill>
                  <a:srgbClr val="1F1F1F"/>
                </a:solidFill>
              </a:rPr>
              <a:t>C.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D.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Filtration of drug based on molecular size — </a:t>
            </a:r>
            <a:r>
              <a:rPr lang="en-US" sz="1600" dirty="0">
                <a:solidFill>
                  <a:srgbClr val="1F1F1F"/>
                </a:solidFill>
              </a:rPr>
              <a:t>This is glomerular filtration, which adds drug to the tubule (S14).</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Key definitions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How it works (1/2)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How it works (2/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graphicFrame>
        <p:nvGraphicFramePr>
          <p:cNvPr id="5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graphicFrame>
        <p:nvGraphicFramePr>
          <p:cNvPr id="5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B.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C. 50% — </a:t>
            </a:r>
            <a:r>
              <a:rPr lang="en-US" sz="1600" dirty="0">
                <a:solidFill>
                  <a:srgbClr val="1F1F1F"/>
                </a:solidFill>
              </a:rPr>
              <a:t>50% remains after 1 half-life (S22).</a:t>
            </a:r>
            <a:endParaRPr lang="en-US" sz="1600" dirty="0"/>
          </a:p>
          <a:p>
            <a:pPr indent="0" marL="0">
              <a:buNone/>
            </a:pPr>
            <a:r>
              <a:rPr lang="en-US" sz="1600" b="1" dirty="0">
                <a:solidFill>
                  <a:srgbClr val="1F1F1F"/>
                </a:solidFill>
              </a:rPr>
              <a:t>D. 25% — </a:t>
            </a:r>
            <a:r>
              <a:rPr lang="en-US" sz="1600" dirty="0">
                <a:solidFill>
                  <a:srgbClr val="1F1F1F"/>
                </a:solidFill>
              </a:rPr>
              <a:t>25% remains after 2 half-lives (S22).</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C.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D.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B. 8–10 half-lives — </a:t>
            </a:r>
            <a:r>
              <a:rPr lang="en-US" sz="1600" dirty="0">
                <a:solidFill>
                  <a:srgbClr val="1F1F1F"/>
                </a:solidFill>
              </a:rPr>
              <a:t>Too many — steady state takes about 4–5 half-lives (S30).</a:t>
            </a:r>
            <a:endParaRPr lang="en-US" sz="1600" dirty="0"/>
          </a:p>
          <a:p>
            <a:pPr indent="0" marL="0">
              <a:buNone/>
            </a:pPr>
            <a:r>
              <a:rPr lang="en-US" sz="1600" b="1" dirty="0">
                <a:solidFill>
                  <a:srgbClr val="1F1F1F"/>
                </a:solidFill>
              </a:rPr>
              <a:t>D.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E. 1–2 half-lives — </a:t>
            </a:r>
            <a:r>
              <a:rPr lang="en-US" sz="1600" dirty="0">
                <a:solidFill>
                  <a:srgbClr val="1F1F1F"/>
                </a:solidFill>
              </a:rPr>
              <a:t>Too few — steady state takes about 4–5 half-lives (S30).</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D.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B. Size of each dose given — </a:t>
            </a:r>
            <a:r>
              <a:rPr lang="en-US" sz="1600" dirty="0">
                <a:solidFill>
                  <a:srgbClr val="1F1F1F"/>
                </a:solidFill>
              </a:rPr>
              <a:t>Steady state takes ~4–5 half-lives regardless of dose size (S30).</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25 mg/L, with 75% of the drug eliminated — </a:t>
            </a:r>
            <a:r>
              <a:rPr lang="en-US" sz="1600" dirty="0">
                <a:solidFill>
                  <a:srgbClr val="1F1F1F"/>
                </a:solidFill>
              </a:rPr>
              <a:t>That is 12 h — 2 half-lives (S19).</a:t>
            </a:r>
            <a:endParaRPr lang="en-US" sz="1600" dirty="0"/>
          </a:p>
          <a:p>
            <a:pPr indent="0" marL="0">
              <a:buNone/>
            </a:pPr>
            <a:r>
              <a:rPr lang="en-US" sz="1600" b="1" dirty="0">
                <a:solidFill>
                  <a:srgbClr val="1F1F1F"/>
                </a:solidFill>
              </a:rPr>
              <a:t>D.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3.125 mg/L, with about 97% eliminated — </a:t>
            </a:r>
            <a:r>
              <a:rPr lang="en-US" sz="1600" dirty="0">
                <a:solidFill>
                  <a:srgbClr val="1F1F1F"/>
                </a:solidFill>
              </a:rPr>
              <a:t>That is 30 h — 5 half-lives (S19).</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B.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C. Both loading and maintenance doses are based on half-life alone — </a:t>
            </a:r>
            <a:r>
              <a:rPr lang="en-US" sz="1600" dirty="0">
                <a:solidFill>
                  <a:srgbClr val="1F1F1F"/>
                </a:solidFill>
              </a:rPr>
              <a:t>The lecture pairs loading with Vd and maintenance with clearance (S23 notes).</a:t>
            </a:r>
            <a:endParaRPr lang="en-US" sz="1600" dirty="0"/>
          </a:p>
          <a:p>
            <a:pPr indent="0" marL="0">
              <a:buNone/>
            </a:pPr>
            <a:r>
              <a:rPr lang="en-US" sz="1600" b="1" dirty="0">
                <a:solidFill>
                  <a:srgbClr val="1F1F1F"/>
                </a:solidFill>
              </a:rPr>
              <a:t>E. Loading dose is based on clearance; maintenance dose is based on Vd — </a:t>
            </a:r>
            <a:r>
              <a:rPr lang="en-US" sz="1600" dirty="0">
                <a:solidFill>
                  <a:srgbClr val="1F1F1F"/>
                </a:solidFill>
              </a:rPr>
              <a:t>This reverses the pairing (S23 notes).</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How it works card"/>
          <p:cNvSpPr/>
          <p:nvPr/>
        </p:nvSpPr>
        <p:spPr>
          <a:xfrm>
            <a:off x="548640" y="1325880"/>
            <a:ext cx="11094415" cy="3662172"/>
          </a:xfrm>
          <a:prstGeom prst="roundRect">
            <a:avLst>
              <a:gd name="adj" fmla="val 2996"/>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27934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Drugs named as examples card"/>
          <p:cNvSpPr/>
          <p:nvPr/>
        </p:nvSpPr>
        <p:spPr>
          <a:xfrm>
            <a:off x="548640" y="1325880"/>
            <a:ext cx="5410048" cy="2665476"/>
          </a:xfrm>
          <a:prstGeom prst="roundRect">
            <a:avLst>
              <a:gd name="adj" fmla="val 411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p:txBody>
      </p:sp>
      <p:sp>
        <p:nvSpPr>
          <p:cNvPr id="12" name="Exam traps card"/>
          <p:cNvSpPr/>
          <p:nvPr/>
        </p:nvSpPr>
        <p:spPr>
          <a:xfrm>
            <a:off x="6233008" y="1325880"/>
            <a:ext cx="5410048" cy="2665476"/>
          </a:xfrm>
          <a:prstGeom prst="roundRect">
            <a:avLst>
              <a:gd name="adj" fmla="val 4117"/>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graphicFrame>
        <p:nvGraphicFramePr>
          <p:cNvPr id="7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D.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Faster CYP2D6 metabolism of the drug and lost effect — </a:t>
            </a:r>
            <a:r>
              <a:rPr lang="en-US" sz="1600" dirty="0">
                <a:solidFill>
                  <a:srgbClr val="1F1F1F"/>
                </a:solidFill>
              </a:rPr>
              <a:t>CYP2D6 variation affects antidepressants and opioids (S33).</a:t>
            </a:r>
            <a:endParaRPr lang="en-US" sz="1600" dirty="0"/>
          </a:p>
          <a:p>
            <a:pPr indent="0" marL="0">
              <a:buNone/>
            </a:pPr>
            <a:r>
              <a:rPr lang="en-US" sz="1600" b="1" dirty="0">
                <a:solidFill>
                  <a:srgbClr val="1F1F1F"/>
                </a:solidFill>
              </a:rPr>
              <a:t>B.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C.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E. Severe HLA-associated hypersensitivity to the drug — </a:t>
            </a:r>
            <a:r>
              <a:rPr lang="en-US" sz="1600" dirty="0">
                <a:solidFill>
                  <a:srgbClr val="1F1F1F"/>
                </a:solidFill>
              </a:rPr>
              <a:t>That is the HLA allele example (e.g., HLA-B*5801 with allopurinol) (S33, S36).</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B. TPMT variation — codeine activation — </a:t>
            </a:r>
            <a:r>
              <a:rPr lang="en-US" sz="1600" dirty="0">
                <a:solidFill>
                  <a:srgbClr val="1F1F1F"/>
                </a:solidFill>
              </a:rPr>
              <a:t>Codeine activation is CYP2D6 (S33).</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HLA-B*5801 — clopidogrel activation — </a:t>
            </a:r>
            <a:r>
              <a:rPr lang="en-US" sz="1600" dirty="0">
                <a:solidFill>
                  <a:srgbClr val="1F1F1F"/>
                </a:solidFill>
              </a:rPr>
              <a:t>HLA-B*5801 is tied to allopurinol hypersensitivity (S36).</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B. Genotype becomes irrelevant once a drug reaches steady state — </a:t>
            </a:r>
            <a:r>
              <a:rPr lang="en-US" sz="1600" dirty="0">
                <a:solidFill>
                  <a:srgbClr val="1F1F1F"/>
                </a:solidFill>
              </a:rPr>
              <a:t>Nothing in the materials limits genotype's relevance this way (S32, S34).</a:t>
            </a:r>
            <a:endParaRPr lang="en-US" sz="1600" dirty="0"/>
          </a:p>
          <a:p>
            <a:pPr indent="0" marL="0">
              <a:buNone/>
            </a:pPr>
            <a:r>
              <a:rPr lang="en-US" sz="1600" b="1" dirty="0">
                <a:solidFill>
                  <a:srgbClr val="1F1F1F"/>
                </a:solidFill>
              </a:rPr>
              <a:t>C.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D. Genotype alone should determine both the drug and its dose — </a:t>
            </a:r>
            <a:r>
              <a:rPr lang="en-US" sz="1600" dirty="0">
                <a:solidFill>
                  <a:srgbClr val="1F1F1F"/>
                </a:solidFill>
              </a:rPr>
              <a:t>Genotype alone never dictates therapy in isolation (S34).</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graphicFrame>
        <p:nvGraphicFramePr>
          <p:cNvPr id="9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735072"/>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C.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D. Checking the drug's chemical name in a reference — </a:t>
            </a:r>
            <a:r>
              <a:rPr lang="en-US" sz="1600" dirty="0">
                <a:solidFill>
                  <a:srgbClr val="1F1F1F"/>
                </a:solidFill>
              </a:rPr>
              <a:t>Chemical names describe structure; they don't screen interactions (S43).</a:t>
            </a:r>
            <a:endParaRPr lang="en-US" sz="1600" dirty="0"/>
          </a:p>
          <a:p>
            <a:pPr indent="0" marL="0">
              <a:buNone/>
            </a:pPr>
            <a:r>
              <a:rPr lang="en-US" sz="1600" b="1" dirty="0">
                <a:solidFill>
                  <a:srgbClr val="1F1F1F"/>
                </a:solidFill>
              </a:rPr>
              <a:t>E. Confirming the route of administration on the order — </a:t>
            </a:r>
            <a:r>
              <a:rPr lang="en-US" sz="1600" dirty="0">
                <a:solidFill>
                  <a:srgbClr val="1F1F1F"/>
                </a:solidFill>
              </a:rPr>
              <a:t>Route is part of the checklist, but interaction review targets this risk (S39, S43).</a:t>
            </a:r>
            <a:endParaRPr lang="en-US" sz="16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B.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C. Phase IV postmarketing surveillance — </a:t>
            </a:r>
            <a:r>
              <a:rPr lang="en-US" sz="1600" dirty="0">
                <a:solidFill>
                  <a:srgbClr val="1F1F1F"/>
                </a:solidFill>
              </a:rPr>
              <a:t>Phase IV is postmarketing surveillance after approval (Session 1; S47).</a:t>
            </a:r>
            <a:endParaRPr lang="en-US" sz="1600" dirty="0"/>
          </a:p>
          <a:p>
            <a:pPr indent="0" marL="0">
              <a:buNone/>
            </a:pPr>
            <a:r>
              <a:rPr lang="en-US" sz="1600" b="1" dirty="0">
                <a:solidFill>
                  <a:srgbClr val="1F1F1F"/>
                </a:solidFill>
              </a:rPr>
              <a:t>E. Pharmacogenomic screening of the patient — </a:t>
            </a:r>
            <a:r>
              <a:rPr lang="en-US" sz="1600" dirty="0">
                <a:solidFill>
                  <a:srgbClr val="1F1F1F"/>
                </a:solidFill>
              </a:rPr>
              <a:t>Pharmacogenomics is one input among several, not the whole checklist (S34).</a:t>
            </a:r>
            <a:endParaRPr lang="en-US"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B.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D. Half-life — </a:t>
            </a:r>
            <a:r>
              <a:rPr lang="en-US" sz="1600" dirty="0">
                <a:solidFill>
                  <a:srgbClr val="1F1F1F"/>
                </a:solidFill>
              </a:rPr>
              <a:t>Half-life governs time to steady state, not maximal effect (S48).</a:t>
            </a:r>
            <a:endParaRPr lang="en-US" sz="1600" dirty="0"/>
          </a:p>
          <a:p>
            <a:pPr indent="0" marL="0">
              <a:buNone/>
            </a:pPr>
            <a:r>
              <a:rPr lang="en-US" sz="1600" b="1" dirty="0">
                <a:solidFill>
                  <a:srgbClr val="1F1F1F"/>
                </a:solidFill>
              </a:rPr>
              <a:t>E. Both equally — </a:t>
            </a:r>
            <a:r>
              <a:rPr lang="en-US" sz="1600" dirty="0">
                <a:solidFill>
                  <a:srgbClr val="1F1F1F"/>
                </a:solidFill>
              </a:rPr>
              <a:t>Efficacy matters more than potency (S48).</a:t>
            </a:r>
            <a:endParaRPr lang="en-US"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B. Competitive lowers Emax; noncompetitive shifts the curve right with the same Emax — </a:t>
            </a:r>
            <a:r>
              <a:rPr lang="en-US" sz="1600" dirty="0">
                <a:solidFill>
                  <a:srgbClr val="1F1F1F"/>
                </a:solidFill>
              </a:rPr>
              <a:t>This reverses the two (S48).</a:t>
            </a:r>
            <a:endParaRPr lang="en-US" sz="1600" dirty="0"/>
          </a:p>
          <a:p>
            <a:pPr indent="0" marL="0">
              <a:buNone/>
            </a:pPr>
            <a:r>
              <a:rPr lang="en-US" sz="1600" b="1" dirty="0">
                <a:solidFill>
                  <a:srgbClr val="1F1F1F"/>
                </a:solidFill>
              </a:rPr>
              <a:t>C.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E. Only competitive antagonists cause adverse effects; noncompetitive ones never do — </a:t>
            </a:r>
            <a:r>
              <a:rPr lang="en-US" sz="1600" dirty="0">
                <a:solidFill>
                  <a:srgbClr val="1F1F1F"/>
                </a:solidFill>
              </a:rPr>
              <a:t>Adverse effects are not what separates them (S46, S48).</a:t>
            </a:r>
            <a:endParaRPr lang="en-US" sz="16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new drug is a strong CYP3A4 inducer — </a:t>
            </a:r>
            <a:r>
              <a:rPr lang="en-US" sz="1600" dirty="0">
                <a:solidFill>
                  <a:srgbClr val="1F1F1F"/>
                </a:solidFill>
              </a:rPr>
              <a:t>Nothing here involves CYP metabolism; it's receptor competition (S41).</a:t>
            </a:r>
            <a:endParaRPr lang="en-US" sz="1600" dirty="0"/>
          </a:p>
          <a:p>
            <a:pPr indent="0" marL="0">
              <a:buNone/>
            </a:pPr>
            <a:r>
              <a:rPr lang="en-US" sz="1600" b="1" dirty="0">
                <a:solidFill>
                  <a:srgbClr val="1F1F1F"/>
                </a:solidFill>
              </a:rPr>
              <a:t>B.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full agonist itself — </a:t>
            </a:r>
            <a:r>
              <a:rPr lang="en-US" sz="1600" dirty="0">
                <a:solidFill>
                  <a:srgbClr val="1F1F1F"/>
                </a:solidFill>
              </a:rPr>
              <a:t>A drug that weakens the home medication's effect is acting as an antagonist (S41).</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since the CYP3A4 inhibitor will lower the drug's level — </a:t>
            </a:r>
            <a:r>
              <a:rPr lang="en-US" sz="1600" dirty="0">
                <a:solidFill>
                  <a:srgbClr val="1F1F1F"/>
                </a:solidFill>
              </a:rPr>
              <a:t>A CYP3A4 inhibitor RAISES substrate levels (S6); induction lowers them.</a:t>
            </a:r>
            <a:endParaRPr lang="en-US" sz="1600" dirty="0"/>
          </a:p>
          <a:p>
            <a:pPr indent="0" marL="0">
              <a:buNone/>
            </a:pPr>
            <a:r>
              <a:rPr lang="en-US" sz="1600" b="1" dirty="0">
                <a:solidFill>
                  <a:srgbClr val="1F1F1F"/>
                </a:solidFill>
              </a:rPr>
              <a:t>B.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C.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D.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103</Slides>
  <Notes>103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103</vt:i4>
      </vt:variant>
    </vt:vector>
  </HeadingPairs>
  <TitlesOfParts>
    <vt:vector size="10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2026-10-22T15:54:27Z</dcterms:created>
  <dcterms:modified xsi:type="dcterms:W3CDTF">2026-10-22T15:54:27Z</dcterms:modified>
</cp:coreProperties>
</file>