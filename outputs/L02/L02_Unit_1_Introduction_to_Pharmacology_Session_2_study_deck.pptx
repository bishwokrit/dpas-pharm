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Lst>
  <p:notesMasterIdLst>
    <p:notesMasterId r:id="rId1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notesMaster" Target="notesMasters/notesMaster1.xml"/><Relationship Id="rId127" Type="http://schemas.openxmlformats.org/officeDocument/2006/relationships/presProps" Target="presProps.xml"/><Relationship Id="rId128" Type="http://schemas.openxmlformats.org/officeDocument/2006/relationships/viewProps" Target="viewProps.xml"/><Relationship Id="rId129" Type="http://schemas.openxmlformats.org/officeDocument/2006/relationships/theme" Target="theme/theme1.xml"/><Relationship Id="rId1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S7; S8-9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p. 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p. 60; p. 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S15; S16-17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S14; S14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S20; S21-22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S24; S25-26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S29-30; SG U1-R11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S23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p.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S33; S36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S32; S34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p. 81-82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S42-43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SG U1-S; S15; S28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1.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slideLayout" Target="../slideLayouts/slideLayout1.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slideLayout" Target="../slideLayouts/slideLayout1.xml"/><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image" Target="../media/image-83-3.png"/><Relationship Id="rId4" Type="http://schemas.openxmlformats.org/officeDocument/2006/relationships/image" Target="../media/image-83-4.png"/><Relationship Id="rId5" Type="http://schemas.openxmlformats.org/officeDocument/2006/relationships/image" Target="../media/image-83-5.png"/><Relationship Id="rId6" Type="http://schemas.openxmlformats.org/officeDocument/2006/relationships/slideLayout" Target="../slideLayouts/slideLayout1.xml"/><Relationship Id="rId7"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image" Target="../media/image-92-2.png"/><Relationship Id="rId3" Type="http://schemas.openxmlformats.org/officeDocument/2006/relationships/slideLayout" Target="../slideLayouts/slideLayout1.xml"/><Relationship Id="rId4"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image" Target="../media/image-104-2.png"/><Relationship Id="rId3" Type="http://schemas.openxmlformats.org/officeDocument/2006/relationships/image" Target="../media/image-104-3.png"/><Relationship Id="rId4" Type="http://schemas.openxmlformats.org/officeDocument/2006/relationships/image" Target="../media/image-104-4.png"/><Relationship Id="rId5" Type="http://schemas.openxmlformats.org/officeDocument/2006/relationships/image" Target="../media/image-104-5.png"/><Relationship Id="rId6" Type="http://schemas.openxmlformats.org/officeDocument/2006/relationships/slideLayout" Target="../slideLayouts/slideLayout1.xml"/><Relationship Id="rId7"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1.xm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image" Target="../media/image-111-2.png"/><Relationship Id="rId3" Type="http://schemas.openxmlformats.org/officeDocument/2006/relationships/slideLayout" Target="../slideLayouts/slideLayout1.xml"/><Relationship Id="rId4"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1.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png"/><Relationship Id="rId2" Type="http://schemas.openxmlformats.org/officeDocument/2006/relationships/slideLayout" Target="../slideLayouts/slideLayout1.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png"/><Relationship Id="rId2" Type="http://schemas.openxmlformats.org/officeDocument/2006/relationships/slideLayout" Target="../slideLayouts/slideLayout1.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pn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pn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pn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371600"/>
            <a:ext cx="9144000" cy="365760"/>
          </a:xfrm>
          <a:prstGeom prst="rect">
            <a:avLst/>
          </a:prstGeom>
          <a:noFill/>
          <a:ln/>
        </p:spPr>
        <p:txBody>
          <a:bodyPr wrap="square" lIns="0" tIns="0" rIns="0" bIns="0" rtlCol="0" anchor="ctr"/>
          <a:lstStyle/>
          <a:p>
            <a:pPr indent="0" marL="0">
              <a:buNone/>
            </a:pPr>
            <a:r>
              <a:rPr lang="en-US" sz="1600" b="1" dirty="0">
                <a:solidFill>
                  <a:srgbClr val="4472C4"/>
                </a:solidFill>
              </a:rPr>
              <a:t>L02 · Thu, Oct 22, 2026</a:t>
            </a:r>
            <a:endParaRPr lang="en-US" sz="1600" dirty="0"/>
          </a:p>
        </p:txBody>
      </p:sp>
      <p:sp>
        <p:nvSpPr>
          <p:cNvPr id="3" name="Title"/>
          <p:cNvSpPr txBox="1"/>
          <p:nvPr/>
        </p:nvSpPr>
        <p:spPr>
          <a:xfrm>
            <a:off x="548640" y="1783080"/>
            <a:ext cx="11094415" cy="1280160"/>
          </a:xfrm>
          <a:prstGeom prst="rect">
            <a:avLst/>
          </a:prstGeom>
          <a:noFill/>
          <a:ln/>
        </p:spPr>
        <p:txBody>
          <a:bodyPr wrap="square" lIns="0" tIns="0" rIns="0" bIns="0" rtlCol="0" anchor="t"/>
          <a:lstStyle/>
          <a:p>
            <a:pPr indent="0" marL="0">
              <a:buNone/>
            </a:pPr>
            <a:r>
              <a:rPr lang="en-US" sz="4400" b="1" dirty="0">
                <a:solidFill>
                  <a:srgbClr val="1F1F1F"/>
                </a:solidFill>
                <a:latin typeface="Calibri" pitchFamily="34" charset="0"/>
                <a:ea typeface="Calibri" pitchFamily="34" charset="-122"/>
                <a:cs typeface="Calibri" pitchFamily="34" charset="-120"/>
              </a:rPr>
              <a:t>Introduction to Pharmacology — Session 2</a:t>
            </a:r>
            <a:endParaRPr lang="en-US" sz="4400" dirty="0"/>
          </a:p>
        </p:txBody>
      </p:sp>
      <p:sp>
        <p:nvSpPr>
          <p:cNvPr id="4" name="Text 2"/>
          <p:cNvSpPr txBox="1"/>
          <p:nvPr/>
        </p:nvSpPr>
        <p:spPr>
          <a:xfrm>
            <a:off x="548640" y="3063240"/>
            <a:ext cx="9144000" cy="365760"/>
          </a:xfrm>
          <a:prstGeom prst="rect">
            <a:avLst/>
          </a:prstGeom>
          <a:noFill/>
          <a:ln/>
        </p:spPr>
        <p:txBody>
          <a:bodyPr wrap="square" lIns="0" tIns="0" rIns="0" bIns="0" rtlCol="0" anchor="ctr"/>
          <a:lstStyle/>
          <a:p>
            <a:pPr indent="0" marL="0">
              <a:buNone/>
            </a:pPr>
            <a:r>
              <a:rPr lang="en-US" sz="1800" dirty="0">
                <a:solidFill>
                  <a:srgbClr val="666666"/>
                </a:solidFill>
              </a:rPr>
              <a:t>Pharmacology study deck · organized by topic</a:t>
            </a:r>
            <a:endParaRPr lang="en-US" sz="1800" dirty="0"/>
          </a:p>
        </p:txBody>
      </p:sp>
      <p:sp>
        <p:nvSpPr>
          <p:cNvPr id="5" name="Legend card"/>
          <p:cNvSpPr/>
          <p:nvPr/>
        </p:nvSpPr>
        <p:spPr>
          <a:xfrm>
            <a:off x="548640" y="3840480"/>
            <a:ext cx="11094415" cy="2103120"/>
          </a:xfrm>
          <a:prstGeom prst="roundRect">
            <a:avLst>
              <a:gd name="adj" fmla="val 5217"/>
            </a:avLst>
          </a:prstGeom>
          <a:solidFill>
            <a:srgbClr val="F2F4F7"/>
          </a:solidFill>
          <a:ln w="12700">
            <a:solidFill>
              <a:srgbClr val="F2F4F7"/>
            </a:solidFill>
            <a:prstDash val="solid"/>
          </a:ln>
        </p:spPr>
      </p:sp>
      <p:sp>
        <p:nvSpPr>
          <p:cNvPr id="6" name="Text 4"/>
          <p:cNvSpPr txBox="1"/>
          <p:nvPr/>
        </p:nvSpPr>
        <p:spPr>
          <a:xfrm>
            <a:off x="822960" y="4023360"/>
            <a:ext cx="5486400" cy="365760"/>
          </a:xfrm>
          <a:prstGeom prst="rect">
            <a:avLst/>
          </a:prstGeom>
          <a:noFill/>
          <a:ln/>
        </p:spPr>
        <p:txBody>
          <a:bodyPr wrap="square" lIns="0" tIns="0" rIns="0" bIns="0" rtlCol="0" anchor="ctr"/>
          <a:lstStyle/>
          <a:p>
            <a:pPr indent="0" marL="0">
              <a:buNone/>
            </a:pPr>
            <a:r>
              <a:rPr lang="en-US" sz="1600" b="1" dirty="0">
                <a:solidFill>
                  <a:srgbClr val="1F1F1F"/>
                </a:solidFill>
              </a:rPr>
              <a:t>How to read this deck</a:t>
            </a:r>
            <a:endParaRPr lang="en-US" sz="1600" dirty="0"/>
          </a:p>
        </p:txBody>
      </p:sp>
      <p:sp>
        <p:nvSpPr>
          <p:cNvPr id="7" name="Legend"/>
          <p:cNvSpPr txBox="1"/>
          <p:nvPr/>
        </p:nvSpPr>
        <p:spPr>
          <a:xfrm>
            <a:off x="822960" y="4389120"/>
            <a:ext cx="10545775" cy="1463040"/>
          </a:xfrm>
          <a:prstGeom prst="rect">
            <a:avLst/>
          </a:prstGeom>
          <a:noFill/>
          <a:ln/>
        </p:spPr>
        <p:txBody>
          <a:bodyPr wrap="square" lIns="0" tIns="0" rIns="0" bIns="0" rtlCol="0" anchor="t"/>
          <a:lstStyle/>
          <a:p>
            <a:pPr indent="0" marL="0">
              <a:spcAft>
                <a:spcPts val="400"/>
              </a:spcAft>
              <a:buNone/>
            </a:pPr>
            <a:r>
              <a:rPr lang="en-US" sz="1400" b="1" dirty="0">
                <a:solidFill>
                  <a:srgbClr val="000000"/>
                </a:solidFill>
                <a:highlight>
                  <a:srgbClr val="FFC000"/>
                </a:highlight>
              </a:rPr>
              <a:t> TB </a:t>
            </a:r>
            <a:r>
              <a:rPr lang="en-US" sz="1400" dirty="0">
                <a:solidFill>
                  <a:srgbClr val="1F1F1F"/>
                </a:solidFill>
              </a:rPr>
              <a:t>  = textbook only (not on the lecture slides)</a:t>
            </a:r>
            <a:endParaRPr lang="en-US" sz="1400" dirty="0"/>
          </a:p>
          <a:p>
            <a:pPr indent="0" marL="0">
              <a:spcAft>
                <a:spcPts val="400"/>
              </a:spcAft>
              <a:buNone/>
            </a:pPr>
            <a:r>
              <a:rPr lang="en-US" sz="1400" b="1" dirty="0">
                <a:solidFill>
                  <a:srgbClr val="000000"/>
                </a:solidFill>
                <a:highlight>
                  <a:srgbClr val="9FE0D8"/>
                </a:highlight>
              </a:rPr>
              <a:t> SG </a:t>
            </a:r>
            <a:r>
              <a:rPr lang="en-US" sz="1400" dirty="0">
                <a:solidFill>
                  <a:srgbClr val="1F1F1F"/>
                </a:solidFill>
              </a:rPr>
              <a:t>  = course study guide only (not on the lecture slides)</a:t>
            </a:r>
            <a:endParaRPr lang="en-US" sz="1400" dirty="0"/>
          </a:p>
          <a:p>
            <a:pPr indent="0" marL="0">
              <a:spcAft>
                <a:spcPts val="400"/>
              </a:spcAft>
              <a:buNone/>
            </a:pPr>
            <a:r>
              <a:rPr lang="en-US" sz="1400" b="1" dirty="0">
                <a:solidFill>
                  <a:srgbClr val="1F1F1F"/>
                </a:solidFill>
              </a:rPr>
              <a:t>Bold</a:t>
            </a:r>
            <a:r>
              <a:rPr lang="en-US" sz="1400" dirty="0">
                <a:solidFill>
                  <a:srgbClr val="1F1F1F"/>
                </a:solidFill>
              </a:rPr>
              <a:t> = emphasized on the lecture slides</a:t>
            </a:r>
            <a:endParaRPr lang="en-US" sz="1400" dirty="0"/>
          </a:p>
          <a:p>
            <a:pPr indent="0" marL="0">
              <a:spcAft>
                <a:spcPts val="400"/>
              </a:spcAft>
              <a:buNone/>
            </a:pPr>
            <a:r>
              <a:rPr lang="en-US" sz="1400" dirty="0">
                <a:solidFill>
                  <a:srgbClr val="666666"/>
                </a:solidFill>
              </a:rPr>
              <a:t>S12</a:t>
            </a:r>
            <a:r>
              <a:rPr lang="en-US" sz="1400" dirty="0">
                <a:solidFill>
                  <a:srgbClr val="1F1F1F"/>
                </a:solidFill>
              </a:rPr>
              <a:t> = lecture slide 12   ·   </a:t>
            </a:r>
            <a:r>
              <a:rPr lang="en-US" sz="1400" dirty="0">
                <a:solidFill>
                  <a:srgbClr val="666666"/>
                </a:solidFill>
              </a:rPr>
              <a:t>p. 245</a:t>
            </a:r>
            <a:r>
              <a:rPr lang="en-US" sz="1400" dirty="0">
                <a:solidFill>
                  <a:srgbClr val="1F1F1F"/>
                </a:solidFill>
              </a:rPr>
              <a:t> = textbook page 245   ·   </a:t>
            </a:r>
            <a:r>
              <a:rPr lang="en-US" sz="1400" dirty="0">
                <a:solidFill>
                  <a:srgbClr val="666666"/>
                </a:solidFill>
              </a:rPr>
              <a:t>SG U1-R3</a:t>
            </a:r>
            <a:r>
              <a:rPr lang="en-US" sz="1400" dirty="0">
                <a:solidFill>
                  <a:srgbClr val="1F1F1F"/>
                </a:solidFill>
              </a:rPr>
              <a:t> = study guide item</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a:t>
            </a:r>
            <a:endParaRPr lang="en-US" sz="1000" dirty="0"/>
          </a:p>
        </p:txBody>
      </p:sp>
      <p:sp>
        <p:nvSpPr>
          <p:cNvPr id="6" name="Objective IO1.1"/>
          <p:cNvSpPr/>
          <p:nvPr/>
        </p:nvSpPr>
        <p:spPr>
          <a:xfrm>
            <a:off x="548640" y="1325880"/>
            <a:ext cx="11094415" cy="1018032"/>
          </a:xfrm>
          <a:prstGeom prst="roundRect">
            <a:avLst>
              <a:gd name="adj" fmla="val 8982"/>
            </a:avLst>
          </a:prstGeom>
          <a:solidFill>
            <a:srgbClr val="F2F4F7"/>
          </a:solidFill>
          <a:ln w="12700">
            <a:solidFill>
              <a:srgbClr val="F2F4F7"/>
            </a:solidFill>
            <a:prstDash val="solid"/>
          </a:ln>
        </p:spPr>
      </p:sp>
      <p:sp>
        <p:nvSpPr>
          <p:cNvPr id="7" name="Text 5"/>
          <p:cNvSpPr txBox="1"/>
          <p:nvPr/>
        </p:nvSpPr>
        <p:spPr>
          <a:xfrm>
            <a:off x="731520" y="1325880"/>
            <a:ext cx="731520" cy="1018032"/>
          </a:xfrm>
          <a:prstGeom prst="rect">
            <a:avLst/>
          </a:prstGeom>
          <a:noFill/>
          <a:ln/>
        </p:spPr>
        <p:txBody>
          <a:bodyPr wrap="square" lIns="0" tIns="0" rIns="0" bIns="0" rtlCol="0" anchor="ctr"/>
          <a:lstStyle/>
          <a:p>
            <a:pPr indent="0" marL="0">
              <a:buNone/>
            </a:pPr>
            <a:r>
              <a:rPr lang="en-US" sz="1600" b="1" dirty="0">
                <a:solidFill>
                  <a:srgbClr val="4472C4"/>
                </a:solidFill>
              </a:rPr>
              <a:t>IO1.1</a:t>
            </a:r>
            <a:endParaRPr lang="en-US" sz="1600" dirty="0"/>
          </a:p>
        </p:txBody>
      </p:sp>
      <p:sp>
        <p:nvSpPr>
          <p:cNvPr id="8" name="Text 6"/>
          <p:cNvSpPr txBox="1"/>
          <p:nvPr/>
        </p:nvSpPr>
        <p:spPr>
          <a:xfrm>
            <a:off x="1463040" y="1325880"/>
            <a:ext cx="6217920" cy="1018032"/>
          </a:xfrm>
          <a:prstGeom prst="rect">
            <a:avLst/>
          </a:prstGeom>
          <a:noFill/>
          <a:ln/>
        </p:spPr>
        <p:txBody>
          <a:bodyPr wrap="square" lIns="0" tIns="0" rIns="0" bIns="0" rtlCol="0" anchor="ctr"/>
          <a:lstStyle/>
          <a:p>
            <a:pPr indent="0" marL="0">
              <a:buNone/>
            </a:pPr>
            <a:r>
              <a:rPr lang="en-US" sz="1600" dirty="0">
                <a:solidFill>
                  <a:srgbClr val="1F1F1F"/>
                </a:solidFill>
              </a:rPr>
              <a:t>Define and describe fundamental pharmacologic concepts, including pharmacokinetics, pharmacodynamics, drug-receptor interactions, dose-response relationships, therapeutic index, half-life, and steady state.</a:t>
            </a:r>
            <a:endParaRPr lang="en-US" sz="1600" dirty="0"/>
          </a:p>
        </p:txBody>
      </p:sp>
      <p:sp>
        <p:nvSpPr>
          <p:cNvPr id="9" name="Text 7"/>
          <p:cNvSpPr txBox="1"/>
          <p:nvPr/>
        </p:nvSpPr>
        <p:spPr>
          <a:xfrm>
            <a:off x="7863840" y="1325880"/>
            <a:ext cx="3596335" cy="1018032"/>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
        <p:nvSpPr>
          <p:cNvPr id="10" name="Objective IO1.2"/>
          <p:cNvSpPr/>
          <p:nvPr/>
        </p:nvSpPr>
        <p:spPr>
          <a:xfrm>
            <a:off x="548640" y="245364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5364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IO1.2</a:t>
            </a:r>
            <a:endParaRPr lang="en-US" sz="1600" dirty="0"/>
          </a:p>
        </p:txBody>
      </p:sp>
      <p:sp>
        <p:nvSpPr>
          <p:cNvPr id="12" name="Text 10"/>
          <p:cNvSpPr txBox="1"/>
          <p:nvPr/>
        </p:nvSpPr>
        <p:spPr>
          <a:xfrm>
            <a:off x="1463040" y="2453640"/>
            <a:ext cx="6217920" cy="770128"/>
          </a:xfrm>
          <a:prstGeom prst="rect">
            <a:avLst/>
          </a:prstGeom>
          <a:noFill/>
          <a:ln/>
        </p:spPr>
        <p:txBody>
          <a:bodyPr wrap="square" lIns="0" tIns="0" rIns="0" bIns="0" rtlCol="0" anchor="ctr"/>
          <a:lstStyle/>
          <a:p>
            <a:pPr indent="0" marL="0">
              <a:buNone/>
            </a:pPr>
            <a:r>
              <a:rPr lang="en-US" sz="1600" dirty="0">
                <a:solidFill>
                  <a:srgbClr val="1F1F1F"/>
                </a:solidFill>
              </a:rPr>
              <a:t>Describe the processes of drug absorption, distribution, metabolism, and excretion and factors that influence these processes.</a:t>
            </a:r>
            <a:endParaRPr lang="en-US" sz="1600" dirty="0"/>
          </a:p>
        </p:txBody>
      </p:sp>
      <p:sp>
        <p:nvSpPr>
          <p:cNvPr id="13" name="Text 11"/>
          <p:cNvSpPr txBox="1"/>
          <p:nvPr/>
        </p:nvSpPr>
        <p:spPr>
          <a:xfrm>
            <a:off x="7863840" y="245364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Drug Excretion &amp; Renal Dosing</a:t>
            </a:r>
            <a:endParaRPr lang="en-US" sz="1200" dirty="0"/>
          </a:p>
        </p:txBody>
      </p:sp>
      <p:sp>
        <p:nvSpPr>
          <p:cNvPr id="14" name="Objective IO1.3"/>
          <p:cNvSpPr/>
          <p:nvPr/>
        </p:nvSpPr>
        <p:spPr>
          <a:xfrm>
            <a:off x="548640" y="3333496"/>
            <a:ext cx="11094415" cy="1158240"/>
          </a:xfrm>
          <a:prstGeom prst="roundRect">
            <a:avLst>
              <a:gd name="adj" fmla="val 7895"/>
            </a:avLst>
          </a:prstGeom>
          <a:solidFill>
            <a:srgbClr val="FCE9DA"/>
          </a:solidFill>
          <a:ln w="12700">
            <a:solidFill>
              <a:srgbClr val="FCE9DA"/>
            </a:solidFill>
            <a:prstDash val="solid"/>
          </a:ln>
        </p:spPr>
      </p:sp>
      <p:sp>
        <p:nvSpPr>
          <p:cNvPr id="15" name="Text 13"/>
          <p:cNvSpPr txBox="1"/>
          <p:nvPr/>
        </p:nvSpPr>
        <p:spPr>
          <a:xfrm>
            <a:off x="731520" y="3333496"/>
            <a:ext cx="731520" cy="1158240"/>
          </a:xfrm>
          <a:prstGeom prst="rect">
            <a:avLst/>
          </a:prstGeom>
          <a:noFill/>
          <a:ln/>
        </p:spPr>
        <p:txBody>
          <a:bodyPr wrap="square" lIns="0" tIns="0" rIns="0" bIns="0" rtlCol="0" anchor="ctr"/>
          <a:lstStyle/>
          <a:p>
            <a:pPr indent="0" marL="0">
              <a:buNone/>
            </a:pPr>
            <a:r>
              <a:rPr lang="en-US" sz="1600" b="1" dirty="0">
                <a:solidFill>
                  <a:srgbClr val="4472C4"/>
                </a:solidFill>
              </a:rPr>
              <a:t>IO1.3</a:t>
            </a:r>
            <a:endParaRPr lang="en-US" sz="1600" dirty="0"/>
          </a:p>
        </p:txBody>
      </p:sp>
      <p:sp>
        <p:nvSpPr>
          <p:cNvPr id="16" name="Text 14"/>
          <p:cNvSpPr txBox="1"/>
          <p:nvPr/>
        </p:nvSpPr>
        <p:spPr>
          <a:xfrm>
            <a:off x="1463040" y="3333496"/>
            <a:ext cx="6217920" cy="1158240"/>
          </a:xfrm>
          <a:prstGeom prst="rect">
            <a:avLst/>
          </a:prstGeom>
          <a:noFill/>
          <a:ln/>
        </p:spPr>
        <p:txBody>
          <a:bodyPr wrap="square" lIns="0" tIns="0" rIns="0" bIns="0" rtlCol="0" anchor="ctr"/>
          <a:lstStyle/>
          <a:p>
            <a:pPr indent="0" marL="0">
              <a:buNone/>
            </a:pPr>
            <a:r>
              <a:rPr lang="en-US" sz="1600" dirty="0">
                <a:solidFill>
                  <a:srgbClr val="1F1F1F"/>
                </a:solidFill>
              </a:rPr>
              <a:t>Explain how patient-specific factors, including age, pregnancy, renal and hepatic function, and pharmacogenetic variation, may affect medication response.</a:t>
            </a:r>
            <a:endParaRPr lang="en-US" sz="1600" dirty="0"/>
          </a:p>
        </p:txBody>
      </p:sp>
      <p:sp>
        <p:nvSpPr>
          <p:cNvPr id="17" name="Text 15"/>
          <p:cNvSpPr txBox="1"/>
          <p:nvPr/>
        </p:nvSpPr>
        <p:spPr>
          <a:xfrm>
            <a:off x="7863840" y="3333496"/>
            <a:ext cx="3596335" cy="1158240"/>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Age and pregnancy are only named in the prescribing checklist · Drug Excretion &amp; Renal Dosing, PK Calculations: Half-Life, Steady State &amp; Clearance, Pharmacogenomics, Putting It All Together: Clinical Decision-Making</a:t>
            </a:r>
            <a:endParaRPr lang="en-US" sz="1200" dirty="0"/>
          </a:p>
        </p:txBody>
      </p:sp>
      <p:sp>
        <p:nvSpPr>
          <p:cNvPr id="18" name="Objective IO1.4"/>
          <p:cNvSpPr/>
          <p:nvPr/>
        </p:nvSpPr>
        <p:spPr>
          <a:xfrm>
            <a:off x="548640" y="4601464"/>
            <a:ext cx="11094415" cy="786384"/>
          </a:xfrm>
          <a:prstGeom prst="roundRect">
            <a:avLst>
              <a:gd name="adj" fmla="val 11628"/>
            </a:avLst>
          </a:prstGeom>
          <a:solidFill>
            <a:srgbClr val="F2F4F7"/>
          </a:solidFill>
          <a:ln w="12700">
            <a:solidFill>
              <a:srgbClr val="F2F4F7"/>
            </a:solidFill>
            <a:prstDash val="solid"/>
          </a:ln>
        </p:spPr>
      </p:sp>
      <p:sp>
        <p:nvSpPr>
          <p:cNvPr id="19" name="Text 17"/>
          <p:cNvSpPr txBox="1"/>
          <p:nvPr/>
        </p:nvSpPr>
        <p:spPr>
          <a:xfrm>
            <a:off x="731520" y="4601464"/>
            <a:ext cx="731520" cy="786384"/>
          </a:xfrm>
          <a:prstGeom prst="rect">
            <a:avLst/>
          </a:prstGeom>
          <a:noFill/>
          <a:ln/>
        </p:spPr>
        <p:txBody>
          <a:bodyPr wrap="square" lIns="0" tIns="0" rIns="0" bIns="0" rtlCol="0" anchor="ctr"/>
          <a:lstStyle/>
          <a:p>
            <a:pPr indent="0" marL="0">
              <a:buNone/>
            </a:pPr>
            <a:r>
              <a:rPr lang="en-US" sz="1600" b="1" dirty="0">
                <a:solidFill>
                  <a:srgbClr val="4472C4"/>
                </a:solidFill>
              </a:rPr>
              <a:t>IO1.4</a:t>
            </a:r>
            <a:endParaRPr lang="en-US" sz="1600" dirty="0"/>
          </a:p>
        </p:txBody>
      </p:sp>
      <p:sp>
        <p:nvSpPr>
          <p:cNvPr id="20" name="Text 18"/>
          <p:cNvSpPr txBox="1"/>
          <p:nvPr/>
        </p:nvSpPr>
        <p:spPr>
          <a:xfrm>
            <a:off x="1463040" y="4601464"/>
            <a:ext cx="6217920" cy="786384"/>
          </a:xfrm>
          <a:prstGeom prst="rect">
            <a:avLst/>
          </a:prstGeom>
          <a:noFill/>
          <a:ln/>
        </p:spPr>
        <p:txBody>
          <a:bodyPr wrap="square" lIns="0" tIns="0" rIns="0" bIns="0" rtlCol="0" anchor="ctr"/>
          <a:lstStyle/>
          <a:p>
            <a:pPr indent="0" marL="0">
              <a:buNone/>
            </a:pPr>
            <a:r>
              <a:rPr lang="en-US" sz="1600" dirty="0">
                <a:solidFill>
                  <a:srgbClr val="1F1F1F"/>
                </a:solidFill>
              </a:rPr>
              <a:t>Identify common types and mechanisms of adverse drug reactions, drug-drug interactions, and drug-disease interactions.</a:t>
            </a:r>
            <a:endParaRPr lang="en-US" sz="1600" dirty="0"/>
          </a:p>
        </p:txBody>
      </p:sp>
      <p:sp>
        <p:nvSpPr>
          <p:cNvPr id="21" name="Text 19"/>
          <p:cNvSpPr txBox="1"/>
          <p:nvPr/>
        </p:nvSpPr>
        <p:spPr>
          <a:xfrm>
            <a:off x="7863840" y="4601464"/>
            <a:ext cx="3596335" cy="786384"/>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Pharmacogenomics, Putting It All Together: Clinical Decision-Making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a:t>
            </a:r>
            <a:endParaRPr lang="en-US" sz="1000" dirty="0"/>
          </a:p>
        </p:txBody>
      </p:sp>
      <p:sp>
        <p:nvSpPr>
          <p:cNvPr id="6" name="Objective IO1.5"/>
          <p:cNvSpPr/>
          <p:nvPr/>
        </p:nvSpPr>
        <p:spPr>
          <a:xfrm>
            <a:off x="548640" y="1325880"/>
            <a:ext cx="11094415" cy="972312"/>
          </a:xfrm>
          <a:prstGeom prst="roundRect">
            <a:avLst>
              <a:gd name="adj" fmla="val 9404"/>
            </a:avLst>
          </a:prstGeom>
          <a:solidFill>
            <a:srgbClr val="FCE9DA"/>
          </a:solidFill>
          <a:ln w="12700">
            <a:solidFill>
              <a:srgbClr val="FCE9DA"/>
            </a:solidFill>
            <a:prstDash val="solid"/>
          </a:ln>
        </p:spPr>
      </p:sp>
      <p:sp>
        <p:nvSpPr>
          <p:cNvPr id="7" name="Text 5"/>
          <p:cNvSpPr txBox="1"/>
          <p:nvPr/>
        </p:nvSpPr>
        <p:spPr>
          <a:xfrm>
            <a:off x="731520" y="1325880"/>
            <a:ext cx="731520" cy="972312"/>
          </a:xfrm>
          <a:prstGeom prst="rect">
            <a:avLst/>
          </a:prstGeom>
          <a:noFill/>
          <a:ln/>
        </p:spPr>
        <p:txBody>
          <a:bodyPr wrap="square" lIns="0" tIns="0" rIns="0" bIns="0" rtlCol="0" anchor="ctr"/>
          <a:lstStyle/>
          <a:p>
            <a:pPr indent="0" marL="0">
              <a:buNone/>
            </a:pPr>
            <a:r>
              <a:rPr lang="en-US" sz="1600" b="1" dirty="0">
                <a:solidFill>
                  <a:srgbClr val="4472C4"/>
                </a:solidFill>
              </a:rPr>
              <a:t>IO1.5</a:t>
            </a:r>
            <a:endParaRPr lang="en-US" sz="1600" dirty="0"/>
          </a:p>
        </p:txBody>
      </p:sp>
      <p:sp>
        <p:nvSpPr>
          <p:cNvPr id="8" name="Text 6"/>
          <p:cNvSpPr txBox="1"/>
          <p:nvPr/>
        </p:nvSpPr>
        <p:spPr>
          <a:xfrm>
            <a:off x="1463040" y="1325880"/>
            <a:ext cx="6217920" cy="972312"/>
          </a:xfrm>
          <a:prstGeom prst="rect">
            <a:avLst/>
          </a:prstGeom>
          <a:noFill/>
          <a:ln/>
        </p:spPr>
        <p:txBody>
          <a:bodyPr wrap="square" lIns="0" tIns="0" rIns="0" bIns="0" rtlCol="0" anchor="ctr"/>
          <a:lstStyle/>
          <a:p>
            <a:pPr indent="0" marL="0">
              <a:buNone/>
            </a:pPr>
            <a:r>
              <a:rPr lang="en-US" sz="1600" dirty="0">
                <a:solidFill>
                  <a:srgbClr val="1F1F1F"/>
                </a:solidFill>
              </a:rPr>
              <a:t>Interpret common components of medication orders and prescriptions, including drug name, dose, route, frequency, and duration.</a:t>
            </a:r>
            <a:endParaRPr lang="en-US" sz="1600" dirty="0"/>
          </a:p>
        </p:txBody>
      </p:sp>
      <p:sp>
        <p:nvSpPr>
          <p:cNvPr id="9" name="Text 7"/>
          <p:cNvSpPr txBox="1"/>
          <p:nvPr/>
        </p:nvSpPr>
        <p:spPr>
          <a:xfrm>
            <a:off x="7863840" y="1325880"/>
            <a:ext cx="3596335" cy="972312"/>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Only dose, route, interval, and monitoring (checklist, renal dosing); no prescription-reading content · Drug Excretion &amp; Renal Dosing, Putting It All Together: Clinical Decision-Making</a:t>
            </a:r>
            <a:endParaRPr lang="en-US" sz="1200" dirty="0"/>
          </a:p>
        </p:txBody>
      </p:sp>
      <p:sp>
        <p:nvSpPr>
          <p:cNvPr id="10" name="Objective SO1"/>
          <p:cNvSpPr/>
          <p:nvPr/>
        </p:nvSpPr>
        <p:spPr>
          <a:xfrm>
            <a:off x="548640" y="240792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0792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SO1</a:t>
            </a:r>
            <a:endParaRPr lang="en-US" sz="1600" dirty="0"/>
          </a:p>
        </p:txBody>
      </p:sp>
      <p:sp>
        <p:nvSpPr>
          <p:cNvPr id="12" name="Text 10"/>
          <p:cNvSpPr txBox="1"/>
          <p:nvPr/>
        </p:nvSpPr>
        <p:spPr>
          <a:xfrm>
            <a:off x="1463040" y="2407920"/>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drug biotransformation (Phase I/II metabolism) and the clinical impact of CYP450 enzyme inhibition and induction.</a:t>
            </a:r>
            <a:endParaRPr lang="en-US" sz="1600" dirty="0"/>
          </a:p>
        </p:txBody>
      </p:sp>
      <p:sp>
        <p:nvSpPr>
          <p:cNvPr id="13" name="Text 11"/>
          <p:cNvSpPr txBox="1"/>
          <p:nvPr/>
        </p:nvSpPr>
        <p:spPr>
          <a:xfrm>
            <a:off x="7863840" y="240792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a:t>
            </a:r>
            <a:endParaRPr lang="en-US" sz="1200" dirty="0"/>
          </a:p>
        </p:txBody>
      </p:sp>
      <p:sp>
        <p:nvSpPr>
          <p:cNvPr id="14" name="Objective SO2"/>
          <p:cNvSpPr/>
          <p:nvPr/>
        </p:nvSpPr>
        <p:spPr>
          <a:xfrm>
            <a:off x="548640" y="3287776"/>
            <a:ext cx="11094415" cy="770128"/>
          </a:xfrm>
          <a:prstGeom prst="roundRect">
            <a:avLst>
              <a:gd name="adj" fmla="val 11873"/>
            </a:avLst>
          </a:prstGeom>
          <a:solidFill>
            <a:srgbClr val="F2F4F7"/>
          </a:solidFill>
          <a:ln w="12700">
            <a:solidFill>
              <a:srgbClr val="F2F4F7"/>
            </a:solidFill>
            <a:prstDash val="solid"/>
          </a:ln>
        </p:spPr>
      </p:sp>
      <p:sp>
        <p:nvSpPr>
          <p:cNvPr id="15" name="Text 13"/>
          <p:cNvSpPr txBox="1"/>
          <p:nvPr/>
        </p:nvSpPr>
        <p:spPr>
          <a:xfrm>
            <a:off x="731520" y="3287776"/>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SO2</a:t>
            </a:r>
            <a:endParaRPr lang="en-US" sz="1600" dirty="0"/>
          </a:p>
        </p:txBody>
      </p:sp>
      <p:sp>
        <p:nvSpPr>
          <p:cNvPr id="16" name="Text 14"/>
          <p:cNvSpPr txBox="1"/>
          <p:nvPr/>
        </p:nvSpPr>
        <p:spPr>
          <a:xfrm>
            <a:off x="1463040" y="3287776"/>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mechanisms of drug excretion and how renal function affects dosing.</a:t>
            </a:r>
            <a:endParaRPr lang="en-US" sz="1600" dirty="0"/>
          </a:p>
        </p:txBody>
      </p:sp>
      <p:sp>
        <p:nvSpPr>
          <p:cNvPr id="17" name="Text 15"/>
          <p:cNvSpPr txBox="1"/>
          <p:nvPr/>
        </p:nvSpPr>
        <p:spPr>
          <a:xfrm>
            <a:off x="7863840" y="3287776"/>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Excretion &amp; Renal Dosing</a:t>
            </a:r>
            <a:endParaRPr lang="en-US" sz="1200" dirty="0"/>
          </a:p>
        </p:txBody>
      </p:sp>
      <p:sp>
        <p:nvSpPr>
          <p:cNvPr id="18" name="Objective SO3"/>
          <p:cNvSpPr/>
          <p:nvPr/>
        </p:nvSpPr>
        <p:spPr>
          <a:xfrm>
            <a:off x="548640" y="4167632"/>
            <a:ext cx="11094415" cy="770128"/>
          </a:xfrm>
          <a:prstGeom prst="roundRect">
            <a:avLst>
              <a:gd name="adj" fmla="val 11873"/>
            </a:avLst>
          </a:prstGeom>
          <a:solidFill>
            <a:srgbClr val="F2F4F7"/>
          </a:solidFill>
          <a:ln w="12700">
            <a:solidFill>
              <a:srgbClr val="F2F4F7"/>
            </a:solidFill>
            <a:prstDash val="solid"/>
          </a:ln>
        </p:spPr>
      </p:sp>
      <p:sp>
        <p:nvSpPr>
          <p:cNvPr id="19" name="Text 17"/>
          <p:cNvSpPr txBox="1"/>
          <p:nvPr/>
        </p:nvSpPr>
        <p:spPr>
          <a:xfrm>
            <a:off x="731520" y="4167632"/>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SO3</a:t>
            </a:r>
            <a:endParaRPr lang="en-US" sz="1600" dirty="0"/>
          </a:p>
        </p:txBody>
      </p:sp>
      <p:sp>
        <p:nvSpPr>
          <p:cNvPr id="20" name="Text 18"/>
          <p:cNvSpPr txBox="1"/>
          <p:nvPr/>
        </p:nvSpPr>
        <p:spPr>
          <a:xfrm>
            <a:off x="1463040" y="4167632"/>
            <a:ext cx="6217920" cy="770128"/>
          </a:xfrm>
          <a:prstGeom prst="rect">
            <a:avLst/>
          </a:prstGeom>
          <a:noFill/>
          <a:ln/>
        </p:spPr>
        <p:txBody>
          <a:bodyPr wrap="square" lIns="0" tIns="0" rIns="0" bIns="0" rtlCol="0" anchor="ctr"/>
          <a:lstStyle/>
          <a:p>
            <a:pPr indent="0" marL="0">
              <a:buNone/>
            </a:pPr>
            <a:r>
              <a:rPr lang="en-US" sz="1600" dirty="0">
                <a:solidFill>
                  <a:srgbClr val="1F1F1F"/>
                </a:solidFill>
              </a:rPr>
              <a:t>Calculate and apply basic pharmacokinetic parameters (half-life, steady state, clearance).</a:t>
            </a:r>
            <a:endParaRPr lang="en-US" sz="1600" dirty="0"/>
          </a:p>
        </p:txBody>
      </p:sp>
      <p:sp>
        <p:nvSpPr>
          <p:cNvPr id="21" name="Text 19"/>
          <p:cNvSpPr txBox="1"/>
          <p:nvPr/>
        </p:nvSpPr>
        <p:spPr>
          <a:xfrm>
            <a:off x="7863840" y="4167632"/>
            <a:ext cx="3596335" cy="770128"/>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a:t>
            </a:r>
            <a:endParaRPr lang="en-US" sz="1000" dirty="0"/>
          </a:p>
        </p:txBody>
      </p:sp>
      <p:sp>
        <p:nvSpPr>
          <p:cNvPr id="6" name="Objective SO4"/>
          <p:cNvSpPr/>
          <p:nvPr/>
        </p:nvSpPr>
        <p:spPr>
          <a:xfrm>
            <a:off x="548640" y="1325880"/>
            <a:ext cx="11094415" cy="566928"/>
          </a:xfrm>
          <a:prstGeom prst="roundRect">
            <a:avLst>
              <a:gd name="adj" fmla="val 16129"/>
            </a:avLst>
          </a:prstGeom>
          <a:solidFill>
            <a:srgbClr val="F2F4F7"/>
          </a:solidFill>
          <a:ln w="12700">
            <a:solidFill>
              <a:srgbClr val="F2F4F7"/>
            </a:solidFill>
            <a:prstDash val="solid"/>
          </a:ln>
        </p:spPr>
      </p:sp>
      <p:sp>
        <p:nvSpPr>
          <p:cNvPr id="7" name="Text 5"/>
          <p:cNvSpPr txBox="1"/>
          <p:nvPr/>
        </p:nvSpPr>
        <p:spPr>
          <a:xfrm>
            <a:off x="731520" y="1325880"/>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SO4</a:t>
            </a:r>
            <a:endParaRPr lang="en-US" sz="1600" dirty="0"/>
          </a:p>
        </p:txBody>
      </p:sp>
      <p:sp>
        <p:nvSpPr>
          <p:cNvPr id="8" name="Text 6"/>
          <p:cNvSpPr txBox="1"/>
          <p:nvPr/>
        </p:nvSpPr>
        <p:spPr>
          <a:xfrm>
            <a:off x="1463040" y="1325880"/>
            <a:ext cx="6217920" cy="566928"/>
          </a:xfrm>
          <a:prstGeom prst="rect">
            <a:avLst/>
          </a:prstGeom>
          <a:noFill/>
          <a:ln/>
        </p:spPr>
        <p:txBody>
          <a:bodyPr wrap="square" lIns="0" tIns="0" rIns="0" bIns="0" rtlCol="0" anchor="ctr"/>
          <a:lstStyle/>
          <a:p>
            <a:pPr indent="0" marL="0">
              <a:buNone/>
            </a:pPr>
            <a:r>
              <a:rPr lang="en-US" sz="1600" dirty="0">
                <a:solidFill>
                  <a:srgbClr val="1F1F1F"/>
                </a:solidFill>
              </a:rPr>
              <a:t>Describe how pharmacogenomic variation can alter drug response.</a:t>
            </a:r>
            <a:endParaRPr lang="en-US" sz="1600" dirty="0"/>
          </a:p>
        </p:txBody>
      </p:sp>
      <p:sp>
        <p:nvSpPr>
          <p:cNvPr id="9" name="Text 7"/>
          <p:cNvSpPr txBox="1"/>
          <p:nvPr/>
        </p:nvSpPr>
        <p:spPr>
          <a:xfrm>
            <a:off x="7863840" y="1325880"/>
            <a:ext cx="3596335" cy="566928"/>
          </a:xfrm>
          <a:prstGeom prst="rect">
            <a:avLst/>
          </a:prstGeom>
          <a:noFill/>
          <a:ln/>
        </p:spPr>
        <p:txBody>
          <a:bodyPr wrap="square" lIns="0" tIns="0" rIns="0" bIns="0" rtlCol="0" anchor="ctr"/>
          <a:lstStyle/>
          <a:p>
            <a:pPr indent="0" marL="0">
              <a:buNone/>
            </a:pPr>
            <a:r>
              <a:rPr lang="en-US" sz="1200" dirty="0">
                <a:solidFill>
                  <a:srgbClr val="666666"/>
                </a:solidFill>
              </a:rPr>
              <a:t>Pharmacogenomics</a:t>
            </a:r>
            <a:endParaRPr lang="en-US" sz="1200" dirty="0"/>
          </a:p>
        </p:txBody>
      </p:sp>
      <p:sp>
        <p:nvSpPr>
          <p:cNvPr id="10" name="Objective SO5"/>
          <p:cNvSpPr/>
          <p:nvPr/>
        </p:nvSpPr>
        <p:spPr>
          <a:xfrm>
            <a:off x="548640" y="2002536"/>
            <a:ext cx="11094415" cy="566928"/>
          </a:xfrm>
          <a:prstGeom prst="roundRect">
            <a:avLst>
              <a:gd name="adj" fmla="val 16129"/>
            </a:avLst>
          </a:prstGeom>
          <a:solidFill>
            <a:srgbClr val="F2F4F7"/>
          </a:solidFill>
          <a:ln w="12700">
            <a:solidFill>
              <a:srgbClr val="F2F4F7"/>
            </a:solidFill>
            <a:prstDash val="solid"/>
          </a:ln>
        </p:spPr>
      </p:sp>
      <p:sp>
        <p:nvSpPr>
          <p:cNvPr id="11" name="Text 9"/>
          <p:cNvSpPr txBox="1"/>
          <p:nvPr/>
        </p:nvSpPr>
        <p:spPr>
          <a:xfrm>
            <a:off x="731520" y="2002536"/>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SO5</a:t>
            </a:r>
            <a:endParaRPr lang="en-US" sz="1600" dirty="0"/>
          </a:p>
        </p:txBody>
      </p:sp>
      <p:sp>
        <p:nvSpPr>
          <p:cNvPr id="12" name="Text 10"/>
          <p:cNvSpPr txBox="1"/>
          <p:nvPr/>
        </p:nvSpPr>
        <p:spPr>
          <a:xfrm>
            <a:off x="1463040" y="2002536"/>
            <a:ext cx="6217920" cy="566928"/>
          </a:xfrm>
          <a:prstGeom prst="rect">
            <a:avLst/>
          </a:prstGeom>
          <a:noFill/>
          <a:ln/>
        </p:spPr>
        <p:txBody>
          <a:bodyPr wrap="square" lIns="0" tIns="0" rIns="0" bIns="0" rtlCol="0" anchor="ctr"/>
          <a:lstStyle/>
          <a:p>
            <a:pPr indent="0" marL="0">
              <a:buNone/>
            </a:pPr>
            <a:r>
              <a:rPr lang="en-US" sz="1600" dirty="0">
                <a:solidFill>
                  <a:srgbClr val="1F1F1F"/>
                </a:solidFill>
              </a:rPr>
              <a:t>Apply a structured framework to clinical prescribing decisions.</a:t>
            </a:r>
            <a:endParaRPr lang="en-US" sz="1600" dirty="0"/>
          </a:p>
        </p:txBody>
      </p:sp>
      <p:sp>
        <p:nvSpPr>
          <p:cNvPr id="13" name="Text 11"/>
          <p:cNvSpPr txBox="1"/>
          <p:nvPr/>
        </p:nvSpPr>
        <p:spPr>
          <a:xfrm>
            <a:off x="7863840" y="2002536"/>
            <a:ext cx="3596335" cy="566928"/>
          </a:xfrm>
          <a:prstGeom prst="rect">
            <a:avLst/>
          </a:prstGeom>
          <a:noFill/>
          <a:ln/>
        </p:spPr>
        <p:txBody>
          <a:bodyPr wrap="square" lIns="0" tIns="0" rIns="0" bIns="0" rtlCol="0" anchor="ctr"/>
          <a:lstStyle/>
          <a:p>
            <a:pPr indent="0" marL="0">
              <a:buNone/>
            </a:pPr>
            <a:r>
              <a:rPr lang="en-US" sz="1200" dirty="0">
                <a:solidFill>
                  <a:srgbClr val="666666"/>
                </a:solidFill>
              </a:rPr>
              <a:t>Putting It All Together: Clinical Decision-Making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a:t>
            </a:r>
            <a:endParaRPr lang="en-US" sz="1000" dirty="0"/>
          </a:p>
        </p:txBody>
      </p:sp>
      <p:sp>
        <p:nvSpPr>
          <p:cNvPr id="6" name="Scope, readings &amp; sources card"/>
          <p:cNvSpPr/>
          <p:nvPr/>
        </p:nvSpPr>
        <p:spPr>
          <a:xfrm>
            <a:off x="548640" y="1325880"/>
            <a:ext cx="11094415" cy="2665476"/>
          </a:xfrm>
          <a:prstGeom prst="roundRect">
            <a:avLst>
              <a:gd name="adj" fmla="val 4117"/>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17967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Session 2 of 2 on Introduction to Pharmacology (Thursday, October 22): metabolism, excretion, PK calculations, pharmacogenomics &amp; clinical integration.</a:t>
            </a:r>
            <a:r>
              <a:rPr lang="en-US" sz="1300" dirty="0">
                <a:solidFill>
                  <a:srgbClr val="666666"/>
                </a:solidFill>
              </a:rPr>
              <a:t>  S1</a:t>
            </a:r>
            <a:endParaRPr lang="en-US" sz="1800" dirty="0"/>
          </a:p>
          <a:p>
            <a:pPr marL="228600" indent="-228600">
              <a:spcAft>
                <a:spcPts val="800"/>
              </a:spcAft>
              <a:buSzPct val="100000"/>
              <a:buChar char="•"/>
            </a:pPr>
            <a:r>
              <a:rPr lang="en-US" sz="1800" dirty="0">
                <a:solidFill>
                  <a:srgbClr val="1F1F1F"/>
                </a:solidFill>
              </a:rPr>
              <a:t>Recap: Session 1 covered pharmacology vocabulary, drug development, pharmacodynamics, dose-response relationships, and ADME through distribution. Today picks up with metabolism (Section 6) and runs through the integrated clinical framework and recall quiz.</a:t>
            </a:r>
            <a:r>
              <a:rPr lang="en-US" sz="1300" dirty="0">
                <a:solidFill>
                  <a:srgbClr val="666666"/>
                </a:solidFill>
              </a:rPr>
              <a:t>  S2; S2 (notes)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a:t>
            </a:r>
            <a:endParaRPr lang="en-US" sz="1000" dirty="0"/>
          </a:p>
        </p:txBody>
      </p:sp>
      <p:sp>
        <p:nvSpPr>
          <p:cNvPr id="6" name="Scope, readings &amp; sources card"/>
          <p:cNvSpPr/>
          <p:nvPr/>
        </p:nvSpPr>
        <p:spPr>
          <a:xfrm>
            <a:off x="548640" y="1325880"/>
            <a:ext cx="11094415" cy="3502152"/>
          </a:xfrm>
          <a:prstGeom prst="roundRect">
            <a:avLst>
              <a:gd name="adj" fmla="val 3133"/>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26334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Lecture Recall Quiz is a cumulative self-test covering both sessions — a standalone recall resource, separate from the in-lecture quick checks; revisit it on your own before the exam. (Rebuilt here as practice questions.)</a:t>
            </a:r>
            <a:r>
              <a:rPr lang="en-US" sz="1300" dirty="0">
                <a:solidFill>
                  <a:srgbClr val="666666"/>
                </a:solidFill>
              </a:rPr>
              <a:t>  S45; S48 (notes)</a:t>
            </a:r>
            <a:endParaRPr lang="en-US" sz="1800" dirty="0"/>
          </a:p>
          <a:p>
            <a:pPr marL="228600" indent="-228600">
              <a:spcAft>
                <a:spcPts val="800"/>
              </a:spcAft>
              <a:buSzPct val="100000"/>
              <a:buChar char="•"/>
            </a:pPr>
            <a:r>
              <a:rPr lang="en-US" sz="1800" b="1" dirty="0">
                <a:solidFill>
                  <a:srgbClr val="1F1F1F"/>
                </a:solidFill>
              </a:rPr>
              <a:t>Original figures in this deck:</a:t>
            </a:r>
            <a:r>
              <a:rPr lang="en-US" sz="1800" dirty="0">
                <a:solidFill>
                  <a:srgbClr val="1F1F1F"/>
                </a:solidFill>
              </a:rPr>
              <a:t> Figures 6–8 (CYP450 inhibition vs. induction; exponential decay over half-lives; reaching steady state with and without a loading dose) were generated by the course director using the AI tool Claude to illustrate standard, non-copyrighted pharmacologic concepts — original diagrams, not reproduced from Katzung or any other copyrighted source. </a:t>
            </a:r>
            <a:r>
              <a:rPr lang="en-US" sz="1800" b="1" dirty="0">
                <a:solidFill>
                  <a:srgbClr val="1F1F1F"/>
                </a:solidFill>
              </a:rPr>
              <a:t>Reference:</a:t>
            </a:r>
            <a:r>
              <a:rPr lang="en-US" sz="1800" dirty="0">
                <a:solidFill>
                  <a:srgbClr val="1F1F1F"/>
                </a:solidFill>
              </a:rPr>
              <a:t> Anthropic. (2026). Claude (Sonnet 5) [Large language model]. https://claude.ai</a:t>
            </a:r>
            <a:r>
              <a:rPr lang="en-US" sz="1300" dirty="0">
                <a:solidFill>
                  <a:srgbClr val="666666"/>
                </a:solidFill>
              </a:rPr>
              <a:t>  S49; S49 (notes)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ROADMAP</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Topics in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a:t>
            </a:r>
            <a:endParaRPr lang="en-US" sz="1000" dirty="0"/>
          </a:p>
        </p:txBody>
      </p:sp>
      <p:sp>
        <p:nvSpPr>
          <p:cNvPr id="6" name="Shape 4"/>
          <p:cNvSpPr/>
          <p:nvPr/>
        </p:nvSpPr>
        <p:spPr>
          <a:xfrm>
            <a:off x="548640" y="1325880"/>
            <a:ext cx="5364328" cy="914400"/>
          </a:xfrm>
          <a:prstGeom prst="roundRect">
            <a:avLst>
              <a:gd name="adj" fmla="val 10000"/>
            </a:avLst>
          </a:prstGeom>
          <a:solidFill>
            <a:srgbClr val="F2F4F7"/>
          </a:solidFill>
          <a:ln w="12700">
            <a:solidFill>
              <a:srgbClr val="F2F4F7"/>
            </a:solidFill>
            <a:prstDash val="solid"/>
          </a:ln>
        </p:spPr>
      </p:sp>
      <p:sp>
        <p:nvSpPr>
          <p:cNvPr id="7" name="Shape 5"/>
          <p:cNvSpPr/>
          <p:nvPr/>
        </p:nvSpPr>
        <p:spPr>
          <a:xfrm>
            <a:off x="731520" y="1554480"/>
            <a:ext cx="457200" cy="457200"/>
          </a:xfrm>
          <a:prstGeom prst="ellipse">
            <a:avLst/>
          </a:prstGeom>
          <a:solidFill>
            <a:srgbClr val="4472C4"/>
          </a:solidFill>
          <a:ln w="12700">
            <a:solidFill>
              <a:srgbClr val="4472C4"/>
            </a:solidFill>
            <a:prstDash val="solid"/>
          </a:ln>
        </p:spPr>
      </p:sp>
      <p:sp>
        <p:nvSpPr>
          <p:cNvPr id="8" name="Text 6"/>
          <p:cNvSpPr txBox="1"/>
          <p:nvPr/>
        </p:nvSpPr>
        <p:spPr>
          <a:xfrm>
            <a:off x="73152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9" name="Text 7"/>
          <p:cNvSpPr txBox="1"/>
          <p:nvPr/>
        </p:nvSpPr>
        <p:spPr>
          <a:xfrm>
            <a:off x="1371600"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Metabolism &amp; CYP450 Interactions</a:t>
            </a:r>
            <a:endParaRPr lang="en-US" sz="1800" dirty="0"/>
          </a:p>
          <a:p>
            <a:pPr indent="0" marL="0">
              <a:buNone/>
            </a:pPr>
            <a:r>
              <a:rPr lang="en-US" sz="1200" dirty="0">
                <a:solidFill>
                  <a:srgbClr val="666666"/>
                </a:solidFill>
              </a:rPr>
              <a:t>Objectives: SO1, IO1.2, IO1.4</a:t>
            </a:r>
            <a:endParaRPr lang="en-US" sz="1800" dirty="0"/>
          </a:p>
        </p:txBody>
      </p:sp>
      <p:sp>
        <p:nvSpPr>
          <p:cNvPr id="10" name="Shape 8"/>
          <p:cNvSpPr/>
          <p:nvPr/>
        </p:nvSpPr>
        <p:spPr>
          <a:xfrm>
            <a:off x="548640" y="2377440"/>
            <a:ext cx="5364328" cy="914400"/>
          </a:xfrm>
          <a:prstGeom prst="roundRect">
            <a:avLst>
              <a:gd name="adj" fmla="val 10000"/>
            </a:avLst>
          </a:prstGeom>
          <a:solidFill>
            <a:srgbClr val="F2F4F7"/>
          </a:solidFill>
          <a:ln w="12700">
            <a:solidFill>
              <a:srgbClr val="F2F4F7"/>
            </a:solidFill>
            <a:prstDash val="solid"/>
          </a:ln>
        </p:spPr>
      </p:sp>
      <p:sp>
        <p:nvSpPr>
          <p:cNvPr id="11" name="Shape 9"/>
          <p:cNvSpPr/>
          <p:nvPr/>
        </p:nvSpPr>
        <p:spPr>
          <a:xfrm>
            <a:off x="731520" y="2606040"/>
            <a:ext cx="457200" cy="457200"/>
          </a:xfrm>
          <a:prstGeom prst="ellipse">
            <a:avLst/>
          </a:prstGeom>
          <a:solidFill>
            <a:srgbClr val="4472C4"/>
          </a:solidFill>
          <a:ln w="12700">
            <a:solidFill>
              <a:srgbClr val="4472C4"/>
            </a:solidFill>
            <a:prstDash val="solid"/>
          </a:ln>
        </p:spPr>
      </p:sp>
      <p:sp>
        <p:nvSpPr>
          <p:cNvPr id="12" name="Text 10"/>
          <p:cNvSpPr txBox="1"/>
          <p:nvPr/>
        </p:nvSpPr>
        <p:spPr>
          <a:xfrm>
            <a:off x="731520"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Text 11"/>
          <p:cNvSpPr txBox="1"/>
          <p:nvPr/>
        </p:nvSpPr>
        <p:spPr>
          <a:xfrm>
            <a:off x="1371600"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Excretion &amp; Renal Dosing</a:t>
            </a:r>
            <a:endParaRPr lang="en-US" sz="1800" dirty="0"/>
          </a:p>
          <a:p>
            <a:pPr indent="0" marL="0">
              <a:buNone/>
            </a:pPr>
            <a:r>
              <a:rPr lang="en-US" sz="1200" dirty="0">
                <a:solidFill>
                  <a:srgbClr val="666666"/>
                </a:solidFill>
              </a:rPr>
              <a:t>Objectives: SO2, IO1.2, IO1.3, IO1.5</a:t>
            </a:r>
            <a:endParaRPr lang="en-US" sz="1800" dirty="0"/>
          </a:p>
        </p:txBody>
      </p:sp>
      <p:sp>
        <p:nvSpPr>
          <p:cNvPr id="14" name="Shape 12"/>
          <p:cNvSpPr/>
          <p:nvPr/>
        </p:nvSpPr>
        <p:spPr>
          <a:xfrm>
            <a:off x="548640" y="3429000"/>
            <a:ext cx="5364328" cy="914400"/>
          </a:xfrm>
          <a:prstGeom prst="roundRect">
            <a:avLst>
              <a:gd name="adj" fmla="val 10000"/>
            </a:avLst>
          </a:prstGeom>
          <a:solidFill>
            <a:srgbClr val="F2F4F7"/>
          </a:solidFill>
          <a:ln w="12700">
            <a:solidFill>
              <a:srgbClr val="F2F4F7"/>
            </a:solidFill>
            <a:prstDash val="solid"/>
          </a:ln>
        </p:spPr>
      </p:sp>
      <p:sp>
        <p:nvSpPr>
          <p:cNvPr id="15" name="Shape 13"/>
          <p:cNvSpPr/>
          <p:nvPr/>
        </p:nvSpPr>
        <p:spPr>
          <a:xfrm>
            <a:off x="731520" y="3657600"/>
            <a:ext cx="457200" cy="457200"/>
          </a:xfrm>
          <a:prstGeom prst="ellipse">
            <a:avLst/>
          </a:prstGeom>
          <a:solidFill>
            <a:srgbClr val="4472C4"/>
          </a:solidFill>
          <a:ln w="12700">
            <a:solidFill>
              <a:srgbClr val="4472C4"/>
            </a:solidFill>
            <a:prstDash val="solid"/>
          </a:ln>
        </p:spPr>
      </p:sp>
      <p:sp>
        <p:nvSpPr>
          <p:cNvPr id="16" name="Text 14"/>
          <p:cNvSpPr txBox="1"/>
          <p:nvPr/>
        </p:nvSpPr>
        <p:spPr>
          <a:xfrm>
            <a:off x="731520" y="3657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7" name="Text 15"/>
          <p:cNvSpPr txBox="1"/>
          <p:nvPr/>
        </p:nvSpPr>
        <p:spPr>
          <a:xfrm>
            <a:off x="1371600" y="342900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PK Calculations: Half-Life, Steady State &amp; Clearance</a:t>
            </a:r>
            <a:endParaRPr lang="en-US" sz="1800" dirty="0"/>
          </a:p>
          <a:p>
            <a:pPr indent="0" marL="0">
              <a:buNone/>
            </a:pPr>
            <a:r>
              <a:rPr lang="en-US" sz="1200" dirty="0">
                <a:solidFill>
                  <a:srgbClr val="666666"/>
                </a:solidFill>
              </a:rPr>
              <a:t>Objectives: SO3, IO1.1, IO1.3</a:t>
            </a:r>
            <a:endParaRPr lang="en-US" sz="1800" dirty="0"/>
          </a:p>
        </p:txBody>
      </p:sp>
      <p:sp>
        <p:nvSpPr>
          <p:cNvPr id="18" name="Shape 16"/>
          <p:cNvSpPr/>
          <p:nvPr/>
        </p:nvSpPr>
        <p:spPr>
          <a:xfrm>
            <a:off x="6278728" y="1325880"/>
            <a:ext cx="5364328" cy="914400"/>
          </a:xfrm>
          <a:prstGeom prst="roundRect">
            <a:avLst>
              <a:gd name="adj" fmla="val 10000"/>
            </a:avLst>
          </a:prstGeom>
          <a:solidFill>
            <a:srgbClr val="F2F4F7"/>
          </a:solidFill>
          <a:ln w="12700">
            <a:solidFill>
              <a:srgbClr val="F2F4F7"/>
            </a:solidFill>
            <a:prstDash val="solid"/>
          </a:ln>
        </p:spPr>
      </p:sp>
      <p:sp>
        <p:nvSpPr>
          <p:cNvPr id="19" name="Shape 17"/>
          <p:cNvSpPr/>
          <p:nvPr/>
        </p:nvSpPr>
        <p:spPr>
          <a:xfrm>
            <a:off x="6461608" y="1554480"/>
            <a:ext cx="457200" cy="457200"/>
          </a:xfrm>
          <a:prstGeom prst="ellipse">
            <a:avLst/>
          </a:prstGeom>
          <a:solidFill>
            <a:srgbClr val="4472C4"/>
          </a:solidFill>
          <a:ln w="12700">
            <a:solidFill>
              <a:srgbClr val="4472C4"/>
            </a:solidFill>
            <a:prstDash val="solid"/>
          </a:ln>
        </p:spPr>
      </p:sp>
      <p:sp>
        <p:nvSpPr>
          <p:cNvPr id="20" name="Text 18"/>
          <p:cNvSpPr txBox="1"/>
          <p:nvPr/>
        </p:nvSpPr>
        <p:spPr>
          <a:xfrm>
            <a:off x="6461608"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7101688"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Pharmacogenomics</a:t>
            </a:r>
            <a:endParaRPr lang="en-US" sz="1800" dirty="0"/>
          </a:p>
          <a:p>
            <a:pPr indent="0" marL="0">
              <a:buNone/>
            </a:pPr>
            <a:r>
              <a:rPr lang="en-US" sz="1200" dirty="0">
                <a:solidFill>
                  <a:srgbClr val="666666"/>
                </a:solidFill>
              </a:rPr>
              <a:t>Objectives: SO4, IO1.3, IO1.4</a:t>
            </a:r>
            <a:endParaRPr lang="en-US" sz="1800" dirty="0"/>
          </a:p>
        </p:txBody>
      </p:sp>
      <p:sp>
        <p:nvSpPr>
          <p:cNvPr id="22" name="Shape 20"/>
          <p:cNvSpPr/>
          <p:nvPr/>
        </p:nvSpPr>
        <p:spPr>
          <a:xfrm>
            <a:off x="6278728" y="2377440"/>
            <a:ext cx="5364328" cy="914400"/>
          </a:xfrm>
          <a:prstGeom prst="roundRect">
            <a:avLst>
              <a:gd name="adj" fmla="val 10000"/>
            </a:avLst>
          </a:prstGeom>
          <a:solidFill>
            <a:srgbClr val="F2F4F7"/>
          </a:solidFill>
          <a:ln w="12700">
            <a:solidFill>
              <a:srgbClr val="F2F4F7"/>
            </a:solidFill>
            <a:prstDash val="solid"/>
          </a:ln>
        </p:spPr>
      </p:sp>
      <p:sp>
        <p:nvSpPr>
          <p:cNvPr id="23" name="Shape 21"/>
          <p:cNvSpPr/>
          <p:nvPr/>
        </p:nvSpPr>
        <p:spPr>
          <a:xfrm>
            <a:off x="6461608" y="2606040"/>
            <a:ext cx="457200" cy="457200"/>
          </a:xfrm>
          <a:prstGeom prst="ellipse">
            <a:avLst/>
          </a:prstGeom>
          <a:solidFill>
            <a:srgbClr val="4472C4"/>
          </a:solidFill>
          <a:ln w="12700">
            <a:solidFill>
              <a:srgbClr val="4472C4"/>
            </a:solidFill>
            <a:prstDash val="solid"/>
          </a:ln>
        </p:spPr>
      </p:sp>
      <p:sp>
        <p:nvSpPr>
          <p:cNvPr id="24" name="Text 22"/>
          <p:cNvSpPr txBox="1"/>
          <p:nvPr/>
        </p:nvSpPr>
        <p:spPr>
          <a:xfrm>
            <a:off x="6461608"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5" name="Text 23"/>
          <p:cNvSpPr txBox="1"/>
          <p:nvPr/>
        </p:nvSpPr>
        <p:spPr>
          <a:xfrm>
            <a:off x="7101688"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Putting It All Together: Clinical Decision-Making</a:t>
            </a:r>
            <a:endParaRPr lang="en-US" sz="1800" dirty="0"/>
          </a:p>
          <a:p>
            <a:pPr indent="0" marL="0">
              <a:buNone/>
            </a:pPr>
            <a:r>
              <a:rPr lang="en-US" sz="1200" dirty="0">
                <a:solidFill>
                  <a:srgbClr val="666666"/>
                </a:solidFill>
              </a:rPr>
              <a:t>Objectives: SO5, IO1.3, IO1.4, IO1.5</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1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Metabolism &amp; CYP450 Interactions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SO1 · IO1.2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a:t>
            </a:r>
            <a:endParaRPr lang="en-US" sz="1000" dirty="0"/>
          </a:p>
        </p:txBody>
      </p:sp>
      <p:sp>
        <p:nvSpPr>
          <p:cNvPr id="7" name="Key definitions card"/>
          <p:cNvSpPr/>
          <p:nvPr/>
        </p:nvSpPr>
        <p:spPr>
          <a:xfrm>
            <a:off x="548640" y="1325880"/>
            <a:ext cx="11094415" cy="4887468"/>
          </a:xfrm>
          <a:prstGeom prst="roundRect">
            <a:avLst>
              <a:gd name="adj" fmla="val 2245"/>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401878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metabolism = how the body chemically transforms drugs.</a:t>
            </a:r>
            <a:r>
              <a:rPr lang="en-US" sz="1300" dirty="0">
                <a:solidFill>
                  <a:srgbClr val="666666"/>
                </a:solidFill>
              </a:rPr>
              <a:t>  S3</a:t>
            </a:r>
            <a:endParaRPr lang="en-US" sz="1800" dirty="0"/>
          </a:p>
          <a:p>
            <a:pPr marL="228600" indent="-228600">
              <a:spcAft>
                <a:spcPts val="800"/>
              </a:spcAft>
              <a:buSzPct val="100000"/>
              <a:buChar char="•"/>
            </a:pPr>
            <a:r>
              <a:rPr lang="en-US" sz="1800" dirty="0">
                <a:solidFill>
                  <a:srgbClr val="1F1F1F"/>
                </a:solidFill>
              </a:rPr>
              <a:t>Phase I — Functionalization: oxidation, reduction, hydrolysis.</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II — Conjugation: glucuronidation, sulfation, acetylation, methylation, glutathione conjugation.</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Enzyme inhibition:</a:t>
            </a:r>
            <a:r>
              <a:rPr lang="en-US" sz="1800" dirty="0">
                <a:solidFill>
                  <a:srgbClr val="1F1F1F"/>
                </a:solidFill>
              </a:rPr>
              <a:t> a drug slows a CYP enzyme, raising the blood level of any drug that CYP normally clears.</a:t>
            </a:r>
            <a:r>
              <a:rPr lang="en-US" sz="1300" dirty="0">
                <a:solidFill>
                  <a:srgbClr val="666666"/>
                </a:solidFill>
              </a:rPr>
              <a:t>  S6; SG U1-R10</a:t>
            </a:r>
            <a:endParaRPr lang="en-US" sz="1800" dirty="0"/>
          </a:p>
          <a:p>
            <a:pPr marL="228600" indent="-228600">
              <a:spcAft>
                <a:spcPts val="800"/>
              </a:spcAft>
              <a:buSzPct val="100000"/>
              <a:buChar char="•"/>
            </a:pPr>
            <a:r>
              <a:rPr lang="en-US" sz="1800" b="1" dirty="0">
                <a:solidFill>
                  <a:srgbClr val="1F1F1F"/>
                </a:solidFill>
              </a:rPr>
              <a:t>Enzyme induction:</a:t>
            </a:r>
            <a:r>
              <a:rPr lang="en-US" sz="1800" dirty="0">
                <a:solidFill>
                  <a:srgbClr val="1F1F1F"/>
                </a:solidFill>
              </a:rPr>
              <a:t> a drug increases CYP enzyme production, lowering the blood level (and effect) of drugs that CYP clears.</a:t>
            </a:r>
            <a:r>
              <a:rPr lang="en-US" sz="1300" dirty="0">
                <a:solidFill>
                  <a:srgbClr val="666666"/>
                </a:solidFill>
              </a:rPr>
              <a:t>  S6; SG U1-R10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Microsomal mixed-function oxidase system:</a:t>
            </a:r>
            <a:r>
              <a:rPr lang="en-US" sz="1800" dirty="0">
                <a:solidFill>
                  <a:srgbClr val="1F1F1F"/>
                </a:solidFill>
              </a:rPr>
              <a:t> the Phase I machinery in the smooth endoplasmic reticulum; needs cytochrome P450, NADPH-P450 reductase, NADPH and molecular oxygen.</a:t>
            </a:r>
            <a:r>
              <a:rPr lang="en-US" sz="1300" dirty="0">
                <a:solidFill>
                  <a:srgbClr val="666666"/>
                </a:solidFill>
              </a:rPr>
              <a:t>  p. 59</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Cytochrome P450</a:t>
            </a:r>
            <a:r>
              <a:rPr lang="en-US" sz="1800" dirty="0">
                <a:solidFill>
                  <a:srgbClr val="1F1F1F"/>
                </a:solidFill>
              </a:rPr>
              <a:t> is named for the 450-nm light absorption of its carbon-monoxide complex. It has very low substrate specificity: high lipid solubility is the one thing its substrates share.</a:t>
            </a:r>
            <a:r>
              <a:rPr lang="en-US" sz="1300" dirty="0">
                <a:solidFill>
                  <a:srgbClr val="666666"/>
                </a:solidFill>
              </a:rPr>
              <a:t>  p. 59; p. 60</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a:t>
            </a:r>
            <a:endParaRPr lang="en-US" sz="1000" dirty="0"/>
          </a:p>
        </p:txBody>
      </p:sp>
      <p:sp>
        <p:nvSpPr>
          <p:cNvPr id="7" name="How it works (1/3) card"/>
          <p:cNvSpPr/>
          <p:nvPr/>
        </p:nvSpPr>
        <p:spPr>
          <a:xfrm>
            <a:off x="548640" y="1325880"/>
            <a:ext cx="11094415" cy="3273552"/>
          </a:xfrm>
          <a:prstGeom prst="roundRect">
            <a:avLst>
              <a:gd name="adj" fmla="val 3352"/>
            </a:avLst>
          </a:prstGeom>
          <a:solidFill>
            <a:srgbClr val="F2F4F7"/>
          </a:solidFill>
          <a:ln w="12700">
            <a:solidFill>
              <a:srgbClr val="F2F4F7"/>
            </a:solidFill>
            <a:prstDash val="solid"/>
          </a:ln>
        </p:spPr>
      </p:sp>
      <p:sp>
        <p:nvSpPr>
          <p:cNvPr id="8" name="How it works (1/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(1/3)</a:t>
            </a:r>
            <a:endParaRPr lang="en-US" sz="1800" dirty="0"/>
          </a:p>
        </p:txBody>
      </p:sp>
      <p:sp>
        <p:nvSpPr>
          <p:cNvPr id="11" name="How it works (1/3) body"/>
          <p:cNvSpPr txBox="1"/>
          <p:nvPr/>
        </p:nvSpPr>
        <p:spPr>
          <a:xfrm>
            <a:off x="777240" y="2075688"/>
            <a:ext cx="10637215" cy="24048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metabolize? To inactivate an active drug, making it easier to excrete.</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activate a prodrug into its active form.</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produce an active metabolite that contributes to (or extends) the drug effect.</a:t>
            </a:r>
            <a:r>
              <a:rPr lang="en-US" sz="1300" dirty="0">
                <a:solidFill>
                  <a:srgbClr val="666666"/>
                </a:solidFill>
              </a:rPr>
              <a:t>  S4</a:t>
            </a:r>
            <a:endParaRPr lang="en-US" sz="1800" dirty="0"/>
          </a:p>
          <a:p>
            <a:pPr marL="228600" indent="-228600">
              <a:spcAft>
                <a:spcPts val="800"/>
              </a:spcAft>
              <a:buSzPct val="100000"/>
              <a:buChar char="•"/>
            </a:pPr>
            <a:r>
              <a:rPr lang="en-US" sz="1800" b="1" dirty="0">
                <a:solidFill>
                  <a:srgbClr val="1F1F1F"/>
                </a:solidFill>
              </a:rPr>
              <a:t>Occasionally to produce a toxic metabolite — the basis of some drug-induced organ injury.</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Phase I is primarily carried out by cytochrome P450 (CYP450) enzymes and often creates or unmasks a reactive functional group.</a:t>
            </a:r>
            <a:r>
              <a:rPr lang="en-US" sz="1300" dirty="0">
                <a:solidFill>
                  <a:srgbClr val="666666"/>
                </a:solidFill>
              </a:rPr>
              <a:t>  S5</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a:t>
            </a:r>
            <a:endParaRPr lang="en-US" sz="1000" dirty="0"/>
          </a:p>
        </p:txBody>
      </p:sp>
      <p:sp>
        <p:nvSpPr>
          <p:cNvPr id="7" name="How it works (2/3)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How it works (2/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(2/3)</a:t>
            </a:r>
            <a:endParaRPr lang="en-US" sz="1800" dirty="0"/>
          </a:p>
        </p:txBody>
      </p:sp>
      <p:sp>
        <p:nvSpPr>
          <p:cNvPr id="11" name="How it works (2/3)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II attaches a polar group to the molecule, producing a more water-soluble product for renal/biliary excretion.</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 often comes before Phase II, but not always — some drugs go straight to conjugation.</a:t>
            </a:r>
            <a:r>
              <a:rPr lang="en-US" sz="1300" dirty="0">
                <a:solidFill>
                  <a:srgbClr val="666666"/>
                </a:solidFill>
              </a:rPr>
              <a:t>  S5 (notes)</a:t>
            </a:r>
            <a:endParaRPr lang="en-US" sz="1800" dirty="0"/>
          </a:p>
          <a:p>
            <a:pPr marL="228600" indent="-228600">
              <a:spcAft>
                <a:spcPts val="800"/>
              </a:spcAft>
              <a:buSzPct val="100000"/>
              <a:buChar char="•"/>
            </a:pPr>
            <a:r>
              <a:rPr lang="en-US" sz="1800" dirty="0">
                <a:solidFill>
                  <a:srgbClr val="1F1F1F"/>
                </a:solidFill>
              </a:rPr>
              <a:t>Inhibition slows clearance (substrate level rises); induction speeds clearance (substrate level falls).</a:t>
            </a:r>
            <a:r>
              <a:rPr lang="en-US" sz="1300" dirty="0">
                <a:solidFill>
                  <a:srgbClr val="666666"/>
                </a:solidFill>
              </a:rPr>
              <a:t>  S6; SG U1-R10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CYP3A4 alone metabolizes over 50% of the prescription drugs metabolized by the liver.</a:t>
            </a:r>
            <a:r>
              <a:rPr lang="en-US" sz="1300" dirty="0">
                <a:solidFill>
                  <a:srgbClr val="666666"/>
                </a:solidFill>
              </a:rPr>
              <a:t>  p. 60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Acetaminophen is mostly conjugated (glucuronide/sulfate); in overdose glutathione is depleted and the toxic metabolite (NAPQI) injures the liver — </a:t>
            </a:r>
            <a:r>
              <a:rPr lang="en-US" sz="1800" b="1" dirty="0">
                <a:solidFill>
                  <a:srgbClr val="1F1F1F"/>
                </a:solidFill>
              </a:rPr>
              <a:t>N-acetylcysteine</a:t>
            </a:r>
            <a:r>
              <a:rPr lang="en-US" sz="1800" dirty="0">
                <a:solidFill>
                  <a:srgbClr val="1F1F1F"/>
                </a:solidFill>
              </a:rPr>
              <a:t> given within 8–16 hours protects against fulminant hepatotoxicity.</a:t>
            </a:r>
            <a:r>
              <a:rPr lang="en-US" sz="1300" dirty="0">
                <a:solidFill>
                  <a:srgbClr val="666666"/>
                </a:solidFill>
              </a:rPr>
              <a:t>  p. 66</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a:t>
            </a:r>
            <a:endParaRPr lang="en-US" sz="1000" dirty="0"/>
          </a:p>
        </p:txBody>
      </p:sp>
      <p:sp>
        <p:nvSpPr>
          <p:cNvPr id="7" name="How it works (3/3) card"/>
          <p:cNvSpPr/>
          <p:nvPr/>
        </p:nvSpPr>
        <p:spPr>
          <a:xfrm>
            <a:off x="548640" y="1325880"/>
            <a:ext cx="11094415" cy="4279392"/>
          </a:xfrm>
          <a:prstGeom prst="roundRect">
            <a:avLst>
              <a:gd name="adj" fmla="val 2564"/>
            </a:avLst>
          </a:prstGeom>
          <a:solidFill>
            <a:srgbClr val="F2F4F7"/>
          </a:solidFill>
          <a:ln w="12700">
            <a:solidFill>
              <a:srgbClr val="F2F4F7"/>
            </a:solidFill>
            <a:prstDash val="solid"/>
          </a:ln>
        </p:spPr>
      </p:sp>
      <p:sp>
        <p:nvSpPr>
          <p:cNvPr id="8" name="How it works (3/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3/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3/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(3/3)</a:t>
            </a:r>
            <a:endParaRPr lang="en-US" sz="1800" dirty="0"/>
          </a:p>
        </p:txBody>
      </p:sp>
      <p:sp>
        <p:nvSpPr>
          <p:cNvPr id="11" name="How it works (3/3) body"/>
          <p:cNvSpPr txBox="1"/>
          <p:nvPr/>
        </p:nvSpPr>
        <p:spPr>
          <a:xfrm>
            <a:off x="777240" y="2075688"/>
            <a:ext cx="10637215" cy="3410712"/>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Share of liver P450: CYP3A4 about 30%, CYP2C9 about 20%, CYP1A2 about 15%, CYP2E1 about 10%, CYP2D6 about 5%. CYP3A4 handles over 50% of liver-metabolized prescription drugs.</a:t>
            </a:r>
            <a:r>
              <a:rPr lang="en-US" sz="1300" dirty="0">
                <a:solidFill>
                  <a:srgbClr val="666666"/>
                </a:solidFill>
              </a:rPr>
              <a:t>  p. 60</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Inducers act through receptors that switch on CYP genes: </a:t>
            </a:r>
            <a:r>
              <a:rPr lang="en-US" sz="1800" b="1" dirty="0">
                <a:solidFill>
                  <a:srgbClr val="1F1F1F"/>
                </a:solidFill>
              </a:rPr>
              <a:t>AhR</a:t>
            </a:r>
            <a:r>
              <a:rPr lang="en-US" sz="1800" dirty="0">
                <a:solidFill>
                  <a:srgbClr val="1F1F1F"/>
                </a:solidFill>
              </a:rPr>
              <a:t> (tobacco smoke, charcoal-broiled meat, cruciferous vegetables, omeprazole → CYP1A) and </a:t>
            </a:r>
            <a:r>
              <a:rPr lang="en-US" sz="1800" b="1" dirty="0">
                <a:solidFill>
                  <a:srgbClr val="1F1F1F"/>
                </a:solidFill>
              </a:rPr>
              <a:t>PXR</a:t>
            </a:r>
            <a:r>
              <a:rPr lang="en-US" sz="1800" dirty="0">
                <a:solidFill>
                  <a:srgbClr val="1F1F1F"/>
                </a:solidFill>
              </a:rPr>
              <a:t> (rifampin, St. John’s wort, dexamethasone, phenobarbital → CYP3A).</a:t>
            </a:r>
            <a:r>
              <a:rPr lang="en-US" sz="1300" dirty="0">
                <a:solidFill>
                  <a:srgbClr val="666666"/>
                </a:solidFill>
              </a:rPr>
              <a:t>  p. 60</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Commensal gut microbiota</a:t>
            </a:r>
            <a:r>
              <a:rPr lang="en-US" sz="1800" dirty="0">
                <a:solidFill>
                  <a:srgbClr val="1F1F1F"/>
                </a:solidFill>
              </a:rPr>
              <a:t> metabolize drugs too: they reduce digoxin, so antibiotics such as erythromycin or tetracycline can double digoxin levels; bacterial β-glucuronidases free glucuronidated drugs for reabsorption (enterohepatic recycling).</a:t>
            </a:r>
            <a:r>
              <a:rPr lang="en-US" sz="1300" dirty="0">
                <a:solidFill>
                  <a:srgbClr val="666666"/>
                </a:solidFill>
              </a:rPr>
              <a:t>  p. 71</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An inducer can speed up its own metabolism, producing </a:t>
            </a:r>
            <a:r>
              <a:rPr lang="en-US" sz="1800" b="1" dirty="0">
                <a:solidFill>
                  <a:srgbClr val="1F1F1F"/>
                </a:solidFill>
              </a:rPr>
              <a:t>pharmacokinetic tolerance</a:t>
            </a:r>
            <a:r>
              <a:rPr lang="en-US" sz="1800" dirty="0">
                <a:solidFill>
                  <a:srgbClr val="1F1F1F"/>
                </a:solidFill>
              </a:rPr>
              <a:t>: the same dose works less over time.</a:t>
            </a:r>
            <a:r>
              <a:rPr lang="en-US" sz="1300" dirty="0">
                <a:solidFill>
                  <a:srgbClr val="666666"/>
                </a:solidFill>
              </a:rPr>
              <a:t>  p. 72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13</a:t>
            </a:r>
            <a:endParaRPr lang="en-US" sz="1000" dirty="0"/>
          </a:p>
        </p:txBody>
      </p:sp>
      <p:sp>
        <p:nvSpPr>
          <p:cNvPr id="7" name="Clinical relevance (1/2) card"/>
          <p:cNvSpPr/>
          <p:nvPr/>
        </p:nvSpPr>
        <p:spPr>
          <a:xfrm>
            <a:off x="548640" y="1325880"/>
            <a:ext cx="11094415" cy="4777740"/>
          </a:xfrm>
          <a:prstGeom prst="roundRect">
            <a:avLst>
              <a:gd name="adj" fmla="val 2297"/>
            </a:avLst>
          </a:prstGeom>
          <a:solidFill>
            <a:srgbClr val="F2F4F7"/>
          </a:solidFill>
          <a:ln w="12700">
            <a:solidFill>
              <a:srgbClr val="F2F4F7"/>
            </a:solidFill>
            <a:prstDash val="solid"/>
          </a:ln>
        </p:spPr>
      </p:sp>
      <p:sp>
        <p:nvSpPr>
          <p:cNvPr id="8" name="Clinical relevance (1/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(1/2)</a:t>
            </a:r>
            <a:endParaRPr lang="en-US" sz="1800" dirty="0"/>
          </a:p>
        </p:txBody>
      </p:sp>
      <p:sp>
        <p:nvSpPr>
          <p:cNvPr id="11" name="Clinical relevance (1/2) body"/>
          <p:cNvSpPr txBox="1"/>
          <p:nvPr/>
        </p:nvSpPr>
        <p:spPr>
          <a:xfrm>
            <a:off x="777240" y="2075688"/>
            <a:ext cx="10637215" cy="39090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CYP450 interactions are one of the highest-yield concepts in all of pharmacology — nearly every major drug class has at least one clinically important CYP interaction.</a:t>
            </a:r>
            <a:r>
              <a:rPr lang="en-US" sz="1300" dirty="0">
                <a:solidFill>
                  <a:srgbClr val="666666"/>
                </a:solidFill>
              </a:rPr>
              <a:t>  S6 (notes)</a:t>
            </a:r>
            <a:endParaRPr lang="en-US" sz="1800" dirty="0"/>
          </a:p>
          <a:p>
            <a:pPr marL="228600" indent="-228600">
              <a:spcAft>
                <a:spcPts val="800"/>
              </a:spcAft>
              <a:buSzPct val="100000"/>
              <a:buChar char="•"/>
            </a:pPr>
            <a:r>
              <a:rPr lang="en-US" sz="1800" b="1" dirty="0">
                <a:solidFill>
                  <a:srgbClr val="1F1F1F"/>
                </a:solidFill>
              </a:rPr>
              <a:t>Example: Drug A inhibits CYP3A4 → Drug B (a CYP3A4 substrate) accumulates → toxicity risk rises.</a:t>
            </a:r>
            <a:r>
              <a:rPr lang="en-US" sz="1300" dirty="0">
                <a:solidFill>
                  <a:srgbClr val="666666"/>
                </a:solidFill>
              </a:rPr>
              <a:t>  S6; SG U1-R10</a:t>
            </a:r>
            <a:endParaRPr lang="en-US" sz="1800" dirty="0"/>
          </a:p>
          <a:p>
            <a:pPr marL="228600" indent="-228600">
              <a:spcAft>
                <a:spcPts val="800"/>
              </a:spcAft>
              <a:buSzPct val="100000"/>
              <a:buChar char="•"/>
            </a:pPr>
            <a:r>
              <a:rPr lang="en-US" sz="1800" dirty="0">
                <a:solidFill>
                  <a:srgbClr val="1F1F1F"/>
                </a:solidFill>
              </a:rPr>
              <a:t>Inhibition pushes a substrate's level ABOVE 100% of baseline (toxicity risk); induction pushes it BELOW 100% (therapeutic-failure risk).</a:t>
            </a:r>
            <a:r>
              <a:rPr lang="en-US" sz="1300" dirty="0">
                <a:solidFill>
                  <a:srgbClr val="666666"/>
                </a:solidFill>
              </a:rPr>
              <a:t>  S7 (notes)</a:t>
            </a:r>
            <a:endParaRPr lang="en-US" sz="1800" dirty="0"/>
          </a:p>
          <a:p>
            <a:pPr marL="228600" indent="-228600">
              <a:spcAft>
                <a:spcPts val="800"/>
              </a:spcAft>
              <a:buSzPct val="100000"/>
              <a:buChar char="•"/>
            </a:pPr>
            <a:r>
              <a:rPr lang="en-US" sz="1800" dirty="0">
                <a:solidFill>
                  <a:srgbClr val="1F1F1F"/>
                </a:solidFill>
              </a:rPr>
              <a:t>Inhibiting the CYP that clears a substrate is especially dangerous when the substrate has a narrow therapeutic index.</a:t>
            </a:r>
            <a:r>
              <a:rPr lang="en-US" sz="1300" dirty="0">
                <a:solidFill>
                  <a:srgbClr val="666666"/>
                </a:solidFill>
              </a:rPr>
              <a:t>  S11</a:t>
            </a:r>
            <a:endParaRPr lang="en-US" sz="1800" dirty="0"/>
          </a:p>
          <a:p>
            <a:pPr marL="228600" indent="-228600">
              <a:spcAft>
                <a:spcPts val="800"/>
              </a:spcAft>
              <a:buSzPct val="100000"/>
              <a:buChar char="•"/>
            </a:pPr>
            <a:r>
              <a:rPr lang="en-US" sz="1800" dirty="0">
                <a:solidFill>
                  <a:srgbClr val="1F1F1F"/>
                </a:solidFill>
              </a:rPr>
              <a:t>Enzyme induction speeds substrate clearance, lowering its level and effect — the opposite of inhibition.</a:t>
            </a:r>
            <a:r>
              <a:rPr lang="en-US" sz="1300" dirty="0">
                <a:solidFill>
                  <a:srgbClr val="666666"/>
                </a:solidFill>
              </a:rPr>
              <a:t>  S48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Liver disease (e.g., cirrhosis, hepatitis) slows metabolism of some drugs enough that ordinary doses can cause coma.</a:t>
            </a:r>
            <a:r>
              <a:rPr lang="en-US" sz="1300" dirty="0">
                <a:solidFill>
                  <a:srgbClr val="666666"/>
                </a:solidFill>
              </a:rPr>
              <a:t>  p. 73</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14</a:t>
            </a:r>
            <a:endParaRPr lang="en-US" sz="1000" dirty="0"/>
          </a:p>
        </p:txBody>
      </p:sp>
      <p:sp>
        <p:nvSpPr>
          <p:cNvPr id="7" name="Clinical relevance (2/2)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2/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(2/2)</a:t>
            </a:r>
            <a:endParaRPr lang="en-US" sz="1800" dirty="0"/>
          </a:p>
        </p:txBody>
      </p:sp>
      <p:sp>
        <p:nvSpPr>
          <p:cNvPr id="11" name="Clinical relevance (2/2)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Severe ADRs contribute to about 100,000 US deaths a year and about 7% of hospital admissions.</a:t>
            </a:r>
            <a:r>
              <a:rPr lang="en-US" sz="1300" dirty="0">
                <a:solidFill>
                  <a:srgbClr val="666666"/>
                </a:solidFill>
              </a:rPr>
              <a:t>  p. 71</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Smoking induces CYP1A enzymes and can change the metabolism of other drugs.</a:t>
            </a:r>
            <a:r>
              <a:rPr lang="en-US" sz="1300" dirty="0">
                <a:solidFill>
                  <a:srgbClr val="666666"/>
                </a:solidFill>
              </a:rPr>
              <a:t>  p. 60</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Diet and environmental factors</a:t>
            </a:r>
            <a:r>
              <a:rPr lang="en-US" sz="1800" dirty="0">
                <a:solidFill>
                  <a:srgbClr val="1F1F1F"/>
                </a:solidFill>
              </a:rPr>
              <a:t> change drug metabolism: charcoal-broiled food and cruciferous vegetables induce CYP1A, grapefruit juice inhibits CYP3A, smokers and pesticide-exposed workers clear some drugs faster, which complicates dosing of narrow-TI drugs.</a:t>
            </a:r>
            <a:r>
              <a:rPr lang="en-US" sz="1300" dirty="0">
                <a:solidFill>
                  <a:srgbClr val="666666"/>
                </a:solidFill>
              </a:rPr>
              <a:t>  p. 71</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Stopping an inducer is as risky as starting one: when a sedative inducer is stopped, warfarin metabolism slows, levels rise and bleeding can follow.</a:t>
            </a:r>
            <a:r>
              <a:rPr lang="en-US" sz="1300" dirty="0">
                <a:solidFill>
                  <a:srgbClr val="666666"/>
                </a:solidFill>
              </a:rPr>
              <a:t>  p. 72</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Pharmacogenomic testing is still rarely used, although severe ADRs cause about 100,000 US deaths a year and about 7% of hospital admissions.</a:t>
            </a:r>
            <a:r>
              <a:rPr lang="en-US" sz="1300" dirty="0">
                <a:solidFill>
                  <a:srgbClr val="666666"/>
                </a:solidFill>
              </a:rPr>
              <a:t>  p. 71</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15</a:t>
            </a:r>
            <a:endParaRPr lang="en-US" sz="1000" dirty="0"/>
          </a:p>
        </p:txBody>
      </p:sp>
      <p:sp>
        <p:nvSpPr>
          <p:cNvPr id="7" name="Drugs named as examples card"/>
          <p:cNvSpPr/>
          <p:nvPr/>
        </p:nvSpPr>
        <p:spPr>
          <a:xfrm>
            <a:off x="548640" y="1325880"/>
            <a:ext cx="11094415" cy="4777740"/>
          </a:xfrm>
          <a:prstGeom prst="roundRect">
            <a:avLst>
              <a:gd name="adj" fmla="val 2297"/>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10637215" cy="39090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NAPQI (from acetaminophen) is the textbook example of a toxic metabolite produced by normal Phase I metabolism — previewing the acetaminophen toxicity lecture.</a:t>
            </a:r>
            <a:r>
              <a:rPr lang="en-US" sz="1300" dirty="0">
                <a:solidFill>
                  <a:srgbClr val="666666"/>
                </a:solidFill>
              </a:rPr>
              <a:t>  S4 (notes)</a:t>
            </a:r>
            <a:endParaRPr lang="en-US" sz="1800" dirty="0"/>
          </a:p>
          <a:p>
            <a:pPr marL="228600" indent="-228600">
              <a:spcAft>
                <a:spcPts val="800"/>
              </a:spcAft>
              <a:buSzPct val="100000"/>
              <a:buChar char="•"/>
            </a:pPr>
            <a:r>
              <a:rPr lang="en-US" sz="1800" dirty="0">
                <a:solidFill>
                  <a:srgbClr val="1F1F1F"/>
                </a:solidFill>
              </a:rPr>
              <a:t>CYP3A4 — the enzyme in the lecture's inhibitor/substrate example.</a:t>
            </a:r>
            <a:r>
              <a:rPr lang="en-US" sz="1300" dirty="0">
                <a:solidFill>
                  <a:srgbClr val="666666"/>
                </a:solidFill>
              </a:rPr>
              <a:t>  S6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Inducers:</a:t>
            </a:r>
            <a:r>
              <a:rPr lang="en-US" sz="1800" dirty="0">
                <a:solidFill>
                  <a:srgbClr val="1F1F1F"/>
                </a:solidFill>
              </a:rPr>
              <a:t> rifampin, carbamazepine, phenytoin, barbiturates, St. John's wort; </a:t>
            </a:r>
            <a:r>
              <a:rPr lang="en-US" sz="1800" b="1" dirty="0">
                <a:solidFill>
                  <a:srgbClr val="1F1F1F"/>
                </a:solidFill>
              </a:rPr>
              <a:t>inhibitors:</a:t>
            </a:r>
            <a:r>
              <a:rPr lang="en-US" sz="1800" dirty="0">
                <a:solidFill>
                  <a:srgbClr val="1F1F1F"/>
                </a:solidFill>
              </a:rPr>
              <a:t> ketoconazole, clarithromycin/erythromycin, ritonavir, grapefruit juice.</a:t>
            </a:r>
            <a:r>
              <a:rPr lang="en-US" sz="1300" dirty="0">
                <a:solidFill>
                  <a:srgbClr val="666666"/>
                </a:solidFill>
              </a:rPr>
              <a:t>  p. 63; p. 64</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St. John's wort induces CYP3A4 and speeds metabolism of oral contraceptives, warfarin, cyclosporine, and others.</a:t>
            </a:r>
            <a:r>
              <a:rPr lang="en-US" sz="1300" dirty="0">
                <a:solidFill>
                  <a:srgbClr val="666666"/>
                </a:solidFill>
              </a:rPr>
              <a:t>  p. 72</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CYP3A4 inhibitors (ketoconazole, erythromycin, grapefruit juice) with terfenadine caused fatal torsades de pointes, and terfenadine was withdrawn.</a:t>
            </a:r>
            <a:r>
              <a:rPr lang="en-US" sz="1300" dirty="0">
                <a:solidFill>
                  <a:srgbClr val="666666"/>
                </a:solidFill>
              </a:rPr>
              <a:t>  p. 72</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Allopurinol inhibits xanthine oxidase, so the mercaptopurine dose must be reduced when both are given.</a:t>
            </a:r>
            <a:r>
              <a:rPr lang="en-US" sz="1300" dirty="0">
                <a:solidFill>
                  <a:srgbClr val="666666"/>
                </a:solidFill>
              </a:rPr>
              <a:t>  p. 72</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16</a:t>
            </a:r>
            <a:endParaRPr lang="en-US" sz="1000" dirty="0"/>
          </a:p>
        </p:txBody>
      </p:sp>
      <p:sp>
        <p:nvSpPr>
          <p:cNvPr id="7" name="Exam traps card"/>
          <p:cNvSpPr/>
          <p:nvPr/>
        </p:nvSpPr>
        <p:spPr>
          <a:xfrm>
            <a:off x="548640" y="1325880"/>
            <a:ext cx="11094415" cy="2496312"/>
          </a:xfrm>
          <a:prstGeom prst="roundRect">
            <a:avLst>
              <a:gd name="adj" fmla="val 4396"/>
            </a:avLst>
          </a:prstGeom>
          <a:solidFill>
            <a:srgbClr val="F2F4F7"/>
          </a:solidFill>
          <a:ln w="12700">
            <a:solidFill>
              <a:srgbClr val="F2F4F7"/>
            </a:solidFill>
            <a:prstDash val="solid"/>
          </a:ln>
        </p:spPr>
      </p:sp>
      <p:sp>
        <p:nvSpPr>
          <p:cNvPr id="8" name="Exam trap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Exam trap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Exam trap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1" name="Exam traps body"/>
          <p:cNvSpPr txBox="1"/>
          <p:nvPr/>
        </p:nvSpPr>
        <p:spPr>
          <a:xfrm>
            <a:off x="777240" y="2075688"/>
            <a:ext cx="10637215" cy="162763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Inhibitor → substrate level UP (toxicity); inducer → substrate level DOWN (therapeutic failure). Don't swap them.</a:t>
            </a:r>
            <a:r>
              <a:rPr lang="en-US" sz="1300" dirty="0">
                <a:solidFill>
                  <a:srgbClr val="666666"/>
                </a:solidFill>
              </a:rPr>
              <a:t>  S7 (notes); S9</a:t>
            </a:r>
            <a:endParaRPr lang="en-US" sz="1800" dirty="0"/>
          </a:p>
          <a:p>
            <a:pPr marL="228600" indent="-228600">
              <a:spcAft>
                <a:spcPts val="800"/>
              </a:spcAft>
              <a:buSzPct val="100000"/>
              <a:buChar char="•"/>
            </a:pPr>
            <a:r>
              <a:rPr lang="en-US" sz="1800" dirty="0">
                <a:solidFill>
                  <a:srgbClr val="1F1F1F"/>
                </a:solidFill>
              </a:rPr>
              <a:t>CYP3A4 is a Phase I (CYP450) enzyme — it does not "only affect Phase II metabolism."</a:t>
            </a:r>
            <a:r>
              <a:rPr lang="en-US" sz="1300" dirty="0">
                <a:solidFill>
                  <a:srgbClr val="666666"/>
                </a:solidFill>
              </a:rPr>
              <a:t>  S5; S10-11</a:t>
            </a:r>
            <a:endParaRPr lang="en-US" sz="1800" dirty="0"/>
          </a:p>
          <a:p>
            <a:pPr marL="228600" indent="-228600">
              <a:spcAft>
                <a:spcPts val="800"/>
              </a:spcAft>
              <a:buSzPct val="100000"/>
              <a:buChar char="•"/>
            </a:pPr>
            <a:r>
              <a:rPr lang="en-US" sz="1800" dirty="0">
                <a:solidFill>
                  <a:srgbClr val="1F1F1F"/>
                </a:solidFill>
              </a:rPr>
              <a:t>Not every drug goes through Phase I first — some go straight to Phase II conjugation.</a:t>
            </a:r>
            <a:r>
              <a:rPr lang="en-US" sz="1300" dirty="0">
                <a:solidFill>
                  <a:srgbClr val="666666"/>
                </a:solidFill>
              </a:rPr>
              <a:t>  S5 (notes)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6 ·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17</a:t>
            </a:r>
            <a:endParaRPr lang="en-US" sz="1000" dirty="0"/>
          </a:p>
        </p:txBody>
      </p:sp>
      <p:pic>
        <p:nvPicPr>
          <p:cNvPr id="7" name="Figure S7_1.png" descr="/home/user/dpas-pharm/work/L02/figures/S7_1.png">    </p:cNvPr>
          <p:cNvPicPr>
            <a:picLocks noChangeAspect="1"/>
          </p:cNvPicPr>
          <p:nvPr/>
        </p:nvPicPr>
        <p:blipFill>
          <a:blip r:embed="rId1"/>
          <a:stretch>
            <a:fillRect/>
          </a:stretch>
        </p:blipFill>
        <p:spPr>
          <a:xfrm>
            <a:off x="2672436" y="1325880"/>
            <a:ext cx="6846824"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bar chart (illustrative values): a CYP450 inhibitor raises a substrate drug's blood level (to 240% of baseline — toxicity risk); an inducer lowers it (to 42% — therapeutic-failure risk).</a:t>
            </a:r>
            <a:r>
              <a:rPr lang="en-US" sz="1100" dirty="0">
                <a:solidFill>
                  <a:srgbClr val="666666"/>
                </a:solidFill>
              </a:rPr>
              <a:t>  S7; S7 (notes); S8</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Phase I vs. Phase II metabolism</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18</a:t>
            </a:r>
            <a:endParaRPr lang="en-US" sz="1000" dirty="0"/>
          </a:p>
        </p:txBody>
      </p:sp>
      <p:graphicFrame>
        <p:nvGraphicFramePr>
          <p:cNvPr id="19"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 — Functionalization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II — Conjugation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Reactions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Oxidation, reduction, hydrolysis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Glucuronidation, sulfation, acetylation, methylation, glutathione conjugation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Main enzymes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Cytochrome P450 (CYP450)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What it does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Creates or unmasks a reactive functional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Attaches a polar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Result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More water-soluble product for renal/biliary excretion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Order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Often first — but not always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Some drugs go straight here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421436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S5; S5 (notes)</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19</a:t>
            </a:r>
            <a:endParaRPr lang="en-US" sz="1000" dirty="0"/>
          </a:p>
        </p:txBody>
      </p:sp>
      <p:graphicFrame>
        <p:nvGraphicFramePr>
          <p:cNvPr id="20"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inhibition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induction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What happens to the CYP enzyme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Slowed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More enzyme produced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Substrate drug's blood level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Rises</a:t>
                      </a:r>
                      <a:r>
                        <a:rPr lang="en-US" sz="1600" dirty="0">
                          <a:solidFill>
                            <a:srgbClr val="1F1F1F"/>
                          </a:solidFill>
                        </a:rPr>
                        <a:t> (Figure 6: 240%)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Falls</a:t>
                      </a:r>
                      <a:r>
                        <a:rPr lang="en-US" sz="1600" dirty="0">
                          <a:solidFill>
                            <a:srgbClr val="1F1F1F"/>
                          </a:solidFill>
                        </a:rPr>
                        <a:t> (Figure 6: 42%)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Clinical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Toxicity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Therapeutic failure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Worst case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Narrow-TI substrate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83844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S6; S7 (notes); S8-9; S11</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300" b="1" dirty="0">
                <a:solidFill>
                  <a:srgbClr val="1F1F1F"/>
                </a:solidFill>
                <a:latin typeface="Calibri" pitchFamily="34" charset="0"/>
                <a:ea typeface="Calibri" pitchFamily="34" charset="-122"/>
                <a:cs typeface="Calibri" pitchFamily="34" charset="-120"/>
              </a:rPr>
              <a:t>Compare: How inducers switch on CYP enzymes (textbook Ch. 4)</a:t>
            </a:r>
            <a:endParaRPr lang="en-US" sz="23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20</a:t>
            </a:r>
            <a:endParaRPr lang="en-US" sz="1000" dirty="0"/>
          </a:p>
        </p:txBody>
      </p:sp>
      <p:graphicFrame>
        <p:nvGraphicFramePr>
          <p:cNvPr id="21"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Receptor</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Inducers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induced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AhR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Tobacco smoke, charcoal-broiled meat, cruciferous vegetables, omeprazole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CYP1A</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PXR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Rifampin, St. John’s wort (hyperforin), dexamethasone, phenobarbital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CYP3A</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CAR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Phenobarbital-class inducers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CYP2B6, CYP2C9</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462528"/>
            <a:ext cx="11094415" cy="274320"/>
          </a:xfrm>
          <a:prstGeom prst="rect">
            <a:avLst/>
          </a:prstGeom>
          <a:noFill/>
          <a:ln/>
        </p:spPr>
        <p:txBody>
          <a:bodyPr wrap="square" lIns="0" tIns="0" rIns="0" bIns="0" rtlCol="0" anchor="ctr"/>
          <a:lstStyle/>
          <a:p>
            <a:pPr indent="0" marL="0">
              <a:buNone/>
            </a:pPr>
            <a:r>
              <a:rPr lang="en-US" sz="1000" b="1" dirty="0">
                <a:solidFill>
                  <a:srgbClr val="000000"/>
                </a:solidFill>
                <a:highlight>
                  <a:srgbClr val="FFC000"/>
                </a:highlight>
              </a:rPr>
              <a:t> TB </a:t>
            </a:r>
            <a:r>
              <a:rPr lang="en-US" sz="1000" dirty="0">
                <a:solidFill>
                  <a:srgbClr val="000000"/>
                </a:solidFill>
              </a:rPr>
              <a:t>  </a:t>
            </a:r>
            <a:r>
              <a:rPr lang="en-US" sz="1100" dirty="0">
                <a:solidFill>
                  <a:srgbClr val="666666"/>
                </a:solidFill>
              </a:rPr>
              <a:t>Focus: what tells these apart.  Sources: p. 60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21</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an inhibitor cause toxicity? The CYP enzyme that normally clears the substrate is slowed, so the substrate can no longer be cleared normally and accumulates.</a:t>
            </a:r>
            <a:r>
              <a:rPr lang="en-US" sz="1300" dirty="0">
                <a:solidFill>
                  <a:srgbClr val="666666"/>
                </a:solidFill>
              </a:rPr>
              <a:t>  S6; S9</a:t>
            </a:r>
            <a:endParaRPr lang="en-US" sz="1800" dirty="0"/>
          </a:p>
        </p:txBody>
      </p:sp>
      <p:sp>
        <p:nvSpPr>
          <p:cNvPr id="12" name="Mnemonic (memory aid) card"/>
          <p:cNvSpPr/>
          <p:nvPr/>
        </p:nvSpPr>
        <p:spPr>
          <a:xfrm>
            <a:off x="548640" y="3831336"/>
            <a:ext cx="5364328" cy="1997964"/>
          </a:xfrm>
          <a:prstGeom prst="roundRect">
            <a:avLst>
              <a:gd name="adj" fmla="val 5492"/>
            </a:avLst>
          </a:prstGeom>
          <a:solidFill>
            <a:srgbClr val="F2F4F7"/>
          </a:solidFill>
          <a:ln w="12700">
            <a:solidFill>
              <a:srgbClr val="F2F4F7"/>
            </a:solidFill>
            <a:prstDash val="solid"/>
          </a:ln>
        </p:spPr>
      </p:sp>
      <p:sp>
        <p:nvSpPr>
          <p:cNvPr id="13" name="Mnemonic (memory aid) icon circle"/>
          <p:cNvSpPr/>
          <p:nvPr/>
        </p:nvSpPr>
        <p:spPr>
          <a:xfrm>
            <a:off x="777240" y="4014216"/>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114800"/>
            <a:ext cx="237744" cy="237744"/>
          </a:xfrm>
          <a:prstGeom prst="rect">
            <a:avLst/>
          </a:prstGeom>
        </p:spPr>
      </p:pic>
      <p:sp>
        <p:nvSpPr>
          <p:cNvPr id="15" name="Mnemonic (memory aid) heading"/>
          <p:cNvSpPr txBox="1"/>
          <p:nvPr/>
        </p:nvSpPr>
        <p:spPr>
          <a:xfrm>
            <a:off x="1353312"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a:t>
            </a:r>
            <a:r>
              <a:rPr lang="en-US" sz="1800" b="1" dirty="0">
                <a:solidFill>
                  <a:srgbClr val="1F1F1F"/>
                </a:solidFill>
              </a:rPr>
              <a:t>I</a:t>
            </a:r>
            <a:r>
              <a:rPr lang="en-US" sz="1800" dirty="0">
                <a:solidFill>
                  <a:srgbClr val="1F1F1F"/>
                </a:solidFill>
              </a:rPr>
              <a:t> = </a:t>
            </a:r>
            <a:r>
              <a:rPr lang="en-US" sz="1800" b="1" dirty="0">
                <a:solidFill>
                  <a:srgbClr val="1F1F1F"/>
                </a:solidFill>
              </a:rPr>
              <a:t>I</a:t>
            </a:r>
            <a:r>
              <a:rPr lang="en-US" sz="1800" dirty="0">
                <a:solidFill>
                  <a:srgbClr val="1F1F1F"/>
                </a:solidFill>
              </a:rPr>
              <a:t>nitial change (oxidize, reduce, hydrolyze — CYP450). Phase </a:t>
            </a:r>
            <a:r>
              <a:rPr lang="en-US" sz="1800" b="1" dirty="0">
                <a:solidFill>
                  <a:srgbClr val="1F1F1F"/>
                </a:solidFill>
              </a:rPr>
              <a:t>II</a:t>
            </a:r>
            <a:r>
              <a:rPr lang="en-US" sz="1800" dirty="0">
                <a:solidFill>
                  <a:srgbClr val="1F1F1F"/>
                </a:solidFill>
              </a:rPr>
              <a:t> = </a:t>
            </a:r>
            <a:r>
              <a:rPr lang="en-US" sz="1800" b="1" dirty="0">
                <a:solidFill>
                  <a:srgbClr val="1F1F1F"/>
                </a:solidFill>
              </a:rPr>
              <a:t>T</a:t>
            </a:r>
            <a:r>
              <a:rPr lang="en-US" sz="1800" dirty="0">
                <a:solidFill>
                  <a:srgbClr val="1F1F1F"/>
                </a:solidFill>
              </a:rPr>
              <a:t>ag it (conjugate a polar group → water-soluble).</a:t>
            </a:r>
            <a:r>
              <a:rPr lang="en-US" sz="1300" dirty="0">
                <a:solidFill>
                  <a:srgbClr val="666666"/>
                </a:solidFill>
              </a:rPr>
              <a:t>  S5</a:t>
            </a:r>
            <a:endParaRPr lang="en-US" sz="1800" dirty="0"/>
          </a:p>
        </p:txBody>
      </p:sp>
      <p:sp>
        <p:nvSpPr>
          <p:cNvPr id="17"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Phase II help excretion? Attaching a polar group makes the drug more water-soluble, so it can leave in urine or bile.</a:t>
            </a:r>
            <a:r>
              <a:rPr lang="en-US" sz="1300" dirty="0">
                <a:solidFill>
                  <a:srgbClr val="666666"/>
                </a:solidFill>
              </a:rPr>
              <a:t>  S5</a:t>
            </a:r>
            <a:endParaRPr lang="en-US" sz="1800" dirty="0"/>
          </a:p>
        </p:txBody>
      </p:sp>
      <p:sp>
        <p:nvSpPr>
          <p:cNvPr id="22"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3835908"/>
            <a:ext cx="237744" cy="237744"/>
          </a:xfrm>
          <a:prstGeom prst="rect">
            <a:avLst/>
          </a:prstGeom>
        </p:spPr>
      </p:pic>
      <p:sp>
        <p:nvSpPr>
          <p:cNvPr id="25"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IN</a:t>
            </a:r>
            <a:r>
              <a:rPr lang="en-US" sz="1800" dirty="0">
                <a:solidFill>
                  <a:srgbClr val="1F1F1F"/>
                </a:solidFill>
              </a:rPr>
              <a:t>hibitor = level goes </a:t>
            </a:r>
            <a:r>
              <a:rPr lang="en-US" sz="1800" b="1" dirty="0">
                <a:solidFill>
                  <a:srgbClr val="1F1F1F"/>
                </a:solidFill>
              </a:rPr>
              <a:t>IN</a:t>
            </a:r>
            <a:r>
              <a:rPr lang="en-US" sz="1800" dirty="0">
                <a:solidFill>
                  <a:srgbClr val="1F1F1F"/>
                </a:solidFill>
              </a:rPr>
              <a:t>to the danger zone (↑, toxicity). In</a:t>
            </a:r>
            <a:r>
              <a:rPr lang="en-US" sz="1800" b="1" dirty="0">
                <a:solidFill>
                  <a:srgbClr val="1F1F1F"/>
                </a:solidFill>
              </a:rPr>
              <a:t>DU</a:t>
            </a:r>
            <a:r>
              <a:rPr lang="en-US" sz="1800" dirty="0">
                <a:solidFill>
                  <a:srgbClr val="1F1F1F"/>
                </a:solidFill>
              </a:rPr>
              <a:t>cer = level goes </a:t>
            </a:r>
            <a:r>
              <a:rPr lang="en-US" sz="1800" b="1" dirty="0">
                <a:solidFill>
                  <a:srgbClr val="1F1F1F"/>
                </a:solidFill>
              </a:rPr>
              <a:t>D</a:t>
            </a:r>
            <a:r>
              <a:rPr lang="en-US" sz="1800" dirty="0">
                <a:solidFill>
                  <a:srgbClr val="1F1F1F"/>
                </a:solidFill>
              </a:rPr>
              <a:t>own (↓, failure).</a:t>
            </a:r>
            <a:r>
              <a:rPr lang="en-US" sz="1300" dirty="0">
                <a:solidFill>
                  <a:srgbClr val="666666"/>
                </a:solidFill>
              </a:rPr>
              <a:t>  S6; S7 (notes)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22</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 (CYP450): oxidation, reduction, hydrolysis. Phase II: conjugation → water-soluble.</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Inhibitor → substrate ↑ → toxicity</a:t>
            </a:r>
            <a:r>
              <a:rPr lang="en-US" sz="1800" dirty="0">
                <a:solidFill>
                  <a:srgbClr val="1F1F1F"/>
                </a:solidFill>
              </a:rPr>
              <a:t>; </a:t>
            </a:r>
            <a:r>
              <a:rPr lang="en-US" sz="1800" b="1" dirty="0">
                <a:solidFill>
                  <a:srgbClr val="1F1F1F"/>
                </a:solidFill>
              </a:rPr>
              <a:t>inducer → substrate ↓ → therapeutic failure</a:t>
            </a:r>
            <a:r>
              <a:rPr lang="en-US" sz="1800" dirty="0">
                <a:solidFill>
                  <a:srgbClr val="1F1F1F"/>
                </a:solidFill>
              </a:rPr>
              <a:t>.</a:t>
            </a:r>
            <a:r>
              <a:rPr lang="en-US" sz="1300" dirty="0">
                <a:solidFill>
                  <a:srgbClr val="666666"/>
                </a:solidFill>
              </a:rPr>
              <a:t>  S6; S7 (notes)</a:t>
            </a:r>
            <a:endParaRPr lang="en-US" sz="1800" dirty="0"/>
          </a:p>
          <a:p>
            <a:pPr marL="228600" indent="-228600">
              <a:spcAft>
                <a:spcPts val="800"/>
              </a:spcAft>
              <a:buSzPct val="100000"/>
              <a:buChar char="•"/>
            </a:pPr>
            <a:r>
              <a:rPr lang="en-US" sz="1800" dirty="0">
                <a:solidFill>
                  <a:srgbClr val="1F1F1F"/>
                </a:solidFill>
              </a:rPr>
              <a:t>Narrow-TI substrate + CYP inhibitor = especially dangerous.</a:t>
            </a:r>
            <a:r>
              <a:rPr lang="en-US" sz="1300" dirty="0">
                <a:solidFill>
                  <a:srgbClr val="666666"/>
                </a:solidFill>
              </a:rPr>
              <a:t>  S11</a:t>
            </a:r>
            <a:endParaRPr lang="en-US" sz="1800" dirty="0"/>
          </a:p>
          <a:p>
            <a:pPr marL="228600" indent="-228600">
              <a:spcAft>
                <a:spcPts val="800"/>
              </a:spcAft>
              <a:buSzPct val="100000"/>
              <a:buChar char="•"/>
            </a:pPr>
            <a:r>
              <a:rPr lang="en-US" sz="1800" dirty="0">
                <a:solidFill>
                  <a:srgbClr val="1F1F1F"/>
                </a:solidFill>
              </a:rPr>
              <a:t>Metabolism can produce toxic metabolites (e.g., NAPQI).</a:t>
            </a:r>
            <a:r>
              <a:rPr lang="en-US" sz="1300" dirty="0">
                <a:solidFill>
                  <a:srgbClr val="666666"/>
                </a:solidFill>
              </a:rPr>
              <a:t>  S4; S4 (notes)</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S8-9</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In Figure 6, the "+ Enzyme inhibitor" bar rises to 240% of baseline, while the "+ Enzyme inducer" bar falls to 42%. For a patient on a stable dose of the substrate drug, which condition poses the greatest risk of toxicity?</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inhibition, because it raises the substrate drug's blood level</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 because any CYP change doubles the toxicity risk</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condition, because CYP changes do not alter drug levels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induction, because it lowers the substrate drug's blood level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Normal metabolism, because the substrate is cleared at baseline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Enzyme inhibition, because it raises the substrate drug's blood level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inhibitor bar at 240% shows the substrate accumulating because it can no longer be cleared normally, raising toxicity risk (S9).</a:t>
            </a:r>
            <a:r>
              <a:rPr lang="en-US" sz="1100" dirty="0">
                <a:solidFill>
                  <a:srgbClr val="666666"/>
                </a:solidFill>
              </a:rPr>
              <a:t>  S7; S8-9</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Both equally, because any CYP change doubles the toxicity risk — </a:t>
            </a:r>
            <a:r>
              <a:rPr lang="en-US" sz="1600" dirty="0">
                <a:solidFill>
                  <a:srgbClr val="1F1F1F"/>
                </a:solidFill>
              </a:rPr>
              <a:t>Only inhibition raises the level; induction lowers it (S6, S9).</a:t>
            </a:r>
            <a:endParaRPr lang="en-US" sz="1600" dirty="0"/>
          </a:p>
          <a:p>
            <a:pPr indent="0" marL="0">
              <a:buNone/>
            </a:pPr>
            <a:r>
              <a:rPr lang="en-US" sz="1600" b="1" dirty="0">
                <a:solidFill>
                  <a:srgbClr val="1F1F1F"/>
                </a:solidFill>
              </a:rPr>
              <a:t>C. Neither condition, because CYP changes do not alter drug levels — </a:t>
            </a:r>
            <a:r>
              <a:rPr lang="en-US" sz="1600" dirty="0">
                <a:solidFill>
                  <a:srgbClr val="1F1F1F"/>
                </a:solidFill>
              </a:rPr>
              <a:t>Both conditions clearly change the substrate's level (S7).</a:t>
            </a:r>
            <a:endParaRPr lang="en-US" sz="1600" dirty="0"/>
          </a:p>
          <a:p>
            <a:pPr indent="0" marL="0">
              <a:buNone/>
            </a:pPr>
            <a:r>
              <a:rPr lang="en-US" sz="1600" b="1" dirty="0">
                <a:solidFill>
                  <a:srgbClr val="1F1F1F"/>
                </a:solidFill>
              </a:rPr>
              <a:t>D. Enzyme induction, because it lowers the substrate drug's blood level — </a:t>
            </a:r>
            <a:r>
              <a:rPr lang="en-US" sz="1600" dirty="0">
                <a:solidFill>
                  <a:srgbClr val="1F1F1F"/>
                </a:solidFill>
              </a:rPr>
              <a:t>The inducer bar (42%) shows the opposite problem — therapeutic failure, not toxicity (S9).</a:t>
            </a:r>
            <a:endParaRPr lang="en-US" sz="1600" dirty="0"/>
          </a:p>
          <a:p>
            <a:pPr indent="0" marL="0">
              <a:buNone/>
            </a:pPr>
            <a:r>
              <a:rPr lang="en-US" sz="1600" b="1" dirty="0">
                <a:solidFill>
                  <a:srgbClr val="1F1F1F"/>
                </a:solidFill>
              </a:rPr>
              <a:t>E. Normal metabolism, because the substrate is cleared at baseline — </a:t>
            </a:r>
            <a:r>
              <a:rPr lang="en-US" sz="1600" dirty="0">
                <a:solidFill>
                  <a:srgbClr val="1F1F1F"/>
                </a:solidFill>
              </a:rPr>
              <a:t>Baseline (100%) is the reference level, not the highest-risk state (S7-9).</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S10-11</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stable on a CYP3A4-substrate medication with a narrow therapeutic index is started on a new drug that is a strong CYP3A4 inhibitor. What is the most likely consequence?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drug level and reduced drug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since CYP3A4 only affects Phase II metabolism</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substrate drug level and increased toxicity risk</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level from faster CYP3A4 clearance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renal clearance of the substrate drug overall</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Increased substrate drug level and increased toxicity risk</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Inhibiting the CYP enzyme that clears the substrate slows its metabolism and raises its level — especially dangerous with a narrow therapeutic index (S11).</a:t>
            </a:r>
            <a:r>
              <a:rPr lang="en-US" sz="1100" dirty="0">
                <a:solidFill>
                  <a:srgbClr val="666666"/>
                </a:solidFill>
              </a:rPr>
              <a:t>  S10-11</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Decreased substrate drug level and reduced drug effect — </a:t>
            </a:r>
            <a:r>
              <a:rPr lang="en-US" sz="1600" dirty="0">
                <a:solidFill>
                  <a:srgbClr val="1F1F1F"/>
                </a:solidFill>
              </a:rPr>
              <a:t>That is the effect of an INDUCER, not an inhibitor (S6).</a:t>
            </a:r>
            <a:endParaRPr lang="en-US" sz="1600" dirty="0"/>
          </a:p>
          <a:p>
            <a:pPr indent="0" marL="0">
              <a:buNone/>
            </a:pPr>
            <a:r>
              <a:rPr lang="en-US" sz="1600" b="1" dirty="0">
                <a:solidFill>
                  <a:srgbClr val="1F1F1F"/>
                </a:solidFill>
              </a:rPr>
              <a:t>B. No change, since CYP3A4 only affects Phase II metabolism — </a:t>
            </a:r>
            <a:r>
              <a:rPr lang="en-US" sz="1600" dirty="0">
                <a:solidFill>
                  <a:srgbClr val="1F1F1F"/>
                </a:solidFill>
              </a:rPr>
              <a:t>CYP450 enzymes carry out Phase I metabolism (S5).</a:t>
            </a:r>
            <a:endParaRPr lang="en-US" sz="1600" dirty="0"/>
          </a:p>
          <a:p>
            <a:pPr indent="0" marL="0">
              <a:buNone/>
            </a:pPr>
            <a:r>
              <a:rPr lang="en-US" sz="1600" b="1" dirty="0">
                <a:solidFill>
                  <a:srgbClr val="1F1F1F"/>
                </a:solidFill>
              </a:rPr>
              <a:t>D. Decreased substrate level from faster CYP3A4 clearance — </a:t>
            </a:r>
            <a:r>
              <a:rPr lang="en-US" sz="1600" dirty="0">
                <a:solidFill>
                  <a:srgbClr val="1F1F1F"/>
                </a:solidFill>
              </a:rPr>
              <a:t>Faster clearance describes induction; an inhibitor slows clearance (S6).</a:t>
            </a:r>
            <a:endParaRPr lang="en-US" sz="1600" dirty="0"/>
          </a:p>
          <a:p>
            <a:pPr indent="0" marL="0">
              <a:buNone/>
            </a:pPr>
            <a:r>
              <a:rPr lang="en-US" sz="1600" b="1" dirty="0">
                <a:solidFill>
                  <a:srgbClr val="1F1F1F"/>
                </a:solidFill>
              </a:rPr>
              <a:t>E. Increased renal clearance of the substrate drug overall — </a:t>
            </a:r>
            <a:r>
              <a:rPr lang="en-US" sz="1600" dirty="0">
                <a:solidFill>
                  <a:srgbClr val="1F1F1F"/>
                </a:solidFill>
              </a:rPr>
              <a:t>A CYP inhibitor slows metabolic clearance; it doesn't raise renal clearance (S6, S11).</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Drug A, a CYP enzyme inducer, is started in a patient taking Drug B, a substrate of that same CYP enzyme. What happens to Drug B's level and effect?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Decreases, risking therapeutic failure</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level or effect</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raising toxicity risk</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Elimination changes to biliary</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then quickly normalizes</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3: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Decreases, risking therapeutic failure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Enzyme induction speeds substrate clearance, lowering its level and effect — the opposite of inhibition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No change in level or effect — </a:t>
            </a:r>
            <a:r>
              <a:rPr lang="en-US" sz="1600" dirty="0">
                <a:solidFill>
                  <a:srgbClr val="1F1F1F"/>
                </a:solidFill>
              </a:rPr>
              <a:t>Induction lowers the level and effect of drugs that CYP clears (S6).</a:t>
            </a:r>
            <a:endParaRPr lang="en-US" sz="1600" dirty="0"/>
          </a:p>
          <a:p>
            <a:pPr indent="0" marL="0">
              <a:buNone/>
            </a:pPr>
            <a:r>
              <a:rPr lang="en-US" sz="1600" b="1" dirty="0">
                <a:solidFill>
                  <a:srgbClr val="1F1F1F"/>
                </a:solidFill>
              </a:rPr>
              <a:t>C. Increases, raising toxicity risk — </a:t>
            </a:r>
            <a:r>
              <a:rPr lang="en-US" sz="1600" dirty="0">
                <a:solidFill>
                  <a:srgbClr val="1F1F1F"/>
                </a:solidFill>
              </a:rPr>
              <a:t>Rising levels and toxicity follow an INHIBITOR (S6).</a:t>
            </a:r>
            <a:endParaRPr lang="en-US" sz="1600" dirty="0"/>
          </a:p>
          <a:p>
            <a:pPr indent="0" marL="0">
              <a:buNone/>
            </a:pPr>
            <a:r>
              <a:rPr lang="en-US" sz="1600" b="1" dirty="0">
                <a:solidFill>
                  <a:srgbClr val="1F1F1F"/>
                </a:solidFill>
              </a:rPr>
              <a:t>D. Elimination changes to biliary — </a:t>
            </a:r>
            <a:r>
              <a:rPr lang="en-US" sz="1600" dirty="0">
                <a:solidFill>
                  <a:srgbClr val="1F1F1F"/>
                </a:solidFill>
              </a:rPr>
              <a:t>Induction changes how fast the drug is cleared, not its route (S48).</a:t>
            </a:r>
            <a:endParaRPr lang="en-US" sz="1600" dirty="0"/>
          </a:p>
          <a:p>
            <a:pPr indent="0" marL="0">
              <a:buNone/>
            </a:pPr>
            <a:r>
              <a:rPr lang="en-US" sz="1600" b="1" dirty="0">
                <a:solidFill>
                  <a:srgbClr val="1F1F1F"/>
                </a:solidFill>
              </a:rPr>
              <a:t>E. Increases, then quickly normalizes — </a:t>
            </a:r>
            <a:r>
              <a:rPr lang="en-US" sz="1600" dirty="0">
                <a:solidFill>
                  <a:srgbClr val="1F1F1F"/>
                </a:solidFill>
              </a:rPr>
              <a:t>Induction lowers, not raises, the substrate level (S6, S48).</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undergoes glucuronidation, which attaches a polar group to the molecule. Which statement best describes this step?</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 oxidation that unmasks a reactive functional group on the drug</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CYP450-driven hydrolysis that always precedes any Phase II reaction</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II reaction that makes the drug more lipophilic and longer-acting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II conjugation that makes the drug more water-soluble for excretion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reduction reaction that converts a prodrug into its active form</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4: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A Phase II conjugation that makes the drug more water-soluble for excretion</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Glucuronidation is a Phase II (conjugation) reaction that attaches a polar group, producing a more water-soluble product for renal/biliary excretion (S5).</a:t>
            </a:r>
            <a:r>
              <a:rPr lang="en-US" sz="1100" dirty="0">
                <a:solidFill>
                  <a:srgbClr val="666666"/>
                </a:solidFill>
              </a:rPr>
              <a:t>  S5</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A Phase I oxidation that unmasks a reactive functional group on the drug — </a:t>
            </a:r>
            <a:r>
              <a:rPr lang="en-US" sz="1600" dirty="0">
                <a:solidFill>
                  <a:srgbClr val="1F1F1F"/>
                </a:solidFill>
              </a:rPr>
              <a:t>Oxidation is Phase I; glucuronidation is Phase II conjugation (S5).</a:t>
            </a:r>
            <a:endParaRPr lang="en-US" sz="1600" dirty="0"/>
          </a:p>
          <a:p>
            <a:pPr indent="0" marL="0">
              <a:buNone/>
            </a:pPr>
            <a:r>
              <a:rPr lang="en-US" sz="1600" b="1" dirty="0">
                <a:solidFill>
                  <a:srgbClr val="1F1F1F"/>
                </a:solidFill>
              </a:rPr>
              <a:t>B. A CYP450-driven hydrolysis that always precedes any Phase II reaction — </a:t>
            </a:r>
            <a:r>
              <a:rPr lang="en-US" sz="1600" dirty="0">
                <a:solidFill>
                  <a:srgbClr val="1F1F1F"/>
                </a:solidFill>
              </a:rPr>
              <a:t>Hydrolysis is Phase I, and Phase I does not always come first (S5, S5 notes).</a:t>
            </a:r>
            <a:endParaRPr lang="en-US" sz="1600" dirty="0"/>
          </a:p>
          <a:p>
            <a:pPr indent="0" marL="0">
              <a:buNone/>
            </a:pPr>
            <a:r>
              <a:rPr lang="en-US" sz="1600" b="1" dirty="0">
                <a:solidFill>
                  <a:srgbClr val="1F1F1F"/>
                </a:solidFill>
              </a:rPr>
              <a:t>C. A Phase II reaction that makes the drug more lipophilic and longer-acting — </a:t>
            </a:r>
            <a:r>
              <a:rPr lang="en-US" sz="1600" dirty="0">
                <a:solidFill>
                  <a:srgbClr val="1F1F1F"/>
                </a:solidFill>
              </a:rPr>
              <a:t>Phase II produces a more water-soluble (polar) product (S5).</a:t>
            </a:r>
            <a:endParaRPr lang="en-US" sz="1600" dirty="0"/>
          </a:p>
          <a:p>
            <a:pPr indent="0" marL="0">
              <a:buNone/>
            </a:pPr>
            <a:r>
              <a:rPr lang="en-US" sz="1600" b="1" dirty="0">
                <a:solidFill>
                  <a:srgbClr val="1F1F1F"/>
                </a:solidFill>
              </a:rPr>
              <a:t>E. A reduction reaction that converts a prodrug into its active form — </a:t>
            </a:r>
            <a:r>
              <a:rPr lang="en-US" sz="1600" dirty="0">
                <a:solidFill>
                  <a:srgbClr val="1F1F1F"/>
                </a:solidFill>
              </a:rPr>
              <a:t>Reduction is a Phase I reaction (S5).</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19-year-old arrives 6 hours after a large intentional acetaminophen ingestion. Labs are pending. Which treatment best protects against fulminant liver injury?</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Sodium bicarbonate to alkalinize the urine and speed excretion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N-acetylcysteine, started within the 8–16 hour window</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Protamine to bind and neutralize the circulating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Rifampin to induce CYP enzymes and clear the drug faster</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Waiting for levels before giving any treatment at all</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5: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N-acetylcysteine, started within the 8–16 hour window</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N-acetylcysteine given within 8–16 hours protects against acetaminophen hepatotoxicity by replacing depleted glutathione (p. 66).</a:t>
            </a:r>
            <a:r>
              <a:rPr lang="en-US" sz="1100" dirty="0">
                <a:solidFill>
                  <a:srgbClr val="666666"/>
                </a:solidFill>
              </a:rPr>
              <a:t>  p. 66</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Sodium bicarbonate to alkalinize the urine and speed excretion — </a:t>
            </a:r>
            <a:r>
              <a:rPr lang="en-US" sz="1600" dirty="0">
                <a:solidFill>
                  <a:srgbClr val="1F1F1F"/>
                </a:solidFill>
              </a:rPr>
              <a:t>Urine alkalinization is used for aspirin overdose, a weak acid (p. 20).</a:t>
            </a:r>
            <a:endParaRPr lang="en-US" sz="1600" dirty="0"/>
          </a:p>
          <a:p>
            <a:pPr indent="0" marL="0">
              <a:buNone/>
            </a:pPr>
            <a:r>
              <a:rPr lang="en-US" sz="1600" b="1" dirty="0">
                <a:solidFill>
                  <a:srgbClr val="1F1F1F"/>
                </a:solidFill>
              </a:rPr>
              <a:t>C. Protamine to bind and neutralize the circulating drug — </a:t>
            </a:r>
            <a:r>
              <a:rPr lang="en-US" sz="1600" dirty="0">
                <a:solidFill>
                  <a:srgbClr val="1F1F1F"/>
                </a:solidFill>
              </a:rPr>
              <a:t>Protamine neutralizes heparin (p. 26), not acetaminophen.</a:t>
            </a:r>
            <a:endParaRPr lang="en-US" sz="1600" dirty="0"/>
          </a:p>
          <a:p>
            <a:pPr indent="0" marL="0">
              <a:buNone/>
            </a:pPr>
            <a:r>
              <a:rPr lang="en-US" sz="1600" b="1" dirty="0">
                <a:solidFill>
                  <a:srgbClr val="1F1F1F"/>
                </a:solidFill>
              </a:rPr>
              <a:t>D. Rifampin to induce CYP enzymes and clear the drug faster — </a:t>
            </a:r>
            <a:r>
              <a:rPr lang="en-US" sz="1600" dirty="0">
                <a:solidFill>
                  <a:srgbClr val="1F1F1F"/>
                </a:solidFill>
              </a:rPr>
              <a:t>Induction would increase toxic metabolite formation, not protect the liver (p. 66).</a:t>
            </a:r>
            <a:endParaRPr lang="en-US" sz="1600" dirty="0"/>
          </a:p>
          <a:p>
            <a:pPr indent="0" marL="0">
              <a:buNone/>
            </a:pPr>
            <a:r>
              <a:rPr lang="en-US" sz="1600" b="1" dirty="0">
                <a:solidFill>
                  <a:srgbClr val="1F1F1F"/>
                </a:solidFill>
              </a:rPr>
              <a:t>E. Waiting for levels before giving any treatment at all — </a:t>
            </a:r>
            <a:r>
              <a:rPr lang="en-US" sz="1600" dirty="0">
                <a:solidFill>
                  <a:srgbClr val="1F1F1F"/>
                </a:solidFill>
              </a:rPr>
              <a:t>The protective window is 8–16 hours, so delay risks liver failure (p. 66).</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33</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heavy smoker on a CYP1A2-metabolized drug quits smoking abruptly. What should the PA anticipate?</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since smoking affects only the lungs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Drug levels will fall because metabolism speeds up</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drug becomes a prodrug that needs activation</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Drug levels may rise as CYP1A induction fades</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Renal clearance will double right away</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6: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Drug levels may rise as CYP1A induction fades</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Tobacco smoke induces CYP1A through AhR; when the inducer stops, metabolism slows and levels can rise (p. 60; p. 72).</a:t>
            </a:r>
            <a:r>
              <a:rPr lang="en-US" sz="1100" dirty="0">
                <a:solidFill>
                  <a:srgbClr val="666666"/>
                </a:solidFill>
              </a:rPr>
              <a:t>  p. 60; p. 72</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change, since smoking affects only the lungs — </a:t>
            </a:r>
            <a:r>
              <a:rPr lang="en-US" sz="1600" dirty="0">
                <a:solidFill>
                  <a:srgbClr val="1F1F1F"/>
                </a:solidFill>
              </a:rPr>
              <a:t>Smoke chemicals induce liver CYP1A enzymes (p. 60).</a:t>
            </a:r>
            <a:endParaRPr lang="en-US" sz="1600" dirty="0"/>
          </a:p>
          <a:p>
            <a:pPr indent="0" marL="0">
              <a:buNone/>
            </a:pPr>
            <a:r>
              <a:rPr lang="en-US" sz="1600" b="1" dirty="0">
                <a:solidFill>
                  <a:srgbClr val="1F1F1F"/>
                </a:solidFill>
              </a:rPr>
              <a:t>B. Drug levels will fall because metabolism speeds up — </a:t>
            </a:r>
            <a:r>
              <a:rPr lang="en-US" sz="1600" dirty="0">
                <a:solidFill>
                  <a:srgbClr val="1F1F1F"/>
                </a:solidFill>
              </a:rPr>
              <a:t>Quitting removes induction, so metabolism slows (p. 60).</a:t>
            </a:r>
            <a:endParaRPr lang="en-US" sz="1600" dirty="0"/>
          </a:p>
          <a:p>
            <a:pPr indent="0" marL="0">
              <a:buNone/>
            </a:pPr>
            <a:r>
              <a:rPr lang="en-US" sz="1600" b="1" dirty="0">
                <a:solidFill>
                  <a:srgbClr val="1F1F1F"/>
                </a:solidFill>
              </a:rPr>
              <a:t>C. The drug becomes a prodrug that needs activation — </a:t>
            </a:r>
            <a:r>
              <a:rPr lang="en-US" sz="1600" dirty="0">
                <a:solidFill>
                  <a:srgbClr val="1F1F1F"/>
                </a:solidFill>
              </a:rPr>
              <a:t>Quitting does not change how the drug is activated (p. 60).</a:t>
            </a:r>
            <a:endParaRPr lang="en-US" sz="1600" dirty="0"/>
          </a:p>
          <a:p>
            <a:pPr indent="0" marL="0">
              <a:buNone/>
            </a:pPr>
            <a:r>
              <a:rPr lang="en-US" sz="1600" b="1" dirty="0">
                <a:solidFill>
                  <a:srgbClr val="1F1F1F"/>
                </a:solidFill>
              </a:rPr>
              <a:t>E. Renal clearance will double right away — </a:t>
            </a:r>
            <a:r>
              <a:rPr lang="en-US" sz="1600" dirty="0">
                <a:solidFill>
                  <a:srgbClr val="1F1F1F"/>
                </a:solidFill>
              </a:rPr>
              <a:t>The effect is on hepatic metabolism, not renal clearance (p. 60).</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2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Excretion &amp; Renal Dosing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SO2 · IO1.2 · IO1.3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 · 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36</a:t>
            </a:r>
            <a:endParaRPr lang="en-US" sz="1000" dirty="0"/>
          </a:p>
        </p:txBody>
      </p:sp>
      <p:sp>
        <p:nvSpPr>
          <p:cNvPr id="7" name="Key definitions card"/>
          <p:cNvSpPr/>
          <p:nvPr/>
        </p:nvSpPr>
        <p:spPr>
          <a:xfrm>
            <a:off x="548640" y="1325880"/>
            <a:ext cx="5410048" cy="4389120"/>
          </a:xfrm>
          <a:prstGeom prst="roundRect">
            <a:avLst>
              <a:gd name="adj" fmla="val 2500"/>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excretion = clearing drug from the body.</a:t>
            </a:r>
            <a:r>
              <a:rPr lang="en-US" sz="1300" dirty="0">
                <a:solidFill>
                  <a:srgbClr val="666666"/>
                </a:solidFill>
              </a:rPr>
              <a:t>  S12</a:t>
            </a:r>
            <a:endParaRPr lang="en-US" sz="1800" dirty="0"/>
          </a:p>
          <a:p>
            <a:pPr marL="228600" indent="-228600">
              <a:spcAft>
                <a:spcPts val="800"/>
              </a:spcAft>
              <a:buSzPct val="100000"/>
              <a:buChar char="•"/>
            </a:pPr>
            <a:r>
              <a:rPr lang="en-US" sz="1800" b="1" dirty="0">
                <a:solidFill>
                  <a:srgbClr val="1F1F1F"/>
                </a:solidFill>
              </a:rPr>
              <a:t>Glomerular filtration:</a:t>
            </a:r>
            <a:r>
              <a:rPr lang="en-US" sz="1800" dirty="0">
                <a:solidFill>
                  <a:srgbClr val="1F1F1F"/>
                </a:solidFill>
              </a:rPr>
              <a:t> free (unbound) drug passes from blood into the renal tubule based on molecular size.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secretion:</a:t>
            </a:r>
            <a:r>
              <a:rPr lang="en-US" sz="1800" dirty="0">
                <a:solidFill>
                  <a:srgbClr val="1F1F1F"/>
                </a:solidFill>
              </a:rPr>
              <a:t> active transporters move additional drug from blood into the tubule.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reabsorption:</a:t>
            </a:r>
            <a:r>
              <a:rPr lang="en-US" sz="1800" dirty="0">
                <a:solidFill>
                  <a:srgbClr val="1F1F1F"/>
                </a:solidFill>
              </a:rPr>
              <a:t> lipophilic, un-ionized drug can passively diffuse back into the blood, reducing net elimination.</a:t>
            </a:r>
            <a:r>
              <a:rPr lang="en-US" sz="1300" dirty="0">
                <a:solidFill>
                  <a:srgbClr val="666666"/>
                </a:solidFill>
              </a:rPr>
              <a:t>  S14</a:t>
            </a:r>
            <a:endParaRPr lang="en-US" sz="1800" dirty="0"/>
          </a:p>
        </p:txBody>
      </p:sp>
      <p:sp>
        <p:nvSpPr>
          <p:cNvPr id="12" name="How it works card"/>
          <p:cNvSpPr/>
          <p:nvPr/>
        </p:nvSpPr>
        <p:spPr>
          <a:xfrm>
            <a:off x="6233008" y="1325880"/>
            <a:ext cx="5410048" cy="4389120"/>
          </a:xfrm>
          <a:prstGeom prst="roundRect">
            <a:avLst>
              <a:gd name="adj" fmla="val 2500"/>
            </a:avLst>
          </a:prstGeom>
          <a:solidFill>
            <a:srgbClr val="F2F4F7"/>
          </a:solidFill>
          <a:ln w="12700">
            <a:solidFill>
              <a:srgbClr val="F2F4F7"/>
            </a:solidFill>
            <a:prstDash val="solid"/>
          </a:ln>
        </p:spPr>
      </p:sp>
      <p:sp>
        <p:nvSpPr>
          <p:cNvPr id="13" name="How it works icon circle"/>
          <p:cNvSpPr/>
          <p:nvPr/>
        </p:nvSpPr>
        <p:spPr>
          <a:xfrm>
            <a:off x="6461608" y="1508760"/>
            <a:ext cx="438912" cy="438912"/>
          </a:xfrm>
          <a:prstGeom prst="ellipse">
            <a:avLst/>
          </a:prstGeom>
          <a:solidFill>
            <a:srgbClr val="7030A0"/>
          </a:solidFill>
          <a:ln w="12700">
            <a:solidFill>
              <a:srgbClr val="7030A0"/>
            </a:solidFill>
            <a:prstDash val="solid"/>
          </a:ln>
        </p:spPr>
      </p:sp>
      <p:pic>
        <p:nvPicPr>
          <p:cNvPr id="14" name="How it work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How it work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6" name="How it works body"/>
          <p:cNvSpPr txBox="1"/>
          <p:nvPr/>
        </p:nvSpPr>
        <p:spPr>
          <a:xfrm>
            <a:off x="6461608"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the dominant route for most drugs and metabolites.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Bile / feces: important for some large or protein-bound drugs.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Lungs: volatile agents (e.g., anesthetic gases).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Sweat / breast milk: minor routes, but breast milk matters for lactating patients.</a:t>
            </a:r>
            <a:r>
              <a:rPr lang="en-US" sz="1300" dirty="0">
                <a:solidFill>
                  <a:srgbClr val="666666"/>
                </a:solidFill>
              </a:rPr>
              <a:t>  S13</a:t>
            </a:r>
            <a:endParaRPr lang="en-US" sz="1800" dirty="0"/>
          </a:p>
          <a:p>
            <a:pPr marL="228600" indent="-228600">
              <a:spcAft>
                <a:spcPts val="800"/>
              </a:spcAft>
              <a:buSzPct val="100000"/>
              <a:buChar char="•"/>
            </a:pPr>
            <a:r>
              <a:rPr lang="en-US" sz="1800" b="1" dirty="0">
                <a:solidFill>
                  <a:srgbClr val="1F1F1F"/>
                </a:solidFill>
              </a:rPr>
              <a:t>Decreased renal function → decreased drug clearance → increased drug exposure and accumulation risk.</a:t>
            </a:r>
            <a:r>
              <a:rPr lang="en-US" sz="1300" dirty="0">
                <a:solidFill>
                  <a:srgbClr val="666666"/>
                </a:solidFill>
              </a:rPr>
              <a:t>  S15</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37</a:t>
            </a:r>
            <a:endParaRPr lang="en-US" sz="1000" dirty="0"/>
          </a:p>
        </p:txBody>
      </p:sp>
      <p:sp>
        <p:nvSpPr>
          <p:cNvPr id="7" name="Clinical relevance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eGFR and creatinine clearance (CrCl) are the standard bedside estimates of renal function used to adjust dosing.</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Any renally-cleared, narrow-therapeutic-index drug (think: many antibiotics, digoxin, lithium) needs a dose or interval adjustment in renal impairment.</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For a primarily renally eliminated drug when eGFR drops: decrease the dose and/or extend the dosing interval, guided by eGFR/CrCl.</a:t>
            </a:r>
            <a:r>
              <a:rPr lang="en-US" sz="1300" dirty="0">
                <a:solidFill>
                  <a:srgbClr val="666666"/>
                </a:solidFill>
              </a:rPr>
              <a:t>  S16-17</a:t>
            </a:r>
            <a:endParaRPr lang="en-US" sz="1800" dirty="0"/>
          </a:p>
          <a:p>
            <a:pPr marL="228600" indent="-228600">
              <a:spcAft>
                <a:spcPts val="800"/>
              </a:spcAft>
              <a:buSzPct val="100000"/>
              <a:buChar char="•"/>
            </a:pPr>
            <a:r>
              <a:rPr lang="en-US" sz="1800" dirty="0">
                <a:solidFill>
                  <a:srgbClr val="1F1F1F"/>
                </a:solidFill>
              </a:rPr>
              <a:t>Urine pH manipulation (e.g., alkalinizing urine in aspirin overdose) works by trapping ionized drug in the tubule, blocking reabsorption.</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This is the PK foundation for the renal-impairment case and the NSAID-in-CKD case later.</a:t>
            </a:r>
            <a:r>
              <a:rPr lang="en-US" sz="1300" dirty="0">
                <a:solidFill>
                  <a:srgbClr val="666666"/>
                </a:solidFill>
              </a:rPr>
              <a:t>  S15 (notes)</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38</a:t>
            </a:r>
            <a:endParaRPr lang="en-US" sz="1000" dirty="0"/>
          </a:p>
        </p:txBody>
      </p:sp>
      <p:sp>
        <p:nvSpPr>
          <p:cNvPr id="7" name="Drugs named as examples card"/>
          <p:cNvSpPr/>
          <p:nvPr/>
        </p:nvSpPr>
        <p:spPr>
          <a:xfrm>
            <a:off x="548640" y="1325880"/>
            <a:ext cx="5410048" cy="3332988"/>
          </a:xfrm>
          <a:prstGeom prst="roundRect">
            <a:avLst>
              <a:gd name="adj" fmla="val 3292"/>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Renally-cleared, narrow-TI drugs: many antibiotics, digoxin, lithium.</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Aspirin overdose — urine alkalinization traps ionized drug.</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Anesthetic gases — eliminated by the lungs.</a:t>
            </a:r>
            <a:r>
              <a:rPr lang="en-US" sz="1300" dirty="0">
                <a:solidFill>
                  <a:srgbClr val="666666"/>
                </a:solidFill>
              </a:rPr>
              <a:t>  S13</a:t>
            </a:r>
            <a:endParaRPr lang="en-US" sz="1800" dirty="0"/>
          </a:p>
        </p:txBody>
      </p:sp>
      <p:sp>
        <p:nvSpPr>
          <p:cNvPr id="12" name="Exam traps card"/>
          <p:cNvSpPr/>
          <p:nvPr/>
        </p:nvSpPr>
        <p:spPr>
          <a:xfrm>
            <a:off x="6233008" y="1325880"/>
            <a:ext cx="5410048" cy="3332988"/>
          </a:xfrm>
          <a:prstGeom prst="roundRect">
            <a:avLst>
              <a:gd name="adj" fmla="val 3292"/>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Only FREE (unbound) drug is filtered at the glomerulus.</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Reabsorption REDUCES net elimination — and only lipophilic, un-ionized drug is reabsorbed.</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Renal impairment → lower dose and/or longer interval — NOT "no adjustment," a higher dose, or "IV only."</a:t>
            </a:r>
            <a:r>
              <a:rPr lang="en-US" sz="1300" dirty="0">
                <a:solidFill>
                  <a:srgbClr val="666666"/>
                </a:solidFill>
              </a:rPr>
              <a:t>  S16-17</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Three renal processes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39</a:t>
            </a:r>
            <a:endParaRPr lang="en-US" sz="1000" dirty="0"/>
          </a:p>
        </p:txBody>
      </p:sp>
      <p:graphicFrame>
        <p:nvGraphicFramePr>
          <p:cNvPr id="40"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2905658"/>
                <a:gridCol w="2905658"/>
                <a:gridCol w="2905658"/>
              </a:tblGrid>
              <a:tr h="0">
                <a:tc>
                  <a:txBody>
                    <a:bodyPr/>
                    <a:lstStyle/>
                    <a:p>
                      <a:pPr indent="0" marL="0">
                        <a:buNone/>
                      </a:pPr>
                      <a:r>
                        <a:rPr lang="en-US" sz="1600" b="1" dirty="0">
                          <a:solidFill>
                            <a:srgbClr val="FFFFFF"/>
                          </a:solidFill>
                        </a:rPr>
                        <a:t>Process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Direction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How</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Which drug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Glomerular filtration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Based on molecular size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Free (unbound)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Tubular secretion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Active transporters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Additional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Tubular reabsorption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Tubule → blood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Passive diffusion — </a:t>
                      </a:r>
                      <a:r>
                        <a:rPr lang="en-US" sz="1600" b="1" dirty="0">
                          <a:solidFill>
                            <a:srgbClr val="1F1F1F"/>
                          </a:solidFill>
                        </a:rPr>
                        <a:t>reduces net elimination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Lipophilic, un-ionized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21462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S14</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Routes of drug elimination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40</a:t>
            </a:r>
            <a:endParaRPr lang="en-US" sz="1000" dirty="0"/>
          </a:p>
        </p:txBody>
      </p:sp>
      <p:graphicFrame>
        <p:nvGraphicFramePr>
          <p:cNvPr id="41"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Route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Importance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Example / who it matters for</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Kidney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Dominant</a:t>
                      </a:r>
                      <a:r>
                        <a:rPr lang="en-US" sz="1600" dirty="0">
                          <a:solidFill>
                            <a:srgbClr val="1F1F1F"/>
                          </a:solidFill>
                        </a:rPr>
                        <a:t> for most drugs and metabolites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Bile / feces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Important for some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 or protein-bound drugs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Lungs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Specific agents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Volatile agents (anesthetic gases)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Sweat / breast milk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Minor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Breast milk matters for lactating patients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S13</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41</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alkalinizing urine help in aspirin overdose? It keeps the drug ionized in the tubule, and only un-ionized drug can diffuse back — so reabsorption is blocked and more drug leaves.</a:t>
            </a:r>
            <a:r>
              <a:rPr lang="en-US" sz="1300" dirty="0">
                <a:solidFill>
                  <a:srgbClr val="666666"/>
                </a:solidFill>
              </a:rPr>
              <a:t>  S14; S14 (notes)</a:t>
            </a:r>
            <a:endParaRPr lang="en-US" sz="1800" dirty="0"/>
          </a:p>
        </p:txBody>
      </p:sp>
      <p:sp>
        <p:nvSpPr>
          <p:cNvPr id="12"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3"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4" name="Why it happens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6"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adjust doses in CKD? Less renal function → less clearance → more exposure and accumulation of renally-cleared drugs.</a:t>
            </a:r>
            <a:r>
              <a:rPr lang="en-US" sz="1300" dirty="0">
                <a:solidFill>
                  <a:srgbClr val="666666"/>
                </a:solidFill>
              </a:rPr>
              <a:t>  S15</a:t>
            </a:r>
            <a:endParaRPr lang="en-US" sz="1800" dirty="0"/>
          </a:p>
        </p:txBody>
      </p:sp>
      <p:sp>
        <p:nvSpPr>
          <p:cNvPr id="17"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18"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19" name="Mnemonic (memory aid) icon" descr="preencoded.png">    </p:cNvPr>
          <p:cNvPicPr>
            <a:picLocks noChangeAspect="1"/>
          </p:cNvPicPr>
          <p:nvPr/>
        </p:nvPicPr>
        <p:blipFill>
          <a:blip r:embed="rId3"/>
          <a:stretch>
            <a:fillRect/>
          </a:stretch>
        </p:blipFill>
        <p:spPr>
          <a:xfrm>
            <a:off x="6607912" y="3835908"/>
            <a:ext cx="237744" cy="237744"/>
          </a:xfrm>
          <a:prstGeom prst="rect">
            <a:avLst/>
          </a:prstGeom>
        </p:spPr>
      </p:pic>
      <p:sp>
        <p:nvSpPr>
          <p:cNvPr id="20"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1"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handling = "</a:t>
            </a:r>
            <a:r>
              <a:rPr lang="en-US" sz="1800" b="1" dirty="0">
                <a:solidFill>
                  <a:srgbClr val="1F1F1F"/>
                </a:solidFill>
              </a:rPr>
              <a:t>F</a:t>
            </a:r>
            <a:r>
              <a:rPr lang="en-US" sz="1800" dirty="0">
                <a:solidFill>
                  <a:srgbClr val="1F1F1F"/>
                </a:solidFill>
              </a:rPr>
              <a:t>ilter, </a:t>
            </a:r>
            <a:r>
              <a:rPr lang="en-US" sz="1800" b="1" dirty="0">
                <a:solidFill>
                  <a:srgbClr val="1F1F1F"/>
                </a:solidFill>
              </a:rPr>
              <a:t>S</a:t>
            </a:r>
            <a:r>
              <a:rPr lang="en-US" sz="1800" dirty="0">
                <a:solidFill>
                  <a:srgbClr val="1F1F1F"/>
                </a:solidFill>
              </a:rPr>
              <a:t>ecrete, </a:t>
            </a:r>
            <a:r>
              <a:rPr lang="en-US" sz="1800" b="1" dirty="0">
                <a:solidFill>
                  <a:srgbClr val="1F1F1F"/>
                </a:solidFill>
              </a:rPr>
              <a:t>R</a:t>
            </a:r>
            <a:r>
              <a:rPr lang="en-US" sz="1800" dirty="0">
                <a:solidFill>
                  <a:srgbClr val="1F1F1F"/>
                </a:solidFill>
              </a:rPr>
              <a:t>eabsorb" — </a:t>
            </a:r>
            <a:r>
              <a:rPr lang="en-US" sz="1800" b="1" dirty="0">
                <a:solidFill>
                  <a:srgbClr val="1F1F1F"/>
                </a:solidFill>
              </a:rPr>
              <a:t>F</a:t>
            </a:r>
            <a:r>
              <a:rPr lang="en-US" sz="1800" dirty="0">
                <a:solidFill>
                  <a:srgbClr val="1F1F1F"/>
                </a:solidFill>
              </a:rPr>
              <a:t>ree drug filtered, </a:t>
            </a:r>
            <a:r>
              <a:rPr lang="en-US" sz="1800" b="1" dirty="0">
                <a:solidFill>
                  <a:srgbClr val="1F1F1F"/>
                </a:solidFill>
              </a:rPr>
              <a:t>S</a:t>
            </a:r>
            <a:r>
              <a:rPr lang="en-US" sz="1800" dirty="0">
                <a:solidFill>
                  <a:srgbClr val="1F1F1F"/>
                </a:solidFill>
              </a:rPr>
              <a:t>ecreted by transporters, </a:t>
            </a:r>
            <a:r>
              <a:rPr lang="en-US" sz="1800" b="1" dirty="0">
                <a:solidFill>
                  <a:srgbClr val="1F1F1F"/>
                </a:solidFill>
              </a:rPr>
              <a:t>R</a:t>
            </a:r>
            <a:r>
              <a:rPr lang="en-US" sz="1800" dirty="0">
                <a:solidFill>
                  <a:srgbClr val="1F1F1F"/>
                </a:solidFill>
              </a:rPr>
              <a:t>eabsorbed if lipophilic &amp; un-ionized.</a:t>
            </a:r>
            <a:r>
              <a:rPr lang="en-US" sz="1300" dirty="0">
                <a:solidFill>
                  <a:srgbClr val="666666"/>
                </a:solidFill>
              </a:rPr>
              <a:t>  S14</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42</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 dominant elimination route; filtration (free drug), secretion (transporters), reabsorption (lipophilic, un-ionized).</a:t>
            </a:r>
            <a:r>
              <a:rPr lang="en-US" sz="1300" dirty="0">
                <a:solidFill>
                  <a:srgbClr val="666666"/>
                </a:solidFill>
              </a:rPr>
              <a:t>  S13; S14</a:t>
            </a:r>
            <a:endParaRPr lang="en-US" sz="1800" dirty="0"/>
          </a:p>
          <a:p>
            <a:pPr marL="228600" indent="-228600">
              <a:spcAft>
                <a:spcPts val="800"/>
              </a:spcAft>
              <a:buSzPct val="100000"/>
              <a:buChar char="•"/>
            </a:pPr>
            <a:r>
              <a:rPr lang="en-US" sz="1800" b="1" dirty="0">
                <a:solidFill>
                  <a:srgbClr val="1F1F1F"/>
                </a:solidFill>
              </a:rPr>
              <a:t>↓ renal function → ↓ clearance → ↑ exposure</a:t>
            </a:r>
            <a:r>
              <a:rPr lang="en-US" sz="1800" dirty="0">
                <a:solidFill>
                  <a:srgbClr val="1F1F1F"/>
                </a:solidFill>
              </a:rPr>
              <a:t> → lower dose and/or longer interval, guided by </a:t>
            </a:r>
            <a:r>
              <a:rPr lang="en-US" sz="1800" b="1" dirty="0">
                <a:solidFill>
                  <a:srgbClr val="1F1F1F"/>
                </a:solidFill>
              </a:rPr>
              <a:t>eGFR/CrCl</a:t>
            </a:r>
            <a:r>
              <a:rPr lang="en-US" sz="1800" dirty="0">
                <a:solidFill>
                  <a:srgbClr val="1F1F1F"/>
                </a:solidFill>
              </a:rPr>
              <a:t>.</a:t>
            </a:r>
            <a:r>
              <a:rPr lang="en-US" sz="1300" dirty="0">
                <a:solidFill>
                  <a:srgbClr val="666666"/>
                </a:solidFill>
              </a:rPr>
              <a:t>  S15; S17</a:t>
            </a:r>
            <a:endParaRPr lang="en-US" sz="1800" dirty="0"/>
          </a:p>
          <a:p>
            <a:pPr marL="228600" indent="-228600">
              <a:spcAft>
                <a:spcPts val="800"/>
              </a:spcAft>
              <a:buSzPct val="100000"/>
              <a:buChar char="•"/>
            </a:pPr>
            <a:r>
              <a:rPr lang="en-US" sz="1800" dirty="0">
                <a:solidFill>
                  <a:srgbClr val="1F1F1F"/>
                </a:solidFill>
              </a:rPr>
              <a:t>Renally cleared narrow-TI drugs: many antibiotics, digoxin, lithium.</a:t>
            </a:r>
            <a:r>
              <a:rPr lang="en-US" sz="1300" dirty="0">
                <a:solidFill>
                  <a:srgbClr val="666666"/>
                </a:solidFill>
              </a:rPr>
              <a:t>  S15</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S16-17</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patient's eGFR drops significantly due to new chronic kidney disease. For a drug that is primarily renally eliminated, what dosing adjustment is most appropriate?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 the dose to maintain the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Shorten the dosing interval to every few hours</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 the dose and/or extend the dosing interval</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dose or interval adjustment is needed</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Switch to IV administration only for now</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7: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Decrease the dose and/or extend the dosing interval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exposure to renally-eliminated drugs; the standard response is a lower dose, a longer interval, or both, guided by eGFR/CrCl (S17).</a:t>
            </a:r>
            <a:r>
              <a:rPr lang="en-US" sz="1100" dirty="0">
                <a:solidFill>
                  <a:srgbClr val="666666"/>
                </a:solidFill>
              </a:rPr>
              <a:t>  S15; S16-17</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Increase the dose to maintain the effect — </a:t>
            </a:r>
            <a:r>
              <a:rPr lang="en-US" sz="1600" dirty="0">
                <a:solidFill>
                  <a:srgbClr val="1F1F1F"/>
                </a:solidFill>
              </a:rPr>
              <a:t>Exposure is already increased; a higher dose would worsen accumulation (S15).</a:t>
            </a:r>
            <a:endParaRPr lang="en-US" sz="1600" dirty="0"/>
          </a:p>
          <a:p>
            <a:pPr indent="0" marL="0">
              <a:buNone/>
            </a:pPr>
            <a:r>
              <a:rPr lang="en-US" sz="1600" b="1" dirty="0">
                <a:solidFill>
                  <a:srgbClr val="1F1F1F"/>
                </a:solidFill>
              </a:rPr>
              <a:t>B. Shorten the dosing interval to every few hours — </a:t>
            </a:r>
            <a:r>
              <a:rPr lang="en-US" sz="1600" dirty="0">
                <a:solidFill>
                  <a:srgbClr val="1F1F1F"/>
                </a:solidFill>
              </a:rPr>
              <a:t>Intervals should be EXTENDED, not shortened, in renal impairment (S17).</a:t>
            </a:r>
            <a:endParaRPr lang="en-US" sz="1600" dirty="0"/>
          </a:p>
          <a:p>
            <a:pPr indent="0" marL="0">
              <a:buNone/>
            </a:pPr>
            <a:r>
              <a:rPr lang="en-US" sz="1600" b="1" dirty="0">
                <a:solidFill>
                  <a:srgbClr val="1F1F1F"/>
                </a:solidFill>
              </a:rPr>
              <a:t>D. No dose or interval adjustment is needed — </a:t>
            </a:r>
            <a:r>
              <a:rPr lang="en-US" sz="1600" dirty="0">
                <a:solidFill>
                  <a:srgbClr val="1F1F1F"/>
                </a:solidFill>
              </a:rPr>
              <a:t>Decreased renal function raises exposure and accumulation risk (S15).</a:t>
            </a:r>
            <a:endParaRPr lang="en-US" sz="1600" dirty="0"/>
          </a:p>
          <a:p>
            <a:pPr indent="0" marL="0">
              <a:buNone/>
            </a:pPr>
            <a:r>
              <a:rPr lang="en-US" sz="1600" b="1" dirty="0">
                <a:solidFill>
                  <a:srgbClr val="1F1F1F"/>
                </a:solidFill>
              </a:rPr>
              <a:t>E. Switch to IV administration only for now — </a:t>
            </a:r>
            <a:r>
              <a:rPr lang="en-US" sz="1600" dirty="0">
                <a:solidFill>
                  <a:srgbClr val="1F1F1F"/>
                </a:solidFill>
              </a:rPr>
              <a:t>Route doesn't fix reduced renal clearance; adjust dose/interval (S17).</a:t>
            </a:r>
            <a:endParaRPr lang="en-US" sz="16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arrives after an aspirin overdose, and the team alkalinizes the urine. How does this increase elimination of the drug?</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shifts elimination from the kidney to bile and feces</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makes the drug more lipophilic so it is reabsorbed</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increases glomerular filtration of protein-bound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activates tubular transporters that secrete the drug</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traps ionized drug in the tubule, blocking its reabsorption</a:t>
            </a:r>
            <a:endParaRPr lang="en-US"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8: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It traps ionized drug in the tubule, blocking its reabsorption</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Urine pH manipulation works by trapping ionized drug in the tubule, blocking reabsorption (S14 notes); only lipophilic, un-ionized drug is reabsorbed (S14).</a:t>
            </a:r>
            <a:r>
              <a:rPr lang="en-US" sz="1100" dirty="0">
                <a:solidFill>
                  <a:srgbClr val="666666"/>
                </a:solidFill>
              </a:rPr>
              <a:t>  S14; S14 (notes)</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It shifts elimination from the kidney to bile and feces — </a:t>
            </a:r>
            <a:r>
              <a:rPr lang="en-US" sz="1600" dirty="0">
                <a:solidFill>
                  <a:srgbClr val="1F1F1F"/>
                </a:solidFill>
              </a:rPr>
              <a:t>The mechanism acts in the renal tubule (S14 notes).</a:t>
            </a:r>
            <a:endParaRPr lang="en-US" sz="1600" dirty="0"/>
          </a:p>
          <a:p>
            <a:pPr indent="0" marL="0">
              <a:buNone/>
            </a:pPr>
            <a:r>
              <a:rPr lang="en-US" sz="1600" b="1" dirty="0">
                <a:solidFill>
                  <a:srgbClr val="1F1F1F"/>
                </a:solidFill>
              </a:rPr>
              <a:t>B. It makes the drug more lipophilic so it is reabsorbed — </a:t>
            </a:r>
            <a:r>
              <a:rPr lang="en-US" sz="1600" dirty="0">
                <a:solidFill>
                  <a:srgbClr val="1F1F1F"/>
                </a:solidFill>
              </a:rPr>
              <a:t>Lipophilic, un-ionized drug is reabsorbed — the opposite of the goal (S14).</a:t>
            </a:r>
            <a:endParaRPr lang="en-US" sz="1600" dirty="0"/>
          </a:p>
          <a:p>
            <a:pPr indent="0" marL="0">
              <a:buNone/>
            </a:pPr>
            <a:r>
              <a:rPr lang="en-US" sz="1600" b="1" dirty="0">
                <a:solidFill>
                  <a:srgbClr val="1F1F1F"/>
                </a:solidFill>
              </a:rPr>
              <a:t>C. It increases glomerular filtration of protein-bound drug — </a:t>
            </a:r>
            <a:r>
              <a:rPr lang="en-US" sz="1600" dirty="0">
                <a:solidFill>
                  <a:srgbClr val="1F1F1F"/>
                </a:solidFill>
              </a:rPr>
              <a:t>Only free (unbound) drug is filtered (S14).</a:t>
            </a:r>
            <a:endParaRPr lang="en-US" sz="1600" dirty="0"/>
          </a:p>
          <a:p>
            <a:pPr indent="0" marL="0">
              <a:buNone/>
            </a:pPr>
            <a:r>
              <a:rPr lang="en-US" sz="1600" b="1" dirty="0">
                <a:solidFill>
                  <a:srgbClr val="1F1F1F"/>
                </a:solidFill>
              </a:rPr>
              <a:t>D. It activates tubular transporters that secrete the drug — </a:t>
            </a:r>
            <a:r>
              <a:rPr lang="en-US" sz="1600" dirty="0">
                <a:solidFill>
                  <a:srgbClr val="1F1F1F"/>
                </a:solidFill>
              </a:rPr>
              <a:t>Secretion uses active transporters (S14), but urine pH works by blocking reabsorption (S14 notes).</a:t>
            </a:r>
            <a:endParaRPr lang="en-US" sz="16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47</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renal process REDUCES the net elimination of a drug?</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Tubular secretion by active transporters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Passive reabsorption of lipophilic, un-ionized drug</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Excretion of volatile agents by the lungs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Filtration of drug based on molecular size</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Glomerular filtration of free, unbound drug</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9: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Passive reabsorption of lipophilic, un-ionized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Tubular reabsorption: lipophilic, un-ionized drug passively diffuses back into the blood, reducing net elimination (S14).</a:t>
            </a:r>
            <a:r>
              <a:rPr lang="en-US" sz="1100" dirty="0">
                <a:solidFill>
                  <a:srgbClr val="666666"/>
                </a:solidFill>
              </a:rPr>
              <a:t>  S14</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Tubular secretion by active transporters — </a:t>
            </a:r>
            <a:r>
              <a:rPr lang="en-US" sz="1600" dirty="0">
                <a:solidFill>
                  <a:srgbClr val="1F1F1F"/>
                </a:solidFill>
              </a:rPr>
              <a:t>Secretion moves additional drug INTO the tubule (S14).</a:t>
            </a:r>
            <a:endParaRPr lang="en-US" sz="1600" dirty="0"/>
          </a:p>
          <a:p>
            <a:pPr indent="0" marL="0">
              <a:buNone/>
            </a:pPr>
            <a:r>
              <a:rPr lang="en-US" sz="1600" b="1" dirty="0">
                <a:solidFill>
                  <a:srgbClr val="1F1F1F"/>
                </a:solidFill>
              </a:rPr>
              <a:t>C. Excretion of volatile agents by the lungs — </a:t>
            </a:r>
            <a:r>
              <a:rPr lang="en-US" sz="1600" dirty="0">
                <a:solidFill>
                  <a:srgbClr val="1F1F1F"/>
                </a:solidFill>
              </a:rPr>
              <a:t>Lung elimination removes volatile agents; it's not a renal process (S13).</a:t>
            </a:r>
            <a:endParaRPr lang="en-US" sz="1600" dirty="0"/>
          </a:p>
          <a:p>
            <a:pPr indent="0" marL="0">
              <a:buNone/>
            </a:pPr>
            <a:r>
              <a:rPr lang="en-US" sz="1600" b="1" dirty="0">
                <a:solidFill>
                  <a:srgbClr val="1F1F1F"/>
                </a:solidFill>
              </a:rPr>
              <a:t>D. Filtration of drug based on molecular size — </a:t>
            </a:r>
            <a:r>
              <a:rPr lang="en-US" sz="1600" dirty="0">
                <a:solidFill>
                  <a:srgbClr val="1F1F1F"/>
                </a:solidFill>
              </a:rPr>
              <a:t>This is glomerular filtration, which adds drug to the tubule (S14).</a:t>
            </a:r>
            <a:endParaRPr lang="en-US" sz="1600" dirty="0"/>
          </a:p>
          <a:p>
            <a:pPr indent="0" marL="0">
              <a:buNone/>
            </a:pPr>
            <a:r>
              <a:rPr lang="en-US" sz="1600" b="1" dirty="0">
                <a:solidFill>
                  <a:srgbClr val="1F1F1F"/>
                </a:solidFill>
              </a:rPr>
              <a:t>E. Glomerular filtration of free, unbound drug — </a:t>
            </a:r>
            <a:r>
              <a:rPr lang="en-US" sz="1600" dirty="0">
                <a:solidFill>
                  <a:srgbClr val="1F1F1F"/>
                </a:solidFill>
              </a:rPr>
              <a:t>Filtration moves drug INTO the tubule (S14).</a:t>
            </a:r>
            <a:endParaRPr lang="en-US" sz="16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3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PK Calculations: Half-Life, Steady State &amp; Clearance</a:t>
            </a:r>
            <a:endParaRPr lang="en-US" sz="41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SO3 · IO1.1 · IO1.3</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49</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50</a:t>
            </a:r>
            <a:endParaRPr lang="en-US" sz="1000" dirty="0"/>
          </a:p>
        </p:txBody>
      </p:sp>
      <p:sp>
        <p:nvSpPr>
          <p:cNvPr id="7" name="Key definitions (1/2) card"/>
          <p:cNvSpPr/>
          <p:nvPr/>
        </p:nvSpPr>
        <p:spPr>
          <a:xfrm>
            <a:off x="548640" y="1325880"/>
            <a:ext cx="11094415" cy="3831336"/>
          </a:xfrm>
          <a:prstGeom prst="roundRect">
            <a:avLst>
              <a:gd name="adj" fmla="val 2864"/>
            </a:avLst>
          </a:prstGeom>
          <a:solidFill>
            <a:srgbClr val="F2F4F7"/>
          </a:solidFill>
          <a:ln w="12700">
            <a:solidFill>
              <a:srgbClr val="F2F4F7"/>
            </a:solidFill>
            <a:prstDash val="solid"/>
          </a:ln>
        </p:spPr>
      </p:sp>
      <p:sp>
        <p:nvSpPr>
          <p:cNvPr id="8" name="Key definitions (1/2)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 (1/2)</a:t>
            </a:r>
            <a:endParaRPr lang="en-US" sz="1800" dirty="0"/>
          </a:p>
        </p:txBody>
      </p:sp>
      <p:sp>
        <p:nvSpPr>
          <p:cNvPr id="11" name="Key definitions (1/2) body"/>
          <p:cNvSpPr txBox="1"/>
          <p:nvPr/>
        </p:nvSpPr>
        <p:spPr>
          <a:xfrm>
            <a:off x="777240" y="2075688"/>
            <a:ext cx="10637215" cy="2962656"/>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Half-life (t½) = the time required for the plasma drug concentration to fall by 50%.</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Steady state:</a:t>
            </a:r>
            <a:r>
              <a:rPr lang="en-US" sz="1800" dirty="0">
                <a:solidFill>
                  <a:srgbClr val="1F1F1F"/>
                </a:solidFill>
              </a:rPr>
              <a:t> the point at which drug intake equals drug elimination; reached in about 4–5 half-lives with regular dosing.</a:t>
            </a:r>
            <a:r>
              <a:rPr lang="en-US" sz="1300" dirty="0">
                <a:solidFill>
                  <a:srgbClr val="666666"/>
                </a:solidFill>
              </a:rPr>
              <a:t>  S23; SG U1-R11</a:t>
            </a:r>
            <a:endParaRPr lang="en-US" sz="1800" dirty="0"/>
          </a:p>
          <a:p>
            <a:pPr marL="228600" indent="-228600">
              <a:spcAft>
                <a:spcPts val="800"/>
              </a:spcAft>
              <a:buSzPct val="100000"/>
              <a:buChar char="•"/>
            </a:pPr>
            <a:r>
              <a:rPr lang="en-US" sz="1800" b="1" dirty="0">
                <a:solidFill>
                  <a:srgbClr val="1F1F1F"/>
                </a:solidFill>
              </a:rPr>
              <a:t>Loading dose:</a:t>
            </a:r>
            <a:r>
              <a:rPr lang="en-US" sz="1800" dirty="0">
                <a:solidFill>
                  <a:srgbClr val="1F1F1F"/>
                </a:solidFill>
              </a:rPr>
              <a:t> a larger initial dose used to rapidly reach a therapeutic concentration, without waiting for steady state.</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Maintenance dose:</a:t>
            </a:r>
            <a:r>
              <a:rPr lang="en-US" sz="1800" dirty="0">
                <a:solidFill>
                  <a:srgbClr val="1F1F1F"/>
                </a:solidFill>
              </a:rPr>
              <a:t> the regular, ongoing dose that keeps the drug within the therapeutic range once steady state is reached.</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Clearance = the volume of plasma from which drug is completely removed per unit time.</a:t>
            </a:r>
            <a:r>
              <a:rPr lang="en-US" sz="1300" dirty="0">
                <a:solidFill>
                  <a:srgbClr val="666666"/>
                </a:solidFill>
              </a:rPr>
              <a:t>  S27</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51</a:t>
            </a:r>
            <a:endParaRPr lang="en-US" sz="1000" dirty="0"/>
          </a:p>
        </p:txBody>
      </p:sp>
      <p:sp>
        <p:nvSpPr>
          <p:cNvPr id="7" name="Key definitions (2/2) card"/>
          <p:cNvSpPr/>
          <p:nvPr/>
        </p:nvSpPr>
        <p:spPr>
          <a:xfrm>
            <a:off x="548640" y="1325880"/>
            <a:ext cx="11094415" cy="4389120"/>
          </a:xfrm>
          <a:prstGeom prst="roundRect">
            <a:avLst>
              <a:gd name="adj" fmla="val 2500"/>
            </a:avLst>
          </a:prstGeom>
          <a:solidFill>
            <a:srgbClr val="F2F4F7"/>
          </a:solidFill>
          <a:ln w="12700">
            <a:solidFill>
              <a:srgbClr val="F2F4F7"/>
            </a:solidFill>
            <a:prstDash val="solid"/>
          </a:ln>
        </p:spPr>
      </p:sp>
      <p:sp>
        <p:nvSpPr>
          <p:cNvPr id="8" name="Key definitions (2/2)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 (2/2)</a:t>
            </a:r>
            <a:endParaRPr lang="en-US" sz="1800" dirty="0"/>
          </a:p>
        </p:txBody>
      </p:sp>
      <p:sp>
        <p:nvSpPr>
          <p:cNvPr id="11" name="Key definitions (2/2) body"/>
          <p:cNvSpPr txBox="1"/>
          <p:nvPr/>
        </p:nvSpPr>
        <p:spPr>
          <a:xfrm>
            <a:off x="777240" y="2075688"/>
            <a:ext cx="10637215" cy="3520440"/>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t½ = 0.7 × Vd / CL</a:t>
            </a:r>
            <a:r>
              <a:rPr lang="en-US" sz="1800" dirty="0">
                <a:solidFill>
                  <a:srgbClr val="1F1F1F"/>
                </a:solidFill>
              </a:rPr>
              <a:t> — half-life rises when Vd rises or clearance falls.</a:t>
            </a:r>
            <a:r>
              <a:rPr lang="en-US" sz="1300" dirty="0">
                <a:solidFill>
                  <a:srgbClr val="666666"/>
                </a:solidFill>
              </a:rPr>
              <a:t>  p. 56</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Loading dose = Vd × target concentration</a:t>
            </a:r>
            <a:r>
              <a:rPr lang="en-US" sz="1800" dirty="0">
                <a:solidFill>
                  <a:srgbClr val="1F1F1F"/>
                </a:solidFill>
              </a:rPr>
              <a:t> (e.g., theophylline: 35 L × 10 mg/L = 350 mg for a 70-kg adult).</a:t>
            </a:r>
            <a:r>
              <a:rPr lang="en-US" sz="1300" dirty="0">
                <a:solidFill>
                  <a:srgbClr val="666666"/>
                </a:solidFill>
              </a:rPr>
              <a:t>  p. 52</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Extraction ratio (ER):</a:t>
            </a:r>
            <a:r>
              <a:rPr lang="en-US" sz="1800" dirty="0">
                <a:solidFill>
                  <a:srgbClr val="1F1F1F"/>
                </a:solidFill>
              </a:rPr>
              <a:t> hepatic clearance divided by hepatic blood flow (about 90 L/h). Oral bioavailability ≈ fraction absorbed × (1 − ER); morphine’s ER of 0.67 predicts about 33% oral bioavailability.</a:t>
            </a:r>
            <a:r>
              <a:rPr lang="en-US" sz="1300" dirty="0">
                <a:solidFill>
                  <a:srgbClr val="666666"/>
                </a:solidFill>
              </a:rPr>
              <a:t>  p. 49</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Target concentration approach</a:t>
            </a:r>
            <a:r>
              <a:rPr lang="en-US" sz="1800" dirty="0">
                <a:solidFill>
                  <a:srgbClr val="1F1F1F"/>
                </a:solidFill>
              </a:rPr>
              <a:t> (the rational way to design a dosage regimen): pick the concentration that gives the desired effect, then individualize the dose from the patient’s clearance and volume of distribution.</a:t>
            </a:r>
            <a:r>
              <a:rPr lang="en-US" sz="1300" dirty="0">
                <a:solidFill>
                  <a:srgbClr val="666666"/>
                </a:solidFill>
              </a:rPr>
              <a:t>  p. 51</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Zero-order absorption</a:t>
            </a:r>
            <a:r>
              <a:rPr lang="en-US" sz="1800" dirty="0">
                <a:solidFill>
                  <a:srgbClr val="1F1F1F"/>
                </a:solidFill>
              </a:rPr>
              <a:t> runs at a constant rate (gastric emptying, controlled-release forms); </a:t>
            </a:r>
            <a:r>
              <a:rPr lang="en-US" sz="1800" b="1" dirty="0">
                <a:solidFill>
                  <a:srgbClr val="1F1F1F"/>
                </a:solidFill>
              </a:rPr>
              <a:t>first-order</a:t>
            </a:r>
            <a:r>
              <a:rPr lang="en-US" sz="1800" dirty="0">
                <a:solidFill>
                  <a:srgbClr val="1F1F1F"/>
                </a:solidFill>
              </a:rPr>
              <a:t> absorption is proportional to the amount left, nearly complete after four absorption half-lives.</a:t>
            </a:r>
            <a:r>
              <a:rPr lang="en-US" sz="1300" dirty="0">
                <a:solidFill>
                  <a:srgbClr val="666666"/>
                </a:solidFill>
              </a:rPr>
              <a:t>  p. 49</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52</a:t>
            </a:r>
            <a:endParaRPr lang="en-US" sz="1000" dirty="0"/>
          </a:p>
        </p:txBody>
      </p:sp>
      <p:sp>
        <p:nvSpPr>
          <p:cNvPr id="7" name="How it works (1/3) card"/>
          <p:cNvSpPr/>
          <p:nvPr/>
        </p:nvSpPr>
        <p:spPr>
          <a:xfrm>
            <a:off x="548640" y="1325880"/>
            <a:ext cx="11094415" cy="3941064"/>
          </a:xfrm>
          <a:prstGeom prst="roundRect">
            <a:avLst>
              <a:gd name="adj" fmla="val 2784"/>
            </a:avLst>
          </a:prstGeom>
          <a:solidFill>
            <a:srgbClr val="F2F4F7"/>
          </a:solidFill>
          <a:ln w="12700">
            <a:solidFill>
              <a:srgbClr val="F2F4F7"/>
            </a:solidFill>
            <a:prstDash val="solid"/>
          </a:ln>
        </p:spPr>
      </p:sp>
      <p:sp>
        <p:nvSpPr>
          <p:cNvPr id="8" name="How it works (1/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(1/3)</a:t>
            </a:r>
            <a:endParaRPr lang="en-US" sz="1800" dirty="0"/>
          </a:p>
        </p:txBody>
      </p:sp>
      <p:sp>
        <p:nvSpPr>
          <p:cNvPr id="11" name="How it works (1/3) body"/>
          <p:cNvSpPr txBox="1"/>
          <p:nvPr/>
        </p:nvSpPr>
        <p:spPr>
          <a:xfrm>
            <a:off x="777240" y="2075688"/>
            <a:ext cx="10637215" cy="30723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PK calculations = the math PAs actually use at the bedside.</a:t>
            </a:r>
            <a:r>
              <a:rPr lang="en-US" sz="1300" dirty="0">
                <a:solidFill>
                  <a:srgbClr val="666666"/>
                </a:solidFill>
              </a:rPr>
              <a:t>  S18</a:t>
            </a:r>
            <a:endParaRPr lang="en-US" sz="1800" dirty="0"/>
          </a:p>
          <a:p>
            <a:pPr marL="228600" indent="-228600">
              <a:spcAft>
                <a:spcPts val="800"/>
              </a:spcAft>
              <a:buSzPct val="100000"/>
              <a:buChar char="•"/>
            </a:pPr>
            <a:r>
              <a:rPr lang="en-US" sz="1800" dirty="0">
                <a:solidFill>
                  <a:srgbClr val="1F1F1F"/>
                </a:solidFill>
              </a:rPr>
              <a:t>Half-life is determined by clearance and volume of distribution together — it is not a fixed drug "property" independent of physiology.</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A drug is roughly 97% eliminated after about 5 half-lives.</a:t>
            </a:r>
            <a:r>
              <a:rPr lang="en-US" sz="1300" dirty="0">
                <a:solidFill>
                  <a:srgbClr val="666666"/>
                </a:solidFill>
              </a:rPr>
              <a:t>  S19; SG U1-R11</a:t>
            </a:r>
            <a:endParaRPr lang="en-US" sz="1800" dirty="0"/>
          </a:p>
          <a:p>
            <a:pPr marL="228600" indent="-228600">
              <a:spcAft>
                <a:spcPts val="800"/>
              </a:spcAft>
              <a:buSzPct val="100000"/>
              <a:buChar char="•"/>
            </a:pPr>
            <a:r>
              <a:rPr lang="en-US" sz="1800" b="1" dirty="0">
                <a:solidFill>
                  <a:srgbClr val="1F1F1F"/>
                </a:solidFill>
              </a:rPr>
              <a:t>Formula: % remaining = 100% x (1/2)^(number of half-life)</a:t>
            </a:r>
            <a:r>
              <a:rPr lang="en-US" sz="1800" dirty="0">
                <a:solidFill>
                  <a:srgbClr val="1F1F1F"/>
                </a:solidFill>
              </a:rPr>
              <a:t> — i.e., per number of half-lives elapsed.</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Formula: C(t) = C₀ x (1/2)^(t/t½)</a:t>
            </a:r>
            <a:r>
              <a:rPr lang="en-US" sz="1800" dirty="0">
                <a:solidFill>
                  <a:srgbClr val="1F1F1F"/>
                </a:solidFill>
              </a:rPr>
              <a:t> — C₀ = starting concentration, t = time elapsed.</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Worked example (both formulas): t½ = 6 h; an IV dose gives a starting plasma concentration of 100 mg/L — see the table for each half-life.</a:t>
            </a:r>
            <a:r>
              <a:rPr lang="en-US" sz="1300" dirty="0">
                <a:solidFill>
                  <a:srgbClr val="666666"/>
                </a:solidFill>
              </a:rPr>
              <a:t>  S19</a:t>
            </a:r>
            <a:endParaRPr lang="en-US" sz="1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53</a:t>
            </a:r>
            <a:endParaRPr lang="en-US" sz="1000" dirty="0"/>
          </a:p>
        </p:txBody>
      </p:sp>
      <p:sp>
        <p:nvSpPr>
          <p:cNvPr id="7" name="How it works (2/3) card"/>
          <p:cNvSpPr/>
          <p:nvPr/>
        </p:nvSpPr>
        <p:spPr>
          <a:xfrm>
            <a:off x="548640" y="1325880"/>
            <a:ext cx="11094415" cy="3941064"/>
          </a:xfrm>
          <a:prstGeom prst="roundRect">
            <a:avLst>
              <a:gd name="adj" fmla="val 2784"/>
            </a:avLst>
          </a:prstGeom>
          <a:solidFill>
            <a:srgbClr val="F2F4F7"/>
          </a:solidFill>
          <a:ln w="12700">
            <a:solidFill>
              <a:srgbClr val="F2F4F7"/>
            </a:solidFill>
            <a:prstDash val="solid"/>
          </a:ln>
        </p:spPr>
      </p:sp>
      <p:sp>
        <p:nvSpPr>
          <p:cNvPr id="8" name="How it works (2/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(2/3)</a:t>
            </a:r>
            <a:endParaRPr lang="en-US" sz="1800" dirty="0"/>
          </a:p>
        </p:txBody>
      </p:sp>
      <p:sp>
        <p:nvSpPr>
          <p:cNvPr id="11" name="How it works (2/3) body"/>
          <p:cNvSpPr txBox="1"/>
          <p:nvPr/>
        </p:nvSpPr>
        <p:spPr>
          <a:xfrm>
            <a:off x="777240" y="2075688"/>
            <a:ext cx="10637215" cy="30723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Clearance determines how efficiently a drug is removed — and, along with Vd, determines half-life.</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Total clearance is usually the sum of hepatic and renal clearance.</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Loading doses are based on Vd; maintenance doses are based on clearance.</a:t>
            </a:r>
            <a:r>
              <a:rPr lang="en-US" sz="1300" dirty="0">
                <a:solidFill>
                  <a:srgbClr val="666666"/>
                </a:solidFill>
              </a:rPr>
              <a:t>  S23 (notes)</a:t>
            </a:r>
            <a:endParaRPr lang="en-US" sz="1800" dirty="0"/>
          </a:p>
          <a:p>
            <a:pPr marL="228600" indent="-228600">
              <a:spcAft>
                <a:spcPts val="800"/>
              </a:spcAft>
              <a:buSzPct val="100000"/>
              <a:buChar char="•"/>
            </a:pPr>
            <a:r>
              <a:rPr lang="en-US" sz="1800" dirty="0">
                <a:solidFill>
                  <a:srgbClr val="1F1F1F"/>
                </a:solidFill>
              </a:rPr>
              <a:t>Steady state takes ~4–5 half-lives regardless of dose size — the same reason a drug is ~97% eliminated ~5 half-lives after stopping it.</a:t>
            </a:r>
            <a:r>
              <a:rPr lang="en-US" sz="1300" dirty="0">
                <a:solidFill>
                  <a:srgbClr val="666666"/>
                </a:solidFill>
              </a:rPr>
              <a:t>  S30</a:t>
            </a:r>
            <a:endParaRPr lang="en-US" sz="1800" dirty="0"/>
          </a:p>
          <a:p>
            <a:pPr marL="228600" indent="-228600">
              <a:spcAft>
                <a:spcPts val="800"/>
              </a:spcAft>
              <a:buSzPct val="100000"/>
              <a:buChar char="•"/>
            </a:pPr>
            <a:r>
              <a:rPr lang="en-US" sz="1800" dirty="0">
                <a:solidFill>
                  <a:srgbClr val="1F1F1F"/>
                </a:solidFill>
              </a:rPr>
              <a:t>Time to steady state (about 4–5 half-lives) is governed by half-life.</a:t>
            </a:r>
            <a:r>
              <a:rPr lang="en-US" sz="1300" dirty="0">
                <a:solidFill>
                  <a:srgbClr val="666666"/>
                </a:solidFill>
              </a:rPr>
              <a:t>  S48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During regular dosing: 50% of steady state after 1 half-life, 75% after 2, and over 90% after 4 — the textbook's "four half-lives" rule of thumb.</a:t>
            </a:r>
            <a:r>
              <a:rPr lang="en-US" sz="1300" dirty="0">
                <a:solidFill>
                  <a:srgbClr val="666666"/>
                </a:solidFill>
              </a:rPr>
              <a:t>  p. 47</a:t>
            </a:r>
            <a:endParaRPr lang="en-US" sz="1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54</a:t>
            </a:r>
            <a:endParaRPr lang="en-US" sz="1000" dirty="0"/>
          </a:p>
        </p:txBody>
      </p:sp>
      <p:sp>
        <p:nvSpPr>
          <p:cNvPr id="7" name="How it works (3/3) card"/>
          <p:cNvSpPr/>
          <p:nvPr/>
        </p:nvSpPr>
        <p:spPr>
          <a:xfrm>
            <a:off x="548640" y="1325880"/>
            <a:ext cx="11094415" cy="4389120"/>
          </a:xfrm>
          <a:prstGeom prst="roundRect">
            <a:avLst>
              <a:gd name="adj" fmla="val 2500"/>
            </a:avLst>
          </a:prstGeom>
          <a:solidFill>
            <a:srgbClr val="F2F4F7"/>
          </a:solidFill>
          <a:ln w="12700">
            <a:solidFill>
              <a:srgbClr val="F2F4F7"/>
            </a:solidFill>
            <a:prstDash val="solid"/>
          </a:ln>
        </p:spPr>
      </p:sp>
      <p:sp>
        <p:nvSpPr>
          <p:cNvPr id="8" name="How it works (3/3)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3/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3/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(3/3)</a:t>
            </a:r>
            <a:endParaRPr lang="en-US" sz="1800" dirty="0"/>
          </a:p>
        </p:txBody>
      </p:sp>
      <p:sp>
        <p:nvSpPr>
          <p:cNvPr id="11" name="How it works (3/3) body"/>
          <p:cNvSpPr txBox="1"/>
          <p:nvPr/>
        </p:nvSpPr>
        <p:spPr>
          <a:xfrm>
            <a:off x="777240" y="2075688"/>
            <a:ext cx="10637215" cy="3520440"/>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If the dosing interval is shorter than four half-lives, accumulation will be detectable.</a:t>
            </a:r>
            <a:r>
              <a:rPr lang="en-US" sz="1300" dirty="0">
                <a:solidFill>
                  <a:srgbClr val="666666"/>
                </a:solidFill>
              </a:rPr>
              <a:t>  p. 48</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Capacity-limited (saturable) elimination:</a:t>
            </a:r>
            <a:r>
              <a:rPr lang="en-US" sz="1800" dirty="0">
                <a:solidFill>
                  <a:srgbClr val="1F1F1F"/>
                </a:solidFill>
              </a:rPr>
              <a:t> clearance falls as concentration rises — important for phenytoin, ethanol, and aspirin.</a:t>
            </a:r>
            <a:r>
              <a:rPr lang="en-US" sz="1300" dirty="0">
                <a:solidFill>
                  <a:srgbClr val="666666"/>
                </a:solidFill>
              </a:rPr>
              <a:t>  p. 47</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Maintenance dosing rate = clearance × target concentration</a:t>
            </a:r>
            <a:r>
              <a:rPr lang="en-US" sz="1800" dirty="0">
                <a:solidFill>
                  <a:srgbClr val="1F1F1F"/>
                </a:solidFill>
              </a:rPr>
              <a:t> (divide by F for oral). The average steady-state level depends only on clearance; the dosing interval changes only the peaks and troughs.</a:t>
            </a:r>
            <a:r>
              <a:rPr lang="en-US" sz="1300" dirty="0">
                <a:solidFill>
                  <a:srgbClr val="666666"/>
                </a:solidFill>
              </a:rPr>
              <a:t>  p. 51</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Effects do not always follow plasma levels: enalapril (half-life about 4 hours) still works once daily because its peak is far above its C₅₀; delays come from distribution, slow receptor release (digoxin) or slow turnover of a body substance (warfarin and clotting factors).</a:t>
            </a:r>
            <a:r>
              <a:rPr lang="en-US" sz="1300" dirty="0">
                <a:solidFill>
                  <a:srgbClr val="666666"/>
                </a:solidFill>
              </a:rPr>
              <a:t>  p. 50</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Half-life can change without clearance changing: diazepam’s half-life lengthens with age because its volume of distribution grows, not because metabolism slows.</a:t>
            </a:r>
            <a:r>
              <a:rPr lang="en-US" sz="1300" dirty="0">
                <a:solidFill>
                  <a:srgbClr val="666666"/>
                </a:solidFill>
              </a:rPr>
              <a:t>  p. 54</a:t>
            </a:r>
            <a:endParaRPr lang="en-US" sz="1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55</a:t>
            </a:r>
            <a:endParaRPr lang="en-US" sz="1000" dirty="0"/>
          </a:p>
        </p:txBody>
      </p:sp>
      <p:sp>
        <p:nvSpPr>
          <p:cNvPr id="7" name="Clinical relevance (1/3) card"/>
          <p:cNvSpPr/>
          <p:nvPr/>
        </p:nvSpPr>
        <p:spPr>
          <a:xfrm>
            <a:off x="548640" y="1325880"/>
            <a:ext cx="11094415" cy="3442716"/>
          </a:xfrm>
          <a:prstGeom prst="roundRect">
            <a:avLst>
              <a:gd name="adj" fmla="val 3187"/>
            </a:avLst>
          </a:prstGeom>
          <a:solidFill>
            <a:srgbClr val="F2F4F7"/>
          </a:solidFill>
          <a:ln w="12700">
            <a:solidFill>
              <a:srgbClr val="F2F4F7"/>
            </a:solidFill>
            <a:prstDash val="solid"/>
          </a:ln>
        </p:spPr>
      </p:sp>
      <p:sp>
        <p:nvSpPr>
          <p:cNvPr id="8" name="Clinical relevance (1/3)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(1/3)</a:t>
            </a:r>
            <a:endParaRPr lang="en-US" sz="1800" dirty="0"/>
          </a:p>
        </p:txBody>
      </p:sp>
      <p:sp>
        <p:nvSpPr>
          <p:cNvPr id="11" name="Clinical relevance (1/3) body"/>
          <p:cNvSpPr txBox="1"/>
          <p:nvPr/>
        </p:nvSpPr>
        <p:spPr>
          <a:xfrm>
            <a:off x="777240" y="2075688"/>
            <a:ext cx="10637215" cy="257403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Case: significant CKD + a medication primarily eliminated unchanged by the kidney. </a:t>
            </a:r>
            <a:r>
              <a:rPr lang="en-US" sz="1800" b="1" dirty="0">
                <a:solidFill>
                  <a:srgbClr val="1F1F1F"/>
                </a:solidFill>
              </a:rPr>
              <a:t>What happens to the drug's concentration and half-life, and would you adjust the dose, the dosing interval, or both?</a:t>
            </a:r>
            <a:r>
              <a:rPr lang="en-US" sz="1300" dirty="0">
                <a:solidFill>
                  <a:srgbClr val="666666"/>
                </a:solidFill>
              </a:rPr>
              <a:t>  S28</a:t>
            </a:r>
            <a:endParaRPr lang="en-US" sz="1800" dirty="0"/>
          </a:p>
          <a:p>
            <a:pPr marL="228600" indent="-228600">
              <a:spcAft>
                <a:spcPts val="800"/>
              </a:spcAft>
              <a:buSzPct val="100000"/>
              <a:buChar char="•"/>
            </a:pPr>
            <a:r>
              <a:rPr lang="en-US" sz="1800" b="1" dirty="0">
                <a:solidFill>
                  <a:srgbClr val="1F1F1F"/>
                </a:solidFill>
              </a:rPr>
              <a:t>Clinical pearl:</a:t>
            </a:r>
            <a:r>
              <a:rPr lang="en-US" sz="1800" dirty="0">
                <a:solidFill>
                  <a:srgbClr val="1F1F1F"/>
                </a:solidFill>
              </a:rPr>
              <a:t> reduced clearance raises drug concentration and prolongs half-life; many renally-cleared drugs are managed by extending the dosing interval, reducing the dose, or both, guided by eGFR/CrCl.</a:t>
            </a:r>
            <a:r>
              <a:rPr lang="en-US" sz="1300" dirty="0">
                <a:solidFill>
                  <a:srgbClr val="666666"/>
                </a:solidFill>
              </a:rPr>
              <a:t>  S28</a:t>
            </a:r>
            <a:endParaRPr lang="en-US" sz="1800" dirty="0"/>
          </a:p>
          <a:p>
            <a:pPr marL="228600" indent="-228600">
              <a:spcAft>
                <a:spcPts val="800"/>
              </a:spcAft>
              <a:buSzPct val="100000"/>
              <a:buChar char="•"/>
            </a:pPr>
            <a:r>
              <a:rPr lang="en-US" sz="1800" dirty="0">
                <a:solidFill>
                  <a:srgbClr val="1F1F1F"/>
                </a:solidFill>
              </a:rPr>
              <a:t>The logic chain: clearance ↓ → half-life ↑ → time to steady state ↑ → accumulation risk ↑ if the regimen is not adjusted.</a:t>
            </a:r>
            <a:r>
              <a:rPr lang="en-US" sz="1300" dirty="0">
                <a:solidFill>
                  <a:srgbClr val="666666"/>
                </a:solidFill>
              </a:rPr>
              <a:t>  S28 (notes)</a:t>
            </a:r>
            <a:endParaRPr lang="en-US" sz="1800" dirty="0"/>
          </a:p>
          <a:p>
            <a:pPr marL="228600" indent="-228600">
              <a:spcAft>
                <a:spcPts val="800"/>
              </a:spcAft>
              <a:buSzPct val="100000"/>
              <a:buChar char="•"/>
            </a:pPr>
            <a:r>
              <a:rPr lang="en-US" sz="1800" dirty="0">
                <a:solidFill>
                  <a:srgbClr val="1F1F1F"/>
                </a:solidFill>
              </a:rPr>
              <a:t>Reduced renal clearance raises both drug concentration and half-life.</a:t>
            </a:r>
            <a:r>
              <a:rPr lang="en-US" sz="1300" dirty="0">
                <a:solidFill>
                  <a:srgbClr val="666666"/>
                </a:solidFill>
              </a:rPr>
              <a:t>  S48</a:t>
            </a:r>
            <a:endParaRPr lang="en-US" sz="1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56</a:t>
            </a:r>
            <a:endParaRPr lang="en-US" sz="1000" dirty="0"/>
          </a:p>
        </p:txBody>
      </p:sp>
      <p:sp>
        <p:nvSpPr>
          <p:cNvPr id="7" name="Clinical relevance (2/3) card"/>
          <p:cNvSpPr/>
          <p:nvPr/>
        </p:nvSpPr>
        <p:spPr>
          <a:xfrm>
            <a:off x="548640" y="1325880"/>
            <a:ext cx="11094415" cy="4279392"/>
          </a:xfrm>
          <a:prstGeom prst="roundRect">
            <a:avLst>
              <a:gd name="adj" fmla="val 2564"/>
            </a:avLst>
          </a:prstGeom>
          <a:solidFill>
            <a:srgbClr val="F2F4F7"/>
          </a:solidFill>
          <a:ln w="12700">
            <a:solidFill>
              <a:srgbClr val="F2F4F7"/>
            </a:solidFill>
            <a:prstDash val="solid"/>
          </a:ln>
        </p:spPr>
      </p:sp>
      <p:sp>
        <p:nvSpPr>
          <p:cNvPr id="8" name="Clinical relevance (2/3)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(2/3)</a:t>
            </a:r>
            <a:endParaRPr lang="en-US" sz="1800" dirty="0"/>
          </a:p>
        </p:txBody>
      </p:sp>
      <p:sp>
        <p:nvSpPr>
          <p:cNvPr id="11" name="Clinical relevance (2/3) body"/>
          <p:cNvSpPr txBox="1"/>
          <p:nvPr/>
        </p:nvSpPr>
        <p:spPr>
          <a:xfrm>
            <a:off x="777240" y="2075688"/>
            <a:ext cx="10637215"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 loading dose reaches the therapeutic target immediately instead of waiting ~4–5 half-lives; it does not change the maintenance dose or remove the need for monitoring.</a:t>
            </a:r>
            <a:r>
              <a:rPr lang="en-US" sz="1300" dirty="0">
                <a:solidFill>
                  <a:srgbClr val="666666"/>
                </a:solidFill>
              </a:rPr>
              <a:t>  S26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Highly extracted drugs (morphine, isoniazid, propranolol, lidocaine, verapamil) vary widely in bioavailability between patients, and much more drug gets through in cirrhosis with portosystemic shunting. Lidocaine is never given orally because of toxic metabolites.</a:t>
            </a:r>
            <a:r>
              <a:rPr lang="en-US" sz="1300" dirty="0">
                <a:solidFill>
                  <a:srgbClr val="666666"/>
                </a:solidFill>
              </a:rPr>
              <a:t>  p. 49</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Schedule-dependent effects:</a:t>
            </a:r>
            <a:r>
              <a:rPr lang="en-US" sz="1800" dirty="0">
                <a:solidFill>
                  <a:srgbClr val="1F1F1F"/>
                </a:solidFill>
              </a:rPr>
              <a:t> the same average level can carry different toxicity; gentamicin is more nephrotoxic as a constant infusion than as intermittent doses, because high peaks saturate its uptake into the renal cortex.</a:t>
            </a:r>
            <a:r>
              <a:rPr lang="en-US" sz="1300" dirty="0">
                <a:solidFill>
                  <a:srgbClr val="666666"/>
                </a:solidFill>
              </a:rPr>
              <a:t>  p. 50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Give IV loading doses slowly (over an hour, not seconds): a fast bolus can overshoot into toxicity before the drug distributes, e.g., phenytoin.</a:t>
            </a:r>
            <a:r>
              <a:rPr lang="en-US" sz="1300" dirty="0">
                <a:solidFill>
                  <a:srgbClr val="666666"/>
                </a:solidFill>
              </a:rPr>
              <a:t>  p. 52</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57</a:t>
            </a:r>
            <a:endParaRPr lang="en-US" sz="1000" dirty="0"/>
          </a:p>
        </p:txBody>
      </p:sp>
      <p:sp>
        <p:nvSpPr>
          <p:cNvPr id="7" name="Clinical relevance (3/3) card"/>
          <p:cNvSpPr/>
          <p:nvPr/>
        </p:nvSpPr>
        <p:spPr>
          <a:xfrm>
            <a:off x="548640" y="1325880"/>
            <a:ext cx="11094415" cy="3054096"/>
          </a:xfrm>
          <a:prstGeom prst="roundRect">
            <a:avLst>
              <a:gd name="adj" fmla="val 3593"/>
            </a:avLst>
          </a:prstGeom>
          <a:solidFill>
            <a:srgbClr val="F2F4F7"/>
          </a:solidFill>
          <a:ln w="12700">
            <a:solidFill>
              <a:srgbClr val="F2F4F7"/>
            </a:solidFill>
            <a:prstDash val="solid"/>
          </a:ln>
        </p:spPr>
      </p:sp>
      <p:sp>
        <p:nvSpPr>
          <p:cNvPr id="8" name="Clinical relevance (3/3)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3/3)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3/3)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(3/3)</a:t>
            </a:r>
            <a:endParaRPr lang="en-US" sz="1800" dirty="0"/>
          </a:p>
        </p:txBody>
      </p:sp>
      <p:sp>
        <p:nvSpPr>
          <p:cNvPr id="11" name="Clinical relevance (3/3) body"/>
          <p:cNvSpPr txBox="1"/>
          <p:nvPr/>
        </p:nvSpPr>
        <p:spPr>
          <a:xfrm>
            <a:off x="777240" y="2075688"/>
            <a:ext cx="10637215" cy="2185416"/>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Timing drug levels: digoxin at least 6 hours after the dose, lithium just before the next dose; for steady-state estimates sample mid-interval after at least three half-lives.</a:t>
            </a:r>
            <a:r>
              <a:rPr lang="en-US" sz="1300" dirty="0">
                <a:solidFill>
                  <a:srgbClr val="666666"/>
                </a:solidFill>
              </a:rPr>
              <a:t>  p. 55</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In obesity, dose drugs that stay out of fat (gentamicin, digoxin) on fat-free mass; edema and ascites enlarge gentamicin’s volume of distribution.</a:t>
            </a:r>
            <a:r>
              <a:rPr lang="en-US" sz="1300" dirty="0">
                <a:solidFill>
                  <a:srgbClr val="666666"/>
                </a:solidFill>
              </a:rPr>
              <a:t>  p. 53; p. 55</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Changes in plasma protein binding rarely matter clinically: the body simply eliminates the extra unbound drug.</a:t>
            </a:r>
            <a:r>
              <a:rPr lang="en-US" sz="1300" dirty="0">
                <a:solidFill>
                  <a:srgbClr val="666666"/>
                </a:solidFill>
              </a:rPr>
              <a:t>  p. 55</a:t>
            </a:r>
            <a:endParaRPr lang="en-US" sz="1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58</a:t>
            </a:r>
            <a:endParaRPr lang="en-US" sz="1000" dirty="0"/>
          </a:p>
        </p:txBody>
      </p:sp>
      <p:sp>
        <p:nvSpPr>
          <p:cNvPr id="7" name="Drugs named as examples card"/>
          <p:cNvSpPr/>
          <p:nvPr/>
        </p:nvSpPr>
        <p:spPr>
          <a:xfrm>
            <a:off x="548640" y="1325880"/>
            <a:ext cx="5410048" cy="4279392"/>
          </a:xfrm>
          <a:prstGeom prst="roundRect">
            <a:avLst>
              <a:gd name="adj" fmla="val 2564"/>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this section uses illustrative drugs ("a drug with a half-life of 6 hours").</a:t>
            </a:r>
            <a:r>
              <a:rPr lang="en-US" sz="1300" dirty="0">
                <a:solidFill>
                  <a:srgbClr val="666666"/>
                </a:solidFill>
              </a:rPr>
              <a:t>  S19</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Theophylline worked example: clearance 2.8 L/h × target 10 mg/L = 28 mg/h IV; loading dose = 35 L × 10 mg/L = 350 mg.</a:t>
            </a:r>
            <a:r>
              <a:rPr lang="en-US" sz="1300" dirty="0">
                <a:solidFill>
                  <a:srgbClr val="666666"/>
                </a:solidFill>
              </a:rPr>
              <a:t>  p. 52</a:t>
            </a:r>
            <a:endParaRPr lang="en-US" sz="1800" dirty="0"/>
          </a:p>
        </p:txBody>
      </p:sp>
      <p:sp>
        <p:nvSpPr>
          <p:cNvPr id="12" name="Exam traps card"/>
          <p:cNvSpPr/>
          <p:nvPr/>
        </p:nvSpPr>
        <p:spPr>
          <a:xfrm>
            <a:off x="6233008" y="1325880"/>
            <a:ext cx="5410048" cy="4279392"/>
          </a:xfrm>
          <a:prstGeom prst="roundRect">
            <a:avLst>
              <a:gd name="adj" fmla="val 2564"/>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After 3 half-lives, 12.5% REMAINS (87.5% eliminated) — read whether the question asks remaining or eliminated.</a:t>
            </a:r>
            <a:r>
              <a:rPr lang="en-US" sz="1300" dirty="0">
                <a:solidFill>
                  <a:srgbClr val="666666"/>
                </a:solidFill>
              </a:rPr>
              <a:t>  S19; S22</a:t>
            </a:r>
            <a:endParaRPr lang="en-US" sz="1800" dirty="0"/>
          </a:p>
          <a:p>
            <a:pPr marL="228600" indent="-228600">
              <a:spcAft>
                <a:spcPts val="800"/>
              </a:spcAft>
              <a:buSzPct val="100000"/>
              <a:buChar char="•"/>
            </a:pPr>
            <a:r>
              <a:rPr lang="en-US" sz="1800" dirty="0">
                <a:solidFill>
                  <a:srgbClr val="1F1F1F"/>
                </a:solidFill>
              </a:rPr>
              <a:t>Time to steady state depends on half-life — not on dose size, bioavailability, or route.</a:t>
            </a:r>
            <a:r>
              <a:rPr lang="en-US" sz="1300" dirty="0">
                <a:solidFill>
                  <a:srgbClr val="666666"/>
                </a:solidFill>
              </a:rPr>
              <a:t>  S30; S48</a:t>
            </a:r>
            <a:endParaRPr lang="en-US" sz="1800" dirty="0"/>
          </a:p>
          <a:p>
            <a:pPr marL="228600" indent="-228600">
              <a:spcAft>
                <a:spcPts val="800"/>
              </a:spcAft>
              <a:buSzPct val="100000"/>
              <a:buChar char="•"/>
            </a:pPr>
            <a:r>
              <a:rPr lang="en-US" sz="1800" dirty="0">
                <a:solidFill>
                  <a:srgbClr val="1F1F1F"/>
                </a:solidFill>
              </a:rPr>
              <a:t>Half-life is not a fixed property — it changes with clearance and Vd (e.g., in renal impairment).</a:t>
            </a:r>
            <a:r>
              <a:rPr lang="en-US" sz="1300" dirty="0">
                <a:solidFill>
                  <a:srgbClr val="666666"/>
                </a:solidFill>
              </a:rPr>
              <a:t>  S19; S28</a:t>
            </a:r>
            <a:endParaRPr lang="en-US" sz="1800" dirty="0"/>
          </a:p>
          <a:p>
            <a:pPr marL="228600" indent="-228600">
              <a:spcAft>
                <a:spcPts val="800"/>
              </a:spcAft>
              <a:buSzPct val="100000"/>
              <a:buChar char="•"/>
            </a:pPr>
            <a:r>
              <a:rPr lang="en-US" sz="1800" dirty="0">
                <a:solidFill>
                  <a:srgbClr val="1F1F1F"/>
                </a:solidFill>
              </a:rPr>
              <a:t>A loading dose does NOT permanently lower the maintenance dose or eliminate monitoring.</a:t>
            </a:r>
            <a:r>
              <a:rPr lang="en-US" sz="1300" dirty="0">
                <a:solidFill>
                  <a:srgbClr val="666666"/>
                </a:solidFill>
              </a:rPr>
              <a:t>  S26</a:t>
            </a:r>
            <a:endParaRPr lang="en-US" sz="1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7 · Exponential decay over half-lives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59</a:t>
            </a:r>
            <a:endParaRPr lang="en-US" sz="1000" dirty="0"/>
          </a:p>
        </p:txBody>
      </p:sp>
      <p:pic>
        <p:nvPicPr>
          <p:cNvPr id="7" name="Figure S20_1.png" descr="/home/user/dpas-pharm/work/L02/figures/S20_1.png">    </p:cNvPr>
          <p:cNvPicPr>
            <a:picLocks noChangeAspect="1"/>
          </p:cNvPicPr>
          <p:nvPr/>
        </p:nvPicPr>
        <p:blipFill>
          <a:blip r:embed="rId1"/>
          <a:stretch>
            <a:fillRect/>
          </a:stretch>
        </p:blipFill>
        <p:spPr>
          <a:xfrm>
            <a:off x="2074556" y="1325880"/>
            <a:ext cx="8042583" cy="4415536"/>
          </a:xfrm>
          <a:prstGeom prst="rect">
            <a:avLst/>
          </a:prstGeom>
        </p:spPr>
      </p:pic>
      <p:sp>
        <p:nvSpPr>
          <p:cNvPr id="8" name="Figure caption"/>
          <p:cNvSpPr txBox="1"/>
          <p:nvPr/>
        </p:nvSpPr>
        <p:spPr>
          <a:xfrm>
            <a:off x="548640" y="5924296"/>
            <a:ext cx="11094415" cy="339344"/>
          </a:xfrm>
          <a:prstGeom prst="rect">
            <a:avLst/>
          </a:prstGeom>
          <a:noFill/>
          <a:ln/>
        </p:spPr>
        <p:txBody>
          <a:bodyPr wrap="square" lIns="0" tIns="0" rIns="0" bIns="0" rtlCol="0" anchor="t"/>
          <a:lstStyle/>
          <a:p>
            <a:pPr indent="0" marL="0">
              <a:buNone/>
            </a:pPr>
            <a:r>
              <a:rPr lang="en-US" sz="1600" dirty="0">
                <a:solidFill>
                  <a:srgbClr val="1F1F1F"/>
                </a:solidFill>
              </a:rPr>
              <a:t>Original illustrative decay curve: plasma concentration falls by 50% with each half-life, leaving ~3% remaining after 5 half-lives.</a:t>
            </a:r>
            <a:r>
              <a:rPr lang="en-US" sz="1100" dirty="0">
                <a:solidFill>
                  <a:srgbClr val="666666"/>
                </a:solidFill>
              </a:rPr>
              <a:t>  S20</a:t>
            </a:r>
            <a:endParaRPr lang="en-US" sz="1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700" b="1" dirty="0">
                <a:solidFill>
                  <a:srgbClr val="1F1F1F"/>
                </a:solidFill>
                <a:latin typeface="Calibri" pitchFamily="34" charset="0"/>
                <a:ea typeface="Calibri" pitchFamily="34" charset="-122"/>
                <a:cs typeface="Calibri" pitchFamily="34" charset="-120"/>
              </a:rPr>
              <a:t>Figure 8 · Steady state with and without a loading dose</a:t>
            </a:r>
            <a:endParaRPr lang="en-US" sz="27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60</a:t>
            </a:r>
            <a:endParaRPr lang="en-US" sz="1000" dirty="0"/>
          </a:p>
        </p:txBody>
      </p:sp>
      <p:pic>
        <p:nvPicPr>
          <p:cNvPr id="7" name="Figure S24_1.png" descr="/home/user/dpas-pharm/work/L02/figures/S24_1.png">    </p:cNvPr>
          <p:cNvPicPr>
            <a:picLocks noChangeAspect="1"/>
          </p:cNvPicPr>
          <p:nvPr/>
        </p:nvPicPr>
        <p:blipFill>
          <a:blip r:embed="rId1"/>
          <a:stretch>
            <a:fillRect/>
          </a:stretch>
        </p:blipFill>
        <p:spPr>
          <a:xfrm>
            <a:off x="2151482" y="1325880"/>
            <a:ext cx="7888732"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multi-dose simulation: maintenance dosing alone climbs gradually (a sawtooth climb) to steady state; adding a loading dose reaches the target level immediately, right from the first dose.</a:t>
            </a:r>
            <a:r>
              <a:rPr lang="en-US" sz="1100" dirty="0">
                <a:solidFill>
                  <a:srgbClr val="666666"/>
                </a:solidFill>
              </a:rPr>
              <a:t>  S24; S24 (notes)</a:t>
            </a:r>
            <a:endParaRPr lang="en-US" sz="16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Textbook concept · Five to fill, five to empty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61</a:t>
            </a:r>
            <a:endParaRPr lang="en-US" sz="1000" dirty="0"/>
          </a:p>
        </p:txBody>
      </p:sp>
      <p:pic>
        <p:nvPicPr>
          <p:cNvPr id="7" name="Figure TB_fill_empty.png" descr="/home/user/dpas-pharm/work/L02/figures/TB_fill_empty.png">    </p:cNvPr>
          <p:cNvPicPr>
            <a:picLocks noChangeAspect="1"/>
          </p:cNvPicPr>
          <p:nvPr/>
        </p:nvPicPr>
        <p:blipFill>
          <a:blip r:embed="rId1"/>
          <a:stretch>
            <a:fillRect/>
          </a:stretch>
        </p:blipFill>
        <p:spPr>
          <a:xfrm>
            <a:off x="2596090" y="1325880"/>
            <a:ext cx="6999514" cy="3919728"/>
          </a:xfrm>
          <a:prstGeom prst="rect">
            <a:avLst/>
          </a:prstGeom>
        </p:spPr>
      </p:pic>
      <p:sp>
        <p:nvSpPr>
          <p:cNvPr id="8" name="Figure caption"/>
          <p:cNvSpPr txBox="1"/>
          <p:nvPr/>
        </p:nvSpPr>
        <p:spPr>
          <a:xfrm>
            <a:off x="548640" y="5428488"/>
            <a:ext cx="11094415" cy="835152"/>
          </a:xfrm>
          <a:prstGeom prst="rect">
            <a:avLst/>
          </a:prstGeom>
          <a:noFill/>
          <a:ln/>
        </p:spPr>
        <p:txBody>
          <a:bodyPr wrap="square" lIns="0" tIns="0" rIns="0" bIns="0" rtlCol="0" anchor="t"/>
          <a:lstStyle/>
          <a:p>
            <a:pPr indent="0" marL="0">
              <a:buNone/>
            </a:pPr>
            <a:r>
              <a:rPr lang="en-US" sz="1600" dirty="0">
                <a:solidFill>
                  <a:srgbClr val="1F1F1F"/>
                </a:solidFill>
              </a:rPr>
              <a:t>Original diagram: starting regular dosing, each half-life closes half of the remaining gap to steady state (50 → 75 → 87.5 → 93.75 → ~97%); after stopping, each half-life removes half of what remains (50 → 25 → 12.5 → 6.25 → 3.125%). The same 4–5 half-lives govern both.</a:t>
            </a:r>
            <a:r>
              <a:rPr lang="en-US" sz="1100" dirty="0">
                <a:solidFill>
                  <a:srgbClr val="666666"/>
                </a:solidFill>
              </a:rPr>
              <a:t>  S19; S23; p. 47</a:t>
            </a:r>
            <a:endParaRPr lang="en-US" sz="16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500" b="1" dirty="0">
                <a:solidFill>
                  <a:srgbClr val="1F1F1F"/>
                </a:solidFill>
                <a:latin typeface="Calibri" pitchFamily="34" charset="0"/>
                <a:ea typeface="Calibri" pitchFamily="34" charset="-122"/>
                <a:cs typeface="Calibri" pitchFamily="34" charset="-120"/>
              </a:rPr>
              <a:t>Compare: Half-life worked example (t½ = 6 h, start 100 mg/L)</a:t>
            </a:r>
            <a:endParaRPr lang="en-US" sz="25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62</a:t>
            </a:r>
            <a:endParaRPr lang="en-US" sz="1000" dirty="0"/>
          </a:p>
        </p:txBody>
      </p:sp>
      <p:graphicFrame>
        <p:nvGraphicFramePr>
          <p:cNvPr id="63"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218883"/>
                <a:gridCol w="2218883"/>
                <a:gridCol w="2218883"/>
                <a:gridCol w="2218883"/>
                <a:gridCol w="2218883"/>
              </a:tblGrid>
              <a:tr h="0">
                <a:tc>
                  <a:txBody>
                    <a:bodyPr/>
                    <a:lstStyle/>
                    <a:p>
                      <a:pPr indent="0" marL="0">
                        <a:buNone/>
                      </a:pPr>
                      <a:r>
                        <a:rPr lang="en-US" sz="1600" b="1" dirty="0">
                          <a:solidFill>
                            <a:srgbClr val="FFFFFF"/>
                          </a:solidFill>
                        </a:rPr>
                        <a:t>Half-lives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Time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Concentration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remaining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eliminated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6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12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18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87.5%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24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93.75%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30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~97%</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71856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S19</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Loading dose vs. maintenance dose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63</a:t>
            </a:r>
            <a:endParaRPr lang="en-US" sz="1000" dirty="0"/>
          </a:p>
        </p:txBody>
      </p:sp>
      <p:graphicFrame>
        <p:nvGraphicFramePr>
          <p:cNvPr id="64"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Loading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Maintenance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Purpose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Reach therapeutic concentration rapidly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Keep the drug in the therapeutic range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Size / timing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Larger, initial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Regular, ongoing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Based 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Vd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Clearance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On Figure 8</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Starts at target immediately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Sawtooth climb over ~4–5 half-lives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S23; S23 (notes); S24 (notes)</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300" b="1" dirty="0">
                <a:solidFill>
                  <a:srgbClr val="1F1F1F"/>
                </a:solidFill>
                <a:latin typeface="Calibri" pitchFamily="34" charset="0"/>
                <a:ea typeface="Calibri" pitchFamily="34" charset="-122"/>
                <a:cs typeface="Calibri" pitchFamily="34" charset="-120"/>
              </a:rPr>
              <a:t>Compare: Dosing from the target concentration (textbook Ch. 3)</a:t>
            </a:r>
            <a:endParaRPr lang="en-US" sz="23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64</a:t>
            </a:r>
            <a:endParaRPr lang="en-US" sz="1000" dirty="0"/>
          </a:p>
        </p:txBody>
      </p:sp>
      <p:graphicFrame>
        <p:nvGraphicFramePr>
          <p:cNvPr id="65"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Goal</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Formula</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Depends 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Keep the level steady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Maintenance dosing rate = CL × target concentration (÷ F if oral)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Clearance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Reach the target now</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Loading dose = Vd × target concentration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Volume of distribution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Match the peak at steady state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Loading dose = maintenance dose × accumulation factor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Dosing interval and half-life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462528"/>
            <a:ext cx="11094415" cy="274320"/>
          </a:xfrm>
          <a:prstGeom prst="rect">
            <a:avLst/>
          </a:prstGeom>
          <a:noFill/>
          <a:ln/>
        </p:spPr>
        <p:txBody>
          <a:bodyPr wrap="square" lIns="0" tIns="0" rIns="0" bIns="0" rtlCol="0" anchor="ctr"/>
          <a:lstStyle/>
          <a:p>
            <a:pPr indent="0" marL="0">
              <a:buNone/>
            </a:pPr>
            <a:r>
              <a:rPr lang="en-US" sz="1000" b="1" dirty="0">
                <a:solidFill>
                  <a:srgbClr val="000000"/>
                </a:solidFill>
                <a:highlight>
                  <a:srgbClr val="FFC000"/>
                </a:highlight>
              </a:rPr>
              <a:t> TB </a:t>
            </a:r>
            <a:r>
              <a:rPr lang="en-US" sz="1000" dirty="0">
                <a:solidFill>
                  <a:srgbClr val="000000"/>
                </a:solidFill>
              </a:rPr>
              <a:t>  </a:t>
            </a:r>
            <a:r>
              <a:rPr lang="en-US" sz="1100" dirty="0">
                <a:solidFill>
                  <a:srgbClr val="666666"/>
                </a:solidFill>
              </a:rPr>
              <a:t>Focus: what tells these apart.  Sources: p. 51; p. 52</a:t>
            </a:r>
            <a:endParaRPr lang="en-US" sz="1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65</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CKD prolong half-life? Half-life depends on clearance (with Vd) — less renal clearance means the concentration takes longer to fall by 50%, so the drug accumulates.</a:t>
            </a:r>
            <a:r>
              <a:rPr lang="en-US" sz="1300" dirty="0">
                <a:solidFill>
                  <a:srgbClr val="666666"/>
                </a:solidFill>
              </a:rPr>
              <a:t>  S19; S27; S28 (notes)</a:t>
            </a:r>
            <a:endParaRPr lang="en-US" sz="1800" dirty="0"/>
          </a:p>
        </p:txBody>
      </p:sp>
      <p:sp>
        <p:nvSpPr>
          <p:cNvPr id="12" name="Mnemonic (memory aid) card"/>
          <p:cNvSpPr/>
          <p:nvPr/>
        </p:nvSpPr>
        <p:spPr>
          <a:xfrm>
            <a:off x="548640" y="4110228"/>
            <a:ext cx="5364328" cy="1719072"/>
          </a:xfrm>
          <a:prstGeom prst="roundRect">
            <a:avLst>
              <a:gd name="adj" fmla="val 6383"/>
            </a:avLst>
          </a:prstGeom>
          <a:solidFill>
            <a:srgbClr val="F2F4F7"/>
          </a:solidFill>
          <a:ln w="12700">
            <a:solidFill>
              <a:srgbClr val="F2F4F7"/>
            </a:solidFill>
            <a:prstDash val="solid"/>
          </a:ln>
        </p:spPr>
      </p:sp>
      <p:sp>
        <p:nvSpPr>
          <p:cNvPr id="13" name="Mnemonic (memory aid) icon circle"/>
          <p:cNvSpPr/>
          <p:nvPr/>
        </p:nvSpPr>
        <p:spPr>
          <a:xfrm>
            <a:off x="777240" y="4293108"/>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393692"/>
            <a:ext cx="237744" cy="237744"/>
          </a:xfrm>
          <a:prstGeom prst="rect">
            <a:avLst/>
          </a:prstGeom>
        </p:spPr>
      </p:pic>
      <p:sp>
        <p:nvSpPr>
          <p:cNvPr id="15" name="Mnemonic (memory aid) heading"/>
          <p:cNvSpPr txBox="1"/>
          <p:nvPr/>
        </p:nvSpPr>
        <p:spPr>
          <a:xfrm>
            <a:off x="1353312" y="4293108"/>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860036"/>
            <a:ext cx="4907128" cy="850392"/>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L</a:t>
            </a:r>
            <a:r>
              <a:rPr lang="en-US" sz="1800" dirty="0">
                <a:solidFill>
                  <a:srgbClr val="1F1F1F"/>
                </a:solidFill>
              </a:rPr>
              <a:t>oading → </a:t>
            </a:r>
            <a:r>
              <a:rPr lang="en-US" sz="1800" b="1" dirty="0">
                <a:solidFill>
                  <a:srgbClr val="1F1F1F"/>
                </a:solidFill>
              </a:rPr>
              <a:t>L</a:t>
            </a:r>
            <a:r>
              <a:rPr lang="en-US" sz="1800" dirty="0">
                <a:solidFill>
                  <a:srgbClr val="1F1F1F"/>
                </a:solidFill>
              </a:rPr>
              <a:t>iters (Vd). </a:t>
            </a:r>
            <a:r>
              <a:rPr lang="en-US" sz="1800" b="1" dirty="0">
                <a:solidFill>
                  <a:srgbClr val="1F1F1F"/>
                </a:solidFill>
              </a:rPr>
              <a:t>M</a:t>
            </a:r>
            <a:r>
              <a:rPr lang="en-US" sz="1800" dirty="0">
                <a:solidFill>
                  <a:srgbClr val="1F1F1F"/>
                </a:solidFill>
              </a:rPr>
              <a:t>aintenance → </a:t>
            </a:r>
            <a:r>
              <a:rPr lang="en-US" sz="1800" b="1" dirty="0">
                <a:solidFill>
                  <a:srgbClr val="1F1F1F"/>
                </a:solidFill>
              </a:rPr>
              <a:t>M</a:t>
            </a:r>
            <a:r>
              <a:rPr lang="en-US" sz="1800" dirty="0">
                <a:solidFill>
                  <a:srgbClr val="1F1F1F"/>
                </a:solidFill>
              </a:rPr>
              <a:t>oving out (clearance).</a:t>
            </a:r>
            <a:r>
              <a:rPr lang="en-US" sz="1300" dirty="0">
                <a:solidFill>
                  <a:srgbClr val="666666"/>
                </a:solidFill>
              </a:rPr>
              <a:t>  S23 (notes)</a:t>
            </a:r>
            <a:endParaRPr lang="en-US" sz="1800" dirty="0"/>
          </a:p>
        </p:txBody>
      </p:sp>
      <p:sp>
        <p:nvSpPr>
          <p:cNvPr id="17" name="Why it happens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 loading dose skip the wait? It is a larger first dose that reaches the therapeutic concentration right away instead of building up over ~4–5 half-lives.</a:t>
            </a:r>
            <a:r>
              <a:rPr lang="en-US" sz="1300" dirty="0">
                <a:solidFill>
                  <a:srgbClr val="666666"/>
                </a:solidFill>
              </a:rPr>
              <a:t>  S23; S26</a:t>
            </a:r>
            <a:endParaRPr lang="en-US" sz="1800" dirty="0"/>
          </a:p>
        </p:txBody>
      </p:sp>
      <p:sp>
        <p:nvSpPr>
          <p:cNvPr id="22" name="Mnemonic (memory aid) card"/>
          <p:cNvSpPr/>
          <p:nvPr/>
        </p:nvSpPr>
        <p:spPr>
          <a:xfrm>
            <a:off x="6278728" y="3831336"/>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4014216"/>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4114800"/>
            <a:ext cx="237744" cy="237744"/>
          </a:xfrm>
          <a:prstGeom prst="rect">
            <a:avLst/>
          </a:prstGeom>
        </p:spPr>
      </p:pic>
      <p:sp>
        <p:nvSpPr>
          <p:cNvPr id="25" name="Mnemonic (memory aid) heading"/>
          <p:cNvSpPr txBox="1"/>
          <p:nvPr/>
        </p:nvSpPr>
        <p:spPr>
          <a:xfrm>
            <a:off x="7083400"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t>
            </a:r>
            <a:r>
              <a:rPr lang="en-US" sz="1800" b="1" dirty="0">
                <a:solidFill>
                  <a:srgbClr val="1F1F1F"/>
                </a:solidFill>
              </a:rPr>
              <a:t>Five to fill, five to empty</a:t>
            </a:r>
            <a:r>
              <a:rPr lang="en-US" sz="1800" dirty="0">
                <a:solidFill>
                  <a:srgbClr val="1F1F1F"/>
                </a:solidFill>
              </a:rPr>
              <a:t>": ~4–5 half-lives to reach steady state; ~5 half-lives to be ~97% eliminated.</a:t>
            </a:r>
            <a:r>
              <a:rPr lang="en-US" sz="1300" dirty="0">
                <a:solidFill>
                  <a:srgbClr val="666666"/>
                </a:solidFill>
              </a:rPr>
              <a:t>  S19; S23; S30</a:t>
            </a:r>
            <a:endParaRPr lang="en-US" sz="18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66</a:t>
            </a:r>
            <a:endParaRPr lang="en-US" sz="1000" dirty="0"/>
          </a:p>
        </p:txBody>
      </p:sp>
      <p:sp>
        <p:nvSpPr>
          <p:cNvPr id="7" name="If you remember nothing else card"/>
          <p:cNvSpPr/>
          <p:nvPr/>
        </p:nvSpPr>
        <p:spPr>
          <a:xfrm>
            <a:off x="548640" y="1325880"/>
            <a:ext cx="11094415" cy="2994660"/>
          </a:xfrm>
          <a:prstGeom prst="roundRect">
            <a:avLst>
              <a:gd name="adj" fmla="val 366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212598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t½</a:t>
            </a:r>
            <a:r>
              <a:rPr lang="en-US" sz="1800" dirty="0">
                <a:solidFill>
                  <a:srgbClr val="1F1F1F"/>
                </a:solidFill>
              </a:rPr>
              <a:t> = time for plasma concentration to fall 50%; set by </a:t>
            </a:r>
            <a:r>
              <a:rPr lang="en-US" sz="1800" b="1" dirty="0">
                <a:solidFill>
                  <a:srgbClr val="1F1F1F"/>
                </a:solidFill>
              </a:rPr>
              <a:t>clearance + Vd</a:t>
            </a:r>
            <a:r>
              <a:rPr lang="en-US" sz="1800" dirty="0">
                <a:solidFill>
                  <a:srgbClr val="1F1F1F"/>
                </a:solidFill>
              </a:rPr>
              <a:t>.</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Each t½ halves what remains: 50 → 25 → 12.5 → 6.25 → ~3% (~97% eliminated at 5 t½).</a:t>
            </a:r>
            <a:r>
              <a:rPr lang="en-US" sz="1300" dirty="0">
                <a:solidFill>
                  <a:srgbClr val="666666"/>
                </a:solidFill>
              </a:rPr>
              <a:t>  S19; S22</a:t>
            </a:r>
            <a:endParaRPr lang="en-US" sz="1800" dirty="0"/>
          </a:p>
          <a:p>
            <a:pPr marL="228600" indent="-228600">
              <a:spcAft>
                <a:spcPts val="800"/>
              </a:spcAft>
              <a:buSzPct val="100000"/>
              <a:buChar char="•"/>
            </a:pPr>
            <a:r>
              <a:rPr lang="en-US" sz="1800" b="1" dirty="0">
                <a:solidFill>
                  <a:srgbClr val="1F1F1F"/>
                </a:solidFill>
              </a:rPr>
              <a:t>Steady state ≈ 4–5 t½</a:t>
            </a:r>
            <a:r>
              <a:rPr lang="en-US" sz="1800" dirty="0">
                <a:solidFill>
                  <a:srgbClr val="1F1F1F"/>
                </a:solidFill>
              </a:rPr>
              <a:t>, regardless of dose; loading dose gets there immediately.</a:t>
            </a:r>
            <a:r>
              <a:rPr lang="en-US" sz="1300" dirty="0">
                <a:solidFill>
                  <a:srgbClr val="666666"/>
                </a:solidFill>
              </a:rPr>
              <a:t>  S23; S26; S30</a:t>
            </a:r>
            <a:endParaRPr lang="en-US" sz="1800" dirty="0"/>
          </a:p>
          <a:p>
            <a:pPr marL="228600" indent="-228600">
              <a:spcAft>
                <a:spcPts val="800"/>
              </a:spcAft>
              <a:buSzPct val="100000"/>
              <a:buChar char="•"/>
            </a:pPr>
            <a:r>
              <a:rPr lang="en-US" sz="1800" b="1" dirty="0">
                <a:solidFill>
                  <a:srgbClr val="1F1F1F"/>
                </a:solidFill>
              </a:rPr>
              <a:t>Clearance</a:t>
            </a:r>
            <a:r>
              <a:rPr lang="en-US" sz="1800" dirty="0">
                <a:solidFill>
                  <a:srgbClr val="1F1F1F"/>
                </a:solidFill>
              </a:rPr>
              <a:t> = plasma volume cleared per unit time; total = hepatic + renal.</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CKD: clearance ↓ → t½ ↑ → concentration ↑ → adjust dose and/or interval.</a:t>
            </a:r>
            <a:r>
              <a:rPr lang="en-US" sz="1300" dirty="0">
                <a:solidFill>
                  <a:srgbClr val="666666"/>
                </a:solidFill>
              </a:rPr>
              <a:t>  S28; S28 (notes)</a:t>
            </a:r>
            <a:endParaRPr lang="en-US" sz="1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S21-22</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67</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Using Figure 7, approximately what percentage of the original drug concentration remains after 3 half-lives (3 t½)?</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a:t>
            </a:r>
            <a:endParaRPr lang="en-US" sz="1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10: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12.5%</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Each half-life halves what remains: 100% → 50% → 25% → 12.5% after 3 t½ (S22).</a:t>
            </a:r>
            <a:r>
              <a:rPr lang="en-US" sz="1100" dirty="0">
                <a:solidFill>
                  <a:srgbClr val="666666"/>
                </a:solidFill>
              </a:rPr>
              <a:t>  S20; S21-22</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3% — </a:t>
            </a:r>
            <a:r>
              <a:rPr lang="en-US" sz="1600" dirty="0">
                <a:solidFill>
                  <a:srgbClr val="1F1F1F"/>
                </a:solidFill>
              </a:rPr>
              <a:t>About 3% remains after 5 half-lives (S22).</a:t>
            </a:r>
            <a:endParaRPr lang="en-US" sz="1600" dirty="0"/>
          </a:p>
          <a:p>
            <a:pPr indent="0" marL="0">
              <a:buNone/>
            </a:pPr>
            <a:r>
              <a:rPr lang="en-US" sz="1600" b="1" dirty="0">
                <a:solidFill>
                  <a:srgbClr val="1F1F1F"/>
                </a:solidFill>
              </a:rPr>
              <a:t>B. 25% — </a:t>
            </a:r>
            <a:r>
              <a:rPr lang="en-US" sz="1600" dirty="0">
                <a:solidFill>
                  <a:srgbClr val="1F1F1F"/>
                </a:solidFill>
              </a:rPr>
              <a:t>25% remains after 2 half-lives (S22).</a:t>
            </a:r>
            <a:endParaRPr lang="en-US" sz="1600" dirty="0"/>
          </a:p>
          <a:p>
            <a:pPr indent="0" marL="0">
              <a:buNone/>
            </a:pPr>
            <a:r>
              <a:rPr lang="en-US" sz="1600" b="1" dirty="0">
                <a:solidFill>
                  <a:srgbClr val="1F1F1F"/>
                </a:solidFill>
              </a:rPr>
              <a:t>C. 6.25% — </a:t>
            </a:r>
            <a:r>
              <a:rPr lang="en-US" sz="1600" dirty="0">
                <a:solidFill>
                  <a:srgbClr val="1F1F1F"/>
                </a:solidFill>
              </a:rPr>
              <a:t>6.25% remains after 4 half-lives (S19).</a:t>
            </a:r>
            <a:endParaRPr lang="en-US" sz="1600" dirty="0"/>
          </a:p>
          <a:p>
            <a:pPr indent="0" marL="0">
              <a:buNone/>
            </a:pPr>
            <a:r>
              <a:rPr lang="en-US" sz="1600" b="1" dirty="0">
                <a:solidFill>
                  <a:srgbClr val="1F1F1F"/>
                </a:solidFill>
              </a:rPr>
              <a:t>E. 50% — </a:t>
            </a:r>
            <a:r>
              <a:rPr lang="en-US" sz="1600" dirty="0">
                <a:solidFill>
                  <a:srgbClr val="1F1F1F"/>
                </a:solidFill>
              </a:rPr>
              <a:t>50% remains after 1 half-life (S22).</a:t>
            </a:r>
            <a:endParaRPr lang="en-US" sz="16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S25-26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69</a:t>
            </a:r>
            <a:endParaRPr lang="en-US" sz="1000" dirty="0"/>
          </a:p>
        </p:txBody>
      </p:sp>
      <p:sp>
        <p:nvSpPr>
          <p:cNvPr id="7" name="Question stem card"/>
          <p:cNvSpPr/>
          <p:nvPr/>
        </p:nvSpPr>
        <p:spPr>
          <a:xfrm>
            <a:off x="548640" y="1325880"/>
            <a:ext cx="11094415" cy="1202436"/>
          </a:xfrm>
          <a:prstGeom prst="roundRect">
            <a:avLst>
              <a:gd name="adj" fmla="val 7605"/>
            </a:avLst>
          </a:prstGeom>
          <a:solidFill>
            <a:srgbClr val="F2F4F7"/>
          </a:solidFill>
          <a:ln w="12700">
            <a:solidFill>
              <a:srgbClr val="F2F4F7"/>
            </a:solidFill>
            <a:prstDash val="solid"/>
          </a:ln>
        </p:spPr>
      </p:sp>
      <p:sp>
        <p:nvSpPr>
          <p:cNvPr id="8" name="Question stem"/>
          <p:cNvSpPr txBox="1"/>
          <p:nvPr/>
        </p:nvSpPr>
        <p:spPr>
          <a:xfrm>
            <a:off x="777240" y="1325880"/>
            <a:ext cx="10637215" cy="1202436"/>
          </a:xfrm>
          <a:prstGeom prst="rect">
            <a:avLst/>
          </a:prstGeom>
          <a:noFill/>
          <a:ln/>
        </p:spPr>
        <p:txBody>
          <a:bodyPr wrap="square" lIns="0" tIns="0" rIns="0" bIns="0" rtlCol="0" anchor="ctr"/>
          <a:lstStyle/>
          <a:p>
            <a:pPr indent="0" marL="0">
              <a:buNone/>
            </a:pPr>
            <a:r>
              <a:rPr lang="en-US" sz="1800" dirty="0">
                <a:solidFill>
                  <a:srgbClr val="1F1F1F"/>
                </a:solidFill>
              </a:rPr>
              <a:t>In Figure 8, the dashed loading-dose line starts at the target concentration immediately, while the maintenance-only line climbs gradually over several doses. What is the clinical advantage of adding a loading dose?</a:t>
            </a:r>
            <a:endParaRPr lang="en-US" sz="1800" dirty="0"/>
          </a:p>
        </p:txBody>
      </p:sp>
      <p:sp>
        <p:nvSpPr>
          <p:cNvPr id="9" name="Shape 7"/>
          <p:cNvSpPr/>
          <p:nvPr/>
        </p:nvSpPr>
        <p:spPr>
          <a:xfrm>
            <a:off x="548640" y="2738628"/>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73862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71119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reaches the therapeutic target immediately instead of waiting ~4–5 half-lives</a:t>
            </a:r>
            <a:endParaRPr lang="en-US" sz="1800" dirty="0"/>
          </a:p>
        </p:txBody>
      </p:sp>
      <p:sp>
        <p:nvSpPr>
          <p:cNvPr id="12" name="Shape 10"/>
          <p:cNvSpPr/>
          <p:nvPr/>
        </p:nvSpPr>
        <p:spPr>
          <a:xfrm>
            <a:off x="548640" y="3287268"/>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28726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325983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shortens the drug's half-life so steady state comes sooner</a:t>
            </a:r>
            <a:endParaRPr lang="en-US" sz="1800" dirty="0"/>
          </a:p>
        </p:txBody>
      </p:sp>
      <p:sp>
        <p:nvSpPr>
          <p:cNvPr id="15" name="Shape 13"/>
          <p:cNvSpPr/>
          <p:nvPr/>
        </p:nvSpPr>
        <p:spPr>
          <a:xfrm>
            <a:off x="548640" y="3835908"/>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83590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80847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real advantage over maintenance dosing used alone</a:t>
            </a:r>
            <a:endParaRPr lang="en-US" sz="1800" dirty="0"/>
          </a:p>
        </p:txBody>
      </p:sp>
      <p:sp>
        <p:nvSpPr>
          <p:cNvPr id="18" name="Shape 16"/>
          <p:cNvSpPr/>
          <p:nvPr/>
        </p:nvSpPr>
        <p:spPr>
          <a:xfrm>
            <a:off x="548640" y="4384548"/>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38454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35711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permanently lowers the maintenance dose the patient will need</a:t>
            </a:r>
            <a:endParaRPr lang="en-US" sz="1800" dirty="0"/>
          </a:p>
        </p:txBody>
      </p:sp>
      <p:sp>
        <p:nvSpPr>
          <p:cNvPr id="21" name="Shape 19"/>
          <p:cNvSpPr/>
          <p:nvPr/>
        </p:nvSpPr>
        <p:spPr>
          <a:xfrm>
            <a:off x="548640" y="4933188"/>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93318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90575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eliminates the need for any therapeutic drug level monitoring</a:t>
            </a:r>
            <a:endParaRPr lang="en-US" sz="1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11: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It reaches the therapeutic target immediately instead of waiting ~4–5 half-lives</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loading-dose curve starts at the steady-state line from the first dose; maintenance-only needs ~4–5 half-lives (S26).</a:t>
            </a:r>
            <a:r>
              <a:rPr lang="en-US" sz="1100" dirty="0">
                <a:solidFill>
                  <a:srgbClr val="666666"/>
                </a:solidFill>
              </a:rPr>
              <a:t>  S24; S25-26</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It shortens the drug's half-life so steady state comes sooner — </a:t>
            </a:r>
            <a:r>
              <a:rPr lang="en-US" sz="1600" dirty="0">
                <a:solidFill>
                  <a:srgbClr val="1F1F1F"/>
                </a:solidFill>
              </a:rPr>
              <a:t>Half-life is set by clearance and Vd, not by a loading dose (S19).</a:t>
            </a:r>
            <a:endParaRPr lang="en-US" sz="1600" dirty="0"/>
          </a:p>
          <a:p>
            <a:pPr indent="0" marL="0">
              <a:buNone/>
            </a:pPr>
            <a:r>
              <a:rPr lang="en-US" sz="1600" b="1" dirty="0">
                <a:solidFill>
                  <a:srgbClr val="1F1F1F"/>
                </a:solidFill>
              </a:rPr>
              <a:t>C. It has no real advantage over maintenance dosing used alone — </a:t>
            </a:r>
            <a:r>
              <a:rPr lang="en-US" sz="1600" dirty="0">
                <a:solidFill>
                  <a:srgbClr val="1F1F1F"/>
                </a:solidFill>
              </a:rPr>
              <a:t>It reaches the target immediately (S26).</a:t>
            </a:r>
            <a:endParaRPr lang="en-US" sz="1600" dirty="0"/>
          </a:p>
          <a:p>
            <a:pPr indent="0" marL="0">
              <a:buNone/>
            </a:pPr>
            <a:r>
              <a:rPr lang="en-US" sz="1600" b="1" dirty="0">
                <a:solidFill>
                  <a:srgbClr val="1F1F1F"/>
                </a:solidFill>
              </a:rPr>
              <a:t>D. It permanently lowers the maintenance dose the patient will need — </a:t>
            </a:r>
            <a:r>
              <a:rPr lang="en-US" sz="1600" dirty="0">
                <a:solidFill>
                  <a:srgbClr val="1F1F1F"/>
                </a:solidFill>
              </a:rPr>
              <a:t>A loading dose does not change the maintenance dose itself (S26).</a:t>
            </a:r>
            <a:endParaRPr lang="en-US" sz="1600" dirty="0"/>
          </a:p>
          <a:p>
            <a:pPr indent="0" marL="0">
              <a:buNone/>
            </a:pPr>
            <a:r>
              <a:rPr lang="en-US" sz="1600" b="1" dirty="0">
                <a:solidFill>
                  <a:srgbClr val="1F1F1F"/>
                </a:solidFill>
              </a:rPr>
              <a:t>E. It eliminates the need for any therapeutic drug level monitoring — </a:t>
            </a:r>
            <a:r>
              <a:rPr lang="en-US" sz="1600" dirty="0">
                <a:solidFill>
                  <a:srgbClr val="1F1F1F"/>
                </a:solidFill>
              </a:rPr>
              <a:t>A loading dose does not remove the need for monitoring (S26).</a:t>
            </a:r>
            <a:endParaRPr lang="en-US" sz="16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S29-30</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71</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Approximately how many half-lives are required for a drug to reach steady state with regular, repeated dosing?</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After the first dose</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2–3 half-lives</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 half-lives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8–10 half-lives</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4–5 half-lives</a:t>
            </a:r>
            <a:endParaRPr lang="en-US" sz="1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12: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4–5 half-lives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Steady state is reached in roughly 4–5 half-lives, regardless of dose size (S30).</a:t>
            </a:r>
            <a:r>
              <a:rPr lang="en-US" sz="1100" dirty="0">
                <a:solidFill>
                  <a:srgbClr val="666666"/>
                </a:solidFill>
              </a:rPr>
              <a:t>  S29-30; SG U1-R11</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After the first dose — </a:t>
            </a:r>
            <a:r>
              <a:rPr lang="en-US" sz="1600" dirty="0">
                <a:solidFill>
                  <a:srgbClr val="1F1F1F"/>
                </a:solidFill>
              </a:rPr>
              <a:t>That describes a LOADING dose reaching target (S26), not steady state from regular dosing.</a:t>
            </a:r>
            <a:endParaRPr lang="en-US" sz="1600" dirty="0"/>
          </a:p>
          <a:p>
            <a:pPr indent="0" marL="0">
              <a:buNone/>
            </a:pPr>
            <a:r>
              <a:rPr lang="en-US" sz="1600" b="1" dirty="0">
                <a:solidFill>
                  <a:srgbClr val="1F1F1F"/>
                </a:solidFill>
              </a:rPr>
              <a:t>B. 2–3 half-lives — </a:t>
            </a:r>
            <a:r>
              <a:rPr lang="en-US" sz="1600" dirty="0">
                <a:solidFill>
                  <a:srgbClr val="1F1F1F"/>
                </a:solidFill>
              </a:rPr>
              <a:t>Too few — about 4–5 half-lives are needed (S23, S30).</a:t>
            </a:r>
            <a:endParaRPr lang="en-US" sz="1600" dirty="0"/>
          </a:p>
          <a:p>
            <a:pPr indent="0" marL="0">
              <a:buNone/>
            </a:pPr>
            <a:r>
              <a:rPr lang="en-US" sz="1600" b="1" dirty="0">
                <a:solidFill>
                  <a:srgbClr val="1F1F1F"/>
                </a:solidFill>
              </a:rPr>
              <a:t>C. 1–2 half-lives — </a:t>
            </a:r>
            <a:r>
              <a:rPr lang="en-US" sz="1600" dirty="0">
                <a:solidFill>
                  <a:srgbClr val="1F1F1F"/>
                </a:solidFill>
              </a:rPr>
              <a:t>Too few — steady state takes about 4–5 half-lives (S30).</a:t>
            </a:r>
            <a:endParaRPr lang="en-US" sz="1600" dirty="0"/>
          </a:p>
          <a:p>
            <a:pPr indent="0" marL="0">
              <a:buNone/>
            </a:pPr>
            <a:r>
              <a:rPr lang="en-US" sz="1600" b="1" dirty="0">
                <a:solidFill>
                  <a:srgbClr val="1F1F1F"/>
                </a:solidFill>
              </a:rPr>
              <a:t>D. 8–10 half-lives — </a:t>
            </a:r>
            <a:r>
              <a:rPr lang="en-US" sz="1600" dirty="0">
                <a:solidFill>
                  <a:srgbClr val="1F1F1F"/>
                </a:solidFill>
              </a:rPr>
              <a:t>Too many — steady state takes about 4–5 half-lives (S30).</a:t>
            </a:r>
            <a:endParaRPr lang="en-US" sz="16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with CKD is prescribed a renally-cleared, narrow-TI drug without dose adjustment. Which two consequences would you expect together?</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half-life and increased concentration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either half-life or concentration</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decreased concentration</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clearance and decreased Vd</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increased concentration</a:t>
            </a:r>
            <a:endParaRPr lang="en-US" sz="1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13: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Increased half-life and increased concentration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both drug concentration and half-life (S48, S28).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No change in either half-life or concentration — </a:t>
            </a:r>
            <a:r>
              <a:rPr lang="en-US" sz="1600" dirty="0">
                <a:solidFill>
                  <a:srgbClr val="1F1F1F"/>
                </a:solidFill>
              </a:rPr>
              <a:t>Reduced clearance raises concentration and prolongs half-life (S28).</a:t>
            </a:r>
            <a:endParaRPr lang="en-US" sz="1600" dirty="0"/>
          </a:p>
          <a:p>
            <a:pPr indent="0" marL="0">
              <a:buNone/>
            </a:pPr>
            <a:r>
              <a:rPr lang="en-US" sz="1600" b="1" dirty="0">
                <a:solidFill>
                  <a:srgbClr val="1F1F1F"/>
                </a:solidFill>
              </a:rPr>
              <a:t>C. Decreased half-life and decreased concentration — </a:t>
            </a:r>
            <a:r>
              <a:rPr lang="en-US" sz="1600" dirty="0">
                <a:solidFill>
                  <a:srgbClr val="1F1F1F"/>
                </a:solidFill>
              </a:rPr>
              <a:t>Lower clearance has the opposite effect (S28).</a:t>
            </a:r>
            <a:endParaRPr lang="en-US" sz="1600" dirty="0"/>
          </a:p>
          <a:p>
            <a:pPr indent="0" marL="0">
              <a:buNone/>
            </a:pPr>
            <a:r>
              <a:rPr lang="en-US" sz="1600" b="1" dirty="0">
                <a:solidFill>
                  <a:srgbClr val="1F1F1F"/>
                </a:solidFill>
              </a:rPr>
              <a:t>D. Increased clearance and decreased Vd — </a:t>
            </a:r>
            <a:r>
              <a:rPr lang="en-US" sz="1600" dirty="0">
                <a:solidFill>
                  <a:srgbClr val="1F1F1F"/>
                </a:solidFill>
              </a:rPr>
              <a:t>CKD DECREASES clearance (S15).</a:t>
            </a:r>
            <a:endParaRPr lang="en-US" sz="1600" dirty="0"/>
          </a:p>
          <a:p>
            <a:pPr indent="0" marL="0">
              <a:buNone/>
            </a:pPr>
            <a:r>
              <a:rPr lang="en-US" sz="1600" b="1" dirty="0">
                <a:solidFill>
                  <a:srgbClr val="1F1F1F"/>
                </a:solidFill>
              </a:rPr>
              <a:t>E. Decreased half-life and increased concentration — </a:t>
            </a:r>
            <a:r>
              <a:rPr lang="en-US" sz="1600" dirty="0">
                <a:solidFill>
                  <a:srgbClr val="1F1F1F"/>
                </a:solidFill>
              </a:rPr>
              <a:t>Half-life is PROLONGED when clearance falls (S28).</a:t>
            </a:r>
            <a:endParaRPr lang="en-US" sz="16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narrow-therapeutic-index medication requires monitoring. Which pharmacokinetic parameter most directly determines how long it takes to reach steady-state concentration?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Size of each dose given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 of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Chemical name of the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Route of administration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Bioavailability of the drug</a:t>
            </a:r>
            <a:endParaRPr lang="en-US" sz="1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14: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Half-life of the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Time to steady state (about 4–5 half-lives) is governed by half-life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Size of each dose given — </a:t>
            </a:r>
            <a:r>
              <a:rPr lang="en-US" sz="1600" dirty="0">
                <a:solidFill>
                  <a:srgbClr val="1F1F1F"/>
                </a:solidFill>
              </a:rPr>
              <a:t>Steady state takes ~4–5 half-lives regardless of dose size (S30).</a:t>
            </a:r>
            <a:endParaRPr lang="en-US" sz="1600" dirty="0"/>
          </a:p>
          <a:p>
            <a:pPr indent="0" marL="0">
              <a:buNone/>
            </a:pPr>
            <a:r>
              <a:rPr lang="en-US" sz="1600" b="1" dirty="0">
                <a:solidFill>
                  <a:srgbClr val="1F1F1F"/>
                </a:solidFill>
              </a:rPr>
              <a:t>C. Chemical name of the drug — </a:t>
            </a:r>
            <a:r>
              <a:rPr lang="en-US" sz="1600" dirty="0">
                <a:solidFill>
                  <a:srgbClr val="1F1F1F"/>
                </a:solidFill>
              </a:rPr>
              <a:t>A chemical name describes structure; it has no effect on PK (S48).</a:t>
            </a:r>
            <a:endParaRPr lang="en-US" sz="1600" dirty="0"/>
          </a:p>
          <a:p>
            <a:pPr indent="0" marL="0">
              <a:buNone/>
            </a:pPr>
            <a:r>
              <a:rPr lang="en-US" sz="1600" b="1" dirty="0">
                <a:solidFill>
                  <a:srgbClr val="1F1F1F"/>
                </a:solidFill>
              </a:rPr>
              <a:t>D. Route of administration — </a:t>
            </a:r>
            <a:r>
              <a:rPr lang="en-US" sz="1600" dirty="0">
                <a:solidFill>
                  <a:srgbClr val="1F1F1F"/>
                </a:solidFill>
              </a:rPr>
              <a:t>Time to steady state depends on half-life, not route (S48).</a:t>
            </a:r>
            <a:endParaRPr lang="en-US" sz="1600" dirty="0"/>
          </a:p>
          <a:p>
            <a:pPr indent="0" marL="0">
              <a:buNone/>
            </a:pPr>
            <a:r>
              <a:rPr lang="en-US" sz="1600" b="1" dirty="0">
                <a:solidFill>
                  <a:srgbClr val="1F1F1F"/>
                </a:solidFill>
              </a:rPr>
              <a:t>E. Bioavailability of the drug — </a:t>
            </a:r>
            <a:r>
              <a:rPr lang="en-US" sz="1600" dirty="0">
                <a:solidFill>
                  <a:srgbClr val="1F1F1F"/>
                </a:solidFill>
              </a:rPr>
              <a:t>Bioavailability is the fraction reaching circulation (Session 1), not the time to steady state (S48).</a:t>
            </a:r>
            <a:endParaRPr lang="en-US" sz="16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receives an IV dose that gives a starting plasma concentration of 100 mg/L. The drug's half-life is 6 hours. What is the plasma concentration at 18 hours?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 mg/L, with 93.75% of the drug eliminated</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 mg/L, with 75% of the drug eliminated</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 mg/L, with 87.5% of the drug eliminated</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3.125 mg/L, with about 97% eliminated</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 mg/L, with 50% of the drug eliminated</a:t>
            </a:r>
            <a:endParaRPr lang="en-US"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15: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12.5 mg/L, with 87.5% of the drug eliminated</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18 h = 3 half-lives: C(t) = 100 × (1/2)^3 = 12.5 mg/L (87.5% eliminated) (S19).</a:t>
            </a:r>
            <a:r>
              <a:rPr lang="en-US" sz="1100" dirty="0">
                <a:solidFill>
                  <a:srgbClr val="666666"/>
                </a:solidFill>
              </a:rPr>
              <a:t>  S19</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6.25 mg/L, with 93.75% of the drug eliminated — </a:t>
            </a:r>
            <a:r>
              <a:rPr lang="en-US" sz="1600" dirty="0">
                <a:solidFill>
                  <a:srgbClr val="1F1F1F"/>
                </a:solidFill>
              </a:rPr>
              <a:t>That is 24 h — 4 half-lives (S19).</a:t>
            </a:r>
            <a:endParaRPr lang="en-US" sz="1600" dirty="0"/>
          </a:p>
          <a:p>
            <a:pPr indent="0" marL="0">
              <a:buNone/>
            </a:pPr>
            <a:r>
              <a:rPr lang="en-US" sz="1600" b="1" dirty="0">
                <a:solidFill>
                  <a:srgbClr val="1F1F1F"/>
                </a:solidFill>
              </a:rPr>
              <a:t>B. 25 mg/L, with 75% of the drug eliminated — </a:t>
            </a:r>
            <a:r>
              <a:rPr lang="en-US" sz="1600" dirty="0">
                <a:solidFill>
                  <a:srgbClr val="1F1F1F"/>
                </a:solidFill>
              </a:rPr>
              <a:t>That is 12 h — 2 half-lives (S19).</a:t>
            </a:r>
            <a:endParaRPr lang="en-US" sz="1600" dirty="0"/>
          </a:p>
          <a:p>
            <a:pPr indent="0" marL="0">
              <a:buNone/>
            </a:pPr>
            <a:r>
              <a:rPr lang="en-US" sz="1600" b="1" dirty="0">
                <a:solidFill>
                  <a:srgbClr val="1F1F1F"/>
                </a:solidFill>
              </a:rPr>
              <a:t>D. 3.125 mg/L, with about 97% eliminated — </a:t>
            </a:r>
            <a:r>
              <a:rPr lang="en-US" sz="1600" dirty="0">
                <a:solidFill>
                  <a:srgbClr val="1F1F1F"/>
                </a:solidFill>
              </a:rPr>
              <a:t>That is 30 h — 5 half-lives (S19).</a:t>
            </a:r>
            <a:endParaRPr lang="en-US" sz="1600" dirty="0"/>
          </a:p>
          <a:p>
            <a:pPr indent="0" marL="0">
              <a:buNone/>
            </a:pPr>
            <a:r>
              <a:rPr lang="en-US" sz="1600" b="1" dirty="0">
                <a:solidFill>
                  <a:srgbClr val="1F1F1F"/>
                </a:solidFill>
              </a:rPr>
              <a:t>E. 50 mg/L, with 50% of the drug eliminated — </a:t>
            </a:r>
            <a:r>
              <a:rPr lang="en-US" sz="1600" dirty="0">
                <a:solidFill>
                  <a:srgbClr val="1F1F1F"/>
                </a:solidFill>
              </a:rPr>
              <a:t>That is 6 h — 1 half-life (S19).</a:t>
            </a:r>
            <a:endParaRPr lang="en-US" sz="16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79</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statement correctly pairs each dose type with the parameter it is based on?</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bioavailability; maintenance dose on Vd</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Vd; maintenance dose is based on clearance</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loading and maintenance doses are based on clearance alone</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clearance; maintenance dose is based on Vd</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loading and maintenance doses are based on half-life alone</a:t>
            </a:r>
            <a:endParaRPr lang="en-US" sz="18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16: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Loading dose is based on Vd; maintenance dose is based on clearance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Loading doses are based on Vd; maintenance doses are based on clearance (S23 notes).</a:t>
            </a:r>
            <a:r>
              <a:rPr lang="en-US" sz="1100" dirty="0">
                <a:solidFill>
                  <a:srgbClr val="666666"/>
                </a:solidFill>
              </a:rPr>
              <a:t>  S23 (notes)</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Loading dose is based on bioavailability; maintenance dose on Vd — </a:t>
            </a:r>
            <a:r>
              <a:rPr lang="en-US" sz="1600" dirty="0">
                <a:solidFill>
                  <a:srgbClr val="1F1F1F"/>
                </a:solidFill>
              </a:rPr>
              <a:t>Loading = Vd; maintenance = clearance (S23 notes).</a:t>
            </a:r>
            <a:endParaRPr lang="en-US" sz="1600" dirty="0"/>
          </a:p>
          <a:p>
            <a:pPr indent="0" marL="0">
              <a:buNone/>
            </a:pPr>
            <a:r>
              <a:rPr lang="en-US" sz="1600" b="1" dirty="0">
                <a:solidFill>
                  <a:srgbClr val="1F1F1F"/>
                </a:solidFill>
              </a:rPr>
              <a:t>C. Both loading and maintenance doses are based on clearance alone — </a:t>
            </a:r>
            <a:r>
              <a:rPr lang="en-US" sz="1600" dirty="0">
                <a:solidFill>
                  <a:srgbClr val="1F1F1F"/>
                </a:solidFill>
              </a:rPr>
              <a:t>Loading doses are based on Vd (S23 notes).</a:t>
            </a:r>
            <a:endParaRPr lang="en-US" sz="1600" dirty="0"/>
          </a:p>
          <a:p>
            <a:pPr indent="0" marL="0">
              <a:buNone/>
            </a:pPr>
            <a:r>
              <a:rPr lang="en-US" sz="1600" b="1" dirty="0">
                <a:solidFill>
                  <a:srgbClr val="1F1F1F"/>
                </a:solidFill>
              </a:rPr>
              <a:t>D. Loading dose is based on clearance; maintenance dose is based on Vd — </a:t>
            </a:r>
            <a:r>
              <a:rPr lang="en-US" sz="1600" dirty="0">
                <a:solidFill>
                  <a:srgbClr val="1F1F1F"/>
                </a:solidFill>
              </a:rPr>
              <a:t>This reverses the pairing (S23 notes).</a:t>
            </a:r>
            <a:endParaRPr lang="en-US" sz="1600" dirty="0"/>
          </a:p>
          <a:p>
            <a:pPr indent="0" marL="0">
              <a:buNone/>
            </a:pPr>
            <a:r>
              <a:rPr lang="en-US" sz="1600" b="1" dirty="0">
                <a:solidFill>
                  <a:srgbClr val="1F1F1F"/>
                </a:solidFill>
              </a:rPr>
              <a:t>E. Both loading and maintenance doses are based on half-life alone — </a:t>
            </a:r>
            <a:r>
              <a:rPr lang="en-US" sz="1600" dirty="0">
                <a:solidFill>
                  <a:srgbClr val="1F1F1F"/>
                </a:solidFill>
              </a:rPr>
              <a:t>The lecture pairs loading with Vd and maintenance with clearance (S23 notes).</a:t>
            </a:r>
            <a:endParaRPr lang="en-US" sz="16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is given every 8 hours instead of every 24 hours, keeping the same total daily dose. What happens to its average steady-state concentration?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depends on Vd, which now changes</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triples because doses come more often</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falls because each dose is smaller</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stays the same; only peaks and troughs change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doubles because half-life gets longer</a:t>
            </a:r>
            <a:endParaRPr lang="en-US" sz="18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17: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It stays the same; only peaks and troughs change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The average steady-state level depends only on dosing rate and clearance; the interval changes only the swings (p. 51).</a:t>
            </a:r>
            <a:r>
              <a:rPr lang="en-US" sz="1100" dirty="0">
                <a:solidFill>
                  <a:srgbClr val="666666"/>
                </a:solidFill>
              </a:rPr>
              <a:t>  p. 51</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It depends on Vd, which now changes — </a:t>
            </a:r>
            <a:r>
              <a:rPr lang="en-US" sz="1600" dirty="0">
                <a:solidFill>
                  <a:srgbClr val="1F1F1F"/>
                </a:solidFill>
              </a:rPr>
              <a:t>Vd sets the loading dose, not the average level (p. 51; p. 52).</a:t>
            </a:r>
            <a:endParaRPr lang="en-US" sz="1600" dirty="0"/>
          </a:p>
          <a:p>
            <a:pPr indent="0" marL="0">
              <a:buNone/>
            </a:pPr>
            <a:r>
              <a:rPr lang="en-US" sz="1600" b="1" dirty="0">
                <a:solidFill>
                  <a:srgbClr val="1F1F1F"/>
                </a:solidFill>
              </a:rPr>
              <a:t>B. It triples because doses come more often — </a:t>
            </a:r>
            <a:r>
              <a:rPr lang="en-US" sz="1600" dirty="0">
                <a:solidFill>
                  <a:srgbClr val="1F1F1F"/>
                </a:solidFill>
              </a:rPr>
              <a:t>Total dose per day is unchanged, so the average is unchanged (p. 51).</a:t>
            </a:r>
            <a:endParaRPr lang="en-US" sz="1600" dirty="0"/>
          </a:p>
          <a:p>
            <a:pPr indent="0" marL="0">
              <a:buNone/>
            </a:pPr>
            <a:r>
              <a:rPr lang="en-US" sz="1600" b="1" dirty="0">
                <a:solidFill>
                  <a:srgbClr val="1F1F1F"/>
                </a:solidFill>
              </a:rPr>
              <a:t>C. It falls because each dose is smaller — </a:t>
            </a:r>
            <a:r>
              <a:rPr lang="en-US" sz="1600" dirty="0">
                <a:solidFill>
                  <a:srgbClr val="1F1F1F"/>
                </a:solidFill>
              </a:rPr>
              <a:t>Smaller, more frequent doses narrow the swings, not the average (p. 51).</a:t>
            </a:r>
            <a:endParaRPr lang="en-US" sz="1600" dirty="0"/>
          </a:p>
          <a:p>
            <a:pPr indent="0" marL="0">
              <a:buNone/>
            </a:pPr>
            <a:r>
              <a:rPr lang="en-US" sz="1600" b="1" dirty="0">
                <a:solidFill>
                  <a:srgbClr val="1F1F1F"/>
                </a:solidFill>
              </a:rPr>
              <a:t>E. It doubles because half-life gets longer — </a:t>
            </a:r>
            <a:r>
              <a:rPr lang="en-US" sz="1600" dirty="0">
                <a:solidFill>
                  <a:srgbClr val="1F1F1F"/>
                </a:solidFill>
              </a:rPr>
              <a:t>Dosing interval does not change half-life (p. 51).</a:t>
            </a:r>
            <a:endParaRPr lang="en-US" sz="16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4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Pharmacogenomics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SO4 · IO1.3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83</a:t>
            </a:r>
            <a:endParaRPr lang="en-US" sz="10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84</a:t>
            </a:r>
            <a:endParaRPr lang="en-US" sz="1000" dirty="0"/>
          </a:p>
        </p:txBody>
      </p:sp>
      <p:sp>
        <p:nvSpPr>
          <p:cNvPr id="7" name="Key definitions card"/>
          <p:cNvSpPr/>
          <p:nvPr/>
        </p:nvSpPr>
        <p:spPr>
          <a:xfrm>
            <a:off x="548640" y="1325880"/>
            <a:ext cx="11094415" cy="2884932"/>
          </a:xfrm>
          <a:prstGeom prst="roundRect">
            <a:avLst>
              <a:gd name="adj" fmla="val 3803"/>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2016252"/>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Pharmacogenomics studies how genetic variation changes an individual's response to a drug.</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Why the same dose does not work the same way in everyone.</a:t>
            </a:r>
            <a:r>
              <a:rPr lang="en-US" sz="1300" dirty="0">
                <a:solidFill>
                  <a:srgbClr val="666666"/>
                </a:solidFill>
              </a:rPr>
              <a:t>  S31</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Allele:</a:t>
            </a:r>
            <a:r>
              <a:rPr lang="en-US" sz="1800" dirty="0">
                <a:solidFill>
                  <a:srgbClr val="1F1F1F"/>
                </a:solidFill>
              </a:rPr>
              <a:t> one of the alternative forms of a gene at the same locus. </a:t>
            </a:r>
            <a:r>
              <a:rPr lang="en-US" sz="1800" b="1" dirty="0">
                <a:solidFill>
                  <a:srgbClr val="1F1F1F"/>
                </a:solidFill>
              </a:rPr>
              <a:t>Haplotype:</a:t>
            </a:r>
            <a:r>
              <a:rPr lang="en-US" sz="1800" dirty="0">
                <a:solidFill>
                  <a:srgbClr val="1F1F1F"/>
                </a:solidFill>
              </a:rPr>
              <a:t> a series of alleles inherited together on one chromosome. </a:t>
            </a:r>
            <a:r>
              <a:rPr lang="en-US" sz="1800" b="1" dirty="0">
                <a:solidFill>
                  <a:srgbClr val="1F1F1F"/>
                </a:solidFill>
              </a:rPr>
              <a:t>Nonsynonymous SNP:</a:t>
            </a:r>
            <a:r>
              <a:rPr lang="en-US" sz="1800" dirty="0">
                <a:solidFill>
                  <a:srgbClr val="1F1F1F"/>
                </a:solidFill>
              </a:rPr>
              <a:t> a single-base change that alters an amino acid.</a:t>
            </a:r>
            <a:r>
              <a:rPr lang="en-US" sz="1300" dirty="0">
                <a:solidFill>
                  <a:srgbClr val="666666"/>
                </a:solidFill>
              </a:rPr>
              <a:t>  p. 78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PM, IM, EM, UM:</a:t>
            </a:r>
            <a:r>
              <a:rPr lang="en-US" sz="1800" dirty="0">
                <a:solidFill>
                  <a:srgbClr val="1F1F1F"/>
                </a:solidFill>
              </a:rPr>
              <a:t> poor, intermediate, extensive (normal) and ultrarapid metabolizer.</a:t>
            </a:r>
            <a:r>
              <a:rPr lang="en-US" sz="1300" dirty="0">
                <a:solidFill>
                  <a:srgbClr val="666666"/>
                </a:solidFill>
              </a:rPr>
              <a:t>  p. 78</a:t>
            </a:r>
            <a:endParaRPr lang="en-US" sz="18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85</a:t>
            </a:r>
            <a:endParaRPr lang="en-US" sz="1000" dirty="0"/>
          </a:p>
        </p:txBody>
      </p:sp>
      <p:sp>
        <p:nvSpPr>
          <p:cNvPr id="7" name="How it works (1/2) card"/>
          <p:cNvSpPr/>
          <p:nvPr/>
        </p:nvSpPr>
        <p:spPr>
          <a:xfrm>
            <a:off x="548640" y="1325880"/>
            <a:ext cx="11094415" cy="4329684"/>
          </a:xfrm>
          <a:prstGeom prst="roundRect">
            <a:avLst>
              <a:gd name="adj" fmla="val 2534"/>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346100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Genetic variation can alter drug metabolism (e.g., CYP enzyme activity).</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transport across membranes.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target structure or expression.</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overall drug response and risk of adverse reactions.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Personalized pharmacotherapy combines genotype, phenotype, disease state, and other medications into individualized therapy.</a:t>
            </a:r>
            <a:r>
              <a:rPr lang="en-US" sz="1300" dirty="0">
                <a:solidFill>
                  <a:srgbClr val="666666"/>
                </a:solidFill>
              </a:rPr>
              <a:t>  S34</a:t>
            </a:r>
            <a:endParaRPr lang="en-US" sz="1800" dirty="0"/>
          </a:p>
          <a:p>
            <a:pPr marL="228600" indent="-228600">
              <a:spcAft>
                <a:spcPts val="800"/>
              </a:spcAft>
              <a:buSzPct val="100000"/>
              <a:buChar char="•"/>
            </a:pPr>
            <a:r>
              <a:rPr lang="en-US" sz="1800" b="1" dirty="0">
                <a:solidFill>
                  <a:srgbClr val="1F1F1F"/>
                </a:solidFill>
              </a:rPr>
              <a:t>Pharmacogenomics is one input among several — genotype alone never dictates therapy in isolation.</a:t>
            </a:r>
            <a:r>
              <a:rPr lang="en-US" sz="1300" dirty="0">
                <a:solidFill>
                  <a:srgbClr val="666666"/>
                </a:solidFill>
              </a:rPr>
              <a:t>  S34</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Codeine is converted to morphine (200× more potent) by CYP2D6; CPIC recommends an alternative analgesic for CYP2D6 poor </a:t>
            </a:r>
            <a:r>
              <a:rPr lang="en-US" sz="1800" b="1" dirty="0">
                <a:solidFill>
                  <a:srgbClr val="1F1F1F"/>
                </a:solidFill>
              </a:rPr>
              <a:t>and</a:t>
            </a:r>
            <a:r>
              <a:rPr lang="en-US" sz="1800" dirty="0">
                <a:solidFill>
                  <a:srgbClr val="1F1F1F"/>
                </a:solidFill>
              </a:rPr>
              <a:t> ultrarapid metabolizers.</a:t>
            </a:r>
            <a:r>
              <a:rPr lang="en-US" sz="1300" dirty="0">
                <a:solidFill>
                  <a:srgbClr val="666666"/>
                </a:solidFill>
              </a:rPr>
              <a:t>  p. 81; p. 83</a:t>
            </a:r>
            <a:endParaRPr lang="en-US" sz="18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86</a:t>
            </a:r>
            <a:endParaRPr lang="en-US" sz="1000" dirty="0"/>
          </a:p>
        </p:txBody>
      </p:sp>
      <p:sp>
        <p:nvSpPr>
          <p:cNvPr id="7" name="How it works (2/2) card"/>
          <p:cNvSpPr/>
          <p:nvPr/>
        </p:nvSpPr>
        <p:spPr>
          <a:xfrm>
            <a:off x="548640" y="1325880"/>
            <a:ext cx="11094415" cy="4777740"/>
          </a:xfrm>
          <a:prstGeom prst="roundRect">
            <a:avLst>
              <a:gd name="adj" fmla="val 2297"/>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909060"/>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Clopidogrel: about 85% of a dose is inactivated by esterases; CYP2C19 activates the rest. CYP2C19 poor/intermediate metabolizers → prasugrel or ticagrelor.</a:t>
            </a:r>
            <a:r>
              <a:rPr lang="en-US" sz="1300" dirty="0">
                <a:solidFill>
                  <a:srgbClr val="666666"/>
                </a:solidFill>
              </a:rPr>
              <a:t>  p. 81; p. 82</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TPMT intermediate activity: start thiopurines at 30–70% of the target dose; deficient: use a drastically reduced dose or an alternative.</a:t>
            </a:r>
            <a:r>
              <a:rPr lang="en-US" sz="1300" dirty="0">
                <a:solidFill>
                  <a:srgbClr val="666666"/>
                </a:solidFill>
              </a:rPr>
              <a:t>  p. 83</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Warfarin dose varies up to 20-fold between patients; CYP2C9 and VKORC1 genotypes explain much of it.</a:t>
            </a:r>
            <a:r>
              <a:rPr lang="en-US" sz="1300" dirty="0">
                <a:solidFill>
                  <a:srgbClr val="666666"/>
                </a:solidFill>
              </a:rPr>
              <a:t>  p. 90</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G6PD deficiency</a:t>
            </a:r>
            <a:r>
              <a:rPr lang="en-US" sz="1800" dirty="0">
                <a:solidFill>
                  <a:srgbClr val="1F1F1F"/>
                </a:solidFill>
              </a:rPr>
              <a:t> (X-linked, more than 400 million people): G6PD is the red cell’s only source of NADPH, so deficient cells hemolyze under oxidative stress such as infection, fava beans or certain drugs.</a:t>
            </a:r>
            <a:r>
              <a:rPr lang="en-US" sz="1300" dirty="0">
                <a:solidFill>
                  <a:srgbClr val="666666"/>
                </a:solidFill>
              </a:rPr>
              <a:t>  p. 86</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NUDT15 variants, as well as TPMT, cause thiopurine intolerance.</a:t>
            </a:r>
            <a:r>
              <a:rPr lang="en-US" sz="1300" dirty="0">
                <a:solidFill>
                  <a:srgbClr val="666666"/>
                </a:solidFill>
              </a:rPr>
              <a:t>  p. 86</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OCT1 (organic cation transporter 1)</a:t>
            </a:r>
            <a:r>
              <a:rPr lang="en-US" sz="1800" dirty="0">
                <a:solidFill>
                  <a:srgbClr val="1F1F1F"/>
                </a:solidFill>
              </a:rPr>
              <a:t> moves basic drugs such as morphine, tramadol, sumatriptan and ondansetron into the liver; people with two reduced-function alleles have about twofold higher levels.</a:t>
            </a:r>
            <a:r>
              <a:rPr lang="en-US" sz="1300" dirty="0">
                <a:solidFill>
                  <a:srgbClr val="666666"/>
                </a:solidFill>
              </a:rPr>
              <a:t>  p. 87</a:t>
            </a:r>
            <a:endParaRPr lang="en-US" sz="14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87</a:t>
            </a:r>
            <a:endParaRPr lang="en-US" sz="1000" dirty="0"/>
          </a:p>
        </p:txBody>
      </p:sp>
      <p:sp>
        <p:nvSpPr>
          <p:cNvPr id="7" name="Clinical relevance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CYP2D6 variation alters metabolism of many antidepressants and opioids (e.g., codeine activation).</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CYP2C19 variation affects clopidogrel activation and some antidepressant/PPI dosing.</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TPMT deficiency raises toxicity risk with thiopurine drugs (e.g., azathioprine).</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Certain HLA alleles sharply raise the risk of severe hypersensitivity to specific drugs.</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HLA-B*5801 is associated with severe hypersensitivity reactions to allopurinol — a textbook pharmacogenomic screening consideration (seen again in the gout lecture).</a:t>
            </a:r>
            <a:r>
              <a:rPr lang="en-US" sz="1300" dirty="0">
                <a:solidFill>
                  <a:srgbClr val="666666"/>
                </a:solidFill>
              </a:rPr>
              <a:t>  S36; S33 (notes); SG U1-R12</a:t>
            </a:r>
            <a:endParaRPr lang="en-US" sz="18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88</a:t>
            </a:r>
            <a:endParaRPr lang="en-US" sz="1000" dirty="0"/>
          </a:p>
        </p:txBody>
      </p:sp>
      <p:sp>
        <p:nvSpPr>
          <p:cNvPr id="7" name="Drugs named as examples (1/2) card"/>
          <p:cNvSpPr/>
          <p:nvPr/>
        </p:nvSpPr>
        <p:spPr>
          <a:xfrm>
            <a:off x="548640" y="1325880"/>
            <a:ext cx="11094415" cy="3054096"/>
          </a:xfrm>
          <a:prstGeom prst="roundRect">
            <a:avLst>
              <a:gd name="adj" fmla="val 3593"/>
            </a:avLst>
          </a:prstGeom>
          <a:solidFill>
            <a:srgbClr val="F2F4F7"/>
          </a:solidFill>
          <a:ln w="12700">
            <a:solidFill>
              <a:srgbClr val="F2F4F7"/>
            </a:solidFill>
            <a:prstDash val="solid"/>
          </a:ln>
        </p:spPr>
      </p:sp>
      <p:sp>
        <p:nvSpPr>
          <p:cNvPr id="8" name="Drugs named as examples (1/2)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 (1/2)</a:t>
            </a:r>
            <a:endParaRPr lang="en-US" sz="1800" dirty="0"/>
          </a:p>
        </p:txBody>
      </p:sp>
      <p:sp>
        <p:nvSpPr>
          <p:cNvPr id="11" name="Drugs named as examples (1/2) body"/>
          <p:cNvSpPr txBox="1"/>
          <p:nvPr/>
        </p:nvSpPr>
        <p:spPr>
          <a:xfrm>
            <a:off x="777240" y="2075688"/>
            <a:ext cx="10637215" cy="218541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Codeine (CYP2D6), clopidogrel (CYP2C19), azathioprine (TPMT), allopurinol (HLA-B*5801); also antidepressants, opioids, PPIs.</a:t>
            </a:r>
            <a:r>
              <a:rPr lang="en-US" sz="1300" dirty="0">
                <a:solidFill>
                  <a:srgbClr val="666666"/>
                </a:solidFill>
              </a:rPr>
              <a:t>  S33; S36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CYP2D6 metabolizes up to one-quarter of clinically used drugs (β blockers, antidepressants, antipsychotics, opioids).</a:t>
            </a:r>
            <a:r>
              <a:rPr lang="en-US" sz="1300" dirty="0">
                <a:solidFill>
                  <a:srgbClr val="666666"/>
                </a:solidFill>
              </a:rPr>
              <a:t>  p. 78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CYP2D6 ultrarapid metabolizers: up to one-third of Ethiopians and Saudi Arabians; CYP2C19 poor metabolizers: 3–5% of Caucasians, 18–23% of Japanese.</a:t>
            </a:r>
            <a:r>
              <a:rPr lang="en-US" sz="1300" dirty="0">
                <a:solidFill>
                  <a:srgbClr val="666666"/>
                </a:solidFill>
              </a:rPr>
              <a:t>  p. 67</a:t>
            </a:r>
            <a:endParaRPr lang="en-US" sz="18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89</a:t>
            </a:r>
            <a:endParaRPr lang="en-US" sz="1000" dirty="0"/>
          </a:p>
        </p:txBody>
      </p:sp>
      <p:sp>
        <p:nvSpPr>
          <p:cNvPr id="7" name="Drugs named as examples (2/2) card"/>
          <p:cNvSpPr/>
          <p:nvPr/>
        </p:nvSpPr>
        <p:spPr>
          <a:xfrm>
            <a:off x="548640" y="1325880"/>
            <a:ext cx="11094415" cy="3054096"/>
          </a:xfrm>
          <a:prstGeom prst="roundRect">
            <a:avLst>
              <a:gd name="adj" fmla="val 3593"/>
            </a:avLst>
          </a:prstGeom>
          <a:solidFill>
            <a:srgbClr val="F2F4F7"/>
          </a:solidFill>
          <a:ln w="12700">
            <a:solidFill>
              <a:srgbClr val="F2F4F7"/>
            </a:solidFill>
            <a:prstDash val="solid"/>
          </a:ln>
        </p:spPr>
      </p:sp>
      <p:sp>
        <p:nvSpPr>
          <p:cNvPr id="8" name="Drugs named as examples (2/2)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 (2/2)</a:t>
            </a:r>
            <a:endParaRPr lang="en-US" sz="1800" dirty="0"/>
          </a:p>
        </p:txBody>
      </p:sp>
      <p:sp>
        <p:nvSpPr>
          <p:cNvPr id="11" name="Drugs named as examples (2/2) body"/>
          <p:cNvSpPr txBox="1"/>
          <p:nvPr/>
        </p:nvSpPr>
        <p:spPr>
          <a:xfrm>
            <a:off x="777240" y="2075688"/>
            <a:ext cx="10637215" cy="2185416"/>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**HLA-B*57:01</a:t>
            </a:r>
            <a:r>
              <a:rPr lang="en-US" sz="1800" b="1" dirty="0">
                <a:solidFill>
                  <a:srgbClr val="1F1F1F"/>
                </a:solidFill>
              </a:rPr>
              <a:t> → abacavir hypersensitivity; </a:t>
            </a:r>
            <a:r>
              <a:rPr lang="en-US" sz="1800" dirty="0">
                <a:solidFill>
                  <a:srgbClr val="1F1F1F"/>
                </a:solidFill>
              </a:rPr>
              <a:t>G6PD deficiency** → rasburicase contraindicated; slow NAT2 acetylators (~50% in the USA) → isoniazid toxicity.</a:t>
            </a:r>
            <a:r>
              <a:rPr lang="en-US" sz="1300" dirty="0">
                <a:solidFill>
                  <a:srgbClr val="666666"/>
                </a:solidFill>
              </a:rPr>
              <a:t>  p. 70; p. 83; p. 88</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SLCO1B1 (OATP1B1)</a:t>
            </a:r>
            <a:r>
              <a:rPr lang="en-US" sz="1800" dirty="0">
                <a:solidFill>
                  <a:srgbClr val="1F1F1F"/>
                </a:solidFill>
              </a:rPr>
              <a:t> reduced-function variants raise simvastatin exposure (221% higher AUC in homozygotes) and myopathy risk; CPIC advises a lower dose or another statin.</a:t>
            </a:r>
            <a:r>
              <a:rPr lang="en-US" sz="1300" dirty="0">
                <a:solidFill>
                  <a:srgbClr val="666666"/>
                </a:solidFill>
              </a:rPr>
              <a:t>  p. 87</a:t>
            </a:r>
            <a:endParaRPr lang="en-US" sz="14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ABCG2 (BCRP)</a:t>
            </a:r>
            <a:r>
              <a:rPr lang="en-US" sz="1800" dirty="0">
                <a:solidFill>
                  <a:srgbClr val="1F1F1F"/>
                </a:solidFill>
              </a:rPr>
              <a:t> variant, common in East Asians (allele frequency about 30%), raises rosuvastatin levels; the label suggests half the dose.</a:t>
            </a:r>
            <a:r>
              <a:rPr lang="en-US" sz="1300" dirty="0">
                <a:solidFill>
                  <a:srgbClr val="666666"/>
                </a:solidFill>
              </a:rPr>
              <a:t>  p. 87</a:t>
            </a:r>
            <a:endParaRPr lang="en-US" sz="14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90</a:t>
            </a:r>
            <a:endParaRPr lang="en-US" sz="1000" dirty="0"/>
          </a:p>
        </p:txBody>
      </p:sp>
      <p:sp>
        <p:nvSpPr>
          <p:cNvPr id="7" name="Exam traps card"/>
          <p:cNvSpPr/>
          <p:nvPr/>
        </p:nvSpPr>
        <p:spPr>
          <a:xfrm>
            <a:off x="548640" y="1325880"/>
            <a:ext cx="11094415" cy="2107692"/>
          </a:xfrm>
          <a:prstGeom prst="roundRect">
            <a:avLst>
              <a:gd name="adj" fmla="val 5206"/>
            </a:avLst>
          </a:prstGeom>
          <a:solidFill>
            <a:srgbClr val="F2F4F7"/>
          </a:solidFill>
          <a:ln w="12700">
            <a:solidFill>
              <a:srgbClr val="F2F4F7"/>
            </a:solidFill>
            <a:prstDash val="solid"/>
          </a:ln>
        </p:spPr>
      </p:sp>
      <p:sp>
        <p:nvSpPr>
          <p:cNvPr id="8" name="Exam trap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Exam trap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Exam trap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1" name="Exam traps body"/>
          <p:cNvSpPr txBox="1"/>
          <p:nvPr/>
        </p:nvSpPr>
        <p:spPr>
          <a:xfrm>
            <a:off x="777240" y="2075688"/>
            <a:ext cx="10637215" cy="12390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HLA-B*5801 before allopurinol = severe hypersensitivity risk — not absorption, not taste, and not irrelevant to drug selection.</a:t>
            </a:r>
            <a:r>
              <a:rPr lang="en-US" sz="1300" dirty="0">
                <a:solidFill>
                  <a:srgbClr val="666666"/>
                </a:solidFill>
              </a:rPr>
              <a:t>  S35-36</a:t>
            </a:r>
            <a:endParaRPr lang="en-US" sz="1800" dirty="0"/>
          </a:p>
          <a:p>
            <a:pPr marL="228600" indent="-228600">
              <a:spcAft>
                <a:spcPts val="800"/>
              </a:spcAft>
              <a:buSzPct val="100000"/>
              <a:buChar char="•"/>
            </a:pPr>
            <a:r>
              <a:rPr lang="en-US" sz="1800" dirty="0">
                <a:solidFill>
                  <a:srgbClr val="1F1F1F"/>
                </a:solidFill>
              </a:rPr>
              <a:t>Genotype is one input — never the sole basis for therapy.</a:t>
            </a:r>
            <a:r>
              <a:rPr lang="en-US" sz="1300" dirty="0">
                <a:solidFill>
                  <a:srgbClr val="666666"/>
                </a:solidFill>
              </a:rPr>
              <a:t>  S34</a:t>
            </a:r>
            <a:endParaRPr lang="en-US" sz="18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Pharmacogenomics in practice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91</a:t>
            </a:r>
            <a:endParaRPr lang="en-US" sz="1000" dirty="0"/>
          </a:p>
        </p:txBody>
      </p:sp>
      <p:graphicFrame>
        <p:nvGraphicFramePr>
          <p:cNvPr id="92"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Variant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What it changes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Drugs named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CYP2D6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Metabolism (incl. codeine </a:t>
                      </a:r>
                      <a:r>
                        <a:rPr lang="en-US" sz="1600" b="1" dirty="0">
                          <a:solidFill>
                            <a:srgbClr val="1F1F1F"/>
                          </a:solidFill>
                        </a:rPr>
                        <a:t>activation</a:t>
                      </a:r>
                      <a:r>
                        <a:rPr lang="en-US" sz="1600" dirty="0">
                          <a:solidFill>
                            <a:srgbClr val="1F1F1F"/>
                          </a:solidFill>
                        </a:rPr>
                        <a: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Many antidepressants, opioids (codeine)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CYP2C19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Activation / dosing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Clopidogrel; some antidepressants, PPIs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TPMT deficiency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 Toxicity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Thiopurines (azathioprine)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HLA alleles (HLA-B*5801)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 Severe hypersensitivity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Allopurinol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S33; S36</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92</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can a CYP2D6 variant change codeine's effect? Codeine needs CYP2D6 activation — change the enzyme's activity and you change how much active drug is made.</a:t>
            </a:r>
            <a:r>
              <a:rPr lang="en-US" sz="1300" dirty="0">
                <a:solidFill>
                  <a:srgbClr val="666666"/>
                </a:solidFill>
              </a:rPr>
              <a:t>  S32; S33</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 → drug pairs: </a:t>
            </a:r>
            <a:r>
              <a:rPr lang="en-US" sz="1800" b="1" dirty="0">
                <a:solidFill>
                  <a:srgbClr val="1F1F1F"/>
                </a:solidFill>
              </a:rPr>
              <a:t>2D6</a:t>
            </a:r>
            <a:r>
              <a:rPr lang="en-US" sz="1800" dirty="0">
                <a:solidFill>
                  <a:srgbClr val="1F1F1F"/>
                </a:solidFill>
              </a:rPr>
              <a:t> → co</a:t>
            </a:r>
            <a:r>
              <a:rPr lang="en-US" sz="1800" b="1" dirty="0">
                <a:solidFill>
                  <a:srgbClr val="1F1F1F"/>
                </a:solidFill>
              </a:rPr>
              <a:t>D</a:t>
            </a:r>
            <a:r>
              <a:rPr lang="en-US" sz="1800" dirty="0">
                <a:solidFill>
                  <a:srgbClr val="1F1F1F"/>
                </a:solidFill>
              </a:rPr>
              <a:t>eine; </a:t>
            </a:r>
            <a:r>
              <a:rPr lang="en-US" sz="1800" b="1" dirty="0">
                <a:solidFill>
                  <a:srgbClr val="1F1F1F"/>
                </a:solidFill>
              </a:rPr>
              <a:t>2C19</a:t>
            </a:r>
            <a:r>
              <a:rPr lang="en-US" sz="1800" dirty="0">
                <a:solidFill>
                  <a:srgbClr val="1F1F1F"/>
                </a:solidFill>
              </a:rPr>
              <a:t> → </a:t>
            </a:r>
            <a:r>
              <a:rPr lang="en-US" sz="1800" b="1" dirty="0">
                <a:solidFill>
                  <a:srgbClr val="1F1F1F"/>
                </a:solidFill>
              </a:rPr>
              <a:t>C</a:t>
            </a:r>
            <a:r>
              <a:rPr lang="en-US" sz="1800" dirty="0">
                <a:solidFill>
                  <a:srgbClr val="1F1F1F"/>
                </a:solidFill>
              </a:rPr>
              <a:t>lopidogrel; </a:t>
            </a:r>
            <a:r>
              <a:rPr lang="en-US" sz="1800" b="1" dirty="0">
                <a:solidFill>
                  <a:srgbClr val="1F1F1F"/>
                </a:solidFill>
              </a:rPr>
              <a:t>T</a:t>
            </a:r>
            <a:r>
              <a:rPr lang="en-US" sz="1800" dirty="0">
                <a:solidFill>
                  <a:srgbClr val="1F1F1F"/>
                </a:solidFill>
              </a:rPr>
              <a:t>PMT → </a:t>
            </a:r>
            <a:r>
              <a:rPr lang="en-US" sz="1800" b="1" dirty="0">
                <a:solidFill>
                  <a:srgbClr val="1F1F1F"/>
                </a:solidFill>
              </a:rPr>
              <a:t>T</a:t>
            </a:r>
            <a:r>
              <a:rPr lang="en-US" sz="1800" dirty="0">
                <a:solidFill>
                  <a:srgbClr val="1F1F1F"/>
                </a:solidFill>
              </a:rPr>
              <a:t>hiopurines; **HLA-B*58</a:t>
            </a:r>
            <a:r>
              <a:rPr lang="en-US" sz="1800" b="1" dirty="0">
                <a:solidFill>
                  <a:srgbClr val="1F1F1F"/>
                </a:solidFill>
              </a:rPr>
              <a:t> → </a:t>
            </a:r>
            <a:r>
              <a:rPr lang="en-US" sz="1800" dirty="0">
                <a:solidFill>
                  <a:srgbClr val="1F1F1F"/>
                </a:solidFill>
              </a:rPr>
              <a:t>A</a:t>
            </a:r>
            <a:r>
              <a:rPr lang="en-US" sz="1800" b="1" dirty="0">
                <a:solidFill>
                  <a:srgbClr val="1F1F1F"/>
                </a:solidFill>
              </a:rPr>
              <a:t>llopurinol (</a:t>
            </a:r>
            <a:r>
              <a:rPr lang="en-US" sz="1800" dirty="0">
                <a:solidFill>
                  <a:srgbClr val="1F1F1F"/>
                </a:solidFill>
              </a:rPr>
              <a:t>A**llergy-like hypersensitivity).</a:t>
            </a:r>
            <a:r>
              <a:rPr lang="en-US" sz="1300" dirty="0">
                <a:solidFill>
                  <a:srgbClr val="666666"/>
                </a:solidFill>
              </a:rPr>
              <a:t>  S33; S36</a:t>
            </a:r>
            <a:endParaRPr lang="en-US" sz="18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93</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Pharmacogenomics = genetic variation changing drug response (metabolism, transport, target, ADR risk).</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**HLA-B*5801 + allopurinol** → severe hypersensitivity risk.</a:t>
            </a:r>
            <a:r>
              <a:rPr lang="en-US" sz="1300" dirty="0">
                <a:solidFill>
                  <a:srgbClr val="666666"/>
                </a:solidFill>
              </a:rPr>
              <a:t>  S36</a:t>
            </a:r>
            <a:endParaRPr lang="en-US" sz="1800" dirty="0"/>
          </a:p>
          <a:p>
            <a:pPr marL="228600" indent="-228600">
              <a:spcAft>
                <a:spcPts val="800"/>
              </a:spcAft>
              <a:buSzPct val="100000"/>
              <a:buChar char="•"/>
            </a:pPr>
            <a:r>
              <a:rPr lang="en-US" sz="1800" dirty="0">
                <a:solidFill>
                  <a:srgbClr val="1F1F1F"/>
                </a:solidFill>
              </a:rPr>
              <a:t>CYP2D6–codeine; CYP2C19–clopidogrel; TPMT–azathioprine.</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Genotype is </a:t>
            </a:r>
            <a:r>
              <a:rPr lang="en-US" sz="1800" b="1" dirty="0">
                <a:solidFill>
                  <a:srgbClr val="1F1F1F"/>
                </a:solidFill>
              </a:rPr>
              <a:t>one input among several</a:t>
            </a:r>
            <a:r>
              <a:rPr lang="en-US" sz="1800" dirty="0">
                <a:solidFill>
                  <a:srgbClr val="1F1F1F"/>
                </a:solidFill>
              </a:rPr>
              <a:t>.</a:t>
            </a:r>
            <a:r>
              <a:rPr lang="en-US" sz="1300" dirty="0">
                <a:solidFill>
                  <a:srgbClr val="666666"/>
                </a:solidFill>
              </a:rPr>
              <a:t>  S34</a:t>
            </a:r>
            <a:endParaRPr lang="en-US" sz="18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S35-36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94</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found to carry the HLA-B*5801 allele before starting allopurinol. Why does this matter clinically?</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bearing on drug selection for this patient</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faster CYP2D6 metabolism of allopurinol</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only affects how the drug tastes to the patient</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reduced absorption of allopurinol from the gut</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flags a sharply higher risk of severe hypersensitivity</a:t>
            </a:r>
            <a:endParaRPr lang="en-US" sz="18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18: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95</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It flags a sharply higher risk of severe hypersensitivity</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HLA-B*5801 is associated with severe hypersensitivity reactions to allopurinol — a textbook screening consideration (S36).</a:t>
            </a:r>
            <a:r>
              <a:rPr lang="en-US" sz="1100" dirty="0">
                <a:solidFill>
                  <a:srgbClr val="666666"/>
                </a:solidFill>
              </a:rPr>
              <a:t>  S35-36</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It has no bearing on drug selection for this patient — </a:t>
            </a:r>
            <a:r>
              <a:rPr lang="en-US" sz="1600" dirty="0">
                <a:solidFill>
                  <a:srgbClr val="1F1F1F"/>
                </a:solidFill>
              </a:rPr>
              <a:t>It is a key pharmacogenomic screening consideration (S36).</a:t>
            </a:r>
            <a:endParaRPr lang="en-US" sz="1600" dirty="0"/>
          </a:p>
          <a:p>
            <a:pPr indent="0" marL="0">
              <a:buNone/>
            </a:pPr>
            <a:r>
              <a:rPr lang="en-US" sz="1600" b="1" dirty="0">
                <a:solidFill>
                  <a:srgbClr val="1F1F1F"/>
                </a:solidFill>
              </a:rPr>
              <a:t>B. It predicts faster CYP2D6 metabolism of allopurinol — </a:t>
            </a:r>
            <a:r>
              <a:rPr lang="en-US" sz="1600" dirty="0">
                <a:solidFill>
                  <a:srgbClr val="1F1F1F"/>
                </a:solidFill>
              </a:rPr>
              <a:t>HLA alleles relate to hypersensitivity; CYP2D6 relates to metabolism (S33).</a:t>
            </a:r>
            <a:endParaRPr lang="en-US" sz="1600" dirty="0"/>
          </a:p>
          <a:p>
            <a:pPr indent="0" marL="0">
              <a:buNone/>
            </a:pPr>
            <a:r>
              <a:rPr lang="en-US" sz="1600" b="1" dirty="0">
                <a:solidFill>
                  <a:srgbClr val="1F1F1F"/>
                </a:solidFill>
              </a:rPr>
              <a:t>C. It only affects how the drug tastes to the patient — </a:t>
            </a:r>
            <a:r>
              <a:rPr lang="en-US" sz="1600" dirty="0">
                <a:solidFill>
                  <a:srgbClr val="1F1F1F"/>
                </a:solidFill>
              </a:rPr>
              <a:t>It flags a severe hypersensitivity risk (S36).</a:t>
            </a:r>
            <a:endParaRPr lang="en-US" sz="1600" dirty="0"/>
          </a:p>
          <a:p>
            <a:pPr indent="0" marL="0">
              <a:buNone/>
            </a:pPr>
            <a:r>
              <a:rPr lang="en-US" sz="1600" b="1" dirty="0">
                <a:solidFill>
                  <a:srgbClr val="1F1F1F"/>
                </a:solidFill>
              </a:rPr>
              <a:t>D. It predicts reduced absorption of allopurinol from the gut — </a:t>
            </a:r>
            <a:r>
              <a:rPr lang="en-US" sz="1600" dirty="0">
                <a:solidFill>
                  <a:srgbClr val="1F1F1F"/>
                </a:solidFill>
              </a:rPr>
              <a:t>The allele flags hypersensitivity risk, not absorption (S36).</a:t>
            </a:r>
            <a:endParaRPr lang="en-US" sz="16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96</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about to start azathioprine. Testing shows TPMT deficiency. What is the main clinical concern?</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Reduced activation of the drug into its active form</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Faster CYP2D6 metabolism of the drug and lost effect</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risk of toxicity from the thiopurine drug</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Severe HLA-associated hypersensitivity to the drug</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concern, since genotype never affects therapy</a:t>
            </a:r>
            <a:endParaRPr lang="en-US" sz="18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19: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97</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Increased risk of toxicity from the thiopurine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TPMT deficiency raises toxicity risk with thiopurine drugs such as azathioprine (S33).</a:t>
            </a:r>
            <a:r>
              <a:rPr lang="en-US" sz="1100" dirty="0">
                <a:solidFill>
                  <a:srgbClr val="666666"/>
                </a:solidFill>
              </a:rPr>
              <a:t>  S33</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Reduced activation of the drug into its active form — </a:t>
            </a:r>
            <a:r>
              <a:rPr lang="en-US" sz="1600" dirty="0">
                <a:solidFill>
                  <a:srgbClr val="1F1F1F"/>
                </a:solidFill>
              </a:rPr>
              <a:t>Reduced activation is the CYP2C19–clopidogrel example (S33).</a:t>
            </a:r>
            <a:endParaRPr lang="en-US" sz="1600" dirty="0"/>
          </a:p>
          <a:p>
            <a:pPr indent="0" marL="0">
              <a:buNone/>
            </a:pPr>
            <a:r>
              <a:rPr lang="en-US" sz="1600" b="1" dirty="0">
                <a:solidFill>
                  <a:srgbClr val="1F1F1F"/>
                </a:solidFill>
              </a:rPr>
              <a:t>B. Faster CYP2D6 metabolism of the drug and lost effect — </a:t>
            </a:r>
            <a:r>
              <a:rPr lang="en-US" sz="1600" dirty="0">
                <a:solidFill>
                  <a:srgbClr val="1F1F1F"/>
                </a:solidFill>
              </a:rPr>
              <a:t>CYP2D6 variation affects antidepressants and opioids (S33).</a:t>
            </a:r>
            <a:endParaRPr lang="en-US" sz="1600" dirty="0"/>
          </a:p>
          <a:p>
            <a:pPr indent="0" marL="0">
              <a:buNone/>
            </a:pPr>
            <a:r>
              <a:rPr lang="en-US" sz="1600" b="1" dirty="0">
                <a:solidFill>
                  <a:srgbClr val="1F1F1F"/>
                </a:solidFill>
              </a:rPr>
              <a:t>D. Severe HLA-associated hypersensitivity to the drug — </a:t>
            </a:r>
            <a:r>
              <a:rPr lang="en-US" sz="1600" dirty="0">
                <a:solidFill>
                  <a:srgbClr val="1F1F1F"/>
                </a:solidFill>
              </a:rPr>
              <a:t>That is the HLA allele example (e.g., HLA-B*5801 with allopurinol) (S33, S36).</a:t>
            </a:r>
            <a:endParaRPr lang="en-US" sz="1600" dirty="0"/>
          </a:p>
          <a:p>
            <a:pPr indent="0" marL="0">
              <a:buNone/>
            </a:pPr>
            <a:r>
              <a:rPr lang="en-US" sz="1600" b="1" dirty="0">
                <a:solidFill>
                  <a:srgbClr val="1F1F1F"/>
                </a:solidFill>
              </a:rPr>
              <a:t>E. No concern, since genotype never affects therapy — </a:t>
            </a:r>
            <a:r>
              <a:rPr lang="en-US" sz="1600" dirty="0">
                <a:solidFill>
                  <a:srgbClr val="1F1F1F"/>
                </a:solidFill>
              </a:rPr>
              <a:t>Genotype is one input among several — it still matters (S34).</a:t>
            </a:r>
            <a:endParaRPr lang="en-US" sz="16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98</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pairing of a genetic variant with the drug it most affects is correct?</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CYP2C19 variation — allopurinol reactions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CYP2D6 variation — azathioprine toxicity</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HLA-B*5801 — clopidogrel activation</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CYP2C19 variation — clopidogrel activation</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TPMT variation — codeine activation</a:t>
            </a:r>
            <a:endParaRPr lang="en-US" sz="18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20: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99</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CYP2C19 variation — clopidogrel activation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CYP2C19 variation affects clopidogrel activation and some antidepressant/PPI dosing (S33).</a:t>
            </a:r>
            <a:r>
              <a:rPr lang="en-US" sz="1100" dirty="0">
                <a:solidFill>
                  <a:srgbClr val="666666"/>
                </a:solidFill>
              </a:rPr>
              <a:t>  S33; S36</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CYP2C19 variation — allopurinol reactions — </a:t>
            </a:r>
            <a:r>
              <a:rPr lang="en-US" sz="1600" dirty="0">
                <a:solidFill>
                  <a:srgbClr val="1F1F1F"/>
                </a:solidFill>
              </a:rPr>
              <a:t>Allopurinol reactions are HLA-B*5801 (S36).</a:t>
            </a:r>
            <a:endParaRPr lang="en-US" sz="1600" dirty="0"/>
          </a:p>
          <a:p>
            <a:pPr indent="0" marL="0">
              <a:buNone/>
            </a:pPr>
            <a:r>
              <a:rPr lang="en-US" sz="1600" b="1" dirty="0">
                <a:solidFill>
                  <a:srgbClr val="1F1F1F"/>
                </a:solidFill>
              </a:rPr>
              <a:t>B. CYP2D6 variation — azathioprine toxicity — </a:t>
            </a:r>
            <a:r>
              <a:rPr lang="en-US" sz="1600" dirty="0">
                <a:solidFill>
                  <a:srgbClr val="1F1F1F"/>
                </a:solidFill>
              </a:rPr>
              <a:t>Azathioprine toxicity is TPMT deficiency (S33).</a:t>
            </a:r>
            <a:endParaRPr lang="en-US" sz="1600" dirty="0"/>
          </a:p>
          <a:p>
            <a:pPr indent="0" marL="0">
              <a:buNone/>
            </a:pPr>
            <a:r>
              <a:rPr lang="en-US" sz="1600" b="1" dirty="0">
                <a:solidFill>
                  <a:srgbClr val="1F1F1F"/>
                </a:solidFill>
              </a:rPr>
              <a:t>C. HLA-B*5801 — clopidogrel activation — </a:t>
            </a:r>
            <a:r>
              <a:rPr lang="en-US" sz="1600" dirty="0">
                <a:solidFill>
                  <a:srgbClr val="1F1F1F"/>
                </a:solidFill>
              </a:rPr>
              <a:t>HLA-B*5801 is tied to allopurinol hypersensitivity (S36).</a:t>
            </a:r>
            <a:endParaRPr lang="en-US" sz="1600" dirty="0"/>
          </a:p>
          <a:p>
            <a:pPr indent="0" marL="0">
              <a:buNone/>
            </a:pPr>
            <a:r>
              <a:rPr lang="en-US" sz="1600" b="1" dirty="0">
                <a:solidFill>
                  <a:srgbClr val="1F1F1F"/>
                </a:solidFill>
              </a:rPr>
              <a:t>E. TPMT variation — codeine activation — </a:t>
            </a:r>
            <a:r>
              <a:rPr lang="en-US" sz="1600" dirty="0">
                <a:solidFill>
                  <a:srgbClr val="1F1F1F"/>
                </a:solidFill>
              </a:rPr>
              <a:t>Codeine activation is CYP2D6 (S33).</a:t>
            </a:r>
            <a:endParaRPr lang="en-US" sz="16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100</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Which statement about using pharmacogenomic results best matches the lecture's personalized-pharmacotherapy model?</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affects adverse-reaction risk but never drug metabolism</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alone should determine both the drug and its dose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becomes irrelevant once a drug reaches steady state</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matters only for drugs that are given by the IV route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is one input alongside phenotype, disease, and other drugs</a:t>
            </a:r>
            <a:endParaRPr lang="en-US" sz="18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21: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Genotype is one input alongside phenotype, disease, and other drugs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Pharmacogenomics is one input among several — genotype alone never dictates therapy in isolation (S34).</a:t>
            </a:r>
            <a:r>
              <a:rPr lang="en-US" sz="1100" dirty="0">
                <a:solidFill>
                  <a:srgbClr val="666666"/>
                </a:solidFill>
              </a:rPr>
              <a:t>  S32; S34</a:t>
            </a:r>
            <a:endParaRPr lang="en-US" sz="1600" dirty="0"/>
          </a:p>
        </p:txBody>
      </p:sp>
      <p:sp>
        <p:nvSpPr>
          <p:cNvPr id="11" name="Why others wrong card"/>
          <p:cNvSpPr/>
          <p:nvPr/>
        </p:nvSpPr>
        <p:spPr>
          <a:xfrm>
            <a:off x="548640" y="2625344"/>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735072"/>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Genotype affects adverse-reaction risk but never drug metabolism — </a:t>
            </a:r>
            <a:r>
              <a:rPr lang="en-US" sz="1600" dirty="0">
                <a:solidFill>
                  <a:srgbClr val="1F1F1F"/>
                </a:solidFill>
              </a:rPr>
              <a:t>Genetic variation can alter metabolism (e.g., CYP activity) (S32).</a:t>
            </a:r>
            <a:endParaRPr lang="en-US" sz="1600" dirty="0"/>
          </a:p>
          <a:p>
            <a:pPr indent="0" marL="0">
              <a:buNone/>
            </a:pPr>
            <a:r>
              <a:rPr lang="en-US" sz="1600" b="1" dirty="0">
                <a:solidFill>
                  <a:srgbClr val="1F1F1F"/>
                </a:solidFill>
              </a:rPr>
              <a:t>B. Genotype alone should determine both the drug and its dose — </a:t>
            </a:r>
            <a:r>
              <a:rPr lang="en-US" sz="1600" dirty="0">
                <a:solidFill>
                  <a:srgbClr val="1F1F1F"/>
                </a:solidFill>
              </a:rPr>
              <a:t>Genotype alone never dictates therapy in isolation (S34).</a:t>
            </a:r>
            <a:endParaRPr lang="en-US" sz="1600" dirty="0"/>
          </a:p>
          <a:p>
            <a:pPr indent="0" marL="0">
              <a:buNone/>
            </a:pPr>
            <a:r>
              <a:rPr lang="en-US" sz="1600" b="1" dirty="0">
                <a:solidFill>
                  <a:srgbClr val="1F1F1F"/>
                </a:solidFill>
              </a:rPr>
              <a:t>C. Genotype becomes irrelevant once a drug reaches steady state — </a:t>
            </a:r>
            <a:r>
              <a:rPr lang="en-US" sz="1600" dirty="0">
                <a:solidFill>
                  <a:srgbClr val="1F1F1F"/>
                </a:solidFill>
              </a:rPr>
              <a:t>Nothing in the materials limits genotype's relevance this way (S32, S34).</a:t>
            </a:r>
            <a:endParaRPr lang="en-US" sz="1600" dirty="0"/>
          </a:p>
          <a:p>
            <a:pPr indent="0" marL="0">
              <a:buNone/>
            </a:pPr>
            <a:r>
              <a:rPr lang="en-US" sz="1600" b="1" dirty="0">
                <a:solidFill>
                  <a:srgbClr val="1F1F1F"/>
                </a:solidFill>
              </a:rPr>
              <a:t>D. Genotype matters only for drugs that are given by the IV route — </a:t>
            </a:r>
            <a:r>
              <a:rPr lang="en-US" sz="1600" dirty="0">
                <a:solidFill>
                  <a:srgbClr val="1F1F1F"/>
                </a:solidFill>
              </a:rPr>
              <a:t>Genetic variation alters metabolism, transport, targets, and response (S32).</a:t>
            </a:r>
            <a:endParaRPr lang="en-US" sz="16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102</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62-year-old has a coronary stent placed. Genotyping shows he is a CYP2C19 poor metabolizer. Which antiplatelet choice does CPIC guidance support?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Prasugrel or ticagrelor instead of clopidogrel</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Azathioprine at 30–70% of the usual starting dose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Clopidogrel at the standard dose with routine follow-up</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Clopidogrel plus a CYP2C19 inhibitor to raise its level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Codeine-free analgesia plus standard-dose clopidogrel</a:t>
            </a:r>
            <a:endParaRPr lang="en-US" sz="18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22: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103</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Prasugrel or ticagrelor instead of clopidogrel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Clopidogrel needs CYP2C19 activation; poor metabolizers make little active drug, so prasugrel or ticagrelor is recommended (p. 81; p. 82).</a:t>
            </a:r>
            <a:r>
              <a:rPr lang="en-US" sz="1100" dirty="0">
                <a:solidFill>
                  <a:srgbClr val="666666"/>
                </a:solidFill>
              </a:rPr>
              <a:t>  p. 81-82</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Azathioprine at 30–70% of the usual starting dose — </a:t>
            </a:r>
            <a:r>
              <a:rPr lang="en-US" sz="1600" dirty="0">
                <a:solidFill>
                  <a:srgbClr val="1F1F1F"/>
                </a:solidFill>
              </a:rPr>
              <a:t>That dose rule is for TPMT-intermediate thiopurine use (p. 83).</a:t>
            </a:r>
            <a:endParaRPr lang="en-US" sz="1600" dirty="0"/>
          </a:p>
          <a:p>
            <a:pPr indent="0" marL="0">
              <a:buNone/>
            </a:pPr>
            <a:r>
              <a:rPr lang="en-US" sz="1600" b="1" dirty="0">
                <a:solidFill>
                  <a:srgbClr val="1F1F1F"/>
                </a:solidFill>
              </a:rPr>
              <a:t>C. Clopidogrel at the standard dose with routine follow-up — </a:t>
            </a:r>
            <a:r>
              <a:rPr lang="en-US" sz="1600" dirty="0">
                <a:solidFill>
                  <a:srgbClr val="1F1F1F"/>
                </a:solidFill>
              </a:rPr>
              <a:t>Standard clopidogrel risks stent thrombosis in poor metabolizers (p. 81).</a:t>
            </a:r>
            <a:endParaRPr lang="en-US" sz="1600" dirty="0"/>
          </a:p>
          <a:p>
            <a:pPr indent="0" marL="0">
              <a:buNone/>
            </a:pPr>
            <a:r>
              <a:rPr lang="en-US" sz="1600" b="1" dirty="0">
                <a:solidFill>
                  <a:srgbClr val="1F1F1F"/>
                </a:solidFill>
              </a:rPr>
              <a:t>D. Clopidogrel plus a CYP2C19 inhibitor to raise its level — </a:t>
            </a:r>
            <a:r>
              <a:rPr lang="en-US" sz="1600" dirty="0">
                <a:solidFill>
                  <a:srgbClr val="1F1F1F"/>
                </a:solidFill>
              </a:rPr>
              <a:t>Inhibiting CYP2C19 would reduce clopidogrel activation further (p. 81).</a:t>
            </a:r>
            <a:endParaRPr lang="en-US" sz="1600" dirty="0"/>
          </a:p>
          <a:p>
            <a:pPr indent="0" marL="0">
              <a:buNone/>
            </a:pPr>
            <a:r>
              <a:rPr lang="en-US" sz="1600" b="1" dirty="0">
                <a:solidFill>
                  <a:srgbClr val="1F1F1F"/>
                </a:solidFill>
              </a:rPr>
              <a:t>E. Codeine-free analgesia plus standard-dose clopidogrel — </a:t>
            </a:r>
            <a:r>
              <a:rPr lang="en-US" sz="1600" dirty="0">
                <a:solidFill>
                  <a:srgbClr val="1F1F1F"/>
                </a:solidFill>
              </a:rPr>
              <a:t>Codeine relates to CYP2D6, not antiplatelet choice (p. 81).</a:t>
            </a:r>
            <a:endParaRPr lang="en-US" sz="16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5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Putting It All Together: Clinical Decision-Making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SO5 · IO1.3 · IO1.4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104</a:t>
            </a:r>
            <a:endParaRPr lang="en-US" sz="10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105</a:t>
            </a:r>
            <a:endParaRPr lang="en-US" sz="1000" dirty="0"/>
          </a:p>
        </p:txBody>
      </p:sp>
      <p:sp>
        <p:nvSpPr>
          <p:cNvPr id="7" name="Key definitions card"/>
          <p:cNvSpPr/>
          <p:nvPr/>
        </p:nvSpPr>
        <p:spPr>
          <a:xfrm>
            <a:off x="548640" y="1325880"/>
            <a:ext cx="11094415" cy="2386584"/>
          </a:xfrm>
          <a:prstGeom prst="roundRect">
            <a:avLst>
              <a:gd name="adj" fmla="val 4598"/>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151790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From concepts to clinical decisions: one integrated pharmacology pathway — Dose → Absorption → Distribution → Receptor / Target → Effect, with Metabolism and Excretion clearing the drug.</a:t>
            </a:r>
            <a:r>
              <a:rPr lang="en-US" sz="1300" dirty="0">
                <a:solidFill>
                  <a:srgbClr val="666666"/>
                </a:solidFill>
              </a:rPr>
              <a:t>  S37; S38</a:t>
            </a:r>
            <a:endParaRPr lang="en-US" sz="1800" dirty="0"/>
          </a:p>
          <a:p>
            <a:pPr marL="228600" indent="-228600">
              <a:spcAft>
                <a:spcPts val="800"/>
              </a:spcAft>
              <a:buSzPct val="100000"/>
              <a:buChar char="•"/>
            </a:pPr>
            <a:r>
              <a:rPr lang="en-US" sz="1800" b="1" dirty="0">
                <a:solidFill>
                  <a:srgbClr val="1F1F1F"/>
                </a:solidFill>
              </a:rPr>
              <a:t>Every topic in this lecture is a stop somewhere along this pathway — use it as your mental checklist when you evaluate any drug.</a:t>
            </a:r>
            <a:r>
              <a:rPr lang="en-US" sz="1300" dirty="0">
                <a:solidFill>
                  <a:srgbClr val="666666"/>
                </a:solidFill>
              </a:rPr>
              <a:t>  S38</a:t>
            </a:r>
            <a:endParaRPr lang="en-US" sz="18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106</a:t>
            </a:r>
            <a:endParaRPr lang="en-US" sz="1000" dirty="0"/>
          </a:p>
        </p:txBody>
      </p:sp>
      <p:sp>
        <p:nvSpPr>
          <p:cNvPr id="7" name="How it works card"/>
          <p:cNvSpPr/>
          <p:nvPr/>
        </p:nvSpPr>
        <p:spPr>
          <a:xfrm>
            <a:off x="548640" y="1325880"/>
            <a:ext cx="11094415" cy="4050792"/>
          </a:xfrm>
          <a:prstGeom prst="roundRect">
            <a:avLst>
              <a:gd name="adj" fmla="val 2709"/>
            </a:avLst>
          </a:prstGeom>
          <a:solidFill>
            <a:srgbClr val="F2F4F7"/>
          </a:solidFill>
          <a:ln w="12700">
            <a:solidFill>
              <a:srgbClr val="F2F4F7"/>
            </a:solidFill>
            <a:prstDash val="solid"/>
          </a:ln>
        </p:spPr>
      </p:sp>
      <p:sp>
        <p:nvSpPr>
          <p:cNvPr id="8" name="How it works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1" name="How it works body"/>
          <p:cNvSpPr txBox="1"/>
          <p:nvPr/>
        </p:nvSpPr>
        <p:spPr>
          <a:xfrm>
            <a:off x="777240" y="2075688"/>
            <a:ext cx="10637215" cy="31821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Before you prescribe — the clinical decision-making checklist: Indication — is there a clear reason to treat?</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Contraindications and allergies.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Renal and hepatic function.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Drug interactions (including CYP450).</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Age, pregnancy, and other patient-specific factors.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Correct dose, route, and monitoring plan.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Memorize this list — it is exactly the checklist applied in the MSK cases (NSAID in CKD, methotrexate in pregnancy, etc.).</a:t>
            </a:r>
            <a:r>
              <a:rPr lang="en-US" sz="1300" dirty="0">
                <a:solidFill>
                  <a:srgbClr val="666666"/>
                </a:solidFill>
              </a:rPr>
              <a:t>  S39 (notes)</a:t>
            </a:r>
            <a:endParaRPr lang="en-US" sz="18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107</a:t>
            </a:r>
            <a:endParaRPr lang="en-US" sz="1000" dirty="0"/>
          </a:p>
        </p:txBody>
      </p:sp>
      <p:sp>
        <p:nvSpPr>
          <p:cNvPr id="7" name="Clinical relevance (1/2) card"/>
          <p:cNvSpPr/>
          <p:nvPr/>
        </p:nvSpPr>
        <p:spPr>
          <a:xfrm>
            <a:off x="548640" y="1325880"/>
            <a:ext cx="11094415" cy="4000500"/>
          </a:xfrm>
          <a:prstGeom prst="roundRect">
            <a:avLst>
              <a:gd name="adj" fmla="val 2743"/>
            </a:avLst>
          </a:prstGeom>
          <a:solidFill>
            <a:srgbClr val="F2F4F7"/>
          </a:solidFill>
          <a:ln w="12700">
            <a:solidFill>
              <a:srgbClr val="F2F4F7"/>
            </a:solidFill>
            <a:prstDash val="solid"/>
          </a:ln>
        </p:spPr>
      </p:sp>
      <p:sp>
        <p:nvSpPr>
          <p:cNvPr id="8" name="Clinical relevance (1/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(1/2)</a:t>
            </a:r>
            <a:endParaRPr lang="en-US" sz="1800" dirty="0"/>
          </a:p>
        </p:txBody>
      </p:sp>
      <p:sp>
        <p:nvSpPr>
          <p:cNvPr id="11" name="Clinical relevance (1/2) body"/>
          <p:cNvSpPr txBox="1"/>
          <p:nvPr/>
        </p:nvSpPr>
        <p:spPr>
          <a:xfrm>
            <a:off x="777240" y="2075688"/>
            <a:ext cx="10637215" cy="31318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 interaction in action: a patient stable on a CYP3A4-substrate medication starts a potent CYP3A4 inhibitor. </a:t>
            </a:r>
            <a:r>
              <a:rPr lang="en-US" sz="1800" b="1" dirty="0">
                <a:solidFill>
                  <a:srgbClr val="1F1F1F"/>
                </a:solidFill>
              </a:rPr>
              <a:t>What happens to the first drug's level, and what would you watch for clinically?</a:t>
            </a:r>
            <a:r>
              <a:rPr lang="en-US" sz="1300" dirty="0">
                <a:solidFill>
                  <a:srgbClr val="666666"/>
                </a:solidFill>
              </a:rPr>
              <a:t>  S40</a:t>
            </a:r>
            <a:endParaRPr lang="en-US" sz="1800" dirty="0"/>
          </a:p>
          <a:p>
            <a:pPr marL="228600" indent="-228600">
              <a:spcAft>
                <a:spcPts val="800"/>
              </a:spcAft>
              <a:buSzPct val="100000"/>
              <a:buChar char="•"/>
            </a:pPr>
            <a:r>
              <a:rPr lang="en-US" sz="1800" b="1" dirty="0">
                <a:solidFill>
                  <a:srgbClr val="1F1F1F"/>
                </a:solidFill>
              </a:rPr>
              <a:t>Clinical pearl: always check for CYP450 interactions before adding a new drug to an existing regimen — one of the most preventable causes of toxicity.</a:t>
            </a:r>
            <a:r>
              <a:rPr lang="en-US" sz="1300" dirty="0">
                <a:solidFill>
                  <a:srgbClr val="666666"/>
                </a:solidFill>
              </a:rPr>
              <a:t>  S40; S43</a:t>
            </a:r>
            <a:endParaRPr lang="en-US" sz="1800" dirty="0"/>
          </a:p>
          <a:p>
            <a:pPr marL="228600" indent="-228600">
              <a:spcAft>
                <a:spcPts val="800"/>
              </a:spcAft>
              <a:buSzPct val="100000"/>
              <a:buChar char="•"/>
            </a:pPr>
            <a:r>
              <a:rPr lang="en-US" sz="1800" dirty="0">
                <a:solidFill>
                  <a:srgbClr val="1F1F1F"/>
                </a:solidFill>
              </a:rPr>
              <a:t>Agonist or antagonist? A new drug binds the same receptor as a home medication, and the home medication's effect weakens. </a:t>
            </a:r>
            <a:r>
              <a:rPr lang="en-US" sz="1800" b="1" dirty="0">
                <a:solidFill>
                  <a:srgbClr val="1F1F1F"/>
                </a:solidFill>
              </a:rPr>
              <a:t>Is the new drug most likely a competitive antagonist, and how could you confirm it pharmacologically?</a:t>
            </a:r>
            <a:r>
              <a:rPr lang="en-US" sz="1300" dirty="0">
                <a:solidFill>
                  <a:srgbClr val="666666"/>
                </a:solidFill>
              </a:rPr>
              <a:t>  S41</a:t>
            </a:r>
            <a:endParaRPr lang="en-US" sz="1800" dirty="0"/>
          </a:p>
          <a:p>
            <a:pPr marL="228600" indent="-228600">
              <a:spcAft>
                <a:spcPts val="800"/>
              </a:spcAft>
              <a:buSzPct val="100000"/>
              <a:buChar char="•"/>
            </a:pPr>
            <a:r>
              <a:rPr lang="en-US" sz="1800" b="1" dirty="0">
                <a:solidFill>
                  <a:srgbClr val="1F1F1F"/>
                </a:solidFill>
              </a:rPr>
              <a:t>Clinical pearl: a competitive antagonist can be overcome by increasing the agonist dose — if raising the home medication's dose restores the effect, that supports competitive (rather than irreversible) antagonism.</a:t>
            </a:r>
            <a:r>
              <a:rPr lang="en-US" sz="1300" dirty="0">
                <a:solidFill>
                  <a:srgbClr val="666666"/>
                </a:solidFill>
              </a:rPr>
              <a:t>  S41</a:t>
            </a:r>
            <a:endParaRPr lang="en-US" sz="18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108</a:t>
            </a:r>
            <a:endParaRPr lang="en-US" sz="1000" dirty="0"/>
          </a:p>
        </p:txBody>
      </p:sp>
      <p:sp>
        <p:nvSpPr>
          <p:cNvPr id="7" name="Clinical relevance (2/2) card"/>
          <p:cNvSpPr/>
          <p:nvPr/>
        </p:nvSpPr>
        <p:spPr>
          <a:xfrm>
            <a:off x="548640" y="1325880"/>
            <a:ext cx="11094415" cy="4558284"/>
          </a:xfrm>
          <a:prstGeom prst="roundRect">
            <a:avLst>
              <a:gd name="adj" fmla="val 2407"/>
            </a:avLst>
          </a:prstGeom>
          <a:solidFill>
            <a:srgbClr val="F2F4F7"/>
          </a:solidFill>
          <a:ln w="12700">
            <a:solidFill>
              <a:srgbClr val="F2F4F7"/>
            </a:solidFill>
            <a:prstDash val="solid"/>
          </a:ln>
        </p:spPr>
      </p:sp>
      <p:sp>
        <p:nvSpPr>
          <p:cNvPr id="8" name="Clinical relevance (2/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(2/2)</a:t>
            </a:r>
            <a:endParaRPr lang="en-US" sz="1800" dirty="0"/>
          </a:p>
        </p:txBody>
      </p:sp>
      <p:sp>
        <p:nvSpPr>
          <p:cNvPr id="11" name="Clinical relevance (2/2) body"/>
          <p:cNvSpPr txBox="1"/>
          <p:nvPr/>
        </p:nvSpPr>
        <p:spPr>
          <a:xfrm>
            <a:off x="777240" y="2075688"/>
            <a:ext cx="10637215" cy="3689604"/>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Study-guide case: 68-year-old woman, stage 4 CKD (eGFR 24 mL/min), starting a narrow-TI oral antiarrhythmic eliminated mainly unchanged by the kidney; she started a strong CYP3A4 inhibitor 3 weeks ago.</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Two concerns: reduced renal clearance from CKD will raise the antiarrhythmic's concentration and prolong its half-life regardless of the new drug; separately, if it has any hepatic/CYP3A4 component, the CYP3A4 inhibitor would compound accumulation further.</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Before dispensing: check eGFR/CrCl, consider a lower dose or extended interval, and closely monitor renal function and signs of toxicity (arrhythmia worsening, other drug-specific toxicity) after starting.</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If the drug were instead cleared by the liver via CYP3A4: the direct renal-clearance concern becomes less central (though CKD can still indirectly affect hepatic drug handling), and the CYP3A4 interaction becomes the dominant concern.</a:t>
            </a:r>
            <a:r>
              <a:rPr lang="en-US" sz="1300" dirty="0">
                <a:solidFill>
                  <a:srgbClr val="666666"/>
                </a:solidFill>
              </a:rPr>
              <a:t>  SG U1-S</a:t>
            </a:r>
            <a:endParaRPr lang="en-US" sz="14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109</a:t>
            </a:r>
            <a:endParaRPr lang="en-US" sz="1000" dirty="0"/>
          </a:p>
        </p:txBody>
      </p:sp>
      <p:sp>
        <p:nvSpPr>
          <p:cNvPr id="7" name="Drugs named as examples card"/>
          <p:cNvSpPr/>
          <p:nvPr/>
        </p:nvSpPr>
        <p:spPr>
          <a:xfrm>
            <a:off x="548640" y="1325880"/>
            <a:ext cx="5410048" cy="4727448"/>
          </a:xfrm>
          <a:prstGeom prst="roundRect">
            <a:avLst>
              <a:gd name="adj" fmla="val 2321"/>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the integrated vignettes use unnamed drugs ("a CYP3A4-substrate medication," "a home medication").</a:t>
            </a:r>
            <a:r>
              <a:rPr lang="en-US" sz="1300" dirty="0">
                <a:solidFill>
                  <a:srgbClr val="666666"/>
                </a:solidFill>
              </a:rPr>
              <a:t>  S40; S41</a:t>
            </a:r>
            <a:endParaRPr lang="en-US" sz="1800" dirty="0"/>
          </a:p>
        </p:txBody>
      </p:sp>
      <p:sp>
        <p:nvSpPr>
          <p:cNvPr id="12" name="Exam traps card"/>
          <p:cNvSpPr/>
          <p:nvPr/>
        </p:nvSpPr>
        <p:spPr>
          <a:xfrm>
            <a:off x="6233008" y="1325880"/>
            <a:ext cx="5410048" cy="4727448"/>
          </a:xfrm>
          <a:prstGeom prst="roundRect">
            <a:avLst>
              <a:gd name="adj" fmla="val 2321"/>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single check most aimed at preventing a toxic, predictable drug-drug interaction is reviewing CYP450 interactions — not brand name, chemical name, or half-life alone.</a:t>
            </a:r>
            <a:r>
              <a:rPr lang="en-US" sz="1300" dirty="0">
                <a:solidFill>
                  <a:srgbClr val="666666"/>
                </a:solidFill>
              </a:rPr>
              <a:t>  S42-43</a:t>
            </a:r>
            <a:endParaRPr lang="en-US" sz="1800" dirty="0"/>
          </a:p>
          <a:p>
            <a:pPr marL="228600" indent="-228600">
              <a:spcAft>
                <a:spcPts val="800"/>
              </a:spcAft>
              <a:buSzPct val="100000"/>
              <a:buChar char="•"/>
            </a:pPr>
            <a:r>
              <a:rPr lang="en-US" sz="1800" dirty="0">
                <a:solidFill>
                  <a:srgbClr val="1F1F1F"/>
                </a:solidFill>
              </a:rPr>
              <a:t>Weaker home-medication effect + restored by a higher dose = competitive; not restored = irreversible.</a:t>
            </a:r>
            <a:r>
              <a:rPr lang="en-US" sz="1300" dirty="0">
                <a:solidFill>
                  <a:srgbClr val="666666"/>
                </a:solidFill>
              </a:rPr>
              <a:t>  S41</a:t>
            </a:r>
            <a:endParaRPr lang="en-US" sz="1800" dirty="0"/>
          </a:p>
          <a:p>
            <a:pPr marL="228600" indent="-228600">
              <a:spcAft>
                <a:spcPts val="800"/>
              </a:spcAft>
              <a:buSzPct val="100000"/>
              <a:buChar char="•"/>
            </a:pPr>
            <a:r>
              <a:rPr lang="en-US" sz="1800" dirty="0">
                <a:solidFill>
                  <a:srgbClr val="1F1F1F"/>
                </a:solidFill>
              </a:rPr>
              <a:t>Reviewing indication, contraindications, renal/hepatic function, interactions, and monitoring = the clinical decision-making framework — not pharmacogenomic testing or Phase IV surveillance.</a:t>
            </a:r>
            <a:r>
              <a:rPr lang="en-US" sz="1300" dirty="0">
                <a:solidFill>
                  <a:srgbClr val="666666"/>
                </a:solidFill>
              </a:rPr>
              <a:t>  S47-48</a:t>
            </a:r>
            <a:endParaRPr lang="en-US" sz="18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600" b="1" dirty="0">
                <a:solidFill>
                  <a:srgbClr val="1F1F1F"/>
                </a:solidFill>
                <a:latin typeface="Calibri" pitchFamily="34" charset="0"/>
                <a:ea typeface="Calibri" pitchFamily="34" charset="-122"/>
                <a:cs typeface="Calibri" pitchFamily="34" charset="-120"/>
              </a:rPr>
              <a:t>Compare: Key takeaways: the toolkit for every drug class</a:t>
            </a:r>
            <a:endParaRPr lang="en-US" sz="26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110</a:t>
            </a:r>
            <a:endParaRPr lang="en-US" sz="1000" dirty="0"/>
          </a:p>
        </p:txBody>
      </p:sp>
      <p:graphicFrame>
        <p:nvGraphicFramePr>
          <p:cNvPr id="111"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8716975"/>
              </a:tblGrid>
              <a:tr h="0">
                <a:tc>
                  <a:txBody>
                    <a:bodyPr/>
                    <a:lstStyle/>
                    <a:p>
                      <a:pPr indent="0" marL="0">
                        <a:buNone/>
                      </a:pPr>
                      <a:r>
                        <a:rPr lang="en-US" sz="1600" b="1" dirty="0">
                          <a:solidFill>
                            <a:srgbClr val="FFFFFF"/>
                          </a:solidFill>
                        </a:rPr>
                        <a: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Idea</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Pharmacodynamics = what the drug does to the body (receptors, potency, efficacy).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Pharmacokinetics = what the body does to the drug (ADME).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Receptor interactions (agonism, antagonism) explain most drug effects.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ADME together determine how much drug reaches the target, and for how long.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Patient-specific factors — renal/hepatic function, genetics, interactions — determine the individual response.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96646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S44; S44 (notes)</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111</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check CYP450 before adding any drug? An inhibitor added to a stable regimen raises the other drug's level — predictable, so it is one of the most preventable causes of toxicity.</a:t>
            </a:r>
            <a:r>
              <a:rPr lang="en-US" sz="1300" dirty="0">
                <a:solidFill>
                  <a:srgbClr val="666666"/>
                </a:solidFill>
              </a:rPr>
              <a:t>  S6; S40</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Checklist "</a:t>
            </a:r>
            <a:r>
              <a:rPr lang="en-US" sz="1800" b="1" dirty="0">
                <a:solidFill>
                  <a:srgbClr val="1F1F1F"/>
                </a:solidFill>
              </a:rPr>
              <a:t>I C R I A D</a:t>
            </a:r>
            <a:r>
              <a:rPr lang="en-US" sz="1800" dirty="0">
                <a:solidFill>
                  <a:srgbClr val="1F1F1F"/>
                </a:solidFill>
              </a:rPr>
              <a:t>": </a:t>
            </a:r>
            <a:r>
              <a:rPr lang="en-US" sz="1800" b="1" dirty="0">
                <a:solidFill>
                  <a:srgbClr val="1F1F1F"/>
                </a:solidFill>
              </a:rPr>
              <a:t>I</a:t>
            </a:r>
            <a:r>
              <a:rPr lang="en-US" sz="1800" dirty="0">
                <a:solidFill>
                  <a:srgbClr val="1F1F1F"/>
                </a:solidFill>
              </a:rPr>
              <a:t>ndication · </a:t>
            </a:r>
            <a:r>
              <a:rPr lang="en-US" sz="1800" b="1" dirty="0">
                <a:solidFill>
                  <a:srgbClr val="1F1F1F"/>
                </a:solidFill>
              </a:rPr>
              <a:t>C</a:t>
            </a:r>
            <a:r>
              <a:rPr lang="en-US" sz="1800" dirty="0">
                <a:solidFill>
                  <a:srgbClr val="1F1F1F"/>
                </a:solidFill>
              </a:rPr>
              <a:t>ontraindications/allergies · </a:t>
            </a:r>
            <a:r>
              <a:rPr lang="en-US" sz="1800" b="1" dirty="0">
                <a:solidFill>
                  <a:srgbClr val="1F1F1F"/>
                </a:solidFill>
              </a:rPr>
              <a:t>R</a:t>
            </a:r>
            <a:r>
              <a:rPr lang="en-US" sz="1800" dirty="0">
                <a:solidFill>
                  <a:srgbClr val="1F1F1F"/>
                </a:solidFill>
              </a:rPr>
              <a:t>enal/hepatic · </a:t>
            </a:r>
            <a:r>
              <a:rPr lang="en-US" sz="1800" b="1" dirty="0">
                <a:solidFill>
                  <a:srgbClr val="1F1F1F"/>
                </a:solidFill>
              </a:rPr>
              <a:t>I</a:t>
            </a:r>
            <a:r>
              <a:rPr lang="en-US" sz="1800" dirty="0">
                <a:solidFill>
                  <a:srgbClr val="1F1F1F"/>
                </a:solidFill>
              </a:rPr>
              <a:t>nteractions (CYP450) · </a:t>
            </a:r>
            <a:r>
              <a:rPr lang="en-US" sz="1800" b="1" dirty="0">
                <a:solidFill>
                  <a:srgbClr val="1F1F1F"/>
                </a:solidFill>
              </a:rPr>
              <a:t>A</a:t>
            </a:r>
            <a:r>
              <a:rPr lang="en-US" sz="1800" dirty="0">
                <a:solidFill>
                  <a:srgbClr val="1F1F1F"/>
                </a:solidFill>
              </a:rPr>
              <a:t>ge/pregnancy · </a:t>
            </a:r>
            <a:r>
              <a:rPr lang="en-US" sz="1800" b="1" dirty="0">
                <a:solidFill>
                  <a:srgbClr val="1F1F1F"/>
                </a:solidFill>
              </a:rPr>
              <a:t>D</a:t>
            </a:r>
            <a:r>
              <a:rPr lang="en-US" sz="1800" dirty="0">
                <a:solidFill>
                  <a:srgbClr val="1F1F1F"/>
                </a:solidFill>
              </a:rPr>
              <a:t>ose, route, monitoring.</a:t>
            </a:r>
            <a:r>
              <a:rPr lang="en-US" sz="1300" dirty="0">
                <a:solidFill>
                  <a:srgbClr val="666666"/>
                </a:solidFill>
              </a:rPr>
              <a:t>  S39</a:t>
            </a:r>
            <a:endParaRPr lang="en-US" sz="18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112</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Memorize the checklist: indication, contraindications/allergies, renal/hepatic, interactions (CYP450), age/pregnancy, dose/route/monitoring.</a:t>
            </a:r>
            <a:r>
              <a:rPr lang="en-US" sz="1300" dirty="0">
                <a:solidFill>
                  <a:srgbClr val="666666"/>
                </a:solidFill>
              </a:rPr>
              <a:t>  S39; S39 (notes)</a:t>
            </a:r>
            <a:endParaRPr lang="en-US" sz="1800" dirty="0"/>
          </a:p>
          <a:p>
            <a:pPr marL="228600" indent="-228600">
              <a:spcAft>
                <a:spcPts val="800"/>
              </a:spcAft>
              <a:buSzPct val="100000"/>
              <a:buChar char="•"/>
            </a:pPr>
            <a:r>
              <a:rPr lang="en-US" sz="1800" b="1" dirty="0">
                <a:solidFill>
                  <a:srgbClr val="1F1F1F"/>
                </a:solidFill>
              </a:rPr>
              <a:t>Always check CYP450 interactions before adding a new drug.</a:t>
            </a:r>
            <a:r>
              <a:rPr lang="en-US" sz="1300" dirty="0">
                <a:solidFill>
                  <a:srgbClr val="666666"/>
                </a:solidFill>
              </a:rPr>
              <a:t>  S40</a:t>
            </a:r>
            <a:endParaRPr lang="en-US" sz="1800" dirty="0"/>
          </a:p>
          <a:p>
            <a:pPr marL="228600" indent="-228600">
              <a:spcAft>
                <a:spcPts val="800"/>
              </a:spcAft>
              <a:buSzPct val="100000"/>
              <a:buChar char="•"/>
            </a:pPr>
            <a:r>
              <a:rPr lang="en-US" sz="1800" dirty="0">
                <a:solidFill>
                  <a:srgbClr val="1F1F1F"/>
                </a:solidFill>
              </a:rPr>
              <a:t>These five ideas are the toolkit for every drug class for the rest of the course, starting with musculoskeletal pharmacology.</a:t>
            </a:r>
            <a:r>
              <a:rPr lang="en-US" sz="1300" dirty="0">
                <a:solidFill>
                  <a:srgbClr val="666666"/>
                </a:solidFill>
              </a:rPr>
              <a:t>  S44 (notes)</a:t>
            </a:r>
            <a:endParaRPr lang="en-US" sz="18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S42-43</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Before prescribing any new medication, which single check is most directly aimed at preventing a toxic, often-predictable drug-drug interaction?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Checking the drug's chemical name in a reference</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the drug's half-life alone before dosing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drug's brand name with the patient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route of administration on the order</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CYP450 interactions with the current medications</a:t>
            </a:r>
            <a:endParaRPr lang="en-US" sz="18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23: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Reviewing CYP450 interactions with the current medications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CYP450 interaction screening is one of the highest-yield steps for preventing predictable, preventable toxicity (S43).</a:t>
            </a:r>
            <a:r>
              <a:rPr lang="en-US" sz="1100" dirty="0">
                <a:solidFill>
                  <a:srgbClr val="666666"/>
                </a:solidFill>
              </a:rPr>
              <a:t>  S42-43</a:t>
            </a:r>
            <a:endParaRPr lang="en-US" sz="1600" dirty="0"/>
          </a:p>
        </p:txBody>
      </p:sp>
      <p:sp>
        <p:nvSpPr>
          <p:cNvPr id="11" name="Why others wrong card"/>
          <p:cNvSpPr/>
          <p:nvPr/>
        </p:nvSpPr>
        <p:spPr>
          <a:xfrm>
            <a:off x="548640" y="2625344"/>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735072"/>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Checking the drug's chemical name in a reference — </a:t>
            </a:r>
            <a:r>
              <a:rPr lang="en-US" sz="1600" dirty="0">
                <a:solidFill>
                  <a:srgbClr val="1F1F1F"/>
                </a:solidFill>
              </a:rPr>
              <a:t>Chemical names describe structure; they don't screen interactions (S43).</a:t>
            </a:r>
            <a:endParaRPr lang="en-US" sz="1600" dirty="0"/>
          </a:p>
          <a:p>
            <a:pPr indent="0" marL="0">
              <a:buNone/>
            </a:pPr>
            <a:r>
              <a:rPr lang="en-US" sz="1600" b="1" dirty="0">
                <a:solidFill>
                  <a:srgbClr val="1F1F1F"/>
                </a:solidFill>
              </a:rPr>
              <a:t>B. Reviewing the drug's half-life alone before dosing — </a:t>
            </a:r>
            <a:r>
              <a:rPr lang="en-US" sz="1600" dirty="0">
                <a:solidFill>
                  <a:srgbClr val="1F1F1F"/>
                </a:solidFill>
              </a:rPr>
              <a:t>Half-life alone doesn't identify a drug-drug interaction (S43).</a:t>
            </a:r>
            <a:endParaRPr lang="en-US" sz="1600" dirty="0"/>
          </a:p>
          <a:p>
            <a:pPr indent="0" marL="0">
              <a:buNone/>
            </a:pPr>
            <a:r>
              <a:rPr lang="en-US" sz="1600" b="1" dirty="0">
                <a:solidFill>
                  <a:srgbClr val="1F1F1F"/>
                </a:solidFill>
              </a:rPr>
              <a:t>C. Confirming the drug's brand name with the patient — </a:t>
            </a:r>
            <a:r>
              <a:rPr lang="en-US" sz="1600" dirty="0">
                <a:solidFill>
                  <a:srgbClr val="1F1F1F"/>
                </a:solidFill>
              </a:rPr>
              <a:t>Brand names don't screen for interactions (S43).</a:t>
            </a:r>
            <a:endParaRPr lang="en-US" sz="1600" dirty="0"/>
          </a:p>
          <a:p>
            <a:pPr indent="0" marL="0">
              <a:buNone/>
            </a:pPr>
            <a:r>
              <a:rPr lang="en-US" sz="1600" b="1" dirty="0">
                <a:solidFill>
                  <a:srgbClr val="1F1F1F"/>
                </a:solidFill>
              </a:rPr>
              <a:t>D. Confirming the route of administration on the order — </a:t>
            </a:r>
            <a:r>
              <a:rPr lang="en-US" sz="1600" dirty="0">
                <a:solidFill>
                  <a:srgbClr val="1F1F1F"/>
                </a:solidFill>
              </a:rPr>
              <a:t>Route is part of the checklist, but interaction review targets this risk (S39, S43).</a:t>
            </a:r>
            <a:endParaRPr lang="en-US" sz="16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 reviews indication, contraindications, renal/hepatic function, interactions, and a monitoring plan before prescribing. This process best reflects: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Receptor pharmacology considered alone</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Phase IV postmarketing surveillance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clinical decision-making framework</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Therapeutic index testing of the drug</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Pharmacogenomic screening of the patient</a:t>
            </a:r>
            <a:endParaRPr lang="en-US" sz="18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24: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The clinical decision-making framework</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This checklist is the clinical decision-making framework from "Putting It All Together" (S48, S39).</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Receptor pharmacology considered alone — </a:t>
            </a:r>
            <a:r>
              <a:rPr lang="en-US" sz="1600" dirty="0">
                <a:solidFill>
                  <a:srgbClr val="1F1F1F"/>
                </a:solidFill>
              </a:rPr>
              <a:t>Receptor pharmacology is one stop on the pathway (S38).</a:t>
            </a:r>
            <a:endParaRPr lang="en-US" sz="1600" dirty="0"/>
          </a:p>
          <a:p>
            <a:pPr indent="0" marL="0">
              <a:buNone/>
            </a:pPr>
            <a:r>
              <a:rPr lang="en-US" sz="1600" b="1" dirty="0">
                <a:solidFill>
                  <a:srgbClr val="1F1F1F"/>
                </a:solidFill>
              </a:rPr>
              <a:t>B. Phase IV postmarketing surveillance — </a:t>
            </a:r>
            <a:r>
              <a:rPr lang="en-US" sz="1600" dirty="0">
                <a:solidFill>
                  <a:srgbClr val="1F1F1F"/>
                </a:solidFill>
              </a:rPr>
              <a:t>Phase IV is postmarketing surveillance after approval (Session 1; S47).</a:t>
            </a:r>
            <a:endParaRPr lang="en-US" sz="1600" dirty="0"/>
          </a:p>
          <a:p>
            <a:pPr indent="0" marL="0">
              <a:buNone/>
            </a:pPr>
            <a:r>
              <a:rPr lang="en-US" sz="1600" b="1" dirty="0">
                <a:solidFill>
                  <a:srgbClr val="1F1F1F"/>
                </a:solidFill>
              </a:rPr>
              <a:t>D. Therapeutic index testing of the drug — </a:t>
            </a:r>
            <a:r>
              <a:rPr lang="en-US" sz="1600" dirty="0">
                <a:solidFill>
                  <a:srgbClr val="1F1F1F"/>
                </a:solidFill>
              </a:rPr>
              <a:t>TI compares toxic vs. effective dose; it is not this checklist (S47-48).</a:t>
            </a:r>
            <a:endParaRPr lang="en-US" sz="1600" dirty="0"/>
          </a:p>
          <a:p>
            <a:pPr indent="0" marL="0">
              <a:buNone/>
            </a:pPr>
            <a:r>
              <a:rPr lang="en-US" sz="1600" b="1" dirty="0">
                <a:solidFill>
                  <a:srgbClr val="1F1F1F"/>
                </a:solidFill>
              </a:rPr>
              <a:t>E. Pharmacogenomic screening of the patient — </a:t>
            </a:r>
            <a:r>
              <a:rPr lang="en-US" sz="1600" dirty="0">
                <a:solidFill>
                  <a:srgbClr val="1F1F1F"/>
                </a:solidFill>
              </a:rPr>
              <a:t>Pharmacogenomics is one input among several, not the whole checklist (S34).</a:t>
            </a:r>
            <a:endParaRPr lang="en-US" sz="16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has high potency but low efficacy compared with an alternative. For a patient needing maximum symptom relief, which factor matters more when choosing between the two?</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Efficacy</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one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Potency</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a:t>
            </a:r>
            <a:endParaRPr lang="en-US" sz="18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25: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Efficacy</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Efficacy (the maximum achievable effect) matters more than potency for most clinical outcomes (S48).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Neither one — </a:t>
            </a:r>
            <a:r>
              <a:rPr lang="en-US" sz="1600" dirty="0">
                <a:solidFill>
                  <a:srgbClr val="1F1F1F"/>
                </a:solidFill>
              </a:rPr>
              <a:t>Efficacy predicts the maximum achievable benefit (S48).</a:t>
            </a:r>
            <a:endParaRPr lang="en-US" sz="1600" dirty="0"/>
          </a:p>
          <a:p>
            <a:pPr indent="0" marL="0">
              <a:buNone/>
            </a:pPr>
            <a:r>
              <a:rPr lang="en-US" sz="1600" b="1" dirty="0">
                <a:solidFill>
                  <a:srgbClr val="1F1F1F"/>
                </a:solidFill>
              </a:rPr>
              <a:t>C. Half-life — </a:t>
            </a:r>
            <a:r>
              <a:rPr lang="en-US" sz="1600" dirty="0">
                <a:solidFill>
                  <a:srgbClr val="1F1F1F"/>
                </a:solidFill>
              </a:rPr>
              <a:t>Half-life governs time to steady state, not maximal effect (S48).</a:t>
            </a:r>
            <a:endParaRPr lang="en-US" sz="1600" dirty="0"/>
          </a:p>
          <a:p>
            <a:pPr indent="0" marL="0">
              <a:buNone/>
            </a:pPr>
            <a:r>
              <a:rPr lang="en-US" sz="1600" b="1" dirty="0">
                <a:solidFill>
                  <a:srgbClr val="1F1F1F"/>
                </a:solidFill>
              </a:rPr>
              <a:t>D. Potency — </a:t>
            </a:r>
            <a:r>
              <a:rPr lang="en-US" sz="1600" dirty="0">
                <a:solidFill>
                  <a:srgbClr val="1F1F1F"/>
                </a:solidFill>
              </a:rPr>
              <a:t>Potency is the dose needed; it doesn't set the maximum effect (S48).</a:t>
            </a:r>
            <a:endParaRPr lang="en-US" sz="1600" dirty="0"/>
          </a:p>
          <a:p>
            <a:pPr indent="0" marL="0">
              <a:buNone/>
            </a:pPr>
            <a:r>
              <a:rPr lang="en-US" sz="1600" b="1" dirty="0">
                <a:solidFill>
                  <a:srgbClr val="1F1F1F"/>
                </a:solidFill>
              </a:rPr>
              <a:t>E. Both equally — </a:t>
            </a:r>
            <a:r>
              <a:rPr lang="en-US" sz="1600" dirty="0">
                <a:solidFill>
                  <a:srgbClr val="1F1F1F"/>
                </a:solidFill>
              </a:rPr>
              <a:t>Efficacy matters more than potency (S48).</a:t>
            </a:r>
            <a:endParaRPr lang="en-US" sz="16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119</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best differentiates a competitive antagonist from a noncompetitive antagonist?</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raises Emax; noncompetitive shifts the curve left at the same Emax</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Noncompetitive lowers Emax; competitive shifts the curve right without changing Emax</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lowers Emax; noncompetitive shifts the curve right with the same Emax</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Only competitive antagonists cause adverse effects; noncompetitive ones never do</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They are pharmacologically identical and produce the same dose-response curve</a:t>
            </a:r>
            <a:endParaRPr lang="en-US" sz="18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26: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Noncompetitive lowers Emax; competitive shifts the curve right without changing Emax</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Noncompetitive/irreversible antagonists lower Emax; competitive antagonists shift the curve right without changing Emax (S48).</a:t>
            </a:r>
            <a:r>
              <a:rPr lang="en-US" sz="1100" dirty="0">
                <a:solidFill>
                  <a:srgbClr val="666666"/>
                </a:solidFill>
              </a:rPr>
              <a:t>  S46; S48</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Competitive raises Emax; noncompetitive shifts the curve left at the same Emax — </a:t>
            </a:r>
            <a:r>
              <a:rPr lang="en-US" sz="1600" dirty="0">
                <a:solidFill>
                  <a:srgbClr val="1F1F1F"/>
                </a:solidFill>
              </a:rPr>
              <a:t>Neither raises Emax or shifts left (S48).</a:t>
            </a:r>
            <a:endParaRPr lang="en-US" sz="1600" dirty="0"/>
          </a:p>
          <a:p>
            <a:pPr indent="0" marL="0">
              <a:buNone/>
            </a:pPr>
            <a:r>
              <a:rPr lang="en-US" sz="1600" b="1" dirty="0">
                <a:solidFill>
                  <a:srgbClr val="1F1F1F"/>
                </a:solidFill>
              </a:rPr>
              <a:t>C. Competitive lowers Emax; noncompetitive shifts the curve right with the same Emax — </a:t>
            </a:r>
            <a:r>
              <a:rPr lang="en-US" sz="1600" dirty="0">
                <a:solidFill>
                  <a:srgbClr val="1F1F1F"/>
                </a:solidFill>
              </a:rPr>
              <a:t>This reverses the two (S48).</a:t>
            </a:r>
            <a:endParaRPr lang="en-US" sz="1600" dirty="0"/>
          </a:p>
          <a:p>
            <a:pPr indent="0" marL="0">
              <a:buNone/>
            </a:pPr>
            <a:r>
              <a:rPr lang="en-US" sz="1600" b="1" dirty="0">
                <a:solidFill>
                  <a:srgbClr val="1F1F1F"/>
                </a:solidFill>
              </a:rPr>
              <a:t>D. Only competitive antagonists cause adverse effects; noncompetitive ones never do — </a:t>
            </a:r>
            <a:r>
              <a:rPr lang="en-US" sz="1600" dirty="0">
                <a:solidFill>
                  <a:srgbClr val="1F1F1F"/>
                </a:solidFill>
              </a:rPr>
              <a:t>Adverse effects are not what separates them (S46, S48).</a:t>
            </a:r>
            <a:endParaRPr lang="en-US" sz="1600" dirty="0"/>
          </a:p>
          <a:p>
            <a:pPr indent="0" marL="0">
              <a:buNone/>
            </a:pPr>
            <a:r>
              <a:rPr lang="en-US" sz="1600" b="1" dirty="0">
                <a:solidFill>
                  <a:srgbClr val="1F1F1F"/>
                </a:solidFill>
              </a:rPr>
              <a:t>E. They are pharmacologically identical and produce the same dose-response curve — </a:t>
            </a:r>
            <a:r>
              <a:rPr lang="en-US" sz="1600" dirty="0">
                <a:solidFill>
                  <a:srgbClr val="1F1F1F"/>
                </a:solidFill>
              </a:rPr>
              <a:t>Their curve effects differ (S48).</a:t>
            </a:r>
            <a:endParaRPr lang="en-US" sz="16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starts a new drug that binds the same receptor as their home medication, and the home medication's effect becomes weaker. Raising the home medication's dose restores the full effect. What does this support?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strong CYP3A4 inducer</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an irreversible antagonist</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home medication has become toxic</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competitive antagonist</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full agonist itself</a:t>
            </a:r>
            <a:endParaRPr lang="en-US" sz="18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27: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The new drug is a competitive antagonist</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A competitive antagonist can be overcome by increasing the agonist dose — restoring the effect supports competitive rather than irreversible antagonism (S41).</a:t>
            </a:r>
            <a:r>
              <a:rPr lang="en-US" sz="1100" dirty="0">
                <a:solidFill>
                  <a:srgbClr val="666666"/>
                </a:solidFill>
              </a:rPr>
              <a:t>  S41</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 new drug is a strong CYP3A4 inducer — </a:t>
            </a:r>
            <a:r>
              <a:rPr lang="en-US" sz="1600" dirty="0">
                <a:solidFill>
                  <a:srgbClr val="1F1F1F"/>
                </a:solidFill>
              </a:rPr>
              <a:t>Nothing here involves CYP metabolism; it's receptor competition (S41).</a:t>
            </a:r>
            <a:endParaRPr lang="en-US" sz="1600" dirty="0"/>
          </a:p>
          <a:p>
            <a:pPr indent="0" marL="0">
              <a:buNone/>
            </a:pPr>
            <a:r>
              <a:rPr lang="en-US" sz="1600" b="1" dirty="0">
                <a:solidFill>
                  <a:srgbClr val="1F1F1F"/>
                </a:solidFill>
              </a:rPr>
              <a:t>B. The new drug is an irreversible antagonist — </a:t>
            </a:r>
            <a:r>
              <a:rPr lang="en-US" sz="1600" dirty="0">
                <a:solidFill>
                  <a:srgbClr val="1F1F1F"/>
                </a:solidFill>
              </a:rPr>
              <a:t>Irreversible antagonism would NOT be overcome by raising the dose (S41).</a:t>
            </a:r>
            <a:endParaRPr lang="en-US" sz="1600" dirty="0"/>
          </a:p>
          <a:p>
            <a:pPr indent="0" marL="0">
              <a:buNone/>
            </a:pPr>
            <a:r>
              <a:rPr lang="en-US" sz="1600" b="1" dirty="0">
                <a:solidFill>
                  <a:srgbClr val="1F1F1F"/>
                </a:solidFill>
              </a:rPr>
              <a:t>C. The home medication has become toxic — </a:t>
            </a:r>
            <a:r>
              <a:rPr lang="en-US" sz="1600" dirty="0">
                <a:solidFill>
                  <a:srgbClr val="1F1F1F"/>
                </a:solidFill>
              </a:rPr>
              <a:t>A weaker effect restored by a higher dose points to competition (S41).</a:t>
            </a:r>
            <a:endParaRPr lang="en-US" sz="1600" dirty="0"/>
          </a:p>
          <a:p>
            <a:pPr indent="0" marL="0">
              <a:buNone/>
            </a:pPr>
            <a:r>
              <a:rPr lang="en-US" sz="1600" b="1" dirty="0">
                <a:solidFill>
                  <a:srgbClr val="1F1F1F"/>
                </a:solidFill>
              </a:rPr>
              <a:t>E. The new drug is a full agonist itself — </a:t>
            </a:r>
            <a:r>
              <a:rPr lang="en-US" sz="1600" dirty="0">
                <a:solidFill>
                  <a:srgbClr val="1F1F1F"/>
                </a:solidFill>
              </a:rPr>
              <a:t>A drug that weakens the home medication's effect is acting as an antagonist (S41).</a:t>
            </a:r>
            <a:endParaRPr lang="en-US" sz="16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123</a:t>
            </a:r>
            <a:endParaRPr lang="en-US" sz="1000" dirty="0"/>
          </a:p>
        </p:txBody>
      </p:sp>
      <p:sp>
        <p:nvSpPr>
          <p:cNvPr id="7" name="Question stem card"/>
          <p:cNvSpPr/>
          <p:nvPr/>
        </p:nvSpPr>
        <p:spPr>
          <a:xfrm>
            <a:off x="548640" y="1325880"/>
            <a:ext cx="11094415" cy="1202436"/>
          </a:xfrm>
          <a:prstGeom prst="roundRect">
            <a:avLst>
              <a:gd name="adj" fmla="val 7605"/>
            </a:avLst>
          </a:prstGeom>
          <a:solidFill>
            <a:srgbClr val="F2F4F7"/>
          </a:solidFill>
          <a:ln w="12700">
            <a:solidFill>
              <a:srgbClr val="F2F4F7"/>
            </a:solidFill>
            <a:prstDash val="solid"/>
          </a:ln>
        </p:spPr>
      </p:sp>
      <p:sp>
        <p:nvSpPr>
          <p:cNvPr id="8" name="Question stem"/>
          <p:cNvSpPr txBox="1"/>
          <p:nvPr/>
        </p:nvSpPr>
        <p:spPr>
          <a:xfrm>
            <a:off x="777240" y="1325880"/>
            <a:ext cx="10637215" cy="1202436"/>
          </a:xfrm>
          <a:prstGeom prst="rect">
            <a:avLst/>
          </a:prstGeom>
          <a:noFill/>
          <a:ln/>
        </p:spPr>
        <p:txBody>
          <a:bodyPr wrap="square" lIns="0" tIns="0" rIns="0" bIns="0" rtlCol="0" anchor="ctr"/>
          <a:lstStyle/>
          <a:p>
            <a:pPr indent="0" marL="0">
              <a:buNone/>
            </a:pPr>
            <a:r>
              <a:rPr lang="en-US" sz="1800" dirty="0">
                <a:solidFill>
                  <a:srgbClr val="1F1F1F"/>
                </a:solidFill>
              </a:rPr>
              <a:t>A 68-year-old woman with stage 4 CKD (eGFR 24 mL/min) is starting a narrow-TI oral antiarrhythmic eliminated mainly unchanged by the kidney. Three weeks ago she began a strong CYP3A4 inhibitor. What is the best step before the prescription is filled?</a:t>
            </a:r>
            <a:endParaRPr lang="en-US" sz="1800" dirty="0"/>
          </a:p>
        </p:txBody>
      </p:sp>
      <p:sp>
        <p:nvSpPr>
          <p:cNvPr id="9" name="Shape 7"/>
          <p:cNvSpPr/>
          <p:nvPr/>
        </p:nvSpPr>
        <p:spPr>
          <a:xfrm>
            <a:off x="548640" y="2738628"/>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73862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71119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Shorten the dosing interval so steady state is reached more quickly</a:t>
            </a:r>
            <a:endParaRPr lang="en-US" sz="1800" dirty="0"/>
          </a:p>
        </p:txBody>
      </p:sp>
      <p:sp>
        <p:nvSpPr>
          <p:cNvPr id="12" name="Shape 10"/>
          <p:cNvSpPr/>
          <p:nvPr/>
        </p:nvSpPr>
        <p:spPr>
          <a:xfrm>
            <a:off x="548640" y="3287268"/>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28726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325983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Prescribe the standard dose, since only hepatic drugs are affected by CKD</a:t>
            </a:r>
            <a:endParaRPr lang="en-US" sz="1800" dirty="0"/>
          </a:p>
        </p:txBody>
      </p:sp>
      <p:sp>
        <p:nvSpPr>
          <p:cNvPr id="15" name="Shape 13"/>
          <p:cNvSpPr/>
          <p:nvPr/>
        </p:nvSpPr>
        <p:spPr>
          <a:xfrm>
            <a:off x="548640" y="3835908"/>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83590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80847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 the dose, since the CYP3A4 inhibitor will lower the drug's level</a:t>
            </a:r>
            <a:endParaRPr lang="en-US" sz="1800" dirty="0"/>
          </a:p>
        </p:txBody>
      </p:sp>
      <p:sp>
        <p:nvSpPr>
          <p:cNvPr id="18" name="Shape 16"/>
          <p:cNvSpPr/>
          <p:nvPr/>
        </p:nvSpPr>
        <p:spPr>
          <a:xfrm>
            <a:off x="548640" y="4384548"/>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38454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35711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Start the drug, and check renal function only if symptoms appear later</a:t>
            </a:r>
            <a:endParaRPr lang="en-US" sz="1800" dirty="0"/>
          </a:p>
        </p:txBody>
      </p:sp>
      <p:sp>
        <p:nvSpPr>
          <p:cNvPr id="21" name="Shape 19"/>
          <p:cNvSpPr/>
          <p:nvPr/>
        </p:nvSpPr>
        <p:spPr>
          <a:xfrm>
            <a:off x="548640" y="4933188"/>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93318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90575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Check eGFR/CrCl, lower the dose or extend the interval, and plan close monitoring</a:t>
            </a:r>
            <a:endParaRPr lang="en-US" sz="18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28: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Check eGFR/CrCl, lower the dose or extend the interval, and plan close monitoring</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Reduced renal clearance will raise the drug's concentration and prolong its half-life; before dispensing, check eGFR/CrCl, consider a lower dose or extended interval, and monitor renal function and toxicity (SG U1-S).</a:t>
            </a:r>
            <a:r>
              <a:rPr lang="en-US" sz="1100" dirty="0">
                <a:solidFill>
                  <a:srgbClr val="666666"/>
                </a:solidFill>
              </a:rPr>
              <a:t>  SG U1-S; S15; S28</a:t>
            </a:r>
            <a:endParaRPr lang="en-US" sz="1600" dirty="0"/>
          </a:p>
        </p:txBody>
      </p:sp>
      <p:sp>
        <p:nvSpPr>
          <p:cNvPr id="11" name="Why others wrong card"/>
          <p:cNvSpPr/>
          <p:nvPr/>
        </p:nvSpPr>
        <p:spPr>
          <a:xfrm>
            <a:off x="548640" y="2873248"/>
            <a:ext cx="11094415" cy="2696464"/>
          </a:xfrm>
          <a:prstGeom prst="roundRect">
            <a:avLst>
              <a:gd name="adj" fmla="val 3391"/>
            </a:avLst>
          </a:prstGeom>
          <a:solidFill>
            <a:srgbClr val="F2F4F7"/>
          </a:solidFill>
          <a:ln w="12700">
            <a:solidFill>
              <a:srgbClr val="F2F4F7"/>
            </a:solidFill>
            <a:prstDash val="solid"/>
          </a:ln>
        </p:spPr>
      </p:sp>
      <p:sp>
        <p:nvSpPr>
          <p:cNvPr id="12" name="Why others wrong"/>
          <p:cNvSpPr txBox="1"/>
          <p:nvPr/>
        </p:nvSpPr>
        <p:spPr>
          <a:xfrm>
            <a:off x="777240" y="2982976"/>
            <a:ext cx="10637215" cy="2513584"/>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Shorten the dosing interval so steady state is reached more quickly — </a:t>
            </a:r>
            <a:r>
              <a:rPr lang="en-US" sz="1600" dirty="0">
                <a:solidFill>
                  <a:srgbClr val="1F1F1F"/>
                </a:solidFill>
              </a:rPr>
              <a:t>Intervals are EXTENDED in renal impairment; shortening raises accumulation (S17, S28).</a:t>
            </a:r>
            <a:endParaRPr lang="en-US" sz="1600" dirty="0"/>
          </a:p>
          <a:p>
            <a:pPr indent="0" marL="0">
              <a:buNone/>
            </a:pPr>
            <a:r>
              <a:rPr lang="en-US" sz="1600" b="1" dirty="0">
                <a:solidFill>
                  <a:srgbClr val="1F1F1F"/>
                </a:solidFill>
              </a:rPr>
              <a:t>B. Prescribe the standard dose, since only hepatic drugs are affected by CKD — </a:t>
            </a:r>
            <a:r>
              <a:rPr lang="en-US" sz="1600" dirty="0">
                <a:solidFill>
                  <a:srgbClr val="1F1F1F"/>
                </a:solidFill>
              </a:rPr>
              <a:t>CKD reduces renal clearance, raising concentration and half-life of renally-eliminated drugs (S15, SG U1-S).</a:t>
            </a:r>
            <a:endParaRPr lang="en-US" sz="1600" dirty="0"/>
          </a:p>
          <a:p>
            <a:pPr indent="0" marL="0">
              <a:buNone/>
            </a:pPr>
            <a:r>
              <a:rPr lang="en-US" sz="1600" b="1" dirty="0">
                <a:solidFill>
                  <a:srgbClr val="1F1F1F"/>
                </a:solidFill>
              </a:rPr>
              <a:t>C. Increase the dose, since the CYP3A4 inhibitor will lower the drug's level — </a:t>
            </a:r>
            <a:r>
              <a:rPr lang="en-US" sz="1600" dirty="0">
                <a:solidFill>
                  <a:srgbClr val="1F1F1F"/>
                </a:solidFill>
              </a:rPr>
              <a:t>A CYP3A4 inhibitor RAISES substrate levels (S6); induction lowers them.</a:t>
            </a:r>
            <a:endParaRPr lang="en-US" sz="1600" dirty="0"/>
          </a:p>
          <a:p>
            <a:pPr indent="0" marL="0">
              <a:buNone/>
            </a:pPr>
            <a:r>
              <a:rPr lang="en-US" sz="1600" b="1" dirty="0">
                <a:solidFill>
                  <a:srgbClr val="1F1F1F"/>
                </a:solidFill>
              </a:rPr>
              <a:t>D. Start the drug, and check renal function only if symptoms appear later — </a:t>
            </a:r>
            <a:r>
              <a:rPr lang="en-US" sz="1600" dirty="0">
                <a:solidFill>
                  <a:srgbClr val="1F1F1F"/>
                </a:solidFill>
              </a:rPr>
              <a:t>Check eGFR/CrCl and adjust BEFORE dispensing, then monitor closely (SG U1-S).</a:t>
            </a:r>
            <a:endParaRPr lang="en-US" sz="1600" dirty="0"/>
          </a:p>
        </p:txBody>
      </p:sp>
    </p:spTree>
  </p:cSld>
  <p:clrMapOvr>
    <a:masterClrMapping/>
  </p:clrMapOvr>
</p:sld>
</file>

<file path=ppt/theme/theme1.xml><?xml version="1.0" encoding="utf-8"?>
<a:theme xmlns:a="http://schemas.openxmlformats.org/drawingml/2006/main" name="Study deck light">
  <a:themeElements>
    <a:clrScheme name="Study deck light">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Study deck ligh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124</Slides>
  <Notes>124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124</vt:i4>
      </vt:variant>
    </vt:vector>
  </HeadingPairs>
  <TitlesOfParts>
    <vt:vector size="1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L02 Introduction to Pharmacology — Session 2</dc:title>
  <dc:subject>PptxGenJS Presentation</dc:subject>
  <dc:creator>PptxGenJS</dc:creator>
  <cp:lastModifiedBy>PptxGenJS</cp:lastModifiedBy>
  <cp:revision>1</cp:revision>
  <dcterms:created xsi:type="dcterms:W3CDTF">2026-10-24T14:21:15Z</dcterms:created>
  <dcterms:modified xsi:type="dcterms:W3CDTF">2026-10-24T14:21:15Z</dcterms:modified>
</cp:coreProperties>
</file>