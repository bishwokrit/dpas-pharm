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notesMasterIdLst>
    <p:notesMasterId r:id="rId1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notesMaster" Target="notesMasters/notesMaster1.xml"/><Relationship Id="rId115" Type="http://schemas.openxmlformats.org/officeDocument/2006/relationships/presProps" Target="presProps.xml"/><Relationship Id="rId116" Type="http://schemas.openxmlformats.org/officeDocument/2006/relationships/viewProps" Target="viewProps.xml"/><Relationship Id="rId117" Type="http://schemas.openxmlformats.org/officeDocument/2006/relationships/theme" Target="theme/theme1.xml"/><Relationship Id="rId1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png"/><Relationship Id="rId6" Type="http://schemas.openxmlformats.org/officeDocument/2006/relationships/slideLayout" Target="../slideLayouts/slideLayout1.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graphicFrame>
        <p:nvGraphicFramePr>
          <p:cNvPr id="3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C.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D.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B.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C.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Tubular secretion by active transporters — </a:t>
            </a:r>
            <a:r>
              <a:rPr lang="en-US" sz="1600" dirty="0">
                <a:solidFill>
                  <a:srgbClr val="1F1F1F"/>
                </a:solidFill>
              </a:rPr>
              <a:t>Secretion moves additional drug INTO the tubule (S14).</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How it works (2/2) card"/>
          <p:cNvSpPr/>
          <p:nvPr/>
        </p:nvSpPr>
        <p:spPr>
          <a:xfrm>
            <a:off x="548640" y="1325880"/>
            <a:ext cx="11094415" cy="4608576"/>
          </a:xfrm>
          <a:prstGeom prst="roundRect">
            <a:avLst>
              <a:gd name="adj" fmla="val 2381"/>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7398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Textbook concept · Five to fill, five to empty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pic>
        <p:nvPicPr>
          <p:cNvPr id="7" name="Figure TB_fill_empty.png" descr="/home/user/dpas-pharm/work/L02/figures/TB_fill_empty.png">    </p:cNvPr>
          <p:cNvPicPr>
            <a:picLocks noChangeAspect="1"/>
          </p:cNvPicPr>
          <p:nvPr/>
        </p:nvPicPr>
        <p:blipFill>
          <a:blip r:embed="rId1"/>
          <a:stretch>
            <a:fillRect/>
          </a:stretch>
        </p:blipFill>
        <p:spPr>
          <a:xfrm>
            <a:off x="2596090" y="1325880"/>
            <a:ext cx="6999514"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diagram: starting regular dosing, each half-life closes half of the remaining gap to steady state (50 → 75 → 87.5 → 93.75 → ~97%); after stopping, each half-life removes half of what remains (50 → 25 → 12.5 → 6.25 → 3.125%). The same 4–5 half-lives govern both.</a:t>
            </a:r>
            <a:r>
              <a:rPr lang="en-US" sz="1100" dirty="0">
                <a:solidFill>
                  <a:srgbClr val="666666"/>
                </a:solidFill>
              </a:rPr>
              <a:t>  S19; S23; p. 47</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graphicFrame>
        <p:nvGraphicFramePr>
          <p:cNvPr id="5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B.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C.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D. 50% — </a:t>
            </a:r>
            <a:r>
              <a:rPr lang="en-US" sz="1600" dirty="0">
                <a:solidFill>
                  <a:srgbClr val="1F1F1F"/>
                </a:solidFill>
              </a:rPr>
              <a:t>50% remains after 1 half-life (S22).</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C.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D.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B.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Size of each dose given — </a:t>
            </a:r>
            <a:r>
              <a:rPr lang="en-US" sz="1600" dirty="0">
                <a:solidFill>
                  <a:srgbClr val="1F1F1F"/>
                </a:solidFill>
              </a:rPr>
              <a:t>Steady state takes ~4–5 half-lives regardless of dose size (S30).</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B.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25 mg/L, with 75% of the drug eliminated — </a:t>
            </a:r>
            <a:r>
              <a:rPr lang="en-US" sz="1600" dirty="0">
                <a:solidFill>
                  <a:srgbClr val="1F1F1F"/>
                </a:solidFill>
              </a:rPr>
              <a:t>That is 12 h — 2 half-lives (S19).</a:t>
            </a:r>
            <a:endParaRPr lang="en-US" sz="1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B.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D.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Drugs named as examples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graphicFrame>
        <p:nvGraphicFramePr>
          <p:cNvPr id="8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B.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Faster CYP2D6 metabolism of the drug and lost effect — </a:t>
            </a:r>
            <a:r>
              <a:rPr lang="en-US" sz="1600" dirty="0">
                <a:solidFill>
                  <a:srgbClr val="1F1F1F"/>
                </a:solidFill>
              </a:rPr>
              <a:t>CYP2D6 variation affects antidepressants and opioids (S33).</a:t>
            </a:r>
            <a:endParaRPr lang="en-US" sz="16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C.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E. Genotype becomes irrelevant once a drug reaches steady state — </a:t>
            </a:r>
            <a:r>
              <a:rPr lang="en-US" sz="1600" dirty="0">
                <a:solidFill>
                  <a:srgbClr val="1F1F1F"/>
                </a:solidFill>
              </a:rPr>
              <a:t>Nothing in the materials limits genotype's relevance this way (S32, S34).</a:t>
            </a:r>
            <a:endParaRPr lang="en-US" sz="16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B.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C. Codeine-free analgesia plus standard-dose clopidogrel — </a:t>
            </a:r>
            <a:r>
              <a:rPr lang="en-US" sz="1600" dirty="0">
                <a:solidFill>
                  <a:srgbClr val="1F1F1F"/>
                </a:solidFill>
              </a:rPr>
              <a:t>Codeine relates to CYP2D6, not antiplatelet choice (p. 81).</a:t>
            </a:r>
            <a:endParaRPr lang="en-US" sz="1600" dirty="0"/>
          </a:p>
          <a:p>
            <a:pPr indent="0" marL="0">
              <a:buNone/>
            </a:pPr>
            <a:r>
              <a:rPr lang="en-US" sz="1600" b="1" dirty="0">
                <a:solidFill>
                  <a:srgbClr val="1F1F1F"/>
                </a:solidFill>
              </a:rPr>
              <a:t>E. Clopidogrel at the standard dose with routine follow-up — </a:t>
            </a:r>
            <a:r>
              <a:rPr lang="en-US" sz="1600" dirty="0">
                <a:solidFill>
                  <a:srgbClr val="1F1F1F"/>
                </a:solidFill>
              </a:rPr>
              <a:t>Standard clopidogrel risks stent thrombosis in poor metabolizers (p. 81).</a:t>
            </a:r>
            <a:endParaRPr lang="en-US" sz="16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graphicFrame>
        <p:nvGraphicFramePr>
          <p:cNvPr id="9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a:p>
            <a:pPr indent="0" marL="0">
              <a:buNone/>
            </a:pPr>
            <a:r>
              <a:rPr lang="en-US" sz="1600" b="1" dirty="0">
                <a:solidFill>
                  <a:srgbClr val="1F1F1F"/>
                </a:solidFill>
              </a:rPr>
              <a:t>E. Checking the drug's chemical name in a reference — </a:t>
            </a:r>
            <a:r>
              <a:rPr lang="en-US" sz="1600" dirty="0">
                <a:solidFill>
                  <a:srgbClr val="1F1F1F"/>
                </a:solidFill>
              </a:rPr>
              <a:t>Chemical names describe structure; they don't screen interactions (S43).</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C. Pharmacogenomic screening of the patient — </a:t>
            </a:r>
            <a:r>
              <a:rPr lang="en-US" sz="1600" dirty="0">
                <a:solidFill>
                  <a:srgbClr val="1F1F1F"/>
                </a:solidFill>
              </a:rPr>
              <a:t>Pharmacogenomics is one input among several, not the whole checklist (S34).</a:t>
            </a:r>
            <a:endParaRPr lang="en-US" sz="1600" dirty="0"/>
          </a:p>
          <a:p>
            <a:pPr indent="0" marL="0">
              <a:buNone/>
            </a:pPr>
            <a:r>
              <a:rPr lang="en-US" sz="1600" b="1" dirty="0">
                <a:solidFill>
                  <a:srgbClr val="1F1F1F"/>
                </a:solidFill>
              </a:rPr>
              <a:t>D.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E. Phase IV postmarketing surveillance — </a:t>
            </a:r>
            <a:r>
              <a:rPr lang="en-US" sz="1600" dirty="0">
                <a:solidFill>
                  <a:srgbClr val="1F1F1F"/>
                </a:solidFill>
              </a:rPr>
              <a:t>Phase IV is postmarketing surveillance after approval (Session 1; S47).</a:t>
            </a:r>
            <a:endParaRPr lang="en-US" sz="16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 </a:t>
            </a:r>
            <a:r>
              <a:rPr lang="en-US" sz="1600" dirty="0">
                <a:solidFill>
                  <a:srgbClr val="1F1F1F"/>
                </a:solidFill>
              </a:rPr>
              <a:t>Efficacy matters more than potency (S48).</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Half-life — </a:t>
            </a:r>
            <a:r>
              <a:rPr lang="en-US" sz="1600" dirty="0">
                <a:solidFill>
                  <a:srgbClr val="1F1F1F"/>
                </a:solidFill>
              </a:rPr>
              <a:t>Half-life governs time to steady state, not maximal effect (S48).</a:t>
            </a:r>
            <a:endParaRPr lang="en-US" sz="16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B.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C.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D. Competitive lowers Emax; noncompetitive shifts the curve right with the same Emax — </a:t>
            </a:r>
            <a:r>
              <a:rPr lang="en-US" sz="1600" dirty="0">
                <a:solidFill>
                  <a:srgbClr val="1F1F1F"/>
                </a:solidFill>
              </a:rPr>
              <a:t>This reverses the two (S48).</a:t>
            </a:r>
            <a:endParaRPr lang="en-US" sz="16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B. The new drug is a full agonist itself — </a:t>
            </a:r>
            <a:r>
              <a:rPr lang="en-US" sz="1600" dirty="0">
                <a:solidFill>
                  <a:srgbClr val="1F1F1F"/>
                </a:solidFill>
              </a:rPr>
              <a:t>A drug that weakens the home medication's effect is acting as an antagonist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strong CYP3A4 inducer — </a:t>
            </a:r>
            <a:r>
              <a:rPr lang="en-US" sz="1600" dirty="0">
                <a:solidFill>
                  <a:srgbClr val="1F1F1F"/>
                </a:solidFill>
              </a:rPr>
              <a:t>Nothing here involves CYP metabolism; it's receptor competition (S41).</a:t>
            </a:r>
            <a:endParaRPr lang="en-US" sz="16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D. Increase the dose, since the CYP3A4 inhibitor will lower the drug's level — </a:t>
            </a:r>
            <a:r>
              <a:rPr lang="en-US" sz="1600" dirty="0">
                <a:solidFill>
                  <a:srgbClr val="1F1F1F"/>
                </a:solidFill>
              </a:rPr>
              <a:t>A CYP3A4 inhibitor RAISES substrate levels (S6); induction lowers them.</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112</Slides>
  <Notes>112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112</vt:i4>
      </vt:variant>
    </vt:vector>
  </HeadingPairs>
  <TitlesOfParts>
    <vt:vector size="1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2026-10-22T20:06:24Z</dcterms:created>
  <dcterms:modified xsi:type="dcterms:W3CDTF">2026-10-22T20:06:24Z</dcterms:modified>
</cp:coreProperties>
</file>