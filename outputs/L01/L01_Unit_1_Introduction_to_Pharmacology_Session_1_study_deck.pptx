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S12 (notes); S13; S14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S22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S30; S34; S34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S53; S53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image" Target="../media/image-7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image" Target="../media/image-94-3.png"/><Relationship Id="rId4" Type="http://schemas.openxmlformats.org/officeDocument/2006/relationships/image" Target="../media/image-9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C55A11"/>
                </a:solidFill>
              </a:rPr>
              <a:t>Textbook not added yet — this deck is built from the slides only.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332988"/>
          </a:xfrm>
          <a:prstGeom prst="roundRect">
            <a:avLst>
              <a:gd name="adj" fmla="val 32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 Lecturer: Diane S. Allen-Gipson, Ph.D., M.S., Course Director.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11" name="How it works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110228"/>
          </a:xfrm>
          <a:prstGeom prst="roundRect">
            <a:avLst>
              <a:gd name="adj" fmla="val 267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241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104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0863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statement correctly distinguishes pharmacokinetics from pharmacodynamics?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receptor binding; pharmacodynamics studies absorption and excretion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applies only to IV drugs; pharmacodynamics applies only to oral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genetic variation; pharmacodynamics studies poisoning and overdose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drug does to the body; pharmacodynamics is what the body does to the drug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3: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PK = what the body does to the drug (ADME); PD = what the drug does to the body (receptors &amp; effect) (S6).</a:t>
            </a:r>
            <a:r>
              <a:rPr lang="en-US" sz="1100" dirty="0">
                <a:solidFill>
                  <a:srgbClr val="666666"/>
                </a:solidFill>
              </a:rPr>
              <a:t>  S6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Pharmacokinetics studies receptor binding; pharmacodynamics studies absorption and excretion — </a:t>
            </a:r>
            <a:r>
              <a:rPr lang="en-US" sz="1600" dirty="0">
                <a:solidFill>
                  <a:srgbClr val="1F1F1F"/>
                </a:solidFill>
              </a:rPr>
              <a:t>Receptors &amp; effect belong to PD; absorption and excretion (ADME) belong to PK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Pharmacokinetics applies only to IV drugs; pharmacodynamics applies only to oral drugs — </a:t>
            </a:r>
            <a:r>
              <a:rPr lang="en-US" sz="1600" dirty="0">
                <a:solidFill>
                  <a:srgbClr val="1F1F1F"/>
                </a:solidFill>
              </a:rPr>
              <a:t>Neither branch is defined by route; PK covers ADME for any route (S6, S49).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Pharmacokinetics studies genetic variation; pharmacodynamics studies poisoning and overdose — </a:t>
            </a:r>
            <a:r>
              <a:rPr lang="en-US" sz="1600" dirty="0">
                <a:solidFill>
                  <a:srgbClr val="1F1F1F"/>
                </a:solidFill>
              </a:rPr>
              <a:t>Genetic variation = pharmacogenomics; poisoning = clinical pharmacology/toxicology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Pharmacokinetics is what the drug does to the body; pharmacodynamics is what the body does to the drug — </a:t>
            </a:r>
            <a:r>
              <a:rPr lang="en-US" sz="1600" dirty="0">
                <a:solidFill>
                  <a:srgbClr val="1F1F1F"/>
                </a:solidFill>
              </a:rPr>
              <a:t>This reverses the definitions (S6).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727448"/>
          </a:xfrm>
          <a:prstGeom prst="roundRect">
            <a:avLst>
              <a:gd name="adj" fmla="val 232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727448"/>
          </a:xfrm>
          <a:prstGeom prst="roundRect">
            <a:avLst>
              <a:gd name="adj" fmla="val 232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graphicFrame>
        <p:nvGraphicFramePr>
          <p:cNvPr id="3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3342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graphicFrame>
        <p:nvGraphicFramePr>
          <p:cNvPr id="3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14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years after approval, reports reveal a serious reaction occurring in about 1 in 10,000 patients — never seen in the clinical trials. Which best explains why it was missed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Adverse-event reporting systems accept only voluntary reports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Approval came before the drug completed any clinical trial phase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 trials enrolled patients who already had the target condition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 trials are not designed to monitor adverse effects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6: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Rare adverse effects are often first detected in Phase IV because trial populations are too small and too short in duration to catch 1-in-10,000 events (S12 notes).</a:t>
            </a:r>
            <a:r>
              <a:rPr lang="en-US" sz="1100" dirty="0">
                <a:solidFill>
                  <a:srgbClr val="666666"/>
                </a:solidFill>
              </a:rPr>
              <a:t>  S12 (notes); S13; S14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Adverse-event reporting systems accept only voluntary reports — </a:t>
            </a:r>
            <a:r>
              <a:rPr lang="en-US" sz="1600" dirty="0">
                <a:solidFill>
                  <a:srgbClr val="1F1F1F"/>
                </a:solidFill>
              </a:rPr>
              <a:t>Reporting systems are both voluntary and mandatory (S14).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Approval came before the drug completed any clinical trial phase — </a:t>
            </a:r>
            <a:r>
              <a:rPr lang="en-US" sz="1600" dirty="0">
                <a:solidFill>
                  <a:srgbClr val="1F1F1F"/>
                </a:solidFill>
              </a:rPr>
              <a:t>Approved drugs pass through a structured pipeline with clinical trials before FDA review (S12, S56).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 trials enrolled patients who already had the target condition — </a:t>
            </a:r>
            <a:r>
              <a:rPr lang="en-US" sz="1600" dirty="0">
                <a:solidFill>
                  <a:srgbClr val="1F1F1F"/>
                </a:solidFill>
              </a:rPr>
              <a:t>Phase I uses a small group of healthy volunteers (S13).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III trials are not designed to monitor adverse effects — </a:t>
            </a:r>
            <a:r>
              <a:rPr lang="en-US" sz="1600" dirty="0">
                <a:solidFill>
                  <a:srgbClr val="1F1F1F"/>
                </a:solidFill>
              </a:rPr>
              <a:t>Phase III confirms efficacy AND monitors adverse effects at scale (S13).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46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pic>
        <p:nvPicPr>
          <p:cNvPr id="7" name="Figure S23_1.png" descr="/home/user/dpas-pharm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graphicFrame>
        <p:nvGraphicFramePr>
          <p:cNvPr id="4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334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graphicFrame>
        <p:nvGraphicFramePr>
          <p:cNvPr id="5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66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7: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receives a drug that blocks a receptor. Raising the dose of the agonist medication eventually restores the full original maximal response. The blocking drug is most likely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Noncompetitive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Competitive antagonist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competitive antagonist reversibly competes at the same site and is overcome by more agonist — same Emax, curve shifted right (S22, S22 notes).</a:t>
            </a:r>
            <a:r>
              <a:rPr lang="en-US" sz="1100" dirty="0">
                <a:solidFill>
                  <a:srgbClr val="666666"/>
                </a:solidFill>
              </a:rPr>
              <a:t>  S22; S22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Noncompetitive antagonist — </a:t>
            </a:r>
            <a:r>
              <a:rPr lang="en-US" sz="1600" dirty="0">
                <a:solidFill>
                  <a:srgbClr val="1F1F1F"/>
                </a:solidFill>
              </a:rPr>
              <a:t>Noncompetitive antagonists reduce the maximal effect, so full Emax is not restored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Inverse agonist — </a:t>
            </a:r>
            <a:r>
              <a:rPr lang="en-US" sz="1600" dirty="0">
                <a:solidFill>
                  <a:srgbClr val="1F1F1F"/>
                </a:solidFill>
              </a:rPr>
              <a:t>An inverse agonist lowers baseline activity; the scenario describes surmountable blockade (S22, 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antagonist — </a:t>
            </a:r>
            <a:r>
              <a:rPr lang="en-US" sz="1600" dirty="0">
                <a:solidFill>
                  <a:srgbClr val="1F1F1F"/>
                </a:solidFill>
              </a:rPr>
              <a:t>Irreversible antagonists permanently inactivate receptors until new ones are synthesized, lowering Emax (S22, S22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itself gives submaximal activation (S22); it is not described as a blocker overcome by more agonist.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pic>
        <p:nvPicPr>
          <p:cNvPr id="7" name="Figure S31_1.png" descr="/home/user/dpas-pharm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67</a:t>
            </a:r>
            <a:endParaRPr lang="en-US" sz="1000" dirty="0"/>
          </a:p>
        </p:txBody>
      </p:sp>
      <p:pic>
        <p:nvPicPr>
          <p:cNvPr id="7" name="Figure S35_1.png" descr="/home/user/dpas-pharm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pic>
        <p:nvPicPr>
          <p:cNvPr id="7" name="Figure S39_1.png" descr="/home/user/dpas-pharm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362" y="1325880"/>
            <a:ext cx="8174970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graphicFrame>
        <p:nvGraphicFramePr>
          <p:cNvPr id="7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70</a:t>
            </a:r>
            <a:endParaRPr lang="en-US" sz="1000" dirty="0"/>
          </a:p>
        </p:txBody>
      </p:sp>
      <p:graphicFrame>
        <p:nvGraphicFramePr>
          <p:cNvPr id="7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342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11: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13: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14: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drugs relieve the same symptom. Drug A works at 5 mg and Drug B at 50 mg, but at maximal doses Drug B produces a much greater maximal effect. Which statement best guides drug selection?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should be chosen because greater potency means it works better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greater efficacy because it needs a much smaller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potency because its maximal effect is much higher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Both drugs have equal efficacy because both relieve the same symptom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(Emax) clinically matters much more than potency — a highly potent drug with low efficacy may be clinically useless (S34).</a:t>
            </a:r>
            <a:r>
              <a:rPr lang="en-US" sz="1100" dirty="0">
                <a:solidFill>
                  <a:srgbClr val="666666"/>
                </a:solidFill>
              </a:rPr>
              <a:t>  S30; S34; S34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should be chosen because greater potency means it works better — </a:t>
            </a:r>
            <a:r>
              <a:rPr lang="en-US" sz="1600" dirty="0">
                <a:solidFill>
                  <a:srgbClr val="1F1F1F"/>
                </a:solidFill>
              </a:rPr>
              <a:t>Potency alone never tells you whether a drug works better (S34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has greater efficacy because it needs a much smaller dose — </a:t>
            </a:r>
            <a:r>
              <a:rPr lang="en-US" sz="1600" dirty="0">
                <a:solidFill>
                  <a:srgbClr val="1F1F1F"/>
                </a:solidFill>
              </a:rPr>
              <a:t>A smaller dose means greater POTENCY; efficacy is the maximum effect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B has greater potency because its maximal effect is much higher — </a:t>
            </a:r>
            <a:r>
              <a:rPr lang="en-US" sz="1600" dirty="0">
                <a:solidFill>
                  <a:srgbClr val="1F1F1F"/>
                </a:solidFill>
              </a:rPr>
              <a:t>Higher Emax = more efficacious, not more potent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Both drugs have equal efficacy because both relieve the same symptom — </a:t>
            </a:r>
            <a:r>
              <a:rPr lang="en-US" sz="1600" dirty="0">
                <a:solidFill>
                  <a:srgbClr val="1F1F1F"/>
                </a:solidFill>
              </a:rPr>
              <a:t>Drug B reaches a higher maximal effect, so its efficacy is greater (S30).</a:t>
            </a:r>
            <a:endParaRPr lang="en-US" sz="16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85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4887468"/>
          </a:xfrm>
          <a:prstGeom prst="roundRect">
            <a:avLst>
              <a:gd name="adj" fmla="val 224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401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4219956"/>
          </a:xfrm>
          <a:prstGeom prst="roundRect">
            <a:avLst>
              <a:gd name="adj" fmla="val 26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335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pic>
        <p:nvPicPr>
          <p:cNvPr id="7" name="Figure S46_1.png" descr="/home/user/dpas-pharm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92</a:t>
            </a:r>
            <a:endParaRPr lang="en-US" sz="1000" dirty="0"/>
          </a:p>
        </p:txBody>
      </p:sp>
      <p:graphicFrame>
        <p:nvGraphicFramePr>
          <p:cNvPr id="93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652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graphicFrame>
        <p:nvGraphicFramePr>
          <p:cNvPr id="9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95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994660"/>
          </a:xfrm>
          <a:prstGeom prst="roundRect">
            <a:avLst>
              <a:gd name="adj" fmla="val 36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with meningitis receives a highly polar antibiotic. Which statement best describes this drug's ability to reach the CNS?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tight junctions favor polar molecules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never reach the CNS, even when the meninges are inflamed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P-glycoprotein pumps them into the CNS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well because the brain is a poorly perfused tissue</a:t>
            </a:r>
            <a:endParaRPr lang="en-US" sz="18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highly polar antibiotic generally would not cross the BBB well — unless the meninges are inflamed, as in meningitis (S53 notes).</a:t>
            </a:r>
            <a:r>
              <a:rPr lang="en-US" sz="1100" dirty="0">
                <a:solidFill>
                  <a:srgbClr val="666666"/>
                </a:solidFill>
              </a:rPr>
              <a:t>  S53; S53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Polar drugs cross easily because tight junctions favor polar molecules — </a:t>
            </a:r>
            <a:r>
              <a:rPr lang="en-US" sz="1600" dirty="0">
                <a:solidFill>
                  <a:srgbClr val="1F1F1F"/>
                </a:solidFill>
              </a:rPr>
              <a:t>Tight junctions restrict paracellular movement; small lipophilic non-ionized drugs cross more easily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Polar drugs never reach the CNS, even when the meninges are inflamed — </a:t>
            </a:r>
            <a:r>
              <a:rPr lang="en-US" sz="1600" dirty="0">
                <a:solidFill>
                  <a:srgbClr val="1F1F1F"/>
                </a:solidFill>
              </a:rPr>
              <a:t>Inflamed meninges (meningitis) are the stated exception (S53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Polar drugs cross easily because P-glycoprotein pumps them into the CNS — </a:t>
            </a:r>
            <a:r>
              <a:rPr lang="en-US" sz="1600" dirty="0">
                <a:solidFill>
                  <a:srgbClr val="1F1F1F"/>
                </a:solidFill>
              </a:rPr>
              <a:t>Efflux transporters like P-glycoprotein pump some drugs back OUT of the CNS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Polar drugs cross well because the brain is a poorly perfused tissue — </a:t>
            </a:r>
            <a:r>
              <a:rPr lang="en-US" sz="1600" dirty="0">
                <a:solidFill>
                  <a:srgbClr val="1F1F1F"/>
                </a:solidFill>
              </a:rPr>
              <a:t>The brain is highly perfused (S52), and perfusion does not overcome the BBB for polar drugs (S53).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2026-10-22T15:36:56Z</dcterms:created>
  <dcterms:modified xsi:type="dcterms:W3CDTF">2026-10-22T15:36:56Z</dcterms:modified>
</cp:coreProperties>
</file>