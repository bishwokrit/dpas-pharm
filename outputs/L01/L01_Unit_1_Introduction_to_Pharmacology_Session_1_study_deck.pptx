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</p:sldIdLst>
  <p:notesMasterIdLst>
    <p:notesMasterId r:id="rId13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notesMaster" Target="notesMasters/notesMaster1.xml"/><Relationship Id="rId140" Type="http://schemas.openxmlformats.org/officeDocument/2006/relationships/presProps" Target="presProps.xml"/><Relationship Id="rId141" Type="http://schemas.openxmlformats.org/officeDocument/2006/relationships/viewProps" Target="viewProps.xml"/><Relationship Id="rId142" Type="http://schemas.openxmlformats.org/officeDocument/2006/relationships/theme" Target="theme/theme1.xml"/><Relationship Id="rId1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S7; S8-9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S13; S16-17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S14; S14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S12 (notes); S13; S14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p. 17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S23; S24-25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S22; S27-28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S22; S22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p. 25-27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p. 28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p. 32; p. 35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S31; S32-33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S35; S36-37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S39; S40-41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S42-43; SG U1-R6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S38; S38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S30; S34; S34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S46; S47-48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S54-55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S50; S51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S53; S53 (notes)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on the next slide. Source: p. 10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image" Target="../media/image-52-2.png"/><Relationship Id="rId3" Type="http://schemas.openxmlformats.org/officeDocument/2006/relationships/image" Target="../media/image-52-3.png"/><Relationship Id="rId4" Type="http://schemas.openxmlformats.org/officeDocument/2006/relationships/image" Target="../media/image-52-4.png"/><Relationship Id="rId5" Type="http://schemas.openxmlformats.org/officeDocument/2006/relationships/image" Target="../media/image-5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image" Target="../media/image-6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image" Target="../media/image-85-2.png"/><Relationship Id="rId3" Type="http://schemas.openxmlformats.org/officeDocument/2006/relationships/image" Target="../media/image-85-3.png"/><Relationship Id="rId4" Type="http://schemas.openxmlformats.org/officeDocument/2006/relationships/image" Target="../media/image-85-4.png"/><Relationship Id="rId5" Type="http://schemas.openxmlformats.org/officeDocument/2006/relationships/image" Target="../media/image-8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image" Target="../media/image-9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image" Target="../media/image-98-2.png"/><Relationship Id="rId3" Type="http://schemas.openxmlformats.org/officeDocument/2006/relationships/image" Target="../media/image-98-3.png"/><Relationship Id="rId4" Type="http://schemas.openxmlformats.org/officeDocument/2006/relationships/image" Target="../media/image-9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2-1.png"/><Relationship Id="rId2" Type="http://schemas.openxmlformats.org/officeDocument/2006/relationships/image" Target="../media/image-112-2.png"/><Relationship Id="rId3" Type="http://schemas.openxmlformats.org/officeDocument/2006/relationships/image" Target="../media/image-112-3.png"/><Relationship Id="rId4" Type="http://schemas.openxmlformats.org/officeDocument/2006/relationships/image" Target="../media/image-112-4.png"/><Relationship Id="rId5" Type="http://schemas.openxmlformats.org/officeDocument/2006/relationships/image" Target="../media/image-1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6-1.png"/><Relationship Id="rId2" Type="http://schemas.openxmlformats.org/officeDocument/2006/relationships/image" Target="../media/image-126-2.png"/><Relationship Id="rId3" Type="http://schemas.openxmlformats.org/officeDocument/2006/relationships/image" Target="../media/image-126-3.png"/><Relationship Id="rId4" Type="http://schemas.openxmlformats.org/officeDocument/2006/relationships/image" Target="../media/image-1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L01 · Thu, Oct 15, 2026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783080"/>
            <a:ext cx="1109441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Pharmacology — Session 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63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666666"/>
                </a:solidFill>
              </a:rPr>
              <a:t>Pharmacology study deck · organized by topic</a:t>
            </a:r>
            <a:endParaRPr lang="en-US" sz="1800" dirty="0"/>
          </a:p>
        </p:txBody>
      </p:sp>
      <p:sp>
        <p:nvSpPr>
          <p:cNvPr id="5" name="Legend card"/>
          <p:cNvSpPr/>
          <p:nvPr/>
        </p:nvSpPr>
        <p:spPr>
          <a:xfrm>
            <a:off x="548640" y="3840480"/>
            <a:ext cx="11094415" cy="2103120"/>
          </a:xfrm>
          <a:prstGeom prst="roundRect">
            <a:avLst>
              <a:gd name="adj" fmla="val 52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4023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How to read this deck</a:t>
            </a:r>
            <a:endParaRPr lang="en-US" sz="1600" dirty="0"/>
          </a:p>
        </p:txBody>
      </p:sp>
      <p:sp>
        <p:nvSpPr>
          <p:cNvPr id="7" name="Legend"/>
          <p:cNvSpPr txBox="1"/>
          <p:nvPr/>
        </p:nvSpPr>
        <p:spPr>
          <a:xfrm>
            <a:off x="822960" y="4389120"/>
            <a:ext cx="1054577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400" dirty="0">
                <a:solidFill>
                  <a:srgbClr val="1F1F1F"/>
                </a:solidFill>
              </a:rPr>
              <a:t>  = textbook only (not on the lecture slides)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400" dirty="0">
                <a:solidFill>
                  <a:srgbClr val="1F1F1F"/>
                </a:solidFill>
              </a:rPr>
              <a:t>  = course study guide only (not on the lecture slides)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F1F1F"/>
                </a:solidFill>
              </a:rPr>
              <a:t>Bold</a:t>
            </a:r>
            <a:r>
              <a:rPr lang="en-US" sz="1400" dirty="0">
                <a:solidFill>
                  <a:srgbClr val="1F1F1F"/>
                </a:solidFill>
              </a:rPr>
              <a:t> = emphasized on the lecture slides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666666"/>
                </a:solidFill>
              </a:rPr>
              <a:t>S12</a:t>
            </a:r>
            <a:r>
              <a:rPr lang="en-US" sz="1400" dirty="0">
                <a:solidFill>
                  <a:srgbClr val="1F1F1F"/>
                </a:solidFill>
              </a:rPr>
              <a:t> = lecture slide 12   ·   </a:t>
            </a:r>
            <a:r>
              <a:rPr lang="en-US" sz="1400" dirty="0">
                <a:solidFill>
                  <a:srgbClr val="666666"/>
                </a:solidFill>
              </a:rPr>
              <a:t>p. 245</a:t>
            </a:r>
            <a:r>
              <a:rPr lang="en-US" sz="1400" dirty="0">
                <a:solidFill>
                  <a:srgbClr val="1F1F1F"/>
                </a:solidFill>
              </a:rPr>
              <a:t> = textbook page 245   ·   </a:t>
            </a:r>
            <a:r>
              <a:rPr lang="en-US" sz="1400" dirty="0">
                <a:solidFill>
                  <a:srgbClr val="666666"/>
                </a:solidFill>
              </a:rPr>
              <a:t>SG U1-R3</a:t>
            </a:r>
            <a:r>
              <a:rPr lang="en-US" sz="1400" dirty="0">
                <a:solidFill>
                  <a:srgbClr val="1F1F1F"/>
                </a:solidFill>
              </a:rPr>
              <a:t> = study guide item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</a:t>
            </a:r>
            <a:endParaRPr lang="en-US" sz="1000" dirty="0"/>
          </a:p>
        </p:txBody>
      </p:sp>
      <p:sp>
        <p:nvSpPr>
          <p:cNvPr id="6" name="Objective IO1.1"/>
          <p:cNvSpPr/>
          <p:nvPr/>
        </p:nvSpPr>
        <p:spPr>
          <a:xfrm>
            <a:off x="548640" y="1325880"/>
            <a:ext cx="11094415" cy="1018032"/>
          </a:xfrm>
          <a:prstGeom prst="roundRect">
            <a:avLst>
              <a:gd name="adj" fmla="val 8982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Define and describe fundamental pharmacologic concepts, including pharmacokinetics, pharmacodynamics, drug-receptor interactions, dose-response relationships, therapeutic index, half-life, and steady state.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Half-life and steady state are taught in Session 2 (L02) · The Language of Pharmacology, Pharmacodynamics: Targets &amp; Receptors, Dose-Response Relationships</a:t>
            </a:r>
            <a:endParaRPr lang="en-US" sz="1200" dirty="0"/>
          </a:p>
        </p:txBody>
      </p:sp>
      <p:sp>
        <p:nvSpPr>
          <p:cNvPr id="10" name="Objective IO1.2"/>
          <p:cNvSpPr/>
          <p:nvPr/>
        </p:nvSpPr>
        <p:spPr>
          <a:xfrm>
            <a:off x="548640" y="2453640"/>
            <a:ext cx="11094415" cy="786384"/>
          </a:xfrm>
          <a:prstGeom prst="roundRect">
            <a:avLst>
              <a:gd name="adj" fmla="val 11628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45364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45364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Describe the processes of drug absorption, distribution, metabolism, and excretion and factors that influence these processes.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453640"/>
            <a:ext cx="35963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This session: absorption + distribution; metabolism + excretion detail in Session 2 (L02) · Pharmacokinetics: ADME — Absorption &amp; Distribution</a:t>
            </a:r>
            <a:endParaRPr lang="en-US" sz="1200" dirty="0"/>
          </a:p>
        </p:txBody>
      </p:sp>
      <p:sp>
        <p:nvSpPr>
          <p:cNvPr id="14" name="Objective IO1.3"/>
          <p:cNvSpPr/>
          <p:nvPr/>
        </p:nvSpPr>
        <p:spPr>
          <a:xfrm>
            <a:off x="548640" y="3349752"/>
            <a:ext cx="11094415" cy="1018032"/>
          </a:xfrm>
          <a:prstGeom prst="roundRect">
            <a:avLst>
              <a:gd name="adj" fmla="val 8982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349752"/>
            <a:ext cx="7315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3349752"/>
            <a:ext cx="6217920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how patient-specific factors, including age, pregnancy, renal and hepatic function, and pharmacogenetic variation, may affect medication response.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3349752"/>
            <a:ext cx="3596335" cy="1018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Barely covered this session; pharmacogenomics and renal dosing in Session 2 (L02) · Pharmacokinetics: ADME — Absorption &amp; Distribution</a:t>
            </a:r>
            <a:endParaRPr lang="en-US" sz="1200" dirty="0"/>
          </a:p>
        </p:txBody>
      </p:sp>
      <p:sp>
        <p:nvSpPr>
          <p:cNvPr id="18" name="Objective IO1.4"/>
          <p:cNvSpPr/>
          <p:nvPr/>
        </p:nvSpPr>
        <p:spPr>
          <a:xfrm>
            <a:off x="548640" y="4477512"/>
            <a:ext cx="11094415" cy="972312"/>
          </a:xfrm>
          <a:prstGeom prst="roundRect">
            <a:avLst>
              <a:gd name="adj" fmla="val 9404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4477512"/>
            <a:ext cx="731520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IO1.4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477512"/>
            <a:ext cx="6217920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Identify common types and mechanisms of adverse drug reactions, drug-drug interactions, and drug-disease interactions.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4477512"/>
            <a:ext cx="3596335" cy="972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Only ADR definition + adverse-event reporting this session; drug interactions in Session 2 (L02) · The Language of Pharmacology, Drug Development &amp; Regulation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</a:t>
            </a:r>
            <a:endParaRPr lang="en-US" sz="1000" dirty="0"/>
          </a:p>
        </p:txBody>
      </p:sp>
      <p:sp>
        <p:nvSpPr>
          <p:cNvPr id="6" name="Objective IO1.5"/>
          <p:cNvSpPr/>
          <p:nvPr/>
        </p:nvSpPr>
        <p:spPr>
          <a:xfrm>
            <a:off x="548640" y="1325880"/>
            <a:ext cx="11094415" cy="786384"/>
          </a:xfrm>
          <a:prstGeom prst="roundRect">
            <a:avLst>
              <a:gd name="adj" fmla="val 11628"/>
            </a:avLst>
          </a:prstGeom>
          <a:solidFill>
            <a:srgbClr val="FCE9DA"/>
          </a:solidFill>
          <a:ln w="12700">
            <a:solidFill>
              <a:srgbClr val="FCE9D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325880"/>
            <a:ext cx="7315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IO1.5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325880"/>
            <a:ext cx="6217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Interpret common components of medication orders and prescriptions, including drug name, dose, route, frequency, and duration.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863840" y="1325880"/>
            <a:ext cx="3596335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5A11"/>
                </a:solidFill>
              </a:rPr>
              <a:t>⚠ Thin coverage
</a:t>
            </a:r>
            <a:r>
              <a:rPr lang="en-US" sz="1200" dirty="0">
                <a:solidFill>
                  <a:srgbClr val="666666"/>
                </a:solidFill>
              </a:rPr>
              <a:t>Only drug names (generic vs brand) and routes this session · The Language of Pharmacology, Pharmacokinetics: ADME — Absorption &amp; Distribution</a:t>
            </a:r>
            <a:endParaRPr lang="en-US" sz="1200" dirty="0"/>
          </a:p>
        </p:txBody>
      </p:sp>
      <p:sp>
        <p:nvSpPr>
          <p:cNvPr id="10" name="Objective SO1"/>
          <p:cNvSpPr/>
          <p:nvPr/>
        </p:nvSpPr>
        <p:spPr>
          <a:xfrm>
            <a:off x="548640" y="2221992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2221992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221992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Define pharmacology, pharmacodynamics, and pharmacokinetics.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863840" y="2221992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14" name="Objective SO2"/>
          <p:cNvSpPr/>
          <p:nvPr/>
        </p:nvSpPr>
        <p:spPr>
          <a:xfrm>
            <a:off x="548640" y="2898648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2898648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463040" y="2898648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Describe the major stages of drug development and FDA approval.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63840" y="2898648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18" name="Objective SO3"/>
          <p:cNvSpPr/>
          <p:nvPr/>
        </p:nvSpPr>
        <p:spPr>
          <a:xfrm>
            <a:off x="548640" y="3575304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31520" y="3575304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3575304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how drugs interact with receptors to produce an effect.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863840" y="3575304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22" name="Objective SO4"/>
          <p:cNvSpPr/>
          <p:nvPr/>
        </p:nvSpPr>
        <p:spPr>
          <a:xfrm>
            <a:off x="548640" y="4251960"/>
            <a:ext cx="11094415" cy="566928"/>
          </a:xfrm>
          <a:prstGeom prst="roundRect">
            <a:avLst>
              <a:gd name="adj" fmla="val 1612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31520" y="4251960"/>
            <a:ext cx="731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SO4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463040" y="4251960"/>
            <a:ext cx="6217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Interpret a dose-response curve, including potency and efficacy.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863840" y="425196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26" name="Objective SO5"/>
          <p:cNvSpPr/>
          <p:nvPr/>
        </p:nvSpPr>
        <p:spPr>
          <a:xfrm>
            <a:off x="548640" y="4928616"/>
            <a:ext cx="11094415" cy="770128"/>
          </a:xfrm>
          <a:prstGeom prst="roundRect">
            <a:avLst>
              <a:gd name="adj" fmla="val 1187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4928616"/>
            <a:ext cx="7315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472C4"/>
                </a:solidFill>
              </a:rPr>
              <a:t>SO5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1463040" y="4928616"/>
            <a:ext cx="6217920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Explain absorption, distribution, metabolism, and excretion (ADME), including bioavailability and the first-pass effect.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863840" y="4928616"/>
            <a:ext cx="3596335" cy="770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Pharmacokinetics: ADME — Absorption &amp; Distribution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lecture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</a:t>
            </a:r>
            <a:endParaRPr lang="en-US" sz="1000" dirty="0"/>
          </a:p>
        </p:txBody>
      </p:sp>
      <p:sp>
        <p:nvSpPr>
          <p:cNvPr id="6" name="Scope, readings &amp; sources card"/>
          <p:cNvSpPr/>
          <p:nvPr/>
        </p:nvSpPr>
        <p:spPr>
          <a:xfrm>
            <a:off x="548640" y="1325880"/>
            <a:ext cx="11094415" cy="3054096"/>
          </a:xfrm>
          <a:prstGeom prst="roundRect">
            <a:avLst>
              <a:gd name="adj" fmla="val 35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cope, readings &amp; sourc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8" name="Scope, readings &amp; 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9" name="Scope, readings &amp;amp; sourc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Scope, readings &amp; sources</a:t>
            </a:r>
            <a:endParaRPr lang="en-US" sz="1800" dirty="0"/>
          </a:p>
        </p:txBody>
      </p:sp>
      <p:sp>
        <p:nvSpPr>
          <p:cNvPr id="10" name="Scope, readings &amp; sources body"/>
          <p:cNvSpPr txBox="1"/>
          <p:nvPr/>
        </p:nvSpPr>
        <p:spPr>
          <a:xfrm>
            <a:off x="777240" y="2075688"/>
            <a:ext cx="10637215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Session 1 of 2 on Introduction to Pharmacology (Thursday, October 15): language, drug development, pharmacodynamics, dose-response, and ADME through distribution.</a:t>
            </a:r>
            <a:r>
              <a:rPr lang="en-US" sz="1300" dirty="0">
                <a:solidFill>
                  <a:srgbClr val="666666"/>
                </a:solidFill>
              </a:rPr>
              <a:t>  S1; S2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Session 2 (Thursday, October 22) continues with metabolism, excretion, PK calculations (half-life, steady state, clearance), pharmacogenomics, and the integrated clinical decision-making framework.</a:t>
            </a:r>
            <a:r>
              <a:rPr lang="en-US" sz="1300" dirty="0">
                <a:solidFill>
                  <a:srgbClr val="666666"/>
                </a:solidFill>
              </a:rPr>
              <a:t>  S2;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is only half-finished after Session 1 — the lecture stopped after Distribution; Metabolism and Excretion pick up first in Session 2.</a:t>
            </a:r>
            <a:r>
              <a:rPr lang="en-US" sz="1300" dirty="0">
                <a:solidFill>
                  <a:srgbClr val="666666"/>
                </a:solidFill>
              </a:rPr>
              <a:t>  S56 (notes)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START HERE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this lecture (cont.)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</a:t>
            </a:r>
            <a:endParaRPr lang="en-US" sz="1000" dirty="0"/>
          </a:p>
        </p:txBody>
      </p:sp>
      <p:sp>
        <p:nvSpPr>
          <p:cNvPr id="6" name="Scope, readings &amp; sources card"/>
          <p:cNvSpPr/>
          <p:nvPr/>
        </p:nvSpPr>
        <p:spPr>
          <a:xfrm>
            <a:off x="548640" y="1325880"/>
            <a:ext cx="11094415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cope, readings &amp; sourc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8" name="Scope, readings &amp; sourc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9" name="Scope, readings &amp;amp; sourc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Scope, readings &amp; sources</a:t>
            </a:r>
            <a:endParaRPr lang="en-US" sz="1800" dirty="0"/>
          </a:p>
        </p:txBody>
      </p:sp>
      <p:sp>
        <p:nvSpPr>
          <p:cNvPr id="10" name="Scope, readings &amp; sources body"/>
          <p:cNvSpPr txBox="1"/>
          <p:nvPr/>
        </p:nvSpPr>
        <p:spPr>
          <a:xfrm>
            <a:off x="777240" y="2075688"/>
            <a:ext cx="10637215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Required text: Katzung's Basic and Clinical Pharmacology, 16th Edition (Todd W. Vanderah · 2025 · McGraw-Hill Education · ISBN 1260463303 eBook) — Unit 1 reading: Chapters 1, 2, 3, 4, and 5. AccessMedicine: accessmedicine.mhmedical.com/book.aspx?bookid=3382</a:t>
            </a:r>
            <a:r>
              <a:rPr lang="en-US" sz="1300" dirty="0">
                <a:solidFill>
                  <a:srgbClr val="666666"/>
                </a:solidFill>
              </a:rPr>
              <a:t>  S3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Recommended text: Pharmacotherapy Principles and Practice (Chisholm-Burns, Schwinghammer, Malone, Kolesar, Lee · 2022 · McGraw-Hill Education · Print ISBN 9781260460278 · eText ISBN 9781260460285) — use as supplemental support alongside Katzung's Chapters 1–5, not a substitute.</a:t>
            </a:r>
            <a:r>
              <a:rPr lang="en-US" sz="1300" dirty="0">
                <a:solidFill>
                  <a:srgbClr val="666666"/>
                </a:solidFill>
              </a:rPr>
              <a:t>  S3; S3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Original figures in this deck:</a:t>
            </a:r>
            <a:r>
              <a:rPr lang="en-US" sz="1800" dirty="0">
                <a:solidFill>
                  <a:srgbClr val="1F1F1F"/>
                </a:solidFill>
              </a:rPr>
              <a:t> the lecture's Figures 1–5 (agonist &amp; antagonist effects; sigmoidal dose-response curve; potency vs. efficacy; wide vs. narrow therapeutic index; ADME compartment model) are original diagrams generated by the course director using the AI tool Claude (Anthropic, 2026, Claude Sonnet 5) to illustrate standard, non-copyrighted pharmacologic concepts — not reproduced from Katzung or any other copyrighted source. </a:t>
            </a:r>
            <a:r>
              <a:rPr lang="en-US" sz="1800" b="1" dirty="0">
                <a:solidFill>
                  <a:srgbClr val="1F1F1F"/>
                </a:solidFill>
              </a:rPr>
              <a:t>Reference:</a:t>
            </a:r>
            <a:r>
              <a:rPr lang="en-US" sz="1800" dirty="0">
                <a:solidFill>
                  <a:srgbClr val="1F1F1F"/>
                </a:solidFill>
              </a:rPr>
              <a:t> Anthropic. (2026). Claude (Sonnet 5) [Large language model].</a:t>
            </a:r>
            <a:r>
              <a:rPr lang="en-US" sz="1300" dirty="0">
                <a:solidFill>
                  <a:srgbClr val="666666"/>
                </a:solidFill>
              </a:rPr>
              <a:t>  S57; S57 (notes)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ROADMAP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110944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Topics in this lecture</a:t>
            </a:r>
            <a:endParaRPr lang="en-US" sz="3000" dirty="0"/>
          </a:p>
        </p:txBody>
      </p:sp>
      <p:sp>
        <p:nvSpPr>
          <p:cNvPr id="4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5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55448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371600" y="132588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The Language of Pharmacology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SO1, IO1.1, IO1.4, IO1.5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260604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3152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37744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Drug Development &amp; Regulation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SO2, IO1.4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48640" y="342900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65760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342900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Pharmacodynamics: Targets &amp; Receptors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SO3, IO1.1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278728" y="132588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61608" y="155448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6160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101688" y="132588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Dose-Response Relationships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SO4, IO1.1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6278728" y="2377440"/>
            <a:ext cx="5364328" cy="914400"/>
          </a:xfrm>
          <a:prstGeom prst="roundRect">
            <a:avLst>
              <a:gd name="adj" fmla="val 100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61608" y="2606040"/>
            <a:ext cx="457200" cy="457200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61608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101688" y="2377440"/>
            <a:ext cx="435848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1F1F"/>
                </a:solidFill>
              </a:rPr>
              <a:t>Pharmacokinetics: ADME — Absorption &amp; Distribution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</a:rPr>
              <a:t>Objectives: SO5, IO1.2, IO1.3, IO1.5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1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Language of Pharmacology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SO1 · IO1.1 · IO1.4 · IO1.5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941064"/>
          </a:xfrm>
          <a:prstGeom prst="roundRect">
            <a:avLst>
              <a:gd name="adj" fmla="val 27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Pharmacology:</a:t>
            </a:r>
            <a:r>
              <a:rPr lang="en-US" sz="1800" dirty="0">
                <a:solidFill>
                  <a:srgbClr val="1F1F1F"/>
                </a:solidFill>
              </a:rPr>
              <a:t> the scientific study of how drugs interact with living systems — from the molecular level to the whole patient.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Drug (medication):</a:t>
            </a:r>
            <a:r>
              <a:rPr lang="en-US" sz="1800" dirty="0">
                <a:solidFill>
                  <a:srgbClr val="1F1F1F"/>
                </a:solidFill>
              </a:rPr>
              <a:t> any chemical substance used to diagnose, treat, cure, or prevent disease, or to alter a physiologic process.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Pharmacologic effect:</a:t>
            </a:r>
            <a:r>
              <a:rPr lang="en-US" sz="1800" dirty="0">
                <a:solidFill>
                  <a:srgbClr val="1F1F1F"/>
                </a:solidFill>
              </a:rPr>
              <a:t> a measurable biological change a drug produces (e.g., lower blood pressure).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Therapeutic effect:</a:t>
            </a:r>
            <a:r>
              <a:rPr lang="en-US" sz="1800" dirty="0">
                <a:solidFill>
                  <a:srgbClr val="1F1F1F"/>
                </a:solidFill>
              </a:rPr>
              <a:t> the intended, beneficial pharmacologic effect for a given condition.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Adverse drug reaction (ADR):</a:t>
            </a:r>
            <a:r>
              <a:rPr lang="en-US" sz="1800" dirty="0">
                <a:solidFill>
                  <a:srgbClr val="1F1F1F"/>
                </a:solidFill>
              </a:rPr>
              <a:t> an unintended and harmful response occurring at normal therapeutic doses.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Toxicity:</a:t>
            </a:r>
            <a:r>
              <a:rPr lang="en-US" sz="1800" dirty="0">
                <a:solidFill>
                  <a:srgbClr val="1F1F1F"/>
                </a:solidFill>
              </a:rPr>
              <a:t> harmful effects that occur as the dose or exposure exceeds the therapeutic range.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4498848"/>
          </a:xfrm>
          <a:prstGeom prst="roundRect">
            <a:avLst>
              <a:gd name="adj" fmla="val 243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Chemical name:</a:t>
            </a:r>
            <a:r>
              <a:rPr lang="en-US" sz="1800" dirty="0">
                <a:solidFill>
                  <a:srgbClr val="1F1F1F"/>
                </a:solidFill>
              </a:rPr>
              <a:t> describes the exact molecular structure (rarely used in clinical practice).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Generic name:</a:t>
            </a:r>
            <a:r>
              <a:rPr lang="en-US" sz="1800" dirty="0">
                <a:solidFill>
                  <a:srgbClr val="1F1F1F"/>
                </a:solidFill>
              </a:rPr>
              <a:t> the official, non-proprietary name assigned to the active drug — one generic name per drug, regardless of manufacturer.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Brand (trade) name:</a:t>
            </a:r>
            <a:r>
              <a:rPr lang="en-US" sz="1800" dirty="0">
                <a:solidFill>
                  <a:srgbClr val="1F1F1F"/>
                </a:solidFill>
              </a:rPr>
              <a:t> the manufacturer's marketed name; the same generic drug may have several brand names, and brand names change between countries.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Prodrug:</a:t>
            </a:r>
            <a:r>
              <a:rPr lang="en-US" sz="1800" dirty="0">
                <a:solidFill>
                  <a:srgbClr val="1F1F1F"/>
                </a:solidFill>
              </a:rPr>
              <a:t> an inactive precursor converted to the active drug in the body (usually by metabolism).</a:t>
            </a:r>
            <a:r>
              <a:rPr lang="en-US" sz="1300" dirty="0">
                <a:solidFill>
                  <a:srgbClr val="666666"/>
                </a:solidFill>
              </a:rPr>
              <a:t>  p. 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Poisons</a:t>
            </a:r>
            <a:r>
              <a:rPr lang="en-US" sz="1800" dirty="0">
                <a:solidFill>
                  <a:srgbClr val="1F1F1F"/>
                </a:solidFill>
              </a:rPr>
              <a:t> are drugs with almost exclusively harmful effects — but "the dose makes the poison" (Paracelsus): any substance can harm at the wrong dose.</a:t>
            </a:r>
            <a:r>
              <a:rPr lang="en-US" sz="1300" dirty="0">
                <a:solidFill>
                  <a:srgbClr val="666666"/>
                </a:solidFill>
              </a:rPr>
              <a:t>  p. 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Xenobiotic:</a:t>
            </a:r>
            <a:r>
              <a:rPr lang="en-US" sz="1800" dirty="0">
                <a:solidFill>
                  <a:srgbClr val="1F1F1F"/>
                </a:solidFill>
              </a:rPr>
              <a:t> a chemical the body does not make itself. </a:t>
            </a:r>
            <a:r>
              <a:rPr lang="en-US" sz="1800" b="1" dirty="0">
                <a:solidFill>
                  <a:srgbClr val="1F1F1F"/>
                </a:solidFill>
              </a:rPr>
              <a:t>Toxins</a:t>
            </a:r>
            <a:r>
              <a:rPr lang="en-US" sz="1800" dirty="0">
                <a:solidFill>
                  <a:srgbClr val="1F1F1F"/>
                </a:solidFill>
              </a:rPr>
              <a:t> are poisons of biologic origin (plants, animals), unlike inorganic poisons such as lead and arsenic.</a:t>
            </a:r>
            <a:r>
              <a:rPr lang="en-US" sz="1300" dirty="0">
                <a:solidFill>
                  <a:srgbClr val="666666"/>
                </a:solidFill>
              </a:rPr>
              <a:t>  p. 3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3941064"/>
          </a:xfrm>
          <a:prstGeom prst="roundRect">
            <a:avLst>
              <a:gd name="adj" fmla="val 27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Pharmacokinetics = what the body does to the drug — ADME.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Pharmacodynamics = what the drug does to the body — receptors &amp; effect.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Pharmacogenomics = how genetic variation shapes individual drug response.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Clinical Pharmacology / Toxicology = applying PK/PD to real patients, and the study of poisoning.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This map covers the whole lecture: PK and PD are the two biggest buckets, and nearly everything else (toxicology, pharmacogenomics, therapeutics) sits on top of them.</a:t>
            </a:r>
            <a:r>
              <a:rPr lang="en-US" sz="1300" dirty="0">
                <a:solidFill>
                  <a:srgbClr val="666666"/>
                </a:solidFill>
              </a:rPr>
              <a:t>  S6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The physical nature of drugs:</a:t>
            </a:r>
            <a:r>
              <a:rPr lang="en-US" sz="1800" dirty="0">
                <a:solidFill>
                  <a:srgbClr val="1F1F1F"/>
                </a:solidFill>
              </a:rPr>
              <a:t> to reach and bind its receptor a drug needs the right size, charge, shape and atomic makeup.</a:t>
            </a:r>
            <a:r>
              <a:rPr lang="en-US" sz="1300" dirty="0">
                <a:solidFill>
                  <a:srgbClr val="666666"/>
                </a:solidFill>
              </a:rPr>
              <a:t>  p. 3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4389120"/>
          </a:xfrm>
          <a:prstGeom prst="roundRect">
            <a:avLst>
              <a:gd name="adj" fmla="val 25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Most drugs have a molecular weight between about 100 and 1000: below ~100 a molecule is too simple to fit only one receptor; above ~1000 it cannot diffuse readily between body compartments.</a:t>
            </a:r>
            <a:r>
              <a:rPr lang="en-US" sz="1300" dirty="0">
                <a:solidFill>
                  <a:srgbClr val="666666"/>
                </a:solidFill>
              </a:rPr>
              <a:t>  p. 4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Very large protein drugs must be given straight into the compartment where they act, e.g., alteplase (MW 59,050) by IV or intra-arterial infusion.</a:t>
            </a:r>
            <a:r>
              <a:rPr lang="en-US" sz="1300" dirty="0">
                <a:solidFill>
                  <a:srgbClr val="666666"/>
                </a:solidFill>
              </a:rPr>
              <a:t>  p. 4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Drugs bind receptors by three kinds of bonds: </a:t>
            </a:r>
            <a:r>
              <a:rPr lang="en-US" sz="1800" b="1" dirty="0">
                <a:solidFill>
                  <a:srgbClr val="1F1F1F"/>
                </a:solidFill>
              </a:rPr>
              <a:t>covalent</a:t>
            </a:r>
            <a:r>
              <a:rPr lang="en-US" sz="1800" dirty="0">
                <a:solidFill>
                  <a:srgbClr val="1F1F1F"/>
                </a:solidFill>
              </a:rPr>
              <a:t> (very strong, often irreversible), </a:t>
            </a:r>
            <a:r>
              <a:rPr lang="en-US" sz="1800" b="1" dirty="0">
                <a:solidFill>
                  <a:srgbClr val="1F1F1F"/>
                </a:solidFill>
              </a:rPr>
              <a:t>electrostatic</a:t>
            </a:r>
            <a:r>
              <a:rPr lang="en-US" sz="1800" dirty="0">
                <a:solidFill>
                  <a:srgbClr val="1F1F1F"/>
                </a:solidFill>
              </a:rPr>
              <a:t> (the most common: ionic, hydrogen, van der Waals) and </a:t>
            </a:r>
            <a:r>
              <a:rPr lang="en-US" sz="1800" b="1" dirty="0">
                <a:solidFill>
                  <a:srgbClr val="1F1F1F"/>
                </a:solidFill>
              </a:rPr>
              <a:t>hydrophobic</a:t>
            </a:r>
            <a:r>
              <a:rPr lang="en-US" sz="1800" dirty="0">
                <a:solidFill>
                  <a:srgbClr val="1F1F1F"/>
                </a:solidFill>
              </a:rPr>
              <a:t> (weak; lipid-soluble drugs).</a:t>
            </a:r>
            <a:r>
              <a:rPr lang="en-US" sz="1300" dirty="0">
                <a:solidFill>
                  <a:srgbClr val="666666"/>
                </a:solidFill>
              </a:rPr>
              <a:t>  p. 4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Chirality:</a:t>
            </a:r>
            <a:r>
              <a:rPr lang="en-US" sz="1800" dirty="0">
                <a:solidFill>
                  <a:srgbClr val="1F1F1F"/>
                </a:solidFill>
              </a:rPr>
              <a:t> more than half of useful drugs exist as mirror-image enantiomers; one is usually much more potent, and enzymes may metabolize the two at different rates.</a:t>
            </a:r>
            <a:r>
              <a:rPr lang="en-US" sz="1300" dirty="0">
                <a:solidFill>
                  <a:srgbClr val="666666"/>
                </a:solidFill>
              </a:rPr>
              <a:t>  p. 4; p. 5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Rational drug design</a:t>
            </a:r>
            <a:r>
              <a:rPr lang="en-US" sz="1800" dirty="0">
                <a:solidFill>
                  <a:srgbClr val="1F1F1F"/>
                </a:solidFill>
              </a:rPr>
              <a:t> predicts a drug’s structure from the 3-D structure of its receptor; most older drugs came from random screening or from modifying known drugs.</a:t>
            </a:r>
            <a:r>
              <a:rPr lang="en-US" sz="1300" dirty="0">
                <a:solidFill>
                  <a:srgbClr val="666666"/>
                </a:solidFill>
              </a:rPr>
              <a:t>  p. 5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12</a:t>
            </a:r>
            <a:endParaRPr lang="en-US" sz="1000" dirty="0"/>
          </a:p>
        </p:txBody>
      </p:sp>
      <p:sp>
        <p:nvSpPr>
          <p:cNvPr id="7" name="Clinical relevance (1/2)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(1/2)</a:t>
            </a:r>
            <a:endParaRPr lang="en-US" sz="1800" dirty="0"/>
          </a:p>
        </p:txBody>
      </p:sp>
      <p:sp>
        <p:nvSpPr>
          <p:cNvPr id="11" name="Clinical relevance (1/2)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PA students should learn and prescribe by generic name — it is unambiguous, international, and avoids confusing a patient's multiple brand-name products for different drugs.</a:t>
            </a:r>
            <a:r>
              <a:rPr lang="en-US" sz="1300" dirty="0">
                <a:solidFill>
                  <a:srgbClr val="666666"/>
                </a:solidFill>
              </a:rPr>
              <a:t>  S7;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Different brand-name products (Tylenol, many combination cold/flu products) can share the same active generic ingredient.</a:t>
            </a:r>
            <a:r>
              <a:rPr lang="en-US" sz="1300" dirty="0">
                <a:solidFill>
                  <a:srgbClr val="666666"/>
                </a:solidFill>
              </a:rPr>
              <a:t>  S9;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Prescribing and counseling by generic name avoids hiding duplicate therapy — the reason PAs default to generic names.</a:t>
            </a:r>
            <a:r>
              <a:rPr lang="en-US" sz="1300" dirty="0">
                <a:solidFill>
                  <a:srgbClr val="666666"/>
                </a:solidFill>
              </a:rPr>
              <a:t>  S9; SG U1-R2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If a patient says they take "Tylenol" and separately "acetaminophen," check for accidental double-dosing — this previews the acetaminophen toxicity discussion.</a:t>
            </a:r>
            <a:r>
              <a:rPr lang="en-US" sz="1300" dirty="0">
                <a:solidFill>
                  <a:srgbClr val="666666"/>
                </a:solidFill>
              </a:rPr>
              <a:t>  S7 (notes)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13</a:t>
            </a:r>
            <a:endParaRPr lang="en-US" sz="1000" dirty="0"/>
          </a:p>
        </p:txBody>
      </p:sp>
      <p:sp>
        <p:nvSpPr>
          <p:cNvPr id="7" name="Clinical relevance (2/2) card"/>
          <p:cNvSpPr/>
          <p:nvPr/>
        </p:nvSpPr>
        <p:spPr>
          <a:xfrm>
            <a:off x="548640" y="1325880"/>
            <a:ext cx="11094415" cy="3163824"/>
          </a:xfrm>
          <a:prstGeom prst="roundRect">
            <a:avLst>
              <a:gd name="adj" fmla="val 346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(2/2)</a:t>
            </a:r>
            <a:endParaRPr lang="en-US" sz="1800" dirty="0"/>
          </a:p>
        </p:txBody>
      </p:sp>
      <p:sp>
        <p:nvSpPr>
          <p:cNvPr id="11" name="Clinical relevance (2/2) body"/>
          <p:cNvSpPr txBox="1"/>
          <p:nvPr/>
        </p:nvSpPr>
        <p:spPr>
          <a:xfrm>
            <a:off x="777240" y="2075688"/>
            <a:ext cx="10637215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Precise vocabulary (generic names, therapeutic vs. adverse effects) protects patients.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More than half of prescriptions in the USA are for generic drugs.</a:t>
            </a:r>
            <a:r>
              <a:rPr lang="en-US" sz="1300" dirty="0">
                <a:solidFill>
                  <a:srgbClr val="666666"/>
                </a:solidFill>
              </a:rPr>
              <a:t>  p. 18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Weak-bonding drugs are usually </a:t>
            </a:r>
            <a:r>
              <a:rPr lang="en-US" sz="1800" b="1" dirty="0">
                <a:solidFill>
                  <a:srgbClr val="1F1F1F"/>
                </a:solidFill>
              </a:rPr>
              <a:t>more selective</a:t>
            </a:r>
            <a:r>
              <a:rPr lang="en-US" sz="1800" dirty="0">
                <a:solidFill>
                  <a:srgbClr val="1F1F1F"/>
                </a:solidFill>
              </a:rPr>
              <a:t> than covalent ones because weak bonds need a precise fit. Aspirin’s covalent bond to platelet cyclooxygenase lasts days, until new platelets are made.</a:t>
            </a:r>
            <a:r>
              <a:rPr lang="en-US" sz="1300" dirty="0">
                <a:solidFill>
                  <a:srgbClr val="666666"/>
                </a:solidFill>
              </a:rPr>
              <a:t>  p. 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Fewer than half of chiral drugs are sold as the pure active isomer, so most patients receive doses in which 50% is less active or inactive.</a:t>
            </a:r>
            <a:r>
              <a:rPr lang="en-US" sz="1300" dirty="0">
                <a:solidFill>
                  <a:srgbClr val="666666"/>
                </a:solidFill>
              </a:rPr>
              <a:t>  p. 5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14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Acetaminophen (generic) is sold as Tylenol and under many store brands.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448556"/>
          </a:xfrm>
          <a:prstGeom prst="roundRect">
            <a:avLst>
              <a:gd name="adj" fmla="val 246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579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"Therapeutic effect" and "pharmacologic effect" are not synonyms — a drug can have pharmacologic effects that are not therapeutic (that is often exactly what an adverse effect is).</a:t>
            </a:r>
            <a:r>
              <a:rPr lang="en-US" sz="1300" dirty="0">
                <a:solidFill>
                  <a:srgbClr val="666666"/>
                </a:solidFill>
              </a:rPr>
              <a:t>  S5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vs. toxicity: an ADR happens at normal therapeutic doses; toxicity happens when dose or exposure exceeds the therapeutic range.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Generic names do NOT vary by manufacturer (one per drug); brand names DO vary — and change between countries.</a:t>
            </a:r>
            <a:r>
              <a:rPr lang="en-US" sz="1300" dirty="0">
                <a:solidFill>
                  <a:srgbClr val="666666"/>
                </a:solidFill>
              </a:rPr>
              <a:t>  S7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Chemical vs. generic vs. brand name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15</a:t>
            </a:r>
            <a:endParaRPr lang="en-US" sz="1000" dirty="0"/>
          </a:p>
        </p:txBody>
      </p:sp>
      <p:graphicFrame>
        <p:nvGraphicFramePr>
          <p:cNvPr id="16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Name type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is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many per drug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 / clinical use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Chemical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Exact molecular structure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Rarely used in clinical practice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Generic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Official, non-proprietary name of the active drug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One — regardless of manufacturer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Learn and prescribe by it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— unambiguous, international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Brand (trade)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Manufacturer's marketed name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Several possible; change between countries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Can hide a shared generic ingredient (e.g., Tylenol = acetaminophen)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71043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S7; S9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Pharmacologic effect vs. therapeutic effect vs. ADR vs. toxicity</a:t>
            </a:r>
            <a:endParaRPr lang="en-US" sz="21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16</a:t>
            </a:r>
            <a:endParaRPr lang="en-US" sz="1000" dirty="0"/>
          </a:p>
        </p:txBody>
      </p:sp>
      <p:graphicFrame>
        <p:nvGraphicFramePr>
          <p:cNvPr id="17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Term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Intended?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Harmful?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Dose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Pharmacologic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necessarily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necessarily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Any measurable biological change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Therapeutic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 — intended, beneficial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For a given condition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Adverse drug reaction (ADR)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 — unintended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Normal therapeutic doses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Toxicity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Dose or exposure exceeds the therapeutic range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08635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S5; S5 (notes)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17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prescribe by generic name? One drug has ONE generic name but can hide under SEVERAL brand names — so brand-name products can conceal duplicate therapy and cause double-dosing.</a:t>
            </a:r>
            <a:r>
              <a:rPr lang="en-US" sz="1300" dirty="0">
                <a:solidFill>
                  <a:srgbClr val="666666"/>
                </a:solidFill>
              </a:rPr>
              <a:t>  S7; S9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6278728" y="1325880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6507328" y="2075688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</a:t>
            </a:r>
            <a:r>
              <a:rPr lang="en-US" sz="1800" b="1" dirty="0">
                <a:solidFill>
                  <a:srgbClr val="1F1F1F"/>
                </a:solidFill>
              </a:rPr>
              <a:t>K</a:t>
            </a:r>
            <a:r>
              <a:rPr lang="en-US" sz="1800" dirty="0">
                <a:solidFill>
                  <a:srgbClr val="1F1F1F"/>
                </a:solidFill>
              </a:rPr>
              <a:t>inetics = the body </a:t>
            </a:r>
            <a:r>
              <a:rPr lang="en-US" sz="1800" b="1" dirty="0">
                <a:solidFill>
                  <a:srgbClr val="1F1F1F"/>
                </a:solidFill>
              </a:rPr>
              <a:t>K</a:t>
            </a:r>
            <a:r>
              <a:rPr lang="en-US" sz="1800" dirty="0">
                <a:solidFill>
                  <a:srgbClr val="1F1F1F"/>
                </a:solidFill>
              </a:rPr>
              <a:t>eeps the drug moving (ADME). Pharmaco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ynamics = what the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rug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oes to the body.</a:t>
            </a:r>
            <a:r>
              <a:rPr lang="en-US" sz="1300" dirty="0">
                <a:solidFill>
                  <a:srgbClr val="666666"/>
                </a:solidFill>
              </a:rPr>
              <a:t>  S6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552444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3735324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3835908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3735324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302252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= </a:t>
            </a:r>
            <a:r>
              <a:rPr lang="en-US" sz="1800" b="1" dirty="0">
                <a:solidFill>
                  <a:srgbClr val="1F1F1F"/>
                </a:solidFill>
              </a:rPr>
              <a:t>A</a:t>
            </a:r>
            <a:r>
              <a:rPr lang="en-US" sz="1800" dirty="0">
                <a:solidFill>
                  <a:srgbClr val="1F1F1F"/>
                </a:solidFill>
              </a:rPr>
              <a:t>t normal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oses, </a:t>
            </a:r>
            <a:r>
              <a:rPr lang="en-US" sz="1800" b="1" dirty="0">
                <a:solidFill>
                  <a:srgbClr val="1F1F1F"/>
                </a:solidFill>
              </a:rPr>
              <a:t>R</a:t>
            </a:r>
            <a:r>
              <a:rPr lang="en-US" sz="1800" dirty="0">
                <a:solidFill>
                  <a:srgbClr val="1F1F1F"/>
                </a:solidFill>
              </a:rPr>
              <a:t>eaction is harmful. Toxicity = </a:t>
            </a:r>
            <a:r>
              <a:rPr lang="en-US" sz="1800" b="1" dirty="0">
                <a:solidFill>
                  <a:srgbClr val="1F1F1F"/>
                </a:solidFill>
              </a:rPr>
              <a:t>T</a:t>
            </a:r>
            <a:r>
              <a:rPr lang="en-US" sz="1800" dirty="0">
                <a:solidFill>
                  <a:srgbClr val="1F1F1F"/>
                </a:solidFill>
              </a:rPr>
              <a:t>oo much (exceeds the therapeutic range).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THE LANGUAGE OF PHARMACOLOGY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18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442716"/>
          </a:xfrm>
          <a:prstGeom prst="roundRect">
            <a:avLst>
              <a:gd name="adj" fmla="val 31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57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PK = what the body does to the drug (ADME); PD = what the drug does to the body (receptors &amp; effect).</a:t>
            </a:r>
            <a:r>
              <a:rPr lang="en-US" sz="1300" dirty="0">
                <a:solidFill>
                  <a:srgbClr val="666666"/>
                </a:solidFill>
              </a:rPr>
              <a:t>  S6; SG U1-R1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ADR = unintended, harmful, at </a:t>
            </a:r>
            <a:r>
              <a:rPr lang="en-US" sz="1800" b="1" dirty="0">
                <a:solidFill>
                  <a:srgbClr val="1F1F1F"/>
                </a:solidFill>
              </a:rPr>
              <a:t>normal therapeutic doses</a:t>
            </a:r>
            <a:r>
              <a:rPr lang="en-US" sz="1800" dirty="0">
                <a:solidFill>
                  <a:srgbClr val="1F1F1F"/>
                </a:solidFill>
              </a:rPr>
              <a:t>; toxicity = dose/exposure </a:t>
            </a:r>
            <a:r>
              <a:rPr lang="en-US" sz="1800" b="1" dirty="0">
                <a:solidFill>
                  <a:srgbClr val="1F1F1F"/>
                </a:solidFill>
              </a:rPr>
              <a:t>exceeds the therapeutic range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Learn, prescribe, and counsel by </a:t>
            </a:r>
            <a:r>
              <a:rPr lang="en-US" sz="1800" b="1" dirty="0">
                <a:solidFill>
                  <a:srgbClr val="1F1F1F"/>
                </a:solidFill>
              </a:rPr>
              <a:t>generic name</a:t>
            </a:r>
            <a:r>
              <a:rPr lang="en-US" sz="1800" dirty="0">
                <a:solidFill>
                  <a:srgbClr val="1F1F1F"/>
                </a:solidFill>
              </a:rPr>
              <a:t> — brand names can hide a shared ingredient → double-dosing.</a:t>
            </a:r>
            <a:r>
              <a:rPr lang="en-US" sz="1300" dirty="0">
                <a:solidFill>
                  <a:srgbClr val="666666"/>
                </a:solidFill>
              </a:rPr>
              <a:t>  S7; S9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Pharmacology connects a drug's chemistry to its clinical effect.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LECTURE QUICK CHECK S8-9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19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says they take no medications, but separately mentions using "Tylenol" for headaches and a combination cold-and-flu product. What does this scenario illustrate?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Pharmacologic effect and therapeutic effect are simply two words for one thing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Brand names are identical worldwide, so the two products must contain different drugs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Chemical names are standardized internationally, so this mix-up could not happen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Brand names can obscure a shared generic ingredient, risking unintentional double-dosing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Generic names vary by manufacturer, which caused the confusion here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20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Brand names can obscure a shared generic ingredient, risking unintentional double-dosing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Different brand-name products (Tylenol, many combination cold/flu products) can share the same active generic ingredient; prescribing and counseling by generic name avoids hiding duplicate therapy (S9).</a:t>
            </a:r>
            <a:r>
              <a:rPr lang="en-US" sz="1100" dirty="0">
                <a:solidFill>
                  <a:srgbClr val="666666"/>
                </a:solidFill>
              </a:rPr>
              <a:t>  S7; S8-9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Pharmacologic effect and therapeutic effect are simply two words for one thing — </a:t>
            </a:r>
            <a:r>
              <a:rPr lang="en-US" sz="1600" dirty="0">
                <a:solidFill>
                  <a:srgbClr val="1F1F1F"/>
                </a:solidFill>
              </a:rPr>
              <a:t>They are not synonyms — a pharmacologic effect may not be therapeutic (S5 notes); it also doesn't explain this case.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Brand names are identical worldwide, so the two products must contain different drugs — </a:t>
            </a:r>
            <a:r>
              <a:rPr lang="en-US" sz="1600" dirty="0">
                <a:solidFill>
                  <a:srgbClr val="1F1F1F"/>
                </a:solidFill>
              </a:rPr>
              <a:t>Brand names change between countries, and one generic drug may have several brand names (S7).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Chemical names are standardized internationally, so this mix-up could not happen — </a:t>
            </a:r>
            <a:r>
              <a:rPr lang="en-US" sz="1600" dirty="0">
                <a:solidFill>
                  <a:srgbClr val="1F1F1F"/>
                </a:solidFill>
              </a:rPr>
              <a:t>Chemical names describe exact molecular structure and are rarely used clinically (S7); they do not prevent brand-name confusion.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Generic names vary by manufacturer, which caused the confusion here — </a:t>
            </a:r>
            <a:r>
              <a:rPr lang="en-US" sz="1600" dirty="0">
                <a:solidFill>
                  <a:srgbClr val="1F1F1F"/>
                </a:solidFill>
              </a:rPr>
              <a:t>There is one generic name per drug, regardless of manufacturer (S7).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45-year-old patient takes a new medication exactly as prescribed. Drug levels are within the therapeutic range, yet the patient develops an unintended, harmful response. Which term best describes this event?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Toxicity, because any harmful drug response counts as toxicity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An adverse drug reaction, because it occurred at a normal therapeutic dose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therapeutic effect, because the drug was taken exactly as prescribed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pharmacologic effect only, because it was a measurable biological change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antagonism, because the receptor was permanently inactivated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An adverse drug reaction, because it occurred at a normal therapeutic dose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ADR is an unintended and harmful response occurring at normal therapeutic doses (S5).</a:t>
            </a:r>
            <a:r>
              <a:rPr lang="en-US" sz="1100" dirty="0">
                <a:solidFill>
                  <a:srgbClr val="666666"/>
                </a:solidFill>
              </a:rPr>
              <a:t>  S5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Toxicity, because any harmful drug response counts as toxicity — </a:t>
            </a:r>
            <a:r>
              <a:rPr lang="en-US" sz="1600" dirty="0">
                <a:solidFill>
                  <a:srgbClr val="1F1F1F"/>
                </a:solidFill>
              </a:rPr>
              <a:t>Toxicity is harm that occurs as dose or exposure exceeds the therapeutic range (S5); here levels were within range.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A therapeutic effect, because the drug was taken exactly as prescribed — </a:t>
            </a:r>
            <a:r>
              <a:rPr lang="en-US" sz="1600" dirty="0">
                <a:solidFill>
                  <a:srgbClr val="1F1F1F"/>
                </a:solidFill>
              </a:rPr>
              <a:t>A therapeutic effect is the intended, beneficial effect (S5); this response was unintended and harmful.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A pharmacologic effect only, because it was a measurable biological change — </a:t>
            </a:r>
            <a:r>
              <a:rPr lang="en-US" sz="1600" dirty="0">
                <a:solidFill>
                  <a:srgbClr val="1F1F1F"/>
                </a:solidFill>
              </a:rPr>
              <a:t>Every ADR is a pharmacologic effect, but 'unintended and harmful at normal doses' is the more specific, best answer (S5).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Irreversible antagonism, because the receptor was permanently inactivated — </a:t>
            </a:r>
            <a:r>
              <a:rPr lang="en-US" sz="1600" dirty="0">
                <a:solidFill>
                  <a:srgbClr val="1F1F1F"/>
                </a:solidFill>
              </a:rPr>
              <a:t>Irreversible antagonism describes receptor inactivation until new receptor is synthesized (S22) — not a type of adverse event.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3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23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644652"/>
          </a:xfrm>
          <a:prstGeom prst="roundRect">
            <a:avLst>
              <a:gd name="adj" fmla="val 141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Which statement correctly distinguishes pharmacokinetics from pharmacodynamics?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18084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1808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15341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studies receptor binding; pharmacodynamics studies absorption and excretion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272948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7294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70205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applies only to IV drugs; pharmacodynamics applies only to oral drugs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27812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2781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25069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studies genetic variation; pharmacodynamics studies poisoning and overdose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382676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8267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379933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is what the drug does to the body; pharmacodynamics is what the body does to the drug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37540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3754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34797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Pharmacokinetics is what the body does to the drug; pharmacodynamics is what the drug does to the body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3: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SO1 · IO1.1 · IO1.4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24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Pharmacokinetics is what the body does to the drug; pharmacodynamics is what the drug does to the body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PK = what the body does to the drug (ADME); PD = what the drug does to the body (receptors &amp; effect) (S6).</a:t>
            </a:r>
            <a:r>
              <a:rPr lang="en-US" sz="1100" dirty="0">
                <a:solidFill>
                  <a:srgbClr val="666666"/>
                </a:solidFill>
              </a:rPr>
              <a:t>  S6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Pharmacokinetics studies receptor binding; pharmacodynamics studies absorption and excretion — </a:t>
            </a:r>
            <a:r>
              <a:rPr lang="en-US" sz="1600" dirty="0">
                <a:solidFill>
                  <a:srgbClr val="1F1F1F"/>
                </a:solidFill>
              </a:rPr>
              <a:t>Receptors &amp; effect belong to PD; absorption and excretion (ADME) belong to PK (S6).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Pharmacokinetics applies only to IV drugs; pharmacodynamics applies only to oral drugs — </a:t>
            </a:r>
            <a:r>
              <a:rPr lang="en-US" sz="1600" dirty="0">
                <a:solidFill>
                  <a:srgbClr val="1F1F1F"/>
                </a:solidFill>
              </a:rPr>
              <a:t>Neither branch is defined by route; PK covers ADME for any route (S6, S49).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Pharmacokinetics studies genetic variation; pharmacodynamics studies poisoning and overdose — </a:t>
            </a:r>
            <a:r>
              <a:rPr lang="en-US" sz="1600" dirty="0">
                <a:solidFill>
                  <a:srgbClr val="1F1F1F"/>
                </a:solidFill>
              </a:rPr>
              <a:t>Genetic variation = pharmacogenomics; poisoning = clinical pharmacology/toxicology (S6).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Pharmacokinetics is what the drug does to the body; pharmacodynamics is what the body does to the drug — </a:t>
            </a:r>
            <a:r>
              <a:rPr lang="en-US" sz="1600" dirty="0">
                <a:solidFill>
                  <a:srgbClr val="1F1F1F"/>
                </a:solidFill>
              </a:rPr>
              <a:t>This reverses the definitions (S6).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2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 Development &amp; Regulation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SO2 · IO1.4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26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163824"/>
          </a:xfrm>
          <a:prstGeom prst="roundRect">
            <a:avLst>
              <a:gd name="adj" fmla="val 346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Efficacy:</a:t>
            </a:r>
            <a:r>
              <a:rPr lang="en-US" sz="1800" dirty="0">
                <a:solidFill>
                  <a:srgbClr val="1F1F1F"/>
                </a:solidFill>
              </a:rPr>
              <a:t> how well a drug works under ideal, controlled trial conditions.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Effectiveness:</a:t>
            </a:r>
            <a:r>
              <a:rPr lang="en-US" sz="1800" dirty="0">
                <a:solidFill>
                  <a:srgbClr val="1F1F1F"/>
                </a:solidFill>
              </a:rPr>
              <a:t> how well a drug works in everyday clinical practice, with real-world adherence and comorbidities.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Drug interactions can also reduce real-world effectiveness below trial efficacy.</a:t>
            </a:r>
            <a:r>
              <a:rPr lang="en-US" sz="1300" dirty="0">
                <a:solidFill>
                  <a:srgbClr val="666666"/>
                </a:solidFill>
              </a:rPr>
              <a:t>  SG U1-R4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Benefit vs. risk:</a:t>
            </a:r>
            <a:r>
              <a:rPr lang="en-US" sz="1800" dirty="0">
                <a:solidFill>
                  <a:srgbClr val="1F1F1F"/>
                </a:solidFill>
              </a:rPr>
              <a:t> the central question regulators and prescribers must weigh for every approval and every prescription.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27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332988"/>
          </a:xfrm>
          <a:prstGeom prst="roundRect">
            <a:avLst>
              <a:gd name="adj" fmla="val 32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464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Adverse-event reporting:</a:t>
            </a:r>
            <a:r>
              <a:rPr lang="en-US" sz="1800" dirty="0">
                <a:solidFill>
                  <a:srgbClr val="1F1F1F"/>
                </a:solidFill>
              </a:rPr>
              <a:t> ongoing, voluntary and mandatory reporting systems (e.g., FDA MedWatch) that catch safety signals after approval.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Single-blind:</a:t>
            </a:r>
            <a:r>
              <a:rPr lang="en-US" sz="1800" dirty="0">
                <a:solidFill>
                  <a:srgbClr val="1F1F1F"/>
                </a:solidFill>
              </a:rPr>
              <a:t> subjects do not know whether they receive drug or placebo. </a:t>
            </a:r>
            <a:r>
              <a:rPr lang="en-US" sz="1800" b="1" dirty="0">
                <a:solidFill>
                  <a:srgbClr val="1F1F1F"/>
                </a:solidFill>
              </a:rPr>
              <a:t>Double-blind:</a:t>
            </a:r>
            <a:r>
              <a:rPr lang="en-US" sz="1800" dirty="0">
                <a:solidFill>
                  <a:srgbClr val="1F1F1F"/>
                </a:solidFill>
              </a:rPr>
              <a:t> neither subjects nor evaluators know; a third party holds the code. </a:t>
            </a:r>
            <a:r>
              <a:rPr lang="en-US" sz="1800" b="1" dirty="0">
                <a:solidFill>
                  <a:srgbClr val="1F1F1F"/>
                </a:solidFill>
              </a:rPr>
              <a:t>Crossover:</a:t>
            </a:r>
            <a:r>
              <a:rPr lang="en-US" sz="1800" dirty="0">
                <a:solidFill>
                  <a:srgbClr val="1F1F1F"/>
                </a:solidFill>
              </a:rPr>
              <a:t> each subject receives test drug, placebo and standard treatment in varied order.</a:t>
            </a:r>
            <a:r>
              <a:rPr lang="en-US" sz="1300" dirty="0">
                <a:solidFill>
                  <a:srgbClr val="666666"/>
                </a:solidFill>
              </a:rPr>
              <a:t>  p. 14; p. 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Institutional review board (IRB):</a:t>
            </a:r>
            <a:r>
              <a:rPr lang="en-US" sz="1800" dirty="0">
                <a:solidFill>
                  <a:srgbClr val="1F1F1F"/>
                </a:solidFill>
              </a:rPr>
              <a:t> the committee at each trial site that must approve the scientific and ethical plan; participants must give informed consent.</a:t>
            </a:r>
            <a:r>
              <a:rPr lang="en-US" sz="1300" dirty="0">
                <a:solidFill>
                  <a:srgbClr val="666666"/>
                </a:solidFill>
              </a:rPr>
              <a:t>  p. 17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28</a:t>
            </a:r>
            <a:endParaRPr lang="en-US" sz="1000" dirty="0"/>
          </a:p>
        </p:txBody>
      </p:sp>
      <p:sp>
        <p:nvSpPr>
          <p:cNvPr id="7" name="How it works (1/4) card"/>
          <p:cNvSpPr/>
          <p:nvPr/>
        </p:nvSpPr>
        <p:spPr>
          <a:xfrm>
            <a:off x="548640" y="1325880"/>
            <a:ext cx="11094415" cy="4718304"/>
          </a:xfrm>
          <a:prstGeom prst="roundRect">
            <a:avLst>
              <a:gd name="adj" fmla="val 232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4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4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4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(1/4)</a:t>
            </a:r>
            <a:endParaRPr lang="en-US" sz="1800" dirty="0"/>
          </a:p>
        </p:txBody>
      </p:sp>
      <p:sp>
        <p:nvSpPr>
          <p:cNvPr id="11" name="How it works (1/4) body"/>
          <p:cNvSpPr txBox="1"/>
          <p:nvPr/>
        </p:nvSpPr>
        <p:spPr>
          <a:xfrm>
            <a:off x="777240" y="2075688"/>
            <a:ext cx="10637215" cy="384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Where new drugs come from — Natural products: plants, fungi, microbes, marine organisms.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Synthetic &amp; biotech: designed small molecules; recombinant proteins.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Biologics: monoclonal antibodies, gene- and cell-based therapies.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Drug repurposing: an existing approved drug found to treat a new condition.</a:t>
            </a:r>
            <a:r>
              <a:rPr lang="en-US" sz="1300" dirty="0">
                <a:solidFill>
                  <a:srgbClr val="666666"/>
                </a:solidFill>
              </a:rPr>
              <a:t>  S11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From discovery to patient: Discovery → Preclinical testing → Clinical trials → FDA review → Approval → Postmarket surveillance.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Most candidate drugs fail somewhere along this pipeline — approval is the exception, not the rule.</a:t>
            </a:r>
            <a:r>
              <a:rPr lang="en-US" sz="1300" dirty="0">
                <a:solidFill>
                  <a:srgbClr val="666666"/>
                </a:solidFill>
              </a:rPr>
              <a:t>  S12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I: safety, tolerability, dose-finding — a small group of healthy volunteers.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II: preliminary efficacy and side-effect profile — a few hundred patients with the target condition.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29</a:t>
            </a:r>
            <a:endParaRPr lang="en-US" sz="1000" dirty="0"/>
          </a:p>
        </p:txBody>
      </p:sp>
      <p:sp>
        <p:nvSpPr>
          <p:cNvPr id="7" name="How it works (2/4) card"/>
          <p:cNvSpPr/>
          <p:nvPr/>
        </p:nvSpPr>
        <p:spPr>
          <a:xfrm>
            <a:off x="548640" y="1325880"/>
            <a:ext cx="11094415" cy="4608576"/>
          </a:xfrm>
          <a:prstGeom prst="roundRect">
            <a:avLst>
              <a:gd name="adj" fmla="val 238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4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4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4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(2/4)</a:t>
            </a:r>
            <a:endParaRPr lang="en-US" sz="1800" dirty="0"/>
          </a:p>
        </p:txBody>
      </p:sp>
      <p:sp>
        <p:nvSpPr>
          <p:cNvPr id="11" name="How it works (2/4) body"/>
          <p:cNvSpPr txBox="1"/>
          <p:nvPr/>
        </p:nvSpPr>
        <p:spPr>
          <a:xfrm>
            <a:off x="777240" y="2075688"/>
            <a:ext cx="10637215" cy="3739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III: confirm efficacy and monitor adverse effects at scale — hundreds to thousands of patients, often multi-site.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IV: postmarketing surveillance after approval — the general prescribed population.</a:t>
            </a:r>
            <a:r>
              <a:rPr lang="en-US" sz="1300" dirty="0">
                <a:solidFill>
                  <a:srgbClr val="666666"/>
                </a:solidFill>
              </a:rPr>
              <a:t>  S13; SG U1-R3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Every approved drug has passed through a structured development and regulatory pipeline (Phases I–IV).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II has the </a:t>
            </a:r>
            <a:r>
              <a:rPr lang="en-US" sz="1800" b="1" dirty="0">
                <a:solidFill>
                  <a:srgbClr val="1F1F1F"/>
                </a:solidFill>
              </a:rPr>
              <a:t>highest failure rate</a:t>
            </a:r>
            <a:r>
              <a:rPr lang="en-US" sz="1800" dirty="0">
                <a:solidFill>
                  <a:srgbClr val="1F1F1F"/>
                </a:solidFill>
              </a:rPr>
              <a:t> — only about 25% of new drugs move on to Phase III.</a:t>
            </a:r>
            <a:r>
              <a:rPr lang="en-US" sz="1300" dirty="0">
                <a:solidFill>
                  <a:srgbClr val="666666"/>
                </a:solidFill>
              </a:rPr>
              <a:t>  p. 17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III usually enrolls </a:t>
            </a:r>
            <a:r>
              <a:rPr lang="en-US" sz="1800" b="1" dirty="0">
                <a:solidFill>
                  <a:srgbClr val="1F1F1F"/>
                </a:solidFill>
              </a:rPr>
              <a:t>thousands</a:t>
            </a:r>
            <a:r>
              <a:rPr lang="en-US" sz="1800" dirty="0">
                <a:solidFill>
                  <a:srgbClr val="1F1F1F"/>
                </a:solidFill>
              </a:rPr>
              <a:t> of patients (Figure 1–6: 1000–6000), often double-blind and crossover, in settings like the drug's eventual use.</a:t>
            </a:r>
            <a:r>
              <a:rPr lang="en-US" sz="1300" dirty="0">
                <a:solidFill>
                  <a:srgbClr val="666666"/>
                </a:solidFill>
              </a:rPr>
              <a:t>  p. 12; p. 17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Less than one-third of drugs studied in humans survive clinical trials and reach the market.</a:t>
            </a:r>
            <a:r>
              <a:rPr lang="en-US" sz="1300" dirty="0">
                <a:solidFill>
                  <a:srgbClr val="666666"/>
                </a:solidFill>
              </a:rPr>
              <a:t>  p. 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To see one case of a toxicity occurring 1 in 10,000, several hundred thousand patients may need exposure — so rare effects usually surface only in Phase IV, which has </a:t>
            </a:r>
            <a:r>
              <a:rPr lang="en-US" sz="1800" b="1" dirty="0">
                <a:solidFill>
                  <a:srgbClr val="1F1F1F"/>
                </a:solidFill>
              </a:rPr>
              <a:t>no fixed duration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p. 18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30</a:t>
            </a:r>
            <a:endParaRPr lang="en-US" sz="1000" dirty="0"/>
          </a:p>
        </p:txBody>
      </p:sp>
      <p:sp>
        <p:nvSpPr>
          <p:cNvPr id="7" name="How it works (3/4) card"/>
          <p:cNvSpPr/>
          <p:nvPr/>
        </p:nvSpPr>
        <p:spPr>
          <a:xfrm>
            <a:off x="548640" y="1325880"/>
            <a:ext cx="11094415" cy="4279392"/>
          </a:xfrm>
          <a:prstGeom prst="roundRect">
            <a:avLst>
              <a:gd name="adj" fmla="val 25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3/4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3/4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3/4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(3/4)</a:t>
            </a:r>
            <a:endParaRPr lang="en-US" sz="1800" dirty="0"/>
          </a:p>
        </p:txBody>
      </p:sp>
      <p:sp>
        <p:nvSpPr>
          <p:cNvPr id="11" name="How it works (3/4) body"/>
          <p:cNvSpPr txBox="1"/>
          <p:nvPr/>
        </p:nvSpPr>
        <p:spPr>
          <a:xfrm>
            <a:off x="777240" y="2075688"/>
            <a:ext cx="10637215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Marketing requires a </a:t>
            </a:r>
            <a:r>
              <a:rPr lang="en-US" sz="1800" b="1" dirty="0">
                <a:solidFill>
                  <a:srgbClr val="1F1F1F"/>
                </a:solidFill>
              </a:rPr>
              <a:t>New Drug Application (NDA)</a:t>
            </a:r>
            <a:r>
              <a:rPr lang="en-US" sz="1800" dirty="0">
                <a:solidFill>
                  <a:srgbClr val="1F1F1F"/>
                </a:solidFill>
              </a:rPr>
              <a:t> after Phase III; human testing starts only after an </a:t>
            </a:r>
            <a:r>
              <a:rPr lang="en-US" sz="1800" b="1" dirty="0">
                <a:solidFill>
                  <a:srgbClr val="1F1F1F"/>
                </a:solidFill>
              </a:rPr>
              <a:t>IND</a:t>
            </a:r>
            <a:r>
              <a:rPr lang="en-US" sz="1800" dirty="0">
                <a:solidFill>
                  <a:srgbClr val="1F1F1F"/>
                </a:solidFill>
              </a:rPr>
              <a:t> (Investigational New Drug) application.</a:t>
            </a:r>
            <a:r>
              <a:rPr lang="en-US" sz="1300" dirty="0">
                <a:solidFill>
                  <a:srgbClr val="666666"/>
                </a:solidFill>
              </a:rPr>
              <a:t>  p. 12; p. 17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Drug screening</a:t>
            </a:r>
            <a:r>
              <a:rPr lang="en-US" sz="1800" dirty="0">
                <a:solidFill>
                  <a:srgbClr val="1F1F1F"/>
                </a:solidFill>
              </a:rPr>
              <a:t> profiles a candidate’s activity and selectivity at molecular, cellular, organ and whole-animal levels, including early CYP450 studies to predict metabolism problems. The best candidate is the </a:t>
            </a:r>
            <a:r>
              <a:rPr lang="en-US" sz="1800" b="1" dirty="0">
                <a:solidFill>
                  <a:srgbClr val="1F1F1F"/>
                </a:solidFill>
              </a:rPr>
              <a:t>lead compound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p. 13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Every trial has to control three confounders: the disease’s variable natural history, other diseases and risk factors (including other drugs and foods), and subject or observer bias.</a:t>
            </a:r>
            <a:r>
              <a:rPr lang="en-US" sz="1300" dirty="0">
                <a:solidFill>
                  <a:srgbClr val="666666"/>
                </a:solidFill>
              </a:rPr>
              <a:t>  p. 14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Strength of evidence rises from case reports (cannot prove cause and effect) to cohort and case-control studies (add weight, still cannot prove causation) to large </a:t>
            </a:r>
            <a:r>
              <a:rPr lang="en-US" sz="1800" b="1" dirty="0">
                <a:solidFill>
                  <a:srgbClr val="1F1F1F"/>
                </a:solidFill>
              </a:rPr>
              <a:t>randomized controlled trials</a:t>
            </a:r>
            <a:r>
              <a:rPr lang="en-US" sz="1800" dirty="0">
                <a:solidFill>
                  <a:srgbClr val="1F1F1F"/>
                </a:solidFill>
              </a:rPr>
              <a:t>, the gold standard, because randomization spreads known and unknown confounders evenly.</a:t>
            </a:r>
            <a:r>
              <a:rPr lang="en-US" sz="1300" dirty="0">
                <a:solidFill>
                  <a:srgbClr val="666666"/>
                </a:solidFill>
              </a:rPr>
              <a:t>  p. 15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31</a:t>
            </a:r>
            <a:endParaRPr lang="en-US" sz="1000" dirty="0"/>
          </a:p>
        </p:txBody>
      </p:sp>
      <p:sp>
        <p:nvSpPr>
          <p:cNvPr id="7" name="How it works (4/4) card"/>
          <p:cNvSpPr/>
          <p:nvPr/>
        </p:nvSpPr>
        <p:spPr>
          <a:xfrm>
            <a:off x="548640" y="132588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4/4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4/4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4/4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(4/4)</a:t>
            </a:r>
            <a:endParaRPr lang="en-US" sz="1800" dirty="0"/>
          </a:p>
        </p:txBody>
      </p:sp>
      <p:sp>
        <p:nvSpPr>
          <p:cNvPr id="11" name="How it works (4/4) body"/>
          <p:cNvSpPr txBox="1"/>
          <p:nvPr/>
        </p:nvSpPr>
        <p:spPr>
          <a:xfrm>
            <a:off x="777240" y="2075688"/>
            <a:ext cx="106372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Preclinical testing cannot catch everything: rare adverse effects are unlikely to appear, and animal results do not predict every human toxicity.</a:t>
            </a:r>
            <a:r>
              <a:rPr lang="en-US" sz="1300" dirty="0">
                <a:solidFill>
                  <a:srgbClr val="666666"/>
                </a:solidFill>
              </a:rPr>
              <a:t>  p. 14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32</a:t>
            </a:r>
            <a:endParaRPr lang="en-US" sz="1000" dirty="0"/>
          </a:p>
        </p:txBody>
      </p:sp>
      <p:sp>
        <p:nvSpPr>
          <p:cNvPr id="7" name="Clinical relevance (1/2) card"/>
          <p:cNvSpPr/>
          <p:nvPr/>
        </p:nvSpPr>
        <p:spPr>
          <a:xfrm>
            <a:off x="548640" y="1325880"/>
            <a:ext cx="11094415" cy="4389120"/>
          </a:xfrm>
          <a:prstGeom prst="roundRect">
            <a:avLst>
              <a:gd name="adj" fmla="val 25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(1/2)</a:t>
            </a:r>
            <a:endParaRPr lang="en-US" sz="1800" dirty="0"/>
          </a:p>
        </p:txBody>
      </p:sp>
      <p:sp>
        <p:nvSpPr>
          <p:cNvPr id="11" name="Clinical relevance (1/2) body"/>
          <p:cNvSpPr txBox="1"/>
          <p:nvPr/>
        </p:nvSpPr>
        <p:spPr>
          <a:xfrm>
            <a:off x="777240" y="2075688"/>
            <a:ext cx="10637215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Postmarketing surveillance (Phase IV) is where rare adverse effects are often first detected — trial populations are too small and too short in duration to catch 1-in-10,000 events.</a:t>
            </a:r>
            <a:r>
              <a:rPr lang="en-US" sz="1300" dirty="0">
                <a:solidFill>
                  <a:srgbClr val="666666"/>
                </a:solidFill>
              </a:rPr>
              <a:t>  S12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Case: a new medication improves symptoms in 70% of patients with a chronic, non-life-threatening condition, but postmarketing data show serious hepatotoxicity in about 1%. </a:t>
            </a:r>
            <a:r>
              <a:rPr lang="en-US" sz="1800" b="1" dirty="0">
                <a:solidFill>
                  <a:srgbClr val="1F1F1F"/>
                </a:solidFill>
              </a:rPr>
              <a:t>Would you prescribe it — and does your answer depend on what else is available?</a:t>
            </a:r>
            <a:r>
              <a:rPr lang="en-US" sz="1300" dirty="0">
                <a:solidFill>
                  <a:srgbClr val="666666"/>
                </a:solidFill>
              </a:rPr>
              <a:t>  S15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Clinical pearl:</a:t>
            </a:r>
            <a:r>
              <a:rPr lang="en-US" sz="1800" dirty="0">
                <a:solidFill>
                  <a:srgbClr val="1F1F1F"/>
                </a:solidFill>
              </a:rPr>
              <a:t> risk-benefit analysis is always comparative — a 1% serious-toxicity rate reads very differently if it is the only effective option versus if three safer alternatives already exist.</a:t>
            </a:r>
            <a:r>
              <a:rPr lang="en-US" sz="1300" dirty="0">
                <a:solidFill>
                  <a:srgbClr val="666666"/>
                </a:solidFill>
              </a:rPr>
              <a:t>  S15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Ask "compared to what?" rather than judging the number in isolation.</a:t>
            </a:r>
            <a:r>
              <a:rPr lang="en-US" sz="1300" dirty="0">
                <a:solidFill>
                  <a:srgbClr val="666666"/>
                </a:solidFill>
              </a:rPr>
              <a:t>  S15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 patent lasts 20 years; after it expires, generics are approved through an </a:t>
            </a:r>
            <a:r>
              <a:rPr lang="en-US" sz="1800" b="1" dirty="0">
                <a:solidFill>
                  <a:srgbClr val="1F1F1F"/>
                </a:solidFill>
              </a:rPr>
              <a:t>abbreviated new drug application (ANDA)</a:t>
            </a:r>
            <a:r>
              <a:rPr lang="en-US" sz="1800" dirty="0">
                <a:solidFill>
                  <a:srgbClr val="1F1F1F"/>
                </a:solidFill>
              </a:rPr>
              <a:t> that requires bioequivalence data.</a:t>
            </a:r>
            <a:r>
              <a:rPr lang="en-US" sz="1300" dirty="0">
                <a:solidFill>
                  <a:srgbClr val="666666"/>
                </a:solidFill>
              </a:rPr>
              <a:t>  p. 16; p. 18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33</a:t>
            </a:r>
            <a:endParaRPr lang="en-US" sz="1000" dirty="0"/>
          </a:p>
        </p:txBody>
      </p:sp>
      <p:sp>
        <p:nvSpPr>
          <p:cNvPr id="7" name="Clinical relevance (2/2) card"/>
          <p:cNvSpPr/>
          <p:nvPr/>
        </p:nvSpPr>
        <p:spPr>
          <a:xfrm>
            <a:off x="548640" y="1325880"/>
            <a:ext cx="11094415" cy="4389120"/>
          </a:xfrm>
          <a:prstGeom prst="roundRect">
            <a:avLst>
              <a:gd name="adj" fmla="val 25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(2/2)</a:t>
            </a:r>
            <a:endParaRPr lang="en-US" sz="1800" dirty="0"/>
          </a:p>
        </p:txBody>
      </p:sp>
      <p:sp>
        <p:nvSpPr>
          <p:cNvPr id="11" name="Clinical relevance (2/2) body"/>
          <p:cNvSpPr txBox="1"/>
          <p:nvPr/>
        </p:nvSpPr>
        <p:spPr>
          <a:xfrm>
            <a:off x="777240" y="2075688"/>
            <a:ext cx="10637215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Placebo responses can occur in as many as 30–40% of subjects — the reason controlled, blinded trials are needed.</a:t>
            </a:r>
            <a:r>
              <a:rPr lang="en-US" sz="1300" dirty="0">
                <a:solidFill>
                  <a:srgbClr val="666666"/>
                </a:solidFill>
              </a:rPr>
              <a:t>  p. 14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Adverse events that are both </a:t>
            </a:r>
            <a:r>
              <a:rPr lang="en-US" sz="1800" b="1" dirty="0">
                <a:solidFill>
                  <a:srgbClr val="1F1F1F"/>
                </a:solidFill>
              </a:rPr>
              <a:t>serious and unexpected</a:t>
            </a:r>
            <a:r>
              <a:rPr lang="en-US" sz="1800" dirty="0">
                <a:solidFill>
                  <a:srgbClr val="1F1F1F"/>
                </a:solidFill>
              </a:rPr>
              <a:t> must be reported to the FDA within 15 days; clinicians can report through MedWatch.</a:t>
            </a:r>
            <a:r>
              <a:rPr lang="en-US" sz="1300" dirty="0">
                <a:solidFill>
                  <a:srgbClr val="666666"/>
                </a:solidFill>
              </a:rPr>
              <a:t>  p. 18; p. 19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Unpublished negative trials (missing data) make new drugs look better than they are.</a:t>
            </a:r>
            <a:r>
              <a:rPr lang="en-US" sz="1300" dirty="0">
                <a:solidFill>
                  <a:srgbClr val="666666"/>
                </a:solidFill>
              </a:rPr>
              <a:t>  p. 15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Dietary supplements and botanicals are regulated as food under DSHEA (1994), not reviewed as drugs, although their chemicals differ from manufactured drugs mainly in having more impurities.</a:t>
            </a:r>
            <a:r>
              <a:rPr lang="en-US" sz="1300" dirty="0">
                <a:solidFill>
                  <a:srgbClr val="666666"/>
                </a:solidFill>
              </a:rPr>
              <a:t>  p. 3; p. 16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Conflicts of interest the textbook flags: industry fees funding FDA review, advisers with company grants, trials that compare a new drug only to placebo, free samples that later cost patients more, and pay-to-delay deals that hold back generics.</a:t>
            </a:r>
            <a:r>
              <a:rPr lang="en-US" sz="1300" dirty="0">
                <a:solidFill>
                  <a:srgbClr val="666666"/>
                </a:solidFill>
              </a:rPr>
              <a:t>  p. 18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34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11094415" cy="3163824"/>
          </a:xfrm>
          <a:prstGeom prst="roundRect">
            <a:avLst>
              <a:gd name="adj" fmla="val 346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10637215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FDA MedWatch — an adverse-event reporting system.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Biologic DMARDs (MSK unit, later) are a direct example of the "biotechnology" drug source.</a:t>
            </a:r>
            <a:r>
              <a:rPr lang="en-US" sz="1300" dirty="0">
                <a:solidFill>
                  <a:srgbClr val="666666"/>
                </a:solidFill>
              </a:rPr>
              <a:t>  S11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Thalidomide</a:t>
            </a:r>
            <a:r>
              <a:rPr lang="en-US" sz="1800" dirty="0">
                <a:solidFill>
                  <a:srgbClr val="1F1F1F"/>
                </a:solidFill>
              </a:rPr>
              <a:t> (sold in Europe as a "nontoxic" hypnotic) caused about 10,000 birth defects and led to the </a:t>
            </a:r>
            <a:r>
              <a:rPr lang="en-US" sz="1800" b="1" dirty="0">
                <a:solidFill>
                  <a:srgbClr val="1F1F1F"/>
                </a:solidFill>
              </a:rPr>
              <a:t>Kefauver-Harris Amendments (1962)</a:t>
            </a:r>
            <a:r>
              <a:rPr lang="en-US" sz="1800" dirty="0">
                <a:solidFill>
                  <a:srgbClr val="1F1F1F"/>
                </a:solidFill>
              </a:rPr>
              <a:t>, which required proof of efficacy as well as safety.</a:t>
            </a:r>
            <a:r>
              <a:rPr lang="en-US" sz="1300" dirty="0">
                <a:solidFill>
                  <a:srgbClr val="666666"/>
                </a:solidFill>
              </a:rPr>
              <a:t>  p. 16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The </a:t>
            </a:r>
            <a:r>
              <a:rPr lang="en-US" sz="1800" b="1" dirty="0">
                <a:solidFill>
                  <a:srgbClr val="1F1F1F"/>
                </a:solidFill>
              </a:rPr>
              <a:t>Orphan Drug Amendment (1983)</a:t>
            </a:r>
            <a:r>
              <a:rPr lang="en-US" sz="1800" dirty="0">
                <a:solidFill>
                  <a:srgbClr val="1F1F1F"/>
                </a:solidFill>
              </a:rPr>
              <a:t> gives incentives for drugs treating diseases with fewer than 200,000 US patients.</a:t>
            </a:r>
            <a:r>
              <a:rPr lang="en-US" sz="1300" dirty="0">
                <a:solidFill>
                  <a:srgbClr val="666666"/>
                </a:solidFill>
              </a:rPr>
              <a:t>  p. 16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35</a:t>
            </a:r>
            <a:endParaRPr lang="en-US" sz="1000" dirty="0"/>
          </a:p>
        </p:txBody>
      </p:sp>
      <p:sp>
        <p:nvSpPr>
          <p:cNvPr id="7" name="Exam traps card"/>
          <p:cNvSpPr/>
          <p:nvPr/>
        </p:nvSpPr>
        <p:spPr>
          <a:xfrm>
            <a:off x="548640" y="1325880"/>
            <a:ext cx="11094415" cy="3054096"/>
          </a:xfrm>
          <a:prstGeom prst="roundRect">
            <a:avLst>
              <a:gd name="adj" fmla="val 35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Exam trap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9" name="Exam trap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Exam trap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1" name="Exam traps body"/>
          <p:cNvSpPr txBox="1"/>
          <p:nvPr/>
        </p:nvSpPr>
        <p:spPr>
          <a:xfrm>
            <a:off x="777240" y="2075688"/>
            <a:ext cx="10637215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Efficacy vs. effectiveness is a favorite exam distinction: efficacy is the trial result; effectiveness is what happens once real patients with real adherence patterns use the drug.</a:t>
            </a:r>
            <a:r>
              <a:rPr lang="en-US" sz="1300" dirty="0">
                <a:solidFill>
                  <a:srgbClr val="666666"/>
                </a:solidFill>
              </a:rPr>
              <a:t>  S14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 — not Phase I, II, or IV — is the large pre-approval trial that confirms efficacy and monitors safety at scale.</a:t>
            </a:r>
            <a:r>
              <a:rPr lang="en-US" sz="1300" dirty="0">
                <a:solidFill>
                  <a:srgbClr val="666666"/>
                </a:solidFill>
              </a:rPr>
              <a:t>  S17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III is what most people picture as "the" clinical trial, but regulatory decisions already begin shaping the drug long before that.</a:t>
            </a:r>
            <a:r>
              <a:rPr lang="en-US" sz="1300" dirty="0">
                <a:solidFill>
                  <a:srgbClr val="666666"/>
                </a:solidFill>
              </a:rPr>
              <a:t>  S13 (notes)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Sources disagree: Phase I population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36</a:t>
            </a:r>
            <a:endParaRPr lang="en-US" sz="1000" dirty="0"/>
          </a:p>
        </p:txBody>
      </p:sp>
      <p:sp>
        <p:nvSpPr>
          <p:cNvPr id="7" name="Lecture slides say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Lecture slides say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Lecture slides sa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Lecture slides say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Lecture slides say</a:t>
            </a:r>
            <a:endParaRPr lang="en-US" sz="1800" dirty="0"/>
          </a:p>
        </p:txBody>
      </p:sp>
      <p:sp>
        <p:nvSpPr>
          <p:cNvPr id="11" name="Lecture slides say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I: a small group of healthy volunteers.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</p:txBody>
      </p:sp>
      <p:sp>
        <p:nvSpPr>
          <p:cNvPr id="12" name="Textbook say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book say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B07D00"/>
          </a:solidFill>
          <a:ln w="12700">
            <a:solidFill>
              <a:srgbClr val="B07D00"/>
            </a:solidFill>
            <a:prstDash val="solid"/>
          </a:ln>
        </p:spPr>
      </p:sp>
      <p:pic>
        <p:nvPicPr>
          <p:cNvPr id="14" name="Textbook say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Textbook say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D00"/>
                </a:solidFill>
              </a:rPr>
              <a:t>Textbook says</a:t>
            </a:r>
            <a:endParaRPr lang="en-US" sz="1800" dirty="0"/>
          </a:p>
        </p:txBody>
      </p:sp>
      <p:sp>
        <p:nvSpPr>
          <p:cNvPr id="16" name="Textbook say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I: 20–100 healthy volunteers — but if significant toxicity is expected (cancer, AIDS therapy), volunteer </a:t>
            </a:r>
            <a:r>
              <a:rPr lang="en-US" sz="1800" b="1" dirty="0">
                <a:solidFill>
                  <a:srgbClr val="1F1F1F"/>
                </a:solidFill>
              </a:rPr>
              <a:t>patients with the disease</a:t>
            </a:r>
            <a:r>
              <a:rPr lang="en-US" sz="1800" dirty="0">
                <a:solidFill>
                  <a:srgbClr val="1F1F1F"/>
                </a:solidFill>
              </a:rPr>
              <a:t> are used instead.</a:t>
            </a:r>
            <a:r>
              <a:rPr lang="en-US" sz="1300" dirty="0">
                <a:solidFill>
                  <a:srgbClr val="666666"/>
                </a:solidFill>
              </a:rPr>
              <a:t>  p. 17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Sources disagree: Phase II size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37</a:t>
            </a:r>
            <a:endParaRPr lang="en-US" sz="1000" dirty="0"/>
          </a:p>
        </p:txBody>
      </p:sp>
      <p:sp>
        <p:nvSpPr>
          <p:cNvPr id="7" name="Lecture slides say card"/>
          <p:cNvSpPr/>
          <p:nvPr/>
        </p:nvSpPr>
        <p:spPr>
          <a:xfrm>
            <a:off x="548640" y="1325880"/>
            <a:ext cx="5364328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Lecture slides say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Lecture slides say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Lecture slides say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Lecture slides say</a:t>
            </a:r>
            <a:endParaRPr lang="en-US" sz="1800" dirty="0"/>
          </a:p>
        </p:txBody>
      </p:sp>
      <p:sp>
        <p:nvSpPr>
          <p:cNvPr id="11" name="Lecture slides say body"/>
          <p:cNvSpPr txBox="1"/>
          <p:nvPr/>
        </p:nvSpPr>
        <p:spPr>
          <a:xfrm>
            <a:off x="777240" y="2075688"/>
            <a:ext cx="4907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II: a few hundred patients with the target condition.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</p:txBody>
      </p:sp>
      <p:sp>
        <p:nvSpPr>
          <p:cNvPr id="12" name="Textbook says card"/>
          <p:cNvSpPr/>
          <p:nvPr/>
        </p:nvSpPr>
        <p:spPr>
          <a:xfrm>
            <a:off x="6278728" y="1325880"/>
            <a:ext cx="5364328" cy="2011680"/>
          </a:xfrm>
          <a:prstGeom prst="roundRect">
            <a:avLst>
              <a:gd name="adj" fmla="val 54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Textbook say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B07D00"/>
          </a:solidFill>
          <a:ln w="12700">
            <a:solidFill>
              <a:srgbClr val="B07D00"/>
            </a:solidFill>
            <a:prstDash val="solid"/>
          </a:ln>
        </p:spPr>
      </p:sp>
      <p:pic>
        <p:nvPicPr>
          <p:cNvPr id="14" name="Textbook say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Textbook say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7D00"/>
                </a:solidFill>
              </a:rPr>
              <a:t>Textbook says</a:t>
            </a:r>
            <a:endParaRPr lang="en-US" sz="1800" dirty="0"/>
          </a:p>
        </p:txBody>
      </p:sp>
      <p:sp>
        <p:nvSpPr>
          <p:cNvPr id="16" name="Textbook says body"/>
          <p:cNvSpPr txBox="1"/>
          <p:nvPr/>
        </p:nvSpPr>
        <p:spPr>
          <a:xfrm>
            <a:off x="6507328" y="2075688"/>
            <a:ext cx="49071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Phase II: a modest number of patients (100–200) with the target disease.</a:t>
            </a:r>
            <a:r>
              <a:rPr lang="en-US" sz="1300" dirty="0">
                <a:solidFill>
                  <a:srgbClr val="666666"/>
                </a:solidFill>
              </a:rPr>
              <a:t>  p. 17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Clinical trial phases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38</a:t>
            </a:r>
            <a:endParaRPr lang="en-US" sz="1000" dirty="0"/>
          </a:p>
        </p:txBody>
      </p:sp>
      <p:graphicFrame>
        <p:nvGraphicFramePr>
          <p:cNvPr id="3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Primary purpose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Typical population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Safety, tolerability, dose-finding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 small group of healthy volunteers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Only phase in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healthy volunteers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Preliminary efficacy and side-effect profile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A few hundred patients with the target condition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First look at whether it works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III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Confirm efficacy and monitor adverse effects at scale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Hundreds to thousands, often multi-site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Largest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pre-approval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trial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Phase IV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Postmarketing surveillance after approval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general prescribed population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After approval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; catches rare effects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33425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S13; S12 (notes)</a:t>
            </a:r>
            <a:endParaRPr lang="en-US" sz="11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Efficacy vs. effectiveness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39</a:t>
            </a:r>
            <a:endParaRPr lang="en-US" sz="1000" dirty="0"/>
          </a:p>
        </p:txBody>
      </p:sp>
      <p:graphicFrame>
        <p:nvGraphicFramePr>
          <p:cNvPr id="40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Efficacy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Effectiveness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Setting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Ideal, controlled trial conditions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Everyday clinical practice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What changes it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Real-world adherence, comorbidities (and drug interactions — SG)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Shorthand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trial result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What happens with real patients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21462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S14; S14 (notes); SG U1-R4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Major US drug laws (textbook Table 1–6)</a:t>
            </a:r>
            <a:endParaRPr lang="en-US" sz="29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40</a:t>
            </a:r>
            <a:endParaRPr lang="en-US" sz="1000" dirty="0"/>
          </a:p>
        </p:txBody>
      </p:sp>
      <p:graphicFrame>
        <p:nvGraphicFramePr>
          <p:cNvPr id="41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6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Law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What it did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Pure Food and Drug Act (1906)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Banned mislabeled and adulterated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Food, Drug, and Cosmetic Act (1938)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New drugs must be safe (not yet proven effective); followed sulfanilamide deaths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Durham-Humphrey Act (1952)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FDA decides which drugs need a prescription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Kefauver-Harris Amendments (1962)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Proof of efficacy as well as safety; adverse-reaction reporting (after thalidomide)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Comprehensive Drug Abuse Prevention and Control Act (1970)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Drug schedules and controls for habit-forming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83412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000" dirty="0">
                <a:solidFill>
                  <a:srgbClr val="000000"/>
                </a:solidFill>
              </a:rPr>
              <a:t>  </a:t>
            </a:r>
            <a:r>
              <a:rPr lang="en-US" sz="1100" dirty="0">
                <a:solidFill>
                  <a:srgbClr val="666666"/>
                </a:solidFill>
              </a:rPr>
              <a:t>Focus: what tells these apart.  Sources: p. 16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Major US drug laws (textbook Table 1–6) (cont.)</a:t>
            </a:r>
            <a:endParaRPr lang="en-US" sz="26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41</a:t>
            </a:r>
            <a:endParaRPr lang="en-US" sz="1000" dirty="0"/>
          </a:p>
        </p:txBody>
      </p:sp>
      <p:graphicFrame>
        <p:nvGraphicFramePr>
          <p:cNvPr id="42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716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Law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What it did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Orphan Drug Amendment (1983)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Incentives for diseases with fewer than 200,000 US patients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Drug Price Competition and Patent Restoration Act (1984)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Abbreviated applications for generics; bioequivalence data required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Dietary Supplement Health and Education Act (1994)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Supplements treated as food; no full FDA drug review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FDA Amendments Act (2007)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Post-approval studies and active safety surveillance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Biologics Price Competition and Innovation Act (2009)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Abbreviated pathway for biosimilars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617212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000" dirty="0">
                <a:solidFill>
                  <a:srgbClr val="000000"/>
                </a:solidFill>
              </a:rPr>
              <a:t>  </a:t>
            </a:r>
            <a:r>
              <a:rPr lang="en-US" sz="1100" dirty="0">
                <a:solidFill>
                  <a:srgbClr val="666666"/>
                </a:solidFill>
              </a:rPr>
              <a:t>Focus: what tells these apart.  Sources: p. 16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42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are rare adverse effects found after approval? Trials are too small and too short to catch 1-in-10,000 events — so they show up in Phase IV, in the general prescribed population.</a:t>
            </a:r>
            <a:r>
              <a:rPr lang="en-US" sz="1300" dirty="0">
                <a:solidFill>
                  <a:srgbClr val="666666"/>
                </a:solidFill>
              </a:rPr>
              <a:t>  S12 (notes); S13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Phases by question: </a:t>
            </a:r>
            <a:r>
              <a:rPr lang="en-US" sz="1800" b="1" dirty="0">
                <a:solidFill>
                  <a:srgbClr val="1F1F1F"/>
                </a:solidFill>
              </a:rPr>
              <a:t>I</a:t>
            </a:r>
            <a:r>
              <a:rPr lang="en-US" sz="1800" dirty="0">
                <a:solidFill>
                  <a:srgbClr val="1F1F1F"/>
                </a:solidFill>
              </a:rPr>
              <a:t> = Is it safe (healthy volunteers)? </a:t>
            </a:r>
            <a:r>
              <a:rPr lang="en-US" sz="1800" b="1" dirty="0">
                <a:solidFill>
                  <a:srgbClr val="1F1F1F"/>
                </a:solidFill>
              </a:rPr>
              <a:t>II</a:t>
            </a:r>
            <a:r>
              <a:rPr lang="en-US" sz="1800" dirty="0">
                <a:solidFill>
                  <a:srgbClr val="1F1F1F"/>
                </a:solidFill>
              </a:rPr>
              <a:t> = Is there an effect? </a:t>
            </a:r>
            <a:r>
              <a:rPr lang="en-US" sz="1800" b="1" dirty="0">
                <a:solidFill>
                  <a:srgbClr val="1F1F1F"/>
                </a:solidFill>
              </a:rPr>
              <a:t>III</a:t>
            </a:r>
            <a:r>
              <a:rPr lang="en-US" sz="1800" dirty="0">
                <a:solidFill>
                  <a:srgbClr val="1F1F1F"/>
                </a:solidFill>
              </a:rPr>
              <a:t> = Is it confirmed at scale? </a:t>
            </a:r>
            <a:r>
              <a:rPr lang="en-US" sz="1800" b="1" dirty="0">
                <a:solidFill>
                  <a:srgbClr val="1F1F1F"/>
                </a:solidFill>
              </a:rPr>
              <a:t>IV</a:t>
            </a:r>
            <a:r>
              <a:rPr lang="en-US" sz="1800" dirty="0">
                <a:solidFill>
                  <a:srgbClr val="1F1F1F"/>
                </a:solidFill>
              </a:rPr>
              <a:t> = Is it still safe in everyone?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y = 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ontrolled conditions. Effecti</a:t>
            </a:r>
            <a:r>
              <a:rPr lang="en-US" sz="1800" b="1" dirty="0">
                <a:solidFill>
                  <a:srgbClr val="1F1F1F"/>
                </a:solidFill>
              </a:rPr>
              <a:t>V</a:t>
            </a:r>
            <a:r>
              <a:rPr lang="en-US" sz="1800" dirty="0">
                <a:solidFill>
                  <a:srgbClr val="1F1F1F"/>
                </a:solidFill>
              </a:rPr>
              <a:t>eness = real-world </a:t>
            </a:r>
            <a:r>
              <a:rPr lang="en-US" sz="1800" b="1" dirty="0">
                <a:solidFill>
                  <a:srgbClr val="1F1F1F"/>
                </a:solidFill>
              </a:rPr>
              <a:t>V</a:t>
            </a:r>
            <a:r>
              <a:rPr lang="en-US" sz="1800" dirty="0">
                <a:solidFill>
                  <a:srgbClr val="1F1F1F"/>
                </a:solidFill>
              </a:rPr>
              <a:t>ariables (adherence, comorbidities).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DRUG DEVELOPMENT &amp; REGULATION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43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884932"/>
          </a:xfrm>
          <a:prstGeom prst="roundRect">
            <a:avLst>
              <a:gd name="adj" fmla="val 38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</a:t>
            </a:r>
            <a:r>
              <a:rPr lang="en-US" sz="1800" dirty="0">
                <a:solidFill>
                  <a:srgbClr val="1F1F1F"/>
                </a:solidFill>
              </a:rPr>
              <a:t> = ideal trial conditions; </a:t>
            </a:r>
            <a:r>
              <a:rPr lang="en-US" sz="1800" b="1" dirty="0">
                <a:solidFill>
                  <a:srgbClr val="1F1F1F"/>
                </a:solidFill>
              </a:rPr>
              <a:t>effectiveness</a:t>
            </a:r>
            <a:r>
              <a:rPr lang="en-US" sz="1800" dirty="0">
                <a:solidFill>
                  <a:srgbClr val="1F1F1F"/>
                </a:solidFill>
              </a:rPr>
              <a:t> = everyday practice (adherence, comorbidities).</a:t>
            </a:r>
            <a:r>
              <a:rPr lang="en-US" sz="1300" dirty="0">
                <a:solidFill>
                  <a:srgbClr val="666666"/>
                </a:solidFill>
              </a:rPr>
              <a:t>  S14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Phase I healthy volunteers → II few hundred patients → III hundreds–thousands (confirm) → IV postmarketing.</a:t>
            </a:r>
            <a:r>
              <a:rPr lang="en-US" sz="1300" dirty="0">
                <a:solidFill>
                  <a:srgbClr val="666666"/>
                </a:solidFill>
              </a:rPr>
              <a:t>  S13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Rare adverse effects (1 in 10,000) are often first found in Phase IV.</a:t>
            </a:r>
            <a:r>
              <a:rPr lang="en-US" sz="1300" dirty="0">
                <a:solidFill>
                  <a:srgbClr val="666666"/>
                </a:solidFill>
              </a:rPr>
              <a:t>  S12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Risk-benefit is always comparative — ask "compared to what?"</a:t>
            </a:r>
            <a:r>
              <a:rPr lang="en-US" sz="1300" dirty="0">
                <a:solidFill>
                  <a:srgbClr val="666666"/>
                </a:solidFill>
              </a:rPr>
              <a:t>  S15; S15 (notes)</a:t>
            </a:r>
            <a:endParaRPr lang="en-US" sz="1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S16-17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4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44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which clinical trial phase is a drug first tested in a large patient population specifically to confirm efficacy and monitor for adverse effects at scale, just before approval?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FDA review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IV</a:t>
            </a:r>
            <a:endParaRPr lang="en-US" sz="1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4: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45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Phase III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Phase III trials enroll hundreds to thousands of patients, often at multiple sites, to confirm efficacy and monitor safety at scale before approval (S17).</a:t>
            </a:r>
            <a:r>
              <a:rPr lang="en-US" sz="1100" dirty="0">
                <a:solidFill>
                  <a:srgbClr val="666666"/>
                </a:solidFill>
              </a:rPr>
              <a:t>  S13; S16-17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Phase I — </a:t>
            </a:r>
            <a:r>
              <a:rPr lang="en-US" sz="1600" dirty="0">
                <a:solidFill>
                  <a:srgbClr val="1F1F1F"/>
                </a:solidFill>
              </a:rPr>
              <a:t>Phase I is small-scale safety/dosing in healthy volunteers (S17).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Phase II — </a:t>
            </a:r>
            <a:r>
              <a:rPr lang="en-US" sz="1600" dirty="0">
                <a:solidFill>
                  <a:srgbClr val="1F1F1F"/>
                </a:solidFill>
              </a:rPr>
              <a:t>Phase II is preliminary efficacy in a few hundred patients (S17).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FDA review — </a:t>
            </a:r>
            <a:r>
              <a:rPr lang="en-US" sz="1600" dirty="0">
                <a:solidFill>
                  <a:srgbClr val="1F1F1F"/>
                </a:solidFill>
              </a:rPr>
              <a:t>FDA review comes after clinical trials are complete, before approval (S12).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Phase IV — </a:t>
            </a:r>
            <a:r>
              <a:rPr lang="en-US" sz="1600" dirty="0">
                <a:solidFill>
                  <a:srgbClr val="1F1F1F"/>
                </a:solidFill>
              </a:rPr>
              <a:t>Phase IV is postmarketing surveillance after approval (S17).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5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46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drug relieved symptoms in most participants of a controlled multi-site trial. In your clinic, far fewer patients improve; many miss doses and have several comorbidities. Which concept best explains the gap?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narrow therapeutic index that appeared after approval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Lower potency than was measured during trial dose-finding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Extensive first-pass metabolism in the clinic's patients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antagonism of the drug by the comorbid conditions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Real-world effectiveness falling below the drug's trial efficacy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5: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47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Real-world effectiveness falling below the drug's trial efficacy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Efficacy is performance under ideal trial conditions; effectiveness is performance in everyday practice with real-world adherence and comorbidities (S14).</a:t>
            </a:r>
            <a:r>
              <a:rPr lang="en-US" sz="1100" dirty="0">
                <a:solidFill>
                  <a:srgbClr val="666666"/>
                </a:solidFill>
              </a:rPr>
              <a:t>  S14; S14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 narrow therapeutic index that appeared after approval — </a:t>
            </a:r>
            <a:r>
              <a:rPr lang="en-US" sz="1600" dirty="0">
                <a:solidFill>
                  <a:srgbClr val="1F1F1F"/>
                </a:solidFill>
              </a:rPr>
              <a:t>TI describes the gap between effective and toxic doses (S38), not missed doses or comorbidities.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Lower potency than was measured during trial dose-finding — </a:t>
            </a:r>
            <a:r>
              <a:rPr lang="en-US" sz="1600" dirty="0">
                <a:solidFill>
                  <a:srgbClr val="1F1F1F"/>
                </a:solidFill>
              </a:rPr>
              <a:t>Potency is the dose needed for an effect and matters for dosing, not for whether patients improve (S34).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Extensive first-pass metabolism in the clinic's patients — </a:t>
            </a:r>
            <a:r>
              <a:rPr lang="en-US" sz="1600" dirty="0">
                <a:solidFill>
                  <a:srgbClr val="1F1F1F"/>
                </a:solidFill>
              </a:rPr>
              <a:t>First-pass effect lowers oral bioavailability (S50-51); it doesn't explain adherence- and comorbidity-driven differences.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Competitive antagonism of the drug by the comorbid conditions — </a:t>
            </a:r>
            <a:r>
              <a:rPr lang="en-US" sz="1600" dirty="0">
                <a:solidFill>
                  <a:srgbClr val="1F1F1F"/>
                </a:solidFill>
              </a:rPr>
              <a:t>Competitive antagonism is a drug competing at the same receptor site (S22), not a disease effect.</a:t>
            </a:r>
            <a:endParaRPr lang="en-US" sz="16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6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48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Two years after approval, reports reveal a serious reaction occurring in about 1 in 10,000 patients — never seen in the clinical trials. Which best explains why it was missed before approval?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Adverse-event reporting systems accept only voluntary reports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Approval came before the drug completed any clinical trial phase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 trials enrolled patients who already had the target condition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Trial populations were too small and too short to detect so rare an event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 trials are not designed to monitor adverse effects</a:t>
            </a:r>
            <a:endParaRPr lang="en-US" sz="18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6: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49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Trial populations were too small and too short to detect so rare an event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Rare adverse effects are often first detected in Phase IV because trial populations are too small and too short in duration to catch 1-in-10,000 events (S12 notes).</a:t>
            </a:r>
            <a:r>
              <a:rPr lang="en-US" sz="1100" dirty="0">
                <a:solidFill>
                  <a:srgbClr val="666666"/>
                </a:solidFill>
              </a:rPr>
              <a:t>  S12 (notes); S13; S14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Adverse-event reporting systems accept only voluntary reports — </a:t>
            </a:r>
            <a:r>
              <a:rPr lang="en-US" sz="1600" dirty="0">
                <a:solidFill>
                  <a:srgbClr val="1F1F1F"/>
                </a:solidFill>
              </a:rPr>
              <a:t>Reporting systems are both voluntary and mandatory (S14).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Approval came before the drug completed any clinical trial phase — </a:t>
            </a:r>
            <a:r>
              <a:rPr lang="en-US" sz="1600" dirty="0">
                <a:solidFill>
                  <a:srgbClr val="1F1F1F"/>
                </a:solidFill>
              </a:rPr>
              <a:t>Approved drugs pass through a structured pipeline with clinical trials before FDA review (S12, S56).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Phase I trials enrolled patients who already had the target condition — </a:t>
            </a:r>
            <a:r>
              <a:rPr lang="en-US" sz="1600" dirty="0">
                <a:solidFill>
                  <a:srgbClr val="1F1F1F"/>
                </a:solidFill>
              </a:rPr>
              <a:t>Phase I uses a small group of healthy volunteers (S13).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Phase III trials are not designed to monitor adverse effects — </a:t>
            </a:r>
            <a:r>
              <a:rPr lang="en-US" sz="1600" dirty="0">
                <a:solidFill>
                  <a:srgbClr val="1F1F1F"/>
                </a:solidFill>
              </a:rPr>
              <a:t>Phase III confirms efficacy AND monitors adverse effects at scale (S13).</a:t>
            </a:r>
            <a:endParaRPr lang="en-US" sz="16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7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644652"/>
          </a:xfrm>
          <a:prstGeom prst="roundRect">
            <a:avLst>
              <a:gd name="adj" fmla="val 141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According to the textbook, which clinical trial phase has the highest rate of drug failures?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18084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1808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15341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272948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7294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70205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IV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27812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2781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25069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FDA review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382676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8267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379933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III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37540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3754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34797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Phase I</a:t>
            </a:r>
            <a:endParaRPr lang="en-US" sz="1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7: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SO2 · IO1.4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Phase II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Phase II has the highest failure rate; only about 25% of drugs move on to Phase III (p. 17).</a:t>
            </a:r>
            <a:r>
              <a:rPr lang="en-US" sz="1100" dirty="0">
                <a:solidFill>
                  <a:srgbClr val="666666"/>
                </a:solidFill>
              </a:rPr>
              <a:t>  p. 17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Phase IV — </a:t>
            </a:r>
            <a:r>
              <a:rPr lang="en-US" sz="1600" dirty="0">
                <a:solidFill>
                  <a:srgbClr val="1F1F1F"/>
                </a:solidFill>
              </a:rPr>
              <a:t>Phase IV is postmarketing surveillance after approval (p. 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FDA review — </a:t>
            </a:r>
            <a:r>
              <a:rPr lang="en-US" sz="1600" dirty="0">
                <a:solidFill>
                  <a:srgbClr val="1F1F1F"/>
                </a:solidFill>
              </a:rPr>
              <a:t>FDA review is the approval step after Phase III, not a trial phase (p. 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Phase III — </a:t>
            </a:r>
            <a:r>
              <a:rPr lang="en-US" sz="1600" dirty="0">
                <a:solidFill>
                  <a:srgbClr val="1F1F1F"/>
                </a:solidFill>
              </a:rPr>
              <a:t>Phase III confirms efficacy in thousands, after most failures have occurred (p. 17).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Phase I — </a:t>
            </a:r>
            <a:r>
              <a:rPr lang="en-US" sz="1600" dirty="0">
                <a:solidFill>
                  <a:srgbClr val="1F1F1F"/>
                </a:solidFill>
              </a:rPr>
              <a:t>Phase I sets the safe dose range in 20–100 subjects; it is not the main failure point (p. 17).</a:t>
            </a:r>
            <a:endParaRPr lang="en-US" sz="16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3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Pharmacodynamics: Targets &amp; Receptors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SO3 · IO1.1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52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53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4050792"/>
          </a:xfrm>
          <a:prstGeom prst="roundRect">
            <a:avLst>
              <a:gd name="adj" fmla="val 270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3182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Drug target:</a:t>
            </a:r>
            <a:r>
              <a:rPr lang="en-US" sz="1800" dirty="0">
                <a:solidFill>
                  <a:srgbClr val="1F1F1F"/>
                </a:solidFill>
              </a:rPr>
              <a:t> the specific molecule a drug binds to produce its effect.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Receptor:</a:t>
            </a:r>
            <a:r>
              <a:rPr lang="en-US" sz="1800" dirty="0">
                <a:solidFill>
                  <a:srgbClr val="1F1F1F"/>
                </a:solidFill>
              </a:rPr>
              <a:t> a protein target whose activation (or blockade) triggers a cellular response.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Signal transduction:</a:t>
            </a:r>
            <a:r>
              <a:rPr lang="en-US" sz="1800" dirty="0">
                <a:solidFill>
                  <a:srgbClr val="1F1F1F"/>
                </a:solidFill>
              </a:rPr>
              <a:t> the chain of molecular events that converts receptor binding into a cellular effect.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Pharmacologic response:</a:t>
            </a:r>
            <a:r>
              <a:rPr lang="en-US" sz="1800" dirty="0">
                <a:solidFill>
                  <a:srgbClr val="1F1F1F"/>
                </a:solidFill>
              </a:rPr>
              <a:t> the measurable downstream result — contraction, secretion, gene transcription, and so on.</a:t>
            </a:r>
            <a:r>
              <a:rPr lang="en-US" sz="1300" dirty="0">
                <a:solidFill>
                  <a:srgbClr val="666666"/>
                </a:solidFill>
              </a:rPr>
              <a:t>  S19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Full agonist — maximal receptor activation.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Partial agonist — submaximal activation, even at full receptor occupancy.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— reduces baseline (constitutive) receptor activity.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54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4498848"/>
          </a:xfrm>
          <a:prstGeom prst="roundRect">
            <a:avLst>
              <a:gd name="adj" fmla="val 243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Competitive antagonist — reversibly competes with agonist at the same site; overcome by more agonist.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Noncompetitive antagonist — binds elsewhere or irreversibly reduces the maximal effect.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Irreversible antagonist — permanently inactivates the receptor until new receptor is synthesized.</a:t>
            </a:r>
            <a:r>
              <a:rPr lang="en-US" sz="1300" dirty="0">
                <a:solidFill>
                  <a:srgbClr val="666666"/>
                </a:solidFill>
              </a:rPr>
              <a:t>  S22; SG U1-M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Orphan receptors:</a:t>
            </a:r>
            <a:r>
              <a:rPr lang="en-US" sz="1800" dirty="0">
                <a:solidFill>
                  <a:srgbClr val="1F1F1F"/>
                </a:solidFill>
              </a:rPr>
              <a:t> receptors whose natural ligand is still unknown, and so possible targets for future drugs.</a:t>
            </a:r>
            <a:r>
              <a:rPr lang="en-US" sz="1300" dirty="0">
                <a:solidFill>
                  <a:srgbClr val="666666"/>
                </a:solidFill>
              </a:rPr>
              <a:t>  p. 22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Kd:</a:t>
            </a:r>
            <a:r>
              <a:rPr lang="en-US" sz="1800" dirty="0">
                <a:solidFill>
                  <a:srgbClr val="1F1F1F"/>
                </a:solidFill>
              </a:rPr>
              <a:t> the free-drug concentration that gives half-maximal binding; a low Kd means high affinity. EC₅₀ and Kd can match but need not (spare receptors make EC₅₀ lower).</a:t>
            </a:r>
            <a:r>
              <a:rPr lang="en-US" sz="1300" dirty="0">
                <a:solidFill>
                  <a:srgbClr val="666666"/>
                </a:solidFill>
              </a:rPr>
              <a:t>  p. 23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Coupling:</a:t>
            </a:r>
            <a:r>
              <a:rPr lang="en-US" sz="1800" dirty="0">
                <a:solidFill>
                  <a:srgbClr val="1F1F1F"/>
                </a:solidFill>
              </a:rPr>
              <a:t> the chain of steps that turns receptor occupancy into a response.</a:t>
            </a:r>
            <a:r>
              <a:rPr lang="en-US" sz="1300" dirty="0">
                <a:solidFill>
                  <a:srgbClr val="666666"/>
                </a:solidFill>
              </a:rPr>
              <a:t>  p. 23</a:t>
            </a:r>
            <a:endParaRPr lang="en-US" sz="1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55</a:t>
            </a:r>
            <a:endParaRPr lang="en-US" sz="1000" dirty="0"/>
          </a:p>
        </p:txBody>
      </p:sp>
      <p:sp>
        <p:nvSpPr>
          <p:cNvPr id="7" name="How it works (1/5) card"/>
          <p:cNvSpPr/>
          <p:nvPr/>
        </p:nvSpPr>
        <p:spPr>
          <a:xfrm>
            <a:off x="548640" y="1325880"/>
            <a:ext cx="11094415" cy="4718304"/>
          </a:xfrm>
          <a:prstGeom prst="roundRect">
            <a:avLst>
              <a:gd name="adj" fmla="val 2326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5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5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5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(1/5)</a:t>
            </a:r>
            <a:endParaRPr lang="en-US" sz="1800" dirty="0"/>
          </a:p>
        </p:txBody>
      </p:sp>
      <p:sp>
        <p:nvSpPr>
          <p:cNvPr id="11" name="How it works (1/5) body"/>
          <p:cNvSpPr txBox="1"/>
          <p:nvPr/>
        </p:nvSpPr>
        <p:spPr>
          <a:xfrm>
            <a:off x="777240" y="2075688"/>
            <a:ext cx="10637215" cy="3849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pathway: drug → target → signal transduction → response. Every pharmacodynamics topic for the rest of the course maps onto this chain.</a:t>
            </a:r>
            <a:r>
              <a:rPr lang="en-US" sz="1300" dirty="0">
                <a:solidFill>
                  <a:srgbClr val="666666"/>
                </a:solidFill>
              </a:rPr>
              <a:t>  S19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Receptor concept: Drug + Receptor → Drug-Receptor Complex → Cellular Response.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This single chain underlies agonism, antagonism, potency, and efficacy — all describe different features of this interaction.</a:t>
            </a:r>
            <a:r>
              <a:rPr lang="en-US" sz="1300" dirty="0">
                <a:solidFill>
                  <a:srgbClr val="666666"/>
                </a:solidFill>
              </a:rPr>
              <a:t>  S21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Five major drug target classes: receptors, ion channels, enzymes, transporters, nucleic acids.</a:t>
            </a:r>
            <a:r>
              <a:rPr lang="en-US" sz="1300" dirty="0">
                <a:solidFill>
                  <a:srgbClr val="666666"/>
                </a:solidFill>
              </a:rPr>
              <a:t>  S20; SG U1-R5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Receptors: G-protein-coupled, ligand-gated ion channel, enzyme-linked, nuclear.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Ion channels: directly gate the flow of ions across a membrane.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Enzymes: drugs can inhibit or, less commonly, activate an enzyme's activity.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Transporters &amp; nucleic acids: carrier proteins; or DNA/RNA for some antimicrobials &amp; gene therapies.</a:t>
            </a:r>
            <a:r>
              <a:rPr lang="en-US" sz="1300" dirty="0">
                <a:solidFill>
                  <a:srgbClr val="666666"/>
                </a:solidFill>
              </a:rPr>
              <a:t>  S20</a:t>
            </a:r>
            <a:endParaRPr lang="en-US" sz="1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56</a:t>
            </a:r>
            <a:endParaRPr lang="en-US" sz="1000" dirty="0"/>
          </a:p>
        </p:txBody>
      </p:sp>
      <p:sp>
        <p:nvSpPr>
          <p:cNvPr id="7" name="How it works (2/5) card"/>
          <p:cNvSpPr/>
          <p:nvPr/>
        </p:nvSpPr>
        <p:spPr>
          <a:xfrm>
            <a:off x="548640" y="1325880"/>
            <a:ext cx="11094415" cy="4389120"/>
          </a:xfrm>
          <a:prstGeom prst="roundRect">
            <a:avLst>
              <a:gd name="adj" fmla="val 25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5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5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5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(2/5)</a:t>
            </a:r>
            <a:endParaRPr lang="en-US" sz="1800" dirty="0"/>
          </a:p>
        </p:txBody>
      </p:sp>
      <p:sp>
        <p:nvSpPr>
          <p:cNvPr id="11" name="How it works (2/5) body"/>
          <p:cNvSpPr txBox="1"/>
          <p:nvPr/>
        </p:nvSpPr>
        <p:spPr>
          <a:xfrm>
            <a:off x="777240" y="2075688"/>
            <a:ext cx="10637215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Most drugs target receptors or enzymes — ion channels and transporters matter especially for cardiac and CNS drugs.</a:t>
            </a:r>
            <a:r>
              <a:rPr lang="en-US" sz="1300" dirty="0">
                <a:solidFill>
                  <a:srgbClr val="666666"/>
                </a:solidFill>
              </a:rPr>
              <a:t>  S20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An inverse agonist actively reduces constitutive (baseline) receptor activity below normal; a true antagonist merely blocks the agonist without lowering baseline activity itself.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Spare receptors:</a:t>
            </a:r>
            <a:r>
              <a:rPr lang="en-US" sz="1800" dirty="0">
                <a:solidFill>
                  <a:srgbClr val="1F1F1F"/>
                </a:solidFill>
              </a:rPr>
              <a:t> a maximal response can occur without occupying every receptor (e.g., about 90% of cardiac β receptors can be blocked and maximal inotropic response still preserved).</a:t>
            </a:r>
            <a:r>
              <a:rPr lang="en-US" sz="1300" dirty="0">
                <a:solidFill>
                  <a:srgbClr val="666666"/>
                </a:solidFill>
              </a:rPr>
              <a:t>  p. 23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Irreversible antagonist</a:t>
            </a:r>
            <a:r>
              <a:rPr lang="en-US" sz="1800" dirty="0">
                <a:solidFill>
                  <a:srgbClr val="1F1F1F"/>
                </a:solidFill>
              </a:rPr>
              <a:t> effects last until new receptors are made — duration depends on receptor turnover, not drug elimination (phenoxybenzamine for pheochromocytoma).</a:t>
            </a:r>
            <a:r>
              <a:rPr lang="en-US" sz="1300" dirty="0">
                <a:solidFill>
                  <a:srgbClr val="666666"/>
                </a:solidFill>
              </a:rPr>
              <a:t>  p. 25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 partial agonist's lower maximal effect is </a:t>
            </a:r>
            <a:r>
              <a:rPr lang="en-US" sz="1800" b="1" dirty="0">
                <a:solidFill>
                  <a:srgbClr val="1F1F1F"/>
                </a:solidFill>
              </a:rPr>
              <a:t>not</a:t>
            </a:r>
            <a:r>
              <a:rPr lang="en-US" sz="1800" dirty="0">
                <a:solidFill>
                  <a:srgbClr val="1F1F1F"/>
                </a:solidFill>
              </a:rPr>
              <a:t> due to lower affinity — it can occupy all receptors and still produce less response.</a:t>
            </a:r>
            <a:r>
              <a:rPr lang="en-US" sz="1300" dirty="0">
                <a:solidFill>
                  <a:srgbClr val="666666"/>
                </a:solidFill>
              </a:rPr>
              <a:t>  p. 26</a:t>
            </a:r>
            <a:endParaRPr lang="en-US" sz="1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57</a:t>
            </a:r>
            <a:endParaRPr lang="en-US" sz="1000" dirty="0"/>
          </a:p>
        </p:txBody>
      </p:sp>
      <p:sp>
        <p:nvSpPr>
          <p:cNvPr id="7" name="How it works (3/5) card"/>
          <p:cNvSpPr/>
          <p:nvPr/>
        </p:nvSpPr>
        <p:spPr>
          <a:xfrm>
            <a:off x="548640" y="1325880"/>
            <a:ext cx="11094415" cy="4558284"/>
          </a:xfrm>
          <a:prstGeom prst="roundRect">
            <a:avLst>
              <a:gd name="adj" fmla="val 240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3/5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3/5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3/5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(3/5)</a:t>
            </a:r>
            <a:endParaRPr lang="en-US" sz="1800" dirty="0"/>
          </a:p>
        </p:txBody>
      </p:sp>
      <p:sp>
        <p:nvSpPr>
          <p:cNvPr id="11" name="How it works (3/5) body"/>
          <p:cNvSpPr txBox="1"/>
          <p:nvPr/>
        </p:nvSpPr>
        <p:spPr>
          <a:xfrm>
            <a:off x="777240" y="2075688"/>
            <a:ext cx="10637215" cy="368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Allosteric modulators</a:t>
            </a:r>
            <a:r>
              <a:rPr lang="en-US" sz="1800" dirty="0">
                <a:solidFill>
                  <a:srgbClr val="1F1F1F"/>
                </a:solidFill>
              </a:rPr>
              <a:t> bind a different site from the agonist (e.g., benzodiazepines enhance GABA's effect).</a:t>
            </a:r>
            <a:r>
              <a:rPr lang="en-US" sz="1300" dirty="0">
                <a:solidFill>
                  <a:srgbClr val="666666"/>
                </a:solidFill>
              </a:rPr>
              <a:t>  p. 25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Agonist-induced </a:t>
            </a:r>
            <a:r>
              <a:rPr lang="en-US" sz="1800" b="1" dirty="0">
                <a:solidFill>
                  <a:srgbClr val="1F1F1F"/>
                </a:solidFill>
              </a:rPr>
              <a:t>desensitization</a:t>
            </a:r>
            <a:r>
              <a:rPr lang="en-US" sz="1800" dirty="0">
                <a:solidFill>
                  <a:srgbClr val="1F1F1F"/>
                </a:solidFill>
              </a:rPr>
              <a:t> (tachyphylaxis) and downregulation reduce response with continued exposure.</a:t>
            </a:r>
            <a:r>
              <a:rPr lang="en-US" sz="1300" dirty="0">
                <a:solidFill>
                  <a:srgbClr val="666666"/>
                </a:solidFill>
              </a:rPr>
              <a:t>  p. 39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Drug targets beyond signaling receptors: </a:t>
            </a:r>
            <a:r>
              <a:rPr lang="en-US" sz="1800" b="1" dirty="0">
                <a:solidFill>
                  <a:srgbClr val="1F1F1F"/>
                </a:solidFill>
              </a:rPr>
              <a:t>enzymes</a:t>
            </a:r>
            <a:r>
              <a:rPr lang="en-US" sz="1800" dirty="0">
                <a:solidFill>
                  <a:srgbClr val="1F1F1F"/>
                </a:solidFill>
              </a:rPr>
              <a:t> (methotrexate on dihydrofolate reductase, statins on HMG-CoA reductase), </a:t>
            </a:r>
            <a:r>
              <a:rPr lang="en-US" sz="1800" b="1" dirty="0">
                <a:solidFill>
                  <a:srgbClr val="1F1F1F"/>
                </a:solidFill>
              </a:rPr>
              <a:t>transport proteins</a:t>
            </a:r>
            <a:r>
              <a:rPr lang="en-US" sz="1800" dirty="0">
                <a:solidFill>
                  <a:srgbClr val="1F1F1F"/>
                </a:solidFill>
              </a:rPr>
              <a:t> (digitalis on Na⁺/K⁺-ATPase, antidepressants on serotonin and norepinephrine transporters, cocaine on the dopamine transporter) and </a:t>
            </a:r>
            <a:r>
              <a:rPr lang="en-US" sz="1800" b="1" dirty="0">
                <a:solidFill>
                  <a:srgbClr val="1F1F1F"/>
                </a:solidFill>
              </a:rPr>
              <a:t>structural proteins</a:t>
            </a:r>
            <a:r>
              <a:rPr lang="en-US" sz="1800" dirty="0">
                <a:solidFill>
                  <a:srgbClr val="1F1F1F"/>
                </a:solidFill>
              </a:rPr>
              <a:t> (colchicine on tubulin).</a:t>
            </a:r>
            <a:r>
              <a:rPr lang="en-US" sz="1300" dirty="0">
                <a:solidFill>
                  <a:srgbClr val="666666"/>
                </a:solidFill>
              </a:rPr>
              <a:t>  p. 22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Intracellular receptors</a:t>
            </a:r>
            <a:r>
              <a:rPr lang="en-US" sz="1800" dirty="0">
                <a:solidFill>
                  <a:srgbClr val="1F1F1F"/>
                </a:solidFill>
              </a:rPr>
              <a:t> (corticosteroids, sex steroids, vitamin D, thyroid hormone) change gene transcription, so effects begin only after 30 minutes to several hours and outlast the drug by hours or days.</a:t>
            </a:r>
            <a:r>
              <a:rPr lang="en-US" sz="1300" dirty="0">
                <a:solidFill>
                  <a:srgbClr val="666666"/>
                </a:solidFill>
              </a:rPr>
              <a:t>  p. 28</a:t>
            </a:r>
            <a:endParaRPr lang="en-US" sz="14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58</a:t>
            </a:r>
            <a:endParaRPr lang="en-US" sz="1000" dirty="0"/>
          </a:p>
        </p:txBody>
      </p:sp>
      <p:sp>
        <p:nvSpPr>
          <p:cNvPr id="7" name="How it works (4/5) card"/>
          <p:cNvSpPr/>
          <p:nvPr/>
        </p:nvSpPr>
        <p:spPr>
          <a:xfrm>
            <a:off x="548640" y="1325880"/>
            <a:ext cx="11094415" cy="4279392"/>
          </a:xfrm>
          <a:prstGeom prst="roundRect">
            <a:avLst>
              <a:gd name="adj" fmla="val 25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4/5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4/5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4/5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(4/5)</a:t>
            </a:r>
            <a:endParaRPr lang="en-US" sz="1800" dirty="0"/>
          </a:p>
        </p:txBody>
      </p:sp>
      <p:sp>
        <p:nvSpPr>
          <p:cNvPr id="11" name="How it works (4/5) body"/>
          <p:cNvSpPr txBox="1"/>
          <p:nvPr/>
        </p:nvSpPr>
        <p:spPr>
          <a:xfrm>
            <a:off x="777240" y="2075688"/>
            <a:ext cx="10637215" cy="3410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Receptor tyrosine kinases</a:t>
            </a:r>
            <a:r>
              <a:rPr lang="en-US" sz="1800" dirty="0">
                <a:solidFill>
                  <a:srgbClr val="1F1F1F"/>
                </a:solidFill>
              </a:rPr>
              <a:t> (insulin, EGF, PDGF): ligand binding makes two receptors pair up (dimerize) and phosphorylate tyrosines on themselves and on downstream proteins.</a:t>
            </a:r>
            <a:r>
              <a:rPr lang="en-US" sz="1300" dirty="0">
                <a:solidFill>
                  <a:srgbClr val="666666"/>
                </a:solidFill>
              </a:rPr>
              <a:t>  p. 28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Cytokine receptors</a:t>
            </a:r>
            <a:r>
              <a:rPr lang="en-US" sz="1800" dirty="0">
                <a:solidFill>
                  <a:srgbClr val="1F1F1F"/>
                </a:solidFill>
              </a:rPr>
              <a:t> (growth hormone, erythropoietin, interferons) borrow a separate tyrosine kinase, </a:t>
            </a:r>
            <a:r>
              <a:rPr lang="en-US" sz="1800" b="1" dirty="0">
                <a:solidFill>
                  <a:srgbClr val="1F1F1F"/>
                </a:solidFill>
              </a:rPr>
              <a:t>JAK</a:t>
            </a:r>
            <a:r>
              <a:rPr lang="en-US" sz="1800" dirty="0">
                <a:solidFill>
                  <a:srgbClr val="1F1F1F"/>
                </a:solidFill>
              </a:rPr>
              <a:t>, which activates </a:t>
            </a:r>
            <a:r>
              <a:rPr lang="en-US" sz="1800" b="1" dirty="0">
                <a:solidFill>
                  <a:srgbClr val="1F1F1F"/>
                </a:solidFill>
              </a:rPr>
              <a:t>STAT</a:t>
            </a:r>
            <a:r>
              <a:rPr lang="en-US" sz="1800" dirty="0">
                <a:solidFill>
                  <a:srgbClr val="1F1F1F"/>
                </a:solidFill>
              </a:rPr>
              <a:t> proteins that carry the signal into the nucleus.</a:t>
            </a:r>
            <a:r>
              <a:rPr lang="en-US" sz="1300" dirty="0">
                <a:solidFill>
                  <a:srgbClr val="666666"/>
                </a:solidFill>
              </a:rPr>
              <a:t>  p. 29; p. 30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Ligand-gated ion channels</a:t>
            </a:r>
            <a:r>
              <a:rPr lang="en-US" sz="1800" dirty="0">
                <a:solidFill>
                  <a:srgbClr val="1F1F1F"/>
                </a:solidFill>
              </a:rPr>
              <a:t> (nicotinic acetylcholine, GABA, glutamate, serotonin) act within milliseconds; </a:t>
            </a:r>
            <a:r>
              <a:rPr lang="en-US" sz="1800" b="1" dirty="0">
                <a:solidFill>
                  <a:srgbClr val="1F1F1F"/>
                </a:solidFill>
              </a:rPr>
              <a:t>voltage-gated channels</a:t>
            </a:r>
            <a:r>
              <a:rPr lang="en-US" sz="1800" dirty="0">
                <a:solidFill>
                  <a:srgbClr val="1F1F1F"/>
                </a:solidFill>
              </a:rPr>
              <a:t> are targets too: verapamil blocks calcium channels, local anesthetics block sodium channels.</a:t>
            </a:r>
            <a:r>
              <a:rPr lang="en-US" sz="1300" dirty="0">
                <a:solidFill>
                  <a:srgbClr val="666666"/>
                </a:solidFill>
              </a:rPr>
              <a:t>  p. 30; p. 31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G protein–coupled receptors</a:t>
            </a:r>
            <a:r>
              <a:rPr lang="en-US" sz="1800" dirty="0">
                <a:solidFill>
                  <a:srgbClr val="1F1F1F"/>
                </a:solidFill>
              </a:rPr>
              <a:t> (seven-transmembrane, the largest family): the agonist makes the G protein swap GDP for GTP, the G protein changes an effector enzyme or channel, and the effector changes a second messenger.</a:t>
            </a:r>
            <a:r>
              <a:rPr lang="en-US" sz="1300" dirty="0">
                <a:solidFill>
                  <a:srgbClr val="666666"/>
                </a:solidFill>
              </a:rPr>
              <a:t>  p. 31; p. 32</a:t>
            </a:r>
            <a:endParaRPr lang="en-US" sz="14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59</a:t>
            </a:r>
            <a:endParaRPr lang="en-US" sz="1000" dirty="0"/>
          </a:p>
        </p:txBody>
      </p:sp>
      <p:sp>
        <p:nvSpPr>
          <p:cNvPr id="7" name="How it works (5/5) card"/>
          <p:cNvSpPr/>
          <p:nvPr/>
        </p:nvSpPr>
        <p:spPr>
          <a:xfrm>
            <a:off x="548640" y="1325880"/>
            <a:ext cx="11094415" cy="2665476"/>
          </a:xfrm>
          <a:prstGeom prst="roundRect">
            <a:avLst>
              <a:gd name="adj" fmla="val 411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5/5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5/5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5/5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(5/5)</a:t>
            </a:r>
            <a:endParaRPr lang="en-US" sz="1800" dirty="0"/>
          </a:p>
        </p:txBody>
      </p:sp>
      <p:sp>
        <p:nvSpPr>
          <p:cNvPr id="11" name="How it works (5/5) body"/>
          <p:cNvSpPr txBox="1"/>
          <p:nvPr/>
        </p:nvSpPr>
        <p:spPr>
          <a:xfrm>
            <a:off x="777240" y="2075688"/>
            <a:ext cx="10637215" cy="179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cAMP</a:t>
            </a:r>
            <a:r>
              <a:rPr lang="en-US" sz="1800" dirty="0">
                <a:solidFill>
                  <a:srgbClr val="1F1F1F"/>
                </a:solidFill>
              </a:rPr>
              <a:t> acts through cAMP-dependent protein kinase and is broken down by phosphodiesterases; </a:t>
            </a:r>
            <a:r>
              <a:rPr lang="en-US" sz="1800" b="1" dirty="0">
                <a:solidFill>
                  <a:srgbClr val="1F1F1F"/>
                </a:solidFill>
              </a:rPr>
              <a:t>cGMP</a:t>
            </a:r>
            <a:r>
              <a:rPr lang="en-US" sz="1800" dirty="0">
                <a:solidFill>
                  <a:srgbClr val="1F1F1F"/>
                </a:solidFill>
              </a:rPr>
              <a:t> relaxes vascular smooth muscle and is raised by atrial natriuretic peptide and by nitric oxide (the route of nitroglycerin and nitroprusside).</a:t>
            </a:r>
            <a:r>
              <a:rPr lang="en-US" sz="1300" dirty="0">
                <a:solidFill>
                  <a:srgbClr val="666666"/>
                </a:solidFill>
              </a:rPr>
              <a:t>  p. 34; p. 35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Continued agonist exposure </a:t>
            </a:r>
            <a:r>
              <a:rPr lang="en-US" sz="1800" b="1" dirty="0">
                <a:solidFill>
                  <a:srgbClr val="1F1F1F"/>
                </a:solidFill>
              </a:rPr>
              <a:t>desensitizes</a:t>
            </a:r>
            <a:r>
              <a:rPr lang="en-US" sz="1800" dirty="0">
                <a:solidFill>
                  <a:srgbClr val="1F1F1F"/>
                </a:solidFill>
              </a:rPr>
              <a:t> G protein receptors: a receptor kinase phosphorylates the receptor and β-arrestin binds it; endocytosis of receptors can lead to downregulation.</a:t>
            </a:r>
            <a:r>
              <a:rPr lang="en-US" sz="1300" dirty="0">
                <a:solidFill>
                  <a:srgbClr val="666666"/>
                </a:solidFill>
              </a:rPr>
              <a:t>  p. 34</a:t>
            </a:r>
            <a:endParaRPr lang="en-US" sz="14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60</a:t>
            </a:r>
            <a:endParaRPr lang="en-US" sz="1000" dirty="0"/>
          </a:p>
        </p:txBody>
      </p:sp>
      <p:sp>
        <p:nvSpPr>
          <p:cNvPr id="7" name="Clinical relevance (1/2)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(1/2)</a:t>
            </a:r>
            <a:endParaRPr lang="en-US" sz="1800" dirty="0"/>
          </a:p>
        </p:txBody>
      </p:sp>
      <p:sp>
        <p:nvSpPr>
          <p:cNvPr id="11" name="Clinical relevance (1/2)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is a selective β2-adrenergic receptor agonist.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Binding activates the β2 receptor → increases intracellular cAMP.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Rising cAMP relaxes bronchial smooth muscle → bronchodilation.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This is the same receptor-to-response logic you will reuse for every agonist drug this term.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bridges introductory pharmacodynamics into the pulmonary pharmacology seen later in the curriculum.</a:t>
            </a:r>
            <a:r>
              <a:rPr lang="en-US" sz="1300" dirty="0">
                <a:solidFill>
                  <a:srgbClr val="666666"/>
                </a:solidFill>
              </a:rPr>
              <a:t>  S26 (notes)</a:t>
            </a:r>
            <a:endParaRPr lang="en-US" sz="18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61</a:t>
            </a:r>
            <a:endParaRPr lang="en-US" sz="1000" dirty="0"/>
          </a:p>
        </p:txBody>
      </p:sp>
      <p:sp>
        <p:nvSpPr>
          <p:cNvPr id="7" name="Clinical relevance (2/2) card"/>
          <p:cNvSpPr/>
          <p:nvPr/>
        </p:nvSpPr>
        <p:spPr>
          <a:xfrm>
            <a:off x="548640" y="1325880"/>
            <a:ext cx="11094415" cy="4389120"/>
          </a:xfrm>
          <a:prstGeom prst="roundRect">
            <a:avLst>
              <a:gd name="adj" fmla="val 25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(2/2)</a:t>
            </a:r>
            <a:endParaRPr lang="en-US" sz="1800" dirty="0"/>
          </a:p>
        </p:txBody>
      </p:sp>
      <p:sp>
        <p:nvSpPr>
          <p:cNvPr id="11" name="Clinical relevance (2/2) body"/>
          <p:cNvSpPr txBox="1"/>
          <p:nvPr/>
        </p:nvSpPr>
        <p:spPr>
          <a:xfrm>
            <a:off x="777240" y="2075688"/>
            <a:ext cx="10637215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Competitive antagonism is surmountable in real life: exercise or stress raises catecholamines enough to overcome a fixed propranolol dose.</a:t>
            </a:r>
            <a:r>
              <a:rPr lang="en-US" sz="1300" dirty="0">
                <a:solidFill>
                  <a:srgbClr val="666666"/>
                </a:solidFill>
              </a:rPr>
              <a:t>  p. 25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Propranolol markedly slows the heart rate in pheochromocytoma (high catecholamines) but not the resting rate of a trained marathon runner.</a:t>
            </a:r>
            <a:r>
              <a:rPr lang="en-US" sz="1300" dirty="0">
                <a:solidFill>
                  <a:srgbClr val="666666"/>
                </a:solidFill>
              </a:rPr>
              <a:t>  p. 39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Glucocorticoids will not relieve an acute asthma attack within minutes, because gene-acting drugs need time to make new proteins.</a:t>
            </a:r>
            <a:r>
              <a:rPr lang="en-US" sz="1300" dirty="0">
                <a:solidFill>
                  <a:srgbClr val="666666"/>
                </a:solidFill>
              </a:rPr>
              <a:t>  p. 28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Tyrosine kinase signaling is blocked in cancer by antibodies on the outside of the receptor (trastuzumab, cetuximab) or small molecules inside the cell (gefitinib, erlotinib).</a:t>
            </a:r>
            <a:r>
              <a:rPr lang="en-US" sz="1300" dirty="0">
                <a:solidFill>
                  <a:srgbClr val="666666"/>
                </a:solidFill>
              </a:rPr>
              <a:t>  p. 29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Phosphodiesterase inhibitors prolong second messengers: milrinone (cardiac PDE3, cAMP) and sildenafil (cGMP).</a:t>
            </a:r>
            <a:r>
              <a:rPr lang="en-US" sz="1300" dirty="0">
                <a:solidFill>
                  <a:srgbClr val="666666"/>
                </a:solidFill>
              </a:rPr>
              <a:t>  p. 34; p. 35</a:t>
            </a:r>
            <a:endParaRPr lang="en-US" sz="14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62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11094415" cy="2775204"/>
          </a:xfrm>
          <a:prstGeom prst="roundRect">
            <a:avLst>
              <a:gd name="adj" fmla="val 395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10637215" cy="19065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Albuterol — selective β2-adrenergic agonist (example of agonism).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Chemical antagonism</a:t>
            </a:r>
            <a:r>
              <a:rPr lang="en-US" sz="1800" dirty="0">
                <a:solidFill>
                  <a:srgbClr val="1F1F1F"/>
                </a:solidFill>
              </a:rPr>
              <a:t> needs no receptor: positively charged protamine binds and neutralizes negatively charged heparin.</a:t>
            </a:r>
            <a:r>
              <a:rPr lang="en-US" sz="1300" dirty="0">
                <a:solidFill>
                  <a:srgbClr val="666666"/>
                </a:solidFill>
              </a:rPr>
              <a:t>  p. 26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Physiologic antagonism:</a:t>
            </a:r>
            <a:r>
              <a:rPr lang="en-US" sz="1800" dirty="0">
                <a:solidFill>
                  <a:srgbClr val="1F1F1F"/>
                </a:solidFill>
              </a:rPr>
              <a:t> two drugs act on different receptors with opposing effects (e.g., insulin opposes glucocorticoid-induced hyperglycemia).</a:t>
            </a:r>
            <a:r>
              <a:rPr lang="en-US" sz="1300" dirty="0">
                <a:solidFill>
                  <a:srgbClr val="666666"/>
                </a:solidFill>
              </a:rPr>
              <a:t>  p. 27</a:t>
            </a:r>
            <a:endParaRPr lang="en-US" sz="18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63</a:t>
            </a:r>
            <a:endParaRPr lang="en-US" sz="1000" dirty="0"/>
          </a:p>
        </p:txBody>
      </p:sp>
      <p:sp>
        <p:nvSpPr>
          <p:cNvPr id="7" name="Exam traps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Exam trap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9" name="Exam trap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Exam trap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1" name="Exam traps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Classic exam trap: a competitive antagonist shifts the dose-response curve </a:t>
            </a:r>
            <a:r>
              <a:rPr lang="en-US" sz="1800" b="1" dirty="0">
                <a:solidFill>
                  <a:srgbClr val="1F1F1F"/>
                </a:solidFill>
              </a:rPr>
              <a:t>right</a:t>
            </a:r>
            <a:r>
              <a:rPr lang="en-US" sz="1800" dirty="0">
                <a:solidFill>
                  <a:srgbClr val="1F1F1F"/>
                </a:solidFill>
              </a:rPr>
              <a:t> (same Emax, more drug needed); a noncompetitive/irreversible antagonist </a:t>
            </a:r>
            <a:r>
              <a:rPr lang="en-US" sz="1800" b="1" dirty="0">
                <a:solidFill>
                  <a:srgbClr val="1F1F1F"/>
                </a:solidFill>
              </a:rPr>
              <a:t>lowers the Emax</a:t>
            </a:r>
            <a:r>
              <a:rPr lang="en-US" sz="1800" dirty="0">
                <a:solidFill>
                  <a:srgbClr val="1F1F1F"/>
                </a:solidFill>
              </a:rPr>
              <a:t> instead.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rightward shift with an unchanged plateau is the graphical signature of competitive antagonism — potency falls, but because the antagonism is surmountable, enough agonist can still reach the original Emax.</a:t>
            </a:r>
            <a:r>
              <a:rPr lang="en-US" sz="1300" dirty="0">
                <a:solidFill>
                  <a:srgbClr val="666666"/>
                </a:solidFill>
              </a:rPr>
              <a:t>  S25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≠ antagonist: only the inverse agonist lowers baseline activity below normal, without any agonist present.</a:t>
            </a:r>
            <a:r>
              <a:rPr lang="en-US" sz="1300" dirty="0">
                <a:solidFill>
                  <a:srgbClr val="666666"/>
                </a:solidFill>
              </a:rPr>
              <a:t>  S27-28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9FE0D8"/>
                </a:highlight>
              </a:rPr>
              <a:t> SG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Study-guide distractor: "has no effect on receptor activity whatsoever" matches none of the agonist/antagonist types.</a:t>
            </a:r>
            <a:r>
              <a:rPr lang="en-US" sz="1300" dirty="0">
                <a:solidFill>
                  <a:srgbClr val="666666"/>
                </a:solidFill>
              </a:rPr>
              <a:t>  SG U1-M</a:t>
            </a:r>
            <a:endParaRPr lang="en-US" sz="18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1 · Agonist &amp; antagonist effects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64</a:t>
            </a:r>
            <a:endParaRPr lang="en-US" sz="1000" dirty="0"/>
          </a:p>
        </p:txBody>
      </p:sp>
      <p:pic>
        <p:nvPicPr>
          <p:cNvPr id="7" name="Figure S23_1.png" descr="/home/user/dpas-pharm/work/L01/figures/S23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4353" y="1325880"/>
            <a:ext cx="6622989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curves (not Katzung data): a competitive antagonist shifts the curve right with the same Emax; a noncompetitive/irreversible antagonist lowers Emax instead. Read left to right: agonist alone → competitive (shifted right, same ceiling) → noncompetitive (lower ceiling).</a:t>
            </a:r>
            <a:r>
              <a:rPr lang="en-US" sz="1100" dirty="0">
                <a:solidFill>
                  <a:srgbClr val="666666"/>
                </a:solidFill>
              </a:rPr>
              <a:t>  S23; S23 (notes)</a:t>
            </a:r>
            <a:endParaRPr lang="en-US" sz="16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Agonists vs. antagonists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65</a:t>
            </a:r>
            <a:endParaRPr lang="en-US" sz="1000" dirty="0"/>
          </a:p>
        </p:txBody>
      </p:sp>
      <p:graphicFrame>
        <p:nvGraphicFramePr>
          <p:cNvPr id="66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Type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does at the receptor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Dose-response curve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to tell apart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Full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Maximal receptor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Reaches maximal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Partial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Submaximal activation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Submaximal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even at full occupancy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Inverse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Reduces baseline (constitutive) activity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Lowers activity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below normal with no agonist present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Competitive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Reversibly competes at the same site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Shifts right, same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Overcome by more agonist (surmountable)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Noncompetitive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Binds elsewhere or irreversibly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Lowers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Plateaus lower instead of shifting right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Irreversible antagonist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Permanently inactivates the receptor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Lowers Emax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Lasts until new receptor is synthesized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3340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S22; S22 (notes); S25; S27-28</a:t>
            </a:r>
            <a:endParaRPr lang="en-US" sz="11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The five major drug target classes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66</a:t>
            </a:r>
            <a:endParaRPr lang="en-US" sz="1000" dirty="0"/>
          </a:p>
        </p:txBody>
      </p:sp>
      <p:graphicFrame>
        <p:nvGraphicFramePr>
          <p:cNvPr id="67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Target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What it is / does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Note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Receptors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G-protein-coupled, ligand-gated ion channel, enzyme-linked, nuclear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common target (with enzymes)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Ion channels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Directly gate the flow of ions across a membrane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Especially cardiac and CNS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Enzymes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Drugs inhibit or, less commonly, activate them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common target (with receptors)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Transporters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Carrier proteins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Especially cardiac and CNS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Nucleic acids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DNA/RNA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Some antimicrobials &amp; gene therapies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96646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S20; S20 (notes)</a:t>
            </a:r>
            <a:endParaRPr lang="en-US" sz="11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Five ways a signal crosses the membrane (textbook Ch. 2)</a:t>
            </a:r>
            <a:endParaRPr lang="en-US" sz="22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67</a:t>
            </a:r>
            <a:endParaRPr lang="en-US" sz="1000" dirty="0"/>
          </a:p>
        </p:txBody>
      </p:sp>
      <p:graphicFrame>
        <p:nvGraphicFramePr>
          <p:cNvPr id="68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05658"/>
                <a:gridCol w="2905658"/>
                <a:gridCol w="290565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Mechanism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Examples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How it signals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Clinical point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Intracellular receptor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Corticosteroids, sex steroids, vitamin D, thyroid hormone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Lipid-soluble ligand enters the cell; receptor changes gene transcription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Effects lag 30 min to hours and persist after the drug is gone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Receptor tyrosine kinase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Insulin, EGF, PDGF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Receptors dimerize and phosphorylate tyrosines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Blocked in cancer (trastuzumab, gefitinib)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Cytokine receptor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Growth hormone, erythropoietin, interferons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Separate JAK kinase activates STATs, which enter the nucleus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Same pattern as tyrosine kinases, kinase is a separate protein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Ion channel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Nicotinic ACh, GABA, glutamate; voltage-gated Ca²⁺ and Na⁺ channels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Opens or blocks ion flow, changing membrane potential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Fastest signal (milliseconds); verapamil, local anesthetics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G protein–coupled receptor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β and α adrenoceptors, muscarinic ACh, opioids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 protein (GTP) changes an effector, which changes a second messenger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Largest family; desensitizes with continued agonist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949696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000" dirty="0">
                <a:solidFill>
                  <a:srgbClr val="000000"/>
                </a:solidFill>
              </a:rPr>
              <a:t>  </a:t>
            </a:r>
            <a:r>
              <a:rPr lang="en-US" sz="1100" dirty="0">
                <a:solidFill>
                  <a:srgbClr val="666666"/>
                </a:solidFill>
              </a:rPr>
              <a:t>Focus: what tells these apart.  Sources: p. 28-32</a:t>
            </a:r>
            <a:endParaRPr lang="en-US" sz="10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G proteins and their second messengers (textbook Table 2–1)</a:t>
            </a:r>
            <a:endParaRPr lang="en-US" sz="21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68</a:t>
            </a:r>
            <a:endParaRPr lang="en-US" sz="1000" dirty="0"/>
          </a:p>
        </p:txBody>
      </p:sp>
      <p:graphicFrame>
        <p:nvGraphicFramePr>
          <p:cNvPr id="6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G protein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Receptors for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Effect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β-adrenergic amines, histamine, glucagon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↑ adenylyl cyclase → ↑ cAMP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Gi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α₂-adrenergic amines, muscarinic ACh, opioids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↓ cAMP; opens cardiac K⁺ channels → ↓ heart rate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Gq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Muscarinic ACh, serotonin (5-HT₂)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↑ phospholipase C → IP₃, DAG, ↑ cytoplasmic Ca²⁺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Gt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Light (rhodopsin)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↑ cGMP phosphodiesterase → ↓ cGMP (vision)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83844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000" dirty="0">
                <a:solidFill>
                  <a:srgbClr val="000000"/>
                </a:solidFill>
              </a:rPr>
              <a:t>  </a:t>
            </a:r>
            <a:r>
              <a:rPr lang="en-US" sz="1100" dirty="0">
                <a:solidFill>
                  <a:srgbClr val="666666"/>
                </a:solidFill>
              </a:rPr>
              <a:t>Focus: what tells these apart.  Sources: p. 32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69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555748"/>
          </a:xfrm>
          <a:prstGeom prst="roundRect">
            <a:avLst>
              <a:gd name="adj" fmla="val 429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687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can more agonist overcome a competitive antagonist? Both compete </a:t>
            </a:r>
            <a:r>
              <a:rPr lang="en-US" sz="1800" b="1" dirty="0">
                <a:solidFill>
                  <a:srgbClr val="1F1F1F"/>
                </a:solidFill>
              </a:rPr>
              <a:t>reversibly for the same site</a:t>
            </a:r>
            <a:r>
              <a:rPr lang="en-US" sz="1800" dirty="0">
                <a:solidFill>
                  <a:srgbClr val="1F1F1F"/>
                </a:solidFill>
              </a:rPr>
              <a:t> — flood the site with agonist and it wins, so the curve shifts right but the same Emax is still reached.</a:t>
            </a:r>
            <a:r>
              <a:rPr lang="en-US" sz="1300" dirty="0">
                <a:solidFill>
                  <a:srgbClr val="666666"/>
                </a:solidFill>
              </a:rPr>
              <a:t>  S22; S25</a:t>
            </a:r>
            <a:endParaRPr lang="en-US" sz="1800" dirty="0"/>
          </a:p>
        </p:txBody>
      </p:sp>
      <p:sp>
        <p:nvSpPr>
          <p:cNvPr id="12" name="Why it happens card"/>
          <p:cNvSpPr/>
          <p:nvPr/>
        </p:nvSpPr>
        <p:spPr>
          <a:xfrm>
            <a:off x="6278728" y="1325880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Why it happe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15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6" name="Why it happens body"/>
          <p:cNvSpPr txBox="1"/>
          <p:nvPr/>
        </p:nvSpPr>
        <p:spPr>
          <a:xfrm>
            <a:off x="6507328" y="2075688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albuterol open the airways? β2 activation → ↑ intracellular cAMP → bronchial smooth muscle relaxes → bronchodilation.</a:t>
            </a:r>
            <a:r>
              <a:rPr lang="en-US" sz="1300" dirty="0">
                <a:solidFill>
                  <a:srgbClr val="666666"/>
                </a:solidFill>
              </a:rPr>
              <a:t>  S26</a:t>
            </a:r>
            <a:endParaRPr lang="en-US" sz="1800" dirty="0"/>
          </a:p>
        </p:txBody>
      </p:sp>
      <p:sp>
        <p:nvSpPr>
          <p:cNvPr id="17" name="Mnemonic (memory aid) card"/>
          <p:cNvSpPr/>
          <p:nvPr/>
        </p:nvSpPr>
        <p:spPr>
          <a:xfrm>
            <a:off x="6278728" y="3552444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Mnemonic (memory aid) icon circle"/>
          <p:cNvSpPr/>
          <p:nvPr/>
        </p:nvSpPr>
        <p:spPr>
          <a:xfrm>
            <a:off x="6507328" y="3735324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9" name="Mnemonic (memory aid)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3835908"/>
            <a:ext cx="237744" cy="237744"/>
          </a:xfrm>
          <a:prstGeom prst="rect">
            <a:avLst/>
          </a:prstGeom>
        </p:spPr>
      </p:pic>
      <p:sp>
        <p:nvSpPr>
          <p:cNvPr id="20" name="Mnemonic (memory aid) heading"/>
          <p:cNvSpPr txBox="1"/>
          <p:nvPr/>
        </p:nvSpPr>
        <p:spPr>
          <a:xfrm>
            <a:off x="7083400" y="3735324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1" name="Mnemonic (memory aid) body"/>
          <p:cNvSpPr txBox="1"/>
          <p:nvPr/>
        </p:nvSpPr>
        <p:spPr>
          <a:xfrm>
            <a:off x="6507328" y="4302252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ompetitive = </a:t>
            </a:r>
            <a:r>
              <a:rPr lang="en-US" sz="1800" b="1" dirty="0">
                <a:solidFill>
                  <a:srgbClr val="1F1F1F"/>
                </a:solidFill>
              </a:rPr>
              <a:t>C</a:t>
            </a:r>
            <a:r>
              <a:rPr lang="en-US" sz="1800" dirty="0">
                <a:solidFill>
                  <a:srgbClr val="1F1F1F"/>
                </a:solidFill>
              </a:rPr>
              <a:t>an be outcompeted (shift right).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oncompetitive =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o full ceiling (lower Emax).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PHARMACODYNAMICS: TARGETS &amp; RECEPTORS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70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Drug → target → signal transduction → response.</a:t>
            </a:r>
            <a:r>
              <a:rPr lang="en-US" sz="1300" dirty="0">
                <a:solidFill>
                  <a:srgbClr val="666666"/>
                </a:solidFill>
              </a:rPr>
              <a:t>  S19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Five target classes: receptors, ion channels, enzymes, transporters, nucleic acids.</a:t>
            </a:r>
            <a:r>
              <a:rPr lang="en-US" sz="1300" dirty="0">
                <a:solidFill>
                  <a:srgbClr val="666666"/>
                </a:solidFill>
              </a:rPr>
              <a:t>  S20; SG U1-R5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Competitive antagonist = curve </a:t>
            </a:r>
            <a:r>
              <a:rPr lang="en-US" sz="1800" b="1" dirty="0">
                <a:solidFill>
                  <a:srgbClr val="1F1F1F"/>
                </a:solidFill>
              </a:rPr>
              <a:t>shifts right, same Emax</a:t>
            </a:r>
            <a:r>
              <a:rPr lang="en-US" sz="1800" dirty="0">
                <a:solidFill>
                  <a:srgbClr val="1F1F1F"/>
                </a:solidFill>
              </a:rPr>
              <a:t>; noncompetitive/irreversible = </a:t>
            </a:r>
            <a:r>
              <a:rPr lang="en-US" sz="1800" b="1" dirty="0">
                <a:solidFill>
                  <a:srgbClr val="1F1F1F"/>
                </a:solidFill>
              </a:rPr>
              <a:t>lower Emax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S22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Inverse agonist lowers baseline activity below normal; an antagonist only blocks.</a:t>
            </a:r>
            <a:r>
              <a:rPr lang="en-US" sz="1300" dirty="0">
                <a:solidFill>
                  <a:srgbClr val="666666"/>
                </a:solidFill>
              </a:rPr>
              <a:t>  S28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Pharmacodynamics explains how drugs bind receptors to produce agonism or antagonism.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S24-25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8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Figure 1, the dashed curve (+ competitive antagonist) is shifted to the right of the agonist-alone curve but reaches the same plateau at the top. What does this pattern show?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increases the agonist's potency at every dose given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turns the agonist into a partial agonist at the receptor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More agonist is needed to reach the same effect, but the same maximal effect is still achievable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has no measurable effect on the agonist's curve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competitive antagonist lowers the agonist's efficacy, so its Emax falls</a:t>
            </a:r>
            <a:endParaRPr lang="en-US" sz="1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8: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More agonist is needed to reach the same effect, but the same maximal effect is still achievable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rightward shift with an unchanged plateau is the signature of competitive antagonism: potency falls, but because the antagonism is surmountable, enough agonist can still reach the original Emax (S25).</a:t>
            </a:r>
            <a:r>
              <a:rPr lang="en-US" sz="1100" dirty="0">
                <a:solidFill>
                  <a:srgbClr val="666666"/>
                </a:solidFill>
              </a:rPr>
              <a:t>  S23; S24-25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448560"/>
          </a:xfrm>
          <a:prstGeom prst="roundRect">
            <a:avLst>
              <a:gd name="adj" fmla="val 373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26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The competitive antagonist increases the agonist's potency at every dose given — </a:t>
            </a:r>
            <a:r>
              <a:rPr lang="en-US" sz="1600" dirty="0">
                <a:solidFill>
                  <a:srgbClr val="1F1F1F"/>
                </a:solidFill>
              </a:rPr>
              <a:t>A rightward shift means MORE drug is needed — potency falls (S25).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competitive antagonist turns the agonist into a partial agonist at the receptor — </a:t>
            </a:r>
            <a:r>
              <a:rPr lang="en-US" sz="1600" dirty="0">
                <a:solidFill>
                  <a:srgbClr val="1F1F1F"/>
                </a:solidFill>
              </a:rPr>
              <a:t>A partial agonist gives submaximal activation even at full occupancy (S22); here the full plateau is still reached.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competitive antagonist has no measurable effect on the agonist's curve — </a:t>
            </a:r>
            <a:r>
              <a:rPr lang="en-US" sz="1600" dirty="0">
                <a:solidFill>
                  <a:srgbClr val="1F1F1F"/>
                </a:solidFill>
              </a:rPr>
              <a:t>The curve is clearly shifted right (S24-25).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competitive antagonist lowers the agonist's efficacy, so its Emax falls — </a:t>
            </a:r>
            <a:r>
              <a:rPr lang="en-US" sz="1600" dirty="0">
                <a:solidFill>
                  <a:srgbClr val="1F1F1F"/>
                </a:solidFill>
              </a:rPr>
              <a:t>Lowering Emax is the noncompetitive/irreversible pattern, which plateaus lower instead of shifting right (S25).</a:t>
            </a:r>
            <a:endParaRPr lang="en-US" sz="16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S27-28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9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73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drug binds the same receptor as an endogenous agonist and lowers the tissue's baseline (constitutive) activity below normal, without any agonist present. This drug is best classified as a(n):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Full agonist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Partial agonist</a:t>
            </a:r>
            <a:endParaRPr lang="en-US" sz="1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9: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74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Inverse agonist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inverse agonist actively reduces constitutive (baseline) receptor activity below normal (S28).</a:t>
            </a:r>
            <a:r>
              <a:rPr lang="en-US" sz="1100" dirty="0">
                <a:solidFill>
                  <a:srgbClr val="666666"/>
                </a:solidFill>
              </a:rPr>
              <a:t>  S22; S27-28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952752"/>
          </a:xfrm>
          <a:prstGeom prst="roundRect">
            <a:avLst>
              <a:gd name="adj" fmla="val 468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769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Irreversible antagonist — </a:t>
            </a:r>
            <a:r>
              <a:rPr lang="en-US" sz="1600" dirty="0">
                <a:solidFill>
                  <a:srgbClr val="1F1F1F"/>
                </a:solidFill>
              </a:rPr>
              <a:t>An irreversible antagonist permanently inactivates the receptor (S22); it does not lower baseline activity with no agonist present.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Full agonist — </a:t>
            </a:r>
            <a:r>
              <a:rPr lang="en-US" sz="1600" dirty="0">
                <a:solidFill>
                  <a:srgbClr val="1F1F1F"/>
                </a:solidFill>
              </a:rPr>
              <a:t>A full agonist produces maximal receptor activation (S22).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Competitive antagonist — </a:t>
            </a:r>
            <a:r>
              <a:rPr lang="en-US" sz="1600" dirty="0">
                <a:solidFill>
                  <a:srgbClr val="1F1F1F"/>
                </a:solidFill>
              </a:rPr>
              <a:t>A true antagonist merely blocks the agonist without lowering baseline activity itself (S28).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Partial agonist — </a:t>
            </a:r>
            <a:r>
              <a:rPr lang="en-US" sz="1600" dirty="0">
                <a:solidFill>
                  <a:srgbClr val="1F1F1F"/>
                </a:solidFill>
              </a:rPr>
              <a:t>A partial agonist produces submaximal activation, not activity below baseline (S22).</a:t>
            </a:r>
            <a:endParaRPr lang="en-US" sz="16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10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75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22-year-old patient inhales albuterol, and within minutes the bronchial smooth muscle relaxes. Which sequence best explains this effect?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β2 receptor blockade → falling intracellular cAMP → smooth muscle relaxation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Enzyme inhibition → falling intracellular cAMP → bronchial smooth muscle dilation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β2 receptor activation → rising intracellular cAMP → smooth muscle relaxation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Ion channel opening → rising intracellular cAMP → smooth muscle contraction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agonism at β2 → lowered baseline activity → smooth muscle relaxation</a:t>
            </a:r>
            <a:endParaRPr lang="en-US" sz="18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10: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76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β2 receptor activation → rising intracellular cAMP → smooth muscle relaxation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Albuterol is a selective β2 agonist: binding activates β2 → increases cAMP → relaxes bronchial smooth muscle → bronchodilation (S26).</a:t>
            </a:r>
            <a:r>
              <a:rPr lang="en-US" sz="1100" dirty="0">
                <a:solidFill>
                  <a:srgbClr val="666666"/>
                </a:solidFill>
              </a:rPr>
              <a:t>  S26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β2 receptor blockade → falling intracellular cAMP → smooth muscle relaxation — </a:t>
            </a:r>
            <a:r>
              <a:rPr lang="en-US" sz="1600" dirty="0">
                <a:solidFill>
                  <a:srgbClr val="1F1F1F"/>
                </a:solidFill>
              </a:rPr>
              <a:t>Albuterol is an agonist — it activates, not blocks, β2, and cAMP rises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Enzyme inhibition → falling intracellular cAMP → bronchial smooth muscle dilation — </a:t>
            </a:r>
            <a:r>
              <a:rPr lang="en-US" sz="1600" dirty="0">
                <a:solidFill>
                  <a:srgbClr val="1F1F1F"/>
                </a:solidFill>
              </a:rPr>
              <a:t>The mechanism is receptor activation with rising cAMP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Ion channel opening → rising intracellular cAMP → smooth muscle contraction — </a:t>
            </a:r>
            <a:r>
              <a:rPr lang="en-US" sz="1600" dirty="0">
                <a:solidFill>
                  <a:srgbClr val="1F1F1F"/>
                </a:solidFill>
              </a:rPr>
              <a:t>Albuterol acts on the β2 receptor, and the result is relaxation, not contraction (S26).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Inverse agonism at β2 → lowered baseline activity → smooth muscle relaxation — </a:t>
            </a:r>
            <a:r>
              <a:rPr lang="en-US" sz="1600" dirty="0">
                <a:solidFill>
                  <a:srgbClr val="1F1F1F"/>
                </a:solidFill>
              </a:rPr>
              <a:t>Inverse agonists reduce baseline activity (S22); albuterol is a selective β2 agonist (S26).</a:t>
            </a:r>
            <a:endParaRPr lang="en-US" sz="16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77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receives a drug that blocks a receptor. Raising the dose of the agonist medication eventually restores the full original maximal response. The blocking drug is most likely a(n):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Noncompetitive antagonist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Inverse agonist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Irreversible antagonist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Competitive antagonist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Partial agonist</a:t>
            </a:r>
            <a:endParaRPr lang="en-US" sz="1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11: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78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Competitive antagonist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competitive antagonist reversibly competes at the same site and is overcome by more agonist — same Emax, curve shifted right (S22, S22 notes).</a:t>
            </a:r>
            <a:r>
              <a:rPr lang="en-US" sz="1100" dirty="0">
                <a:solidFill>
                  <a:srgbClr val="666666"/>
                </a:solidFill>
              </a:rPr>
              <a:t>  S22; S22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200656"/>
          </a:xfrm>
          <a:prstGeom prst="roundRect">
            <a:avLst>
              <a:gd name="adj" fmla="val 41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017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Noncompetitive antagonist — </a:t>
            </a:r>
            <a:r>
              <a:rPr lang="en-US" sz="1600" dirty="0">
                <a:solidFill>
                  <a:srgbClr val="1F1F1F"/>
                </a:solidFill>
              </a:rPr>
              <a:t>Noncompetitive antagonists reduce the maximal effect, so full Emax is not restored (S22).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Inverse agonist — </a:t>
            </a:r>
            <a:r>
              <a:rPr lang="en-US" sz="1600" dirty="0">
                <a:solidFill>
                  <a:srgbClr val="1F1F1F"/>
                </a:solidFill>
              </a:rPr>
              <a:t>An inverse agonist lowers baseline activity; the scenario describes surmountable blockade (S22, S28).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Irreversible antagonist — </a:t>
            </a:r>
            <a:r>
              <a:rPr lang="en-US" sz="1600" dirty="0">
                <a:solidFill>
                  <a:srgbClr val="1F1F1F"/>
                </a:solidFill>
              </a:rPr>
              <a:t>Irreversible antagonists permanently inactivate receptors until new ones are synthesized, lowering Emax (S22, S22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Partial agonist — </a:t>
            </a:r>
            <a:r>
              <a:rPr lang="en-US" sz="1600" dirty="0">
                <a:solidFill>
                  <a:srgbClr val="1F1F1F"/>
                </a:solidFill>
              </a:rPr>
              <a:t>A partial agonist itself gives submaximal activation (S22); it is not described as a blocker overcome by more agonist.</a:t>
            </a:r>
            <a:endParaRPr lang="en-US" sz="16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79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54-year-old is given phenoxybenzamine before surgery for pheochromocytoma. Blood pressure stays controlled even when the tumor releases large catecholamine surges. What best explains why the blockade persists?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activates opposing receptors, producing a physiologic counter-effect instead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binds receptors irreversibly; effect lasts until new receptors are made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is a partial agonist that caps the maximal catecholamine response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neutralizes catecholamines chemically in plasma before they reach receptors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competes reversibly, so high catecholamine levels easily displace it</a:t>
            </a:r>
            <a:endParaRPr lang="en-US" sz="18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12: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80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It binds receptors irreversibly; effect lasts until new receptors are made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An irreversible antagonist's duration depends on receptor turnover, and high agonist levels cannot overcome it (p. 25).</a:t>
            </a:r>
            <a:r>
              <a:rPr lang="en-US" sz="1100" dirty="0">
                <a:solidFill>
                  <a:srgbClr val="666666"/>
                </a:solidFill>
              </a:rPr>
              <a:t>  p. 25-27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It activates opposing receptors, producing a physiologic counter-effect instead — </a:t>
            </a:r>
            <a:r>
              <a:rPr lang="en-US" sz="1600" dirty="0">
                <a:solidFill>
                  <a:srgbClr val="1F1F1F"/>
                </a:solidFill>
              </a:rPr>
              <a:t>That is physiologic antagonism, like insulin vs glucocorticoids (p. 27).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It is a partial agonist that caps the maximal catecholamine response — </a:t>
            </a:r>
            <a:r>
              <a:rPr lang="en-US" sz="1600" dirty="0">
                <a:solidFill>
                  <a:srgbClr val="1F1F1F"/>
                </a:solidFill>
              </a:rPr>
              <a:t>Partial agonists produce a submaximal response; phenoxybenzamine is an irreversible antagonist (p. 25; p. 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It neutralizes catecholamines chemically in plasma before they reach receptors — </a:t>
            </a:r>
            <a:r>
              <a:rPr lang="en-US" sz="1600" dirty="0">
                <a:solidFill>
                  <a:srgbClr val="1F1F1F"/>
                </a:solidFill>
              </a:rPr>
              <a:t>That is chemical antagonism, like protamine–heparin (p. 26).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It competes reversibly, so high catecholamine levels easily displace it — </a:t>
            </a:r>
            <a:r>
              <a:rPr lang="en-US" sz="1600" dirty="0">
                <a:solidFill>
                  <a:srgbClr val="1F1F1F"/>
                </a:solidFill>
              </a:rPr>
              <a:t>That describes competitive antagonism, which surges CAN overcome (p. 25).</a:t>
            </a:r>
            <a:endParaRPr lang="en-US" sz="16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13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81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asks why an inhaled bronchodilator works in minutes but an oral corticosteroid takes hours. What best explains the corticosteroid’s delay?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acts on an intracellular receptor that changes gene transcription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is a partial agonist with low efficacy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acts on a ligand-gated ion channel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must first be activated by CYP2D6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It binds a G protein–coupled receptor that raises cAMP</a:t>
            </a:r>
            <a:endParaRPr lang="en-US" sz="18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13: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82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It acts on an intracellular receptor that changes gene transcription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Gene-acting drugs need time to make new proteins, so effects lag 30 minutes to several hours (p. 28).</a:t>
            </a:r>
            <a:r>
              <a:rPr lang="en-US" sz="1100" dirty="0">
                <a:solidFill>
                  <a:srgbClr val="666666"/>
                </a:solidFill>
              </a:rPr>
              <a:t>  p. 28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952752"/>
          </a:xfrm>
          <a:prstGeom prst="roundRect">
            <a:avLst>
              <a:gd name="adj" fmla="val 468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769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It is a partial agonist with low efficacy — </a:t>
            </a:r>
            <a:r>
              <a:rPr lang="en-US" sz="1600" dirty="0">
                <a:solidFill>
                  <a:srgbClr val="1F1F1F"/>
                </a:solidFill>
              </a:rPr>
              <a:t>Efficacy does not explain timing (p. 28).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It acts on a ligand-gated ion channel — </a:t>
            </a:r>
            <a:r>
              <a:rPr lang="en-US" sz="1600" dirty="0">
                <a:solidFill>
                  <a:srgbClr val="1F1F1F"/>
                </a:solidFill>
              </a:rPr>
              <a:t>Ion channels respond within milliseconds (p. 31).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It must first be activated by CYP2D6 — </a:t>
            </a:r>
            <a:r>
              <a:rPr lang="en-US" sz="1600" dirty="0">
                <a:solidFill>
                  <a:srgbClr val="1F1F1F"/>
                </a:solidFill>
              </a:rPr>
              <a:t>Prodrug activation is not the reason for this lag (p. 28).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It binds a G protein–coupled receptor that raises cAMP — </a:t>
            </a:r>
            <a:r>
              <a:rPr lang="en-US" sz="1600" dirty="0">
                <a:solidFill>
                  <a:srgbClr val="1F1F1F"/>
                </a:solidFill>
              </a:rPr>
              <a:t>That is how a β₂ agonist bronchodilator works, quickly (p. 31; p. 32).</a:t>
            </a:r>
            <a:endParaRPr lang="en-US" sz="16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14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83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644652"/>
          </a:xfrm>
          <a:prstGeom prst="roundRect">
            <a:avLst>
              <a:gd name="adj" fmla="val 141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drug activates a receptor coupled to Gq. Which change follows inside the cell?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18084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1808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15341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Adenylyl cyclase is stimulated, so cAMP rises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272948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7294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70205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Phospholipase C makes IP₃ and DAG; calcium rises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27812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2781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25069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Phosphodiesterase breaks down cGMP in the cell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382676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8267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379933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JAK kinase activates STAT transcription proteins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37540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3754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34797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Adenylyl cyclase is inhibited, so cAMP falls</a:t>
            </a:r>
            <a:endParaRPr lang="en-US" sz="18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14: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SO3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84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Phospholipase C makes IP₃ and DAG; calcium rises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Gq stimulates phospholipase C, producing IP₃ (calcium release) and DAG (protein kinase C) (p. 32; p. 35).</a:t>
            </a:r>
            <a:r>
              <a:rPr lang="en-US" sz="1100" dirty="0">
                <a:solidFill>
                  <a:srgbClr val="666666"/>
                </a:solidFill>
              </a:rPr>
              <a:t>  p. 32; p. 35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Adenylyl cyclase is stimulated, so cAMP rises — </a:t>
            </a:r>
            <a:r>
              <a:rPr lang="en-US" sz="1600" dirty="0">
                <a:solidFill>
                  <a:srgbClr val="1F1F1F"/>
                </a:solidFill>
              </a:rPr>
              <a:t>That is Gs (p. 32).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Phosphodiesterase breaks down cGMP in the cell — </a:t>
            </a:r>
            <a:r>
              <a:rPr lang="en-US" sz="1600" dirty="0">
                <a:solidFill>
                  <a:srgbClr val="1F1F1F"/>
                </a:solidFill>
              </a:rPr>
              <a:t>That is Gt in the retina (p. 32).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A JAK kinase activates STAT transcription proteins — </a:t>
            </a:r>
            <a:r>
              <a:rPr lang="en-US" sz="1600" dirty="0">
                <a:solidFill>
                  <a:srgbClr val="1F1F1F"/>
                </a:solidFill>
              </a:rPr>
              <a:t>That is a cytokine receptor, not a G protein (p. 29).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Adenylyl cyclase is inhibited, so cAMP falls — </a:t>
            </a:r>
            <a:r>
              <a:rPr lang="en-US" sz="1600" dirty="0">
                <a:solidFill>
                  <a:srgbClr val="1F1F1F"/>
                </a:solidFill>
              </a:rPr>
              <a:t>That is Gi (p. 32).</a:t>
            </a:r>
            <a:endParaRPr lang="en-US" sz="16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4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Dose-Response Relationships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SO4 · IO1.1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85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86</a:t>
            </a:r>
            <a:endParaRPr lang="en-US" sz="1000" dirty="0"/>
          </a:p>
        </p:txBody>
      </p:sp>
      <p:sp>
        <p:nvSpPr>
          <p:cNvPr id="7" name="Key definitions card"/>
          <p:cNvSpPr/>
          <p:nvPr/>
        </p:nvSpPr>
        <p:spPr>
          <a:xfrm>
            <a:off x="548640" y="1325880"/>
            <a:ext cx="11094415" cy="3941064"/>
          </a:xfrm>
          <a:prstGeom prst="roundRect">
            <a:avLst>
              <a:gd name="adj" fmla="val 27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</a:t>
            </a:r>
            <a:endParaRPr lang="en-US" sz="1800" dirty="0"/>
          </a:p>
        </p:txBody>
      </p:sp>
      <p:sp>
        <p:nvSpPr>
          <p:cNvPr id="11" name="Key definitions body"/>
          <p:cNvSpPr txBox="1"/>
          <p:nvPr/>
        </p:nvSpPr>
        <p:spPr>
          <a:xfrm>
            <a:off x="777240" y="2075688"/>
            <a:ext cx="10637215" cy="3072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Potency:</a:t>
            </a:r>
            <a:r>
              <a:rPr lang="en-US" sz="1800" dirty="0">
                <a:solidFill>
                  <a:srgbClr val="1F1F1F"/>
                </a:solidFill>
              </a:rPr>
              <a:t> how much drug is required to produce a given effect — a more potent drug needs a lower dose.</a:t>
            </a:r>
            <a:r>
              <a:rPr lang="en-US" sz="1300" dirty="0">
                <a:solidFill>
                  <a:srgbClr val="666666"/>
                </a:solidFill>
              </a:rPr>
              <a:t>  S30;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Efficacy (Emax):</a:t>
            </a:r>
            <a:r>
              <a:rPr lang="en-US" sz="1800" dirty="0">
                <a:solidFill>
                  <a:srgbClr val="1F1F1F"/>
                </a:solidFill>
              </a:rPr>
              <a:t> the maximum effect a drug can produce, no matter how high the dose goes.</a:t>
            </a:r>
            <a:r>
              <a:rPr lang="en-US" sz="1300" dirty="0">
                <a:solidFill>
                  <a:srgbClr val="666666"/>
                </a:solidFill>
              </a:rPr>
              <a:t>  S30;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EC₅₀:</a:t>
            </a:r>
            <a:r>
              <a:rPr lang="en-US" sz="1800" dirty="0">
                <a:solidFill>
                  <a:srgbClr val="1F1F1F"/>
                </a:solidFill>
              </a:rPr>
              <a:t> the drug concentration producing 50% of the maximal effect — the standard measure of potency.</a:t>
            </a:r>
            <a:r>
              <a:rPr lang="en-US" sz="1300" dirty="0">
                <a:solidFill>
                  <a:srgbClr val="666666"/>
                </a:solidFill>
              </a:rPr>
              <a:t>  S30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Therapeutic Index (TI) = TD₅₀ ÷ ED₅₀ (toxic dose in 50% ÷ effective dose in 50%).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Quantal dose-response:</a:t>
            </a:r>
            <a:r>
              <a:rPr lang="en-US" sz="1800" dirty="0">
                <a:solidFill>
                  <a:srgbClr val="1F1F1F"/>
                </a:solidFill>
              </a:rPr>
              <a:t> ED₅₀ (effective in 50%), TD₅₀ (toxic in 50%), LD₅₀ (lethal in 50% of animals).</a:t>
            </a:r>
            <a:r>
              <a:rPr lang="en-US" sz="1300" dirty="0">
                <a:solidFill>
                  <a:srgbClr val="666666"/>
                </a:solidFill>
              </a:rPr>
              <a:t>  p. 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Therapeutic window:</a:t>
            </a:r>
            <a:r>
              <a:rPr lang="en-US" sz="1800" dirty="0">
                <a:solidFill>
                  <a:srgbClr val="1F1F1F"/>
                </a:solidFill>
              </a:rPr>
              <a:t> the range between the minimum therapeutic dose and the minimum toxic dose — more practical than TI for dosing a patient.</a:t>
            </a:r>
            <a:r>
              <a:rPr lang="en-US" sz="1300" dirty="0">
                <a:solidFill>
                  <a:srgbClr val="666666"/>
                </a:solidFill>
              </a:rPr>
              <a:t>  p. 38</a:t>
            </a:r>
            <a:endParaRPr lang="en-US" sz="18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87</a:t>
            </a:r>
            <a:endParaRPr lang="en-US" sz="1000" dirty="0"/>
          </a:p>
        </p:txBody>
      </p:sp>
      <p:sp>
        <p:nvSpPr>
          <p:cNvPr id="7" name="How it works (1/2)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(1/2)</a:t>
            </a:r>
            <a:endParaRPr lang="en-US" sz="1800" dirty="0"/>
          </a:p>
        </p:txBody>
      </p:sp>
      <p:sp>
        <p:nvSpPr>
          <p:cNvPr id="11" name="How it works (1/2)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sigmoidal dose-response curve: x-axis = log(dose), y-axis = effect. EC₅₀ is on the x-axis; Emax is the plateau — the ceiling effect.</a:t>
            </a:r>
            <a:r>
              <a:rPr lang="en-US" sz="1300" dirty="0">
                <a:solidFill>
                  <a:srgbClr val="666666"/>
                </a:solidFill>
              </a:rPr>
              <a:t>  S30 (notes); S31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EC₅₀ is read off the curve at the halfway point between baseline and Emax.</a:t>
            </a:r>
            <a:r>
              <a:rPr lang="en-US" sz="1300" dirty="0">
                <a:solidFill>
                  <a:srgbClr val="666666"/>
                </a:solidFill>
              </a:rPr>
              <a:t>  S33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Lower EC₅₀ = more potent. Higher Emax = more efficacious.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and efficacy are independent properties — a drug can differ in one without differing in the other.</a:t>
            </a:r>
            <a:r>
              <a:rPr lang="en-US" sz="1300" dirty="0">
                <a:solidFill>
                  <a:srgbClr val="666666"/>
                </a:solidFill>
              </a:rPr>
              <a:t>  S35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curve farther left reaches the same effect at a lower dose (greater potency); curves reaching the same plateau height have identical Emax (efficacy).</a:t>
            </a:r>
            <a:r>
              <a:rPr lang="en-US" sz="1300" dirty="0">
                <a:solidFill>
                  <a:srgbClr val="666666"/>
                </a:solidFill>
              </a:rPr>
              <a:t>  S37</a:t>
            </a:r>
            <a:endParaRPr lang="en-US" sz="18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88</a:t>
            </a:r>
            <a:endParaRPr lang="en-US" sz="1000" dirty="0"/>
          </a:p>
        </p:txBody>
      </p:sp>
      <p:sp>
        <p:nvSpPr>
          <p:cNvPr id="7" name="How it works (2/2) card"/>
          <p:cNvSpPr/>
          <p:nvPr/>
        </p:nvSpPr>
        <p:spPr>
          <a:xfrm>
            <a:off x="548640" y="1325880"/>
            <a:ext cx="11094415" cy="2884932"/>
          </a:xfrm>
          <a:prstGeom prst="roundRect">
            <a:avLst>
              <a:gd name="adj" fmla="val 380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(2/2)</a:t>
            </a:r>
            <a:endParaRPr lang="en-US" sz="1800" dirty="0"/>
          </a:p>
        </p:txBody>
      </p:sp>
      <p:sp>
        <p:nvSpPr>
          <p:cNvPr id="11" name="How it works (2/2) body"/>
          <p:cNvSpPr txBox="1"/>
          <p:nvPr/>
        </p:nvSpPr>
        <p:spPr>
          <a:xfrm>
            <a:off x="777240" y="2075688"/>
            <a:ext cx="10637215" cy="20162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wide TI means a large margin between an effective dose and a toxic dose — generally safer to dose.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narrow TI means effective and toxic doses are close together — requires careful dosing and often blood-level monitoring.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The distance between the ED₅₀ and TD₅₀ markers is the therapeutic index itself.</a:t>
            </a:r>
            <a:r>
              <a:rPr lang="en-US" sz="1300" dirty="0">
                <a:solidFill>
                  <a:srgbClr val="666666"/>
                </a:solidFill>
              </a:rPr>
              <a:t>  S41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Dose-response curves describe potency and efficacy.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89</a:t>
            </a:r>
            <a:endParaRPr lang="en-US" sz="1000" dirty="0"/>
          </a:p>
        </p:txBody>
      </p:sp>
      <p:sp>
        <p:nvSpPr>
          <p:cNvPr id="7" name="Clinical relevance card"/>
          <p:cNvSpPr/>
          <p:nvPr/>
        </p:nvSpPr>
        <p:spPr>
          <a:xfrm>
            <a:off x="548640" y="1325880"/>
            <a:ext cx="11094415" cy="4498848"/>
          </a:xfrm>
          <a:prstGeom prst="roundRect">
            <a:avLst>
              <a:gd name="adj" fmla="val 243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</a:t>
            </a:r>
            <a:endParaRPr lang="en-US" sz="1800" dirty="0"/>
          </a:p>
        </p:txBody>
      </p:sp>
      <p:sp>
        <p:nvSpPr>
          <p:cNvPr id="11" name="Clinical relevance body"/>
          <p:cNvSpPr txBox="1"/>
          <p:nvPr/>
        </p:nvSpPr>
        <p:spPr>
          <a:xfrm>
            <a:off x="777240" y="2075688"/>
            <a:ext cx="10637215" cy="3630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clinically matters for dosing — not for choosing the "better" drug.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Efficacy clinically matters much more than potency — a highly potent drug with low efficacy may be clinically useless.</a:t>
            </a:r>
            <a:r>
              <a:rPr lang="en-US" sz="1300" dirty="0">
                <a:solidFill>
                  <a:srgbClr val="666666"/>
                </a:solidFill>
              </a:rPr>
              <a:t> 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With a narrow TI, a small dosing error can move a patient from effective to toxic — which is why these drugs require blood-level monitoring.</a:t>
            </a:r>
            <a:r>
              <a:rPr lang="en-US" sz="1300" dirty="0">
                <a:solidFill>
                  <a:srgbClr val="666666"/>
                </a:solidFill>
              </a:rPr>
              <a:t>  S41; S39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Students should be able to name all four narrow-TI drugs without hesitation and know that each requires therapeutic drug monitoring.</a:t>
            </a:r>
            <a:r>
              <a:rPr lang="en-US" sz="1300" dirty="0">
                <a:solidFill>
                  <a:srgbClr val="666666"/>
                </a:solidFill>
              </a:rPr>
              <a:t>  S38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No drug causes only a single specific effect — drugs are </a:t>
            </a:r>
            <a:r>
              <a:rPr lang="en-US" sz="1800" b="1" dirty="0">
                <a:solidFill>
                  <a:srgbClr val="1F1F1F"/>
                </a:solidFill>
              </a:rPr>
              <a:t>selective</a:t>
            </a:r>
            <a:r>
              <a:rPr lang="en-US" sz="1800" dirty="0">
                <a:solidFill>
                  <a:srgbClr val="1F1F1F"/>
                </a:solidFill>
              </a:rPr>
              <a:t>, not specific.</a:t>
            </a:r>
            <a:r>
              <a:rPr lang="en-US" sz="1300" dirty="0">
                <a:solidFill>
                  <a:srgbClr val="666666"/>
                </a:solidFill>
              </a:rPr>
              <a:t>  p. 40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Asthma + hypertension on propranolol: nonselective β blockade can cause bronchoconstriction; a β₁-selective blocker (metoprolol) is an alternative.</a:t>
            </a:r>
            <a:r>
              <a:rPr lang="en-US" sz="1300" dirty="0">
                <a:solidFill>
                  <a:srgbClr val="666666"/>
                </a:solidFill>
              </a:rPr>
              <a:t>  p. 41</a:t>
            </a:r>
            <a:endParaRPr lang="en-US" sz="18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 · 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90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5410048" cy="4558284"/>
          </a:xfrm>
          <a:prstGeom prst="roundRect">
            <a:avLst>
              <a:gd name="adj" fmla="val 240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4952848" cy="368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Classic narrow-TI drugs: warfarin, lithium, digoxin, phenytoin.</a:t>
            </a:r>
            <a:r>
              <a:rPr lang="en-US" sz="1300" dirty="0">
                <a:solidFill>
                  <a:srgbClr val="666666"/>
                </a:solidFill>
              </a:rPr>
              <a:t>  S38; SG U1-R7</a:t>
            </a:r>
            <a:endParaRPr lang="en-US" sz="1800" dirty="0"/>
          </a:p>
        </p:txBody>
      </p:sp>
      <p:sp>
        <p:nvSpPr>
          <p:cNvPr id="12" name="Exam traps card"/>
          <p:cNvSpPr/>
          <p:nvPr/>
        </p:nvSpPr>
        <p:spPr>
          <a:xfrm>
            <a:off x="6233008" y="1325880"/>
            <a:ext cx="5410048" cy="4558284"/>
          </a:xfrm>
          <a:prstGeom prst="roundRect">
            <a:avLst>
              <a:gd name="adj" fmla="val 240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Exam traps icon circle"/>
          <p:cNvSpPr/>
          <p:nvPr/>
        </p:nvSpPr>
        <p:spPr>
          <a:xfrm>
            <a:off x="6461608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14" name="Exam trap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2192" y="1609344"/>
            <a:ext cx="237744" cy="237744"/>
          </a:xfrm>
          <a:prstGeom prst="rect">
            <a:avLst/>
          </a:prstGeom>
        </p:spPr>
      </p:pic>
      <p:sp>
        <p:nvSpPr>
          <p:cNvPr id="15" name="Exam traps heading"/>
          <p:cNvSpPr txBox="1"/>
          <p:nvPr/>
        </p:nvSpPr>
        <p:spPr>
          <a:xfrm>
            <a:off x="7037680" y="1508760"/>
            <a:ext cx="44042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6" name="Exam traps body"/>
          <p:cNvSpPr txBox="1"/>
          <p:nvPr/>
        </p:nvSpPr>
        <p:spPr>
          <a:xfrm>
            <a:off x="6461608" y="2075688"/>
            <a:ext cx="4952848" cy="3689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drug can be very potent (tiny dose) but have low efficacy — potency alone never tells you whether a drug "works better."</a:t>
            </a:r>
            <a:r>
              <a:rPr lang="en-US" sz="1300" dirty="0">
                <a:solidFill>
                  <a:srgbClr val="666666"/>
                </a:solidFill>
              </a:rPr>
              <a:t>  S34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Same Emax + lower dose needed = MORE POTENT, EQUALLY efficacious — not "more efficacious."</a:t>
            </a:r>
            <a:r>
              <a:rPr lang="en-US" sz="1300" dirty="0">
                <a:solidFill>
                  <a:srgbClr val="666666"/>
                </a:solidFill>
              </a:rPr>
              <a:t>  S43; SG U1-R6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EC₅₀ measures potency — not toxicity and not bioavailability.</a:t>
            </a:r>
            <a:r>
              <a:rPr lang="en-US" sz="1300" dirty="0">
                <a:solidFill>
                  <a:srgbClr val="666666"/>
                </a:solidFill>
              </a:rPr>
              <a:t>  S33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narrow-TI drug is not "safer because it needs a lower dose" — it has a smaller margin and needs closer monitoring.</a:t>
            </a:r>
            <a:r>
              <a:rPr lang="en-US" sz="1300" dirty="0">
                <a:solidFill>
                  <a:srgbClr val="666666"/>
                </a:solidFill>
              </a:rPr>
              <a:t>  S40-41</a:t>
            </a:r>
            <a:endParaRPr lang="en-US" sz="18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2 · The sigmoidal dose-response curve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91</a:t>
            </a:r>
            <a:endParaRPr lang="en-US" sz="1000" dirty="0"/>
          </a:p>
        </p:txBody>
      </p:sp>
      <p:pic>
        <p:nvPicPr>
          <p:cNvPr id="7" name="Figure S31_1.png" descr="/home/user/dpas-pharm/work/L01/figures/S31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23592" y="1325880"/>
            <a:ext cx="7144512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curve (illustrative values, not from any textbook): EC₅₀ marks 50% of Emax; Emax is the plateau — the ceiling effect.</a:t>
            </a:r>
            <a:r>
              <a:rPr lang="en-US" sz="1100" dirty="0">
                <a:solidFill>
                  <a:srgbClr val="666666"/>
                </a:solidFill>
              </a:rPr>
              <a:t>  S31; S31 (notes)</a:t>
            </a:r>
            <a:endParaRPr lang="en-US" sz="16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3 · Potency vs. efficacy, side by side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92</a:t>
            </a:r>
            <a:endParaRPr lang="en-US" sz="1000" dirty="0"/>
          </a:p>
        </p:txBody>
      </p:sp>
      <p:pic>
        <p:nvPicPr>
          <p:cNvPr id="7" name="Figure S35_1.png" descr="/home/user/dpas-pharm/work/L01/figures/S35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7335" y="1325880"/>
            <a:ext cx="9297025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Left panel: two drugs with the same Emax but different EC₅₀ (potency differs). Right panel: two drugs with the same EC₅₀ but different Emax (efficacy differs). Potency and efficacy are independent properties.</a:t>
            </a:r>
            <a:r>
              <a:rPr lang="en-US" sz="1100" dirty="0">
                <a:solidFill>
                  <a:srgbClr val="666666"/>
                </a:solidFill>
              </a:rPr>
              <a:t>  S35; S35 (notes)</a:t>
            </a:r>
            <a:endParaRPr lang="en-US" sz="16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4 · Wide vs. narrow therapeutic index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93</a:t>
            </a:r>
            <a:endParaRPr lang="en-US" sz="1000" dirty="0"/>
          </a:p>
        </p:txBody>
      </p:sp>
      <p:pic>
        <p:nvPicPr>
          <p:cNvPr id="7" name="Figure S39_1.png" descr="/home/user/dpas-pharm/work/L01/figures/S39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8362" y="1325880"/>
            <a:ext cx="8174970" cy="4167632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676392"/>
            <a:ext cx="11094415" cy="587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number-line comparison: a wide gap between ED₅₀ and TD₅₀ is safer to dose than a narrow one (illustrative values). Note how close ED₅₀ and TD₅₀ sit for the narrow-TI example (e.g., warfarin, lithium, digoxin, phenytoin).</a:t>
            </a:r>
            <a:r>
              <a:rPr lang="en-US" sz="1100" dirty="0">
                <a:solidFill>
                  <a:srgbClr val="666666"/>
                </a:solidFill>
              </a:rPr>
              <a:t>  S39; S39 (notes)</a:t>
            </a:r>
            <a:endParaRPr lang="en-US" sz="16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concept · Quantal dose-response and the therapeutic window</a:t>
            </a:r>
            <a:endParaRPr lang="en-US" sz="21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94</a:t>
            </a:r>
            <a:endParaRPr lang="en-US" sz="1000" dirty="0"/>
          </a:p>
        </p:txBody>
      </p:sp>
      <p:pic>
        <p:nvPicPr>
          <p:cNvPr id="7" name="Figure TB_quantal.png" descr="/home/user/dpas-pharm/work/L01/figures/TB_quan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96090" y="1325880"/>
            <a:ext cx="6999514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diagram (illustrative values) of a textbook concept: the % of a population showing the therapeutic effect (blue) or a toxic effect (red) as dose rises. ED₅₀ and TD₅₀ give TI = TD₅₀ ÷ ED₅₀ (an animal-study measure); the therapeutic window — minimum therapeutic dose to minimum toxic dose — is the more practical range for dosing a patient.</a:t>
            </a:r>
            <a:r>
              <a:rPr lang="en-US" sz="1100" dirty="0">
                <a:solidFill>
                  <a:srgbClr val="666666"/>
                </a:solidFill>
              </a:rPr>
              <a:t>  p. 38</a:t>
            </a:r>
            <a:endParaRPr lang="en-US" sz="16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Potency vs. efficacy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95</a:t>
            </a:r>
            <a:endParaRPr lang="en-US" sz="1000" dirty="0"/>
          </a:p>
        </p:txBody>
      </p:sp>
      <p:graphicFrame>
        <p:nvGraphicFramePr>
          <p:cNvPr id="96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Potency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Efficacy (Emax)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Definition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How much drug is needed to get an effect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The maximum effect the drug can produce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Measured by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EC₅₀ —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lower EC₅₀ = more potent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Plateau height —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higher Emax = more efficacious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On the curve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Curve farther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left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Curve plateaus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higher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Clinical weight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Matters for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dosing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, not for picking the "better" drug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Matters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much more</a:t>
                      </a: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 — potent + low efficacy may be useless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5905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S30; S34; S37</a:t>
            </a:r>
            <a:endParaRPr lang="en-US" sz="11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Wide vs. narrow therapeutic index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96</a:t>
            </a:r>
            <a:endParaRPr lang="en-US" sz="1000" dirty="0"/>
          </a:p>
        </p:txBody>
      </p:sp>
      <p:graphicFrame>
        <p:nvGraphicFramePr>
          <p:cNvPr id="97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Wide TI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Narrow TI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ED₅₀ vs. TD₅₀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Far apart — large safety margin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Close together — small safety margin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Dosing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Generally safer to dose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Careful dosing; small errors → toxic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Monitoring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Often </a:t>
                      </a: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blood-level monitoring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Examples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Warfarin, lithium, digoxin, phenytoin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3426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S38; S39; S41</a:t>
            </a:r>
            <a:endParaRPr lang="en-US" sz="11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The narrow-TI drugs in numbers (textbook Table 3–1)</a:t>
            </a:r>
            <a:endParaRPr lang="en-US" sz="24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97</a:t>
            </a:r>
            <a:endParaRPr lang="en-US" sz="1000" dirty="0"/>
          </a:p>
        </p:txBody>
      </p:sp>
      <p:graphicFrame>
        <p:nvGraphicFramePr>
          <p:cNvPr id="98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218883"/>
                <a:gridCol w="2218883"/>
                <a:gridCol w="2218883"/>
                <a:gridCol w="2218883"/>
                <a:gridCol w="221888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Drug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Half-life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Target level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Toxic above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Worth knowing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Digoxin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39 h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1 ng/mL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2 ng/mL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Vd ~500 L (sequestered in tissue); 67% excreted in urine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Lithium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22 h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0.7 mEq/L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2 mEq/L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95% excreted in urine, 0% protein-bound — renal function rules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Phenytoin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Concentration-dependent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10 mg/L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20 mg/L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Saturable (capacity-limited) elimination; 89% protein-bound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Warfarin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37 h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in table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in table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99% protein-bound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07796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000" dirty="0">
                <a:solidFill>
                  <a:srgbClr val="000000"/>
                </a:solidFill>
              </a:rPr>
              <a:t>  </a:t>
            </a:r>
            <a:r>
              <a:rPr lang="en-US" sz="1100" dirty="0">
                <a:solidFill>
                  <a:srgbClr val="666666"/>
                </a:solidFill>
              </a:rPr>
              <a:t>Focus: what tells these apart.  Sources: p. 44; p. 45</a:t>
            </a:r>
            <a:endParaRPr lang="en-US" sz="1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98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 narrow-TI drugs need blood levels? The effective dose and the toxic dose sit so close together that a small dosing error can push the patient from effective to toxic.</a:t>
            </a:r>
            <a:r>
              <a:rPr lang="en-US" sz="1300" dirty="0">
                <a:solidFill>
                  <a:srgbClr val="666666"/>
                </a:solidFill>
              </a:rPr>
              <a:t>  S38; S41</a:t>
            </a:r>
            <a:endParaRPr lang="en-US" sz="1800" dirty="0"/>
          </a:p>
        </p:txBody>
      </p:sp>
      <p:sp>
        <p:nvSpPr>
          <p:cNvPr id="12" name="Mnemonic (memory aid) card"/>
          <p:cNvSpPr/>
          <p:nvPr/>
        </p:nvSpPr>
        <p:spPr>
          <a:xfrm>
            <a:off x="548640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Mnemonic (memory aid) icon circle"/>
          <p:cNvSpPr/>
          <p:nvPr/>
        </p:nvSpPr>
        <p:spPr>
          <a:xfrm>
            <a:off x="777240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14" name="Mnemonic (memory aid)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114800"/>
            <a:ext cx="237744" cy="237744"/>
          </a:xfrm>
          <a:prstGeom prst="rect">
            <a:avLst/>
          </a:prstGeom>
        </p:spPr>
      </p:pic>
      <p:sp>
        <p:nvSpPr>
          <p:cNvPr id="15" name="Mnemonic (memory aid) heading"/>
          <p:cNvSpPr txBox="1"/>
          <p:nvPr/>
        </p:nvSpPr>
        <p:spPr>
          <a:xfrm>
            <a:off x="1353312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16" name="Mnemonic (memory aid) body"/>
          <p:cNvSpPr txBox="1"/>
          <p:nvPr/>
        </p:nvSpPr>
        <p:spPr>
          <a:xfrm>
            <a:off x="777240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Narrow-TI drugs — "</a:t>
            </a:r>
            <a:r>
              <a:rPr lang="en-US" sz="1800" b="1" dirty="0">
                <a:solidFill>
                  <a:srgbClr val="1F1F1F"/>
                </a:solidFill>
              </a:rPr>
              <a:t>W</a:t>
            </a:r>
            <a:r>
              <a:rPr lang="en-US" sz="1800" dirty="0">
                <a:solidFill>
                  <a:srgbClr val="1F1F1F"/>
                </a:solidFill>
              </a:rPr>
              <a:t>atch </a:t>
            </a:r>
            <a:r>
              <a:rPr lang="en-US" sz="1800" b="1" dirty="0">
                <a:solidFill>
                  <a:srgbClr val="1F1F1F"/>
                </a:solidFill>
              </a:rPr>
              <a:t>L</a:t>
            </a:r>
            <a:r>
              <a:rPr lang="en-US" sz="1800" dirty="0">
                <a:solidFill>
                  <a:srgbClr val="1F1F1F"/>
                </a:solidFill>
              </a:rPr>
              <a:t>evels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uring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rescribing": </a:t>
            </a:r>
            <a:r>
              <a:rPr lang="en-US" sz="1800" b="1" dirty="0">
                <a:solidFill>
                  <a:srgbClr val="1F1F1F"/>
                </a:solidFill>
              </a:rPr>
              <a:t>W</a:t>
            </a:r>
            <a:r>
              <a:rPr lang="en-US" sz="1800" dirty="0">
                <a:solidFill>
                  <a:srgbClr val="1F1F1F"/>
                </a:solidFill>
              </a:rPr>
              <a:t>arfarin, </a:t>
            </a:r>
            <a:r>
              <a:rPr lang="en-US" sz="1800" b="1" dirty="0">
                <a:solidFill>
                  <a:srgbClr val="1F1F1F"/>
                </a:solidFill>
              </a:rPr>
              <a:t>L</a:t>
            </a:r>
            <a:r>
              <a:rPr lang="en-US" sz="1800" dirty="0">
                <a:solidFill>
                  <a:srgbClr val="1F1F1F"/>
                </a:solidFill>
              </a:rPr>
              <a:t>ithium, </a:t>
            </a:r>
            <a:r>
              <a:rPr lang="en-US" sz="1800" b="1" dirty="0">
                <a:solidFill>
                  <a:srgbClr val="1F1F1F"/>
                </a:solidFill>
              </a:rPr>
              <a:t>D</a:t>
            </a:r>
            <a:r>
              <a:rPr lang="en-US" sz="1800" dirty="0">
                <a:solidFill>
                  <a:srgbClr val="1F1F1F"/>
                </a:solidFill>
              </a:rPr>
              <a:t>igoxin,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henytoin.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  <p:sp>
        <p:nvSpPr>
          <p:cNvPr id="17" name="Why it happen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9" name="Why it happe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20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21" name="Why it happen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efficacy beat potency clinically? Potency only changes the dose you give; efficacy sets the ceiling of what the drug can achieve at any dose.</a:t>
            </a:r>
            <a:r>
              <a:rPr lang="en-US" sz="1300" dirty="0">
                <a:solidFill>
                  <a:srgbClr val="666666"/>
                </a:solidFill>
              </a:rPr>
              <a:t>  S30; S34</a:t>
            </a:r>
            <a:endParaRPr lang="en-US" sz="1800" dirty="0"/>
          </a:p>
        </p:txBody>
      </p:sp>
      <p:sp>
        <p:nvSpPr>
          <p:cNvPr id="22" name="Mnemonic (memory aid) card"/>
          <p:cNvSpPr/>
          <p:nvPr/>
        </p:nvSpPr>
        <p:spPr>
          <a:xfrm>
            <a:off x="6278728" y="3831336"/>
            <a:ext cx="5364328" cy="1719072"/>
          </a:xfrm>
          <a:prstGeom prst="roundRect">
            <a:avLst>
              <a:gd name="adj" fmla="val 6383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24" name="Mnemonic (memory ai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5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6" name="Mnemonic (memory aid) body"/>
          <p:cNvSpPr txBox="1"/>
          <p:nvPr/>
        </p:nvSpPr>
        <p:spPr>
          <a:xfrm>
            <a:off x="6507328" y="4581144"/>
            <a:ext cx="490712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TI = </a:t>
            </a:r>
            <a:r>
              <a:rPr lang="en-US" sz="1800" b="1" dirty="0">
                <a:solidFill>
                  <a:srgbClr val="1F1F1F"/>
                </a:solidFill>
              </a:rPr>
              <a:t>T</a:t>
            </a:r>
            <a:r>
              <a:rPr lang="en-US" sz="1800" dirty="0">
                <a:solidFill>
                  <a:srgbClr val="1F1F1F"/>
                </a:solidFill>
              </a:rPr>
              <a:t>oxic over </a:t>
            </a:r>
            <a:r>
              <a:rPr lang="en-US" sz="1800" b="1" dirty="0">
                <a:solidFill>
                  <a:srgbClr val="1F1F1F"/>
                </a:solidFill>
              </a:rPr>
              <a:t>E</a:t>
            </a:r>
            <a:r>
              <a:rPr lang="en-US" sz="1800" dirty="0">
                <a:solidFill>
                  <a:srgbClr val="1F1F1F"/>
                </a:solidFill>
              </a:rPr>
              <a:t>ffective → TD₅₀ ÷ ED₅₀ (toxic on top).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DOSE-RESPONSE RELATIONSHIPS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99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606040"/>
          </a:xfrm>
          <a:prstGeom prst="roundRect">
            <a:avLst>
              <a:gd name="adj" fmla="val 421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Potency</a:t>
            </a:r>
            <a:r>
              <a:rPr lang="en-US" sz="1800" dirty="0">
                <a:solidFill>
                  <a:srgbClr val="1F1F1F"/>
                </a:solidFill>
              </a:rPr>
              <a:t> = dose needed (EC₅₀, lower = more potent); </a:t>
            </a:r>
            <a:r>
              <a:rPr lang="en-US" sz="1800" b="1" dirty="0">
                <a:solidFill>
                  <a:srgbClr val="1F1F1F"/>
                </a:solidFill>
              </a:rPr>
              <a:t>efficacy</a:t>
            </a:r>
            <a:r>
              <a:rPr lang="en-US" sz="1800" dirty="0">
                <a:solidFill>
                  <a:srgbClr val="1F1F1F"/>
                </a:solidFill>
              </a:rPr>
              <a:t> = Emax (ceiling).</a:t>
            </a:r>
            <a:r>
              <a:rPr lang="en-US" sz="1300" dirty="0">
                <a:solidFill>
                  <a:srgbClr val="666666"/>
                </a:solidFill>
              </a:rPr>
              <a:t>  S30; S34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Potency and efficacy are independent; efficacy matters more clinically.</a:t>
            </a:r>
            <a:r>
              <a:rPr lang="en-US" sz="1300" dirty="0">
                <a:solidFill>
                  <a:srgbClr val="666666"/>
                </a:solidFill>
              </a:rPr>
              <a:t>  S34; S35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TI = TD₅₀ ÷ ED₅₀</a:t>
            </a:r>
            <a:r>
              <a:rPr lang="en-US" sz="1800" dirty="0">
                <a:solidFill>
                  <a:srgbClr val="1F1F1F"/>
                </a:solidFill>
              </a:rPr>
              <a:t>; narrow TI → careful dosing + blood-level monitoring.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Narrow-TI drugs: </a:t>
            </a:r>
            <a:r>
              <a:rPr lang="en-US" sz="1800" b="1" dirty="0">
                <a:solidFill>
                  <a:srgbClr val="1F1F1F"/>
                </a:solidFill>
              </a:rPr>
              <a:t>warfarin, lithium, digoxin, phenytoin</a:t>
            </a:r>
            <a:r>
              <a:rPr lang="en-US" sz="1800" dirty="0">
                <a:solidFill>
                  <a:srgbClr val="1F1F1F"/>
                </a:solidFill>
              </a:rPr>
              <a:t>.</a:t>
            </a:r>
            <a:r>
              <a:rPr lang="en-US" sz="1300" dirty="0">
                <a:solidFill>
                  <a:srgbClr val="666666"/>
                </a:solidFill>
              </a:rPr>
              <a:t>  S38</a:t>
            </a:r>
            <a:endParaRPr lang="en-US" sz="18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S32-33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15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On the dose-response curve in Figure 2, the point marked EC₅₀ sits exactly halfway up the rising part of the curve. What does this point represent?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concentration producing 50% of the drug's maximal effect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concentration producing the drug's maximal effect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point at which the drug has no effect at all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dose at which the drug first becomes toxic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fraction of the dose reaching circulation</a:t>
            </a:r>
            <a:endParaRPr lang="en-US" sz="18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15: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The concentration producing 50% of the drug's maximal effect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EC₅₀ is read at the halfway point between baseline and Emax — the standard graphical measure of potency (S33).</a:t>
            </a:r>
            <a:r>
              <a:rPr lang="en-US" sz="1100" dirty="0">
                <a:solidFill>
                  <a:srgbClr val="666666"/>
                </a:solidFill>
              </a:rPr>
              <a:t>  S31; S32-33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concentration producing the drug's maximal effect — </a:t>
            </a:r>
            <a:r>
              <a:rPr lang="en-US" sz="1600" dirty="0">
                <a:solidFill>
                  <a:srgbClr val="1F1F1F"/>
                </a:solidFill>
              </a:rPr>
              <a:t>The maximal effect is Emax — the plateau (S30-31).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 point at which the drug has no effect at all — </a:t>
            </a:r>
            <a:r>
              <a:rPr lang="en-US" sz="1600" dirty="0">
                <a:solidFill>
                  <a:srgbClr val="1F1F1F"/>
                </a:solidFill>
              </a:rPr>
              <a:t>EC₅₀ is halfway to Emax, not zero effect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dose at which the drug first becomes toxic — </a:t>
            </a:r>
            <a:r>
              <a:rPr lang="en-US" sz="1600" dirty="0">
                <a:solidFill>
                  <a:srgbClr val="1F1F1F"/>
                </a:solidFill>
              </a:rPr>
              <a:t>EC₅₀ is a measure of potency, not toxicity (S33).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The fraction of the dose reaching circulation — </a:t>
            </a:r>
            <a:r>
              <a:rPr lang="en-US" sz="1600" dirty="0">
                <a:solidFill>
                  <a:srgbClr val="1F1F1F"/>
                </a:solidFill>
              </a:rPr>
              <a:t>That is bioavailability (S50), not EC₅₀ (S33).</a:t>
            </a:r>
            <a:endParaRPr lang="en-US" sz="16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S36-37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16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the left panel of Figure 3, Drug A's curve sits to the left of Drug B's curve, but both curves plateau at the same height. What does this tell you?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is more efficacious than Drug B at every dose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and Drug B have different Emax values here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is more potent than Drug B, and both have equal efficacy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has a wider therapeutic index than Drug B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is more potent than Drug A in this panel</a:t>
            </a:r>
            <a:endParaRPr lang="en-US" sz="18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16: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Drug A is more potent than Drug B, and both have equal efficacy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curve farther left reaches the same effect at a lower dose (greater potency); the same plateau height means identical Emax (S37).</a:t>
            </a:r>
            <a:r>
              <a:rPr lang="en-US" sz="1100" dirty="0">
                <a:solidFill>
                  <a:srgbClr val="666666"/>
                </a:solidFill>
              </a:rPr>
              <a:t>  S35; S36-37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Drug A is more efficacious than Drug B at every dose — </a:t>
            </a:r>
            <a:r>
              <a:rPr lang="en-US" sz="1600" dirty="0">
                <a:solidFill>
                  <a:srgbClr val="1F1F1F"/>
                </a:solidFill>
              </a:rPr>
              <a:t>Efficacy is the plateau height, and the plateaus are equal (S37).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Drug A and Drug B have different Emax values here — </a:t>
            </a:r>
            <a:r>
              <a:rPr lang="en-US" sz="1600" dirty="0">
                <a:solidFill>
                  <a:srgbClr val="1F1F1F"/>
                </a:solidFill>
              </a:rPr>
              <a:t>Both curves reach the same plateau, so Emax is the same (S37).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Drug A has a wider therapeutic index than Drug B — </a:t>
            </a:r>
            <a:r>
              <a:rPr lang="en-US" sz="1600" dirty="0">
                <a:solidFill>
                  <a:srgbClr val="1F1F1F"/>
                </a:solidFill>
              </a:rPr>
              <a:t>TI compares TD₅₀ with ED₅₀ (S38); the figure shows only effect curves.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Drug B is more potent than Drug A in this panel — </a:t>
            </a:r>
            <a:r>
              <a:rPr lang="en-US" sz="1600" dirty="0">
                <a:solidFill>
                  <a:srgbClr val="1F1F1F"/>
                </a:solidFill>
              </a:rPr>
              <a:t>The curve farther LEFT (Drug A) is more potent (S37).</a:t>
            </a:r>
            <a:endParaRPr lang="en-US" sz="16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S40-41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17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104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Comparing the two number lines in Figure 4, the narrow-TI drug's ED₅₀ and TD₅₀ markers sit much closer together than the wide-TI drug's. What is the clinical implication?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narrow-TI drug is safer because it requires a lower dose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wide-TI drug is the one more likely to cause toxicity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Therapeutic index has no real bearing on dosing safety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narrow-TI drug must have lower efficacy (Emax) overall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Smaller effective-to-toxic margin, so closer monitoring is needed</a:t>
            </a:r>
            <a:endParaRPr lang="en-US" sz="18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17: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105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Smaller effective-to-toxic margin, so closer monitoring is needed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The ED₅₀–TD₅₀ gap is the therapeutic index; a narrow gap means a small dosing error can move a patient from effective to toxic, so these drugs need blood-level monitoring (S41).</a:t>
            </a:r>
            <a:r>
              <a:rPr lang="en-US" sz="1100" dirty="0">
                <a:solidFill>
                  <a:srgbClr val="666666"/>
                </a:solidFill>
              </a:rPr>
              <a:t>  S39; S40-41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200656"/>
          </a:xfrm>
          <a:prstGeom prst="roundRect">
            <a:avLst>
              <a:gd name="adj" fmla="val 415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017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The narrow-TI drug is safer because it requires a lower dose — </a:t>
            </a:r>
            <a:r>
              <a:rPr lang="en-US" sz="1600" dirty="0">
                <a:solidFill>
                  <a:srgbClr val="1F1F1F"/>
                </a:solidFill>
              </a:rPr>
              <a:t>A narrow TI means a SMALLER safety margin, not a safer drug (S38, S41).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The wide-TI drug is the one more likely to cause toxicity — </a:t>
            </a:r>
            <a:r>
              <a:rPr lang="en-US" sz="1600" dirty="0">
                <a:solidFill>
                  <a:srgbClr val="1F1F1F"/>
                </a:solidFill>
              </a:rPr>
              <a:t>A wide TI means a large margin — generally safer to dose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Therapeutic index has no real bearing on dosing safety — </a:t>
            </a:r>
            <a:r>
              <a:rPr lang="en-US" sz="1600" dirty="0">
                <a:solidFill>
                  <a:srgbClr val="1F1F1F"/>
                </a:solidFill>
              </a:rPr>
              <a:t>TI is exactly the margin between effective and toxic dosing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narrow-TI drug must have lower efficacy (Emax) overall — </a:t>
            </a:r>
            <a:r>
              <a:rPr lang="en-US" sz="1600" dirty="0">
                <a:solidFill>
                  <a:srgbClr val="1F1F1F"/>
                </a:solidFill>
              </a:rPr>
              <a:t>TI compares toxic vs. effective doses; it says nothing about Emax (S30, S38).</a:t>
            </a:r>
            <a:endParaRPr lang="en-US" sz="16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S42-43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18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106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requires a much lower dose than Drug Y to achieve the same effect, but both drugs achieve the same maximum effect (Emax). Which statement is correct?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is more potent than Drug 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Y is more potent than Drug X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and Drug Y have different Emax values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has a narrower therapeutic index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X is more efficacious than Drug Y</a:t>
            </a:r>
            <a:endParaRPr lang="en-US" sz="18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18: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107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Drug X is more potent than Drug 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Needing a lower dose for the same effect is greater potency; since both reach the same Emax, efficacy is equal (S43).</a:t>
            </a:r>
            <a:r>
              <a:rPr lang="en-US" sz="1100" dirty="0">
                <a:solidFill>
                  <a:srgbClr val="666666"/>
                </a:solidFill>
              </a:rPr>
              <a:t>  S42-43; SG U1-R6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Drug Y is more potent than Drug X — </a:t>
            </a:r>
            <a:r>
              <a:rPr lang="en-US" sz="1600" dirty="0">
                <a:solidFill>
                  <a:srgbClr val="1F1F1F"/>
                </a:solidFill>
              </a:rPr>
              <a:t>The drug needing the LOWER dose (X) is more potent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Drug X and Drug Y have different Emax values — </a:t>
            </a:r>
            <a:r>
              <a:rPr lang="en-US" sz="1600" dirty="0">
                <a:solidFill>
                  <a:srgbClr val="1F1F1F"/>
                </a:solidFill>
              </a:rPr>
              <a:t>The stem states both reach the same Emax (S43).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Drug X has a narrower therapeutic index — </a:t>
            </a:r>
            <a:r>
              <a:rPr lang="en-US" sz="1600" dirty="0">
                <a:solidFill>
                  <a:srgbClr val="1F1F1F"/>
                </a:solidFill>
              </a:rPr>
              <a:t>Nothing about toxic doses is given; TI = TD₅₀ ÷ ED₅₀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Drug X is more efficacious than Drug Y — </a:t>
            </a:r>
            <a:r>
              <a:rPr lang="en-US" sz="1600" dirty="0">
                <a:solidFill>
                  <a:srgbClr val="1F1F1F"/>
                </a:solidFill>
              </a:rPr>
              <a:t>Both reach the same Emax, so efficacy is equal (S43).</a:t>
            </a:r>
            <a:endParaRPr lang="en-US" sz="16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19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108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 is starting a patient on lithium. Compared with a drug that has a wide therapeutic index, what does lithium's narrow therapeutic index mean for this patient's care?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is more potent, so it can be dosed without monitoring levels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has a higher Emax, so lower doses than usual are always enough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is 100% bioavailable, so blood levels never need to be checked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Effective and toxic doses are close, so dose carefully and monitor blood levels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Lithium has a large safety margin, so dosing errors are well tolerated</a:t>
            </a:r>
            <a:endParaRPr lang="en-US" sz="18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19: D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109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</a:t>
            </a:r>
            <a:r>
              <a:rPr lang="en-US" sz="1600" b="1" dirty="0">
                <a:solidFill>
                  <a:srgbClr val="1F1F1F"/>
                </a:solidFill>
              </a:rPr>
              <a:t>Effective and toxic doses are close, so dose carefully and monitor blood levels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narrow TI means effective and toxic doses are close together — requiring careful dosing and often blood-level monitoring; lithium is a classic narrow-TI drug (S38).</a:t>
            </a:r>
            <a:r>
              <a:rPr lang="en-US" sz="1100" dirty="0">
                <a:solidFill>
                  <a:srgbClr val="666666"/>
                </a:solidFill>
              </a:rPr>
              <a:t>  S38; S38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448560"/>
          </a:xfrm>
          <a:prstGeom prst="roundRect">
            <a:avLst>
              <a:gd name="adj" fmla="val 373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26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Lithium is more potent, so it can be dosed without monitoring levels — </a:t>
            </a:r>
            <a:r>
              <a:rPr lang="en-US" sz="1600" dirty="0">
                <a:solidFill>
                  <a:srgbClr val="1F1F1F"/>
                </a:solidFill>
              </a:rPr>
              <a:t>Potency matters for dosing amount, not safety margin; narrow-TI drugs need monitoring (S34,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Lithium has a higher Emax, so lower doses than usual are always enough — </a:t>
            </a:r>
            <a:r>
              <a:rPr lang="en-US" sz="1600" dirty="0">
                <a:solidFill>
                  <a:srgbClr val="1F1F1F"/>
                </a:solidFill>
              </a:rPr>
              <a:t>TI is about toxic vs. effective doses, not Emax (S30, 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Lithium is 100% bioavailable, so blood levels never need to be checked — </a:t>
            </a:r>
            <a:r>
              <a:rPr lang="en-US" sz="1600" dirty="0">
                <a:solidFill>
                  <a:srgbClr val="1F1F1F"/>
                </a:solidFill>
              </a:rPr>
              <a:t>Bioavailability is a different concept (S50); narrow-TI drugs need monitoring (S38).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Lithium has a large safety margin, so dosing errors are well tolerated — </a:t>
            </a:r>
            <a:r>
              <a:rPr lang="en-US" sz="1600" dirty="0">
                <a:solidFill>
                  <a:srgbClr val="1F1F1F"/>
                </a:solidFill>
              </a:rPr>
              <a:t>That describes a WIDE TI (S38).</a:t>
            </a:r>
            <a:endParaRPr lang="en-US" sz="16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20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Two drugs relieve the same symptom. Drug A works at 5 mg and Drug B at 50 mg, but at maximal doses Drug B produces a much greater maximal effect. Which statement best guides drug selection?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has greater efficacy, which matters more clinically than Drug A's potency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should be chosen because greater potency means it works better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Both drugs have equal efficacy because both relieve the same symptom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A has greater efficacy because it needs a much smaller dose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Drug B has greater potency because its maximal effect is much higher</a:t>
            </a:r>
            <a:endParaRPr lang="en-US" sz="18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20: A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SO4 · IO1.1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</a:t>
            </a:r>
            <a:r>
              <a:rPr lang="en-US" sz="1600" b="1" dirty="0">
                <a:solidFill>
                  <a:srgbClr val="1F1F1F"/>
                </a:solidFill>
              </a:rPr>
              <a:t>Drug B has greater efficacy, which matters more clinically than Drug A's potency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Efficacy (Emax) clinically matters much more than potency — a highly potent drug with low efficacy may be clinically useless (S34).</a:t>
            </a:r>
            <a:r>
              <a:rPr lang="en-US" sz="1100" dirty="0">
                <a:solidFill>
                  <a:srgbClr val="666666"/>
                </a:solidFill>
              </a:rPr>
              <a:t>  S30; S34; S34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Drug A should be chosen because greater potency means it works better — </a:t>
            </a:r>
            <a:r>
              <a:rPr lang="en-US" sz="1600" dirty="0">
                <a:solidFill>
                  <a:srgbClr val="1F1F1F"/>
                </a:solidFill>
              </a:rPr>
              <a:t>Potency alone never tells you whether a drug works better (S34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Both drugs have equal efficacy because both relieve the same symptom — </a:t>
            </a:r>
            <a:r>
              <a:rPr lang="en-US" sz="1600" dirty="0">
                <a:solidFill>
                  <a:srgbClr val="1F1F1F"/>
                </a:solidFill>
              </a:rPr>
              <a:t>Drug B reaches a higher maximal effect, so its efficacy is greater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Drug A has greater efficacy because it needs a much smaller dose — </a:t>
            </a:r>
            <a:r>
              <a:rPr lang="en-US" sz="1600" dirty="0">
                <a:solidFill>
                  <a:srgbClr val="1F1F1F"/>
                </a:solidFill>
              </a:rPr>
              <a:t>A smaller dose means greater POTENCY; efficacy is the maximum effect (S30).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Drug B has greater potency because its maximal effect is much higher — </a:t>
            </a:r>
            <a:r>
              <a:rPr lang="en-US" sz="1600" dirty="0">
                <a:solidFill>
                  <a:srgbClr val="1F1F1F"/>
                </a:solidFill>
              </a:rPr>
              <a:t>Higher Emax = more efficacious, not more potent (S34).</a:t>
            </a:r>
            <a:endParaRPr lang="en-US" sz="16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2F4F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6E0F5"/>
                </a:solidFill>
              </a:rPr>
              <a:t>Topic 5 of 5</a:t>
            </a:r>
            <a:endParaRPr lang="en-US" sz="16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874520"/>
            <a:ext cx="11094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Pharmacokinetics: ADME — Absorption &amp; Distribution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1089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6E0F5"/>
                </a:solidFill>
              </a:rPr>
              <a:t>Covers objectives: SO5 · IO1.2 · IO1.3 · IO1.5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338042" y="4297680"/>
            <a:ext cx="640080" cy="640080"/>
          </a:xfrm>
          <a:prstGeom prst="ellipse">
            <a:avLst/>
          </a:prstGeom>
          <a:solidFill>
            <a:srgbClr val="44546A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3490" y="4453128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94360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Key definitions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556925" y="4297680"/>
            <a:ext cx="640080" cy="640080"/>
          </a:xfrm>
          <a:prstGeom prst="ellipse">
            <a:avLst/>
          </a:prstGeom>
          <a:solidFill>
            <a:srgbClr val="7030A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2373" y="4453128"/>
            <a:ext cx="329184" cy="32918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2813243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How it works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5775808" y="4297680"/>
            <a:ext cx="640080" cy="640080"/>
          </a:xfrm>
          <a:prstGeom prst="ellipse">
            <a:avLst/>
          </a:prstGeom>
          <a:solidFill>
            <a:srgbClr val="548235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1256" y="4453128"/>
            <a:ext cx="329184" cy="32918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032126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Clinical relevance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7994691" y="4297680"/>
            <a:ext cx="640080" cy="640080"/>
          </a:xfrm>
          <a:prstGeom prst="ellipse">
            <a:avLst/>
          </a:prstGeom>
          <a:solidFill>
            <a:srgbClr val="4472C4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50139" y="4453128"/>
            <a:ext cx="329184" cy="329184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7251009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Drugs named as examples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10213574" y="4297680"/>
            <a:ext cx="640080" cy="640080"/>
          </a:xfrm>
          <a:prstGeom prst="ellipse">
            <a:avLst/>
          </a:prstGeom>
          <a:solidFill>
            <a:srgbClr val="C00000"/>
          </a:solidFill>
          <a:ln w="19050">
            <a:solidFill>
              <a:srgbClr val="FFFFFF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69022" y="4453128"/>
            <a:ext cx="329184" cy="32918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469892" y="5029200"/>
            <a:ext cx="212744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Exam traps</a:t>
            </a:r>
            <a:endParaRPr lang="en-US" sz="1200" dirty="0"/>
          </a:p>
        </p:txBody>
      </p:sp>
      <p:sp>
        <p:nvSpPr>
          <p:cNvPr id="20" name="Text 13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6E0F5"/>
                </a:solidFill>
              </a:rPr>
              <a:t>112</a:t>
            </a:r>
            <a:endParaRPr lang="en-US" sz="10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113</a:t>
            </a:r>
            <a:endParaRPr lang="en-US" sz="1000" dirty="0"/>
          </a:p>
        </p:txBody>
      </p:sp>
      <p:sp>
        <p:nvSpPr>
          <p:cNvPr id="7" name="Key definitions (1/2) card"/>
          <p:cNvSpPr/>
          <p:nvPr/>
        </p:nvSpPr>
        <p:spPr>
          <a:xfrm>
            <a:off x="548640" y="1325880"/>
            <a:ext cx="11094415" cy="3273552"/>
          </a:xfrm>
          <a:prstGeom prst="roundRect">
            <a:avLst>
              <a:gd name="adj" fmla="val 335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(1/2)</a:t>
            </a:r>
            <a:endParaRPr lang="en-US" sz="1800" dirty="0"/>
          </a:p>
        </p:txBody>
      </p:sp>
      <p:sp>
        <p:nvSpPr>
          <p:cNvPr id="11" name="Key definitions (1/2) body"/>
          <p:cNvSpPr txBox="1"/>
          <p:nvPr/>
        </p:nvSpPr>
        <p:spPr>
          <a:xfrm>
            <a:off x="777240" y="2075688"/>
            <a:ext cx="10637215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— Absorption: movement of drug from the site of administration into the bloodstream.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D — Distribution: movement of drug from blood into tissues.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 — Metabolism: chemical transformation of drug, mainly in the liver.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 — Excretion: removal of drug/metabolites from the body, mainly via the kidney.</a:t>
            </a:r>
            <a:r>
              <a:rPr lang="en-US" sz="1300" dirty="0">
                <a:solidFill>
                  <a:srgbClr val="666666"/>
                </a:solidFill>
              </a:rPr>
              <a:t>  S45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Bioavailability (F) = the fraction of an administered dose that reaches systemic circulation unchanged.</a:t>
            </a:r>
            <a:r>
              <a:rPr lang="en-US" sz="1300" dirty="0">
                <a:solidFill>
                  <a:srgbClr val="666666"/>
                </a:solidFill>
              </a:rPr>
              <a:t>  S50; SG U1-R8</a:t>
            </a:r>
            <a:endParaRPr lang="en-US" sz="18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definitions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114</a:t>
            </a:r>
            <a:endParaRPr lang="en-US" sz="1000" dirty="0"/>
          </a:p>
        </p:txBody>
      </p:sp>
      <p:sp>
        <p:nvSpPr>
          <p:cNvPr id="7" name="Key definitions (2/2) card"/>
          <p:cNvSpPr/>
          <p:nvPr/>
        </p:nvSpPr>
        <p:spPr>
          <a:xfrm>
            <a:off x="548640" y="1325880"/>
            <a:ext cx="11094415" cy="3442716"/>
          </a:xfrm>
          <a:prstGeom prst="roundRect">
            <a:avLst>
              <a:gd name="adj" fmla="val 3187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Key definitions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546A"/>
          </a:solidFill>
          <a:ln w="12700">
            <a:solidFill>
              <a:srgbClr val="44546A"/>
            </a:solidFill>
            <a:prstDash val="solid"/>
          </a:ln>
        </p:spPr>
      </p:sp>
      <p:pic>
        <p:nvPicPr>
          <p:cNvPr id="9" name="Key definitions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Key definitions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546A"/>
                </a:solidFill>
              </a:rPr>
              <a:t>Key definitions (2/2)</a:t>
            </a:r>
            <a:endParaRPr lang="en-US" sz="1800" dirty="0"/>
          </a:p>
        </p:txBody>
      </p:sp>
      <p:sp>
        <p:nvSpPr>
          <p:cNvPr id="11" name="Key definitions (2/2) body"/>
          <p:cNvSpPr txBox="1"/>
          <p:nvPr/>
        </p:nvSpPr>
        <p:spPr>
          <a:xfrm>
            <a:off x="777240" y="2075688"/>
            <a:ext cx="10637215" cy="257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 effect: the liver metabolizes (can inactivate a large fraction of) an orally absorbed drug before it reaches systemic circulation.</a:t>
            </a:r>
            <a:r>
              <a:rPr lang="en-US" sz="1300" dirty="0">
                <a:solidFill>
                  <a:srgbClr val="666666"/>
                </a:solidFill>
              </a:rPr>
              <a:t>  S51; S51 (notes);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Volume of distribution (Vd):</a:t>
            </a:r>
            <a:r>
              <a:rPr lang="en-US" sz="1800" dirty="0">
                <a:solidFill>
                  <a:srgbClr val="1F1F1F"/>
                </a:solidFill>
              </a:rPr>
              <a:t> a calculated value relating total drug in the body to plasma concentration — a high Vd suggests extensive tissue distribution.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pKa:</a:t>
            </a:r>
            <a:r>
              <a:rPr lang="en-US" sz="1800" dirty="0">
                <a:solidFill>
                  <a:srgbClr val="1F1F1F"/>
                </a:solidFill>
              </a:rPr>
              <a:t> the pH at which a drug is half ionized and half nonionized.</a:t>
            </a:r>
            <a:r>
              <a:rPr lang="en-US" sz="1300" dirty="0">
                <a:solidFill>
                  <a:srgbClr val="666666"/>
                </a:solidFill>
              </a:rPr>
              <a:t>  p. 10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Fick’s law:</a:t>
            </a:r>
            <a:r>
              <a:rPr lang="en-US" sz="1800" dirty="0">
                <a:solidFill>
                  <a:srgbClr val="1F1F1F"/>
                </a:solidFill>
              </a:rPr>
              <a:t> passive flux rises with the concentration gradient, membrane area and permeability, and falls as the membrane gets thicker.</a:t>
            </a:r>
            <a:r>
              <a:rPr lang="en-US" sz="1300" dirty="0">
                <a:solidFill>
                  <a:srgbClr val="666666"/>
                </a:solidFill>
              </a:rPr>
              <a:t>  p. 9</a:t>
            </a:r>
            <a:endParaRPr lang="en-US" sz="18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115</a:t>
            </a:r>
            <a:endParaRPr lang="en-US" sz="1000" dirty="0"/>
          </a:p>
        </p:txBody>
      </p:sp>
      <p:sp>
        <p:nvSpPr>
          <p:cNvPr id="7" name="How it works (1/3) card"/>
          <p:cNvSpPr/>
          <p:nvPr/>
        </p:nvSpPr>
        <p:spPr>
          <a:xfrm>
            <a:off x="548640" y="1325880"/>
            <a:ext cx="11094415" cy="4887468"/>
          </a:xfrm>
          <a:prstGeom prst="roundRect">
            <a:avLst>
              <a:gd name="adj" fmla="val 224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1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1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1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(1/3)</a:t>
            </a:r>
            <a:endParaRPr lang="en-US" sz="1800" dirty="0"/>
          </a:p>
        </p:txBody>
      </p:sp>
      <p:sp>
        <p:nvSpPr>
          <p:cNvPr id="11" name="How it works (1/3) body"/>
          <p:cNvSpPr txBox="1"/>
          <p:nvPr/>
        </p:nvSpPr>
        <p:spPr>
          <a:xfrm>
            <a:off x="777240" y="2075688"/>
            <a:ext cx="10637215" cy="401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is the organizing skeleton for the rest of the lecture — each remaining pharmacokinetics section is one ADME letter in depth.</a:t>
            </a:r>
            <a:r>
              <a:rPr lang="en-US" sz="1300" dirty="0">
                <a:solidFill>
                  <a:srgbClr val="666666"/>
                </a:solidFill>
              </a:rPr>
              <a:t>  S45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ADME determines how much drug reaches its target and for how long.</a:t>
            </a:r>
            <a:r>
              <a:rPr lang="en-US" sz="1300" dirty="0">
                <a:solidFill>
                  <a:srgbClr val="666666"/>
                </a:solidFill>
              </a:rPr>
              <a:t>  S56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Metabolism (M arrow → liver) and Excretion (E arrow → kidney) are the back half of ADME — how the body gets rid of the drug; Absorption and Distribution govern how the drug arrives and spreads.</a:t>
            </a:r>
            <a:r>
              <a:rPr lang="en-US" sz="1300" dirty="0">
                <a:solidFill>
                  <a:srgbClr val="666666"/>
                </a:solidFill>
              </a:rPr>
              <a:t>  S46; S48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 route: oral drug → GI tract → portal circulation → liver → systemic circulation.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By definition, an IV dose has 100% bioavailability — the entire dose enters the bloodstream directly (no absorption step).</a:t>
            </a:r>
            <a:r>
              <a:rPr lang="en-US" sz="1300" dirty="0">
                <a:solidFill>
                  <a:srgbClr val="666666"/>
                </a:solidFill>
              </a:rPr>
              <a:t>  S50; SG U1-R8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Oral bioavailability is reduced by incomplete absorption and by first-pass hepatic metabolism.</a:t>
            </a:r>
            <a:r>
              <a:rPr lang="en-US" sz="1300" dirty="0">
                <a:solidFill>
                  <a:srgbClr val="666666"/>
                </a:solidFill>
              </a:rPr>
              <a:t> 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Plasma protein binding:</a:t>
            </a:r>
            <a:r>
              <a:rPr lang="en-US" sz="1800" dirty="0">
                <a:solidFill>
                  <a:srgbClr val="1F1F1F"/>
                </a:solidFill>
              </a:rPr>
              <a:t> only unbound ("free") drug is pharmacologically active and able to cross membranes.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116</a:t>
            </a:r>
            <a:endParaRPr lang="en-US" sz="1000" dirty="0"/>
          </a:p>
        </p:txBody>
      </p:sp>
      <p:sp>
        <p:nvSpPr>
          <p:cNvPr id="7" name="How it works (2/3) card"/>
          <p:cNvSpPr/>
          <p:nvPr/>
        </p:nvSpPr>
        <p:spPr>
          <a:xfrm>
            <a:off x="548640" y="1325880"/>
            <a:ext cx="11094415" cy="4887468"/>
          </a:xfrm>
          <a:prstGeom prst="roundRect">
            <a:avLst>
              <a:gd name="adj" fmla="val 224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2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2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2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(2/3)</a:t>
            </a:r>
            <a:endParaRPr lang="en-US" sz="1800" dirty="0"/>
          </a:p>
        </p:txBody>
      </p:sp>
      <p:sp>
        <p:nvSpPr>
          <p:cNvPr id="11" name="How it works (2/3) body"/>
          <p:cNvSpPr txBox="1"/>
          <p:nvPr/>
        </p:nvSpPr>
        <p:spPr>
          <a:xfrm>
            <a:off x="777240" y="2075688"/>
            <a:ext cx="10637215" cy="4018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Lipid solubility:</a:t>
            </a:r>
            <a:r>
              <a:rPr lang="en-US" sz="1800" dirty="0">
                <a:solidFill>
                  <a:srgbClr val="1F1F1F"/>
                </a:solidFill>
              </a:rPr>
              <a:t> lipophilic drugs cross membranes more readily and distribute into fatty tissue.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Tissue perfusion:</a:t>
            </a:r>
            <a:r>
              <a:rPr lang="en-US" sz="1800" dirty="0">
                <a:solidFill>
                  <a:srgbClr val="1F1F1F"/>
                </a:solidFill>
              </a:rPr>
              <a:t> highly perfused organs (brain, heart, kidney) receive drug faster than poorly perfused tissue (fat, bone).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Vd is a theoretical volume, not a real anatomic space.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Blood-brain barrier — </a:t>
            </a:r>
            <a:r>
              <a:rPr lang="en-US" sz="1800" b="1" dirty="0">
                <a:solidFill>
                  <a:srgbClr val="1F1F1F"/>
                </a:solidFill>
              </a:rPr>
              <a:t>Why can some drugs readily enter the CNS while others cannot?</a:t>
            </a:r>
            <a:r>
              <a:rPr lang="en-US" sz="1800" dirty="0">
                <a:solidFill>
                  <a:srgbClr val="1F1F1F"/>
                </a:solidFill>
              </a:rPr>
              <a:t> Tight junctions between endothelial cells restrict paracellular movement.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Small, lipophilic, non-ionized drugs cross the BBB more easily than large, polar, or highly protein-bound drugs.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Efflux transporters (like P-glycoprotein) can actively pump some drugs back out of the CNS.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First-pass loss can happen in the </a:t>
            </a:r>
            <a:r>
              <a:rPr lang="en-US" sz="1800" b="1" dirty="0">
                <a:solidFill>
                  <a:srgbClr val="1F1F1F"/>
                </a:solidFill>
              </a:rPr>
              <a:t>gut wall</a:t>
            </a:r>
            <a:r>
              <a:rPr lang="en-US" sz="1800" dirty="0">
                <a:solidFill>
                  <a:srgbClr val="1F1F1F"/>
                </a:solidFill>
              </a:rPr>
              <a:t> (e.g., intestinal CYP3A4) as well as the liver; grapefruit juice inhibits gut-wall metabolism and P-glycoprotein, raising absorption of some drugs.</a:t>
            </a:r>
            <a:r>
              <a:rPr lang="en-US" sz="1300" dirty="0">
                <a:solidFill>
                  <a:srgbClr val="666666"/>
                </a:solidFill>
              </a:rPr>
              <a:t>  p. 48</a:t>
            </a:r>
            <a:endParaRPr lang="en-US" sz="180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117</a:t>
            </a:r>
            <a:endParaRPr lang="en-US" sz="1000" dirty="0"/>
          </a:p>
        </p:txBody>
      </p:sp>
      <p:sp>
        <p:nvSpPr>
          <p:cNvPr id="7" name="How it works (3/3) card"/>
          <p:cNvSpPr/>
          <p:nvPr/>
        </p:nvSpPr>
        <p:spPr>
          <a:xfrm>
            <a:off x="548640" y="1325880"/>
            <a:ext cx="11094415" cy="4389120"/>
          </a:xfrm>
          <a:prstGeom prst="roundRect">
            <a:avLst>
              <a:gd name="adj" fmla="val 2500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How it works (3/3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9" name="How it works (3/3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How it works (3/3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How it works (3/3)</a:t>
            </a:r>
            <a:endParaRPr lang="en-US" sz="1800" dirty="0"/>
          </a:p>
        </p:txBody>
      </p:sp>
      <p:sp>
        <p:nvSpPr>
          <p:cNvPr id="11" name="How it works (3/3) body"/>
          <p:cNvSpPr txBox="1"/>
          <p:nvPr/>
        </p:nvSpPr>
        <p:spPr>
          <a:xfrm>
            <a:off x="777240" y="2075688"/>
            <a:ext cx="10637215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P-glycoprotein (MDR1)</a:t>
            </a:r>
            <a:r>
              <a:rPr lang="en-US" sz="1800" dirty="0">
                <a:solidFill>
                  <a:srgbClr val="1F1F1F"/>
                </a:solidFill>
              </a:rPr>
              <a:t> pumps drugs out of cells in brain, testes, and gut; inhibiting it raises digoxin blood levels.</a:t>
            </a:r>
            <a:r>
              <a:rPr lang="en-US" sz="1300" dirty="0">
                <a:solidFill>
                  <a:srgbClr val="666666"/>
                </a:solidFill>
              </a:rPr>
              <a:t>  p. 9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Ion trapping: weak acids are excreted faster in </a:t>
            </a:r>
            <a:r>
              <a:rPr lang="en-US" sz="1800" b="1" dirty="0">
                <a:solidFill>
                  <a:srgbClr val="1F1F1F"/>
                </a:solidFill>
              </a:rPr>
              <a:t>alkaline</a:t>
            </a:r>
            <a:r>
              <a:rPr lang="en-US" sz="1800" dirty="0">
                <a:solidFill>
                  <a:srgbClr val="1F1F1F"/>
                </a:solidFill>
              </a:rPr>
              <a:t> urine; weak bases faster in </a:t>
            </a:r>
            <a:r>
              <a:rPr lang="en-US" sz="1800" b="1" dirty="0">
                <a:solidFill>
                  <a:srgbClr val="1F1F1F"/>
                </a:solidFill>
              </a:rPr>
              <a:t>acidic</a:t>
            </a:r>
            <a:r>
              <a:rPr lang="en-US" sz="1800" dirty="0">
                <a:solidFill>
                  <a:srgbClr val="1F1F1F"/>
                </a:solidFill>
              </a:rPr>
              <a:t> urine.</a:t>
            </a:r>
            <a:r>
              <a:rPr lang="en-US" sz="1300" dirty="0">
                <a:solidFill>
                  <a:srgbClr val="666666"/>
                </a:solidFill>
              </a:rPr>
              <a:t>  p. 10; p. 11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Four ways drugs cross barriers: </a:t>
            </a:r>
            <a:r>
              <a:rPr lang="en-US" sz="1800" b="1" dirty="0">
                <a:solidFill>
                  <a:srgbClr val="1F1F1F"/>
                </a:solidFill>
              </a:rPr>
              <a:t>aqueous diffusion</a:t>
            </a:r>
            <a:r>
              <a:rPr lang="en-US" sz="1800" dirty="0">
                <a:solidFill>
                  <a:srgbClr val="1F1F1F"/>
                </a:solidFill>
              </a:rPr>
              <a:t> through pores (protein-bound drug cannot pass), </a:t>
            </a:r>
            <a:r>
              <a:rPr lang="en-US" sz="1800" b="1" dirty="0">
                <a:solidFill>
                  <a:srgbClr val="1F1F1F"/>
                </a:solidFill>
              </a:rPr>
              <a:t>lipid diffusion</a:t>
            </a:r>
            <a:r>
              <a:rPr lang="en-US" sz="1800" dirty="0">
                <a:solidFill>
                  <a:srgbClr val="1F1F1F"/>
                </a:solidFill>
              </a:rPr>
              <a:t> (the main limiting step, set by the lipid:aqueous partition coefficient), </a:t>
            </a:r>
            <a:r>
              <a:rPr lang="en-US" sz="1800" b="1" dirty="0">
                <a:solidFill>
                  <a:srgbClr val="1F1F1F"/>
                </a:solidFill>
              </a:rPr>
              <a:t>special carriers</a:t>
            </a:r>
            <a:r>
              <a:rPr lang="en-US" sz="1800" dirty="0">
                <a:solidFill>
                  <a:srgbClr val="1F1F1F"/>
                </a:solidFill>
              </a:rPr>
              <a:t> (selective, saturable, inhibitable) and </a:t>
            </a:r>
            <a:r>
              <a:rPr lang="en-US" sz="1800" b="1" dirty="0">
                <a:solidFill>
                  <a:srgbClr val="1F1F1F"/>
                </a:solidFill>
              </a:rPr>
              <a:t>endocytosis</a:t>
            </a:r>
            <a:r>
              <a:rPr lang="en-US" sz="1800" dirty="0">
                <a:solidFill>
                  <a:srgbClr val="1F1F1F"/>
                </a:solidFill>
              </a:rPr>
              <a:t> (vitamin B₁₂ with intrinsic factor, iron with transferrin).</a:t>
            </a:r>
            <a:r>
              <a:rPr lang="en-US" sz="1300" dirty="0">
                <a:solidFill>
                  <a:srgbClr val="666666"/>
                </a:solidFill>
              </a:rPr>
              <a:t>  p. 8; p. 9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Charged (ionized) molecules attract water and cross lipid membranes poorly, and most drugs are weak acids or weak bases.</a:t>
            </a:r>
            <a:r>
              <a:rPr lang="en-US" sz="1300" dirty="0">
                <a:solidFill>
                  <a:srgbClr val="666666"/>
                </a:solidFill>
              </a:rPr>
              <a:t>  p. 9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Henderson-Hasselbalch:</a:t>
            </a:r>
            <a:r>
              <a:rPr lang="en-US" sz="1800" dirty="0">
                <a:solidFill>
                  <a:srgbClr val="1F1F1F"/>
                </a:solidFill>
              </a:rPr>
              <a:t> a weak acid is mostly nonionized and lipid-soluble when the pH is below its pKa; a weak base is mostly nonionized when the pH is above its pKa.</a:t>
            </a:r>
            <a:r>
              <a:rPr lang="en-US" sz="1300" dirty="0">
                <a:solidFill>
                  <a:srgbClr val="666666"/>
                </a:solidFill>
              </a:rPr>
              <a:t>  p. 10</a:t>
            </a:r>
            <a:endParaRPr lang="en-US" sz="14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118</a:t>
            </a:r>
            <a:endParaRPr lang="en-US" sz="1000" dirty="0"/>
          </a:p>
        </p:txBody>
      </p:sp>
      <p:sp>
        <p:nvSpPr>
          <p:cNvPr id="7" name="Clinical relevance (1/2) card"/>
          <p:cNvSpPr/>
          <p:nvPr/>
        </p:nvSpPr>
        <p:spPr>
          <a:xfrm>
            <a:off x="548640" y="1325880"/>
            <a:ext cx="11094415" cy="3721608"/>
          </a:xfrm>
          <a:prstGeom prst="roundRect">
            <a:avLst>
              <a:gd name="adj" fmla="val 294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1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1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1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(1/2)</a:t>
            </a:r>
            <a:endParaRPr lang="en-US" sz="1800" dirty="0"/>
          </a:p>
        </p:txBody>
      </p:sp>
      <p:sp>
        <p:nvSpPr>
          <p:cNvPr id="11" name="Clinical relevance (1/2) body"/>
          <p:cNvSpPr txBox="1"/>
          <p:nvPr/>
        </p:nvSpPr>
        <p:spPr>
          <a:xfrm>
            <a:off x="777240" y="2075688"/>
            <a:ext cx="10637215" cy="2852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Routes that bypass first-pass metabolism: essentially everything except oral — IV, sublingual, inhaled, transdermal, topical, SC, IM.</a:t>
            </a:r>
            <a:r>
              <a:rPr lang="en-US" sz="1300" dirty="0">
                <a:solidFill>
                  <a:srgbClr val="666666"/>
                </a:solidFill>
              </a:rPr>
              <a:t>  S49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Sublingual absorption enters systemic venous circulation directly, bypassing the portal vein and the liver's first-pass metabolism; oral dosing passes through the liver first.</a:t>
            </a:r>
            <a:r>
              <a:rPr lang="en-US" sz="1300" dirty="0">
                <a:solidFill>
                  <a:srgbClr val="666666"/>
                </a:solidFill>
              </a:rPr>
              <a:t>  S55;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Because the liver can inactivate a large fraction of drug first, some drugs are given sublingually or transdermally instead of orally.</a:t>
            </a:r>
            <a:r>
              <a:rPr lang="en-US" sz="1300" dirty="0">
                <a:solidFill>
                  <a:srgbClr val="666666"/>
                </a:solidFill>
              </a:rPr>
              <a:t>  S51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highly polar antibiotic would generally not cross the BBB well — unless the meninges are inflamed, as in meningitis.</a:t>
            </a:r>
            <a:r>
              <a:rPr lang="en-US" sz="1300" dirty="0">
                <a:solidFill>
                  <a:srgbClr val="666666"/>
                </a:solidFill>
              </a:rPr>
              <a:t>  S53 (notes)</a:t>
            </a:r>
            <a:endParaRPr lang="en-US" sz="18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relevance (cont.)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119</a:t>
            </a:r>
            <a:endParaRPr lang="en-US" sz="1000" dirty="0"/>
          </a:p>
        </p:txBody>
      </p:sp>
      <p:sp>
        <p:nvSpPr>
          <p:cNvPr id="7" name="Clinical relevance (2/2) card"/>
          <p:cNvSpPr/>
          <p:nvPr/>
        </p:nvSpPr>
        <p:spPr>
          <a:xfrm>
            <a:off x="548640" y="1325880"/>
            <a:ext cx="11094415" cy="3332988"/>
          </a:xfrm>
          <a:prstGeom prst="roundRect">
            <a:avLst>
              <a:gd name="adj" fmla="val 32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Clinical relevance (2/2)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548235"/>
          </a:solidFill>
          <a:ln w="12700">
            <a:solidFill>
              <a:srgbClr val="548235"/>
            </a:solidFill>
            <a:prstDash val="solid"/>
          </a:ln>
        </p:spPr>
      </p:sp>
      <p:pic>
        <p:nvPicPr>
          <p:cNvPr id="9" name="Clinical relevance (2/2)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Clinical relevance (2/2)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48235"/>
                </a:solidFill>
              </a:rPr>
              <a:t>Clinical relevance (2/2)</a:t>
            </a:r>
            <a:endParaRPr lang="en-US" sz="1800" dirty="0"/>
          </a:p>
        </p:txBody>
      </p:sp>
      <p:sp>
        <p:nvSpPr>
          <p:cNvPr id="11" name="Clinical relevance (2/2) body"/>
          <p:cNvSpPr txBox="1"/>
          <p:nvPr/>
        </p:nvSpPr>
        <p:spPr>
          <a:xfrm>
            <a:off x="777240" y="2075688"/>
            <a:ext cx="10637215" cy="24643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Aspirin overdose: sodium bicarbonate alkalinizes blood and urine, reducing aspirin entry into tissues and speeding its renal excretion.</a:t>
            </a:r>
            <a:r>
              <a:rPr lang="en-US" sz="1300" dirty="0">
                <a:solidFill>
                  <a:srgbClr val="666666"/>
                </a:solidFill>
              </a:rPr>
              <a:t>  p. 20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b="1" dirty="0">
                <a:solidFill>
                  <a:srgbClr val="1F1F1F"/>
                </a:solidFill>
              </a:rPr>
              <a:t>Ion trapping:</a:t>
            </a:r>
            <a:r>
              <a:rPr lang="en-US" sz="1800" dirty="0">
                <a:solidFill>
                  <a:srgbClr val="1F1F1F"/>
                </a:solidFill>
              </a:rPr>
              <a:t> weak acids are excreted faster in alkaline urine and weak bases faster in acidic urine, which is how urine pH is used to speed elimination after an overdose.</a:t>
            </a:r>
            <a:r>
              <a:rPr lang="en-US" sz="1300" dirty="0">
                <a:solidFill>
                  <a:srgbClr val="666666"/>
                </a:solidFill>
              </a:rPr>
              <a:t>  p. 10; p. 11</a:t>
            </a:r>
            <a:endParaRPr lang="en-US" sz="14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Transporters that matter: MDR1 (P-glycoprotein) pumps drugs out of cells, and inhibiting it raises digoxin levels; norepinephrine and serotonin transporters are targets of antidepressants and cocaine; VMAT is the target of reserpine.</a:t>
            </a:r>
            <a:r>
              <a:rPr lang="en-US" sz="1300" dirty="0">
                <a:solidFill>
                  <a:srgbClr val="666666"/>
                </a:solidFill>
              </a:rPr>
              <a:t>  p. 9</a:t>
            </a:r>
            <a:endParaRPr lang="en-US" sz="14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Drugs named as examples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120</a:t>
            </a:r>
            <a:endParaRPr lang="en-US" sz="1000" dirty="0"/>
          </a:p>
        </p:txBody>
      </p:sp>
      <p:sp>
        <p:nvSpPr>
          <p:cNvPr id="7" name="Drugs named as examples card"/>
          <p:cNvSpPr/>
          <p:nvPr/>
        </p:nvSpPr>
        <p:spPr>
          <a:xfrm>
            <a:off x="548640" y="1325880"/>
            <a:ext cx="11094415" cy="3552444"/>
          </a:xfrm>
          <a:prstGeom prst="roundRect">
            <a:avLst>
              <a:gd name="adj" fmla="val 308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Drugs named as example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Drugs named as example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Drugs named as example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Drugs named as examples</a:t>
            </a:r>
            <a:endParaRPr lang="en-US" sz="1800" dirty="0"/>
          </a:p>
        </p:txBody>
      </p:sp>
      <p:sp>
        <p:nvSpPr>
          <p:cNvPr id="11" name="Drugs named as examples body"/>
          <p:cNvSpPr txBox="1"/>
          <p:nvPr/>
        </p:nvSpPr>
        <p:spPr>
          <a:xfrm>
            <a:off x="777240" y="2075688"/>
            <a:ext cx="10637215" cy="26837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Large first-pass effect: nitroglycerin, propranolol, morphine — all require higher oral doses (or a non-oral route) to achieve the same systemic exposure as IV.</a:t>
            </a:r>
            <a:r>
              <a:rPr lang="en-US" sz="1300" dirty="0">
                <a:solidFill>
                  <a:srgbClr val="666666"/>
                </a:solidFill>
              </a:rPr>
              <a:t>  S51; SG U1-R9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Very high Vd: digoxin — mostly sequestered in tissue, not floating around in plasma.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Subcutaneous route is common for insulin and heparin.</a:t>
            </a:r>
            <a:r>
              <a:rPr lang="en-US" sz="1300" dirty="0">
                <a:solidFill>
                  <a:srgbClr val="666666"/>
                </a:solidFill>
              </a:rPr>
              <a:t>  S49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P-glycoprotein — an efflux transporter at the BBB.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4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800" dirty="0">
                <a:solidFill>
                  <a:srgbClr val="000000"/>
                </a:solidFill>
              </a:rPr>
              <a:t> </a:t>
            </a:r>
            <a:r>
              <a:rPr lang="en-US" sz="1800" dirty="0">
                <a:solidFill>
                  <a:srgbClr val="1F1F1F"/>
                </a:solidFill>
              </a:rPr>
              <a:t>Weak acids: aspirin (pKa 3.5), warfarin (5.0), phenytoin (8.3). Weak bases: morphine (7.9), albuterol (9.3), propranolol (9.4).</a:t>
            </a:r>
            <a:r>
              <a:rPr lang="en-US" sz="1300" dirty="0">
                <a:solidFill>
                  <a:srgbClr val="666666"/>
                </a:solidFill>
              </a:rPr>
              <a:t>  p. 10</a:t>
            </a:r>
            <a:endParaRPr lang="en-US" sz="18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traps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121</a:t>
            </a:r>
            <a:endParaRPr lang="en-US" sz="1000" dirty="0"/>
          </a:p>
        </p:txBody>
      </p:sp>
      <p:sp>
        <p:nvSpPr>
          <p:cNvPr id="7" name="Exam traps card"/>
          <p:cNvSpPr/>
          <p:nvPr/>
        </p:nvSpPr>
        <p:spPr>
          <a:xfrm>
            <a:off x="548640" y="1325880"/>
            <a:ext cx="11094415" cy="3163824"/>
          </a:xfrm>
          <a:prstGeom prst="roundRect">
            <a:avLst>
              <a:gd name="adj" fmla="val 3468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Exam trap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00000"/>
          </a:solidFill>
          <a:ln w="12700">
            <a:solidFill>
              <a:srgbClr val="C00000"/>
            </a:solidFill>
            <a:prstDash val="solid"/>
          </a:ln>
        </p:spPr>
      </p:sp>
      <p:pic>
        <p:nvPicPr>
          <p:cNvPr id="9" name="Exam trap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Exam traps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00000"/>
                </a:solidFill>
              </a:rPr>
              <a:t>Exam traps</a:t>
            </a:r>
            <a:endParaRPr lang="en-US" sz="1800" dirty="0"/>
          </a:p>
        </p:txBody>
      </p:sp>
      <p:sp>
        <p:nvSpPr>
          <p:cNvPr id="11" name="Exam traps body"/>
          <p:cNvSpPr txBox="1"/>
          <p:nvPr/>
        </p:nvSpPr>
        <p:spPr>
          <a:xfrm>
            <a:off x="777240" y="2075688"/>
            <a:ext cx="10637215" cy="2295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IV = 100% bioavailable with no absorption phase; oral is less than 100%.</a:t>
            </a:r>
            <a:r>
              <a:rPr lang="en-US" sz="1300" dirty="0">
                <a:solidFill>
                  <a:srgbClr val="666666"/>
                </a:solidFill>
              </a:rPr>
              <a:t>  S49;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Taking an oral drug with food or on an empty stomach does not bypass first-pass metabolism — sublingual does.</a:t>
            </a:r>
            <a:r>
              <a:rPr lang="en-US" sz="1300" dirty="0">
                <a:solidFill>
                  <a:srgbClr val="666666"/>
                </a:solidFill>
              </a:rPr>
              <a:t>  S54-55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A very high Vd does not mean a big anatomic space — it means the drug is mostly in tissue, not plasma.</a:t>
            </a:r>
            <a:r>
              <a:rPr lang="en-US" sz="1300" dirty="0">
                <a:solidFill>
                  <a:srgbClr val="666666"/>
                </a:solidFill>
              </a:rPr>
              <a:t> 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Only free (unbound) drug is active and can cross membranes — protein-bound drug cannot.</a:t>
            </a:r>
            <a:r>
              <a:rPr lang="en-US" sz="1300" dirty="0">
                <a:solidFill>
                  <a:srgbClr val="666666"/>
                </a:solidFill>
              </a:rPr>
              <a:t>  S52</a:t>
            </a:r>
            <a:endParaRPr lang="en-US" sz="18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 5 · The ADME compartment model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122</a:t>
            </a:r>
            <a:endParaRPr lang="en-US" sz="1000" dirty="0"/>
          </a:p>
        </p:txBody>
      </p:sp>
      <p:pic>
        <p:nvPicPr>
          <p:cNvPr id="7" name="Figure S46_1.png" descr="/home/user/dpas-pharm/work/L01/figures/S46_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08992" y="1325880"/>
            <a:ext cx="7573712" cy="3919728"/>
          </a:xfrm>
          <a:prstGeom prst="rect">
            <a:avLst/>
          </a:prstGeom>
        </p:spPr>
      </p:pic>
      <p:sp>
        <p:nvSpPr>
          <p:cNvPr id="8" name="Figure caption"/>
          <p:cNvSpPr txBox="1"/>
          <p:nvPr/>
        </p:nvSpPr>
        <p:spPr>
          <a:xfrm>
            <a:off x="548640" y="5428488"/>
            <a:ext cx="11094415" cy="835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Original illustrative compartment diagram: how a dose moves from administration through distribution, metabolism, and excretion. Dose → Absorption → Central compartment (blood/plasma) ⇄ Peripheral compartment (tissues); M arrow → Metabolism (liver), E arrow → Excretion (kidney).</a:t>
            </a:r>
            <a:r>
              <a:rPr lang="en-US" sz="1100" dirty="0">
                <a:solidFill>
                  <a:srgbClr val="666666"/>
                </a:solidFill>
              </a:rPr>
              <a:t>  S46; S46 (notes)</a:t>
            </a:r>
            <a:endParaRPr lang="en-US" sz="16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Routes of administration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123</a:t>
            </a:r>
            <a:endParaRPr lang="en-US" sz="1000" dirty="0"/>
          </a:p>
        </p:txBody>
      </p:sp>
      <p:graphicFrame>
        <p:nvGraphicFramePr>
          <p:cNvPr id="124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Route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Key feature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Bypasses first-pass?</a:t>
                      </a:r>
                      <a:endParaRPr lang="en-US" sz="14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Oral (PO)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Convenient; subject to first-pass metabolism and variable absorption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No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Sublingual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Absorbed directly into systemic circulation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Intravenous (IV)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100% bioavailable; immediate onset; no absorption phase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Intramuscular (IM)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Faster than oral; good for depot/long-acting formulations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Subcutaneous (SC)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Slower, steady absorption; common for insulin, heparin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Inhaled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Rapid local effect in the lungs; minimizes systemic exposure for some drugs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Transdermal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Slow, sustained systemic absorption through the skin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Topical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Local effect at the site of application; minimal systemic absorption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Yes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5652008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S49; S49 (notes)</a:t>
            </a:r>
            <a:endParaRPr lang="en-US" sz="11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Who crosses the blood-brain barrier?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124</a:t>
            </a:r>
            <a:endParaRPr lang="en-US" sz="1000" dirty="0"/>
          </a:p>
        </p:txBody>
      </p:sp>
      <p:graphicFrame>
        <p:nvGraphicFramePr>
          <p:cNvPr id="125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Crosses more easily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Crosses less easily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Size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Small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Chemistry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Lipophilic, non-ionized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Polar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Protein binding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Highly protein-bound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Other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Not covered in materials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Pumped out by efflux transporters (P-glycoprotein)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359054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</a:rPr>
              <a:t>Focus: what tells these apart.  Sources: S53</a:t>
            </a:r>
            <a:endParaRPr lang="en-US" sz="11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Compare: Bioavailability by route (textbook Table 3–3)</a:t>
            </a:r>
            <a:endParaRPr lang="en-US" sz="27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125</a:t>
            </a:r>
            <a:endParaRPr lang="en-US" sz="1000" dirty="0"/>
          </a:p>
        </p:txBody>
      </p:sp>
      <p:graphicFrame>
        <p:nvGraphicFramePr>
          <p:cNvPr id="126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58488"/>
                <a:gridCol w="4358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Route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Bioavailability (%)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Note</a:t>
                      </a:r>
                      <a:endParaRPr lang="en-US" sz="16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Intravenous (IV)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rapid onset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Intramuscular (IM)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75 to ≤100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Large volumes often feasible; may be painful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Subcutaneous (SC)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75 to ≤100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Smaller volumes than IM; may be painful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Oral (PO)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5 to &lt;100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Most convenient; first-pass effect may be important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Rectal (PR)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30 to &lt;100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Less first-pass effect than oral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Inhalation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5 to &lt;100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Often very rapid onset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1F1F"/>
                          </a:solidFill>
                        </a:rPr>
                        <a:t>Transdermal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80 to ≤100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F1F1F"/>
                          </a:solidFill>
                        </a:rPr>
                        <a:t>Usually very slow absorption; prolonged duration</a:t>
                      </a:r>
                      <a:endParaRPr lang="en-US" sz="1200" dirty="0"/>
                    </a:p>
                  </a:txBody>
                  <a:tcPr marL="76200" marR="76200" marT="50800" marB="50800" anchor="ctr">
                    <a:lnL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0D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8" name="Table sources"/>
          <p:cNvSpPr txBox="1"/>
          <p:nvPr/>
        </p:nvSpPr>
        <p:spPr>
          <a:xfrm>
            <a:off x="548640" y="471830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highlight>
                  <a:srgbClr val="FFC000"/>
                </a:highlight>
              </a:rPr>
              <a:t> TB </a:t>
            </a:r>
            <a:r>
              <a:rPr lang="en-US" sz="1000" dirty="0">
                <a:solidFill>
                  <a:srgbClr val="000000"/>
                </a:solidFill>
              </a:rPr>
              <a:t>  </a:t>
            </a:r>
            <a:r>
              <a:rPr lang="en-US" sz="1100" dirty="0">
                <a:solidFill>
                  <a:srgbClr val="666666"/>
                </a:solidFill>
              </a:rPr>
              <a:t>Focus: what tells these apart.  Sources: p. 48</a:t>
            </a:r>
            <a:endParaRPr lang="en-US" sz="10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 hooks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126</a:t>
            </a:r>
            <a:endParaRPr lang="en-US" sz="1000" dirty="0"/>
          </a:p>
        </p:txBody>
      </p:sp>
      <p:sp>
        <p:nvSpPr>
          <p:cNvPr id="7" name="Why it happens card"/>
          <p:cNvSpPr/>
          <p:nvPr/>
        </p:nvSpPr>
        <p:spPr>
          <a:xfrm>
            <a:off x="548640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Why it happens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9" name="Why it happens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Why it happens heading"/>
          <p:cNvSpPr txBox="1"/>
          <p:nvPr/>
        </p:nvSpPr>
        <p:spPr>
          <a:xfrm>
            <a:off x="1353312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1" name="Why it happens body"/>
          <p:cNvSpPr txBox="1"/>
          <p:nvPr/>
        </p:nvSpPr>
        <p:spPr>
          <a:xfrm>
            <a:off x="777240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is IV bioavailability 100%? The whole dose enters the bloodstream directly — there is no absorption step and no trip through the liver first.</a:t>
            </a:r>
            <a:r>
              <a:rPr lang="en-US" sz="1300" dirty="0">
                <a:solidFill>
                  <a:srgbClr val="666666"/>
                </a:solidFill>
              </a:rPr>
              <a:t>  S50; S49</a:t>
            </a:r>
            <a:endParaRPr lang="en-US" sz="1800" dirty="0"/>
          </a:p>
        </p:txBody>
      </p:sp>
      <p:sp>
        <p:nvSpPr>
          <p:cNvPr id="12" name="Why it happens card"/>
          <p:cNvSpPr/>
          <p:nvPr/>
        </p:nvSpPr>
        <p:spPr>
          <a:xfrm>
            <a:off x="548640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3" name="Why it happens icon circle"/>
          <p:cNvSpPr/>
          <p:nvPr/>
        </p:nvSpPr>
        <p:spPr>
          <a:xfrm>
            <a:off x="777240" y="4014216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4" name="Why it happens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114800"/>
            <a:ext cx="237744" cy="237744"/>
          </a:xfrm>
          <a:prstGeom prst="rect">
            <a:avLst/>
          </a:prstGeom>
        </p:spPr>
      </p:pic>
      <p:sp>
        <p:nvSpPr>
          <p:cNvPr id="15" name="Why it happens heading"/>
          <p:cNvSpPr txBox="1"/>
          <p:nvPr/>
        </p:nvSpPr>
        <p:spPr>
          <a:xfrm>
            <a:off x="1353312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16" name="Why it happens body"/>
          <p:cNvSpPr txBox="1"/>
          <p:nvPr/>
        </p:nvSpPr>
        <p:spPr>
          <a:xfrm>
            <a:off x="777240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 highly protein-bound drugs act less and cross the BBB poorly? Only free (unbound) drug is active and able to cross membranes.</a:t>
            </a:r>
            <a:r>
              <a:rPr lang="en-US" sz="1300" dirty="0">
                <a:solidFill>
                  <a:srgbClr val="666666"/>
                </a:solidFill>
              </a:rPr>
              <a:t>  S52; S53</a:t>
            </a:r>
            <a:endParaRPr lang="en-US" sz="1800" dirty="0"/>
          </a:p>
        </p:txBody>
      </p:sp>
      <p:sp>
        <p:nvSpPr>
          <p:cNvPr id="17" name="Why it happens card"/>
          <p:cNvSpPr/>
          <p:nvPr/>
        </p:nvSpPr>
        <p:spPr>
          <a:xfrm>
            <a:off x="6278728" y="1325880"/>
            <a:ext cx="5364328" cy="2276856"/>
          </a:xfrm>
          <a:prstGeom prst="roundRect">
            <a:avLst>
              <a:gd name="adj" fmla="val 4819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8" name="Why it happens icon circle"/>
          <p:cNvSpPr/>
          <p:nvPr/>
        </p:nvSpPr>
        <p:spPr>
          <a:xfrm>
            <a:off x="6507328" y="1508760"/>
            <a:ext cx="438912" cy="438912"/>
          </a:xfrm>
          <a:prstGeom prst="ellipse">
            <a:avLst/>
          </a:prstGeom>
          <a:solidFill>
            <a:srgbClr val="4472C4"/>
          </a:solidFill>
          <a:ln w="12700">
            <a:solidFill>
              <a:srgbClr val="4472C4"/>
            </a:solidFill>
            <a:prstDash val="solid"/>
          </a:ln>
        </p:spPr>
      </p:sp>
      <p:pic>
        <p:nvPicPr>
          <p:cNvPr id="19" name="Why it happens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912" y="1609344"/>
            <a:ext cx="237744" cy="237744"/>
          </a:xfrm>
          <a:prstGeom prst="rect">
            <a:avLst/>
          </a:prstGeom>
        </p:spPr>
      </p:pic>
      <p:sp>
        <p:nvSpPr>
          <p:cNvPr id="20" name="Why it happens heading"/>
          <p:cNvSpPr txBox="1"/>
          <p:nvPr/>
        </p:nvSpPr>
        <p:spPr>
          <a:xfrm>
            <a:off x="7083400" y="1508760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472C4"/>
                </a:solidFill>
              </a:rPr>
              <a:t>Why it happens</a:t>
            </a:r>
            <a:endParaRPr lang="en-US" sz="1800" dirty="0"/>
          </a:p>
        </p:txBody>
      </p:sp>
      <p:sp>
        <p:nvSpPr>
          <p:cNvPr id="21" name="Why it happens body"/>
          <p:cNvSpPr txBox="1"/>
          <p:nvPr/>
        </p:nvSpPr>
        <p:spPr>
          <a:xfrm>
            <a:off x="6507328" y="2075688"/>
            <a:ext cx="4907128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Why does sublingual skip first-pass? It drains into systemic veins, not the portal vein — so the drug reaches the body before the liver can inactivate it.</a:t>
            </a:r>
            <a:r>
              <a:rPr lang="en-US" sz="1300" dirty="0">
                <a:solidFill>
                  <a:srgbClr val="666666"/>
                </a:solidFill>
              </a:rPr>
              <a:t>  S55; S51</a:t>
            </a:r>
            <a:endParaRPr lang="en-US" sz="1800" dirty="0"/>
          </a:p>
        </p:txBody>
      </p:sp>
      <p:sp>
        <p:nvSpPr>
          <p:cNvPr id="22" name="Mnemonic (memory aid) card"/>
          <p:cNvSpPr/>
          <p:nvPr/>
        </p:nvSpPr>
        <p:spPr>
          <a:xfrm>
            <a:off x="6278728" y="3831336"/>
            <a:ext cx="5364328" cy="1997964"/>
          </a:xfrm>
          <a:prstGeom prst="roundRect">
            <a:avLst>
              <a:gd name="adj" fmla="val 5492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23" name="Mnemonic (memory aid) icon circle"/>
          <p:cNvSpPr/>
          <p:nvPr/>
        </p:nvSpPr>
        <p:spPr>
          <a:xfrm>
            <a:off x="6507328" y="4014216"/>
            <a:ext cx="438912" cy="438912"/>
          </a:xfrm>
          <a:prstGeom prst="ellipse">
            <a:avLst/>
          </a:prstGeom>
          <a:solidFill>
            <a:srgbClr val="7030A0"/>
          </a:solidFill>
          <a:ln w="12700">
            <a:solidFill>
              <a:srgbClr val="7030A0"/>
            </a:solidFill>
            <a:prstDash val="solid"/>
          </a:ln>
        </p:spPr>
      </p:sp>
      <p:pic>
        <p:nvPicPr>
          <p:cNvPr id="24" name="Mnemonic (memory aid)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912" y="4114800"/>
            <a:ext cx="237744" cy="237744"/>
          </a:xfrm>
          <a:prstGeom prst="rect">
            <a:avLst/>
          </a:prstGeom>
        </p:spPr>
      </p:pic>
      <p:sp>
        <p:nvSpPr>
          <p:cNvPr id="25" name="Mnemonic (memory aid) heading"/>
          <p:cNvSpPr txBox="1"/>
          <p:nvPr/>
        </p:nvSpPr>
        <p:spPr>
          <a:xfrm>
            <a:off x="7083400" y="4014216"/>
            <a:ext cx="43584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030A0"/>
                </a:solidFill>
              </a:rPr>
              <a:t>Mnemonic (memory aid)</a:t>
            </a:r>
            <a:endParaRPr lang="en-US" sz="1800" dirty="0"/>
          </a:p>
        </p:txBody>
      </p:sp>
      <p:sp>
        <p:nvSpPr>
          <p:cNvPr id="26" name="Mnemonic (memory aid) body"/>
          <p:cNvSpPr txBox="1"/>
          <p:nvPr/>
        </p:nvSpPr>
        <p:spPr>
          <a:xfrm>
            <a:off x="6507328" y="4581144"/>
            <a:ext cx="4907128" cy="1129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Big first-pass drugs "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eed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lenty </a:t>
            </a:r>
            <a:r>
              <a:rPr lang="en-US" sz="1800" b="1" dirty="0">
                <a:solidFill>
                  <a:srgbClr val="1F1F1F"/>
                </a:solidFill>
              </a:rPr>
              <a:t>M</a:t>
            </a:r>
            <a:r>
              <a:rPr lang="en-US" sz="1800" dirty="0">
                <a:solidFill>
                  <a:srgbClr val="1F1F1F"/>
                </a:solidFill>
              </a:rPr>
              <a:t>ore by mouth": </a:t>
            </a:r>
            <a:r>
              <a:rPr lang="en-US" sz="1800" b="1" dirty="0">
                <a:solidFill>
                  <a:srgbClr val="1F1F1F"/>
                </a:solidFill>
              </a:rPr>
              <a:t>N</a:t>
            </a:r>
            <a:r>
              <a:rPr lang="en-US" sz="1800" dirty="0">
                <a:solidFill>
                  <a:srgbClr val="1F1F1F"/>
                </a:solidFill>
              </a:rPr>
              <a:t>itroglycerin, </a:t>
            </a:r>
            <a:r>
              <a:rPr lang="en-US" sz="1800" b="1" dirty="0">
                <a:solidFill>
                  <a:srgbClr val="1F1F1F"/>
                </a:solidFill>
              </a:rPr>
              <a:t>P</a:t>
            </a:r>
            <a:r>
              <a:rPr lang="en-US" sz="1800" dirty="0">
                <a:solidFill>
                  <a:srgbClr val="1F1F1F"/>
                </a:solidFill>
              </a:rPr>
              <a:t>ropranolol, </a:t>
            </a:r>
            <a:r>
              <a:rPr lang="en-US" sz="1800" b="1" dirty="0">
                <a:solidFill>
                  <a:srgbClr val="1F1F1F"/>
                </a:solidFill>
              </a:rPr>
              <a:t>M</a:t>
            </a:r>
            <a:r>
              <a:rPr lang="en-US" sz="1800" dirty="0">
                <a:solidFill>
                  <a:srgbClr val="1F1F1F"/>
                </a:solidFill>
              </a:rPr>
              <a:t>orphine.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PHARMACOKINETICS: ADME — ABSORPTION &amp; DISTRIBUTION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summary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127</a:t>
            </a:r>
            <a:endParaRPr lang="en-US" sz="1000" dirty="0"/>
          </a:p>
        </p:txBody>
      </p:sp>
      <p:sp>
        <p:nvSpPr>
          <p:cNvPr id="7" name="If you remember nothing else card"/>
          <p:cNvSpPr/>
          <p:nvPr/>
        </p:nvSpPr>
        <p:spPr>
          <a:xfrm>
            <a:off x="548640" y="1325880"/>
            <a:ext cx="11094415" cy="2994660"/>
          </a:xfrm>
          <a:prstGeom prst="roundRect">
            <a:avLst>
              <a:gd name="adj" fmla="val 36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If you remember nothing else icon circle"/>
          <p:cNvSpPr/>
          <p:nvPr/>
        </p:nvSpPr>
        <p:spPr>
          <a:xfrm>
            <a:off x="777240" y="1508760"/>
            <a:ext cx="438912" cy="438912"/>
          </a:xfrm>
          <a:prstGeom prst="ellipse">
            <a:avLst/>
          </a:prstGeom>
          <a:solidFill>
            <a:srgbClr val="C55A11"/>
          </a:solidFill>
          <a:ln w="12700">
            <a:solidFill>
              <a:srgbClr val="C55A11"/>
            </a:solidFill>
            <a:prstDash val="solid"/>
          </a:ln>
        </p:spPr>
      </p:sp>
      <p:pic>
        <p:nvPicPr>
          <p:cNvPr id="9" name="If you remember nothing else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" y="1609344"/>
            <a:ext cx="237744" cy="237744"/>
          </a:xfrm>
          <a:prstGeom prst="rect">
            <a:avLst/>
          </a:prstGeom>
        </p:spPr>
      </p:pic>
      <p:sp>
        <p:nvSpPr>
          <p:cNvPr id="10" name="If you remember nothing else heading"/>
          <p:cNvSpPr txBox="1"/>
          <p:nvPr/>
        </p:nvSpPr>
        <p:spPr>
          <a:xfrm>
            <a:off x="1353312" y="1508760"/>
            <a:ext cx="100885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55A11"/>
                </a:solidFill>
              </a:rPr>
              <a:t>If you remember nothing else</a:t>
            </a:r>
            <a:endParaRPr lang="en-US" sz="1800" dirty="0"/>
          </a:p>
        </p:txBody>
      </p:sp>
      <p:sp>
        <p:nvSpPr>
          <p:cNvPr id="11" name="If you remember nothing else body"/>
          <p:cNvSpPr txBox="1"/>
          <p:nvPr/>
        </p:nvSpPr>
        <p:spPr>
          <a:xfrm>
            <a:off x="777240" y="2075688"/>
            <a:ext cx="10637215" cy="2125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b="1" dirty="0">
                <a:solidFill>
                  <a:srgbClr val="1F1F1F"/>
                </a:solidFill>
              </a:rPr>
              <a:t>F</a:t>
            </a:r>
            <a:r>
              <a:rPr lang="en-US" sz="1800" dirty="0">
                <a:solidFill>
                  <a:srgbClr val="1F1F1F"/>
                </a:solidFill>
              </a:rPr>
              <a:t> = fraction of dose reaching systemic circulation unchanged; IV = 100%.</a:t>
            </a:r>
            <a:r>
              <a:rPr lang="en-US" sz="1300" dirty="0">
                <a:solidFill>
                  <a:srgbClr val="666666"/>
                </a:solidFill>
              </a:rPr>
              <a:t>  S50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First-pass: oral → GI → portal → liver → systemic; big examples nitroglycerin, propranolol, morphine.</a:t>
            </a:r>
            <a:r>
              <a:rPr lang="en-US" sz="1300" dirty="0">
                <a:solidFill>
                  <a:srgbClr val="666666"/>
                </a:solidFill>
              </a:rPr>
              <a:t>  S51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Every route except oral bypasses first-pass (sublingual = direct to systemic veins).</a:t>
            </a:r>
            <a:r>
              <a:rPr lang="en-US" sz="1300" dirty="0">
                <a:solidFill>
                  <a:srgbClr val="666666"/>
                </a:solidFill>
              </a:rPr>
              <a:t>  S49 (notes); S55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Only </a:t>
            </a:r>
            <a:r>
              <a:rPr lang="en-US" sz="1800" b="1" dirty="0">
                <a:solidFill>
                  <a:srgbClr val="1F1F1F"/>
                </a:solidFill>
              </a:rPr>
              <a:t>free (unbound)</a:t>
            </a:r>
            <a:r>
              <a:rPr lang="en-US" sz="1800" dirty="0">
                <a:solidFill>
                  <a:srgbClr val="1F1F1F"/>
                </a:solidFill>
              </a:rPr>
              <a:t> drug is active; high </a:t>
            </a:r>
            <a:r>
              <a:rPr lang="en-US" sz="1800" b="1" dirty="0">
                <a:solidFill>
                  <a:srgbClr val="1F1F1F"/>
                </a:solidFill>
              </a:rPr>
              <a:t>Vd</a:t>
            </a:r>
            <a:r>
              <a:rPr lang="en-US" sz="1800" dirty="0">
                <a:solidFill>
                  <a:srgbClr val="1F1F1F"/>
                </a:solidFill>
              </a:rPr>
              <a:t> = drug mostly in tissue (e.g., digoxin).</a:t>
            </a:r>
            <a:r>
              <a:rPr lang="en-US" sz="1300" dirty="0">
                <a:solidFill>
                  <a:srgbClr val="666666"/>
                </a:solidFill>
              </a:rPr>
              <a:t>  S52; S52 (notes)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F1F1F"/>
                </a:solidFill>
              </a:rPr>
              <a:t>BBB: small, lipophilic, non-ionized drugs cross; P-glycoprotein pumps some back out.</a:t>
            </a:r>
            <a:r>
              <a:rPr lang="en-US" sz="1300" dirty="0">
                <a:solidFill>
                  <a:srgbClr val="666666"/>
                </a:solidFill>
              </a:rPr>
              <a:t>  S53</a:t>
            </a:r>
            <a:endParaRPr lang="en-US" sz="180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S47-48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21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128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1202436"/>
          </a:xfrm>
          <a:prstGeom prst="roundRect">
            <a:avLst>
              <a:gd name="adj" fmla="val 7605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12024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In Figure 5, two separate arrows leave the Central Compartment box: one labeled "M" pointing to Metabolism (Liver), and one labeled "E" pointing to Excretion (Kidney). Together, these two arrows represent which part of ADME?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73862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7386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71119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Only the excretion step — removal of the drug via the kidney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28726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28726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325983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Absorption only — movement from the dose site into the blood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83590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8359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80847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Distribution only — how the drug moves out into the tissues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38454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3845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35711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Absorption and distribution — how the drug arrives and spreads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933188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9331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905756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Metabolism and excretion — how the drug is transformed and cleared</a:t>
            </a:r>
            <a:endParaRPr lang="en-US" sz="18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21: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129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Metabolism and excretion — how the drug is transformed and cleared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The M arrow (liver, biotransformation) and E arrow (kidney, elimination) are the back half of ADME — how the body gets rid of the drug (S48).</a:t>
            </a:r>
            <a:r>
              <a:rPr lang="en-US" sz="1100" dirty="0">
                <a:solidFill>
                  <a:srgbClr val="666666"/>
                </a:solidFill>
              </a:rPr>
              <a:t>  S46; S47-48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Only the excretion step — removal of the drug via the kidney — </a:t>
            </a:r>
            <a:r>
              <a:rPr lang="en-US" sz="1600" dirty="0">
                <a:solidFill>
                  <a:srgbClr val="1F1F1F"/>
                </a:solidFill>
              </a:rPr>
              <a:t>The figure shows TWO arrows: M (liver) and E (kidney) (S47-48).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Absorption only — movement from the dose site into the blood — </a:t>
            </a:r>
            <a:r>
              <a:rPr lang="en-US" sz="1600" dirty="0">
                <a:solidFill>
                  <a:srgbClr val="1F1F1F"/>
                </a:solidFill>
              </a:rPr>
              <a:t>Absorption is how the dose enters the bloodstream (S45), before the central compartment.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Distribution only — how the drug moves out into the tissues — </a:t>
            </a:r>
            <a:r>
              <a:rPr lang="en-US" sz="1600" dirty="0">
                <a:solidFill>
                  <a:srgbClr val="1F1F1F"/>
                </a:solidFill>
              </a:rPr>
              <a:t>Distribution is the arrow to the peripheral compartment, not to the liver/kidney (S46).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Absorption and distribution — how the drug arrives and spreads — </a:t>
            </a:r>
            <a:r>
              <a:rPr lang="en-US" sz="1600" dirty="0">
                <a:solidFill>
                  <a:srgbClr val="1F1F1F"/>
                </a:solidFill>
              </a:rPr>
              <a:t>Absorption and distribution govern how the drug arrives and spreads, not how it leaves (S48).</a:t>
            </a:r>
            <a:endParaRPr lang="en-US" sz="16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LECTURE QUICK CHECK S54-55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22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130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Which route of administration bypasses first-pass hepatic metabolism entirely, by entering systemic venous circulation directly?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Every route equally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taken with food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Sublingual route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empty stomach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Oral, crushed tablet</a:t>
            </a:r>
            <a:endParaRPr lang="en-US" sz="18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MECHANISM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22: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131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Sublingual route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47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Sublingual absorption enters systemic venous circulation directly, bypassing the portal vein and liver (S55).</a:t>
            </a:r>
            <a:r>
              <a:rPr lang="en-US" sz="1100" dirty="0">
                <a:solidFill>
                  <a:srgbClr val="666666"/>
                </a:solidFill>
              </a:rPr>
              <a:t>  S54-55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625344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735072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Every route equally — </a:t>
            </a:r>
            <a:r>
              <a:rPr lang="en-US" sz="1600" dirty="0">
                <a:solidFill>
                  <a:srgbClr val="1F1F1F"/>
                </a:solidFill>
              </a:rPr>
              <a:t>Essentially every route except oral bypasses first-pass metabolism (S49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Oral, taken with food — </a:t>
            </a:r>
            <a:r>
              <a:rPr lang="en-US" sz="1600" dirty="0">
                <a:solidFill>
                  <a:srgbClr val="1F1F1F"/>
                </a:solidFill>
              </a:rPr>
              <a:t>Food doesn't change the oral route's path through the portal vein and liver (S55).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Oral, empty stomach — </a:t>
            </a:r>
            <a:r>
              <a:rPr lang="en-US" sz="1600" dirty="0">
                <a:solidFill>
                  <a:srgbClr val="1F1F1F"/>
                </a:solidFill>
              </a:rPr>
              <a:t>Oral drugs are absorbed into the portal circulation and pass through the liver first (S55).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Oral, crushed tablet — </a:t>
            </a:r>
            <a:r>
              <a:rPr lang="en-US" sz="1600" dirty="0">
                <a:solidFill>
                  <a:srgbClr val="1F1F1F"/>
                </a:solidFill>
              </a:rPr>
              <a:t>Any oral dose goes GI → portal circulation → liver (S51).</a:t>
            </a:r>
            <a:endParaRPr lang="en-US" sz="16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23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132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stable on IV propranolol is switched to the oral form and needs a much higher oral dose to reach the same systemic exposure. Which best explains this?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Propranolol has a narrow therapeutic index, so oral doses must be higher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Extensive first-pass hepatic metabolism lowers the drug's oral bioavailability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Propranolol is highly protein-bound, so the oral form is inactive in plasma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The IV form was less than 100% bioavailable, so less drug reached the blood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Oral propranolol cannot cross the blood-brain barrier, so more must be given</a:t>
            </a:r>
            <a:endParaRPr lang="en-US" sz="18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23: B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133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</a:t>
            </a:r>
            <a:r>
              <a:rPr lang="en-US" sz="1600" b="1" dirty="0">
                <a:solidFill>
                  <a:srgbClr val="1F1F1F"/>
                </a:solidFill>
              </a:rPr>
              <a:t>Extensive first-pass hepatic metabolism lowers the drug's oral bioavailability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Propranolol has a large first-pass effect; oral doses pass GI → portal → liver before systemic circulation, so higher oral doses are needed to match IV exposure (S51, S50).</a:t>
            </a:r>
            <a:r>
              <a:rPr lang="en-US" sz="1100" dirty="0">
                <a:solidFill>
                  <a:srgbClr val="666666"/>
                </a:solidFill>
              </a:rPr>
              <a:t>  S50; S51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Propranolol has a narrow therapeutic index, so oral doses must be higher — </a:t>
            </a:r>
            <a:r>
              <a:rPr lang="en-US" sz="1600" dirty="0">
                <a:solidFill>
                  <a:srgbClr val="1F1F1F"/>
                </a:solidFill>
              </a:rPr>
              <a:t>Narrow TI calls for careful dosing and monitoring (S38); propranolol is named for first-pass, not narrow TI (S51).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Propranolol is highly protein-bound, so the oral form is inactive in plasma — </a:t>
            </a:r>
            <a:r>
              <a:rPr lang="en-US" sz="1600" dirty="0">
                <a:solidFill>
                  <a:srgbClr val="1F1F1F"/>
                </a:solidFill>
              </a:rPr>
              <a:t>Protein binding affects free drug in plasma regardless of route (S52); the IV-to-oral gap is the first-pass effect (S51).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The IV form was less than 100% bioavailable, so less drug reached the blood — </a:t>
            </a:r>
            <a:r>
              <a:rPr lang="en-US" sz="1600" dirty="0">
                <a:solidFill>
                  <a:srgbClr val="1F1F1F"/>
                </a:solidFill>
              </a:rPr>
              <a:t>IV has 100% bioavailability by definition (S50).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Oral propranolol cannot cross the blood-brain barrier, so more must be given — </a:t>
            </a:r>
            <a:r>
              <a:rPr lang="en-US" sz="1600" dirty="0">
                <a:solidFill>
                  <a:srgbClr val="1F1F1F"/>
                </a:solidFill>
              </a:rPr>
              <a:t>BBB crossing relates to CNS entry (S53), not systemic exposure after an oral dose.</a:t>
            </a:r>
            <a:endParaRPr lang="en-US" sz="16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24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134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923544"/>
          </a:xfrm>
          <a:prstGeom prst="roundRect">
            <a:avLst>
              <a:gd name="adj" fmla="val 990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with meningitis receives a highly polar antibiotic. Which statement best describes this drug's ability to reach the CNS?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45973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4597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43230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never reach the CNS, even when the meninges are inflamed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008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98094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easily because P-glycoprotein pumps them into the CNS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55701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55701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52958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usually cross poorly, but inflamed meninges allow better entry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410565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41056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407822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easily because tight junctions favor polar molecules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654296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6542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626864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Polar drugs cross well because the brain is a poorly perfused tissue</a:t>
            </a:r>
            <a:endParaRPr lang="en-US" sz="18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24: C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135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</a:t>
            </a:r>
            <a:r>
              <a:rPr lang="en-US" sz="1600" b="1" dirty="0">
                <a:solidFill>
                  <a:srgbClr val="1F1F1F"/>
                </a:solidFill>
              </a:rPr>
              <a:t>Polar drugs usually cross poorly, but inflamed meninges allow better entry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A highly polar antibiotic generally would not cross the BBB well — unless the meninges are inflamed, as in meningitis (S53 notes).</a:t>
            </a:r>
            <a:r>
              <a:rPr lang="en-US" sz="1100" dirty="0">
                <a:solidFill>
                  <a:srgbClr val="666666"/>
                </a:solidFill>
              </a:rPr>
              <a:t>  S53; S53 (notes)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2696464"/>
          </a:xfrm>
          <a:prstGeom prst="roundRect">
            <a:avLst>
              <a:gd name="adj" fmla="val 3391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251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Polar drugs never reach the CNS, even when the meninges are inflamed — </a:t>
            </a:r>
            <a:r>
              <a:rPr lang="en-US" sz="1600" dirty="0">
                <a:solidFill>
                  <a:srgbClr val="1F1F1F"/>
                </a:solidFill>
              </a:rPr>
              <a:t>Inflamed meninges (meningitis) are the stated exception (S53 notes).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Polar drugs cross easily because P-glycoprotein pumps them into the CNS — </a:t>
            </a:r>
            <a:r>
              <a:rPr lang="en-US" sz="1600" dirty="0">
                <a:solidFill>
                  <a:srgbClr val="1F1F1F"/>
                </a:solidFill>
              </a:rPr>
              <a:t>Efflux transporters like P-glycoprotein pump some drugs back OUT of the CNS (S53).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Polar drugs cross easily because tight junctions favor polar molecules — </a:t>
            </a:r>
            <a:r>
              <a:rPr lang="en-US" sz="1600" dirty="0">
                <a:solidFill>
                  <a:srgbClr val="1F1F1F"/>
                </a:solidFill>
              </a:rPr>
              <a:t>Tight junctions restrict paracellular movement; small lipophilic non-ionized drugs cross more easily (S53).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Polar drugs cross well because the brain is a poorly perfused tissue — </a:t>
            </a:r>
            <a:r>
              <a:rPr lang="en-US" sz="1600" dirty="0">
                <a:solidFill>
                  <a:srgbClr val="1F1F1F"/>
                </a:solidFill>
              </a:rPr>
              <a:t>The brain is highly perfused (S52), and perfusion does not overcome the BBB for polar drugs (S53).</a:t>
            </a:r>
            <a:endParaRPr lang="en-US" sz="16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25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136</a:t>
            </a:r>
            <a:endParaRPr lang="en-US" sz="1000" dirty="0"/>
          </a:p>
        </p:txBody>
      </p:sp>
      <p:sp>
        <p:nvSpPr>
          <p:cNvPr id="7" name="Question stem card"/>
          <p:cNvSpPr/>
          <p:nvPr/>
        </p:nvSpPr>
        <p:spPr>
          <a:xfrm>
            <a:off x="548640" y="1325880"/>
            <a:ext cx="11094415" cy="644652"/>
          </a:xfrm>
          <a:prstGeom prst="roundRect">
            <a:avLst>
              <a:gd name="adj" fmla="val 1418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8" name="Question stem"/>
          <p:cNvSpPr txBox="1"/>
          <p:nvPr/>
        </p:nvSpPr>
        <p:spPr>
          <a:xfrm>
            <a:off x="777240" y="1325880"/>
            <a:ext cx="10637215" cy="6446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A patient overdoses on a weak-acid drug. To speed its renal excretion, what should be done to the urine?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48640" y="218084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48640" y="21808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A</a:t>
            </a:r>
            <a:endParaRPr lang="en-US" sz="1400" dirty="0"/>
          </a:p>
        </p:txBody>
      </p:sp>
      <p:sp>
        <p:nvSpPr>
          <p:cNvPr id="11" name="Option A"/>
          <p:cNvSpPr txBox="1"/>
          <p:nvPr/>
        </p:nvSpPr>
        <p:spPr>
          <a:xfrm>
            <a:off x="1188720" y="215341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Make the urine more acidic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272948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27294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B</a:t>
            </a:r>
            <a:endParaRPr lang="en-US" sz="1400" dirty="0"/>
          </a:p>
        </p:txBody>
      </p:sp>
      <p:sp>
        <p:nvSpPr>
          <p:cNvPr id="14" name="Option B"/>
          <p:cNvSpPr txBox="1"/>
          <p:nvPr/>
        </p:nvSpPr>
        <p:spPr>
          <a:xfrm>
            <a:off x="1188720" y="270205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Slow glomerular filtration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327812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32781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C</a:t>
            </a:r>
            <a:endParaRPr lang="en-US" sz="1400" dirty="0"/>
          </a:p>
        </p:txBody>
      </p:sp>
      <p:sp>
        <p:nvSpPr>
          <p:cNvPr id="17" name="Option C"/>
          <p:cNvSpPr txBox="1"/>
          <p:nvPr/>
        </p:nvSpPr>
        <p:spPr>
          <a:xfrm>
            <a:off x="1188720" y="325069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Keep urine pH unchanged and give more fluids only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548640" y="382676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48640" y="38267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D</a:t>
            </a:r>
            <a:endParaRPr lang="en-US" sz="1400" dirty="0"/>
          </a:p>
        </p:txBody>
      </p:sp>
      <p:sp>
        <p:nvSpPr>
          <p:cNvPr id="20" name="Option D"/>
          <p:cNvSpPr txBox="1"/>
          <p:nvPr/>
        </p:nvSpPr>
        <p:spPr>
          <a:xfrm>
            <a:off x="1188720" y="379933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Raise plasma protein binding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548640" y="4375404"/>
            <a:ext cx="402336" cy="4023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472C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43754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472C4"/>
                </a:solidFill>
              </a:rPr>
              <a:t>E</a:t>
            </a:r>
            <a:endParaRPr lang="en-US" sz="1400" dirty="0"/>
          </a:p>
        </p:txBody>
      </p:sp>
      <p:sp>
        <p:nvSpPr>
          <p:cNvPr id="23" name="Option E"/>
          <p:cNvSpPr txBox="1"/>
          <p:nvPr/>
        </p:nvSpPr>
        <p:spPr>
          <a:xfrm>
            <a:off x="1188720" y="4347972"/>
            <a:ext cx="10271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1F1F"/>
                </a:solidFill>
              </a:rPr>
              <a:t>Make the urine more alkaline</a:t>
            </a:r>
            <a:endParaRPr lang="en-US" sz="18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292608"/>
            <a:ext cx="8076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4472C4"/>
                </a:solidFill>
              </a:rPr>
              <a:t>CLINICAL VIGNETTE · ANSWER</a:t>
            </a:r>
            <a:endParaRPr lang="en-US" sz="12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566928"/>
            <a:ext cx="807689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1F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25: E</a:t>
            </a:r>
            <a:endParaRPr lang="en-US" sz="3000" dirty="0"/>
          </a:p>
        </p:txBody>
      </p:sp>
      <p:sp>
        <p:nvSpPr>
          <p:cNvPr id="4" name="Objective chip"/>
          <p:cNvSpPr/>
          <p:nvPr/>
        </p:nvSpPr>
        <p:spPr>
          <a:xfrm>
            <a:off x="8899855" y="365760"/>
            <a:ext cx="2743200" cy="384048"/>
          </a:xfrm>
          <a:prstGeom prst="roundRect">
            <a:avLst>
              <a:gd name="adj" fmla="val 35714"/>
            </a:avLst>
          </a:prstGeom>
          <a:solidFill>
            <a:srgbClr val="E3EBF8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F4F8A"/>
                </a:solidFill>
              </a:rPr>
              <a:t>Objectives: SO5 · IO1.2 · IO1.3 · IO1.5</a:t>
            </a:r>
            <a:endParaRPr lang="en-US" sz="1200" dirty="0"/>
          </a:p>
        </p:txBody>
      </p:sp>
      <p:sp>
        <p:nvSpPr>
          <p:cNvPr id="5" name="Footer"/>
          <p:cNvSpPr txBox="1"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L01 · Introduction to Pharmacology — Session 1</a:t>
            </a:r>
            <a:endParaRPr lang="en-US" sz="1000" dirty="0"/>
          </a:p>
        </p:txBody>
      </p:sp>
      <p:sp>
        <p:nvSpPr>
          <p:cNvPr id="6" name="Slide number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66666"/>
                </a:solidFill>
              </a:rPr>
              <a:t>137</a:t>
            </a:r>
            <a:endParaRPr lang="en-US" sz="1000" dirty="0"/>
          </a:p>
        </p:txBody>
      </p:sp>
      <p:sp>
        <p:nvSpPr>
          <p:cNvPr id="7" name="Correct answer"/>
          <p:cNvSpPr/>
          <p:nvPr/>
        </p:nvSpPr>
        <p:spPr>
          <a:xfrm>
            <a:off x="548640" y="1325880"/>
            <a:ext cx="11094415" cy="548640"/>
          </a:xfrm>
          <a:prstGeom prst="roundRect">
            <a:avLst>
              <a:gd name="adj" fmla="val 16667"/>
            </a:avLst>
          </a:prstGeom>
          <a:solidFill>
            <a:srgbClr val="E2F0D9"/>
          </a:solidFill>
          <a:ln w="19050">
            <a:solidFill>
              <a:srgbClr val="548235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435608"/>
            <a:ext cx="329184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234440" y="1325880"/>
            <a:ext cx="10180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E. </a:t>
            </a:r>
            <a:r>
              <a:rPr lang="en-US" sz="1600" b="1" dirty="0">
                <a:solidFill>
                  <a:srgbClr val="1F1F1F"/>
                </a:solidFill>
              </a:rPr>
              <a:t>Make the urine more alkaline</a:t>
            </a:r>
            <a:endParaRPr lang="en-US" sz="1600" dirty="0"/>
          </a:p>
        </p:txBody>
      </p:sp>
      <p:sp>
        <p:nvSpPr>
          <p:cNvPr id="10" name="Why correct"/>
          <p:cNvSpPr txBox="1"/>
          <p:nvPr/>
        </p:nvSpPr>
        <p:spPr>
          <a:xfrm>
            <a:off x="777240" y="2011680"/>
            <a:ext cx="10637215" cy="72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1F1F"/>
                </a:solidFill>
              </a:rPr>
              <a:t>In alkaline urine a weak acid is mostly ionized, so it cannot diffuse back across the tubule and is trapped in the urine (p. 10).</a:t>
            </a:r>
            <a:r>
              <a:rPr lang="en-US" sz="1100" dirty="0">
                <a:solidFill>
                  <a:srgbClr val="666666"/>
                </a:solidFill>
              </a:rPr>
              <a:t>  p. 10</a:t>
            </a:r>
            <a:endParaRPr lang="en-US" sz="1600" dirty="0"/>
          </a:p>
        </p:txBody>
      </p:sp>
      <p:sp>
        <p:nvSpPr>
          <p:cNvPr id="11" name="Why others wrong card"/>
          <p:cNvSpPr/>
          <p:nvPr/>
        </p:nvSpPr>
        <p:spPr>
          <a:xfrm>
            <a:off x="548640" y="2873248"/>
            <a:ext cx="11094415" cy="1704848"/>
          </a:xfrm>
          <a:prstGeom prst="roundRect">
            <a:avLst>
              <a:gd name="adj" fmla="val 5364"/>
            </a:avLst>
          </a:prstGeom>
          <a:solidFill>
            <a:srgbClr val="F2F4F7"/>
          </a:solidFill>
          <a:ln w="12700">
            <a:solidFill>
              <a:srgbClr val="F2F4F7"/>
            </a:solidFill>
            <a:prstDash val="solid"/>
          </a:ln>
        </p:spPr>
      </p:sp>
      <p:sp>
        <p:nvSpPr>
          <p:cNvPr id="12" name="Why others wrong"/>
          <p:cNvSpPr txBox="1"/>
          <p:nvPr/>
        </p:nvSpPr>
        <p:spPr>
          <a:xfrm>
            <a:off x="777240" y="2982976"/>
            <a:ext cx="10637215" cy="1521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00000"/>
                </a:solidFill>
              </a:rPr>
              <a:t>Why the other choices are wrong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A. Make the urine more acidic — </a:t>
            </a:r>
            <a:r>
              <a:rPr lang="en-US" sz="1600" dirty="0">
                <a:solidFill>
                  <a:srgbClr val="1F1F1F"/>
                </a:solidFill>
              </a:rPr>
              <a:t>Acidic urine keeps a weak acid nonionized and lipid-soluble, so more is reabsorbed (p. 10).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B. Slow glomerular filtration — </a:t>
            </a:r>
            <a:r>
              <a:rPr lang="en-US" sz="1600" dirty="0">
                <a:solidFill>
                  <a:srgbClr val="1F1F1F"/>
                </a:solidFill>
              </a:rPr>
              <a:t>Less filtration would slow excretion, not speed it (p. 10).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C. Keep urine pH unchanged and give more fluids only — </a:t>
            </a:r>
            <a:r>
              <a:rPr lang="en-US" sz="1600" dirty="0">
                <a:solidFill>
                  <a:srgbClr val="1F1F1F"/>
                </a:solidFill>
              </a:rPr>
              <a:t>Fluids alone do not trap the drug; ionization is the lever (p. 10).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F1F1F"/>
                </a:solidFill>
              </a:rPr>
              <a:t>D. Raise plasma protein binding — </a:t>
            </a:r>
            <a:r>
              <a:rPr lang="en-US" sz="1600" dirty="0">
                <a:solidFill>
                  <a:srgbClr val="1F1F1F"/>
                </a:solidFill>
              </a:rPr>
              <a:t>Protein binding does not trap drug in the urine (p. 8; p. 10).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udy deck light">
  <a:themeElements>
    <a:clrScheme name="Study deck light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tudy deck light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137</Slides>
  <Notes>137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137</vt:i4>
      </vt:variant>
    </vt:vector>
  </HeadingPairs>
  <TitlesOfParts>
    <vt:vector size="1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L01 Introduction to Pharmacology — Session 1</dc:title>
  <dc:subject>PptxGenJS Presentation</dc:subject>
  <dc:creator>PptxGenJS</dc:creator>
  <cp:lastModifiedBy>PptxGenJS</cp:lastModifiedBy>
  <cp:revision>1</cp:revision>
  <dcterms:created xsi:type="dcterms:W3CDTF">2026-10-24T14:09:15Z</dcterms:created>
  <dcterms:modified xsi:type="dcterms:W3CDTF">2026-10-24T14:09:15Z</dcterms:modified>
</cp:coreProperties>
</file>