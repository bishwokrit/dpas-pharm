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Lst>
  <p:notesMasterIdLst>
    <p:notesMasterId r:id="rId1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notesMaster" Target="notesMasters/notesMaster1.xml"/><Relationship Id="rId117" Type="http://schemas.openxmlformats.org/officeDocument/2006/relationships/presProps" Target="presProps.xml"/><Relationship Id="rId118" Type="http://schemas.openxmlformats.org/officeDocument/2006/relationships/viewProps" Target="viewProps.xml"/><Relationship Id="rId119" Type="http://schemas.openxmlformats.org/officeDocument/2006/relationships/theme" Target="theme/theme1.xml"/><Relationship Id="rId1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S9; S11; SG U2-R2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S12-13; S7 (notes); SG U2-R1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S21-22; S17; SG U2-R3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S31-33; SG U2-R5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S36; S36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S38-39; S36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S41; S43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S58-59; S45; SG U2-R6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S53-55; SG U2-M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image" Target="../media/image-24-8.png"/><Relationship Id="rId9" Type="http://schemas.openxmlformats.org/officeDocument/2006/relationships/image" Target="../media/image-24-9.png"/><Relationship Id="rId10" Type="http://schemas.openxmlformats.org/officeDocument/2006/relationships/image" Target="../media/image-24-10.png"/><Relationship Id="rId11" Type="http://schemas.openxmlformats.org/officeDocument/2006/relationships/slideLayout" Target="../slideLayouts/slideLayout1.xml"/><Relationship Id="rId1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image" Target="../media/image-44-6.png"/><Relationship Id="rId7" Type="http://schemas.openxmlformats.org/officeDocument/2006/relationships/image" Target="../media/image-44-7.png"/><Relationship Id="rId8" Type="http://schemas.openxmlformats.org/officeDocument/2006/relationships/image" Target="../media/image-44-8.png"/><Relationship Id="rId9" Type="http://schemas.openxmlformats.org/officeDocument/2006/relationships/image" Target="../media/image-44-9.png"/><Relationship Id="rId10" Type="http://schemas.openxmlformats.org/officeDocument/2006/relationships/image" Target="../media/image-44-10.png"/><Relationship Id="rId11" Type="http://schemas.openxmlformats.org/officeDocument/2006/relationships/slideLayout" Target="../slideLayouts/slideLayout1.xml"/><Relationship Id="rId1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slideLayout" Target="../slideLayouts/slideLayout1.xml"/><Relationship Id="rId5"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image" Target="../media/image-72-3.png"/><Relationship Id="rId4" Type="http://schemas.openxmlformats.org/officeDocument/2006/relationships/image" Target="../media/image-72-4.png"/><Relationship Id="rId5" Type="http://schemas.openxmlformats.org/officeDocument/2006/relationships/image" Target="../media/image-72-5.png"/><Relationship Id="rId6" Type="http://schemas.openxmlformats.org/officeDocument/2006/relationships/image" Target="../media/image-72-6.png"/><Relationship Id="rId7" Type="http://schemas.openxmlformats.org/officeDocument/2006/relationships/image" Target="../media/image-72-7.png"/><Relationship Id="rId8" Type="http://schemas.openxmlformats.org/officeDocument/2006/relationships/image" Target="../media/image-72-8.png"/><Relationship Id="rId9" Type="http://schemas.openxmlformats.org/officeDocument/2006/relationships/image" Target="../media/image-72-9.png"/><Relationship Id="rId10" Type="http://schemas.openxmlformats.org/officeDocument/2006/relationships/image" Target="../media/image-72-10.png"/><Relationship Id="rId11" Type="http://schemas.openxmlformats.org/officeDocument/2006/relationships/slideLayout" Target="../slideLayouts/slideLayout1.xml"/><Relationship Id="rId1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slideLayout" Target="../slideLayouts/slideLayout1.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slideLayout" Target="../slideLayouts/slideLayout1.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image" Target="../media/image-85-2.png"/><Relationship Id="rId3" Type="http://schemas.openxmlformats.org/officeDocument/2006/relationships/slideLayout" Target="../slideLayouts/slideLayout1.xml"/><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slideLayout" Target="../slideLayouts/slideLayout1.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1.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slideLayout" Target="../slideLayouts/slideLayout1.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slideLayout" Target="../slideLayouts/slideLayout1.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jp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jp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jpg"/><Relationship Id="rId2" Type="http://schemas.openxmlformats.org/officeDocument/2006/relationships/slideLayout" Target="../slideLayouts/slideLayout1.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jpg"/><Relationship Id="rId2" Type="http://schemas.openxmlformats.org/officeDocument/2006/relationships/slideLayout" Target="../slideLayouts/slideLayout1.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jp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image" Target="../media/image-96-2.png"/><Relationship Id="rId3" Type="http://schemas.openxmlformats.org/officeDocument/2006/relationships/slideLayout" Target="../slideLayouts/slideLayout1.xml"/><Relationship Id="rId4"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image" Target="../media/image-105-2.png"/><Relationship Id="rId3" Type="http://schemas.openxmlformats.org/officeDocument/2006/relationships/image" Target="../media/image-105-3.png"/><Relationship Id="rId4" Type="http://schemas.openxmlformats.org/officeDocument/2006/relationships/image" Target="../media/image-105-4.png"/><Relationship Id="rId5" Type="http://schemas.openxmlformats.org/officeDocument/2006/relationships/slideLayout" Target="../slideLayouts/slideLayout1.xml"/><Relationship Id="rId6"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06-1.png"/><Relationship Id="rId2" Type="http://schemas.openxmlformats.org/officeDocument/2006/relationships/slideLayout" Target="../slideLayouts/slideLayout1.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png"/><Relationship Id="rId2" Type="http://schemas.openxmlformats.org/officeDocument/2006/relationships/slideLayout" Target="../slideLayouts/slideLayout1.xm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png"/><Relationship Id="rId2" Type="http://schemas.openxmlformats.org/officeDocument/2006/relationships/slideLayout" Target="../slideLayouts/slideLayout1.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image" Target="../media/image-110-1.png"/><Relationship Id="rId2" Type="http://schemas.openxmlformats.org/officeDocument/2006/relationships/slideLayout" Target="../slideLayouts/slideLayout1.xml"/><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image-112-1.png"/><Relationship Id="rId2" Type="http://schemas.openxmlformats.org/officeDocument/2006/relationships/slideLayout" Target="../slideLayouts/slideLayout1.xml"/><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image" Target="../media/image-114-1.png"/><Relationship Id="rId2" Type="http://schemas.openxmlformats.org/officeDocument/2006/relationships/slideLayout" Target="../slideLayouts/slideLayout1.xml"/><Relationship Id="rId3" Type="http://schemas.openxmlformats.org/officeDocument/2006/relationships/notesSlide" Target="../notesSlides/notesSlide1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371600"/>
            <a:ext cx="9144000" cy="365760"/>
          </a:xfrm>
          <a:prstGeom prst="rect">
            <a:avLst/>
          </a:prstGeom>
          <a:noFill/>
          <a:ln/>
        </p:spPr>
        <p:txBody>
          <a:bodyPr wrap="square" lIns="0" tIns="0" rIns="0" bIns="0" rtlCol="0" anchor="ctr"/>
          <a:lstStyle/>
          <a:p>
            <a:pPr indent="0" marL="0">
              <a:buNone/>
            </a:pPr>
            <a:r>
              <a:rPr lang="en-US" sz="1600" b="1" dirty="0">
                <a:solidFill>
                  <a:srgbClr val="4472C4"/>
                </a:solidFill>
              </a:rPr>
              <a:t>L03 · Tue, Oct 27, 2026</a:t>
            </a:r>
            <a:endParaRPr lang="en-US" sz="1600" dirty="0"/>
          </a:p>
        </p:txBody>
      </p:sp>
      <p:sp>
        <p:nvSpPr>
          <p:cNvPr id="3" name="Title"/>
          <p:cNvSpPr txBox="1"/>
          <p:nvPr/>
        </p:nvSpPr>
        <p:spPr>
          <a:xfrm>
            <a:off x="548640" y="1783080"/>
            <a:ext cx="11094415" cy="1280160"/>
          </a:xfrm>
          <a:prstGeom prst="rect">
            <a:avLst/>
          </a:prstGeom>
          <a:noFill/>
          <a:ln/>
        </p:spPr>
        <p:txBody>
          <a:bodyPr wrap="square" lIns="0" tIns="0" rIns="0" bIns="0" rtlCol="0" anchor="t"/>
          <a:lstStyle/>
          <a:p>
            <a:pPr indent="0" marL="0">
              <a:buNone/>
            </a:pPr>
            <a:r>
              <a:rPr lang="en-US" sz="4400" b="1" dirty="0">
                <a:solidFill>
                  <a:srgbClr val="1F1F1F"/>
                </a:solidFill>
                <a:latin typeface="Calibri" pitchFamily="34" charset="0"/>
                <a:ea typeface="Calibri" pitchFamily="34" charset="-122"/>
                <a:cs typeface="Calibri" pitchFamily="34" charset="-120"/>
              </a:rPr>
              <a:t>Musculoskeletal Pharmacology — Session 1</a:t>
            </a:r>
            <a:endParaRPr lang="en-US" sz="4400" dirty="0"/>
          </a:p>
        </p:txBody>
      </p:sp>
      <p:sp>
        <p:nvSpPr>
          <p:cNvPr id="4" name="Text 2"/>
          <p:cNvSpPr txBox="1"/>
          <p:nvPr/>
        </p:nvSpPr>
        <p:spPr>
          <a:xfrm>
            <a:off x="548640" y="3063240"/>
            <a:ext cx="9144000" cy="365760"/>
          </a:xfrm>
          <a:prstGeom prst="rect">
            <a:avLst/>
          </a:prstGeom>
          <a:noFill/>
          <a:ln/>
        </p:spPr>
        <p:txBody>
          <a:bodyPr wrap="square" lIns="0" tIns="0" rIns="0" bIns="0" rtlCol="0" anchor="ctr"/>
          <a:lstStyle/>
          <a:p>
            <a:pPr indent="0" marL="0">
              <a:buNone/>
            </a:pPr>
            <a:r>
              <a:rPr lang="en-US" sz="1800" dirty="0">
                <a:solidFill>
                  <a:srgbClr val="666666"/>
                </a:solidFill>
              </a:rPr>
              <a:t>Pharmacology study deck · organized by drug class</a:t>
            </a:r>
            <a:endParaRPr lang="en-US" sz="1800" dirty="0"/>
          </a:p>
        </p:txBody>
      </p:sp>
      <p:sp>
        <p:nvSpPr>
          <p:cNvPr id="5" name="Legend card"/>
          <p:cNvSpPr/>
          <p:nvPr/>
        </p:nvSpPr>
        <p:spPr>
          <a:xfrm>
            <a:off x="548640" y="3840480"/>
            <a:ext cx="11094415" cy="2103120"/>
          </a:xfrm>
          <a:prstGeom prst="roundRect">
            <a:avLst>
              <a:gd name="adj" fmla="val 5217"/>
            </a:avLst>
          </a:prstGeom>
          <a:solidFill>
            <a:srgbClr val="F2F4F7"/>
          </a:solidFill>
          <a:ln w="12700">
            <a:solidFill>
              <a:srgbClr val="F2F4F7"/>
            </a:solidFill>
            <a:prstDash val="solid"/>
          </a:ln>
        </p:spPr>
      </p:sp>
      <p:sp>
        <p:nvSpPr>
          <p:cNvPr id="6" name="Text 4"/>
          <p:cNvSpPr txBox="1"/>
          <p:nvPr/>
        </p:nvSpPr>
        <p:spPr>
          <a:xfrm>
            <a:off x="822960" y="4023360"/>
            <a:ext cx="5486400" cy="365760"/>
          </a:xfrm>
          <a:prstGeom prst="rect">
            <a:avLst/>
          </a:prstGeom>
          <a:noFill/>
          <a:ln/>
        </p:spPr>
        <p:txBody>
          <a:bodyPr wrap="square" lIns="0" tIns="0" rIns="0" bIns="0" rtlCol="0" anchor="ctr"/>
          <a:lstStyle/>
          <a:p>
            <a:pPr indent="0" marL="0">
              <a:buNone/>
            </a:pPr>
            <a:r>
              <a:rPr lang="en-US" sz="1600" b="1" dirty="0">
                <a:solidFill>
                  <a:srgbClr val="1F1F1F"/>
                </a:solidFill>
              </a:rPr>
              <a:t>How to read this deck</a:t>
            </a:r>
            <a:endParaRPr lang="en-US" sz="1600" dirty="0"/>
          </a:p>
        </p:txBody>
      </p:sp>
      <p:sp>
        <p:nvSpPr>
          <p:cNvPr id="7" name="Legend"/>
          <p:cNvSpPr txBox="1"/>
          <p:nvPr/>
        </p:nvSpPr>
        <p:spPr>
          <a:xfrm>
            <a:off x="822960" y="4389120"/>
            <a:ext cx="10545775" cy="1463040"/>
          </a:xfrm>
          <a:prstGeom prst="rect">
            <a:avLst/>
          </a:prstGeom>
          <a:noFill/>
          <a:ln/>
        </p:spPr>
        <p:txBody>
          <a:bodyPr wrap="square" lIns="0" tIns="0" rIns="0" bIns="0" rtlCol="0" anchor="t"/>
          <a:lstStyle/>
          <a:p>
            <a:pPr indent="0" marL="0">
              <a:spcAft>
                <a:spcPts val="400"/>
              </a:spcAft>
              <a:buNone/>
            </a:pPr>
            <a:r>
              <a:rPr lang="en-US" sz="1400" b="1" dirty="0">
                <a:solidFill>
                  <a:srgbClr val="000000"/>
                </a:solidFill>
                <a:highlight>
                  <a:srgbClr val="FFC000"/>
                </a:highlight>
              </a:rPr>
              <a:t> TB </a:t>
            </a:r>
            <a:r>
              <a:rPr lang="en-US" sz="1400" dirty="0">
                <a:solidFill>
                  <a:srgbClr val="1F1F1F"/>
                </a:solidFill>
              </a:rPr>
              <a:t>  = textbook only (not on the lecture slides)</a:t>
            </a:r>
            <a:endParaRPr lang="en-US" sz="1400" dirty="0"/>
          </a:p>
          <a:p>
            <a:pPr indent="0" marL="0">
              <a:spcAft>
                <a:spcPts val="400"/>
              </a:spcAft>
              <a:buNone/>
            </a:pPr>
            <a:r>
              <a:rPr lang="en-US" sz="1400" b="1" dirty="0">
                <a:solidFill>
                  <a:srgbClr val="000000"/>
                </a:solidFill>
                <a:highlight>
                  <a:srgbClr val="9FE0D8"/>
                </a:highlight>
              </a:rPr>
              <a:t> SG </a:t>
            </a:r>
            <a:r>
              <a:rPr lang="en-US" sz="1400" dirty="0">
                <a:solidFill>
                  <a:srgbClr val="1F1F1F"/>
                </a:solidFill>
              </a:rPr>
              <a:t>  = course study guide only (not on the lecture slides)</a:t>
            </a:r>
            <a:endParaRPr lang="en-US" sz="1400" dirty="0"/>
          </a:p>
          <a:p>
            <a:pPr indent="0" marL="0">
              <a:spcAft>
                <a:spcPts val="400"/>
              </a:spcAft>
              <a:buNone/>
            </a:pPr>
            <a:r>
              <a:rPr lang="en-US" sz="1400" b="1" dirty="0">
                <a:solidFill>
                  <a:srgbClr val="1F1F1F"/>
                </a:solidFill>
              </a:rPr>
              <a:t>Bold</a:t>
            </a:r>
            <a:r>
              <a:rPr lang="en-US" sz="1400" dirty="0">
                <a:solidFill>
                  <a:srgbClr val="1F1F1F"/>
                </a:solidFill>
              </a:rPr>
              <a:t> = emphasized on the lecture slides</a:t>
            </a:r>
            <a:endParaRPr lang="en-US" sz="1400" dirty="0"/>
          </a:p>
          <a:p>
            <a:pPr indent="0" marL="0">
              <a:spcAft>
                <a:spcPts val="400"/>
              </a:spcAft>
              <a:buNone/>
            </a:pPr>
            <a:r>
              <a:rPr lang="en-US" sz="1400" dirty="0">
                <a:solidFill>
                  <a:srgbClr val="666666"/>
                </a:solidFill>
              </a:rPr>
              <a:t>S12</a:t>
            </a:r>
            <a:r>
              <a:rPr lang="en-US" sz="1400" dirty="0">
                <a:solidFill>
                  <a:srgbClr val="1F1F1F"/>
                </a:solidFill>
              </a:rPr>
              <a:t> = lecture slide 12   ·   </a:t>
            </a:r>
            <a:r>
              <a:rPr lang="en-US" sz="1400" dirty="0">
                <a:solidFill>
                  <a:srgbClr val="666666"/>
                </a:solidFill>
              </a:rPr>
              <a:t>p. 245</a:t>
            </a:r>
            <a:r>
              <a:rPr lang="en-US" sz="1400" dirty="0">
                <a:solidFill>
                  <a:srgbClr val="1F1F1F"/>
                </a:solidFill>
              </a:rPr>
              <a:t> = textbook page 245   ·   </a:t>
            </a:r>
            <a:r>
              <a:rPr lang="en-US" sz="1400" dirty="0">
                <a:solidFill>
                  <a:srgbClr val="666666"/>
                </a:solidFill>
              </a:rPr>
              <a:t>SG U1-R3</a:t>
            </a:r>
            <a:r>
              <a:rPr lang="en-US" sz="1400" dirty="0">
                <a:solidFill>
                  <a:srgbClr val="1F1F1F"/>
                </a:solidFill>
              </a:rPr>
              <a:t> = study guide item</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Learning objectives</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a:t>
            </a:r>
            <a:endParaRPr lang="en-US" sz="1000" dirty="0"/>
          </a:p>
        </p:txBody>
      </p:sp>
      <p:sp>
        <p:nvSpPr>
          <p:cNvPr id="6" name="Objective IO2.1"/>
          <p:cNvSpPr/>
          <p:nvPr/>
        </p:nvSpPr>
        <p:spPr>
          <a:xfrm>
            <a:off x="548640" y="1325880"/>
            <a:ext cx="11094415" cy="786384"/>
          </a:xfrm>
          <a:prstGeom prst="roundRect">
            <a:avLst>
              <a:gd name="adj" fmla="val 11628"/>
            </a:avLst>
          </a:prstGeom>
          <a:solidFill>
            <a:srgbClr val="F2F4F7"/>
          </a:solidFill>
          <a:ln w="12700">
            <a:solidFill>
              <a:srgbClr val="F2F4F7"/>
            </a:solidFill>
            <a:prstDash val="solid"/>
          </a:ln>
        </p:spPr>
      </p:sp>
      <p:sp>
        <p:nvSpPr>
          <p:cNvPr id="7" name="Text 5"/>
          <p:cNvSpPr txBox="1"/>
          <p:nvPr/>
        </p:nvSpPr>
        <p:spPr>
          <a:xfrm>
            <a:off x="731520" y="1325880"/>
            <a:ext cx="731520" cy="786384"/>
          </a:xfrm>
          <a:prstGeom prst="rect">
            <a:avLst/>
          </a:prstGeom>
          <a:noFill/>
          <a:ln/>
        </p:spPr>
        <p:txBody>
          <a:bodyPr wrap="square" lIns="0" tIns="0" rIns="0" bIns="0" rtlCol="0" anchor="ctr"/>
          <a:lstStyle/>
          <a:p>
            <a:pPr indent="0" marL="0">
              <a:buNone/>
            </a:pPr>
            <a:r>
              <a:rPr lang="en-US" sz="1600" b="1" dirty="0">
                <a:solidFill>
                  <a:srgbClr val="4472C4"/>
                </a:solidFill>
              </a:rPr>
              <a:t>IO2.1</a:t>
            </a:r>
            <a:endParaRPr lang="en-US" sz="1600" dirty="0"/>
          </a:p>
        </p:txBody>
      </p:sp>
      <p:sp>
        <p:nvSpPr>
          <p:cNvPr id="8" name="Text 6"/>
          <p:cNvSpPr txBox="1"/>
          <p:nvPr/>
        </p:nvSpPr>
        <p:spPr>
          <a:xfrm>
            <a:off x="1463040" y="1325880"/>
            <a:ext cx="6217920" cy="786384"/>
          </a:xfrm>
          <a:prstGeom prst="rect">
            <a:avLst/>
          </a:prstGeom>
          <a:noFill/>
          <a:ln/>
        </p:spPr>
        <p:txBody>
          <a:bodyPr wrap="square" lIns="0" tIns="0" rIns="0" bIns="0" rtlCol="0" anchor="ctr"/>
          <a:lstStyle/>
          <a:p>
            <a:pPr indent="0" marL="0">
              <a:buNone/>
            </a:pPr>
            <a:r>
              <a:rPr lang="en-US" sz="1600" dirty="0">
                <a:solidFill>
                  <a:srgbClr val="1F1F1F"/>
                </a:solidFill>
              </a:rPr>
              <a:t>Identify major pharmacologic classes used in the management of musculoskeletal conditions and describe their mechanisms of action.</a:t>
            </a:r>
            <a:endParaRPr lang="en-US" sz="1600" dirty="0"/>
          </a:p>
        </p:txBody>
      </p:sp>
      <p:sp>
        <p:nvSpPr>
          <p:cNvPr id="9" name="Text 7"/>
          <p:cNvSpPr txBox="1"/>
          <p:nvPr/>
        </p:nvSpPr>
        <p:spPr>
          <a:xfrm>
            <a:off x="7863840" y="1325880"/>
            <a:ext cx="3596335" cy="786384"/>
          </a:xfrm>
          <a:prstGeom prst="rect">
            <a:avLst/>
          </a:prstGeom>
          <a:noFill/>
          <a:ln/>
        </p:spPr>
        <p:txBody>
          <a:bodyPr wrap="square" lIns="0" tIns="0" rIns="0" bIns="0" rtlCol="0" anchor="ctr"/>
          <a:lstStyle/>
          <a:p>
            <a:pPr indent="0" marL="0">
              <a:buNone/>
            </a:pPr>
            <a:r>
              <a:rPr lang="en-US" sz="1200" dirty="0">
                <a:solidFill>
                  <a:srgbClr val="666666"/>
                </a:solidFill>
              </a:rPr>
              <a:t>Musculoskeletal Pain &amp; the Inflammatory Cascade, Acetaminophen, NSAIDs &amp; COX-2 Selective Inhibition, Osteoarthritis, Rheumatoid Arthritis &amp; DMARDs</a:t>
            </a:r>
            <a:endParaRPr lang="en-US" sz="1200" dirty="0"/>
          </a:p>
        </p:txBody>
      </p:sp>
      <p:sp>
        <p:nvSpPr>
          <p:cNvPr id="10" name="Objective IO2.2"/>
          <p:cNvSpPr/>
          <p:nvPr/>
        </p:nvSpPr>
        <p:spPr>
          <a:xfrm>
            <a:off x="548640" y="2221992"/>
            <a:ext cx="11094415" cy="1018032"/>
          </a:xfrm>
          <a:prstGeom prst="roundRect">
            <a:avLst>
              <a:gd name="adj" fmla="val 8982"/>
            </a:avLst>
          </a:prstGeom>
          <a:solidFill>
            <a:srgbClr val="F2F4F7"/>
          </a:solidFill>
          <a:ln w="12700">
            <a:solidFill>
              <a:srgbClr val="F2F4F7"/>
            </a:solidFill>
            <a:prstDash val="solid"/>
          </a:ln>
        </p:spPr>
      </p:sp>
      <p:sp>
        <p:nvSpPr>
          <p:cNvPr id="11" name="Text 9"/>
          <p:cNvSpPr txBox="1"/>
          <p:nvPr/>
        </p:nvSpPr>
        <p:spPr>
          <a:xfrm>
            <a:off x="731520" y="2221992"/>
            <a:ext cx="731520" cy="1018032"/>
          </a:xfrm>
          <a:prstGeom prst="rect">
            <a:avLst/>
          </a:prstGeom>
          <a:noFill/>
          <a:ln/>
        </p:spPr>
        <p:txBody>
          <a:bodyPr wrap="square" lIns="0" tIns="0" rIns="0" bIns="0" rtlCol="0" anchor="ctr"/>
          <a:lstStyle/>
          <a:p>
            <a:pPr indent="0" marL="0">
              <a:buNone/>
            </a:pPr>
            <a:r>
              <a:rPr lang="en-US" sz="1600" b="1" dirty="0">
                <a:solidFill>
                  <a:srgbClr val="4472C4"/>
                </a:solidFill>
              </a:rPr>
              <a:t>IO2.2</a:t>
            </a:r>
            <a:endParaRPr lang="en-US" sz="1600" dirty="0"/>
          </a:p>
        </p:txBody>
      </p:sp>
      <p:sp>
        <p:nvSpPr>
          <p:cNvPr id="12" name="Text 10"/>
          <p:cNvSpPr txBox="1"/>
          <p:nvPr/>
        </p:nvSpPr>
        <p:spPr>
          <a:xfrm>
            <a:off x="1463040" y="2221992"/>
            <a:ext cx="6217920" cy="1018032"/>
          </a:xfrm>
          <a:prstGeom prst="rect">
            <a:avLst/>
          </a:prstGeom>
          <a:noFill/>
          <a:ln/>
        </p:spPr>
        <p:txBody>
          <a:bodyPr wrap="square" lIns="0" tIns="0" rIns="0" bIns="0" rtlCol="0" anchor="ctr"/>
          <a:lstStyle/>
          <a:p>
            <a:pPr indent="0" marL="0">
              <a:buNone/>
            </a:pPr>
            <a:r>
              <a:rPr lang="en-US" sz="1600" dirty="0">
                <a:solidFill>
                  <a:srgbClr val="1F1F1F"/>
                </a:solidFill>
              </a:rPr>
              <a:t>Describe the indications, contraindications, adverse effects, and clinically significant interactions associated with medications used to treat musculoskeletal conditions.</a:t>
            </a:r>
            <a:endParaRPr lang="en-US" sz="1600" dirty="0"/>
          </a:p>
        </p:txBody>
      </p:sp>
      <p:sp>
        <p:nvSpPr>
          <p:cNvPr id="13" name="Text 11"/>
          <p:cNvSpPr txBox="1"/>
          <p:nvPr/>
        </p:nvSpPr>
        <p:spPr>
          <a:xfrm>
            <a:off x="7863840" y="2221992"/>
            <a:ext cx="3596335" cy="1018032"/>
          </a:xfrm>
          <a:prstGeom prst="rect">
            <a:avLst/>
          </a:prstGeom>
          <a:noFill/>
          <a:ln/>
        </p:spPr>
        <p:txBody>
          <a:bodyPr wrap="square" lIns="0" tIns="0" rIns="0" bIns="0" rtlCol="0" anchor="ctr"/>
          <a:lstStyle/>
          <a:p>
            <a:pPr indent="0" marL="0">
              <a:buNone/>
            </a:pPr>
            <a:r>
              <a:rPr lang="en-US" sz="1200" dirty="0">
                <a:solidFill>
                  <a:srgbClr val="666666"/>
                </a:solidFill>
              </a:rPr>
              <a:t>Acetaminophen, NSAIDs &amp; COX-2 Selective Inhibition, Osteoarthritis, Rheumatoid Arthritis &amp; DMARDs</a:t>
            </a:r>
            <a:endParaRPr lang="en-US" sz="1200" dirty="0"/>
          </a:p>
        </p:txBody>
      </p:sp>
      <p:sp>
        <p:nvSpPr>
          <p:cNvPr id="14" name="Objective IO2.3"/>
          <p:cNvSpPr/>
          <p:nvPr/>
        </p:nvSpPr>
        <p:spPr>
          <a:xfrm>
            <a:off x="548640" y="3349752"/>
            <a:ext cx="11094415" cy="770128"/>
          </a:xfrm>
          <a:prstGeom prst="roundRect">
            <a:avLst>
              <a:gd name="adj" fmla="val 11873"/>
            </a:avLst>
          </a:prstGeom>
          <a:solidFill>
            <a:srgbClr val="F2F4F7"/>
          </a:solidFill>
          <a:ln w="12700">
            <a:solidFill>
              <a:srgbClr val="F2F4F7"/>
            </a:solidFill>
            <a:prstDash val="solid"/>
          </a:ln>
        </p:spPr>
      </p:sp>
      <p:sp>
        <p:nvSpPr>
          <p:cNvPr id="15" name="Text 13"/>
          <p:cNvSpPr txBox="1"/>
          <p:nvPr/>
        </p:nvSpPr>
        <p:spPr>
          <a:xfrm>
            <a:off x="731520" y="3349752"/>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IO2.3</a:t>
            </a:r>
            <a:endParaRPr lang="en-US" sz="1600" dirty="0"/>
          </a:p>
        </p:txBody>
      </p:sp>
      <p:sp>
        <p:nvSpPr>
          <p:cNvPr id="16" name="Text 14"/>
          <p:cNvSpPr txBox="1"/>
          <p:nvPr/>
        </p:nvSpPr>
        <p:spPr>
          <a:xfrm>
            <a:off x="1463040" y="3349752"/>
            <a:ext cx="6217920" cy="770128"/>
          </a:xfrm>
          <a:prstGeom prst="rect">
            <a:avLst/>
          </a:prstGeom>
          <a:noFill/>
          <a:ln/>
        </p:spPr>
        <p:txBody>
          <a:bodyPr wrap="square" lIns="0" tIns="0" rIns="0" bIns="0" rtlCol="0" anchor="ctr"/>
          <a:lstStyle/>
          <a:p>
            <a:pPr indent="0" marL="0">
              <a:buNone/>
            </a:pPr>
            <a:r>
              <a:rPr lang="en-US" sz="1600" dirty="0">
                <a:solidFill>
                  <a:srgbClr val="1F1F1F"/>
                </a:solidFill>
              </a:rPr>
              <a:t>Compare pharmacologic agents within and across therapeutic classes to distinguish clinically relevant differences in efficacy, safety, and use.</a:t>
            </a:r>
            <a:endParaRPr lang="en-US" sz="1600" dirty="0"/>
          </a:p>
        </p:txBody>
      </p:sp>
      <p:sp>
        <p:nvSpPr>
          <p:cNvPr id="17" name="Text 15"/>
          <p:cNvSpPr txBox="1"/>
          <p:nvPr/>
        </p:nvSpPr>
        <p:spPr>
          <a:xfrm>
            <a:off x="7863840" y="3349752"/>
            <a:ext cx="3596335" cy="770128"/>
          </a:xfrm>
          <a:prstGeom prst="rect">
            <a:avLst/>
          </a:prstGeom>
          <a:noFill/>
          <a:ln/>
        </p:spPr>
        <p:txBody>
          <a:bodyPr wrap="square" lIns="0" tIns="0" rIns="0" bIns="0" rtlCol="0" anchor="ctr"/>
          <a:lstStyle/>
          <a:p>
            <a:pPr indent="0" marL="0">
              <a:buNone/>
            </a:pPr>
            <a:r>
              <a:rPr lang="en-US" sz="1200" dirty="0">
                <a:solidFill>
                  <a:srgbClr val="666666"/>
                </a:solidFill>
              </a:rPr>
              <a:t>NSAIDs &amp; COX-2 Selective Inhibition, Osteoarthritis, Rheumatoid Arthritis &amp; DMARDs</a:t>
            </a:r>
            <a:endParaRPr lang="en-US" sz="1200" dirty="0"/>
          </a:p>
        </p:txBody>
      </p:sp>
      <p:sp>
        <p:nvSpPr>
          <p:cNvPr id="18" name="Objective IO2.4"/>
          <p:cNvSpPr/>
          <p:nvPr/>
        </p:nvSpPr>
        <p:spPr>
          <a:xfrm>
            <a:off x="548640" y="4229608"/>
            <a:ext cx="11094415" cy="770128"/>
          </a:xfrm>
          <a:prstGeom prst="roundRect">
            <a:avLst>
              <a:gd name="adj" fmla="val 11873"/>
            </a:avLst>
          </a:prstGeom>
          <a:solidFill>
            <a:srgbClr val="F2F4F7"/>
          </a:solidFill>
          <a:ln w="12700">
            <a:solidFill>
              <a:srgbClr val="F2F4F7"/>
            </a:solidFill>
            <a:prstDash val="solid"/>
          </a:ln>
        </p:spPr>
      </p:sp>
      <p:sp>
        <p:nvSpPr>
          <p:cNvPr id="19" name="Text 17"/>
          <p:cNvSpPr txBox="1"/>
          <p:nvPr/>
        </p:nvSpPr>
        <p:spPr>
          <a:xfrm>
            <a:off x="731520" y="4229608"/>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IO2.4</a:t>
            </a:r>
            <a:endParaRPr lang="en-US" sz="1600" dirty="0"/>
          </a:p>
        </p:txBody>
      </p:sp>
      <p:sp>
        <p:nvSpPr>
          <p:cNvPr id="20" name="Text 18"/>
          <p:cNvSpPr txBox="1"/>
          <p:nvPr/>
        </p:nvSpPr>
        <p:spPr>
          <a:xfrm>
            <a:off x="1463040" y="4229608"/>
            <a:ext cx="6217920" cy="770128"/>
          </a:xfrm>
          <a:prstGeom prst="rect">
            <a:avLst/>
          </a:prstGeom>
          <a:noFill/>
          <a:ln/>
        </p:spPr>
        <p:txBody>
          <a:bodyPr wrap="square" lIns="0" tIns="0" rIns="0" bIns="0" rtlCol="0" anchor="ctr"/>
          <a:lstStyle/>
          <a:p>
            <a:pPr indent="0" marL="0">
              <a:buNone/>
            </a:pPr>
            <a:r>
              <a:rPr lang="en-US" sz="1600" dirty="0">
                <a:solidFill>
                  <a:srgbClr val="1F1F1F"/>
                </a:solidFill>
              </a:rPr>
              <a:t>Select appropriate pharmacologic therapy for common musculoskeletal conditions based on clinical presentation and patient-specific factors.</a:t>
            </a:r>
            <a:endParaRPr lang="en-US" sz="1600" dirty="0"/>
          </a:p>
        </p:txBody>
      </p:sp>
      <p:sp>
        <p:nvSpPr>
          <p:cNvPr id="21" name="Text 19"/>
          <p:cNvSpPr txBox="1"/>
          <p:nvPr/>
        </p:nvSpPr>
        <p:spPr>
          <a:xfrm>
            <a:off x="7863840" y="4229608"/>
            <a:ext cx="3596335" cy="770128"/>
          </a:xfrm>
          <a:prstGeom prst="rect">
            <a:avLst/>
          </a:prstGeom>
          <a:noFill/>
          <a:ln/>
        </p:spPr>
        <p:txBody>
          <a:bodyPr wrap="square" lIns="0" tIns="0" rIns="0" bIns="0" rtlCol="0" anchor="ctr"/>
          <a:lstStyle/>
          <a:p>
            <a:pPr indent="0" marL="0">
              <a:buNone/>
            </a:pPr>
            <a:r>
              <a:rPr lang="en-US" sz="1200" dirty="0">
                <a:solidFill>
                  <a:srgbClr val="666666"/>
                </a:solidFill>
              </a:rPr>
              <a:t>NSAIDs &amp; COX-2 Selective Inhibition, Osteoarthritis, Rheumatoid Arthritis &amp; DMARDs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Learning objectives (cont.)</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a:t>
            </a:r>
            <a:endParaRPr lang="en-US" sz="1000" dirty="0"/>
          </a:p>
        </p:txBody>
      </p:sp>
      <p:sp>
        <p:nvSpPr>
          <p:cNvPr id="6" name="Objective IO2.5"/>
          <p:cNvSpPr/>
          <p:nvPr/>
        </p:nvSpPr>
        <p:spPr>
          <a:xfrm>
            <a:off x="548640" y="1325880"/>
            <a:ext cx="11094415" cy="770128"/>
          </a:xfrm>
          <a:prstGeom prst="roundRect">
            <a:avLst>
              <a:gd name="adj" fmla="val 11873"/>
            </a:avLst>
          </a:prstGeom>
          <a:solidFill>
            <a:srgbClr val="F2F4F7"/>
          </a:solidFill>
          <a:ln w="12700">
            <a:solidFill>
              <a:srgbClr val="F2F4F7"/>
            </a:solidFill>
            <a:prstDash val="solid"/>
          </a:ln>
        </p:spPr>
      </p:sp>
      <p:sp>
        <p:nvSpPr>
          <p:cNvPr id="7" name="Text 5"/>
          <p:cNvSpPr txBox="1"/>
          <p:nvPr/>
        </p:nvSpPr>
        <p:spPr>
          <a:xfrm>
            <a:off x="731520" y="1325880"/>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IO2.5</a:t>
            </a:r>
            <a:endParaRPr lang="en-US" sz="1600" dirty="0"/>
          </a:p>
        </p:txBody>
      </p:sp>
      <p:sp>
        <p:nvSpPr>
          <p:cNvPr id="8" name="Text 6"/>
          <p:cNvSpPr txBox="1"/>
          <p:nvPr/>
        </p:nvSpPr>
        <p:spPr>
          <a:xfrm>
            <a:off x="1463040" y="1325880"/>
            <a:ext cx="6217920" cy="770128"/>
          </a:xfrm>
          <a:prstGeom prst="rect">
            <a:avLst/>
          </a:prstGeom>
          <a:noFill/>
          <a:ln/>
        </p:spPr>
        <p:txBody>
          <a:bodyPr wrap="square" lIns="0" tIns="0" rIns="0" bIns="0" rtlCol="0" anchor="ctr"/>
          <a:lstStyle/>
          <a:p>
            <a:pPr indent="0" marL="0">
              <a:buNone/>
            </a:pPr>
            <a:r>
              <a:rPr lang="en-US" sz="1600" dirty="0">
                <a:solidFill>
                  <a:srgbClr val="1F1F1F"/>
                </a:solidFill>
              </a:rPr>
              <a:t>Identify appropriate dosing, administration, and monitoring considerations for medications used in musculoskeletal conditions.</a:t>
            </a:r>
            <a:endParaRPr lang="en-US" sz="1600" dirty="0"/>
          </a:p>
        </p:txBody>
      </p:sp>
      <p:sp>
        <p:nvSpPr>
          <p:cNvPr id="9" name="Text 7"/>
          <p:cNvSpPr txBox="1"/>
          <p:nvPr/>
        </p:nvSpPr>
        <p:spPr>
          <a:xfrm>
            <a:off x="7863840" y="1325880"/>
            <a:ext cx="3596335" cy="770128"/>
          </a:xfrm>
          <a:prstGeom prst="rect">
            <a:avLst/>
          </a:prstGeom>
          <a:noFill/>
          <a:ln/>
        </p:spPr>
        <p:txBody>
          <a:bodyPr wrap="square" lIns="0" tIns="0" rIns="0" bIns="0" rtlCol="0" anchor="ctr"/>
          <a:lstStyle/>
          <a:p>
            <a:pPr indent="0" marL="0">
              <a:buNone/>
            </a:pPr>
            <a:r>
              <a:rPr lang="en-US" sz="1200" dirty="0">
                <a:solidFill>
                  <a:srgbClr val="666666"/>
                </a:solidFill>
              </a:rPr>
              <a:t>Osteoarthritis, Rheumatoid Arthritis &amp; DMARDs</a:t>
            </a:r>
            <a:endParaRPr lang="en-US" sz="1200" dirty="0"/>
          </a:p>
        </p:txBody>
      </p:sp>
      <p:sp>
        <p:nvSpPr>
          <p:cNvPr id="10" name="Objective IO2.6"/>
          <p:cNvSpPr/>
          <p:nvPr/>
        </p:nvSpPr>
        <p:spPr>
          <a:xfrm>
            <a:off x="548640" y="2205736"/>
            <a:ext cx="11094415" cy="770128"/>
          </a:xfrm>
          <a:prstGeom prst="roundRect">
            <a:avLst>
              <a:gd name="adj" fmla="val 11873"/>
            </a:avLst>
          </a:prstGeom>
          <a:solidFill>
            <a:srgbClr val="F2F4F7"/>
          </a:solidFill>
          <a:ln w="12700">
            <a:solidFill>
              <a:srgbClr val="F2F4F7"/>
            </a:solidFill>
            <a:prstDash val="solid"/>
          </a:ln>
        </p:spPr>
      </p:sp>
      <p:sp>
        <p:nvSpPr>
          <p:cNvPr id="11" name="Text 9"/>
          <p:cNvSpPr txBox="1"/>
          <p:nvPr/>
        </p:nvSpPr>
        <p:spPr>
          <a:xfrm>
            <a:off x="731520" y="2205736"/>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IO2.6</a:t>
            </a:r>
            <a:endParaRPr lang="en-US" sz="1600" dirty="0"/>
          </a:p>
        </p:txBody>
      </p:sp>
      <p:sp>
        <p:nvSpPr>
          <p:cNvPr id="12" name="Text 10"/>
          <p:cNvSpPr txBox="1"/>
          <p:nvPr/>
        </p:nvSpPr>
        <p:spPr>
          <a:xfrm>
            <a:off x="1463040" y="2205736"/>
            <a:ext cx="6217920" cy="770128"/>
          </a:xfrm>
          <a:prstGeom prst="rect">
            <a:avLst/>
          </a:prstGeom>
          <a:noFill/>
          <a:ln/>
        </p:spPr>
        <p:txBody>
          <a:bodyPr wrap="square" lIns="0" tIns="0" rIns="0" bIns="0" rtlCol="0" anchor="ctr"/>
          <a:lstStyle/>
          <a:p>
            <a:pPr indent="0" marL="0">
              <a:buNone/>
            </a:pPr>
            <a:r>
              <a:rPr lang="en-US" sz="1600" dirty="0">
                <a:solidFill>
                  <a:srgbClr val="1F1F1F"/>
                </a:solidFill>
              </a:rPr>
              <a:t>Explain important medication-use and safety information to patients receiving pharmacotherapy for musculoskeletal.</a:t>
            </a:r>
            <a:endParaRPr lang="en-US" sz="1600" dirty="0"/>
          </a:p>
        </p:txBody>
      </p:sp>
      <p:sp>
        <p:nvSpPr>
          <p:cNvPr id="13" name="Text 11"/>
          <p:cNvSpPr txBox="1"/>
          <p:nvPr/>
        </p:nvSpPr>
        <p:spPr>
          <a:xfrm>
            <a:off x="7863840" y="2205736"/>
            <a:ext cx="3596335" cy="770128"/>
          </a:xfrm>
          <a:prstGeom prst="rect">
            <a:avLst/>
          </a:prstGeom>
          <a:noFill/>
          <a:ln/>
        </p:spPr>
        <p:txBody>
          <a:bodyPr wrap="square" lIns="0" tIns="0" rIns="0" bIns="0" rtlCol="0" anchor="ctr"/>
          <a:lstStyle/>
          <a:p>
            <a:pPr indent="0" marL="0">
              <a:buNone/>
            </a:pPr>
            <a:r>
              <a:rPr lang="en-US" sz="1200" dirty="0">
                <a:solidFill>
                  <a:srgbClr val="666666"/>
                </a:solidFill>
              </a:rPr>
              <a:t>Acetaminophen, Osteoarthritis, Rheumatoid Arthritis &amp; DMARDs</a:t>
            </a:r>
            <a:endParaRPr lang="en-US" sz="1200" dirty="0"/>
          </a:p>
        </p:txBody>
      </p:sp>
      <p:sp>
        <p:nvSpPr>
          <p:cNvPr id="14" name="Objective SO1"/>
          <p:cNvSpPr/>
          <p:nvPr/>
        </p:nvSpPr>
        <p:spPr>
          <a:xfrm>
            <a:off x="548640" y="3085592"/>
            <a:ext cx="11094415" cy="566928"/>
          </a:xfrm>
          <a:prstGeom prst="roundRect">
            <a:avLst>
              <a:gd name="adj" fmla="val 16129"/>
            </a:avLst>
          </a:prstGeom>
          <a:solidFill>
            <a:srgbClr val="F2F4F7"/>
          </a:solidFill>
          <a:ln w="12700">
            <a:solidFill>
              <a:srgbClr val="F2F4F7"/>
            </a:solidFill>
            <a:prstDash val="solid"/>
          </a:ln>
        </p:spPr>
      </p:sp>
      <p:sp>
        <p:nvSpPr>
          <p:cNvPr id="15" name="Text 13"/>
          <p:cNvSpPr txBox="1"/>
          <p:nvPr/>
        </p:nvSpPr>
        <p:spPr>
          <a:xfrm>
            <a:off x="731520" y="3085592"/>
            <a:ext cx="731520" cy="566928"/>
          </a:xfrm>
          <a:prstGeom prst="rect">
            <a:avLst/>
          </a:prstGeom>
          <a:noFill/>
          <a:ln/>
        </p:spPr>
        <p:txBody>
          <a:bodyPr wrap="square" lIns="0" tIns="0" rIns="0" bIns="0" rtlCol="0" anchor="ctr"/>
          <a:lstStyle/>
          <a:p>
            <a:pPr indent="0" marL="0">
              <a:buNone/>
            </a:pPr>
            <a:r>
              <a:rPr lang="en-US" sz="1600" b="1" dirty="0">
                <a:solidFill>
                  <a:srgbClr val="4472C4"/>
                </a:solidFill>
              </a:rPr>
              <a:t>SO1</a:t>
            </a:r>
            <a:endParaRPr lang="en-US" sz="1600" dirty="0"/>
          </a:p>
        </p:txBody>
      </p:sp>
      <p:sp>
        <p:nvSpPr>
          <p:cNvPr id="16" name="Text 14"/>
          <p:cNvSpPr txBox="1"/>
          <p:nvPr/>
        </p:nvSpPr>
        <p:spPr>
          <a:xfrm>
            <a:off x="1463040" y="3085592"/>
            <a:ext cx="6217920" cy="566928"/>
          </a:xfrm>
          <a:prstGeom prst="rect">
            <a:avLst/>
          </a:prstGeom>
          <a:noFill/>
          <a:ln/>
        </p:spPr>
        <p:txBody>
          <a:bodyPr wrap="square" lIns="0" tIns="0" rIns="0" bIns="0" rtlCol="0" anchor="ctr"/>
          <a:lstStyle/>
          <a:p>
            <a:pPr indent="0" marL="0">
              <a:buNone/>
            </a:pPr>
            <a:r>
              <a:rPr lang="en-US" sz="1600" dirty="0">
                <a:solidFill>
                  <a:srgbClr val="1F1F1F"/>
                </a:solidFill>
              </a:rPr>
              <a:t>Explain the pharmacologic basis of musculoskeletal pain and inflammation.</a:t>
            </a:r>
            <a:endParaRPr lang="en-US" sz="1600" dirty="0"/>
          </a:p>
        </p:txBody>
      </p:sp>
      <p:sp>
        <p:nvSpPr>
          <p:cNvPr id="17" name="Text 15"/>
          <p:cNvSpPr txBox="1"/>
          <p:nvPr/>
        </p:nvSpPr>
        <p:spPr>
          <a:xfrm>
            <a:off x="7863840" y="3085592"/>
            <a:ext cx="3596335" cy="566928"/>
          </a:xfrm>
          <a:prstGeom prst="rect">
            <a:avLst/>
          </a:prstGeom>
          <a:noFill/>
          <a:ln/>
        </p:spPr>
        <p:txBody>
          <a:bodyPr wrap="square" lIns="0" tIns="0" rIns="0" bIns="0" rtlCol="0" anchor="ctr"/>
          <a:lstStyle/>
          <a:p>
            <a:pPr indent="0" marL="0">
              <a:buNone/>
            </a:pPr>
            <a:r>
              <a:rPr lang="en-US" sz="1200" dirty="0">
                <a:solidFill>
                  <a:srgbClr val="666666"/>
                </a:solidFill>
              </a:rPr>
              <a:t>Musculoskeletal Pain &amp; the Inflammatory Cascade</a:t>
            </a:r>
            <a:endParaRPr lang="en-US" sz="1200" dirty="0"/>
          </a:p>
        </p:txBody>
      </p:sp>
      <p:sp>
        <p:nvSpPr>
          <p:cNvPr id="18" name="Objective SO2"/>
          <p:cNvSpPr/>
          <p:nvPr/>
        </p:nvSpPr>
        <p:spPr>
          <a:xfrm>
            <a:off x="548640" y="3762248"/>
            <a:ext cx="11094415" cy="566928"/>
          </a:xfrm>
          <a:prstGeom prst="roundRect">
            <a:avLst>
              <a:gd name="adj" fmla="val 16129"/>
            </a:avLst>
          </a:prstGeom>
          <a:solidFill>
            <a:srgbClr val="F2F4F7"/>
          </a:solidFill>
          <a:ln w="12700">
            <a:solidFill>
              <a:srgbClr val="F2F4F7"/>
            </a:solidFill>
            <a:prstDash val="solid"/>
          </a:ln>
        </p:spPr>
      </p:sp>
      <p:sp>
        <p:nvSpPr>
          <p:cNvPr id="19" name="Text 17"/>
          <p:cNvSpPr txBox="1"/>
          <p:nvPr/>
        </p:nvSpPr>
        <p:spPr>
          <a:xfrm>
            <a:off x="731520" y="3762248"/>
            <a:ext cx="731520" cy="566928"/>
          </a:xfrm>
          <a:prstGeom prst="rect">
            <a:avLst/>
          </a:prstGeom>
          <a:noFill/>
          <a:ln/>
        </p:spPr>
        <p:txBody>
          <a:bodyPr wrap="square" lIns="0" tIns="0" rIns="0" bIns="0" rtlCol="0" anchor="ctr"/>
          <a:lstStyle/>
          <a:p>
            <a:pPr indent="0" marL="0">
              <a:buNone/>
            </a:pPr>
            <a:r>
              <a:rPr lang="en-US" sz="1600" b="1" dirty="0">
                <a:solidFill>
                  <a:srgbClr val="4472C4"/>
                </a:solidFill>
              </a:rPr>
              <a:t>SO2</a:t>
            </a:r>
            <a:endParaRPr lang="en-US" sz="1600" dirty="0"/>
          </a:p>
        </p:txBody>
      </p:sp>
      <p:sp>
        <p:nvSpPr>
          <p:cNvPr id="20" name="Text 18"/>
          <p:cNvSpPr txBox="1"/>
          <p:nvPr/>
        </p:nvSpPr>
        <p:spPr>
          <a:xfrm>
            <a:off x="1463040" y="3762248"/>
            <a:ext cx="6217920" cy="566928"/>
          </a:xfrm>
          <a:prstGeom prst="rect">
            <a:avLst/>
          </a:prstGeom>
          <a:noFill/>
          <a:ln/>
        </p:spPr>
        <p:txBody>
          <a:bodyPr wrap="square" lIns="0" tIns="0" rIns="0" bIns="0" rtlCol="0" anchor="ctr"/>
          <a:lstStyle/>
          <a:p>
            <a:pPr indent="0" marL="0">
              <a:buNone/>
            </a:pPr>
            <a:r>
              <a:rPr lang="en-US" sz="1600" dirty="0">
                <a:solidFill>
                  <a:srgbClr val="1F1F1F"/>
                </a:solidFill>
              </a:rPr>
              <a:t>Compare acetaminophen and NSAIDs, including COX-1 vs. COX-2 inhibition.</a:t>
            </a:r>
            <a:endParaRPr lang="en-US" sz="1600" dirty="0"/>
          </a:p>
        </p:txBody>
      </p:sp>
      <p:sp>
        <p:nvSpPr>
          <p:cNvPr id="21" name="Text 19"/>
          <p:cNvSpPr txBox="1"/>
          <p:nvPr/>
        </p:nvSpPr>
        <p:spPr>
          <a:xfrm>
            <a:off x="7863840" y="3762248"/>
            <a:ext cx="3596335" cy="566928"/>
          </a:xfrm>
          <a:prstGeom prst="rect">
            <a:avLst/>
          </a:prstGeom>
          <a:noFill/>
          <a:ln/>
        </p:spPr>
        <p:txBody>
          <a:bodyPr wrap="square" lIns="0" tIns="0" rIns="0" bIns="0" rtlCol="0" anchor="ctr"/>
          <a:lstStyle/>
          <a:p>
            <a:pPr indent="0" marL="0">
              <a:buNone/>
            </a:pPr>
            <a:r>
              <a:rPr lang="en-US" sz="1200" dirty="0">
                <a:solidFill>
                  <a:srgbClr val="666666"/>
                </a:solidFill>
              </a:rPr>
              <a:t>Acetaminophen, NSAIDs &amp; COX-2 Selective Inhibition</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Learning objectives (cont.)</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a:t>
            </a:r>
            <a:endParaRPr lang="en-US" sz="1000" dirty="0"/>
          </a:p>
        </p:txBody>
      </p:sp>
      <p:sp>
        <p:nvSpPr>
          <p:cNvPr id="6" name="Objective SO3"/>
          <p:cNvSpPr/>
          <p:nvPr/>
        </p:nvSpPr>
        <p:spPr>
          <a:xfrm>
            <a:off x="548640" y="1325880"/>
            <a:ext cx="11094415" cy="770128"/>
          </a:xfrm>
          <a:prstGeom prst="roundRect">
            <a:avLst>
              <a:gd name="adj" fmla="val 11873"/>
            </a:avLst>
          </a:prstGeom>
          <a:solidFill>
            <a:srgbClr val="F2F4F7"/>
          </a:solidFill>
          <a:ln w="12700">
            <a:solidFill>
              <a:srgbClr val="F2F4F7"/>
            </a:solidFill>
            <a:prstDash val="solid"/>
          </a:ln>
        </p:spPr>
      </p:sp>
      <p:sp>
        <p:nvSpPr>
          <p:cNvPr id="7" name="Text 5"/>
          <p:cNvSpPr txBox="1"/>
          <p:nvPr/>
        </p:nvSpPr>
        <p:spPr>
          <a:xfrm>
            <a:off x="731520" y="1325880"/>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SO3</a:t>
            </a:r>
            <a:endParaRPr lang="en-US" sz="1600" dirty="0"/>
          </a:p>
        </p:txBody>
      </p:sp>
      <p:sp>
        <p:nvSpPr>
          <p:cNvPr id="8" name="Text 6"/>
          <p:cNvSpPr txBox="1"/>
          <p:nvPr/>
        </p:nvSpPr>
        <p:spPr>
          <a:xfrm>
            <a:off x="1463040" y="1325880"/>
            <a:ext cx="6217920" cy="770128"/>
          </a:xfrm>
          <a:prstGeom prst="rect">
            <a:avLst/>
          </a:prstGeom>
          <a:noFill/>
          <a:ln/>
        </p:spPr>
        <p:txBody>
          <a:bodyPr wrap="square" lIns="0" tIns="0" rIns="0" bIns="0" rtlCol="0" anchor="ctr"/>
          <a:lstStyle/>
          <a:p>
            <a:pPr indent="0" marL="0">
              <a:buNone/>
            </a:pPr>
            <a:r>
              <a:rPr lang="en-US" sz="1600" dirty="0">
                <a:solidFill>
                  <a:srgbClr val="1F1F1F"/>
                </a:solidFill>
              </a:rPr>
              <a:t>Identify major NSAID adverse effects and select therapy based on patient risk factors.</a:t>
            </a:r>
            <a:endParaRPr lang="en-US" sz="1600" dirty="0"/>
          </a:p>
        </p:txBody>
      </p:sp>
      <p:sp>
        <p:nvSpPr>
          <p:cNvPr id="9" name="Text 7"/>
          <p:cNvSpPr txBox="1"/>
          <p:nvPr/>
        </p:nvSpPr>
        <p:spPr>
          <a:xfrm>
            <a:off x="7863840" y="1325880"/>
            <a:ext cx="3596335" cy="770128"/>
          </a:xfrm>
          <a:prstGeom prst="rect">
            <a:avLst/>
          </a:prstGeom>
          <a:noFill/>
          <a:ln/>
        </p:spPr>
        <p:txBody>
          <a:bodyPr wrap="square" lIns="0" tIns="0" rIns="0" bIns="0" rtlCol="0" anchor="ctr"/>
          <a:lstStyle/>
          <a:p>
            <a:pPr indent="0" marL="0">
              <a:buNone/>
            </a:pPr>
            <a:r>
              <a:rPr lang="en-US" sz="1200" dirty="0">
                <a:solidFill>
                  <a:srgbClr val="666666"/>
                </a:solidFill>
              </a:rPr>
              <a:t>NSAIDs &amp; COX-2 Selective Inhibition, Osteoarthritis, Rheumatoid Arthritis &amp; DMARDs</a:t>
            </a:r>
            <a:endParaRPr lang="en-US" sz="1200" dirty="0"/>
          </a:p>
        </p:txBody>
      </p:sp>
      <p:sp>
        <p:nvSpPr>
          <p:cNvPr id="10" name="Objective SO4"/>
          <p:cNvSpPr/>
          <p:nvPr/>
        </p:nvSpPr>
        <p:spPr>
          <a:xfrm>
            <a:off x="548640" y="2205736"/>
            <a:ext cx="11094415" cy="770128"/>
          </a:xfrm>
          <a:prstGeom prst="roundRect">
            <a:avLst>
              <a:gd name="adj" fmla="val 11873"/>
            </a:avLst>
          </a:prstGeom>
          <a:solidFill>
            <a:srgbClr val="F2F4F7"/>
          </a:solidFill>
          <a:ln w="12700">
            <a:solidFill>
              <a:srgbClr val="F2F4F7"/>
            </a:solidFill>
            <a:prstDash val="solid"/>
          </a:ln>
        </p:spPr>
      </p:sp>
      <p:sp>
        <p:nvSpPr>
          <p:cNvPr id="11" name="Text 9"/>
          <p:cNvSpPr txBox="1"/>
          <p:nvPr/>
        </p:nvSpPr>
        <p:spPr>
          <a:xfrm>
            <a:off x="731520" y="2205736"/>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SO4</a:t>
            </a:r>
            <a:endParaRPr lang="en-US" sz="1600" dirty="0"/>
          </a:p>
        </p:txBody>
      </p:sp>
      <p:sp>
        <p:nvSpPr>
          <p:cNvPr id="12" name="Text 10"/>
          <p:cNvSpPr txBox="1"/>
          <p:nvPr/>
        </p:nvSpPr>
        <p:spPr>
          <a:xfrm>
            <a:off x="1463040" y="2205736"/>
            <a:ext cx="6217920" cy="770128"/>
          </a:xfrm>
          <a:prstGeom prst="rect">
            <a:avLst/>
          </a:prstGeom>
          <a:noFill/>
          <a:ln/>
        </p:spPr>
        <p:txBody>
          <a:bodyPr wrap="square" lIns="0" tIns="0" rIns="0" bIns="0" rtlCol="0" anchor="ctr"/>
          <a:lstStyle/>
          <a:p>
            <a:pPr indent="0" marL="0">
              <a:buNone/>
            </a:pPr>
            <a:r>
              <a:rPr lang="en-US" sz="1600" dirty="0">
                <a:solidFill>
                  <a:srgbClr val="1F1F1F"/>
                </a:solidFill>
              </a:rPr>
              <a:t>Explain the mechanisms of conventional vs. biologic DMARDs, including representative generic agents in each class.</a:t>
            </a:r>
            <a:endParaRPr lang="en-US" sz="1600" dirty="0"/>
          </a:p>
        </p:txBody>
      </p:sp>
      <p:sp>
        <p:nvSpPr>
          <p:cNvPr id="13" name="Text 11"/>
          <p:cNvSpPr txBox="1"/>
          <p:nvPr/>
        </p:nvSpPr>
        <p:spPr>
          <a:xfrm>
            <a:off x="7863840" y="2205736"/>
            <a:ext cx="3596335" cy="770128"/>
          </a:xfrm>
          <a:prstGeom prst="rect">
            <a:avLst/>
          </a:prstGeom>
          <a:noFill/>
          <a:ln/>
        </p:spPr>
        <p:txBody>
          <a:bodyPr wrap="square" lIns="0" tIns="0" rIns="0" bIns="0" rtlCol="0" anchor="ctr"/>
          <a:lstStyle/>
          <a:p>
            <a:pPr indent="0" marL="0">
              <a:buNone/>
            </a:pPr>
            <a:r>
              <a:rPr lang="en-US" sz="1200" dirty="0">
                <a:solidFill>
                  <a:srgbClr val="666666"/>
                </a:solidFill>
              </a:rPr>
              <a:t>Osteoarthritis, Rheumatoid Arthritis &amp; DMARDs</a:t>
            </a:r>
            <a:endParaRPr lang="en-US" sz="1200" dirty="0"/>
          </a:p>
        </p:txBody>
      </p:sp>
      <p:sp>
        <p:nvSpPr>
          <p:cNvPr id="14" name="Objective SO5"/>
          <p:cNvSpPr/>
          <p:nvPr/>
        </p:nvSpPr>
        <p:spPr>
          <a:xfrm>
            <a:off x="548640" y="3085592"/>
            <a:ext cx="11094415" cy="770128"/>
          </a:xfrm>
          <a:prstGeom prst="roundRect">
            <a:avLst>
              <a:gd name="adj" fmla="val 11873"/>
            </a:avLst>
          </a:prstGeom>
          <a:solidFill>
            <a:srgbClr val="F2F4F7"/>
          </a:solidFill>
          <a:ln w="12700">
            <a:solidFill>
              <a:srgbClr val="F2F4F7"/>
            </a:solidFill>
            <a:prstDash val="solid"/>
          </a:ln>
        </p:spPr>
      </p:sp>
      <p:sp>
        <p:nvSpPr>
          <p:cNvPr id="15" name="Text 13"/>
          <p:cNvSpPr txBox="1"/>
          <p:nvPr/>
        </p:nvSpPr>
        <p:spPr>
          <a:xfrm>
            <a:off x="731520" y="3085592"/>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SO5</a:t>
            </a:r>
            <a:endParaRPr lang="en-US" sz="1600" dirty="0"/>
          </a:p>
        </p:txBody>
      </p:sp>
      <p:sp>
        <p:nvSpPr>
          <p:cNvPr id="16" name="Text 14"/>
          <p:cNvSpPr txBox="1"/>
          <p:nvPr/>
        </p:nvSpPr>
        <p:spPr>
          <a:xfrm>
            <a:off x="1463040" y="3085592"/>
            <a:ext cx="6217920" cy="770128"/>
          </a:xfrm>
          <a:prstGeom prst="rect">
            <a:avLst/>
          </a:prstGeom>
          <a:noFill/>
          <a:ln/>
        </p:spPr>
        <p:txBody>
          <a:bodyPr wrap="square" lIns="0" tIns="0" rIns="0" bIns="0" rtlCol="0" anchor="ctr"/>
          <a:lstStyle/>
          <a:p>
            <a:pPr indent="0" marL="0">
              <a:buNone/>
            </a:pPr>
            <a:r>
              <a:rPr lang="en-US" sz="1600" dirty="0">
                <a:solidFill>
                  <a:srgbClr val="1F1F1F"/>
                </a:solidFill>
              </a:rPr>
              <a:t>Identify key contraindications, adverse effects, and drug interactions for analgesics and DMARDs.</a:t>
            </a:r>
            <a:endParaRPr lang="en-US" sz="1600" dirty="0"/>
          </a:p>
        </p:txBody>
      </p:sp>
      <p:sp>
        <p:nvSpPr>
          <p:cNvPr id="17" name="Text 15"/>
          <p:cNvSpPr txBox="1"/>
          <p:nvPr/>
        </p:nvSpPr>
        <p:spPr>
          <a:xfrm>
            <a:off x="7863840" y="3085592"/>
            <a:ext cx="3596335" cy="770128"/>
          </a:xfrm>
          <a:prstGeom prst="rect">
            <a:avLst/>
          </a:prstGeom>
          <a:noFill/>
          <a:ln/>
        </p:spPr>
        <p:txBody>
          <a:bodyPr wrap="square" lIns="0" tIns="0" rIns="0" bIns="0" rtlCol="0" anchor="ctr"/>
          <a:lstStyle/>
          <a:p>
            <a:pPr indent="0" marL="0">
              <a:buNone/>
            </a:pPr>
            <a:r>
              <a:rPr lang="en-US" sz="1200" dirty="0">
                <a:solidFill>
                  <a:srgbClr val="666666"/>
                </a:solidFill>
              </a:rPr>
              <a:t>Acetaminophen, NSAIDs &amp; COX-2 Selective Inhibition, Osteoarthritis, Rheumatoid Arthritis &amp; DMARDs</a:t>
            </a:r>
            <a:endParaRPr lang="en-US" sz="1200" dirty="0"/>
          </a:p>
        </p:txBody>
      </p:sp>
      <p:sp>
        <p:nvSpPr>
          <p:cNvPr id="18" name="Objective SO6"/>
          <p:cNvSpPr/>
          <p:nvPr/>
        </p:nvSpPr>
        <p:spPr>
          <a:xfrm>
            <a:off x="548640" y="3965448"/>
            <a:ext cx="11094415" cy="770128"/>
          </a:xfrm>
          <a:prstGeom prst="roundRect">
            <a:avLst>
              <a:gd name="adj" fmla="val 11873"/>
            </a:avLst>
          </a:prstGeom>
          <a:solidFill>
            <a:srgbClr val="FCE9DA"/>
          </a:solidFill>
          <a:ln w="12700">
            <a:solidFill>
              <a:srgbClr val="FCE9DA"/>
            </a:solidFill>
            <a:prstDash val="solid"/>
          </a:ln>
        </p:spPr>
      </p:sp>
      <p:sp>
        <p:nvSpPr>
          <p:cNvPr id="19" name="Text 17"/>
          <p:cNvSpPr txBox="1"/>
          <p:nvPr/>
        </p:nvSpPr>
        <p:spPr>
          <a:xfrm>
            <a:off x="731520" y="3965448"/>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SO6</a:t>
            </a:r>
            <a:endParaRPr lang="en-US" sz="1600" dirty="0"/>
          </a:p>
        </p:txBody>
      </p:sp>
      <p:sp>
        <p:nvSpPr>
          <p:cNvPr id="20" name="Text 18"/>
          <p:cNvSpPr txBox="1"/>
          <p:nvPr/>
        </p:nvSpPr>
        <p:spPr>
          <a:xfrm>
            <a:off x="1463040" y="3965448"/>
            <a:ext cx="6217920" cy="770128"/>
          </a:xfrm>
          <a:prstGeom prst="rect">
            <a:avLst/>
          </a:prstGeom>
          <a:noFill/>
          <a:ln/>
        </p:spPr>
        <p:txBody>
          <a:bodyPr wrap="square" lIns="0" tIns="0" rIns="0" bIns="0" rtlCol="0" anchor="ctr"/>
          <a:lstStyle/>
          <a:p>
            <a:pPr indent="0" marL="0">
              <a:buNone/>
            </a:pPr>
            <a:r>
              <a:rPr lang="en-US" sz="1600" dirty="0">
                <a:solidFill>
                  <a:srgbClr val="1F1F1F"/>
                </a:solidFill>
              </a:rPr>
              <a:t>Preview: gout, skeletal muscle relaxants, and bone pharmacology continue in Session 2 (Thursday, October 29).</a:t>
            </a:r>
            <a:endParaRPr lang="en-US" sz="1600" dirty="0"/>
          </a:p>
        </p:txBody>
      </p:sp>
      <p:sp>
        <p:nvSpPr>
          <p:cNvPr id="21" name="Text 19"/>
          <p:cNvSpPr txBox="1"/>
          <p:nvPr/>
        </p:nvSpPr>
        <p:spPr>
          <a:xfrm>
            <a:off x="7863840" y="3965448"/>
            <a:ext cx="3596335" cy="770128"/>
          </a:xfrm>
          <a:prstGeom prst="rect">
            <a:avLst/>
          </a:prstGeom>
          <a:noFill/>
          <a:ln/>
        </p:spPr>
        <p:txBody>
          <a:bodyPr wrap="square" lIns="0" tIns="0" rIns="0" bIns="0" rtlCol="0" anchor="ctr"/>
          <a:lstStyle/>
          <a:p>
            <a:pPr indent="0" marL="0">
              <a:buNone/>
            </a:pPr>
            <a:r>
              <a:rPr lang="en-US" sz="1200" b="1" dirty="0">
                <a:solidFill>
                  <a:srgbClr val="C55A11"/>
                </a:solidFill>
              </a:rPr>
              <a:t>⚠ Thin coverage
</a:t>
            </a:r>
            <a:r>
              <a:rPr lang="en-US" sz="1200" dirty="0">
                <a:solidFill>
                  <a:srgbClr val="666666"/>
                </a:solidFill>
              </a:rPr>
              <a:t>Preview only — taught in Session 2 (L04) · No section covers this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About this lecture</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a:t>
            </a:r>
            <a:endParaRPr lang="en-US" sz="1000" dirty="0"/>
          </a:p>
        </p:txBody>
      </p:sp>
      <p:sp>
        <p:nvSpPr>
          <p:cNvPr id="6" name="Scope, readings &amp; sources card"/>
          <p:cNvSpPr/>
          <p:nvPr/>
        </p:nvSpPr>
        <p:spPr>
          <a:xfrm>
            <a:off x="548640" y="1325880"/>
            <a:ext cx="11094415" cy="4837176"/>
          </a:xfrm>
          <a:prstGeom prst="roundRect">
            <a:avLst>
              <a:gd name="adj" fmla="val 2268"/>
            </a:avLst>
          </a:prstGeom>
          <a:solidFill>
            <a:srgbClr val="F2F4F7"/>
          </a:solidFill>
          <a:ln w="12700">
            <a:solidFill>
              <a:srgbClr val="F2F4F7"/>
            </a:solidFill>
            <a:prstDash val="solid"/>
          </a:ln>
        </p:spPr>
      </p:sp>
      <p:sp>
        <p:nvSpPr>
          <p:cNvPr id="7" name="Scope, readings &amp; sourc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8" name="Scope, readings &amp; sourc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9" name="Scope, readings &amp;amp; source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72C4"/>
                </a:solidFill>
              </a:rPr>
              <a:t>Scope, readings &amp; sources</a:t>
            </a:r>
            <a:endParaRPr lang="en-US" sz="1800" dirty="0"/>
          </a:p>
        </p:txBody>
      </p:sp>
      <p:sp>
        <p:nvSpPr>
          <p:cNvPr id="10" name="Scope, readings &amp; sources body"/>
          <p:cNvSpPr txBox="1"/>
          <p:nvPr/>
        </p:nvSpPr>
        <p:spPr>
          <a:xfrm>
            <a:off x="777240" y="2075688"/>
            <a:ext cx="10637215" cy="396849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PA Pharmacology Course · Lecture 2 · Session 1 of 2 — Musculoskeletal Pharmacology (Tuesday, October 27): pain, acetaminophen, NSAIDs, and osteoarthritis/rheumatoid arthritis pharmacotherapy, including DMARDs. The session follows one pathway — arachidonic acid — to see where each drug class steps in and how to treat musculoskeletal pain safely.</a:t>
            </a:r>
            <a:r>
              <a:rPr lang="en-US" sz="1300" dirty="0">
                <a:solidFill>
                  <a:srgbClr val="666666"/>
                </a:solidFill>
              </a:rPr>
              <a:t>  S1; S1 (notes); S2 (notes)</a:t>
            </a:r>
            <a:endParaRPr lang="en-US" sz="1800" dirty="0"/>
          </a:p>
          <a:p>
            <a:pPr marL="228600" indent="-228600">
              <a:spcAft>
                <a:spcPts val="800"/>
              </a:spcAft>
              <a:buSzPct val="100000"/>
              <a:buChar char="•"/>
            </a:pPr>
            <a:r>
              <a:rPr lang="en-US" sz="1800" dirty="0">
                <a:solidFill>
                  <a:srgbClr val="1F1F1F"/>
                </a:solidFill>
              </a:rPr>
              <a:t>By the end you should be able to choose between acetaminophen, an NSAID, and a DMARD, and defend the choice.</a:t>
            </a:r>
            <a:r>
              <a:rPr lang="en-US" sz="1300" dirty="0">
                <a:solidFill>
                  <a:srgbClr val="666666"/>
                </a:solidFill>
              </a:rPr>
              <a:t>  S2 (notes)</a:t>
            </a:r>
            <a:endParaRPr lang="en-US" sz="1800" dirty="0"/>
          </a:p>
          <a:p>
            <a:pPr marL="228600" indent="-228600">
              <a:spcAft>
                <a:spcPts val="800"/>
              </a:spcAft>
              <a:buSzPct val="100000"/>
              <a:buChar char="•"/>
            </a:pPr>
            <a:r>
              <a:rPr lang="en-US" sz="1800" dirty="0">
                <a:solidFill>
                  <a:srgbClr val="1F1F1F"/>
                </a:solidFill>
              </a:rPr>
              <a:t>Session 2 (Thursday, October 29) picks up with gout, skeletal muscle relaxants, bone pharmacology, and the cumulative Lecture Recall Quiz.</a:t>
            </a:r>
            <a:r>
              <a:rPr lang="en-US" sz="1300" dirty="0">
                <a:solidFill>
                  <a:srgbClr val="666666"/>
                </a:solidFill>
              </a:rPr>
              <a:t>  S2 (notes); S61</a:t>
            </a:r>
            <a:endParaRPr lang="en-US" sz="1800" dirty="0"/>
          </a:p>
          <a:p>
            <a:pPr marL="228600" indent="-228600">
              <a:spcAft>
                <a:spcPts val="800"/>
              </a:spcAft>
              <a:buSzPct val="100000"/>
              <a:buChar char="•"/>
            </a:pPr>
            <a:r>
              <a:rPr lang="en-US" sz="1800" dirty="0">
                <a:solidFill>
                  <a:srgbClr val="1F1F1F"/>
                </a:solidFill>
              </a:rPr>
              <a:t>Required text: Katzung’s Basic and Clinical Pharmacology, 16th Edition (Todd W. Vanderah, 2025, McGraw-Hill Education; ISBN 1260463303 eBook; on AccessMedicine: accessmedicine.mhmedical.com/book.aspx?bookid=3382). Unit 2 — Musculoskeletal: Chapters 27, 36, and 42.</a:t>
            </a:r>
            <a:r>
              <a:rPr lang="en-US" sz="1300" dirty="0">
                <a:solidFill>
                  <a:srgbClr val="666666"/>
                </a:solidFill>
              </a:rPr>
              <a:t>  S3; S3 (notes)</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About this lecture (cont.)</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a:t>
            </a:r>
            <a:endParaRPr lang="en-US" sz="1000" dirty="0"/>
          </a:p>
        </p:txBody>
      </p:sp>
      <p:sp>
        <p:nvSpPr>
          <p:cNvPr id="6" name="Scope, readings &amp; sources card"/>
          <p:cNvSpPr/>
          <p:nvPr/>
        </p:nvSpPr>
        <p:spPr>
          <a:xfrm>
            <a:off x="548640" y="1325880"/>
            <a:ext cx="11094415" cy="2276856"/>
          </a:xfrm>
          <a:prstGeom prst="roundRect">
            <a:avLst>
              <a:gd name="adj" fmla="val 4819"/>
            </a:avLst>
          </a:prstGeom>
          <a:solidFill>
            <a:srgbClr val="F2F4F7"/>
          </a:solidFill>
          <a:ln w="12700">
            <a:solidFill>
              <a:srgbClr val="F2F4F7"/>
            </a:solidFill>
            <a:prstDash val="solid"/>
          </a:ln>
        </p:spPr>
      </p:sp>
      <p:sp>
        <p:nvSpPr>
          <p:cNvPr id="7" name="Scope, readings &amp; sourc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8" name="Scope, readings &amp; sourc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9" name="Scope, readings &amp;amp; source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72C4"/>
                </a:solidFill>
              </a:rPr>
              <a:t>Scope, readings &amp; sources</a:t>
            </a:r>
            <a:endParaRPr lang="en-US" sz="1800" dirty="0"/>
          </a:p>
        </p:txBody>
      </p:sp>
      <p:sp>
        <p:nvSpPr>
          <p:cNvPr id="10" name="Scope, readings &amp; sources body"/>
          <p:cNvSpPr txBox="1"/>
          <p:nvPr/>
        </p:nvSpPr>
        <p:spPr>
          <a:xfrm>
            <a:off x="777240" y="2075688"/>
            <a:ext cx="10637215"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Recommended text (additional support, not a substitute): Pharmacotherapy Principles and Practice (Chisholm-Burns, Schwinghammer, Malone, Kolesar, Lee, 2022, McGraw-Hill Education; Print ISBN 9781260460278, eText ISBN 9781260460285) — supplemental support alongside Katzung’s Chapters 27, 36, and 42 for Unit 2.</a:t>
            </a:r>
            <a:r>
              <a:rPr lang="en-US" sz="1300" dirty="0">
                <a:solidFill>
                  <a:srgbClr val="666666"/>
                </a:solidFill>
              </a:rPr>
              <a:t>  S3; S3 (notes)</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About this lecture (cont.)</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a:t>
            </a:r>
            <a:endParaRPr lang="en-US" sz="1000" dirty="0"/>
          </a:p>
        </p:txBody>
      </p:sp>
      <p:sp>
        <p:nvSpPr>
          <p:cNvPr id="6" name="Scope, readings &amp; sources card"/>
          <p:cNvSpPr/>
          <p:nvPr/>
        </p:nvSpPr>
        <p:spPr>
          <a:xfrm>
            <a:off x="548640" y="1325880"/>
            <a:ext cx="11094415" cy="4507992"/>
          </a:xfrm>
          <a:prstGeom prst="roundRect">
            <a:avLst>
              <a:gd name="adj" fmla="val 2434"/>
            </a:avLst>
          </a:prstGeom>
          <a:solidFill>
            <a:srgbClr val="F2F4F7"/>
          </a:solidFill>
          <a:ln w="12700">
            <a:solidFill>
              <a:srgbClr val="F2F4F7"/>
            </a:solidFill>
            <a:prstDash val="solid"/>
          </a:ln>
        </p:spPr>
      </p:sp>
      <p:sp>
        <p:nvSpPr>
          <p:cNvPr id="7" name="Scope, readings &amp; sourc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8" name="Scope, readings &amp; sourc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9" name="Scope, readings &amp;amp; source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72C4"/>
                </a:solidFill>
              </a:rPr>
              <a:t>Scope, readings &amp; sources</a:t>
            </a:r>
            <a:endParaRPr lang="en-US" sz="1800" dirty="0"/>
          </a:p>
        </p:txBody>
      </p:sp>
      <p:sp>
        <p:nvSpPr>
          <p:cNvPr id="10" name="Scope, readings &amp; sources body"/>
          <p:cNvSpPr txBox="1"/>
          <p:nvPr/>
        </p:nvSpPr>
        <p:spPr>
          <a:xfrm>
            <a:off x="777240" y="2075688"/>
            <a:ext cx="10637215" cy="3639312"/>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Original figures in this deck:</a:t>
            </a:r>
            <a:r>
              <a:rPr lang="en-US" sz="1800" dirty="0">
                <a:solidFill>
                  <a:srgbClr val="1F1F1F"/>
                </a:solidFill>
              </a:rPr>
              <a:t> Figures 1–3 (The Arachidonic Acid Pathway: Where Analgesics Act; Nonselective NSAIDs vs. COX-2 Selective Inhibition; Biologic DMARDs: Where Each Class Intercepts the Immune Cascade) were generated by the course director using the AI tool Claude to illustrate standard, non-copyrighted pharmacologic concepts. The mechanism diagrams added for acetaminophen (including the Rumack-Matthew nomogram schematic), methotrexate and celecoxib, and the NSAID, COX-1 vs. COX-2, conventional DMARD, biologic DMARD and drug-name nomenclature diagrams, are also original illustrative diagrams, created with AI assistance for this course. Companion diagrams for inflammatory mediators, NSAID adverse effects, osteoarthritis vs. rheumatoid arthritis, osteoarthritis pharmacotherapy, disease-modifying drug concepts and DMARD immunosuppression are original illustrative diagrams created with AI assistance for this course as well. They are original diagrams, not reproduced from Katzung’s Basic and Clinical Pharmacology or any other copyrighted source. </a:t>
            </a:r>
            <a:r>
              <a:rPr lang="en-US" sz="1800" b="1" dirty="0">
                <a:solidFill>
                  <a:srgbClr val="1F1F1F"/>
                </a:solidFill>
              </a:rPr>
              <a:t>Reference:</a:t>
            </a:r>
            <a:r>
              <a:rPr lang="en-US" sz="1800" dirty="0">
                <a:solidFill>
                  <a:srgbClr val="1F1F1F"/>
                </a:solidFill>
              </a:rPr>
              <a:t> Anthropic. (2026). Claude (Sonnet 5) [Large language model]. https://claude.ai</a:t>
            </a:r>
            <a:r>
              <a:rPr lang="en-US" sz="1300" dirty="0">
                <a:solidFill>
                  <a:srgbClr val="666666"/>
                </a:solidFill>
              </a:rPr>
              <a:t>  S62; S62 (notes)</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ROADMAP</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 classes in this lecture</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a:t>
            </a:r>
            <a:endParaRPr lang="en-US" sz="1000" dirty="0"/>
          </a:p>
        </p:txBody>
      </p:sp>
      <p:sp>
        <p:nvSpPr>
          <p:cNvPr id="6" name="Shape 4"/>
          <p:cNvSpPr/>
          <p:nvPr/>
        </p:nvSpPr>
        <p:spPr>
          <a:xfrm>
            <a:off x="548640" y="1325880"/>
            <a:ext cx="11094415" cy="914400"/>
          </a:xfrm>
          <a:prstGeom prst="roundRect">
            <a:avLst>
              <a:gd name="adj" fmla="val 10000"/>
            </a:avLst>
          </a:prstGeom>
          <a:solidFill>
            <a:srgbClr val="F2F4F7"/>
          </a:solidFill>
          <a:ln w="12700">
            <a:solidFill>
              <a:srgbClr val="F2F4F7"/>
            </a:solidFill>
            <a:prstDash val="solid"/>
          </a:ln>
        </p:spPr>
      </p:sp>
      <p:sp>
        <p:nvSpPr>
          <p:cNvPr id="7" name="Shape 5"/>
          <p:cNvSpPr/>
          <p:nvPr/>
        </p:nvSpPr>
        <p:spPr>
          <a:xfrm>
            <a:off x="731520" y="1554480"/>
            <a:ext cx="457200" cy="457200"/>
          </a:xfrm>
          <a:prstGeom prst="ellipse">
            <a:avLst/>
          </a:prstGeom>
          <a:solidFill>
            <a:srgbClr val="4472C4"/>
          </a:solidFill>
          <a:ln w="12700">
            <a:solidFill>
              <a:srgbClr val="4472C4"/>
            </a:solidFill>
            <a:prstDash val="solid"/>
          </a:ln>
        </p:spPr>
      </p:sp>
      <p:sp>
        <p:nvSpPr>
          <p:cNvPr id="8" name="Text 6"/>
          <p:cNvSpPr txBox="1"/>
          <p:nvPr/>
        </p:nvSpPr>
        <p:spPr>
          <a:xfrm>
            <a:off x="731520" y="15544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9" name="Text 7"/>
          <p:cNvSpPr txBox="1"/>
          <p:nvPr/>
        </p:nvSpPr>
        <p:spPr>
          <a:xfrm>
            <a:off x="1371600" y="1325880"/>
            <a:ext cx="10088575" cy="914400"/>
          </a:xfrm>
          <a:prstGeom prst="rect">
            <a:avLst/>
          </a:prstGeom>
          <a:noFill/>
          <a:ln/>
        </p:spPr>
        <p:txBody>
          <a:bodyPr wrap="square" lIns="0" tIns="0" rIns="0" bIns="0" rtlCol="0" anchor="ctr"/>
          <a:lstStyle/>
          <a:p>
            <a:pPr indent="0" marL="0">
              <a:buNone/>
            </a:pPr>
            <a:r>
              <a:rPr lang="en-US" sz="1800" b="1" dirty="0">
                <a:solidFill>
                  <a:srgbClr val="1F1F1F"/>
                </a:solidFill>
              </a:rPr>
              <a:t>Musculoskeletal Pain &amp; the Inflammatory Cascade</a:t>
            </a:r>
            <a:endParaRPr lang="en-US" sz="1800" dirty="0"/>
          </a:p>
          <a:p>
            <a:pPr indent="0" marL="0">
              <a:buNone/>
            </a:pPr>
            <a:r>
              <a:rPr lang="en-US" sz="1200" dirty="0">
                <a:solidFill>
                  <a:srgbClr val="666666"/>
                </a:solidFill>
              </a:rPr>
              <a:t>Objectives: SO1, IO2.1</a:t>
            </a:r>
            <a:endParaRPr lang="en-US" sz="1800" dirty="0"/>
          </a:p>
        </p:txBody>
      </p:sp>
      <p:sp>
        <p:nvSpPr>
          <p:cNvPr id="10" name="Shape 8"/>
          <p:cNvSpPr/>
          <p:nvPr/>
        </p:nvSpPr>
        <p:spPr>
          <a:xfrm>
            <a:off x="548640" y="2377440"/>
            <a:ext cx="11094415" cy="914400"/>
          </a:xfrm>
          <a:prstGeom prst="roundRect">
            <a:avLst>
              <a:gd name="adj" fmla="val 10000"/>
            </a:avLst>
          </a:prstGeom>
          <a:solidFill>
            <a:srgbClr val="F2F4F7"/>
          </a:solidFill>
          <a:ln w="12700">
            <a:solidFill>
              <a:srgbClr val="F2F4F7"/>
            </a:solidFill>
            <a:prstDash val="solid"/>
          </a:ln>
        </p:spPr>
      </p:sp>
      <p:sp>
        <p:nvSpPr>
          <p:cNvPr id="11" name="Shape 9"/>
          <p:cNvSpPr/>
          <p:nvPr/>
        </p:nvSpPr>
        <p:spPr>
          <a:xfrm>
            <a:off x="731520" y="2606040"/>
            <a:ext cx="457200" cy="457200"/>
          </a:xfrm>
          <a:prstGeom prst="ellipse">
            <a:avLst/>
          </a:prstGeom>
          <a:solidFill>
            <a:srgbClr val="4472C4"/>
          </a:solidFill>
          <a:ln w="12700">
            <a:solidFill>
              <a:srgbClr val="4472C4"/>
            </a:solidFill>
            <a:prstDash val="solid"/>
          </a:ln>
        </p:spPr>
      </p:sp>
      <p:sp>
        <p:nvSpPr>
          <p:cNvPr id="12" name="Text 10"/>
          <p:cNvSpPr txBox="1"/>
          <p:nvPr/>
        </p:nvSpPr>
        <p:spPr>
          <a:xfrm>
            <a:off x="731520" y="2606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3" name="Text 11"/>
          <p:cNvSpPr txBox="1"/>
          <p:nvPr/>
        </p:nvSpPr>
        <p:spPr>
          <a:xfrm>
            <a:off x="1371600" y="2377440"/>
            <a:ext cx="10088575" cy="914400"/>
          </a:xfrm>
          <a:prstGeom prst="rect">
            <a:avLst/>
          </a:prstGeom>
          <a:noFill/>
          <a:ln/>
        </p:spPr>
        <p:txBody>
          <a:bodyPr wrap="square" lIns="0" tIns="0" rIns="0" bIns="0" rtlCol="0" anchor="ctr"/>
          <a:lstStyle/>
          <a:p>
            <a:pPr indent="0" marL="0">
              <a:buNone/>
            </a:pPr>
            <a:r>
              <a:rPr lang="en-US" sz="1800" b="1" dirty="0">
                <a:solidFill>
                  <a:srgbClr val="1F1F1F"/>
                </a:solidFill>
              </a:rPr>
              <a:t>Acetaminophen</a:t>
            </a:r>
            <a:endParaRPr lang="en-US" sz="1800" dirty="0"/>
          </a:p>
          <a:p>
            <a:pPr indent="0" marL="0">
              <a:buNone/>
            </a:pPr>
            <a:r>
              <a:rPr lang="en-US" sz="1200" dirty="0">
                <a:solidFill>
                  <a:srgbClr val="666666"/>
                </a:solidFill>
              </a:rPr>
              <a:t>Objectives: SO2, SO5, IO2.1, IO2.2, IO2.6</a:t>
            </a:r>
            <a:endParaRPr lang="en-US" sz="1800" dirty="0"/>
          </a:p>
        </p:txBody>
      </p:sp>
      <p:sp>
        <p:nvSpPr>
          <p:cNvPr id="14" name="Shape 12"/>
          <p:cNvSpPr/>
          <p:nvPr/>
        </p:nvSpPr>
        <p:spPr>
          <a:xfrm>
            <a:off x="548640" y="3429000"/>
            <a:ext cx="11094415" cy="914400"/>
          </a:xfrm>
          <a:prstGeom prst="roundRect">
            <a:avLst>
              <a:gd name="adj" fmla="val 10000"/>
            </a:avLst>
          </a:prstGeom>
          <a:solidFill>
            <a:srgbClr val="F2F4F7"/>
          </a:solidFill>
          <a:ln w="12700">
            <a:solidFill>
              <a:srgbClr val="F2F4F7"/>
            </a:solidFill>
            <a:prstDash val="solid"/>
          </a:ln>
        </p:spPr>
      </p:sp>
      <p:sp>
        <p:nvSpPr>
          <p:cNvPr id="15" name="Shape 13"/>
          <p:cNvSpPr/>
          <p:nvPr/>
        </p:nvSpPr>
        <p:spPr>
          <a:xfrm>
            <a:off x="731520" y="3657600"/>
            <a:ext cx="457200" cy="457200"/>
          </a:xfrm>
          <a:prstGeom prst="ellipse">
            <a:avLst/>
          </a:prstGeom>
          <a:solidFill>
            <a:srgbClr val="4472C4"/>
          </a:solidFill>
          <a:ln w="12700">
            <a:solidFill>
              <a:srgbClr val="4472C4"/>
            </a:solidFill>
            <a:prstDash val="solid"/>
          </a:ln>
        </p:spPr>
      </p:sp>
      <p:sp>
        <p:nvSpPr>
          <p:cNvPr id="16" name="Text 14"/>
          <p:cNvSpPr txBox="1"/>
          <p:nvPr/>
        </p:nvSpPr>
        <p:spPr>
          <a:xfrm>
            <a:off x="731520" y="36576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7" name="Text 15"/>
          <p:cNvSpPr txBox="1"/>
          <p:nvPr/>
        </p:nvSpPr>
        <p:spPr>
          <a:xfrm>
            <a:off x="1371600" y="3429000"/>
            <a:ext cx="10088575" cy="914400"/>
          </a:xfrm>
          <a:prstGeom prst="rect">
            <a:avLst/>
          </a:prstGeom>
          <a:noFill/>
          <a:ln/>
        </p:spPr>
        <p:txBody>
          <a:bodyPr wrap="square" lIns="0" tIns="0" rIns="0" bIns="0" rtlCol="0" anchor="ctr"/>
          <a:lstStyle/>
          <a:p>
            <a:pPr indent="0" marL="0">
              <a:buNone/>
            </a:pPr>
            <a:r>
              <a:rPr lang="en-US" sz="1800" b="1" dirty="0">
                <a:solidFill>
                  <a:srgbClr val="1F1F1F"/>
                </a:solidFill>
              </a:rPr>
              <a:t>NSAIDs &amp; COX-2 Selective Inhibition</a:t>
            </a:r>
            <a:endParaRPr lang="en-US" sz="1800" dirty="0"/>
          </a:p>
          <a:p>
            <a:pPr indent="0" marL="0">
              <a:buNone/>
            </a:pPr>
            <a:r>
              <a:rPr lang="en-US" sz="1200" dirty="0">
                <a:solidFill>
                  <a:srgbClr val="666666"/>
                </a:solidFill>
              </a:rPr>
              <a:t>Objectives: SO2, SO3, SO5, IO2.1, IO2.2, IO2.3, IO2.4</a:t>
            </a:r>
            <a:endParaRPr lang="en-US" sz="1800" dirty="0"/>
          </a:p>
        </p:txBody>
      </p:sp>
      <p:sp>
        <p:nvSpPr>
          <p:cNvPr id="18" name="Shape 16"/>
          <p:cNvSpPr/>
          <p:nvPr/>
        </p:nvSpPr>
        <p:spPr>
          <a:xfrm>
            <a:off x="548640" y="4480560"/>
            <a:ext cx="11094415" cy="914400"/>
          </a:xfrm>
          <a:prstGeom prst="roundRect">
            <a:avLst>
              <a:gd name="adj" fmla="val 10000"/>
            </a:avLst>
          </a:prstGeom>
          <a:solidFill>
            <a:srgbClr val="F2F4F7"/>
          </a:solidFill>
          <a:ln w="12700">
            <a:solidFill>
              <a:srgbClr val="F2F4F7"/>
            </a:solidFill>
            <a:prstDash val="solid"/>
          </a:ln>
        </p:spPr>
      </p:sp>
      <p:sp>
        <p:nvSpPr>
          <p:cNvPr id="19" name="Shape 17"/>
          <p:cNvSpPr/>
          <p:nvPr/>
        </p:nvSpPr>
        <p:spPr>
          <a:xfrm>
            <a:off x="731520" y="4709160"/>
            <a:ext cx="457200" cy="457200"/>
          </a:xfrm>
          <a:prstGeom prst="ellipse">
            <a:avLst/>
          </a:prstGeom>
          <a:solidFill>
            <a:srgbClr val="4472C4"/>
          </a:solidFill>
          <a:ln w="12700">
            <a:solidFill>
              <a:srgbClr val="4472C4"/>
            </a:solidFill>
            <a:prstDash val="solid"/>
          </a:ln>
        </p:spPr>
      </p:sp>
      <p:sp>
        <p:nvSpPr>
          <p:cNvPr id="20" name="Text 18"/>
          <p:cNvSpPr txBox="1"/>
          <p:nvPr/>
        </p:nvSpPr>
        <p:spPr>
          <a:xfrm>
            <a:off x="731520" y="4709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1" name="Text 19"/>
          <p:cNvSpPr txBox="1"/>
          <p:nvPr/>
        </p:nvSpPr>
        <p:spPr>
          <a:xfrm>
            <a:off x="1371600" y="4480560"/>
            <a:ext cx="10088575" cy="914400"/>
          </a:xfrm>
          <a:prstGeom prst="rect">
            <a:avLst/>
          </a:prstGeom>
          <a:noFill/>
          <a:ln/>
        </p:spPr>
        <p:txBody>
          <a:bodyPr wrap="square" lIns="0" tIns="0" rIns="0" bIns="0" rtlCol="0" anchor="ctr"/>
          <a:lstStyle/>
          <a:p>
            <a:pPr indent="0" marL="0">
              <a:buNone/>
            </a:pPr>
            <a:r>
              <a:rPr lang="en-US" sz="1800" b="1" dirty="0">
                <a:solidFill>
                  <a:srgbClr val="1F1F1F"/>
                </a:solidFill>
              </a:rPr>
              <a:t>Osteoarthritis, Rheumatoid Arthritis &amp; DMARDs</a:t>
            </a:r>
            <a:endParaRPr lang="en-US" sz="1800" dirty="0"/>
          </a:p>
          <a:p>
            <a:pPr indent="0" marL="0">
              <a:buNone/>
            </a:pPr>
            <a:r>
              <a:rPr lang="en-US" sz="1200" dirty="0">
                <a:solidFill>
                  <a:srgbClr val="666666"/>
                </a:solidFill>
              </a:rPr>
              <a:t>Objectives: IO2.1, IO2.2, IO2.3, IO2.4, IO2.5, IO2.6, SO3, SO4, SO5</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1 of 4</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100" b="1" dirty="0">
                <a:solidFill>
                  <a:srgbClr val="FFFFFF"/>
                </a:solidFill>
                <a:latin typeface="Calibri" pitchFamily="34" charset="0"/>
                <a:ea typeface="Calibri" pitchFamily="34" charset="-122"/>
                <a:cs typeface="Calibri" pitchFamily="34" charset="-120"/>
              </a:rPr>
              <a:t>Musculoskeletal Pain &amp; the Inflammatory Cascade</a:t>
            </a:r>
            <a:endParaRPr lang="en-US" sz="41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SO1 · IO2.1</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MUSCULOSKELETAL PAIN &amp; THE INFLAMMATORY CASCADE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IO2.1</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a:t>
            </a:r>
            <a:endParaRPr lang="en-US" sz="1000" dirty="0"/>
          </a:p>
        </p:txBody>
      </p:sp>
      <p:sp>
        <p:nvSpPr>
          <p:cNvPr id="7" name="Key definitions card"/>
          <p:cNvSpPr/>
          <p:nvPr/>
        </p:nvSpPr>
        <p:spPr>
          <a:xfrm>
            <a:off x="548640" y="1325880"/>
            <a:ext cx="11094415" cy="3273552"/>
          </a:xfrm>
          <a:prstGeom prst="roundRect">
            <a:avLst>
              <a:gd name="adj" fmla="val 3352"/>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10637215" cy="2404872"/>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Nociceptive pain:</a:t>
            </a:r>
            <a:r>
              <a:rPr lang="en-US" sz="1800" dirty="0">
                <a:solidFill>
                  <a:srgbClr val="1F1F1F"/>
                </a:solidFill>
              </a:rPr>
              <a:t> direct activation of pain receptors by tissue injury.</a:t>
            </a:r>
            <a:r>
              <a:rPr lang="en-US" sz="1300" dirty="0">
                <a:solidFill>
                  <a:srgbClr val="666666"/>
                </a:solidFill>
              </a:rPr>
              <a:t>  S5</a:t>
            </a:r>
            <a:endParaRPr lang="en-US" sz="1800" dirty="0"/>
          </a:p>
          <a:p>
            <a:pPr marL="228600" indent="-228600">
              <a:spcAft>
                <a:spcPts val="800"/>
              </a:spcAft>
              <a:buSzPct val="100000"/>
              <a:buChar char="•"/>
            </a:pPr>
            <a:r>
              <a:rPr lang="en-US" sz="1800" b="1" dirty="0">
                <a:solidFill>
                  <a:srgbClr val="1F1F1F"/>
                </a:solidFill>
              </a:rPr>
              <a:t>Inflammatory pain:</a:t>
            </a:r>
            <a:r>
              <a:rPr lang="en-US" sz="1800" dirty="0">
                <a:solidFill>
                  <a:srgbClr val="1F1F1F"/>
                </a:solidFill>
              </a:rPr>
              <a:t> pain driven by inflammatory mediators.</a:t>
            </a:r>
            <a:r>
              <a:rPr lang="en-US" sz="1300" dirty="0">
                <a:solidFill>
                  <a:srgbClr val="666666"/>
                </a:solidFill>
              </a:rPr>
              <a:t>  S5</a:t>
            </a:r>
            <a:endParaRPr lang="en-US" sz="1800" dirty="0"/>
          </a:p>
          <a:p>
            <a:pPr marL="228600" indent="-228600">
              <a:spcAft>
                <a:spcPts val="800"/>
              </a:spcAft>
              <a:buSzPct val="100000"/>
              <a:buChar char="•"/>
            </a:pPr>
            <a:r>
              <a:rPr lang="en-US" sz="1800" b="1" dirty="0">
                <a:solidFill>
                  <a:srgbClr val="1F1F1F"/>
                </a:solidFill>
              </a:rPr>
              <a:t>Neuropathic pain:</a:t>
            </a:r>
            <a:r>
              <a:rPr lang="en-US" sz="1800" dirty="0">
                <a:solidFill>
                  <a:srgbClr val="1F1F1F"/>
                </a:solidFill>
              </a:rPr>
              <a:t> pain from nerve injury or dysfunction.</a:t>
            </a:r>
            <a:r>
              <a:rPr lang="en-US" sz="1300" dirty="0">
                <a:solidFill>
                  <a:srgbClr val="666666"/>
                </a:solidFill>
              </a:rPr>
              <a:t>  S5</a:t>
            </a:r>
            <a:endParaRPr lang="en-US" sz="1800" dirty="0"/>
          </a:p>
          <a:p>
            <a:pPr marL="228600" indent="-228600">
              <a:spcAft>
                <a:spcPts val="800"/>
              </a:spcAft>
              <a:buSzPct val="100000"/>
              <a:buChar char="•"/>
            </a:pPr>
            <a:r>
              <a:rPr lang="en-US" sz="1800" b="1" dirty="0">
                <a:solidFill>
                  <a:srgbClr val="1F1F1F"/>
                </a:solidFill>
              </a:rPr>
              <a:t>Acute pain:</a:t>
            </a:r>
            <a:r>
              <a:rPr lang="en-US" sz="1800" dirty="0">
                <a:solidFill>
                  <a:srgbClr val="1F1F1F"/>
                </a:solidFill>
              </a:rPr>
              <a:t> recent onset, often tied to an identifiable injury or flare.</a:t>
            </a:r>
            <a:r>
              <a:rPr lang="en-US" sz="1300" dirty="0">
                <a:solidFill>
                  <a:srgbClr val="666666"/>
                </a:solidFill>
              </a:rPr>
              <a:t>  S5</a:t>
            </a:r>
            <a:endParaRPr lang="en-US" sz="1800" dirty="0"/>
          </a:p>
          <a:p>
            <a:pPr marL="228600" indent="-228600">
              <a:spcAft>
                <a:spcPts val="800"/>
              </a:spcAft>
              <a:buSzPct val="100000"/>
              <a:buChar char="•"/>
            </a:pPr>
            <a:r>
              <a:rPr lang="en-US" sz="1800" b="1" dirty="0">
                <a:solidFill>
                  <a:srgbClr val="1F1F1F"/>
                </a:solidFill>
              </a:rPr>
              <a:t>Chronic pain:</a:t>
            </a:r>
            <a:r>
              <a:rPr lang="en-US" sz="1800" dirty="0">
                <a:solidFill>
                  <a:srgbClr val="1F1F1F"/>
                </a:solidFill>
              </a:rPr>
              <a:t> persists beyond expected healing time, often &gt; 3 months. Treatment approach differs sharply between acute and chronic pain.</a:t>
            </a:r>
            <a:r>
              <a:rPr lang="en-US" sz="1300" dirty="0">
                <a:solidFill>
                  <a:srgbClr val="666666"/>
                </a:solidFill>
              </a:rPr>
              <a:t>  S5</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MUSCULOSKELETAL PAIN &amp; THE INFLAMMATORY CASCADE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IO2.1</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a:t>
            </a:r>
            <a:endParaRPr lang="en-US" sz="1000" dirty="0"/>
          </a:p>
        </p:txBody>
      </p:sp>
      <p:sp>
        <p:nvSpPr>
          <p:cNvPr id="7" name="How it works (1/2) card"/>
          <p:cNvSpPr/>
          <p:nvPr/>
        </p:nvSpPr>
        <p:spPr>
          <a:xfrm>
            <a:off x="548640" y="1325880"/>
            <a:ext cx="11094415" cy="3831336"/>
          </a:xfrm>
          <a:prstGeom prst="roundRect">
            <a:avLst>
              <a:gd name="adj" fmla="val 2864"/>
            </a:avLst>
          </a:prstGeom>
          <a:solidFill>
            <a:srgbClr val="F2F4F7"/>
          </a:solidFill>
          <a:ln w="12700">
            <a:solidFill>
              <a:srgbClr val="F2F4F7"/>
            </a:solidFill>
            <a:prstDash val="solid"/>
          </a:ln>
        </p:spPr>
      </p:sp>
      <p:sp>
        <p:nvSpPr>
          <p:cNvPr id="8" name="How it works (1/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(1/2)</a:t>
            </a:r>
            <a:endParaRPr lang="en-US" sz="1800" dirty="0"/>
          </a:p>
        </p:txBody>
      </p:sp>
      <p:sp>
        <p:nvSpPr>
          <p:cNvPr id="11" name="How it works (1/2) body"/>
          <p:cNvSpPr txBox="1"/>
          <p:nvPr/>
        </p:nvSpPr>
        <p:spPr>
          <a:xfrm>
            <a:off x="777240" y="2075688"/>
            <a:ext cx="10637215" cy="2962656"/>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Tissue injury → release of inflammatory mediators → sensitization of nociceptors → pain.</a:t>
            </a:r>
            <a:r>
              <a:rPr lang="en-US" sz="1300" dirty="0">
                <a:solidFill>
                  <a:srgbClr val="666666"/>
                </a:solidFill>
              </a:rPr>
              <a:t>  S6</a:t>
            </a:r>
            <a:endParaRPr lang="en-US" sz="1800" dirty="0"/>
          </a:p>
          <a:p>
            <a:pPr marL="228600" indent="-228600">
              <a:spcAft>
                <a:spcPts val="800"/>
              </a:spcAft>
              <a:buSzPct val="100000"/>
              <a:buChar char="•"/>
            </a:pPr>
            <a:r>
              <a:rPr lang="en-US" sz="1800" dirty="0">
                <a:solidFill>
                  <a:srgbClr val="1F1F1F"/>
                </a:solidFill>
              </a:rPr>
              <a:t>Key mediators: </a:t>
            </a:r>
            <a:r>
              <a:rPr lang="en-US" sz="1800" b="1" dirty="0">
                <a:solidFill>
                  <a:srgbClr val="1F1F1F"/>
                </a:solidFill>
              </a:rPr>
              <a:t>prostaglandins, bradykinin, histamine, and cytokines (TNF-α, IL-1, IL-6).</a:t>
            </a:r>
            <a:r>
              <a:rPr lang="en-US" sz="1300" dirty="0">
                <a:solidFill>
                  <a:srgbClr val="666666"/>
                </a:solidFill>
              </a:rPr>
              <a:t>  S6; SG U2-R1</a:t>
            </a:r>
            <a:endParaRPr lang="en-US" sz="1800" dirty="0"/>
          </a:p>
          <a:p>
            <a:pPr marL="228600" indent="-228600">
              <a:spcAft>
                <a:spcPts val="800"/>
              </a:spcAft>
              <a:buSzPct val="100000"/>
              <a:buChar char="•"/>
            </a:pPr>
            <a:r>
              <a:rPr lang="en-US" sz="1800" dirty="0">
                <a:solidFill>
                  <a:srgbClr val="1F1F1F"/>
                </a:solidFill>
              </a:rPr>
              <a:t>Arachidonic acid → COX enzyme → prostaglandins → pain and inflammation: the spine of the acetaminophen, NSAID, and corticosteroid sections.</a:t>
            </a:r>
            <a:r>
              <a:rPr lang="en-US" sz="1300" dirty="0">
                <a:solidFill>
                  <a:srgbClr val="666666"/>
                </a:solidFill>
              </a:rPr>
              <a:t>  S8; S8 (notes)</a:t>
            </a:r>
            <a:endParaRPr lang="en-US" sz="1800" dirty="0"/>
          </a:p>
          <a:p>
            <a:pPr marL="228600" indent="-228600">
              <a:spcAft>
                <a:spcPts val="800"/>
              </a:spcAft>
              <a:buSzPct val="100000"/>
              <a:buChar char="•"/>
            </a:pPr>
            <a:r>
              <a:rPr lang="en-US" sz="1800" b="1" dirty="0">
                <a:solidFill>
                  <a:srgbClr val="1F1F1F"/>
                </a:solidFill>
              </a:rPr>
              <a:t>NSAIDs and COX-2 inhibitors act at the COX step; glucocorticoids act further upstream; cytokine inhibitors and analgesics act through separate, parallel pathways.</a:t>
            </a:r>
            <a:r>
              <a:rPr lang="en-US" sz="1300" dirty="0">
                <a:solidFill>
                  <a:srgbClr val="666666"/>
                </a:solidFill>
              </a:rPr>
              <a:t>  S8</a:t>
            </a:r>
            <a:endParaRPr lang="en-US" sz="1800" dirty="0"/>
          </a:p>
          <a:p>
            <a:pPr marL="228600" indent="-228600">
              <a:spcAft>
                <a:spcPts val="800"/>
              </a:spcAft>
              <a:buSzPct val="100000"/>
              <a:buChar char="•"/>
            </a:pPr>
            <a:r>
              <a:rPr lang="en-US" sz="1800" b="1" dirty="0">
                <a:solidFill>
                  <a:srgbClr val="1F1F1F"/>
                </a:solidFill>
              </a:rPr>
              <a:t>Corticosteroids block phospholipase A₂</a:t>
            </a:r>
            <a:r>
              <a:rPr lang="en-US" sz="1800" dirty="0">
                <a:solidFill>
                  <a:srgbClr val="1F1F1F"/>
                </a:solidFill>
              </a:rPr>
              <a:t> (membrane phospholipids → arachidonic acid), so a broad range of mediators falls. NSAIDs block only COX, so they lower prostaglandins specifically.</a:t>
            </a:r>
            <a:r>
              <a:rPr lang="en-US" sz="1300" dirty="0">
                <a:solidFill>
                  <a:srgbClr val="666666"/>
                </a:solidFill>
              </a:rPr>
              <a:t>  S9; SG U2-R2</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MUSCULOSKELETAL PAIN &amp; THE INFLAMMATORY CASCADE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IO2.1</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12</a:t>
            </a:r>
            <a:endParaRPr lang="en-US" sz="1000" dirty="0"/>
          </a:p>
        </p:txBody>
      </p:sp>
      <p:sp>
        <p:nvSpPr>
          <p:cNvPr id="7" name="How it works (2/2) card"/>
          <p:cNvSpPr/>
          <p:nvPr/>
        </p:nvSpPr>
        <p:spPr>
          <a:xfrm>
            <a:off x="548640" y="1325880"/>
            <a:ext cx="11094415" cy="4389120"/>
          </a:xfrm>
          <a:prstGeom prst="roundRect">
            <a:avLst>
              <a:gd name="adj" fmla="val 2500"/>
            </a:avLst>
          </a:prstGeom>
          <a:solidFill>
            <a:srgbClr val="F2F4F7"/>
          </a:solidFill>
          <a:ln w="12700">
            <a:solidFill>
              <a:srgbClr val="F2F4F7"/>
            </a:solidFill>
            <a:prstDash val="solid"/>
          </a:ln>
        </p:spPr>
      </p:sp>
      <p:sp>
        <p:nvSpPr>
          <p:cNvPr id="8" name="How it works (2/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(2/2)</a:t>
            </a:r>
            <a:endParaRPr lang="en-US" sz="1800" dirty="0"/>
          </a:p>
        </p:txBody>
      </p:sp>
      <p:sp>
        <p:nvSpPr>
          <p:cNvPr id="11" name="How it works (2/2) body"/>
          <p:cNvSpPr txBox="1"/>
          <p:nvPr/>
        </p:nvSpPr>
        <p:spPr>
          <a:xfrm>
            <a:off x="777240" y="2075688"/>
            <a:ext cx="10637215" cy="3520440"/>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Nociceptor sensitization:</a:t>
            </a:r>
            <a:r>
              <a:rPr lang="en-US" sz="1800" dirty="0">
                <a:solidFill>
                  <a:srgbClr val="1F1F1F"/>
                </a:solidFill>
              </a:rPr>
              <a:t> injury releases PGE2, bradykinin, histamine, and cytokines, which </a:t>
            </a:r>
            <a:r>
              <a:rPr lang="en-US" sz="1800" b="1" dirty="0">
                <a:solidFill>
                  <a:srgbClr val="1F1F1F"/>
                </a:solidFill>
              </a:rPr>
              <a:t>lower the pain threshold</a:t>
            </a:r>
            <a:r>
              <a:rPr lang="en-US" sz="1800" dirty="0">
                <a:solidFill>
                  <a:srgbClr val="1F1F1F"/>
                </a:solidFill>
              </a:rPr>
              <a:t> — normally harmless stimuli now hurt.</a:t>
            </a:r>
            <a:r>
              <a:rPr lang="en-US" sz="1300" dirty="0">
                <a:solidFill>
                  <a:srgbClr val="666666"/>
                </a:solidFill>
              </a:rPr>
              <a:t>  S7; S6 (notes)</a:t>
            </a:r>
            <a:endParaRPr lang="en-US" sz="1800" dirty="0"/>
          </a:p>
          <a:p>
            <a:pPr marL="228600" indent="-228600">
              <a:spcAft>
                <a:spcPts val="800"/>
              </a:spcAft>
              <a:buSzPct val="100000"/>
              <a:buChar char="•"/>
            </a:pPr>
            <a:r>
              <a:rPr lang="en-US" sz="1800" dirty="0">
                <a:solidFill>
                  <a:srgbClr val="1F1F1F"/>
                </a:solidFill>
              </a:rPr>
              <a:t>Prostaglandins sensitize nociceptors, so they are the main NSAID target; bradykinin, histamine, and cytokines are not blocked by NSAIDs.</a:t>
            </a:r>
            <a:r>
              <a:rPr lang="en-US" sz="1300" dirty="0">
                <a:solidFill>
                  <a:srgbClr val="666666"/>
                </a:solidFill>
              </a:rPr>
              <a:t>  S7 (notes); S12-13</a:t>
            </a:r>
            <a:endParaRPr lang="en-US" sz="1800" dirty="0"/>
          </a:p>
          <a:p>
            <a:pPr marL="228600" indent="-228600">
              <a:spcAft>
                <a:spcPts val="800"/>
              </a:spcAft>
              <a:buSzPct val="100000"/>
              <a:buChar char="•"/>
            </a:pPr>
            <a:r>
              <a:rPr lang="en-US" sz="1800" dirty="0">
                <a:solidFill>
                  <a:srgbClr val="1F1F1F"/>
                </a:solidFill>
              </a:rPr>
              <a:t>Where drugs act: NSAIDs block COX; corticosteroids block PLA2 (phospholipase A₂) one step upstream.</a:t>
            </a:r>
            <a:r>
              <a:rPr lang="en-US" sz="1300" dirty="0">
                <a:solidFill>
                  <a:srgbClr val="666666"/>
                </a:solidFill>
              </a:rPr>
              <a:t>  S7; S8 (notes); S9 (notes)</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The immune response:</a:t>
            </a:r>
            <a:r>
              <a:rPr lang="en-US" sz="1800" dirty="0">
                <a:solidFill>
                  <a:srgbClr val="1F1F1F"/>
                </a:solidFill>
              </a:rPr>
              <a:t> chronic inflammation involves eicosanoids, leukotrienes, cytokines, chemokines, and many immune cells; RA, SLE, vasculitis, and gout all stem from this cascade.</a:t>
            </a:r>
            <a:r>
              <a:rPr lang="en-US" sz="1300" dirty="0">
                <a:solidFill>
                  <a:srgbClr val="666666"/>
                </a:solidFill>
              </a:rPr>
              <a:t>  p. 675</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The lipoxygenase branch of arachidonic acid makes leukotrienes (chemotaxis, bronchoconstriction, vascular permeability) — a separate branch from the COX step NSAIDs block.</a:t>
            </a:r>
            <a:r>
              <a:rPr lang="en-US" sz="1300" dirty="0">
                <a:solidFill>
                  <a:srgbClr val="666666"/>
                </a:solidFill>
              </a:rPr>
              <a:t>  p. 675; p. 678</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MUSCULOSKELETAL PAIN &amp; THE INFLAMMATORY CASCADE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 · Drugs named as examples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IO2.1</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13</a:t>
            </a:r>
            <a:endParaRPr lang="en-US" sz="1000" dirty="0"/>
          </a:p>
        </p:txBody>
      </p:sp>
      <p:sp>
        <p:nvSpPr>
          <p:cNvPr id="7" name="Clinical relevance card"/>
          <p:cNvSpPr/>
          <p:nvPr/>
        </p:nvSpPr>
        <p:spPr>
          <a:xfrm>
            <a:off x="548640" y="1325880"/>
            <a:ext cx="5410048" cy="4727448"/>
          </a:xfrm>
          <a:prstGeom prst="roundRect">
            <a:avLst>
              <a:gd name="adj" fmla="val 2321"/>
            </a:avLst>
          </a:prstGeom>
          <a:solidFill>
            <a:srgbClr val="F2F4F7"/>
          </a:solidFill>
          <a:ln w="12700">
            <a:solidFill>
              <a:srgbClr val="F2F4F7"/>
            </a:solidFill>
            <a:prstDash val="solid"/>
          </a:ln>
        </p:spPr>
      </p:sp>
      <p:sp>
        <p:nvSpPr>
          <p:cNvPr id="8" name="Clinical relevance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a:t>
            </a:r>
            <a:endParaRPr lang="en-US" sz="1800" dirty="0"/>
          </a:p>
        </p:txBody>
      </p:sp>
      <p:sp>
        <p:nvSpPr>
          <p:cNvPr id="11" name="Clinical relevance body"/>
          <p:cNvSpPr txBox="1"/>
          <p:nvPr/>
        </p:nvSpPr>
        <p:spPr>
          <a:xfrm>
            <a:off x="777240" y="2075688"/>
            <a:ext cx="4952848" cy="385876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Most musculoskeletal pain in this lecture is a mix of nociceptive and inflammatory; pure neuropathic pain belongs to a separate pharmacology unit.</a:t>
            </a:r>
            <a:r>
              <a:rPr lang="en-US" sz="1300" dirty="0">
                <a:solidFill>
                  <a:srgbClr val="666666"/>
                </a:solidFill>
              </a:rPr>
              <a:t>  S5 (notes)</a:t>
            </a:r>
            <a:endParaRPr lang="en-US" sz="1800" dirty="0"/>
          </a:p>
          <a:p>
            <a:pPr marL="228600" indent="-228600">
              <a:spcAft>
                <a:spcPts val="800"/>
              </a:spcAft>
              <a:buSzPct val="100000"/>
              <a:buChar char="•"/>
            </a:pPr>
            <a:r>
              <a:rPr lang="en-US" sz="1800" dirty="0">
                <a:solidFill>
                  <a:srgbClr val="1F1F1F"/>
                </a:solidFill>
              </a:rPr>
              <a:t>The mediator list is the roadmap for the lecture: NSAIDs target prostaglandins, biologic DMARDs target specific cytokines.</a:t>
            </a:r>
            <a:r>
              <a:rPr lang="en-US" sz="1300" dirty="0">
                <a:solidFill>
                  <a:srgbClr val="666666"/>
                </a:solidFill>
              </a:rPr>
              <a:t>  S6 (notes)</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Therapeutic strategies:</a:t>
            </a:r>
            <a:r>
              <a:rPr lang="en-US" sz="1800" dirty="0">
                <a:solidFill>
                  <a:srgbClr val="1F1F1F"/>
                </a:solidFill>
              </a:rPr>
              <a:t> goal 1 is symptom relief and function (NSAIDs and DMARDs); goal 2 is slowing tissue damage, for which DMARDs are absolutely necessary. Response is tracked with indices such as DAS28 in RA.</a:t>
            </a:r>
            <a:r>
              <a:rPr lang="en-US" sz="1300" dirty="0">
                <a:solidFill>
                  <a:srgbClr val="666666"/>
                </a:solidFill>
              </a:rPr>
              <a:t>  p. 675</a:t>
            </a:r>
            <a:endParaRPr lang="en-US" sz="1800" dirty="0"/>
          </a:p>
        </p:txBody>
      </p:sp>
      <p:sp>
        <p:nvSpPr>
          <p:cNvPr id="12" name="Drugs named as examples card"/>
          <p:cNvSpPr/>
          <p:nvPr/>
        </p:nvSpPr>
        <p:spPr>
          <a:xfrm>
            <a:off x="6233008" y="1325880"/>
            <a:ext cx="5410048" cy="4727448"/>
          </a:xfrm>
          <a:prstGeom prst="roundRect">
            <a:avLst>
              <a:gd name="adj" fmla="val 2321"/>
            </a:avLst>
          </a:prstGeom>
          <a:solidFill>
            <a:srgbClr val="F2F4F7"/>
          </a:solidFill>
          <a:ln w="12700">
            <a:solidFill>
              <a:srgbClr val="F2F4F7"/>
            </a:solidFill>
            <a:prstDash val="solid"/>
          </a:ln>
        </p:spPr>
      </p:sp>
      <p:sp>
        <p:nvSpPr>
          <p:cNvPr id="13" name="Drugs named as examples icon circle"/>
          <p:cNvSpPr/>
          <p:nvPr/>
        </p:nvSpPr>
        <p:spPr>
          <a:xfrm>
            <a:off x="6461608" y="1508760"/>
            <a:ext cx="438912" cy="438912"/>
          </a:xfrm>
          <a:prstGeom prst="ellipse">
            <a:avLst/>
          </a:prstGeom>
          <a:solidFill>
            <a:srgbClr val="4472C4"/>
          </a:solidFill>
          <a:ln w="12700">
            <a:solidFill>
              <a:srgbClr val="4472C4"/>
            </a:solidFill>
            <a:prstDash val="solid"/>
          </a:ln>
        </p:spPr>
      </p:sp>
      <p:pic>
        <p:nvPicPr>
          <p:cNvPr id="14" name="Drugs named as example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Drugs named as example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6" name="Drugs named as examples body"/>
          <p:cNvSpPr txBox="1"/>
          <p:nvPr/>
        </p:nvSpPr>
        <p:spPr>
          <a:xfrm>
            <a:off x="6461608" y="2075688"/>
            <a:ext cx="4952848" cy="385876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Corticosteroids (block phospholipase A₂) vs. NSAIDs and COX-2 inhibitors (block COX): two distinct points of intervention.</a:t>
            </a:r>
            <a:r>
              <a:rPr lang="en-US" sz="1300" dirty="0">
                <a:solidFill>
                  <a:srgbClr val="666666"/>
                </a:solidFill>
              </a:rPr>
              <a:t>  S9; S9 (notes)</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MUSCULOSKELETAL PAIN &amp; THE INFLAMMATORY CASCADE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IO2.1</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14</a:t>
            </a:r>
            <a:endParaRPr lang="en-US" sz="1000" dirty="0"/>
          </a:p>
        </p:txBody>
      </p:sp>
      <p:sp>
        <p:nvSpPr>
          <p:cNvPr id="7" name="Exam traps card"/>
          <p:cNvSpPr/>
          <p:nvPr/>
        </p:nvSpPr>
        <p:spPr>
          <a:xfrm>
            <a:off x="548640" y="1325880"/>
            <a:ext cx="11094415" cy="2107692"/>
          </a:xfrm>
          <a:prstGeom prst="roundRect">
            <a:avLst>
              <a:gd name="adj" fmla="val 5206"/>
            </a:avLst>
          </a:prstGeom>
          <a:solidFill>
            <a:srgbClr val="F2F4F7"/>
          </a:solidFill>
          <a:ln w="12700">
            <a:solidFill>
              <a:srgbClr val="F2F4F7"/>
            </a:solidFill>
            <a:prstDash val="solid"/>
          </a:ln>
        </p:spPr>
      </p:sp>
      <p:sp>
        <p:nvSpPr>
          <p:cNvPr id="8" name="Exam traps icon circle"/>
          <p:cNvSpPr/>
          <p:nvPr/>
        </p:nvSpPr>
        <p:spPr>
          <a:xfrm>
            <a:off x="777240" y="1508760"/>
            <a:ext cx="438912" cy="438912"/>
          </a:xfrm>
          <a:prstGeom prst="ellipse">
            <a:avLst/>
          </a:prstGeom>
          <a:solidFill>
            <a:srgbClr val="C00000"/>
          </a:solidFill>
          <a:ln w="12700">
            <a:solidFill>
              <a:srgbClr val="C00000"/>
            </a:solidFill>
            <a:prstDash val="solid"/>
          </a:ln>
        </p:spPr>
      </p:sp>
      <p:pic>
        <p:nvPicPr>
          <p:cNvPr id="9" name="Exam trap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Exam trap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1" name="Exam traps body"/>
          <p:cNvSpPr txBox="1"/>
          <p:nvPr/>
        </p:nvSpPr>
        <p:spPr>
          <a:xfrm>
            <a:off x="777240" y="2075688"/>
            <a:ext cx="10637215" cy="123901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Corticosteroids act </a:t>
            </a:r>
            <a:r>
              <a:rPr lang="en-US" sz="1800" b="1" dirty="0">
                <a:solidFill>
                  <a:srgbClr val="1F1F1F"/>
                </a:solidFill>
              </a:rPr>
              <a:t>upstream</a:t>
            </a:r>
            <a:r>
              <a:rPr lang="en-US" sz="1800" dirty="0">
                <a:solidFill>
                  <a:srgbClr val="1F1F1F"/>
                </a:solidFill>
              </a:rPr>
              <a:t> at phospholipase A₂, not at COX — that is why their effect is broader than an NSAID’s.</a:t>
            </a:r>
            <a:r>
              <a:rPr lang="en-US" sz="1300" dirty="0">
                <a:solidFill>
                  <a:srgbClr val="666666"/>
                </a:solidFill>
              </a:rPr>
              <a:t>  S9; SG U2-R2</a:t>
            </a:r>
            <a:endParaRPr lang="en-US" sz="1800" dirty="0"/>
          </a:p>
          <a:p>
            <a:pPr marL="228600" indent="-228600">
              <a:spcAft>
                <a:spcPts val="800"/>
              </a:spcAft>
              <a:buSzPct val="100000"/>
              <a:buChar char="•"/>
            </a:pPr>
            <a:r>
              <a:rPr lang="en-US" sz="1800" dirty="0">
                <a:solidFill>
                  <a:srgbClr val="1F1F1F"/>
                </a:solidFill>
              </a:rPr>
              <a:t>The lecture’s drugs target nociceptive and inflammatory pain; neuropathic pain is a different unit.</a:t>
            </a:r>
            <a:r>
              <a:rPr lang="en-US" sz="1300" dirty="0">
                <a:solidFill>
                  <a:srgbClr val="666666"/>
                </a:solidFill>
              </a:rPr>
              <a:t>  S5 (notes)</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MUSCULOSKELETAL PAIN &amp; THE INFLAMMATORY CASCADE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Inflammatory mediators sensitize nociceptors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IO2.1</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15</a:t>
            </a:r>
            <a:endParaRPr lang="en-US" sz="1000" dirty="0"/>
          </a:p>
        </p:txBody>
      </p:sp>
      <p:pic>
        <p:nvPicPr>
          <p:cNvPr id="7" name="Figure S7_1.jpg" descr="/home/user/dpas-pharm/work/L03/figures/S7_1.jpg">    </p:cNvPr>
          <p:cNvPicPr>
            <a:picLocks noChangeAspect="1"/>
          </p:cNvPicPr>
          <p:nvPr/>
        </p:nvPicPr>
        <p:blipFill>
          <a:blip r:embed="rId1"/>
          <a:stretch>
            <a:fillRect/>
          </a:stretch>
        </p:blipFill>
        <p:spPr>
          <a:xfrm>
            <a:off x="2398755" y="1325880"/>
            <a:ext cx="7394186" cy="4167632"/>
          </a:xfrm>
          <a:prstGeom prst="rect">
            <a:avLst/>
          </a:prstGeom>
        </p:spPr>
      </p:pic>
      <p:sp>
        <p:nvSpPr>
          <p:cNvPr id="8" name="Figure caption"/>
          <p:cNvSpPr txBox="1"/>
          <p:nvPr/>
        </p:nvSpPr>
        <p:spPr>
          <a:xfrm>
            <a:off x="548640" y="5676392"/>
            <a:ext cx="11094415" cy="587248"/>
          </a:xfrm>
          <a:prstGeom prst="rect">
            <a:avLst/>
          </a:prstGeom>
          <a:noFill/>
          <a:ln/>
        </p:spPr>
        <p:txBody>
          <a:bodyPr wrap="square" lIns="0" tIns="0" rIns="0" bIns="0" rtlCol="0" anchor="t"/>
          <a:lstStyle/>
          <a:p>
            <a:pPr indent="0" marL="0">
              <a:buNone/>
            </a:pPr>
            <a:r>
              <a:rPr lang="en-US" sz="1600" dirty="0">
                <a:solidFill>
                  <a:srgbClr val="1F1F1F"/>
                </a:solidFill>
              </a:rPr>
              <a:t>Companion diagram: tissue injury → PGE2, bradykinin, histamine, cytokines → nociceptor sensitization → pain. NSAIDs act by blocking COX; corticosteroids by blocking PLA2.</a:t>
            </a:r>
            <a:r>
              <a:rPr lang="en-US" sz="1100" dirty="0">
                <a:solidFill>
                  <a:srgbClr val="666666"/>
                </a:solidFill>
              </a:rPr>
              <a:t>  S7; S7 (notes)</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MUSCULOSKELETAL PAIN &amp; THE INFLAMMATORY CASCADE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400" b="1" dirty="0">
                <a:solidFill>
                  <a:srgbClr val="1F1F1F"/>
                </a:solidFill>
                <a:latin typeface="Calibri" pitchFamily="34" charset="0"/>
                <a:ea typeface="Calibri" pitchFamily="34" charset="-122"/>
                <a:cs typeface="Calibri" pitchFamily="34" charset="-120"/>
              </a:rPr>
              <a:t>Figure 1 · The arachidonic acid pathway: where analgesics act</a:t>
            </a:r>
            <a:endParaRPr lang="en-US" sz="24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IO2.1</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16</a:t>
            </a:r>
            <a:endParaRPr lang="en-US" sz="1000" dirty="0"/>
          </a:p>
        </p:txBody>
      </p:sp>
      <p:pic>
        <p:nvPicPr>
          <p:cNvPr id="7" name="Figure S9_1.jpg" descr="/home/user/dpas-pharm/work/L03/figures/S9_1.jpg">    </p:cNvPr>
          <p:cNvPicPr>
            <a:picLocks noChangeAspect="1"/>
          </p:cNvPicPr>
          <p:nvPr/>
        </p:nvPicPr>
        <p:blipFill>
          <a:blip r:embed="rId1"/>
          <a:stretch>
            <a:fillRect/>
          </a:stretch>
        </p:blipFill>
        <p:spPr>
          <a:xfrm>
            <a:off x="1928216" y="1325880"/>
            <a:ext cx="8335264" cy="4167632"/>
          </a:xfrm>
          <a:prstGeom prst="rect">
            <a:avLst/>
          </a:prstGeom>
        </p:spPr>
      </p:pic>
      <p:sp>
        <p:nvSpPr>
          <p:cNvPr id="8" name="Figure caption"/>
          <p:cNvSpPr txBox="1"/>
          <p:nvPr/>
        </p:nvSpPr>
        <p:spPr>
          <a:xfrm>
            <a:off x="548640" y="5676392"/>
            <a:ext cx="11094415" cy="587248"/>
          </a:xfrm>
          <a:prstGeom prst="rect">
            <a:avLst/>
          </a:prstGeom>
          <a:noFill/>
          <a:ln/>
        </p:spPr>
        <p:txBody>
          <a:bodyPr wrap="square" lIns="0" tIns="0" rIns="0" bIns="0" rtlCol="0" anchor="t"/>
          <a:lstStyle/>
          <a:p>
            <a:pPr indent="0" marL="0">
              <a:buNone/>
            </a:pPr>
            <a:r>
              <a:rPr lang="en-US" sz="1600" dirty="0">
                <a:solidFill>
                  <a:srgbClr val="1F1F1F"/>
                </a:solidFill>
              </a:rPr>
              <a:t>Original illustrative diagram: membrane phospholipids → arachidonic acid → COX-1/COX-2 → prostaglandins → pain, inflammation, fever. Corticosteroids block phospholipase A₂ upstream; NSAIDs and COX-2 inhibitors block the COX step one step later.</a:t>
            </a:r>
            <a:r>
              <a:rPr lang="en-US" sz="1100" dirty="0">
                <a:solidFill>
                  <a:srgbClr val="666666"/>
                </a:solidFill>
              </a:rPr>
              <a:t>  S9; S9 (notes)</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MUSCULOSKELETAL PAIN &amp; THE INFLAMMATORY CASCADE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Where each drug class intervenes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IO2.1</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17</a:t>
            </a:r>
            <a:endParaRPr lang="en-US" sz="1000" dirty="0"/>
          </a:p>
        </p:txBody>
      </p:sp>
      <p:graphicFrame>
        <p:nvGraphicFramePr>
          <p:cNvPr id="18"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r>
                        <a:rPr lang="en-US" sz="1600" b="1" dirty="0">
                          <a:solidFill>
                            <a:srgbClr val="FFFFFF"/>
                          </a:solidFill>
                        </a:rPr>
                        <a:t>Drug class</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Step it blocks</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What falls</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Corticosteroids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Phospholipase A₂</a:t>
                      </a:r>
                      <a:r>
                        <a:rPr lang="en-US" sz="1600" dirty="0">
                          <a:solidFill>
                            <a:srgbClr val="1F1F1F"/>
                          </a:solidFill>
                        </a:rPr>
                        <a:t> (upstream)</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A broad range of mediators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NSAIDs, COX-2 inhibitors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b="1" dirty="0">
                          <a:solidFill>
                            <a:srgbClr val="1F1F1F"/>
                          </a:solidFill>
                        </a:rPr>
                        <a:t>COX</a:t>
                      </a:r>
                      <a:r>
                        <a:rPr lang="en-US" sz="1600" dirty="0">
                          <a:solidFill>
                            <a:srgbClr val="1F1F1F"/>
                          </a:solidFill>
                        </a:rPr>
                        <a:t> enzyme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Prostaglandins specifically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Biologic DMARDs (cytokine inhibitors)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Specific cytokines or immune cells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TNF-α, IL-6 signaling; B or T cells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3214624"/>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S8; S9; S6 (notes); SG U2-R2</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MUSCULOSKELETAL PAIN &amp; THE INFLAMMATORY CASCADE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IO2.1</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18</a:t>
            </a:r>
            <a:endParaRPr lang="en-US" sz="1000" dirty="0"/>
          </a:p>
        </p:txBody>
      </p:sp>
      <p:sp>
        <p:nvSpPr>
          <p:cNvPr id="7" name="Why it happens card"/>
          <p:cNvSpPr/>
          <p:nvPr/>
        </p:nvSpPr>
        <p:spPr>
          <a:xfrm>
            <a:off x="548640" y="1325880"/>
            <a:ext cx="5364328" cy="2555748"/>
          </a:xfrm>
          <a:prstGeom prst="roundRect">
            <a:avLst>
              <a:gd name="adj" fmla="val 4293"/>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68706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are corticosteroids broader than NSAIDs? They act at phospholipase A₂, before arachidonic acid is released, so every mediator made from it falls — NSAIDs only stop the COX branch.</a:t>
            </a:r>
            <a:r>
              <a:rPr lang="en-US" sz="1300" dirty="0">
                <a:solidFill>
                  <a:srgbClr val="666666"/>
                </a:solidFill>
              </a:rPr>
              <a:t>  S9; SG U2-R2</a:t>
            </a:r>
            <a:endParaRPr lang="en-US" sz="1800" dirty="0"/>
          </a:p>
        </p:txBody>
      </p:sp>
      <p:sp>
        <p:nvSpPr>
          <p:cNvPr id="12" name="Mnemonic (memory aid) card"/>
          <p:cNvSpPr/>
          <p:nvPr/>
        </p:nvSpPr>
        <p:spPr>
          <a:xfrm>
            <a:off x="6278728" y="1325880"/>
            <a:ext cx="5364328" cy="1997964"/>
          </a:xfrm>
          <a:prstGeom prst="roundRect">
            <a:avLst>
              <a:gd name="adj" fmla="val 5492"/>
            </a:avLst>
          </a:prstGeom>
          <a:solidFill>
            <a:srgbClr val="F2F4F7"/>
          </a:solidFill>
          <a:ln w="12700">
            <a:solidFill>
              <a:srgbClr val="F2F4F7"/>
            </a:solidFill>
            <a:prstDash val="solid"/>
          </a:ln>
        </p:spPr>
      </p:sp>
      <p:sp>
        <p:nvSpPr>
          <p:cNvPr id="13" name="Mnemonic (memory aid) icon circle"/>
          <p:cNvSpPr/>
          <p:nvPr/>
        </p:nvSpPr>
        <p:spPr>
          <a:xfrm>
            <a:off x="6507328" y="1508760"/>
            <a:ext cx="438912" cy="438912"/>
          </a:xfrm>
          <a:prstGeom prst="ellipse">
            <a:avLst/>
          </a:prstGeom>
          <a:solidFill>
            <a:srgbClr val="7030A0"/>
          </a:solidFill>
          <a:ln w="12700">
            <a:solidFill>
              <a:srgbClr val="7030A0"/>
            </a:solidFill>
            <a:prstDash val="solid"/>
          </a:ln>
        </p:spPr>
      </p:sp>
      <p:pic>
        <p:nvPicPr>
          <p:cNvPr id="14" name="Mnemonic (memory aid) icon" descr="preencoded.png">    </p:cNvPr>
          <p:cNvPicPr>
            <a:picLocks noChangeAspect="1"/>
          </p:cNvPicPr>
          <p:nvPr/>
        </p:nvPicPr>
        <p:blipFill>
          <a:blip r:embed="rId2"/>
          <a:stretch>
            <a:fillRect/>
          </a:stretch>
        </p:blipFill>
        <p:spPr>
          <a:xfrm>
            <a:off x="6607912" y="1609344"/>
            <a:ext cx="237744" cy="237744"/>
          </a:xfrm>
          <a:prstGeom prst="rect">
            <a:avLst/>
          </a:prstGeom>
        </p:spPr>
      </p:pic>
      <p:sp>
        <p:nvSpPr>
          <p:cNvPr id="15" name="Mnemonic (memory aid)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16" name="Mnemonic (memory aid) body"/>
          <p:cNvSpPr txBox="1"/>
          <p:nvPr/>
        </p:nvSpPr>
        <p:spPr>
          <a:xfrm>
            <a:off x="6507328" y="2075688"/>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Mediators that make pain: </a:t>
            </a:r>
            <a:r>
              <a:rPr lang="en-US" sz="1800" b="1" dirty="0">
                <a:solidFill>
                  <a:srgbClr val="1F1F1F"/>
                </a:solidFill>
              </a:rPr>
              <a:t>P-B-H-C</a:t>
            </a:r>
            <a:r>
              <a:rPr lang="en-US" sz="1800" dirty="0">
                <a:solidFill>
                  <a:srgbClr val="1F1F1F"/>
                </a:solidFill>
              </a:rPr>
              <a:t> — </a:t>
            </a:r>
            <a:r>
              <a:rPr lang="en-US" sz="1800" b="1" dirty="0">
                <a:solidFill>
                  <a:srgbClr val="1F1F1F"/>
                </a:solidFill>
              </a:rPr>
              <a:t>P</a:t>
            </a:r>
            <a:r>
              <a:rPr lang="en-US" sz="1800" dirty="0">
                <a:solidFill>
                  <a:srgbClr val="1F1F1F"/>
                </a:solidFill>
              </a:rPr>
              <a:t>rostaglandins, </a:t>
            </a:r>
            <a:r>
              <a:rPr lang="en-US" sz="1800" b="1" dirty="0">
                <a:solidFill>
                  <a:srgbClr val="1F1F1F"/>
                </a:solidFill>
              </a:rPr>
              <a:t>B</a:t>
            </a:r>
            <a:r>
              <a:rPr lang="en-US" sz="1800" dirty="0">
                <a:solidFill>
                  <a:srgbClr val="1F1F1F"/>
                </a:solidFill>
              </a:rPr>
              <a:t>radykinin, </a:t>
            </a:r>
            <a:r>
              <a:rPr lang="en-US" sz="1800" b="1" dirty="0">
                <a:solidFill>
                  <a:srgbClr val="1F1F1F"/>
                </a:solidFill>
              </a:rPr>
              <a:t>H</a:t>
            </a:r>
            <a:r>
              <a:rPr lang="en-US" sz="1800" dirty="0">
                <a:solidFill>
                  <a:srgbClr val="1F1F1F"/>
                </a:solidFill>
              </a:rPr>
              <a:t>istamine, </a:t>
            </a:r>
            <a:r>
              <a:rPr lang="en-US" sz="1800" b="1" dirty="0">
                <a:solidFill>
                  <a:srgbClr val="1F1F1F"/>
                </a:solidFill>
              </a:rPr>
              <a:t>C</a:t>
            </a:r>
            <a:r>
              <a:rPr lang="en-US" sz="1800" dirty="0">
                <a:solidFill>
                  <a:srgbClr val="1F1F1F"/>
                </a:solidFill>
              </a:rPr>
              <a:t>ytokines (TNF-α, IL-1, IL-6).</a:t>
            </a:r>
            <a:r>
              <a:rPr lang="en-US" sz="1300" dirty="0">
                <a:solidFill>
                  <a:srgbClr val="666666"/>
                </a:solidFill>
              </a:rPr>
              <a:t>  S6; SG U2-R1</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MUSCULOSKELETAL PAIN &amp; THE INFLAMMATORY CASCADE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IO2.1</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19</a:t>
            </a:r>
            <a:endParaRPr lang="en-US" sz="1000" dirty="0"/>
          </a:p>
        </p:txBody>
      </p:sp>
      <p:sp>
        <p:nvSpPr>
          <p:cNvPr id="7" name="If you remember nothing else card"/>
          <p:cNvSpPr/>
          <p:nvPr/>
        </p:nvSpPr>
        <p:spPr>
          <a:xfrm>
            <a:off x="548640" y="1325880"/>
            <a:ext cx="11094415" cy="2884932"/>
          </a:xfrm>
          <a:prstGeom prst="roundRect">
            <a:avLst>
              <a:gd name="adj" fmla="val 3803"/>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201625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Injury → mediators → nociceptor sensitization → pain.</a:t>
            </a:r>
            <a:r>
              <a:rPr lang="en-US" sz="1300" dirty="0">
                <a:solidFill>
                  <a:srgbClr val="666666"/>
                </a:solidFill>
              </a:rPr>
              <a:t>  S6</a:t>
            </a:r>
            <a:endParaRPr lang="en-US" sz="1800" dirty="0"/>
          </a:p>
          <a:p>
            <a:pPr marL="228600" indent="-228600">
              <a:spcAft>
                <a:spcPts val="800"/>
              </a:spcAft>
              <a:buSzPct val="100000"/>
              <a:buChar char="•"/>
            </a:pPr>
            <a:r>
              <a:rPr lang="en-US" sz="1800" dirty="0">
                <a:solidFill>
                  <a:srgbClr val="1F1F1F"/>
                </a:solidFill>
              </a:rPr>
              <a:t>Musculoskeletal pain is driven by inflammatory mediators (prostaglandins, bradykinin, histamine, cytokines) — NSAIDs and corticosteroids intervene at different points along this cascade.</a:t>
            </a:r>
            <a:r>
              <a:rPr lang="en-US" sz="1300" dirty="0">
                <a:solidFill>
                  <a:srgbClr val="666666"/>
                </a:solidFill>
              </a:rPr>
              <a:t>  S61; S6; SG U2-R1</a:t>
            </a:r>
            <a:endParaRPr lang="en-US" sz="1800" dirty="0"/>
          </a:p>
          <a:p>
            <a:pPr marL="228600" indent="-228600">
              <a:spcAft>
                <a:spcPts val="800"/>
              </a:spcAft>
              <a:buSzPct val="100000"/>
              <a:buChar char="•"/>
            </a:pPr>
            <a:r>
              <a:rPr lang="en-US" sz="1800" dirty="0">
                <a:solidFill>
                  <a:srgbClr val="1F1F1F"/>
                </a:solidFill>
              </a:rPr>
              <a:t>Corticosteroids = phospholipase A₂ (broad); NSAIDs = COX (prostaglandins).</a:t>
            </a:r>
            <a:r>
              <a:rPr lang="en-US" sz="1300" dirty="0">
                <a:solidFill>
                  <a:srgbClr val="666666"/>
                </a:solidFill>
              </a:rPr>
              <a:t>  S9; SG U2-R2</a:t>
            </a:r>
            <a:endParaRPr lang="en-US" sz="1800" dirty="0"/>
          </a:p>
          <a:p>
            <a:pPr marL="228600" indent="-228600">
              <a:spcAft>
                <a:spcPts val="800"/>
              </a:spcAft>
              <a:buSzPct val="100000"/>
              <a:buChar char="•"/>
            </a:pPr>
            <a:r>
              <a:rPr lang="en-US" sz="1800" dirty="0">
                <a:solidFill>
                  <a:srgbClr val="1F1F1F"/>
                </a:solidFill>
              </a:rPr>
              <a:t>Prostaglandins drive inflammatory pain, and COX makes them.</a:t>
            </a:r>
            <a:r>
              <a:rPr lang="en-US" sz="1300" dirty="0">
                <a:solidFill>
                  <a:srgbClr val="666666"/>
                </a:solidFill>
              </a:rPr>
              <a:t>  S61 (notes)</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S10-11</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IO2.1</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20</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In Figure 1, corticosteroids block the pathway at the “membrane phospholipids → arachidonic acid” step, while NSAIDs act one step later. What does this positioning explain?</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NSAIDs act upstream of corticosteroids, so NSAIDs are broader</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Corticosteroids act upstream, so they suppress a broader range of mediators</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Corticosteroids and NSAIDs both block the exact same COX enzyme</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Corticosteroids act only on histamine, so their effect is narrower</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Neither drug class affects the arachidonic acid pathway at all</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IO2.1</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21</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Corticosteroids act upstream, so they suppress a broader range of mediators</a:t>
            </a:r>
            <a:endParaRPr lang="en-US" sz="1600" dirty="0"/>
          </a:p>
        </p:txBody>
      </p:sp>
      <p:sp>
        <p:nvSpPr>
          <p:cNvPr id="10" name="Why correct"/>
          <p:cNvSpPr txBox="1"/>
          <p:nvPr/>
        </p:nvSpPr>
        <p:spPr>
          <a:xfrm>
            <a:off x="777240" y="2011680"/>
            <a:ext cx="10637215" cy="972312"/>
          </a:xfrm>
          <a:prstGeom prst="rect">
            <a:avLst/>
          </a:prstGeom>
          <a:noFill/>
          <a:ln/>
        </p:spPr>
        <p:txBody>
          <a:bodyPr wrap="square" lIns="0" tIns="0" rIns="0" bIns="0" rtlCol="0" anchor="t"/>
          <a:lstStyle/>
          <a:p>
            <a:pPr indent="0" marL="0">
              <a:buNone/>
            </a:pPr>
            <a:r>
              <a:rPr lang="en-US" sz="1600" dirty="0">
                <a:solidFill>
                  <a:srgbClr val="1F1F1F"/>
                </a:solidFill>
              </a:rPr>
              <a:t>By inhibiting phospholipase A₂, corticosteroids block the release of arachidonic acid itself — upstream of COX — so they suppress a broader range of inflammatory mediators than NSAIDs, which act only at the COX step (S11; SG U2-R2).</a:t>
            </a:r>
            <a:r>
              <a:rPr lang="en-US" sz="1100" dirty="0">
                <a:solidFill>
                  <a:srgbClr val="666666"/>
                </a:solidFill>
              </a:rPr>
              <a:t>  S9; S11; SG U2-R2</a:t>
            </a:r>
            <a:endParaRPr lang="en-US" sz="1600" dirty="0"/>
          </a:p>
        </p:txBody>
      </p:sp>
      <p:sp>
        <p:nvSpPr>
          <p:cNvPr id="11" name="Why others wrong card"/>
          <p:cNvSpPr/>
          <p:nvPr/>
        </p:nvSpPr>
        <p:spPr>
          <a:xfrm>
            <a:off x="548640" y="3121152"/>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3230880"/>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NSAIDs act upstream of corticosteroids, so NSAIDs are broader — </a:t>
            </a:r>
            <a:r>
              <a:rPr lang="en-US" sz="1600" dirty="0">
                <a:solidFill>
                  <a:srgbClr val="1F1F1F"/>
                </a:solidFill>
              </a:rPr>
              <a:t>Reversed: corticosteroids act upstream (S9; S11).</a:t>
            </a:r>
            <a:endParaRPr lang="en-US" sz="1600" dirty="0"/>
          </a:p>
          <a:p>
            <a:pPr indent="0" marL="0">
              <a:buNone/>
            </a:pPr>
            <a:r>
              <a:rPr lang="en-US" sz="1600" b="1" dirty="0">
                <a:solidFill>
                  <a:srgbClr val="1F1F1F"/>
                </a:solidFill>
              </a:rPr>
              <a:t>C. Corticosteroids and NSAIDs both block the exact same COX enzyme — </a:t>
            </a:r>
            <a:r>
              <a:rPr lang="en-US" sz="1600" dirty="0">
                <a:solidFill>
                  <a:srgbClr val="1F1F1F"/>
                </a:solidFill>
              </a:rPr>
              <a:t>They act at different steps: phospholipase A₂ vs. COX (S9).</a:t>
            </a:r>
            <a:endParaRPr lang="en-US" sz="1600" dirty="0"/>
          </a:p>
          <a:p>
            <a:pPr indent="0" marL="0">
              <a:buNone/>
            </a:pPr>
            <a:r>
              <a:rPr lang="en-US" sz="1600" b="1" dirty="0">
                <a:solidFill>
                  <a:srgbClr val="1F1F1F"/>
                </a:solidFill>
              </a:rPr>
              <a:t>D. Corticosteroids act only on histamine, so their effect is narrower — </a:t>
            </a:r>
            <a:r>
              <a:rPr lang="en-US" sz="1600" dirty="0">
                <a:solidFill>
                  <a:srgbClr val="1F1F1F"/>
                </a:solidFill>
              </a:rPr>
              <a:t>They block arachidonic acid release, a broad effect (S11).</a:t>
            </a:r>
            <a:endParaRPr lang="en-US" sz="1600" dirty="0"/>
          </a:p>
          <a:p>
            <a:pPr indent="0" marL="0">
              <a:buNone/>
            </a:pPr>
            <a:r>
              <a:rPr lang="en-US" sz="1600" b="1" dirty="0">
                <a:solidFill>
                  <a:srgbClr val="1F1F1F"/>
                </a:solidFill>
              </a:rPr>
              <a:t>E. Neither drug class affects the arachidonic acid pathway at all — </a:t>
            </a:r>
            <a:r>
              <a:rPr lang="en-US" sz="1600" dirty="0">
                <a:solidFill>
                  <a:srgbClr val="1F1F1F"/>
                </a:solidFill>
              </a:rPr>
              <a:t>Both act on it, at different steps (S9).</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S12-13</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IO2.1</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22</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Which mediator is the primary target of NSAID therapy within the inflammatory pain pathway?</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Bradykinin release</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Histamine release</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Cytokines (TNF-α, IL-1, IL-6)</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Glutathione stores</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Prostaglandins (made by COX)</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IO2.1</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23</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Prostaglandins (made by COX)</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NSAIDs inhibit COX enzymes, directly reducing prostaglandin synthesis. Histamine, bradykinin, and cytokines are important mediators too, but they are not the primary target of the NSAID mechanism (S13).</a:t>
            </a:r>
            <a:r>
              <a:rPr lang="en-US" sz="1100" dirty="0">
                <a:solidFill>
                  <a:srgbClr val="666666"/>
                </a:solidFill>
              </a:rPr>
              <a:t>  S12-13; S7 (notes); SG U2-R1</a:t>
            </a:r>
            <a:endParaRPr lang="en-US" sz="1600" dirty="0"/>
          </a:p>
        </p:txBody>
      </p:sp>
      <p:sp>
        <p:nvSpPr>
          <p:cNvPr id="11" name="Why others wrong card"/>
          <p:cNvSpPr/>
          <p:nvPr/>
        </p:nvSpPr>
        <p:spPr>
          <a:xfrm>
            <a:off x="548640" y="2873248"/>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982976"/>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Bradykinin release — </a:t>
            </a:r>
            <a:r>
              <a:rPr lang="en-US" sz="1600" dirty="0">
                <a:solidFill>
                  <a:srgbClr val="1F1F1F"/>
                </a:solidFill>
              </a:rPr>
              <a:t>An inflammatory mediator, but not blocked by NSAIDs (S7 notes; S13).</a:t>
            </a:r>
            <a:endParaRPr lang="en-US" sz="1600" dirty="0"/>
          </a:p>
          <a:p>
            <a:pPr indent="0" marL="0">
              <a:buNone/>
            </a:pPr>
            <a:r>
              <a:rPr lang="en-US" sz="1600" b="1" dirty="0">
                <a:solidFill>
                  <a:srgbClr val="1F1F1F"/>
                </a:solidFill>
              </a:rPr>
              <a:t>B. Histamine release — </a:t>
            </a:r>
            <a:r>
              <a:rPr lang="en-US" sz="1600" dirty="0">
                <a:solidFill>
                  <a:srgbClr val="1F1F1F"/>
                </a:solidFill>
              </a:rPr>
              <a:t>An inflammatory mediator, but not blocked by NSAIDs (S7 notes; S13).</a:t>
            </a:r>
            <a:endParaRPr lang="en-US" sz="1600" dirty="0"/>
          </a:p>
          <a:p>
            <a:pPr indent="0" marL="0">
              <a:buNone/>
            </a:pPr>
            <a:r>
              <a:rPr lang="en-US" sz="1600" b="1" dirty="0">
                <a:solidFill>
                  <a:srgbClr val="1F1F1F"/>
                </a:solidFill>
              </a:rPr>
              <a:t>C. Cytokines (TNF-α, IL-1, IL-6) — </a:t>
            </a:r>
            <a:r>
              <a:rPr lang="en-US" sz="1600" dirty="0">
                <a:solidFill>
                  <a:srgbClr val="1F1F1F"/>
                </a:solidFill>
              </a:rPr>
              <a:t>Cytokines are targeted by biologic DMARDs, not NSAIDs (S6 notes; S13).</a:t>
            </a:r>
            <a:endParaRPr lang="en-US" sz="1600" dirty="0"/>
          </a:p>
          <a:p>
            <a:pPr indent="0" marL="0">
              <a:buNone/>
            </a:pPr>
            <a:r>
              <a:rPr lang="en-US" sz="1600" b="1" dirty="0">
                <a:solidFill>
                  <a:srgbClr val="1F1F1F"/>
                </a:solidFill>
              </a:rPr>
              <a:t>D. Glutathione stores — </a:t>
            </a:r>
            <a:r>
              <a:rPr lang="en-US" sz="1600" dirty="0">
                <a:solidFill>
                  <a:srgbClr val="1F1F1F"/>
                </a:solidFill>
              </a:rPr>
              <a:t>Glutathione detoxifies NAPQI; it is not a pain mediator (S16).</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Drug class 2 of 4</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Acetaminophen</a:t>
            </a:r>
            <a:endParaRPr lang="en-US" sz="44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SO2 · SO5 · IO2.1 · IO2.2 · IO2.6</a:t>
            </a:r>
            <a:endParaRPr lang="en-US" sz="1800" dirty="0"/>
          </a:p>
        </p:txBody>
      </p:sp>
      <p:sp>
        <p:nvSpPr>
          <p:cNvPr id="5" name="Shape 3"/>
          <p:cNvSpPr/>
          <p:nvPr/>
        </p:nvSpPr>
        <p:spPr>
          <a:xfrm>
            <a:off x="783321"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938769" y="4453128"/>
            <a:ext cx="329184" cy="329184"/>
          </a:xfrm>
          <a:prstGeom prst="rect">
            <a:avLst/>
          </a:prstGeom>
        </p:spPr>
      </p:pic>
      <p:sp>
        <p:nvSpPr>
          <p:cNvPr id="7" name="Text 4"/>
          <p:cNvSpPr txBox="1"/>
          <p:nvPr/>
        </p:nvSpPr>
        <p:spPr>
          <a:xfrm>
            <a:off x="594360" y="5029200"/>
            <a:ext cx="1018002" cy="640080"/>
          </a:xfrm>
          <a:prstGeom prst="rect">
            <a:avLst/>
          </a:prstGeom>
          <a:noFill/>
          <a:ln/>
        </p:spPr>
        <p:txBody>
          <a:bodyPr wrap="square" lIns="0" tIns="0" rIns="0" bIns="0" rtlCol="0" anchor="t"/>
          <a:lstStyle/>
          <a:p>
            <a:pPr algn="ctr" indent="0" marL="0">
              <a:buNone/>
            </a:pPr>
            <a:r>
              <a:rPr lang="en-US" sz="1000" dirty="0">
                <a:solidFill>
                  <a:srgbClr val="FFFFFF"/>
                </a:solidFill>
              </a:rPr>
              <a:t>Class</a:t>
            </a:r>
            <a:endParaRPr lang="en-US" sz="1000" dirty="0"/>
          </a:p>
        </p:txBody>
      </p:sp>
      <p:sp>
        <p:nvSpPr>
          <p:cNvPr id="8" name="Shape 5"/>
          <p:cNvSpPr/>
          <p:nvPr/>
        </p:nvSpPr>
        <p:spPr>
          <a:xfrm>
            <a:off x="1892762" y="4297680"/>
            <a:ext cx="640080" cy="640080"/>
          </a:xfrm>
          <a:prstGeom prst="ellipse">
            <a:avLst/>
          </a:prstGeom>
          <a:solidFill>
            <a:srgbClr val="4472C4"/>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2048210" y="4453128"/>
            <a:ext cx="329184" cy="329184"/>
          </a:xfrm>
          <a:prstGeom prst="rect">
            <a:avLst/>
          </a:prstGeom>
        </p:spPr>
      </p:pic>
      <p:sp>
        <p:nvSpPr>
          <p:cNvPr id="10" name="Text 6"/>
          <p:cNvSpPr txBox="1"/>
          <p:nvPr/>
        </p:nvSpPr>
        <p:spPr>
          <a:xfrm>
            <a:off x="1703802" y="5029200"/>
            <a:ext cx="1018002" cy="640080"/>
          </a:xfrm>
          <a:prstGeom prst="rect">
            <a:avLst/>
          </a:prstGeom>
          <a:noFill/>
          <a:ln/>
        </p:spPr>
        <p:txBody>
          <a:bodyPr wrap="square" lIns="0" tIns="0" rIns="0" bIns="0" rtlCol="0" anchor="t"/>
          <a:lstStyle/>
          <a:p>
            <a:pPr algn="ctr" indent="0" marL="0">
              <a:buNone/>
            </a:pPr>
            <a:r>
              <a:rPr lang="en-US" sz="1000" dirty="0">
                <a:solidFill>
                  <a:srgbClr val="FFFFFF"/>
                </a:solidFill>
              </a:rPr>
              <a:t>Prototype</a:t>
            </a:r>
            <a:endParaRPr lang="en-US" sz="1000" dirty="0"/>
          </a:p>
        </p:txBody>
      </p:sp>
      <p:sp>
        <p:nvSpPr>
          <p:cNvPr id="11" name="Shape 7"/>
          <p:cNvSpPr/>
          <p:nvPr/>
        </p:nvSpPr>
        <p:spPr>
          <a:xfrm>
            <a:off x="3002204" y="4297680"/>
            <a:ext cx="640080" cy="640080"/>
          </a:xfrm>
          <a:prstGeom prst="ellipse">
            <a:avLst/>
          </a:prstGeom>
          <a:solidFill>
            <a:srgbClr val="7030A0"/>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3157652" y="4453128"/>
            <a:ext cx="329184" cy="329184"/>
          </a:xfrm>
          <a:prstGeom prst="rect">
            <a:avLst/>
          </a:prstGeom>
        </p:spPr>
      </p:pic>
      <p:sp>
        <p:nvSpPr>
          <p:cNvPr id="13" name="Text 8"/>
          <p:cNvSpPr txBox="1"/>
          <p:nvPr/>
        </p:nvSpPr>
        <p:spPr>
          <a:xfrm>
            <a:off x="2813243" y="5029200"/>
            <a:ext cx="1018002" cy="640080"/>
          </a:xfrm>
          <a:prstGeom prst="rect">
            <a:avLst/>
          </a:prstGeom>
          <a:noFill/>
          <a:ln/>
        </p:spPr>
        <p:txBody>
          <a:bodyPr wrap="square" lIns="0" tIns="0" rIns="0" bIns="0" rtlCol="0" anchor="t"/>
          <a:lstStyle/>
          <a:p>
            <a:pPr algn="ctr" indent="0" marL="0">
              <a:buNone/>
            </a:pPr>
            <a:r>
              <a:rPr lang="en-US" sz="1000" dirty="0">
                <a:solidFill>
                  <a:srgbClr val="FFFFFF"/>
                </a:solidFill>
              </a:rPr>
              <a:t>Mechanism of action</a:t>
            </a:r>
            <a:endParaRPr lang="en-US" sz="1000" dirty="0"/>
          </a:p>
        </p:txBody>
      </p:sp>
      <p:sp>
        <p:nvSpPr>
          <p:cNvPr id="14" name="Shape 9"/>
          <p:cNvSpPr/>
          <p:nvPr/>
        </p:nvSpPr>
        <p:spPr>
          <a:xfrm>
            <a:off x="4111645" y="4297680"/>
            <a:ext cx="640080" cy="640080"/>
          </a:xfrm>
          <a:prstGeom prst="ellipse">
            <a:avLst/>
          </a:prstGeom>
          <a:solidFill>
            <a:srgbClr val="548235"/>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4267093" y="4453128"/>
            <a:ext cx="329184" cy="329184"/>
          </a:xfrm>
          <a:prstGeom prst="rect">
            <a:avLst/>
          </a:prstGeom>
        </p:spPr>
      </p:pic>
      <p:sp>
        <p:nvSpPr>
          <p:cNvPr id="16" name="Text 10"/>
          <p:cNvSpPr txBox="1"/>
          <p:nvPr/>
        </p:nvSpPr>
        <p:spPr>
          <a:xfrm>
            <a:off x="3922685" y="5029200"/>
            <a:ext cx="1018002" cy="640080"/>
          </a:xfrm>
          <a:prstGeom prst="rect">
            <a:avLst/>
          </a:prstGeom>
          <a:noFill/>
          <a:ln/>
        </p:spPr>
        <p:txBody>
          <a:bodyPr wrap="square" lIns="0" tIns="0" rIns="0" bIns="0" rtlCol="0" anchor="t"/>
          <a:lstStyle/>
          <a:p>
            <a:pPr algn="ctr" indent="0" marL="0">
              <a:buNone/>
            </a:pPr>
            <a:r>
              <a:rPr lang="en-US" sz="1000" dirty="0">
                <a:solidFill>
                  <a:srgbClr val="FFFFFF"/>
                </a:solidFill>
              </a:rPr>
              <a:t>Indications</a:t>
            </a:r>
            <a:endParaRPr lang="en-US" sz="1000" dirty="0"/>
          </a:p>
        </p:txBody>
      </p:sp>
      <p:sp>
        <p:nvSpPr>
          <p:cNvPr id="17" name="Shape 11"/>
          <p:cNvSpPr/>
          <p:nvPr/>
        </p:nvSpPr>
        <p:spPr>
          <a:xfrm>
            <a:off x="5221087" y="4297680"/>
            <a:ext cx="640080" cy="640080"/>
          </a:xfrm>
          <a:prstGeom prst="ellipse">
            <a:avLst/>
          </a:prstGeom>
          <a:solidFill>
            <a:srgbClr val="C55A11"/>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5376535" y="4453128"/>
            <a:ext cx="329184" cy="329184"/>
          </a:xfrm>
          <a:prstGeom prst="rect">
            <a:avLst/>
          </a:prstGeom>
        </p:spPr>
      </p:pic>
      <p:sp>
        <p:nvSpPr>
          <p:cNvPr id="19" name="Text 12"/>
          <p:cNvSpPr txBox="1"/>
          <p:nvPr/>
        </p:nvSpPr>
        <p:spPr>
          <a:xfrm>
            <a:off x="5032126" y="5029200"/>
            <a:ext cx="1018002" cy="640080"/>
          </a:xfrm>
          <a:prstGeom prst="rect">
            <a:avLst/>
          </a:prstGeom>
          <a:noFill/>
          <a:ln/>
        </p:spPr>
        <p:txBody>
          <a:bodyPr wrap="square" lIns="0" tIns="0" rIns="0" bIns="0" rtlCol="0" anchor="t"/>
          <a:lstStyle/>
          <a:p>
            <a:pPr algn="ctr" indent="0" marL="0">
              <a:buNone/>
            </a:pPr>
            <a:r>
              <a:rPr lang="en-US" sz="1000" dirty="0">
                <a:solidFill>
                  <a:srgbClr val="FFFFFF"/>
                </a:solidFill>
              </a:rPr>
              <a:t>Adverse effects</a:t>
            </a:r>
            <a:endParaRPr lang="en-US" sz="1000" dirty="0"/>
          </a:p>
        </p:txBody>
      </p:sp>
      <p:sp>
        <p:nvSpPr>
          <p:cNvPr id="20" name="Shape 13"/>
          <p:cNvSpPr/>
          <p:nvPr/>
        </p:nvSpPr>
        <p:spPr>
          <a:xfrm>
            <a:off x="6330528" y="4297680"/>
            <a:ext cx="640080" cy="640080"/>
          </a:xfrm>
          <a:prstGeom prst="ellipse">
            <a:avLst/>
          </a:prstGeom>
          <a:solidFill>
            <a:srgbClr val="C00000"/>
          </a:solidFill>
          <a:ln w="19050">
            <a:solidFill>
              <a:srgbClr val="FFFFFF"/>
            </a:solidFill>
            <a:prstDash val="solid"/>
          </a:ln>
        </p:spPr>
      </p:sp>
      <p:pic>
        <p:nvPicPr>
          <p:cNvPr id="21" name="Image 5" descr="preencoded.png">    </p:cNvPr>
          <p:cNvPicPr>
            <a:picLocks noChangeAspect="1"/>
          </p:cNvPicPr>
          <p:nvPr/>
        </p:nvPicPr>
        <p:blipFill>
          <a:blip r:embed="rId6"/>
          <a:stretch>
            <a:fillRect/>
          </a:stretch>
        </p:blipFill>
        <p:spPr>
          <a:xfrm>
            <a:off x="6485976" y="4453128"/>
            <a:ext cx="329184" cy="329184"/>
          </a:xfrm>
          <a:prstGeom prst="rect">
            <a:avLst/>
          </a:prstGeom>
        </p:spPr>
      </p:pic>
      <p:sp>
        <p:nvSpPr>
          <p:cNvPr id="22" name="Text 14"/>
          <p:cNvSpPr txBox="1"/>
          <p:nvPr/>
        </p:nvSpPr>
        <p:spPr>
          <a:xfrm>
            <a:off x="6141568" y="5029200"/>
            <a:ext cx="1018002" cy="640080"/>
          </a:xfrm>
          <a:prstGeom prst="rect">
            <a:avLst/>
          </a:prstGeom>
          <a:noFill/>
          <a:ln/>
        </p:spPr>
        <p:txBody>
          <a:bodyPr wrap="square" lIns="0" tIns="0" rIns="0" bIns="0" rtlCol="0" anchor="t"/>
          <a:lstStyle/>
          <a:p>
            <a:pPr algn="ctr" indent="0" marL="0">
              <a:buNone/>
            </a:pPr>
            <a:r>
              <a:rPr lang="en-US" sz="1000" dirty="0">
                <a:solidFill>
                  <a:srgbClr val="FFFFFF"/>
                </a:solidFill>
              </a:rPr>
              <a:t>Contraindications</a:t>
            </a:r>
            <a:endParaRPr lang="en-US" sz="1000" dirty="0"/>
          </a:p>
        </p:txBody>
      </p:sp>
      <p:sp>
        <p:nvSpPr>
          <p:cNvPr id="23" name="Shape 15"/>
          <p:cNvSpPr/>
          <p:nvPr/>
        </p:nvSpPr>
        <p:spPr>
          <a:xfrm>
            <a:off x="7439970" y="4297680"/>
            <a:ext cx="640080" cy="640080"/>
          </a:xfrm>
          <a:prstGeom prst="ellipse">
            <a:avLst/>
          </a:prstGeom>
          <a:solidFill>
            <a:srgbClr val="7F6000"/>
          </a:solidFill>
          <a:ln w="19050">
            <a:solidFill>
              <a:srgbClr val="FFFFFF"/>
            </a:solidFill>
            <a:prstDash val="solid"/>
          </a:ln>
        </p:spPr>
      </p:sp>
      <p:pic>
        <p:nvPicPr>
          <p:cNvPr id="24" name="Image 6" descr="preencoded.png">    </p:cNvPr>
          <p:cNvPicPr>
            <a:picLocks noChangeAspect="1"/>
          </p:cNvPicPr>
          <p:nvPr/>
        </p:nvPicPr>
        <p:blipFill>
          <a:blip r:embed="rId7"/>
          <a:stretch>
            <a:fillRect/>
          </a:stretch>
        </p:blipFill>
        <p:spPr>
          <a:xfrm>
            <a:off x="7595418" y="4453128"/>
            <a:ext cx="329184" cy="329184"/>
          </a:xfrm>
          <a:prstGeom prst="rect">
            <a:avLst/>
          </a:prstGeom>
        </p:spPr>
      </p:pic>
      <p:sp>
        <p:nvSpPr>
          <p:cNvPr id="25" name="Text 16"/>
          <p:cNvSpPr txBox="1"/>
          <p:nvPr/>
        </p:nvSpPr>
        <p:spPr>
          <a:xfrm>
            <a:off x="7251009" y="5029200"/>
            <a:ext cx="1018002" cy="640080"/>
          </a:xfrm>
          <a:prstGeom prst="rect">
            <a:avLst/>
          </a:prstGeom>
          <a:noFill/>
          <a:ln/>
        </p:spPr>
        <p:txBody>
          <a:bodyPr wrap="square" lIns="0" tIns="0" rIns="0" bIns="0" rtlCol="0" anchor="t"/>
          <a:lstStyle/>
          <a:p>
            <a:pPr algn="ctr" indent="0" marL="0">
              <a:buNone/>
            </a:pPr>
            <a:r>
              <a:rPr lang="en-US" sz="1000" dirty="0">
                <a:solidFill>
                  <a:srgbClr val="FFFFFF"/>
                </a:solidFill>
              </a:rPr>
              <a:t>Drug interactions</a:t>
            </a:r>
            <a:endParaRPr lang="en-US" sz="1000" dirty="0"/>
          </a:p>
        </p:txBody>
      </p:sp>
      <p:sp>
        <p:nvSpPr>
          <p:cNvPr id="26" name="Shape 17"/>
          <p:cNvSpPr/>
          <p:nvPr/>
        </p:nvSpPr>
        <p:spPr>
          <a:xfrm>
            <a:off x="8549411" y="4297680"/>
            <a:ext cx="640080" cy="640080"/>
          </a:xfrm>
          <a:prstGeom prst="ellipse">
            <a:avLst/>
          </a:prstGeom>
          <a:solidFill>
            <a:srgbClr val="2E75B6"/>
          </a:solidFill>
          <a:ln w="19050">
            <a:solidFill>
              <a:srgbClr val="FFFFFF"/>
            </a:solidFill>
            <a:prstDash val="solid"/>
          </a:ln>
        </p:spPr>
      </p:sp>
      <p:pic>
        <p:nvPicPr>
          <p:cNvPr id="27" name="Image 7" descr="preencoded.png">    </p:cNvPr>
          <p:cNvPicPr>
            <a:picLocks noChangeAspect="1"/>
          </p:cNvPicPr>
          <p:nvPr/>
        </p:nvPicPr>
        <p:blipFill>
          <a:blip r:embed="rId8"/>
          <a:stretch>
            <a:fillRect/>
          </a:stretch>
        </p:blipFill>
        <p:spPr>
          <a:xfrm>
            <a:off x="8704859" y="4453128"/>
            <a:ext cx="329184" cy="329184"/>
          </a:xfrm>
          <a:prstGeom prst="rect">
            <a:avLst/>
          </a:prstGeom>
        </p:spPr>
      </p:pic>
      <p:sp>
        <p:nvSpPr>
          <p:cNvPr id="28" name="Text 18"/>
          <p:cNvSpPr txBox="1"/>
          <p:nvPr/>
        </p:nvSpPr>
        <p:spPr>
          <a:xfrm>
            <a:off x="8360451" y="5029200"/>
            <a:ext cx="1018002" cy="640080"/>
          </a:xfrm>
          <a:prstGeom prst="rect">
            <a:avLst/>
          </a:prstGeom>
          <a:noFill/>
          <a:ln/>
        </p:spPr>
        <p:txBody>
          <a:bodyPr wrap="square" lIns="0" tIns="0" rIns="0" bIns="0" rtlCol="0" anchor="t"/>
          <a:lstStyle/>
          <a:p>
            <a:pPr algn="ctr" indent="0" marL="0">
              <a:buNone/>
            </a:pPr>
            <a:r>
              <a:rPr lang="en-US" sz="1000" dirty="0">
                <a:solidFill>
                  <a:srgbClr val="FFFFFF"/>
                </a:solidFill>
              </a:rPr>
              <a:t>Pharmacokinetics</a:t>
            </a:r>
            <a:endParaRPr lang="en-US" sz="1000" dirty="0"/>
          </a:p>
        </p:txBody>
      </p:sp>
      <p:sp>
        <p:nvSpPr>
          <p:cNvPr id="29" name="Shape 19"/>
          <p:cNvSpPr/>
          <p:nvPr/>
        </p:nvSpPr>
        <p:spPr>
          <a:xfrm>
            <a:off x="9658853" y="4297680"/>
            <a:ext cx="640080" cy="640080"/>
          </a:xfrm>
          <a:prstGeom prst="ellipse">
            <a:avLst/>
          </a:prstGeom>
          <a:solidFill>
            <a:srgbClr val="1F7A7A"/>
          </a:solidFill>
          <a:ln w="19050">
            <a:solidFill>
              <a:srgbClr val="FFFFFF"/>
            </a:solidFill>
            <a:prstDash val="solid"/>
          </a:ln>
        </p:spPr>
      </p:sp>
      <p:pic>
        <p:nvPicPr>
          <p:cNvPr id="30" name="Image 8" descr="preencoded.png">    </p:cNvPr>
          <p:cNvPicPr>
            <a:picLocks noChangeAspect="1"/>
          </p:cNvPicPr>
          <p:nvPr/>
        </p:nvPicPr>
        <p:blipFill>
          <a:blip r:embed="rId9"/>
          <a:stretch>
            <a:fillRect/>
          </a:stretch>
        </p:blipFill>
        <p:spPr>
          <a:xfrm>
            <a:off x="9814301" y="4453128"/>
            <a:ext cx="329184" cy="329184"/>
          </a:xfrm>
          <a:prstGeom prst="rect">
            <a:avLst/>
          </a:prstGeom>
        </p:spPr>
      </p:pic>
      <p:sp>
        <p:nvSpPr>
          <p:cNvPr id="31" name="Text 20"/>
          <p:cNvSpPr txBox="1"/>
          <p:nvPr/>
        </p:nvSpPr>
        <p:spPr>
          <a:xfrm>
            <a:off x="9469892" y="5029200"/>
            <a:ext cx="1018002" cy="640080"/>
          </a:xfrm>
          <a:prstGeom prst="rect">
            <a:avLst/>
          </a:prstGeom>
          <a:noFill/>
          <a:ln/>
        </p:spPr>
        <p:txBody>
          <a:bodyPr wrap="square" lIns="0" tIns="0" rIns="0" bIns="0" rtlCol="0" anchor="t"/>
          <a:lstStyle/>
          <a:p>
            <a:pPr algn="ctr" indent="0" marL="0">
              <a:buNone/>
            </a:pPr>
            <a:r>
              <a:rPr lang="en-US" sz="1000" dirty="0">
                <a:solidFill>
                  <a:srgbClr val="FFFFFF"/>
                </a:solidFill>
              </a:rPr>
              <a:t>Monitoring</a:t>
            </a:r>
            <a:endParaRPr lang="en-US" sz="1000" dirty="0"/>
          </a:p>
        </p:txBody>
      </p:sp>
      <p:sp>
        <p:nvSpPr>
          <p:cNvPr id="32" name="Shape 21"/>
          <p:cNvSpPr/>
          <p:nvPr/>
        </p:nvSpPr>
        <p:spPr>
          <a:xfrm>
            <a:off x="10768294" y="4297680"/>
            <a:ext cx="640080" cy="640080"/>
          </a:xfrm>
          <a:prstGeom prst="ellipse">
            <a:avLst/>
          </a:prstGeom>
          <a:solidFill>
            <a:srgbClr val="2E75B6"/>
          </a:solidFill>
          <a:ln w="19050">
            <a:solidFill>
              <a:srgbClr val="FFFFFF"/>
            </a:solidFill>
            <a:prstDash val="solid"/>
          </a:ln>
        </p:spPr>
      </p:sp>
      <p:pic>
        <p:nvPicPr>
          <p:cNvPr id="33" name="Image 9" descr="preencoded.png">    </p:cNvPr>
          <p:cNvPicPr>
            <a:picLocks noChangeAspect="1"/>
          </p:cNvPicPr>
          <p:nvPr/>
        </p:nvPicPr>
        <p:blipFill>
          <a:blip r:embed="rId10"/>
          <a:stretch>
            <a:fillRect/>
          </a:stretch>
        </p:blipFill>
        <p:spPr>
          <a:xfrm>
            <a:off x="10923742" y="4453128"/>
            <a:ext cx="329184" cy="329184"/>
          </a:xfrm>
          <a:prstGeom prst="rect">
            <a:avLst/>
          </a:prstGeom>
        </p:spPr>
      </p:pic>
      <p:sp>
        <p:nvSpPr>
          <p:cNvPr id="34" name="Text 22"/>
          <p:cNvSpPr txBox="1"/>
          <p:nvPr/>
        </p:nvSpPr>
        <p:spPr>
          <a:xfrm>
            <a:off x="10579334" y="5029200"/>
            <a:ext cx="1018002" cy="640080"/>
          </a:xfrm>
          <a:prstGeom prst="rect">
            <a:avLst/>
          </a:prstGeom>
          <a:noFill/>
          <a:ln/>
        </p:spPr>
        <p:txBody>
          <a:bodyPr wrap="square" lIns="0" tIns="0" rIns="0" bIns="0" rtlCol="0" anchor="t"/>
          <a:lstStyle/>
          <a:p>
            <a:pPr algn="ctr" indent="0" marL="0">
              <a:buNone/>
            </a:pPr>
            <a:r>
              <a:rPr lang="en-US" sz="1000" dirty="0">
                <a:solidFill>
                  <a:srgbClr val="FFFFFF"/>
                </a:solidFill>
              </a:rPr>
              <a:t>Clinical pearls</a:t>
            </a:r>
            <a:endParaRPr lang="en-US" sz="1000" dirty="0"/>
          </a:p>
        </p:txBody>
      </p:sp>
      <p:sp>
        <p:nvSpPr>
          <p:cNvPr id="35" name="Text 2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ACETAMINOPHEN</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Class · Prototype + other drugs named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100" b="1" dirty="0">
                <a:solidFill>
                  <a:srgbClr val="2F4F8A"/>
                </a:solidFill>
              </a:rPr>
              <a:t>Objectives: SO2 · SO5 · IO2.1 · IO2.2 · IO2.6</a:t>
            </a:r>
            <a:endParaRPr lang="en-US" sz="11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25</a:t>
            </a:r>
            <a:endParaRPr lang="en-US" sz="1000" dirty="0"/>
          </a:p>
        </p:txBody>
      </p:sp>
      <p:sp>
        <p:nvSpPr>
          <p:cNvPr id="7" name="Class card"/>
          <p:cNvSpPr/>
          <p:nvPr/>
        </p:nvSpPr>
        <p:spPr>
          <a:xfrm>
            <a:off x="548640" y="1325880"/>
            <a:ext cx="5410048" cy="2944368"/>
          </a:xfrm>
          <a:prstGeom prst="roundRect">
            <a:avLst>
              <a:gd name="adj" fmla="val 3727"/>
            </a:avLst>
          </a:prstGeom>
          <a:solidFill>
            <a:srgbClr val="F2F4F7"/>
          </a:solidFill>
          <a:ln w="12700">
            <a:solidFill>
              <a:srgbClr val="F2F4F7"/>
            </a:solidFill>
            <a:prstDash val="solid"/>
          </a:ln>
        </p:spPr>
      </p:sp>
      <p:sp>
        <p:nvSpPr>
          <p:cNvPr id="8" name="Clas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Clas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as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44546A"/>
                </a:solidFill>
              </a:rPr>
              <a:t>Class</a:t>
            </a:r>
            <a:endParaRPr lang="en-US" sz="1800" dirty="0"/>
          </a:p>
        </p:txBody>
      </p:sp>
      <p:sp>
        <p:nvSpPr>
          <p:cNvPr id="11" name="Class body"/>
          <p:cNvSpPr txBox="1"/>
          <p:nvPr/>
        </p:nvSpPr>
        <p:spPr>
          <a:xfrm>
            <a:off x="777240" y="2075688"/>
            <a:ext cx="4952848" cy="207568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Effective analgesia, with a narrow margin in overdose: treats pain and fever well, but is </a:t>
            </a:r>
            <a:r>
              <a:rPr lang="en-US" sz="1800" b="1" dirty="0">
                <a:solidFill>
                  <a:srgbClr val="1F1F1F"/>
                </a:solidFill>
              </a:rPr>
              <a:t>not an anti-inflammatory drug</a:t>
            </a:r>
            <a:r>
              <a:rPr lang="en-US" sz="1800" dirty="0">
                <a:solidFill>
                  <a:srgbClr val="1F1F1F"/>
                </a:solidFill>
              </a:rPr>
              <a:t> the way NSAIDs are.</a:t>
            </a:r>
            <a:r>
              <a:rPr lang="en-US" sz="1300" dirty="0">
                <a:solidFill>
                  <a:srgbClr val="666666"/>
                </a:solidFill>
              </a:rPr>
              <a:t>  S14; S15 (notes)</a:t>
            </a:r>
            <a:endParaRPr lang="en-US" sz="1800" dirty="0"/>
          </a:p>
          <a:p>
            <a:pPr marL="228600" indent="-228600">
              <a:spcAft>
                <a:spcPts val="800"/>
              </a:spcAft>
              <a:buSzPct val="100000"/>
              <a:buChar char="•"/>
            </a:pPr>
            <a:r>
              <a:rPr lang="en-US" sz="1800" dirty="0">
                <a:solidFill>
                  <a:srgbClr val="1F1F1F"/>
                </a:solidFill>
              </a:rPr>
              <a:t>Acetaminophen leaves inflammation alone; NSAIDs go after it directly.</a:t>
            </a:r>
            <a:r>
              <a:rPr lang="en-US" sz="1300" dirty="0">
                <a:solidFill>
                  <a:srgbClr val="666666"/>
                </a:solidFill>
              </a:rPr>
              <a:t>  S22 (notes)</a:t>
            </a:r>
            <a:endParaRPr lang="en-US" sz="1800" dirty="0"/>
          </a:p>
        </p:txBody>
      </p:sp>
      <p:sp>
        <p:nvSpPr>
          <p:cNvPr id="12" name="Prototype + other drugs named card"/>
          <p:cNvSpPr/>
          <p:nvPr/>
        </p:nvSpPr>
        <p:spPr>
          <a:xfrm>
            <a:off x="6233008" y="1325880"/>
            <a:ext cx="5410048" cy="2944368"/>
          </a:xfrm>
          <a:prstGeom prst="roundRect">
            <a:avLst>
              <a:gd name="adj" fmla="val 3727"/>
            </a:avLst>
          </a:prstGeom>
          <a:solidFill>
            <a:srgbClr val="F2F4F7"/>
          </a:solidFill>
          <a:ln w="12700">
            <a:solidFill>
              <a:srgbClr val="F2F4F7"/>
            </a:solidFill>
            <a:prstDash val="solid"/>
          </a:ln>
        </p:spPr>
      </p:sp>
      <p:sp>
        <p:nvSpPr>
          <p:cNvPr id="13" name="Prototype + other drugs named icon circle"/>
          <p:cNvSpPr/>
          <p:nvPr/>
        </p:nvSpPr>
        <p:spPr>
          <a:xfrm>
            <a:off x="6461608" y="1508760"/>
            <a:ext cx="438912" cy="438912"/>
          </a:xfrm>
          <a:prstGeom prst="ellipse">
            <a:avLst/>
          </a:prstGeom>
          <a:solidFill>
            <a:srgbClr val="4472C4"/>
          </a:solidFill>
          <a:ln w="12700">
            <a:solidFill>
              <a:srgbClr val="4472C4"/>
            </a:solidFill>
            <a:prstDash val="solid"/>
          </a:ln>
        </p:spPr>
      </p:sp>
      <p:pic>
        <p:nvPicPr>
          <p:cNvPr id="14" name="Prototype + other drugs named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Prototype + other drugs named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4472C4"/>
                </a:solidFill>
              </a:rPr>
              <a:t>Prototype + other drugs named</a:t>
            </a:r>
            <a:endParaRPr lang="en-US" sz="1800" dirty="0"/>
          </a:p>
        </p:txBody>
      </p:sp>
      <p:sp>
        <p:nvSpPr>
          <p:cNvPr id="16" name="Prototype + other drugs named body"/>
          <p:cNvSpPr txBox="1"/>
          <p:nvPr/>
        </p:nvSpPr>
        <p:spPr>
          <a:xfrm>
            <a:off x="6461608" y="2075688"/>
            <a:ext cx="4952848" cy="207568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Acetaminophen (the lecture’s single non-NSAID analgesic).</a:t>
            </a:r>
            <a:r>
              <a:rPr lang="en-US" sz="1300" dirty="0">
                <a:solidFill>
                  <a:srgbClr val="666666"/>
                </a:solidFill>
              </a:rPr>
              <a:t>  S15</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ACETAMINOPHEN</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Mechanism of action</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100" b="1" dirty="0">
                <a:solidFill>
                  <a:srgbClr val="2F4F8A"/>
                </a:solidFill>
              </a:rPr>
              <a:t>Objectives: SO2 · SO5 · IO2.1 · IO2.2 · IO2.6</a:t>
            </a:r>
            <a:endParaRPr lang="en-US" sz="11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26</a:t>
            </a:r>
            <a:endParaRPr lang="en-US" sz="1000" dirty="0"/>
          </a:p>
        </p:txBody>
      </p:sp>
      <p:sp>
        <p:nvSpPr>
          <p:cNvPr id="7" name="Mechanism of action card"/>
          <p:cNvSpPr/>
          <p:nvPr/>
        </p:nvSpPr>
        <p:spPr>
          <a:xfrm>
            <a:off x="548640" y="1325880"/>
            <a:ext cx="11094415" cy="4110228"/>
          </a:xfrm>
          <a:prstGeom prst="roundRect">
            <a:avLst>
              <a:gd name="adj" fmla="val 2670"/>
            </a:avLst>
          </a:prstGeom>
          <a:solidFill>
            <a:srgbClr val="F2F4F7"/>
          </a:solidFill>
          <a:ln w="12700">
            <a:solidFill>
              <a:srgbClr val="F2F4F7"/>
            </a:solidFill>
            <a:prstDash val="solid"/>
          </a:ln>
        </p:spPr>
      </p:sp>
      <p:sp>
        <p:nvSpPr>
          <p:cNvPr id="8" name="Mechanism of action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Mechanism of action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Mechanism of action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Mechanism of action</a:t>
            </a:r>
            <a:endParaRPr lang="en-US" sz="1800" dirty="0"/>
          </a:p>
        </p:txBody>
      </p:sp>
      <p:sp>
        <p:nvSpPr>
          <p:cNvPr id="11" name="Mechanism of action body"/>
          <p:cNvSpPr txBox="1"/>
          <p:nvPr/>
        </p:nvSpPr>
        <p:spPr>
          <a:xfrm>
            <a:off x="777240" y="2075688"/>
            <a:ext cx="10637215" cy="3241548"/>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Analgesic effect:</a:t>
            </a:r>
            <a:r>
              <a:rPr lang="en-US" sz="1800" dirty="0">
                <a:solidFill>
                  <a:srgbClr val="1F1F1F"/>
                </a:solidFill>
              </a:rPr>
              <a:t> relieves mild-to-moderate pain, with a central mechanism that is still incompletely understood.</a:t>
            </a:r>
            <a:r>
              <a:rPr lang="en-US" sz="1300" dirty="0">
                <a:solidFill>
                  <a:srgbClr val="666666"/>
                </a:solidFill>
              </a:rPr>
              <a:t>  S15</a:t>
            </a:r>
            <a:endParaRPr lang="en-US" sz="1800" dirty="0"/>
          </a:p>
          <a:p>
            <a:pPr marL="228600" indent="-228600">
              <a:spcAft>
                <a:spcPts val="800"/>
              </a:spcAft>
              <a:buSzPct val="100000"/>
              <a:buChar char="•"/>
            </a:pPr>
            <a:r>
              <a:rPr lang="en-US" sz="1800" b="1" dirty="0">
                <a:solidFill>
                  <a:srgbClr val="1F1F1F"/>
                </a:solidFill>
              </a:rPr>
              <a:t>Antipyretic effect:</a:t>
            </a:r>
            <a:r>
              <a:rPr lang="en-US" sz="1800" dirty="0">
                <a:solidFill>
                  <a:srgbClr val="1F1F1F"/>
                </a:solidFill>
              </a:rPr>
              <a:t> reduces fever via central effects on the hypothalamic temperature-regulating center.</a:t>
            </a:r>
            <a:r>
              <a:rPr lang="en-US" sz="1300" dirty="0">
                <a:solidFill>
                  <a:srgbClr val="666666"/>
                </a:solidFill>
              </a:rPr>
              <a:t>  S15</a:t>
            </a:r>
            <a:endParaRPr lang="en-US" sz="1800" dirty="0"/>
          </a:p>
          <a:p>
            <a:pPr marL="228600" indent="-228600">
              <a:spcAft>
                <a:spcPts val="800"/>
              </a:spcAft>
              <a:buSzPct val="100000"/>
              <a:buChar char="•"/>
            </a:pPr>
            <a:r>
              <a:rPr lang="en-US" sz="1800" b="1" dirty="0">
                <a:solidFill>
                  <a:srgbClr val="1F1F1F"/>
                </a:solidFill>
              </a:rPr>
              <a:t>Anti-inflammatory effect:</a:t>
            </a:r>
            <a:r>
              <a:rPr lang="en-US" sz="1800" dirty="0">
                <a:solidFill>
                  <a:srgbClr val="1F1F1F"/>
                </a:solidFill>
              </a:rPr>
              <a:t> minimal at the periphery — unlike NSAIDs, acetaminophen is not a reliable anti-inflammatory agent.</a:t>
            </a:r>
            <a:r>
              <a:rPr lang="en-US" sz="1300" dirty="0">
                <a:solidFill>
                  <a:srgbClr val="666666"/>
                </a:solidFill>
              </a:rPr>
              <a:t>  S15</a:t>
            </a:r>
            <a:endParaRPr lang="en-US" sz="1800" dirty="0"/>
          </a:p>
          <a:p>
            <a:pPr marL="228600" indent="-228600">
              <a:spcAft>
                <a:spcPts val="800"/>
              </a:spcAft>
              <a:buSzPct val="100000"/>
              <a:buChar char="•"/>
            </a:pPr>
            <a:r>
              <a:rPr lang="en-US" sz="1800" b="1" dirty="0">
                <a:solidFill>
                  <a:srgbClr val="1F1F1F"/>
                </a:solidFill>
              </a:rPr>
              <a:t>Mechanism:</a:t>
            </a:r>
            <a:r>
              <a:rPr lang="en-US" sz="1800" dirty="0">
                <a:solidFill>
                  <a:srgbClr val="1F1F1F"/>
                </a:solidFill>
              </a:rPr>
              <a:t> analgesia and antipyresis are mainly central, via reduced CNS prostaglandin synthesis; peripheral anti-inflammatory action is minimal.</a:t>
            </a:r>
            <a:r>
              <a:rPr lang="en-US" sz="1300" dirty="0">
                <a:solidFill>
                  <a:srgbClr val="666666"/>
                </a:solidFill>
              </a:rPr>
              <a:t>  S16; S15 (notes)</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Textbook adds: a weak peripheral COX-1/COX-2 inhibitor whose pain relief also involves opioid, cannabinoid, and serotonergic systems.</a:t>
            </a:r>
            <a:r>
              <a:rPr lang="en-US" sz="1300" dirty="0">
                <a:solidFill>
                  <a:srgbClr val="666666"/>
                </a:solidFill>
              </a:rPr>
              <a:t>  p. 694</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ACETAMINOPHEN</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Indications · Adverse effects (boxed warnings first)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100" b="1" dirty="0">
                <a:solidFill>
                  <a:srgbClr val="2F4F8A"/>
                </a:solidFill>
              </a:rPr>
              <a:t>Objectives: SO2 · SO5 · IO2.1 · IO2.2 · IO2.6</a:t>
            </a:r>
            <a:endParaRPr lang="en-US" sz="11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27</a:t>
            </a:r>
            <a:endParaRPr lang="en-US" sz="1000" dirty="0"/>
          </a:p>
        </p:txBody>
      </p:sp>
      <p:sp>
        <p:nvSpPr>
          <p:cNvPr id="7" name="Indications card"/>
          <p:cNvSpPr/>
          <p:nvPr/>
        </p:nvSpPr>
        <p:spPr>
          <a:xfrm>
            <a:off x="548640" y="1325880"/>
            <a:ext cx="5410048" cy="4448556"/>
          </a:xfrm>
          <a:prstGeom prst="roundRect">
            <a:avLst>
              <a:gd name="adj" fmla="val 2467"/>
            </a:avLst>
          </a:prstGeom>
          <a:solidFill>
            <a:srgbClr val="F2F4F7"/>
          </a:solidFill>
          <a:ln w="12700">
            <a:solidFill>
              <a:srgbClr val="F2F4F7"/>
            </a:solidFill>
            <a:prstDash val="solid"/>
          </a:ln>
        </p:spPr>
      </p:sp>
      <p:sp>
        <p:nvSpPr>
          <p:cNvPr id="8" name="Indications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Indica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ndication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548235"/>
                </a:solidFill>
              </a:rPr>
              <a:t>Indications</a:t>
            </a:r>
            <a:endParaRPr lang="en-US" sz="1800" dirty="0"/>
          </a:p>
        </p:txBody>
      </p:sp>
      <p:sp>
        <p:nvSpPr>
          <p:cNvPr id="11" name="Indications body"/>
          <p:cNvSpPr txBox="1"/>
          <p:nvPr/>
        </p:nvSpPr>
        <p:spPr>
          <a:xfrm>
            <a:off x="777240" y="2075688"/>
            <a:ext cx="4952848" cy="35798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Reasonable first-line for mild osteoarthritis pain.</a:t>
            </a:r>
            <a:r>
              <a:rPr lang="en-US" sz="1300" dirty="0">
                <a:solidFill>
                  <a:srgbClr val="666666"/>
                </a:solidFill>
              </a:rPr>
              <a:t>  S43</a:t>
            </a:r>
            <a:endParaRPr lang="en-US" sz="1800" dirty="0"/>
          </a:p>
          <a:p>
            <a:pPr marL="228600" indent="-228600">
              <a:spcAft>
                <a:spcPts val="800"/>
              </a:spcAft>
              <a:buSzPct val="100000"/>
              <a:buChar char="•"/>
            </a:pPr>
            <a:r>
              <a:rPr lang="en-US" sz="1800" dirty="0">
                <a:solidFill>
                  <a:srgbClr val="1F1F1F"/>
                </a:solidFill>
              </a:rPr>
              <a:t>Generally safer first-line than an NSAID in a patient with NSAID red flags (kidney disease, anticoagulation, older age).</a:t>
            </a:r>
            <a:r>
              <a:rPr lang="en-US" sz="1300" dirty="0">
                <a:solidFill>
                  <a:srgbClr val="666666"/>
                </a:solidFill>
              </a:rPr>
              <a:t>  S37</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Preferred over aspirin in aspirin allergy, hemophilia, peptic ulcer history, or aspirin-induced bronchospasm; alone it is inadequate for inflammatory conditions such as RA.</a:t>
            </a:r>
            <a:r>
              <a:rPr lang="en-US" sz="1300" dirty="0">
                <a:solidFill>
                  <a:srgbClr val="666666"/>
                </a:solidFill>
              </a:rPr>
              <a:t>  p. 694</a:t>
            </a:r>
            <a:endParaRPr lang="en-US" sz="1800" dirty="0"/>
          </a:p>
        </p:txBody>
      </p:sp>
      <p:sp>
        <p:nvSpPr>
          <p:cNvPr id="12" name="Adverse effects (boxed warnings first) card"/>
          <p:cNvSpPr/>
          <p:nvPr/>
        </p:nvSpPr>
        <p:spPr>
          <a:xfrm>
            <a:off x="6233008" y="1325880"/>
            <a:ext cx="5410048" cy="4448556"/>
          </a:xfrm>
          <a:prstGeom prst="roundRect">
            <a:avLst>
              <a:gd name="adj" fmla="val 2467"/>
            </a:avLst>
          </a:prstGeom>
          <a:solidFill>
            <a:srgbClr val="F2F4F7"/>
          </a:solidFill>
          <a:ln w="12700">
            <a:solidFill>
              <a:srgbClr val="F2F4F7"/>
            </a:solidFill>
            <a:prstDash val="solid"/>
          </a:ln>
        </p:spPr>
      </p:sp>
      <p:sp>
        <p:nvSpPr>
          <p:cNvPr id="13" name="Adverse effects (boxed warnings first) icon circle"/>
          <p:cNvSpPr/>
          <p:nvPr/>
        </p:nvSpPr>
        <p:spPr>
          <a:xfrm>
            <a:off x="6461608" y="1508760"/>
            <a:ext cx="438912" cy="438912"/>
          </a:xfrm>
          <a:prstGeom prst="ellipse">
            <a:avLst/>
          </a:prstGeom>
          <a:solidFill>
            <a:srgbClr val="C55A11"/>
          </a:solidFill>
          <a:ln w="12700">
            <a:solidFill>
              <a:srgbClr val="C55A11"/>
            </a:solidFill>
            <a:prstDash val="solid"/>
          </a:ln>
        </p:spPr>
      </p:sp>
      <p:pic>
        <p:nvPicPr>
          <p:cNvPr id="14" name="Adverse effects (boxed warnings first)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Adverse effects (boxed warnings first)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C55A11"/>
                </a:solidFill>
              </a:rPr>
              <a:t>Adverse effects (boxed warnings first)</a:t>
            </a:r>
            <a:endParaRPr lang="en-US" sz="1800" dirty="0"/>
          </a:p>
        </p:txBody>
      </p:sp>
      <p:sp>
        <p:nvSpPr>
          <p:cNvPr id="16" name="Adverse effects (boxed warnings first) body"/>
          <p:cNvSpPr txBox="1"/>
          <p:nvPr/>
        </p:nvSpPr>
        <p:spPr>
          <a:xfrm>
            <a:off x="6461608" y="2075688"/>
            <a:ext cx="4952848" cy="3579876"/>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Overdose: glutathione stores are depleted, NAPQI accumulates, and hepatocyte injury follows.</a:t>
            </a:r>
            <a:r>
              <a:rPr lang="en-US" sz="1300" dirty="0">
                <a:solidFill>
                  <a:srgbClr val="666666"/>
                </a:solidFill>
              </a:rPr>
              <a:t>  S19</a:t>
            </a:r>
            <a:endParaRPr lang="en-US" sz="1800" dirty="0"/>
          </a:p>
          <a:p>
            <a:pPr marL="228600" indent="-228600">
              <a:spcAft>
                <a:spcPts val="800"/>
              </a:spcAft>
              <a:buSzPct val="100000"/>
              <a:buChar char="•"/>
            </a:pPr>
            <a:r>
              <a:rPr lang="en-US" sz="1800" b="1" dirty="0">
                <a:solidFill>
                  <a:srgbClr val="1F1F1F"/>
                </a:solidFill>
              </a:rPr>
              <a:t>Overdose cascade:</a:t>
            </a:r>
            <a:r>
              <a:rPr lang="en-US" sz="1800" dirty="0">
                <a:solidFill>
                  <a:srgbClr val="1F1F1F"/>
                </a:solidFill>
              </a:rPr>
              <a:t> glucuronidation/sulfation saturate → more drug shunted to CYP2E1 → more NAPQI, glutathione exhausted → NAPQI binds hepatocyte proteins → </a:t>
            </a:r>
            <a:r>
              <a:rPr lang="en-US" sz="1800" b="1" dirty="0">
                <a:solidFill>
                  <a:srgbClr val="1F1F1F"/>
                </a:solidFill>
              </a:rPr>
              <a:t>centrilobular liver necrosis</a:t>
            </a:r>
            <a:r>
              <a:rPr lang="en-US" sz="1800" dirty="0">
                <a:solidFill>
                  <a:srgbClr val="1F1F1F"/>
                </a:solidFill>
              </a:rPr>
              <a:t>.</a:t>
            </a:r>
            <a:r>
              <a:rPr lang="en-US" sz="1300" dirty="0">
                <a:solidFill>
                  <a:srgbClr val="666666"/>
                </a:solidFill>
              </a:rPr>
              <a:t>  S17; S17 (notes)</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Ingesting 15 g may be fatal (centrilobular hepatic necrosis); take care with liver disease, heavy alcohol use, or malnutrition.</a:t>
            </a:r>
            <a:r>
              <a:rPr lang="en-US" sz="1300" dirty="0">
                <a:solidFill>
                  <a:srgbClr val="666666"/>
                </a:solidFill>
              </a:rPr>
              <a:t>  p. 694</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ACETAMINOPHEN</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Contraindications · Drug interactions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100" b="1" dirty="0">
                <a:solidFill>
                  <a:srgbClr val="2F4F8A"/>
                </a:solidFill>
              </a:rPr>
              <a:t>Objectives: SO2 · SO5 · IO2.1 · IO2.2 · IO2.6</a:t>
            </a:r>
            <a:endParaRPr lang="en-US" sz="11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28</a:t>
            </a:r>
            <a:endParaRPr lang="en-US" sz="1000" dirty="0"/>
          </a:p>
        </p:txBody>
      </p:sp>
      <p:sp>
        <p:nvSpPr>
          <p:cNvPr id="7" name="Contraindications card"/>
          <p:cNvSpPr/>
          <p:nvPr/>
        </p:nvSpPr>
        <p:spPr>
          <a:xfrm>
            <a:off x="548640" y="1325880"/>
            <a:ext cx="5410048" cy="3223260"/>
          </a:xfrm>
          <a:prstGeom prst="roundRect">
            <a:avLst>
              <a:gd name="adj" fmla="val 3404"/>
            </a:avLst>
          </a:prstGeom>
          <a:solidFill>
            <a:srgbClr val="F2F4F7"/>
          </a:solidFill>
          <a:ln w="12700">
            <a:solidFill>
              <a:srgbClr val="F2F4F7"/>
            </a:solidFill>
            <a:prstDash val="solid"/>
          </a:ln>
        </p:spPr>
      </p:sp>
      <p:sp>
        <p:nvSpPr>
          <p:cNvPr id="8" name="Contraindications icon circle"/>
          <p:cNvSpPr/>
          <p:nvPr/>
        </p:nvSpPr>
        <p:spPr>
          <a:xfrm>
            <a:off x="777240" y="1508760"/>
            <a:ext cx="438912" cy="438912"/>
          </a:xfrm>
          <a:prstGeom prst="ellipse">
            <a:avLst/>
          </a:prstGeom>
          <a:solidFill>
            <a:srgbClr val="C00000"/>
          </a:solidFill>
          <a:ln w="12700">
            <a:solidFill>
              <a:srgbClr val="C00000"/>
            </a:solidFill>
            <a:prstDash val="solid"/>
          </a:ln>
        </p:spPr>
      </p:sp>
      <p:pic>
        <p:nvPicPr>
          <p:cNvPr id="9" name="Contraindica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ontraindication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C00000"/>
                </a:solidFill>
              </a:rPr>
              <a:t>Contraindications</a:t>
            </a:r>
            <a:endParaRPr lang="en-US" sz="1800" dirty="0"/>
          </a:p>
        </p:txBody>
      </p:sp>
      <p:sp>
        <p:nvSpPr>
          <p:cNvPr id="11" name="Contraindications body"/>
          <p:cNvSpPr txBox="1"/>
          <p:nvPr/>
        </p:nvSpPr>
        <p:spPr>
          <a:xfrm>
            <a:off x="777240" y="2075688"/>
            <a:ext cx="4952848" cy="2354580"/>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Pearl:</a:t>
            </a:r>
            <a:r>
              <a:rPr lang="en-US" sz="1800" dirty="0">
                <a:solidFill>
                  <a:srgbClr val="1F1F1F"/>
                </a:solidFill>
              </a:rPr>
              <a:t> chronic alcohol use and fasting lower GSH and raise risk; both also induce CYP2E1.</a:t>
            </a:r>
            <a:r>
              <a:rPr lang="en-US" sz="1300" dirty="0">
                <a:solidFill>
                  <a:srgbClr val="666666"/>
                </a:solidFill>
              </a:rPr>
              <a:t>  S17; S17 (notes)</a:t>
            </a:r>
            <a:endParaRPr lang="en-US" sz="1800" dirty="0"/>
          </a:p>
        </p:txBody>
      </p:sp>
      <p:sp>
        <p:nvSpPr>
          <p:cNvPr id="12" name="Drug interactions card"/>
          <p:cNvSpPr/>
          <p:nvPr/>
        </p:nvSpPr>
        <p:spPr>
          <a:xfrm>
            <a:off x="6233008" y="1325880"/>
            <a:ext cx="5410048" cy="3223260"/>
          </a:xfrm>
          <a:prstGeom prst="roundRect">
            <a:avLst>
              <a:gd name="adj" fmla="val 3404"/>
            </a:avLst>
          </a:prstGeom>
          <a:solidFill>
            <a:srgbClr val="F2F4F7"/>
          </a:solidFill>
          <a:ln w="12700">
            <a:solidFill>
              <a:srgbClr val="F2F4F7"/>
            </a:solidFill>
            <a:prstDash val="solid"/>
          </a:ln>
        </p:spPr>
      </p:sp>
      <p:sp>
        <p:nvSpPr>
          <p:cNvPr id="13" name="Drug interactions icon circle"/>
          <p:cNvSpPr/>
          <p:nvPr/>
        </p:nvSpPr>
        <p:spPr>
          <a:xfrm>
            <a:off x="6461608" y="1508760"/>
            <a:ext cx="438912" cy="438912"/>
          </a:xfrm>
          <a:prstGeom prst="ellipse">
            <a:avLst/>
          </a:prstGeom>
          <a:solidFill>
            <a:srgbClr val="7F6000"/>
          </a:solidFill>
          <a:ln w="12700">
            <a:solidFill>
              <a:srgbClr val="7F6000"/>
            </a:solidFill>
            <a:prstDash val="solid"/>
          </a:ln>
        </p:spPr>
      </p:sp>
      <p:pic>
        <p:nvPicPr>
          <p:cNvPr id="14" name="Drug interaction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Drug interaction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7F6000"/>
                </a:solidFill>
              </a:rPr>
              <a:t>Drug interactions</a:t>
            </a:r>
            <a:endParaRPr lang="en-US" sz="1800" dirty="0"/>
          </a:p>
        </p:txBody>
      </p:sp>
      <p:sp>
        <p:nvSpPr>
          <p:cNvPr id="16" name="Drug interactions body"/>
          <p:cNvSpPr txBox="1"/>
          <p:nvPr/>
        </p:nvSpPr>
        <p:spPr>
          <a:xfrm>
            <a:off x="6461608" y="2075688"/>
            <a:ext cx="4952848" cy="2354580"/>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Hidden overdose:</a:t>
            </a:r>
            <a:r>
              <a:rPr lang="en-US" sz="1800" dirty="0">
                <a:solidFill>
                  <a:srgbClr val="1F1F1F"/>
                </a:solidFill>
              </a:rPr>
              <a:t> many combination cold, flu, and sleep products also contain acetaminophen — </a:t>
            </a:r>
            <a:r>
              <a:rPr lang="en-US" sz="1800" b="1" dirty="0">
                <a:solidFill>
                  <a:srgbClr val="1F1F1F"/>
                </a:solidFill>
              </a:rPr>
              <a:t>unintentional double-dosing is a leading cause of acetaminophen-related liver injury.</a:t>
            </a:r>
            <a:r>
              <a:rPr lang="en-US" sz="1300" dirty="0">
                <a:solidFill>
                  <a:srgbClr val="666666"/>
                </a:solidFill>
              </a:rPr>
              <a:t>  S20</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Combining acetaminophen with an NSAID improves pain control but can potentiate the NSAID’s GI toxicity.</a:t>
            </a:r>
            <a:r>
              <a:rPr lang="en-US" sz="1300" dirty="0">
                <a:solidFill>
                  <a:srgbClr val="666666"/>
                </a:solidFill>
              </a:rPr>
              <a:t>  p. 694</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ACETAMINOPHEN</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Pharmacokinetics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100" b="1" dirty="0">
                <a:solidFill>
                  <a:srgbClr val="2F4F8A"/>
                </a:solidFill>
              </a:rPr>
              <a:t>Objectives: SO2 · SO5 · IO2.1 · IO2.2 · IO2.6</a:t>
            </a:r>
            <a:endParaRPr lang="en-US" sz="11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29</a:t>
            </a:r>
            <a:endParaRPr lang="en-US" sz="1000" dirty="0"/>
          </a:p>
        </p:txBody>
      </p:sp>
      <p:sp>
        <p:nvSpPr>
          <p:cNvPr id="7" name="Pharmacokinetics card"/>
          <p:cNvSpPr/>
          <p:nvPr/>
        </p:nvSpPr>
        <p:spPr>
          <a:xfrm>
            <a:off x="548640" y="1325880"/>
            <a:ext cx="11094415" cy="4110228"/>
          </a:xfrm>
          <a:prstGeom prst="roundRect">
            <a:avLst>
              <a:gd name="adj" fmla="val 2670"/>
            </a:avLst>
          </a:prstGeom>
          <a:solidFill>
            <a:srgbClr val="F2F4F7"/>
          </a:solidFill>
          <a:ln w="12700">
            <a:solidFill>
              <a:srgbClr val="F2F4F7"/>
            </a:solidFill>
            <a:prstDash val="solid"/>
          </a:ln>
        </p:spPr>
      </p:sp>
      <p:sp>
        <p:nvSpPr>
          <p:cNvPr id="8" name="Pharmacokinetics icon circle"/>
          <p:cNvSpPr/>
          <p:nvPr/>
        </p:nvSpPr>
        <p:spPr>
          <a:xfrm>
            <a:off x="777240" y="1508760"/>
            <a:ext cx="438912" cy="438912"/>
          </a:xfrm>
          <a:prstGeom prst="ellipse">
            <a:avLst/>
          </a:prstGeom>
          <a:solidFill>
            <a:srgbClr val="2E75B6"/>
          </a:solidFill>
          <a:ln w="12700">
            <a:solidFill>
              <a:srgbClr val="2E75B6"/>
            </a:solidFill>
            <a:prstDash val="solid"/>
          </a:ln>
        </p:spPr>
      </p:sp>
      <p:pic>
        <p:nvPicPr>
          <p:cNvPr id="9" name="Pharmacokinetic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Pharmacokinetic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2E75B6"/>
                </a:solidFill>
              </a:rPr>
              <a:t>Pharmacokinetics</a:t>
            </a:r>
            <a:endParaRPr lang="en-US" sz="1800" dirty="0"/>
          </a:p>
        </p:txBody>
      </p:sp>
      <p:sp>
        <p:nvSpPr>
          <p:cNvPr id="11" name="Pharmacokinetics body"/>
          <p:cNvSpPr txBox="1"/>
          <p:nvPr/>
        </p:nvSpPr>
        <p:spPr>
          <a:xfrm>
            <a:off x="777240" y="2075688"/>
            <a:ext cx="10637215" cy="324154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Normal handling: acetaminophen → NAPQI (toxic metabolite) → glutathione conjugation → safe excretion.</a:t>
            </a:r>
            <a:r>
              <a:rPr lang="en-US" sz="1300" dirty="0">
                <a:solidFill>
                  <a:srgbClr val="666666"/>
                </a:solidFill>
              </a:rPr>
              <a:t>  S19</a:t>
            </a:r>
            <a:endParaRPr lang="en-US" sz="1800" dirty="0"/>
          </a:p>
          <a:p>
            <a:pPr marL="228600" indent="-228600">
              <a:spcAft>
                <a:spcPts val="800"/>
              </a:spcAft>
              <a:buSzPct val="100000"/>
              <a:buChar char="•"/>
            </a:pPr>
            <a:r>
              <a:rPr lang="en-US" sz="1800" dirty="0">
                <a:solidFill>
                  <a:srgbClr val="1F1F1F"/>
                </a:solidFill>
              </a:rPr>
              <a:t>NAPQI = N-acetyl-p-benzoquinone imine — the “toxic metabolite” example from Lecture 1’s drug-metabolism section.</a:t>
            </a:r>
            <a:r>
              <a:rPr lang="en-US" sz="1300" dirty="0">
                <a:solidFill>
                  <a:srgbClr val="666666"/>
                </a:solidFill>
              </a:rPr>
              <a:t>  S19 (notes)</a:t>
            </a:r>
            <a:endParaRPr lang="en-US" sz="1800" dirty="0"/>
          </a:p>
          <a:p>
            <a:pPr marL="228600" indent="-228600">
              <a:spcAft>
                <a:spcPts val="800"/>
              </a:spcAft>
              <a:buSzPct val="100000"/>
              <a:buChar char="•"/>
            </a:pPr>
            <a:r>
              <a:rPr lang="en-US" sz="1800" b="1" dirty="0">
                <a:solidFill>
                  <a:srgbClr val="1F1F1F"/>
                </a:solidFill>
              </a:rPr>
              <a:t>Major route (~90%):</a:t>
            </a:r>
            <a:r>
              <a:rPr lang="en-US" sz="1800" dirty="0">
                <a:solidFill>
                  <a:srgbClr val="1F1F1F"/>
                </a:solidFill>
              </a:rPr>
              <a:t> glucuronidation and sulfation → safe urinary excretion.</a:t>
            </a:r>
            <a:r>
              <a:rPr lang="en-US" sz="1300" dirty="0">
                <a:solidFill>
                  <a:srgbClr val="666666"/>
                </a:solidFill>
              </a:rPr>
              <a:t>  S16; S16 (notes)</a:t>
            </a:r>
            <a:endParaRPr lang="en-US" sz="1800" dirty="0"/>
          </a:p>
          <a:p>
            <a:pPr marL="228600" indent="-228600">
              <a:spcAft>
                <a:spcPts val="800"/>
              </a:spcAft>
              <a:buSzPct val="100000"/>
              <a:buChar char="•"/>
            </a:pPr>
            <a:r>
              <a:rPr lang="en-US" sz="1800" b="1" dirty="0">
                <a:solidFill>
                  <a:srgbClr val="1F1F1F"/>
                </a:solidFill>
              </a:rPr>
              <a:t>Minor route (~5–10%):</a:t>
            </a:r>
            <a:r>
              <a:rPr lang="en-US" sz="1800" dirty="0">
                <a:solidFill>
                  <a:srgbClr val="1F1F1F"/>
                </a:solidFill>
              </a:rPr>
              <a:t> CYP2E1 oxidation → NAPQI (N-acetyl-p-benzoquinone-imine), normally neutralized by glutathione (GSH) conjugation at therapeutic doses.</a:t>
            </a:r>
            <a:r>
              <a:rPr lang="en-US" sz="1300" dirty="0">
                <a:solidFill>
                  <a:srgbClr val="666666"/>
                </a:solidFill>
              </a:rPr>
              <a:t>  S16; S16 (notes)</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Mostly conjugated to inactive sulfate and glucuronide; half-life 2–3 hours, relatively unaffected by renal function.</a:t>
            </a:r>
            <a:r>
              <a:rPr lang="en-US" sz="1300" dirty="0">
                <a:solidFill>
                  <a:srgbClr val="666666"/>
                </a:solidFill>
              </a:rPr>
              <a:t>  p. 694</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ACETAMINOPHEN</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Monitoring</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100" b="1" dirty="0">
                <a:solidFill>
                  <a:srgbClr val="2F4F8A"/>
                </a:solidFill>
              </a:rPr>
              <a:t>Objectives: SO2 · SO5 · IO2.1 · IO2.2 · IO2.6</a:t>
            </a:r>
            <a:endParaRPr lang="en-US" sz="11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30</a:t>
            </a:r>
            <a:endParaRPr lang="en-US" sz="1000" dirty="0"/>
          </a:p>
        </p:txBody>
      </p:sp>
      <p:sp>
        <p:nvSpPr>
          <p:cNvPr id="7" name="Monitoring (1/2) card"/>
          <p:cNvSpPr/>
          <p:nvPr/>
        </p:nvSpPr>
        <p:spPr>
          <a:xfrm>
            <a:off x="548640" y="1325880"/>
            <a:ext cx="11094415" cy="4110228"/>
          </a:xfrm>
          <a:prstGeom prst="roundRect">
            <a:avLst>
              <a:gd name="adj" fmla="val 2670"/>
            </a:avLst>
          </a:prstGeom>
          <a:solidFill>
            <a:srgbClr val="F2F4F7"/>
          </a:solidFill>
          <a:ln w="12700">
            <a:solidFill>
              <a:srgbClr val="F2F4F7"/>
            </a:solidFill>
            <a:prstDash val="solid"/>
          </a:ln>
        </p:spPr>
      </p:sp>
      <p:sp>
        <p:nvSpPr>
          <p:cNvPr id="8" name="Monitoring (1/2) icon circle"/>
          <p:cNvSpPr/>
          <p:nvPr/>
        </p:nvSpPr>
        <p:spPr>
          <a:xfrm>
            <a:off x="777240" y="1508760"/>
            <a:ext cx="438912" cy="438912"/>
          </a:xfrm>
          <a:prstGeom prst="ellipse">
            <a:avLst/>
          </a:prstGeom>
          <a:solidFill>
            <a:srgbClr val="1F7A7A"/>
          </a:solidFill>
          <a:ln w="12700">
            <a:solidFill>
              <a:srgbClr val="1F7A7A"/>
            </a:solidFill>
            <a:prstDash val="solid"/>
          </a:ln>
        </p:spPr>
      </p:sp>
      <p:pic>
        <p:nvPicPr>
          <p:cNvPr id="9" name="Monitoring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Monitoring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1F7A7A"/>
                </a:solidFill>
              </a:rPr>
              <a:t>Monitoring (1/2)</a:t>
            </a:r>
            <a:endParaRPr lang="en-US" sz="1800" dirty="0"/>
          </a:p>
        </p:txBody>
      </p:sp>
      <p:sp>
        <p:nvSpPr>
          <p:cNvPr id="11" name="Monitoring (1/2) body"/>
          <p:cNvSpPr txBox="1"/>
          <p:nvPr/>
        </p:nvSpPr>
        <p:spPr>
          <a:xfrm>
            <a:off x="777240" y="2075688"/>
            <a:ext cx="10637215" cy="3241548"/>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Always ask about ALL sources of acetaminophen.</a:t>
            </a:r>
            <a:r>
              <a:rPr lang="en-US" sz="1300" dirty="0">
                <a:solidFill>
                  <a:srgbClr val="666666"/>
                </a:solidFill>
              </a:rPr>
              <a:t>  S20</a:t>
            </a:r>
            <a:endParaRPr lang="en-US" sz="1800" dirty="0"/>
          </a:p>
          <a:p>
            <a:pPr marL="228600" indent="-228600">
              <a:spcAft>
                <a:spcPts val="800"/>
              </a:spcAft>
              <a:buSzPct val="100000"/>
              <a:buChar char="•"/>
            </a:pPr>
            <a:r>
              <a:rPr lang="en-US" sz="1800" dirty="0">
                <a:solidFill>
                  <a:srgbClr val="1F1F1F"/>
                </a:solidFill>
              </a:rPr>
              <a:t>Patients often don’t realize a product contains acetaminophen unless they check the label — reinforce generic-name awareness.</a:t>
            </a:r>
            <a:r>
              <a:rPr lang="en-US" sz="1300" dirty="0">
                <a:solidFill>
                  <a:srgbClr val="666666"/>
                </a:solidFill>
              </a:rPr>
              <a:t>  S20 (notes)</a:t>
            </a:r>
            <a:endParaRPr lang="en-US" sz="1800" dirty="0"/>
          </a:p>
          <a:p>
            <a:pPr marL="228600" indent="-228600">
              <a:spcAft>
                <a:spcPts val="800"/>
              </a:spcAft>
              <a:buSzPct val="100000"/>
              <a:buChar char="•"/>
            </a:pPr>
            <a:r>
              <a:rPr lang="en-US" sz="1800" b="1" dirty="0">
                <a:solidFill>
                  <a:srgbClr val="1F1F1F"/>
                </a:solidFill>
              </a:rPr>
              <a:t>Acute single ingestion:</a:t>
            </a:r>
            <a:r>
              <a:rPr lang="en-US" sz="1800" dirty="0">
                <a:solidFill>
                  <a:srgbClr val="1F1F1F"/>
                </a:solidFill>
              </a:rPr>
              <a:t> plot the acetaminophen level on the </a:t>
            </a:r>
            <a:r>
              <a:rPr lang="en-US" sz="1800" b="1" dirty="0">
                <a:solidFill>
                  <a:srgbClr val="1F1F1F"/>
                </a:solidFill>
              </a:rPr>
              <a:t>Rumack-Matthew nomogram</a:t>
            </a:r>
            <a:r>
              <a:rPr lang="en-US" sz="1800" dirty="0">
                <a:solidFill>
                  <a:srgbClr val="1F1F1F"/>
                </a:solidFill>
              </a:rPr>
              <a:t>; check AST/ALT.</a:t>
            </a:r>
            <a:r>
              <a:rPr lang="en-US" sz="1300" dirty="0">
                <a:solidFill>
                  <a:srgbClr val="666666"/>
                </a:solidFill>
              </a:rPr>
              <a:t>  S17; S17 (notes)</a:t>
            </a:r>
            <a:endParaRPr lang="en-US" sz="1800" dirty="0"/>
          </a:p>
          <a:p>
            <a:pPr marL="228600" indent="-228600">
              <a:spcAft>
                <a:spcPts val="800"/>
              </a:spcAft>
              <a:buSzPct val="100000"/>
              <a:buChar char="•"/>
            </a:pPr>
            <a:r>
              <a:rPr lang="en-US" sz="1800" b="1" dirty="0">
                <a:solidFill>
                  <a:srgbClr val="1F1F1F"/>
                </a:solidFill>
              </a:rPr>
              <a:t>How to use the nomogram:</a:t>
            </a:r>
            <a:r>
              <a:rPr lang="en-US" sz="1800" dirty="0">
                <a:solidFill>
                  <a:srgbClr val="1F1F1F"/>
                </a:solidFill>
              </a:rPr>
              <a:t> draw a level at 4 hours or later after a single acute ingestion and plot it against time since ingestion.</a:t>
            </a:r>
            <a:r>
              <a:rPr lang="en-US" sz="1300" dirty="0">
                <a:solidFill>
                  <a:srgbClr val="666666"/>
                </a:solidFill>
              </a:rPr>
              <a:t>  S18</a:t>
            </a:r>
            <a:endParaRPr lang="en-US" sz="1800" dirty="0"/>
          </a:p>
          <a:p>
            <a:pPr marL="228600" indent="-228600">
              <a:spcAft>
                <a:spcPts val="800"/>
              </a:spcAft>
              <a:buSzPct val="100000"/>
              <a:buChar char="•"/>
            </a:pPr>
            <a:r>
              <a:rPr lang="en-US" sz="1800" b="1" dirty="0">
                <a:solidFill>
                  <a:srgbClr val="1F1F1F"/>
                </a:solidFill>
              </a:rPr>
              <a:t>Above the treatment line:</a:t>
            </a:r>
            <a:r>
              <a:rPr lang="en-US" sz="1800" dirty="0">
                <a:solidFill>
                  <a:srgbClr val="1F1F1F"/>
                </a:solidFill>
              </a:rPr>
              <a:t> give NAC. </a:t>
            </a:r>
            <a:r>
              <a:rPr lang="en-US" sz="1800" b="1" dirty="0">
                <a:solidFill>
                  <a:srgbClr val="1F1F1F"/>
                </a:solidFill>
              </a:rPr>
              <a:t>Below the line:</a:t>
            </a:r>
            <a:r>
              <a:rPr lang="en-US" sz="1800" dirty="0">
                <a:solidFill>
                  <a:srgbClr val="1F1F1F"/>
                </a:solidFill>
              </a:rPr>
              <a:t> toxicity unlikely. Example: 8 h, 120 mcg/mL is above the line, so start NAC.</a:t>
            </a:r>
            <a:r>
              <a:rPr lang="en-US" sz="1300" dirty="0">
                <a:solidFill>
                  <a:srgbClr val="666666"/>
                </a:solidFill>
              </a:rPr>
              <a:t>  S18</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ACETAMINOPHEN</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Monitoring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100" b="1" dirty="0">
                <a:solidFill>
                  <a:srgbClr val="2F4F8A"/>
                </a:solidFill>
              </a:rPr>
              <a:t>Objectives: SO2 · SO5 · IO2.1 · IO2.2 · IO2.6</a:t>
            </a:r>
            <a:endParaRPr lang="en-US" sz="11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31</a:t>
            </a:r>
            <a:endParaRPr lang="en-US" sz="1000" dirty="0"/>
          </a:p>
        </p:txBody>
      </p:sp>
      <p:sp>
        <p:nvSpPr>
          <p:cNvPr id="7" name="Monitoring (2/2) card"/>
          <p:cNvSpPr/>
          <p:nvPr/>
        </p:nvSpPr>
        <p:spPr>
          <a:xfrm>
            <a:off x="548640" y="1325880"/>
            <a:ext cx="11094415" cy="4110228"/>
          </a:xfrm>
          <a:prstGeom prst="roundRect">
            <a:avLst>
              <a:gd name="adj" fmla="val 2670"/>
            </a:avLst>
          </a:prstGeom>
          <a:solidFill>
            <a:srgbClr val="F2F4F7"/>
          </a:solidFill>
          <a:ln w="12700">
            <a:solidFill>
              <a:srgbClr val="F2F4F7"/>
            </a:solidFill>
            <a:prstDash val="solid"/>
          </a:ln>
        </p:spPr>
      </p:sp>
      <p:sp>
        <p:nvSpPr>
          <p:cNvPr id="8" name="Monitoring (2/2) icon circle"/>
          <p:cNvSpPr/>
          <p:nvPr/>
        </p:nvSpPr>
        <p:spPr>
          <a:xfrm>
            <a:off x="777240" y="1508760"/>
            <a:ext cx="438912" cy="438912"/>
          </a:xfrm>
          <a:prstGeom prst="ellipse">
            <a:avLst/>
          </a:prstGeom>
          <a:solidFill>
            <a:srgbClr val="1F7A7A"/>
          </a:solidFill>
          <a:ln w="12700">
            <a:solidFill>
              <a:srgbClr val="1F7A7A"/>
            </a:solidFill>
            <a:prstDash val="solid"/>
          </a:ln>
        </p:spPr>
      </p:sp>
      <p:pic>
        <p:nvPicPr>
          <p:cNvPr id="9" name="Monitoring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Monitoring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1F7A7A"/>
                </a:solidFill>
              </a:rPr>
              <a:t>Monitoring (2/2)</a:t>
            </a:r>
            <a:endParaRPr lang="en-US" sz="1800" dirty="0"/>
          </a:p>
        </p:txBody>
      </p:sp>
      <p:sp>
        <p:nvSpPr>
          <p:cNvPr id="11" name="Monitoring (2/2) body"/>
          <p:cNvSpPr txBox="1"/>
          <p:nvPr/>
        </p:nvSpPr>
        <p:spPr>
          <a:xfrm>
            <a:off x="777240" y="2075688"/>
            <a:ext cx="10637215" cy="324154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The illustrative treatment line runs from 150 mcg/mL at 4 h, halving every 4 h, to 4.7 mcg/mL at 24 h.</a:t>
            </a:r>
            <a:r>
              <a:rPr lang="en-US" sz="1300" dirty="0">
                <a:solidFill>
                  <a:srgbClr val="666666"/>
                </a:solidFill>
              </a:rPr>
              <a:t>  S18</a:t>
            </a:r>
            <a:endParaRPr lang="en-US" sz="1800" dirty="0"/>
          </a:p>
          <a:p>
            <a:pPr marL="228600" indent="-228600">
              <a:spcAft>
                <a:spcPts val="800"/>
              </a:spcAft>
              <a:buSzPct val="100000"/>
              <a:buChar char="•"/>
            </a:pPr>
            <a:r>
              <a:rPr lang="en-US" sz="1800" b="1" dirty="0">
                <a:solidFill>
                  <a:srgbClr val="1F1F1F"/>
                </a:solidFill>
              </a:rPr>
              <a:t>Limits:</a:t>
            </a:r>
            <a:r>
              <a:rPr lang="en-US" sz="1800" dirty="0">
                <a:solidFill>
                  <a:srgbClr val="1F1F1F"/>
                </a:solidFill>
              </a:rPr>
              <a:t> not valid before 4 hours, with an unknown ingestion time, or for staggered, repeated supratherapeutic, or chronic ingestion — use clinical judgment, AST/ALT, and poison control.</a:t>
            </a:r>
            <a:r>
              <a:rPr lang="en-US" sz="1300" dirty="0">
                <a:solidFill>
                  <a:srgbClr val="666666"/>
                </a:solidFill>
              </a:rPr>
              <a:t>  S18; S18 (notes)</a:t>
            </a:r>
            <a:endParaRPr lang="en-US" sz="1800" dirty="0"/>
          </a:p>
          <a:p>
            <a:pPr marL="228600" indent="-228600">
              <a:spcAft>
                <a:spcPts val="800"/>
              </a:spcAft>
              <a:buSzPct val="100000"/>
              <a:buChar char="•"/>
            </a:pPr>
            <a:r>
              <a:rPr lang="en-US" sz="1800" dirty="0">
                <a:solidFill>
                  <a:srgbClr val="1F1F1F"/>
                </a:solidFill>
              </a:rPr>
              <a:t>Start NAC without waiting if presentation is late or the level is unavailable and the ingestion is significant.</a:t>
            </a:r>
            <a:r>
              <a:rPr lang="en-US" sz="1300" dirty="0">
                <a:solidFill>
                  <a:srgbClr val="666666"/>
                </a:solidFill>
              </a:rPr>
              <a:t>  S18 (notes)</a:t>
            </a:r>
            <a:endParaRPr lang="en-US" sz="1800" dirty="0"/>
          </a:p>
          <a:p>
            <a:pPr marL="228600" indent="-228600">
              <a:spcAft>
                <a:spcPts val="800"/>
              </a:spcAft>
              <a:buSzPct val="100000"/>
              <a:buChar char="•"/>
            </a:pPr>
            <a:r>
              <a:rPr lang="en-US" sz="1800" dirty="0">
                <a:solidFill>
                  <a:srgbClr val="1F1F1F"/>
                </a:solidFill>
              </a:rPr>
              <a:t>After 24 hours the nomogram is not used: 4.7 mcg/mL is only where the treatment line ends, not a safe cutoff. A detectable level or elevated AST/ALT guides NAC, per protocol or poison control.</a:t>
            </a:r>
            <a:r>
              <a:rPr lang="en-US" sz="1300" dirty="0">
                <a:solidFill>
                  <a:srgbClr val="666666"/>
                </a:solidFill>
              </a:rPr>
              <a:t>  S18 (notes)</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Adults: generally no more than 4 g/day — and even 4 g is associated with more liver function test abnormalities.</a:t>
            </a:r>
            <a:r>
              <a:rPr lang="en-US" sz="1300" dirty="0">
                <a:solidFill>
                  <a:srgbClr val="666666"/>
                </a:solidFill>
              </a:rPr>
              <a:t>  p. 694</a:t>
            </a:r>
            <a:endParaRPr lang="en-US" sz="1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ACETAMINOPHEN</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pearls / "why" hook</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100" b="1" dirty="0">
                <a:solidFill>
                  <a:srgbClr val="2F4F8A"/>
                </a:solidFill>
              </a:rPr>
              <a:t>Objectives: SO2 · SO5 · IO2.1 · IO2.2 · IO2.6</a:t>
            </a:r>
            <a:endParaRPr lang="en-US" sz="11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32</a:t>
            </a:r>
            <a:endParaRPr lang="en-US" sz="1000" dirty="0"/>
          </a:p>
        </p:txBody>
      </p:sp>
      <p:sp>
        <p:nvSpPr>
          <p:cNvPr id="7" name="Clinical pearls / &quot;why&quot; hook card"/>
          <p:cNvSpPr/>
          <p:nvPr/>
        </p:nvSpPr>
        <p:spPr>
          <a:xfrm>
            <a:off x="548640" y="1325880"/>
            <a:ext cx="11094415" cy="4110228"/>
          </a:xfrm>
          <a:prstGeom prst="roundRect">
            <a:avLst>
              <a:gd name="adj" fmla="val 2670"/>
            </a:avLst>
          </a:prstGeom>
          <a:solidFill>
            <a:srgbClr val="F2F4F7"/>
          </a:solidFill>
          <a:ln w="12700">
            <a:solidFill>
              <a:srgbClr val="F2F4F7"/>
            </a:solidFill>
            <a:prstDash val="solid"/>
          </a:ln>
        </p:spPr>
      </p:sp>
      <p:sp>
        <p:nvSpPr>
          <p:cNvPr id="8" name="Clinical pearls / &quot;why&quot; hook icon circle"/>
          <p:cNvSpPr/>
          <p:nvPr/>
        </p:nvSpPr>
        <p:spPr>
          <a:xfrm>
            <a:off x="777240" y="1508760"/>
            <a:ext cx="438912" cy="438912"/>
          </a:xfrm>
          <a:prstGeom prst="ellipse">
            <a:avLst/>
          </a:prstGeom>
          <a:solidFill>
            <a:srgbClr val="2E75B6"/>
          </a:solidFill>
          <a:ln w="12700">
            <a:solidFill>
              <a:srgbClr val="2E75B6"/>
            </a:solidFill>
            <a:prstDash val="solid"/>
          </a:ln>
        </p:spPr>
      </p:sp>
      <p:pic>
        <p:nvPicPr>
          <p:cNvPr id="9" name="Clinical pearls / &quot;why&quot; hook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pearls / &amp;quot;why&amp;quot; hook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2E75B6"/>
                </a:solidFill>
              </a:rPr>
              <a:t>Clinical pearls / "why" hook</a:t>
            </a:r>
            <a:endParaRPr lang="en-US" sz="1800" dirty="0"/>
          </a:p>
        </p:txBody>
      </p:sp>
      <p:sp>
        <p:nvSpPr>
          <p:cNvPr id="11" name="Clinical pearls / &quot;why&quot; hook body"/>
          <p:cNvSpPr txBox="1"/>
          <p:nvPr/>
        </p:nvSpPr>
        <p:spPr>
          <a:xfrm>
            <a:off x="777240" y="2075688"/>
            <a:ext cx="10637215" cy="3241548"/>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Antidote: N-acetylcysteine</a:t>
            </a:r>
            <a:r>
              <a:rPr lang="en-US" sz="1800" dirty="0">
                <a:solidFill>
                  <a:srgbClr val="1F1F1F"/>
                </a:solidFill>
              </a:rPr>
              <a:t>, a glutathione precursor — it replenishes glutathione to detoxify NAPQI.</a:t>
            </a:r>
            <a:r>
              <a:rPr lang="en-US" sz="1300" dirty="0">
                <a:solidFill>
                  <a:srgbClr val="666666"/>
                </a:solidFill>
              </a:rPr>
              <a:t>  S19; SG U2-R3</a:t>
            </a:r>
            <a:endParaRPr lang="en-US" sz="1800" dirty="0"/>
          </a:p>
          <a:p>
            <a:pPr marL="228600" indent="-228600">
              <a:spcAft>
                <a:spcPts val="800"/>
              </a:spcAft>
              <a:buSzPct val="100000"/>
              <a:buChar char="•"/>
            </a:pPr>
            <a:r>
              <a:rPr lang="en-US" sz="1800" dirty="0">
                <a:solidFill>
                  <a:srgbClr val="1F1F1F"/>
                </a:solidFill>
              </a:rPr>
              <a:t>Case: a patient on regular acetaminophen for back pain starts an OTC cold-and-flu combination. </a:t>
            </a:r>
            <a:r>
              <a:rPr lang="en-US" sz="1800" b="1" dirty="0">
                <a:solidFill>
                  <a:srgbClr val="1F1F1F"/>
                </a:solidFill>
              </a:rPr>
              <a:t>What is the hidden danger in this combination?</a:t>
            </a:r>
            <a:r>
              <a:rPr lang="en-US" sz="1800" dirty="0">
                <a:solidFill>
                  <a:srgbClr val="1F1F1F"/>
                </a:solidFill>
              </a:rPr>
              <a:t> Double-dosing acetaminophen.</a:t>
            </a:r>
            <a:r>
              <a:rPr lang="en-US" sz="1300" dirty="0">
                <a:solidFill>
                  <a:srgbClr val="666666"/>
                </a:solidFill>
              </a:rPr>
              <a:t>  S20</a:t>
            </a:r>
            <a:endParaRPr lang="en-US" sz="1800" dirty="0"/>
          </a:p>
          <a:p>
            <a:pPr marL="228600" indent="-228600">
              <a:spcAft>
                <a:spcPts val="800"/>
              </a:spcAft>
              <a:buSzPct val="100000"/>
              <a:buChar char="•"/>
            </a:pPr>
            <a:r>
              <a:rPr lang="en-US" sz="1800" b="1" dirty="0">
                <a:solidFill>
                  <a:srgbClr val="1F1F1F"/>
                </a:solidFill>
              </a:rPr>
              <a:t>Antidote: NAC (N-acetylcysteine) replenishes glutathione; give early for best effect.</a:t>
            </a:r>
            <a:r>
              <a:rPr lang="en-US" sz="1300" dirty="0">
                <a:solidFill>
                  <a:srgbClr val="666666"/>
                </a:solidFill>
              </a:rPr>
              <a:t>  S17; S17 (notes)</a:t>
            </a:r>
            <a:endParaRPr lang="en-US" sz="1800" dirty="0"/>
          </a:p>
          <a:p>
            <a:pPr marL="228600" indent="-228600">
              <a:spcAft>
                <a:spcPts val="800"/>
              </a:spcAft>
              <a:buSzPct val="100000"/>
              <a:buChar char="•"/>
            </a:pPr>
            <a:r>
              <a:rPr lang="en-US" sz="1800" dirty="0">
                <a:solidFill>
                  <a:srgbClr val="1F1F1F"/>
                </a:solidFill>
              </a:rPr>
              <a:t>Ask: “What is the danger of a cold-and-flu product on top of regular acetaminophen?” Look for unintentional double dosing from combination products.</a:t>
            </a:r>
            <a:r>
              <a:rPr lang="en-US" sz="1300" dirty="0">
                <a:solidFill>
                  <a:srgbClr val="666666"/>
                </a:solidFill>
              </a:rPr>
              <a:t>  S19 (notes)</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Other analgesics — tramadol:</a:t>
            </a:r>
            <a:r>
              <a:rPr lang="en-US" sz="1800" dirty="0">
                <a:solidFill>
                  <a:srgbClr val="1F1F1F"/>
                </a:solidFill>
              </a:rPr>
              <a:t> weak μ-opioid agonist plus serotonin/norepinephrine reuptake inhibition; no anti-inflammatory effect; up to 300 mg/day; risks serotonin syndrome and seizures.</a:t>
            </a:r>
            <a:r>
              <a:rPr lang="en-US" sz="1300" dirty="0">
                <a:solidFill>
                  <a:srgbClr val="666666"/>
                </a:solidFill>
              </a:rPr>
              <a:t>  p. 694; p. 695</a:t>
            </a:r>
            <a:endParaRPr lang="en-US"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ACETAMINOPHEN</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Rumack-Matthew nomogram: assessing toxicity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100" b="1" dirty="0">
                <a:solidFill>
                  <a:srgbClr val="2F4F8A"/>
                </a:solidFill>
              </a:rPr>
              <a:t>Objectives: SO2 · SO5 · IO2.1 · IO2.2 · IO2.6</a:t>
            </a:r>
            <a:endParaRPr lang="en-US" sz="11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33</a:t>
            </a:r>
            <a:endParaRPr lang="en-US" sz="1000" dirty="0"/>
          </a:p>
        </p:txBody>
      </p:sp>
      <p:pic>
        <p:nvPicPr>
          <p:cNvPr id="7" name="Figure S18_1.jpg" descr="/home/user/dpas-pharm/work/L03/figures/S18_1.jpg">    </p:cNvPr>
          <p:cNvPicPr>
            <a:picLocks noChangeAspect="1"/>
          </p:cNvPicPr>
          <p:nvPr/>
        </p:nvPicPr>
        <p:blipFill>
          <a:blip r:embed="rId1"/>
          <a:stretch>
            <a:fillRect/>
          </a:stretch>
        </p:blipFill>
        <p:spPr>
          <a:xfrm>
            <a:off x="3161051" y="1325880"/>
            <a:ext cx="5869593" cy="3919728"/>
          </a:xfrm>
          <a:prstGeom prst="rect">
            <a:avLst/>
          </a:prstGeom>
        </p:spPr>
      </p:pic>
      <p:sp>
        <p:nvSpPr>
          <p:cNvPr id="8" name="Figure caption"/>
          <p:cNvSpPr txBox="1"/>
          <p:nvPr/>
        </p:nvSpPr>
        <p:spPr>
          <a:xfrm>
            <a:off x="548640" y="5428488"/>
            <a:ext cx="11094415" cy="835152"/>
          </a:xfrm>
          <a:prstGeom prst="rect">
            <a:avLst/>
          </a:prstGeom>
          <a:noFill/>
          <a:ln/>
        </p:spPr>
        <p:txBody>
          <a:bodyPr wrap="square" lIns="0" tIns="0" rIns="0" bIns="0" rtlCol="0" anchor="t"/>
          <a:lstStyle/>
          <a:p>
            <a:pPr indent="0" marL="0">
              <a:buNone/>
            </a:pPr>
            <a:r>
              <a:rPr lang="en-US" sz="1600" dirty="0">
                <a:solidFill>
                  <a:srgbClr val="1F1F1F"/>
                </a:solidFill>
              </a:rPr>
              <a:t>Illustrative schematic for a single acute ingestion: the treatment line falls from 150 mcg/mL at 4 h to 4.7 mcg/mL at 24 h (halving every 4 h). Above the line: give NAC; below: toxicity unlikely; beyond 24 h the nomogram is not used. Example: 8 h, 120 mcg/mL is above the line.</a:t>
            </a:r>
            <a:r>
              <a:rPr lang="en-US" sz="1100" dirty="0">
                <a:solidFill>
                  <a:srgbClr val="666666"/>
                </a:solidFill>
              </a:rPr>
              <a:t>  S18; S18 (notes)</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ACETAMINOPHEN</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Acetaminophen vs. NSAIDs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100" b="1" dirty="0">
                <a:solidFill>
                  <a:srgbClr val="2F4F8A"/>
                </a:solidFill>
              </a:rPr>
              <a:t>Objectives: SO2 · SO5 · IO2.1 · IO2.2 · IO2.6</a:t>
            </a:r>
            <a:endParaRPr lang="en-US" sz="11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34</a:t>
            </a:r>
            <a:endParaRPr lang="en-US" sz="1000" dirty="0"/>
          </a:p>
        </p:txBody>
      </p:sp>
      <p:graphicFrame>
        <p:nvGraphicFramePr>
          <p:cNvPr id="35"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Acetaminophen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NSAIDs</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Pain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Yes (mild–moderate)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Yes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Fever</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Yes (hypothalamus)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Yes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Inflammation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Minimal — not reliable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Yes — powerful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Main danger</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Liver (NAPQI) in overdose or double-dosing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GI, renal, cardiovascular</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Antidote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N-acetylcysteine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Not covered in materials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371856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S15; S19; S23; S34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ACETAMINOPHEN</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100" b="1" dirty="0">
                <a:solidFill>
                  <a:srgbClr val="1F1F1F"/>
                </a:solidFill>
                <a:latin typeface="Calibri" pitchFamily="34" charset="0"/>
                <a:ea typeface="Calibri" pitchFamily="34" charset="-122"/>
                <a:cs typeface="Calibri" pitchFamily="34" charset="-120"/>
              </a:rPr>
              <a:t>Compare: Acetaminophen metabolism: therapeutic dose vs. overdose</a:t>
            </a:r>
            <a:endParaRPr lang="en-US" sz="21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100" b="1" dirty="0">
                <a:solidFill>
                  <a:srgbClr val="2F4F8A"/>
                </a:solidFill>
              </a:rPr>
              <a:t>Objectives: SO2 · SO5 · IO2.1 · IO2.2 · IO2.6</a:t>
            </a:r>
            <a:endParaRPr lang="en-US" sz="11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35</a:t>
            </a:r>
            <a:endParaRPr lang="en-US" sz="1000" dirty="0"/>
          </a:p>
        </p:txBody>
      </p:sp>
      <p:graphicFrame>
        <p:nvGraphicFramePr>
          <p:cNvPr id="36"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Therapeutic dose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Overdose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Glucuronidation + sulfation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~90% → safe urinary excretion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Saturated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CYP2E1 → NAPQI</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~5–10%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b="1" dirty="0">
                          <a:solidFill>
                            <a:srgbClr val="1F1F1F"/>
                          </a:solidFill>
                        </a:rPr>
                        <a:t>More drug shunted here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Glutathione (GSH)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Neutralizes NAPQI</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Exhausted</a:t>
                      </a:r>
                      <a:r>
                        <a:rPr lang="en-US" sz="1600" dirty="0">
                          <a:solidFill>
                            <a:srgbClr val="1F1F1F"/>
                          </a:solidFill>
                        </a:rPr>
                        <a:t> → NAPQI binds hepatocytes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Result</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Safe excretion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Centrilobular liver necrosis — give NAC early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3590544"/>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S16; S17; SG U2-R3</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ACETAMINOPHEN</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100" b="1" dirty="0">
                <a:solidFill>
                  <a:srgbClr val="2F4F8A"/>
                </a:solidFill>
              </a:rPr>
              <a:t>Objectives: SO2 · SO5 · IO2.1 · IO2.2 · IO2.6</a:t>
            </a:r>
            <a:endParaRPr lang="en-US" sz="11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36</a:t>
            </a:r>
            <a:endParaRPr lang="en-US" sz="1000" dirty="0"/>
          </a:p>
        </p:txBody>
      </p:sp>
      <p:sp>
        <p:nvSpPr>
          <p:cNvPr id="7" name="Why it happens card"/>
          <p:cNvSpPr/>
          <p:nvPr/>
        </p:nvSpPr>
        <p:spPr>
          <a:xfrm>
            <a:off x="548640" y="1325880"/>
            <a:ext cx="5364328" cy="2276856"/>
          </a:xfrm>
          <a:prstGeom prst="roundRect">
            <a:avLst>
              <a:gd name="adj" fmla="val 4819"/>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N-acetylcysteine work? Glutathione is what safely conjugates NAPQI. Overdose uses it up; N-acetylcysteine is a glutathione precursor, so it refills the supply.</a:t>
            </a:r>
            <a:r>
              <a:rPr lang="en-US" sz="1300" dirty="0">
                <a:solidFill>
                  <a:srgbClr val="666666"/>
                </a:solidFill>
              </a:rPr>
              <a:t>  S19; SG U2-R3</a:t>
            </a:r>
            <a:endParaRPr lang="en-US" sz="1800" dirty="0"/>
          </a:p>
        </p:txBody>
      </p:sp>
      <p:sp>
        <p:nvSpPr>
          <p:cNvPr id="12" name="Mnemonic (memory aid) card"/>
          <p:cNvSpPr/>
          <p:nvPr/>
        </p:nvSpPr>
        <p:spPr>
          <a:xfrm>
            <a:off x="6278728" y="1325880"/>
            <a:ext cx="5364328" cy="1719072"/>
          </a:xfrm>
          <a:prstGeom prst="roundRect">
            <a:avLst>
              <a:gd name="adj" fmla="val 6383"/>
            </a:avLst>
          </a:prstGeom>
          <a:solidFill>
            <a:srgbClr val="F2F4F7"/>
          </a:solidFill>
          <a:ln w="12700">
            <a:solidFill>
              <a:srgbClr val="F2F4F7"/>
            </a:solidFill>
            <a:prstDash val="solid"/>
          </a:ln>
        </p:spPr>
      </p:sp>
      <p:sp>
        <p:nvSpPr>
          <p:cNvPr id="13" name="Mnemonic (memory aid) icon circle"/>
          <p:cNvSpPr/>
          <p:nvPr/>
        </p:nvSpPr>
        <p:spPr>
          <a:xfrm>
            <a:off x="6507328" y="1508760"/>
            <a:ext cx="438912" cy="438912"/>
          </a:xfrm>
          <a:prstGeom prst="ellipse">
            <a:avLst/>
          </a:prstGeom>
          <a:solidFill>
            <a:srgbClr val="7030A0"/>
          </a:solidFill>
          <a:ln w="12700">
            <a:solidFill>
              <a:srgbClr val="7030A0"/>
            </a:solidFill>
            <a:prstDash val="solid"/>
          </a:ln>
        </p:spPr>
      </p:sp>
      <p:pic>
        <p:nvPicPr>
          <p:cNvPr id="14" name="Mnemonic (memory aid) icon" descr="preencoded.png">    </p:cNvPr>
          <p:cNvPicPr>
            <a:picLocks noChangeAspect="1"/>
          </p:cNvPicPr>
          <p:nvPr/>
        </p:nvPicPr>
        <p:blipFill>
          <a:blip r:embed="rId2"/>
          <a:stretch>
            <a:fillRect/>
          </a:stretch>
        </p:blipFill>
        <p:spPr>
          <a:xfrm>
            <a:off x="6607912" y="1609344"/>
            <a:ext cx="237744" cy="237744"/>
          </a:xfrm>
          <a:prstGeom prst="rect">
            <a:avLst/>
          </a:prstGeom>
        </p:spPr>
      </p:pic>
      <p:sp>
        <p:nvSpPr>
          <p:cNvPr id="15" name="Mnemonic (memory aid)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16" name="Mnemonic (memory aid) body"/>
          <p:cNvSpPr txBox="1"/>
          <p:nvPr/>
        </p:nvSpPr>
        <p:spPr>
          <a:xfrm>
            <a:off x="6507328" y="2075688"/>
            <a:ext cx="4907128" cy="85039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Acetaminophen does </a:t>
            </a:r>
            <a:r>
              <a:rPr lang="en-US" sz="1800" b="1" dirty="0">
                <a:solidFill>
                  <a:srgbClr val="1F1F1F"/>
                </a:solidFill>
              </a:rPr>
              <a:t>P</a:t>
            </a:r>
            <a:r>
              <a:rPr lang="en-US" sz="1800" dirty="0">
                <a:solidFill>
                  <a:srgbClr val="1F1F1F"/>
                </a:solidFill>
              </a:rPr>
              <a:t>ain and </a:t>
            </a:r>
            <a:r>
              <a:rPr lang="en-US" sz="1800" b="1" dirty="0">
                <a:solidFill>
                  <a:srgbClr val="1F1F1F"/>
                </a:solidFill>
              </a:rPr>
              <a:t>P</a:t>
            </a:r>
            <a:r>
              <a:rPr lang="en-US" sz="1800" dirty="0">
                <a:solidFill>
                  <a:srgbClr val="1F1F1F"/>
                </a:solidFill>
              </a:rPr>
              <a:t>yrexia, not </a:t>
            </a:r>
            <a:r>
              <a:rPr lang="en-US" sz="1800" b="1" dirty="0">
                <a:solidFill>
                  <a:srgbClr val="1F1F1F"/>
                </a:solidFill>
              </a:rPr>
              <a:t>P</a:t>
            </a:r>
            <a:r>
              <a:rPr lang="en-US" sz="1800" dirty="0">
                <a:solidFill>
                  <a:srgbClr val="1F1F1F"/>
                </a:solidFill>
              </a:rPr>
              <a:t>uffiness (inflammation).</a:t>
            </a:r>
            <a:r>
              <a:rPr lang="en-US" sz="1300" dirty="0">
                <a:solidFill>
                  <a:srgbClr val="666666"/>
                </a:solidFill>
              </a:rPr>
              <a:t>  S15</a:t>
            </a:r>
            <a:endParaRPr lang="en-US" sz="1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ACETAMINOPHEN</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100" b="1" dirty="0">
                <a:solidFill>
                  <a:srgbClr val="2F4F8A"/>
                </a:solidFill>
              </a:rPr>
              <a:t>Objectives: SO2 · SO5 · IO2.1 · IO2.2 · IO2.6</a:t>
            </a:r>
            <a:endParaRPr lang="en-US" sz="11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37</a:t>
            </a:r>
            <a:endParaRPr lang="en-US" sz="1000" dirty="0"/>
          </a:p>
        </p:txBody>
      </p:sp>
      <p:sp>
        <p:nvSpPr>
          <p:cNvPr id="7" name="If you remember nothing else card"/>
          <p:cNvSpPr/>
          <p:nvPr/>
        </p:nvSpPr>
        <p:spPr>
          <a:xfrm>
            <a:off x="548640" y="1325880"/>
            <a:ext cx="11094415" cy="3552444"/>
          </a:xfrm>
          <a:prstGeom prst="roundRect">
            <a:avLst>
              <a:gd name="adj" fmla="val 3089"/>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268376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Acetaminophen treats pain and fever but is not a reliable anti-inflammatory agent; its overdose toxicity is mediated by NAPQI accumulation.</a:t>
            </a:r>
            <a:r>
              <a:rPr lang="en-US" sz="1300" dirty="0">
                <a:solidFill>
                  <a:srgbClr val="666666"/>
                </a:solidFill>
              </a:rPr>
              <a:t>  S61; S15; S19</a:t>
            </a:r>
            <a:endParaRPr lang="en-US" sz="1800" dirty="0"/>
          </a:p>
          <a:p>
            <a:pPr marL="228600" indent="-228600">
              <a:spcAft>
                <a:spcPts val="800"/>
              </a:spcAft>
              <a:buSzPct val="100000"/>
              <a:buChar char="•"/>
            </a:pPr>
            <a:r>
              <a:rPr lang="en-US" sz="1800" dirty="0">
                <a:solidFill>
                  <a:srgbClr val="1F1F1F"/>
                </a:solidFill>
              </a:rPr>
              <a:t>Overdose: glutathione depleted → NAPQI → hepatocyte injury.</a:t>
            </a:r>
            <a:r>
              <a:rPr lang="en-US" sz="1300" dirty="0">
                <a:solidFill>
                  <a:srgbClr val="666666"/>
                </a:solidFill>
              </a:rPr>
              <a:t>  S19</a:t>
            </a:r>
            <a:endParaRPr lang="en-US" sz="1800" dirty="0"/>
          </a:p>
          <a:p>
            <a:pPr marL="228600" indent="-228600">
              <a:spcAft>
                <a:spcPts val="800"/>
              </a:spcAft>
              <a:buSzPct val="100000"/>
              <a:buChar char="•"/>
            </a:pPr>
            <a:r>
              <a:rPr lang="en-US" sz="1800" dirty="0">
                <a:solidFill>
                  <a:srgbClr val="1F1F1F"/>
                </a:solidFill>
              </a:rPr>
              <a:t>Antidote: N-acetylcysteine (glutathione precursor).</a:t>
            </a:r>
            <a:r>
              <a:rPr lang="en-US" sz="1300" dirty="0">
                <a:solidFill>
                  <a:srgbClr val="666666"/>
                </a:solidFill>
              </a:rPr>
              <a:t>  S19; SG U2-R3</a:t>
            </a:r>
            <a:endParaRPr lang="en-US" sz="1800" dirty="0"/>
          </a:p>
          <a:p>
            <a:pPr marL="228600" indent="-228600">
              <a:spcAft>
                <a:spcPts val="800"/>
              </a:spcAft>
              <a:buSzPct val="100000"/>
              <a:buChar char="•"/>
            </a:pPr>
            <a:r>
              <a:rPr lang="en-US" sz="1800" dirty="0">
                <a:solidFill>
                  <a:srgbClr val="1F1F1F"/>
                </a:solidFill>
              </a:rPr>
              <a:t>Ask about ALL sources — combination cold/flu/sleep products hide acetaminophen.</a:t>
            </a:r>
            <a:r>
              <a:rPr lang="en-US" sz="1300" dirty="0">
                <a:solidFill>
                  <a:srgbClr val="666666"/>
                </a:solidFill>
              </a:rPr>
              <a:t>  S20</a:t>
            </a:r>
            <a:endParaRPr lang="en-US" sz="1800" dirty="0"/>
          </a:p>
          <a:p>
            <a:pPr marL="228600" indent="-228600">
              <a:spcAft>
                <a:spcPts val="800"/>
              </a:spcAft>
              <a:buSzPct val="100000"/>
              <a:buChar char="•"/>
            </a:pPr>
            <a:r>
              <a:rPr lang="en-US" sz="1800" dirty="0">
                <a:solidFill>
                  <a:srgbClr val="1F1F1F"/>
                </a:solidFill>
              </a:rPr>
              <a:t>Acetaminophen is central, with no real anti-inflammatory effect. Overdose means NAPQI, and the antidote is NAC.</a:t>
            </a:r>
            <a:r>
              <a:rPr lang="en-US" sz="1300" dirty="0">
                <a:solidFill>
                  <a:srgbClr val="666666"/>
                </a:solidFill>
              </a:rPr>
              <a:t>  S61 (notes)</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S20</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3</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100" b="1" dirty="0">
                <a:solidFill>
                  <a:srgbClr val="2F4F8A"/>
                </a:solidFill>
              </a:rPr>
              <a:t>Objectives: SO2 · SO5 · IO2.1 · IO2.2 · IO2.6</a:t>
            </a:r>
            <a:endParaRPr lang="en-US" sz="11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38</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takes acetaminophen regularly for chronic back pain. For a cold, they also start an over-the-counter combination cold-and-flu medication. What is the hidden danger in this combination?</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Unintentional acetaminophen double-dosing, risking liver injury</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Kidney injury from the decongestant in the product</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Additive GI bleeding from two anti-inflammatory drugs</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Masking of fever, which hides a bacterial infection</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CYP inhibitor in the cold product raising its level</a:t>
            </a:r>
            <a:endParaRPr lang="en-US" sz="1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3: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100" b="1" dirty="0">
                <a:solidFill>
                  <a:srgbClr val="2F4F8A"/>
                </a:solidFill>
              </a:rPr>
              <a:t>Objectives: SO2 · SO5 · IO2.1 · IO2.2 · IO2.6</a:t>
            </a:r>
            <a:endParaRPr lang="en-US" sz="11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39</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Unintentional acetaminophen double-dosing, risking liver injury</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Many combination cold, flu, and sleep products also contain acetaminophen; unintentional double-dosing is a leading cause of acetaminophen-related liver injury (S20).</a:t>
            </a:r>
            <a:r>
              <a:rPr lang="en-US" sz="1100" dirty="0">
                <a:solidFill>
                  <a:srgbClr val="666666"/>
                </a:solidFill>
              </a:rPr>
              <a:t>  S20</a:t>
            </a:r>
            <a:endParaRPr lang="en-US" sz="1600" dirty="0"/>
          </a:p>
        </p:txBody>
      </p:sp>
      <p:sp>
        <p:nvSpPr>
          <p:cNvPr id="11" name="Why others wrong card"/>
          <p:cNvSpPr/>
          <p:nvPr/>
        </p:nvSpPr>
        <p:spPr>
          <a:xfrm>
            <a:off x="548640" y="2873248"/>
            <a:ext cx="11094415" cy="2200656"/>
          </a:xfrm>
          <a:prstGeom prst="roundRect">
            <a:avLst>
              <a:gd name="adj" fmla="val 4155"/>
            </a:avLst>
          </a:prstGeom>
          <a:solidFill>
            <a:srgbClr val="F2F4F7"/>
          </a:solidFill>
          <a:ln w="12700">
            <a:solidFill>
              <a:srgbClr val="F2F4F7"/>
            </a:solidFill>
            <a:prstDash val="solid"/>
          </a:ln>
        </p:spPr>
      </p:sp>
      <p:sp>
        <p:nvSpPr>
          <p:cNvPr id="12" name="Why others wrong"/>
          <p:cNvSpPr txBox="1"/>
          <p:nvPr/>
        </p:nvSpPr>
        <p:spPr>
          <a:xfrm>
            <a:off x="777240" y="2982976"/>
            <a:ext cx="10637215" cy="2017776"/>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Kidney injury from the decongestant in the product — </a:t>
            </a:r>
            <a:r>
              <a:rPr lang="en-US" sz="1600" dirty="0">
                <a:solidFill>
                  <a:srgbClr val="1F1F1F"/>
                </a:solidFill>
              </a:rPr>
              <a:t>The lecture’s concern is liver injury from hidden acetaminophen (S20).</a:t>
            </a:r>
            <a:endParaRPr lang="en-US" sz="1600" dirty="0"/>
          </a:p>
          <a:p>
            <a:pPr indent="0" marL="0">
              <a:buNone/>
            </a:pPr>
            <a:r>
              <a:rPr lang="en-US" sz="1600" b="1" dirty="0">
                <a:solidFill>
                  <a:srgbClr val="1F1F1F"/>
                </a:solidFill>
              </a:rPr>
              <a:t>C. Additive GI bleeding from two anti-inflammatory drugs — </a:t>
            </a:r>
            <a:r>
              <a:rPr lang="en-US" sz="1600" dirty="0">
                <a:solidFill>
                  <a:srgbClr val="1F1F1F"/>
                </a:solidFill>
              </a:rPr>
              <a:t>Acetaminophen is not an anti-inflammatory and GI bleeding is an NSAID risk (S15; S34).</a:t>
            </a:r>
            <a:endParaRPr lang="en-US" sz="1600" dirty="0"/>
          </a:p>
          <a:p>
            <a:pPr indent="0" marL="0">
              <a:buNone/>
            </a:pPr>
            <a:r>
              <a:rPr lang="en-US" sz="1600" b="1" dirty="0">
                <a:solidFill>
                  <a:srgbClr val="1F1F1F"/>
                </a:solidFill>
              </a:rPr>
              <a:t>D. Masking of fever, which hides a bacterial infection — </a:t>
            </a:r>
            <a:r>
              <a:rPr lang="en-US" sz="1600" dirty="0">
                <a:solidFill>
                  <a:srgbClr val="1F1F1F"/>
                </a:solidFill>
              </a:rPr>
              <a:t>Not the point of the case — the hidden danger is double-dosing (S20).</a:t>
            </a:r>
            <a:endParaRPr lang="en-US" sz="1600" dirty="0"/>
          </a:p>
          <a:p>
            <a:pPr indent="0" marL="0">
              <a:buNone/>
            </a:pPr>
            <a:r>
              <a:rPr lang="en-US" sz="1600" b="1" dirty="0">
                <a:solidFill>
                  <a:srgbClr val="1F1F1F"/>
                </a:solidFill>
              </a:rPr>
              <a:t>E. A CYP inhibitor in the cold product raising its level — </a:t>
            </a:r>
            <a:r>
              <a:rPr lang="en-US" sz="1600" dirty="0">
                <a:solidFill>
                  <a:srgbClr val="1F1F1F"/>
                </a:solidFill>
              </a:rPr>
              <a:t>The danger is a second source of the same drug, not an enzyme interaction (S20).</a:t>
            </a:r>
            <a:endParaRPr lang="en-US" sz="16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5</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100" b="1" dirty="0">
                <a:solidFill>
                  <a:srgbClr val="2F4F8A"/>
                </a:solidFill>
              </a:rPr>
              <a:t>Objectives: SO2 · SO5 · IO2.1 · IO2.2 · IO2.6</a:t>
            </a:r>
            <a:endParaRPr lang="en-US" sz="11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40</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40-year-old with an acutely swollen, inflamed knee asks for the drug that best treats the inflammation itself. Why is acetaminophen not the best choice?</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only works when given intravenously in hospital</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causes more GI bleeding than the NSAIDs do</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is contraindicated in anyone with joint swelling</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Its anti-inflammatory effect at the periphery is minimal</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has no analgesic effect in musculoskeletal pain</a:t>
            </a:r>
            <a:endParaRPr lang="en-US" sz="1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5: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100" b="1" dirty="0">
                <a:solidFill>
                  <a:srgbClr val="2F4F8A"/>
                </a:solidFill>
              </a:rPr>
              <a:t>Objectives: SO2 · SO5 · IO2.1 · IO2.2 · IO2.6</a:t>
            </a:r>
            <a:endParaRPr lang="en-US" sz="11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41</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Its anti-inflammatory effect at the periphery is minimal</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Acetaminophen relieves pain and fever centrally, but its peripheral anti-inflammatory effect is minimal — it is not a reliable anti-inflammatory agent (S15).</a:t>
            </a:r>
            <a:r>
              <a:rPr lang="en-US" sz="1100" dirty="0">
                <a:solidFill>
                  <a:srgbClr val="666666"/>
                </a:solidFill>
              </a:rPr>
              <a:t>  S15</a:t>
            </a:r>
            <a:endParaRPr lang="en-US" sz="1600" dirty="0"/>
          </a:p>
        </p:txBody>
      </p:sp>
      <p:sp>
        <p:nvSpPr>
          <p:cNvPr id="11" name="Why others wrong card"/>
          <p:cNvSpPr/>
          <p:nvPr/>
        </p:nvSpPr>
        <p:spPr>
          <a:xfrm>
            <a:off x="548640" y="2873248"/>
            <a:ext cx="11094415" cy="2200656"/>
          </a:xfrm>
          <a:prstGeom prst="roundRect">
            <a:avLst>
              <a:gd name="adj" fmla="val 4155"/>
            </a:avLst>
          </a:prstGeom>
          <a:solidFill>
            <a:srgbClr val="F2F4F7"/>
          </a:solidFill>
          <a:ln w="12700">
            <a:solidFill>
              <a:srgbClr val="F2F4F7"/>
            </a:solidFill>
            <a:prstDash val="solid"/>
          </a:ln>
        </p:spPr>
      </p:sp>
      <p:sp>
        <p:nvSpPr>
          <p:cNvPr id="12" name="Why others wrong"/>
          <p:cNvSpPr txBox="1"/>
          <p:nvPr/>
        </p:nvSpPr>
        <p:spPr>
          <a:xfrm>
            <a:off x="777240" y="2982976"/>
            <a:ext cx="10637215" cy="2017776"/>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It only works when given intravenously in hospital — </a:t>
            </a:r>
            <a:r>
              <a:rPr lang="en-US" sz="1600" dirty="0">
                <a:solidFill>
                  <a:srgbClr val="1F1F1F"/>
                </a:solidFill>
              </a:rPr>
              <a:t>No route restriction is taught; it is used orally first-line for mild OA pain (S43).</a:t>
            </a:r>
            <a:endParaRPr lang="en-US" sz="1600" dirty="0"/>
          </a:p>
          <a:p>
            <a:pPr indent="0" marL="0">
              <a:buNone/>
            </a:pPr>
            <a:r>
              <a:rPr lang="en-US" sz="1600" b="1" dirty="0">
                <a:solidFill>
                  <a:srgbClr val="1F1F1F"/>
                </a:solidFill>
              </a:rPr>
              <a:t>B. It causes more GI bleeding than the NSAIDs do — </a:t>
            </a:r>
            <a:r>
              <a:rPr lang="en-US" sz="1600" dirty="0">
                <a:solidFill>
                  <a:srgbClr val="1F1F1F"/>
                </a:solidFill>
              </a:rPr>
              <a:t>GI bleeding is the NSAID risk (S34).</a:t>
            </a:r>
            <a:endParaRPr lang="en-US" sz="1600" dirty="0"/>
          </a:p>
          <a:p>
            <a:pPr indent="0" marL="0">
              <a:buNone/>
            </a:pPr>
            <a:r>
              <a:rPr lang="en-US" sz="1600" b="1" dirty="0">
                <a:solidFill>
                  <a:srgbClr val="1F1F1F"/>
                </a:solidFill>
              </a:rPr>
              <a:t>C. It is contraindicated in anyone with joint swelling — </a:t>
            </a:r>
            <a:r>
              <a:rPr lang="en-US" sz="1600" dirty="0">
                <a:solidFill>
                  <a:srgbClr val="1F1F1F"/>
                </a:solidFill>
              </a:rPr>
              <a:t>No such contraindication is taught; the issue is weak anti-inflammatory action (S15).</a:t>
            </a:r>
            <a:endParaRPr lang="en-US" sz="1600" dirty="0"/>
          </a:p>
          <a:p>
            <a:pPr indent="0" marL="0">
              <a:buNone/>
            </a:pPr>
            <a:r>
              <a:rPr lang="en-US" sz="1600" b="1" dirty="0">
                <a:solidFill>
                  <a:srgbClr val="1F1F1F"/>
                </a:solidFill>
              </a:rPr>
              <a:t>E. It has no analgesic effect in musculoskeletal pain — </a:t>
            </a:r>
            <a:r>
              <a:rPr lang="en-US" sz="1600" dirty="0">
                <a:solidFill>
                  <a:srgbClr val="1F1F1F"/>
                </a:solidFill>
              </a:rPr>
              <a:t>It does relieve mild-to-moderate pain (S15).</a:t>
            </a:r>
            <a:endParaRPr lang="en-US" sz="16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S21-22</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6</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100" b="1" dirty="0">
                <a:solidFill>
                  <a:srgbClr val="2F4F8A"/>
                </a:solidFill>
              </a:rPr>
              <a:t>Objectives: SO2 · SO5 · IO2.1 · IO2.2 · IO2.6</a:t>
            </a:r>
            <a:endParaRPr lang="en-US" sz="11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42</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In acetaminophen overdose, hepatotoxicity results primarily from which mechanism?</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Renal crystal formation from acetaminophen metabolites</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Accumulation of NAPQI after glutathione stores are depleted</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Platelet TXA2 loss causing bleeding within the liver</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Direct COX inhibition in liver cells by the parent drug</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Excess Phase II glucuronidation of the parent drug</a:t>
            </a:r>
            <a:endParaRPr lang="en-US" sz="1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6: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100" b="1" dirty="0">
                <a:solidFill>
                  <a:srgbClr val="2F4F8A"/>
                </a:solidFill>
              </a:rPr>
              <a:t>Objectives: SO2 · SO5 · IO2.1 · IO2.2 · IO2.6</a:t>
            </a:r>
            <a:endParaRPr lang="en-US" sz="11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43</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Accumulation of NAPQI after glutathione stores are depleted</a:t>
            </a:r>
            <a:endParaRPr lang="en-US" sz="1600" dirty="0"/>
          </a:p>
        </p:txBody>
      </p:sp>
      <p:sp>
        <p:nvSpPr>
          <p:cNvPr id="10" name="Why correct"/>
          <p:cNvSpPr txBox="1"/>
          <p:nvPr/>
        </p:nvSpPr>
        <p:spPr>
          <a:xfrm>
            <a:off x="777240" y="2011680"/>
            <a:ext cx="10637215" cy="972312"/>
          </a:xfrm>
          <a:prstGeom prst="rect">
            <a:avLst/>
          </a:prstGeom>
          <a:noFill/>
          <a:ln/>
        </p:spPr>
        <p:txBody>
          <a:bodyPr wrap="square" lIns="0" tIns="0" rIns="0" bIns="0" rtlCol="0" anchor="t"/>
          <a:lstStyle/>
          <a:p>
            <a:pPr indent="0" marL="0">
              <a:buNone/>
            </a:pPr>
            <a:r>
              <a:rPr lang="en-US" sz="1600" dirty="0">
                <a:solidFill>
                  <a:srgbClr val="1F1F1F"/>
                </a:solidFill>
              </a:rPr>
              <a:t>NAPQI, normally detoxified by conjugation with glutathione, accumulates once glutathione stores are exhausted in overdose, causing hepatocyte injury — which is why N-acetylcysteine (a glutathione precursor) is the antidote (S22; SG U2-R3).</a:t>
            </a:r>
            <a:r>
              <a:rPr lang="en-US" sz="1100" dirty="0">
                <a:solidFill>
                  <a:srgbClr val="666666"/>
                </a:solidFill>
              </a:rPr>
              <a:t>  S21-22; S17; SG U2-R3</a:t>
            </a:r>
            <a:endParaRPr lang="en-US" sz="1600" dirty="0"/>
          </a:p>
        </p:txBody>
      </p:sp>
      <p:sp>
        <p:nvSpPr>
          <p:cNvPr id="11" name="Why others wrong card"/>
          <p:cNvSpPr/>
          <p:nvPr/>
        </p:nvSpPr>
        <p:spPr>
          <a:xfrm>
            <a:off x="548640" y="3121152"/>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3230880"/>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Renal crystal formation from acetaminophen metabolites — </a:t>
            </a:r>
            <a:r>
              <a:rPr lang="en-US" sz="1600" dirty="0">
                <a:solidFill>
                  <a:srgbClr val="1F1F1F"/>
                </a:solidFill>
              </a:rPr>
              <a:t>Not the mechanism of acetaminophen hepatotoxicity (S22).</a:t>
            </a:r>
            <a:endParaRPr lang="en-US" sz="1600" dirty="0"/>
          </a:p>
          <a:p>
            <a:pPr indent="0" marL="0">
              <a:buNone/>
            </a:pPr>
            <a:r>
              <a:rPr lang="en-US" sz="1600" b="1" dirty="0">
                <a:solidFill>
                  <a:srgbClr val="1F1F1F"/>
                </a:solidFill>
              </a:rPr>
              <a:t>C. Platelet TXA2 loss causing bleeding within the liver — </a:t>
            </a:r>
            <a:r>
              <a:rPr lang="en-US" sz="1600" dirty="0">
                <a:solidFill>
                  <a:srgbClr val="1F1F1F"/>
                </a:solidFill>
              </a:rPr>
              <a:t>TXA2 loss is an NSAID effect (S35).</a:t>
            </a:r>
            <a:endParaRPr lang="en-US" sz="1600" dirty="0"/>
          </a:p>
          <a:p>
            <a:pPr indent="0" marL="0">
              <a:buNone/>
            </a:pPr>
            <a:r>
              <a:rPr lang="en-US" sz="1600" b="1" dirty="0">
                <a:solidFill>
                  <a:srgbClr val="1F1F1F"/>
                </a:solidFill>
              </a:rPr>
              <a:t>D. Direct COX inhibition in liver cells by the parent drug — </a:t>
            </a:r>
            <a:r>
              <a:rPr lang="en-US" sz="1600" dirty="0">
                <a:solidFill>
                  <a:srgbClr val="1F1F1F"/>
                </a:solidFill>
              </a:rPr>
              <a:t>Acetaminophen’s liver injury comes from NAPQI, not COX inhibition (S22).</a:t>
            </a:r>
            <a:endParaRPr lang="en-US" sz="1600" dirty="0"/>
          </a:p>
          <a:p>
            <a:pPr indent="0" marL="0">
              <a:buNone/>
            </a:pPr>
            <a:r>
              <a:rPr lang="en-US" sz="1600" b="1" dirty="0">
                <a:solidFill>
                  <a:srgbClr val="1F1F1F"/>
                </a:solidFill>
              </a:rPr>
              <a:t>E. Excess Phase II glucuronidation of the parent drug — </a:t>
            </a:r>
            <a:r>
              <a:rPr lang="en-US" sz="1600" dirty="0">
                <a:solidFill>
                  <a:srgbClr val="1F1F1F"/>
                </a:solidFill>
              </a:rPr>
              <a:t>Glucuronidation is the safe route; it saturates in overdose (S16-17).</a:t>
            </a:r>
            <a:endParaRPr lang="en-US" sz="16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Drug class 3 of 4</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NSAIDs &amp; COX-2 Selective Inhibition</a:t>
            </a:r>
            <a:endParaRPr lang="en-US" sz="44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SO2 · SO3 · SO5 · IO2.1 · IO2.2 · IO2.3 · IO2.4</a:t>
            </a:r>
            <a:endParaRPr lang="en-US" sz="1800" dirty="0"/>
          </a:p>
        </p:txBody>
      </p:sp>
      <p:sp>
        <p:nvSpPr>
          <p:cNvPr id="5" name="Shape 3"/>
          <p:cNvSpPr/>
          <p:nvPr/>
        </p:nvSpPr>
        <p:spPr>
          <a:xfrm>
            <a:off x="783321"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938769" y="4453128"/>
            <a:ext cx="329184" cy="329184"/>
          </a:xfrm>
          <a:prstGeom prst="rect">
            <a:avLst/>
          </a:prstGeom>
        </p:spPr>
      </p:pic>
      <p:sp>
        <p:nvSpPr>
          <p:cNvPr id="7" name="Text 4"/>
          <p:cNvSpPr txBox="1"/>
          <p:nvPr/>
        </p:nvSpPr>
        <p:spPr>
          <a:xfrm>
            <a:off x="594360" y="5029200"/>
            <a:ext cx="1018002" cy="640080"/>
          </a:xfrm>
          <a:prstGeom prst="rect">
            <a:avLst/>
          </a:prstGeom>
          <a:noFill/>
          <a:ln/>
        </p:spPr>
        <p:txBody>
          <a:bodyPr wrap="square" lIns="0" tIns="0" rIns="0" bIns="0" rtlCol="0" anchor="t"/>
          <a:lstStyle/>
          <a:p>
            <a:pPr algn="ctr" indent="0" marL="0">
              <a:buNone/>
            </a:pPr>
            <a:r>
              <a:rPr lang="en-US" sz="1000" dirty="0">
                <a:solidFill>
                  <a:srgbClr val="FFFFFF"/>
                </a:solidFill>
              </a:rPr>
              <a:t>Class</a:t>
            </a:r>
            <a:endParaRPr lang="en-US" sz="1000" dirty="0"/>
          </a:p>
        </p:txBody>
      </p:sp>
      <p:sp>
        <p:nvSpPr>
          <p:cNvPr id="8" name="Shape 5"/>
          <p:cNvSpPr/>
          <p:nvPr/>
        </p:nvSpPr>
        <p:spPr>
          <a:xfrm>
            <a:off x="1892762" y="4297680"/>
            <a:ext cx="640080" cy="640080"/>
          </a:xfrm>
          <a:prstGeom prst="ellipse">
            <a:avLst/>
          </a:prstGeom>
          <a:solidFill>
            <a:srgbClr val="4472C4"/>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2048210" y="4453128"/>
            <a:ext cx="329184" cy="329184"/>
          </a:xfrm>
          <a:prstGeom prst="rect">
            <a:avLst/>
          </a:prstGeom>
        </p:spPr>
      </p:pic>
      <p:sp>
        <p:nvSpPr>
          <p:cNvPr id="10" name="Text 6"/>
          <p:cNvSpPr txBox="1"/>
          <p:nvPr/>
        </p:nvSpPr>
        <p:spPr>
          <a:xfrm>
            <a:off x="1703802" y="5029200"/>
            <a:ext cx="1018002" cy="640080"/>
          </a:xfrm>
          <a:prstGeom prst="rect">
            <a:avLst/>
          </a:prstGeom>
          <a:noFill/>
          <a:ln/>
        </p:spPr>
        <p:txBody>
          <a:bodyPr wrap="square" lIns="0" tIns="0" rIns="0" bIns="0" rtlCol="0" anchor="t"/>
          <a:lstStyle/>
          <a:p>
            <a:pPr algn="ctr" indent="0" marL="0">
              <a:buNone/>
            </a:pPr>
            <a:r>
              <a:rPr lang="en-US" sz="1000" dirty="0">
                <a:solidFill>
                  <a:srgbClr val="FFFFFF"/>
                </a:solidFill>
              </a:rPr>
              <a:t>Prototype</a:t>
            </a:r>
            <a:endParaRPr lang="en-US" sz="1000" dirty="0"/>
          </a:p>
        </p:txBody>
      </p:sp>
      <p:sp>
        <p:nvSpPr>
          <p:cNvPr id="11" name="Shape 7"/>
          <p:cNvSpPr/>
          <p:nvPr/>
        </p:nvSpPr>
        <p:spPr>
          <a:xfrm>
            <a:off x="3002204" y="4297680"/>
            <a:ext cx="640080" cy="640080"/>
          </a:xfrm>
          <a:prstGeom prst="ellipse">
            <a:avLst/>
          </a:prstGeom>
          <a:solidFill>
            <a:srgbClr val="7030A0"/>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3157652" y="4453128"/>
            <a:ext cx="329184" cy="329184"/>
          </a:xfrm>
          <a:prstGeom prst="rect">
            <a:avLst/>
          </a:prstGeom>
        </p:spPr>
      </p:pic>
      <p:sp>
        <p:nvSpPr>
          <p:cNvPr id="13" name="Text 8"/>
          <p:cNvSpPr txBox="1"/>
          <p:nvPr/>
        </p:nvSpPr>
        <p:spPr>
          <a:xfrm>
            <a:off x="2813243" y="5029200"/>
            <a:ext cx="1018002" cy="640080"/>
          </a:xfrm>
          <a:prstGeom prst="rect">
            <a:avLst/>
          </a:prstGeom>
          <a:noFill/>
          <a:ln/>
        </p:spPr>
        <p:txBody>
          <a:bodyPr wrap="square" lIns="0" tIns="0" rIns="0" bIns="0" rtlCol="0" anchor="t"/>
          <a:lstStyle/>
          <a:p>
            <a:pPr algn="ctr" indent="0" marL="0">
              <a:buNone/>
            </a:pPr>
            <a:r>
              <a:rPr lang="en-US" sz="1000" dirty="0">
                <a:solidFill>
                  <a:srgbClr val="FFFFFF"/>
                </a:solidFill>
              </a:rPr>
              <a:t>Mechanism of action</a:t>
            </a:r>
            <a:endParaRPr lang="en-US" sz="1000" dirty="0"/>
          </a:p>
        </p:txBody>
      </p:sp>
      <p:sp>
        <p:nvSpPr>
          <p:cNvPr id="14" name="Shape 9"/>
          <p:cNvSpPr/>
          <p:nvPr/>
        </p:nvSpPr>
        <p:spPr>
          <a:xfrm>
            <a:off x="4111645" y="4297680"/>
            <a:ext cx="640080" cy="640080"/>
          </a:xfrm>
          <a:prstGeom prst="ellipse">
            <a:avLst/>
          </a:prstGeom>
          <a:solidFill>
            <a:srgbClr val="548235"/>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4267093" y="4453128"/>
            <a:ext cx="329184" cy="329184"/>
          </a:xfrm>
          <a:prstGeom prst="rect">
            <a:avLst/>
          </a:prstGeom>
        </p:spPr>
      </p:pic>
      <p:sp>
        <p:nvSpPr>
          <p:cNvPr id="16" name="Text 10"/>
          <p:cNvSpPr txBox="1"/>
          <p:nvPr/>
        </p:nvSpPr>
        <p:spPr>
          <a:xfrm>
            <a:off x="3922685" y="5029200"/>
            <a:ext cx="1018002" cy="640080"/>
          </a:xfrm>
          <a:prstGeom prst="rect">
            <a:avLst/>
          </a:prstGeom>
          <a:noFill/>
          <a:ln/>
        </p:spPr>
        <p:txBody>
          <a:bodyPr wrap="square" lIns="0" tIns="0" rIns="0" bIns="0" rtlCol="0" anchor="t"/>
          <a:lstStyle/>
          <a:p>
            <a:pPr algn="ctr" indent="0" marL="0">
              <a:buNone/>
            </a:pPr>
            <a:r>
              <a:rPr lang="en-US" sz="1000" dirty="0">
                <a:solidFill>
                  <a:srgbClr val="FFFFFF"/>
                </a:solidFill>
              </a:rPr>
              <a:t>Indications</a:t>
            </a:r>
            <a:endParaRPr lang="en-US" sz="1000" dirty="0"/>
          </a:p>
        </p:txBody>
      </p:sp>
      <p:sp>
        <p:nvSpPr>
          <p:cNvPr id="17" name="Shape 11"/>
          <p:cNvSpPr/>
          <p:nvPr/>
        </p:nvSpPr>
        <p:spPr>
          <a:xfrm>
            <a:off x="5221087" y="4297680"/>
            <a:ext cx="640080" cy="640080"/>
          </a:xfrm>
          <a:prstGeom prst="ellipse">
            <a:avLst/>
          </a:prstGeom>
          <a:solidFill>
            <a:srgbClr val="C55A11"/>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5376535" y="4453128"/>
            <a:ext cx="329184" cy="329184"/>
          </a:xfrm>
          <a:prstGeom prst="rect">
            <a:avLst/>
          </a:prstGeom>
        </p:spPr>
      </p:pic>
      <p:sp>
        <p:nvSpPr>
          <p:cNvPr id="19" name="Text 12"/>
          <p:cNvSpPr txBox="1"/>
          <p:nvPr/>
        </p:nvSpPr>
        <p:spPr>
          <a:xfrm>
            <a:off x="5032126" y="5029200"/>
            <a:ext cx="1018002" cy="640080"/>
          </a:xfrm>
          <a:prstGeom prst="rect">
            <a:avLst/>
          </a:prstGeom>
          <a:noFill/>
          <a:ln/>
        </p:spPr>
        <p:txBody>
          <a:bodyPr wrap="square" lIns="0" tIns="0" rIns="0" bIns="0" rtlCol="0" anchor="t"/>
          <a:lstStyle/>
          <a:p>
            <a:pPr algn="ctr" indent="0" marL="0">
              <a:buNone/>
            </a:pPr>
            <a:r>
              <a:rPr lang="en-US" sz="1000" dirty="0">
                <a:solidFill>
                  <a:srgbClr val="FFFFFF"/>
                </a:solidFill>
              </a:rPr>
              <a:t>Adverse effects</a:t>
            </a:r>
            <a:endParaRPr lang="en-US" sz="1000" dirty="0"/>
          </a:p>
        </p:txBody>
      </p:sp>
      <p:sp>
        <p:nvSpPr>
          <p:cNvPr id="20" name="Shape 13"/>
          <p:cNvSpPr/>
          <p:nvPr/>
        </p:nvSpPr>
        <p:spPr>
          <a:xfrm>
            <a:off x="6330528" y="4297680"/>
            <a:ext cx="640080" cy="640080"/>
          </a:xfrm>
          <a:prstGeom prst="ellipse">
            <a:avLst/>
          </a:prstGeom>
          <a:solidFill>
            <a:srgbClr val="C00000"/>
          </a:solidFill>
          <a:ln w="19050">
            <a:solidFill>
              <a:srgbClr val="FFFFFF"/>
            </a:solidFill>
            <a:prstDash val="solid"/>
          </a:ln>
        </p:spPr>
      </p:sp>
      <p:pic>
        <p:nvPicPr>
          <p:cNvPr id="21" name="Image 5" descr="preencoded.png">    </p:cNvPr>
          <p:cNvPicPr>
            <a:picLocks noChangeAspect="1"/>
          </p:cNvPicPr>
          <p:nvPr/>
        </p:nvPicPr>
        <p:blipFill>
          <a:blip r:embed="rId6"/>
          <a:stretch>
            <a:fillRect/>
          </a:stretch>
        </p:blipFill>
        <p:spPr>
          <a:xfrm>
            <a:off x="6485976" y="4453128"/>
            <a:ext cx="329184" cy="329184"/>
          </a:xfrm>
          <a:prstGeom prst="rect">
            <a:avLst/>
          </a:prstGeom>
        </p:spPr>
      </p:pic>
      <p:sp>
        <p:nvSpPr>
          <p:cNvPr id="22" name="Text 14"/>
          <p:cNvSpPr txBox="1"/>
          <p:nvPr/>
        </p:nvSpPr>
        <p:spPr>
          <a:xfrm>
            <a:off x="6141568" y="5029200"/>
            <a:ext cx="1018002" cy="640080"/>
          </a:xfrm>
          <a:prstGeom prst="rect">
            <a:avLst/>
          </a:prstGeom>
          <a:noFill/>
          <a:ln/>
        </p:spPr>
        <p:txBody>
          <a:bodyPr wrap="square" lIns="0" tIns="0" rIns="0" bIns="0" rtlCol="0" anchor="t"/>
          <a:lstStyle/>
          <a:p>
            <a:pPr algn="ctr" indent="0" marL="0">
              <a:buNone/>
            </a:pPr>
            <a:r>
              <a:rPr lang="en-US" sz="1000" dirty="0">
                <a:solidFill>
                  <a:srgbClr val="FFFFFF"/>
                </a:solidFill>
              </a:rPr>
              <a:t>Contraindications</a:t>
            </a:r>
            <a:endParaRPr lang="en-US" sz="1000" dirty="0"/>
          </a:p>
        </p:txBody>
      </p:sp>
      <p:sp>
        <p:nvSpPr>
          <p:cNvPr id="23" name="Shape 15"/>
          <p:cNvSpPr/>
          <p:nvPr/>
        </p:nvSpPr>
        <p:spPr>
          <a:xfrm>
            <a:off x="7439970" y="4297680"/>
            <a:ext cx="640080" cy="640080"/>
          </a:xfrm>
          <a:prstGeom prst="ellipse">
            <a:avLst/>
          </a:prstGeom>
          <a:solidFill>
            <a:srgbClr val="7F6000"/>
          </a:solidFill>
          <a:ln w="19050">
            <a:solidFill>
              <a:srgbClr val="FFFFFF"/>
            </a:solidFill>
            <a:prstDash val="solid"/>
          </a:ln>
        </p:spPr>
      </p:sp>
      <p:pic>
        <p:nvPicPr>
          <p:cNvPr id="24" name="Image 6" descr="preencoded.png">    </p:cNvPr>
          <p:cNvPicPr>
            <a:picLocks noChangeAspect="1"/>
          </p:cNvPicPr>
          <p:nvPr/>
        </p:nvPicPr>
        <p:blipFill>
          <a:blip r:embed="rId7"/>
          <a:stretch>
            <a:fillRect/>
          </a:stretch>
        </p:blipFill>
        <p:spPr>
          <a:xfrm>
            <a:off x="7595418" y="4453128"/>
            <a:ext cx="329184" cy="329184"/>
          </a:xfrm>
          <a:prstGeom prst="rect">
            <a:avLst/>
          </a:prstGeom>
        </p:spPr>
      </p:pic>
      <p:sp>
        <p:nvSpPr>
          <p:cNvPr id="25" name="Text 16"/>
          <p:cNvSpPr txBox="1"/>
          <p:nvPr/>
        </p:nvSpPr>
        <p:spPr>
          <a:xfrm>
            <a:off x="7251009" y="5029200"/>
            <a:ext cx="1018002" cy="640080"/>
          </a:xfrm>
          <a:prstGeom prst="rect">
            <a:avLst/>
          </a:prstGeom>
          <a:noFill/>
          <a:ln/>
        </p:spPr>
        <p:txBody>
          <a:bodyPr wrap="square" lIns="0" tIns="0" rIns="0" bIns="0" rtlCol="0" anchor="t"/>
          <a:lstStyle/>
          <a:p>
            <a:pPr algn="ctr" indent="0" marL="0">
              <a:buNone/>
            </a:pPr>
            <a:r>
              <a:rPr lang="en-US" sz="1000" dirty="0">
                <a:solidFill>
                  <a:srgbClr val="FFFFFF"/>
                </a:solidFill>
              </a:rPr>
              <a:t>Drug interactions</a:t>
            </a:r>
            <a:endParaRPr lang="en-US" sz="1000" dirty="0"/>
          </a:p>
        </p:txBody>
      </p:sp>
      <p:sp>
        <p:nvSpPr>
          <p:cNvPr id="26" name="Shape 17"/>
          <p:cNvSpPr/>
          <p:nvPr/>
        </p:nvSpPr>
        <p:spPr>
          <a:xfrm>
            <a:off x="8549411" y="4297680"/>
            <a:ext cx="640080" cy="640080"/>
          </a:xfrm>
          <a:prstGeom prst="ellipse">
            <a:avLst/>
          </a:prstGeom>
          <a:solidFill>
            <a:srgbClr val="2E75B6"/>
          </a:solidFill>
          <a:ln w="19050">
            <a:solidFill>
              <a:srgbClr val="FFFFFF"/>
            </a:solidFill>
            <a:prstDash val="solid"/>
          </a:ln>
        </p:spPr>
      </p:sp>
      <p:pic>
        <p:nvPicPr>
          <p:cNvPr id="27" name="Image 7" descr="preencoded.png">    </p:cNvPr>
          <p:cNvPicPr>
            <a:picLocks noChangeAspect="1"/>
          </p:cNvPicPr>
          <p:nvPr/>
        </p:nvPicPr>
        <p:blipFill>
          <a:blip r:embed="rId8"/>
          <a:stretch>
            <a:fillRect/>
          </a:stretch>
        </p:blipFill>
        <p:spPr>
          <a:xfrm>
            <a:off x="8704859" y="4453128"/>
            <a:ext cx="329184" cy="329184"/>
          </a:xfrm>
          <a:prstGeom prst="rect">
            <a:avLst/>
          </a:prstGeom>
        </p:spPr>
      </p:pic>
      <p:sp>
        <p:nvSpPr>
          <p:cNvPr id="28" name="Text 18"/>
          <p:cNvSpPr txBox="1"/>
          <p:nvPr/>
        </p:nvSpPr>
        <p:spPr>
          <a:xfrm>
            <a:off x="8360451" y="5029200"/>
            <a:ext cx="1018002" cy="640080"/>
          </a:xfrm>
          <a:prstGeom prst="rect">
            <a:avLst/>
          </a:prstGeom>
          <a:noFill/>
          <a:ln/>
        </p:spPr>
        <p:txBody>
          <a:bodyPr wrap="square" lIns="0" tIns="0" rIns="0" bIns="0" rtlCol="0" anchor="t"/>
          <a:lstStyle/>
          <a:p>
            <a:pPr algn="ctr" indent="0" marL="0">
              <a:buNone/>
            </a:pPr>
            <a:r>
              <a:rPr lang="en-US" sz="1000" dirty="0">
                <a:solidFill>
                  <a:srgbClr val="FFFFFF"/>
                </a:solidFill>
              </a:rPr>
              <a:t>Pharmacokinetics</a:t>
            </a:r>
            <a:endParaRPr lang="en-US" sz="1000" dirty="0"/>
          </a:p>
        </p:txBody>
      </p:sp>
      <p:sp>
        <p:nvSpPr>
          <p:cNvPr id="29" name="Shape 19"/>
          <p:cNvSpPr/>
          <p:nvPr/>
        </p:nvSpPr>
        <p:spPr>
          <a:xfrm>
            <a:off x="9658853" y="4297680"/>
            <a:ext cx="640080" cy="640080"/>
          </a:xfrm>
          <a:prstGeom prst="ellipse">
            <a:avLst/>
          </a:prstGeom>
          <a:solidFill>
            <a:srgbClr val="1F7A7A"/>
          </a:solidFill>
          <a:ln w="19050">
            <a:solidFill>
              <a:srgbClr val="FFFFFF"/>
            </a:solidFill>
            <a:prstDash val="solid"/>
          </a:ln>
        </p:spPr>
      </p:sp>
      <p:pic>
        <p:nvPicPr>
          <p:cNvPr id="30" name="Image 8" descr="preencoded.png">    </p:cNvPr>
          <p:cNvPicPr>
            <a:picLocks noChangeAspect="1"/>
          </p:cNvPicPr>
          <p:nvPr/>
        </p:nvPicPr>
        <p:blipFill>
          <a:blip r:embed="rId9"/>
          <a:stretch>
            <a:fillRect/>
          </a:stretch>
        </p:blipFill>
        <p:spPr>
          <a:xfrm>
            <a:off x="9814301" y="4453128"/>
            <a:ext cx="329184" cy="329184"/>
          </a:xfrm>
          <a:prstGeom prst="rect">
            <a:avLst/>
          </a:prstGeom>
        </p:spPr>
      </p:pic>
      <p:sp>
        <p:nvSpPr>
          <p:cNvPr id="31" name="Text 20"/>
          <p:cNvSpPr txBox="1"/>
          <p:nvPr/>
        </p:nvSpPr>
        <p:spPr>
          <a:xfrm>
            <a:off x="9469892" y="5029200"/>
            <a:ext cx="1018002" cy="640080"/>
          </a:xfrm>
          <a:prstGeom prst="rect">
            <a:avLst/>
          </a:prstGeom>
          <a:noFill/>
          <a:ln/>
        </p:spPr>
        <p:txBody>
          <a:bodyPr wrap="square" lIns="0" tIns="0" rIns="0" bIns="0" rtlCol="0" anchor="t"/>
          <a:lstStyle/>
          <a:p>
            <a:pPr algn="ctr" indent="0" marL="0">
              <a:buNone/>
            </a:pPr>
            <a:r>
              <a:rPr lang="en-US" sz="1000" dirty="0">
                <a:solidFill>
                  <a:srgbClr val="FFFFFF"/>
                </a:solidFill>
              </a:rPr>
              <a:t>Monitoring</a:t>
            </a:r>
            <a:endParaRPr lang="en-US" sz="1000" dirty="0"/>
          </a:p>
        </p:txBody>
      </p:sp>
      <p:sp>
        <p:nvSpPr>
          <p:cNvPr id="32" name="Shape 21"/>
          <p:cNvSpPr/>
          <p:nvPr/>
        </p:nvSpPr>
        <p:spPr>
          <a:xfrm>
            <a:off x="10768294" y="4297680"/>
            <a:ext cx="640080" cy="640080"/>
          </a:xfrm>
          <a:prstGeom prst="ellipse">
            <a:avLst/>
          </a:prstGeom>
          <a:solidFill>
            <a:srgbClr val="2E75B6"/>
          </a:solidFill>
          <a:ln w="19050">
            <a:solidFill>
              <a:srgbClr val="FFFFFF"/>
            </a:solidFill>
            <a:prstDash val="solid"/>
          </a:ln>
        </p:spPr>
      </p:sp>
      <p:pic>
        <p:nvPicPr>
          <p:cNvPr id="33" name="Image 9" descr="preencoded.png">    </p:cNvPr>
          <p:cNvPicPr>
            <a:picLocks noChangeAspect="1"/>
          </p:cNvPicPr>
          <p:nvPr/>
        </p:nvPicPr>
        <p:blipFill>
          <a:blip r:embed="rId10"/>
          <a:stretch>
            <a:fillRect/>
          </a:stretch>
        </p:blipFill>
        <p:spPr>
          <a:xfrm>
            <a:off x="10923742" y="4453128"/>
            <a:ext cx="329184" cy="329184"/>
          </a:xfrm>
          <a:prstGeom prst="rect">
            <a:avLst/>
          </a:prstGeom>
        </p:spPr>
      </p:pic>
      <p:sp>
        <p:nvSpPr>
          <p:cNvPr id="34" name="Text 22"/>
          <p:cNvSpPr txBox="1"/>
          <p:nvPr/>
        </p:nvSpPr>
        <p:spPr>
          <a:xfrm>
            <a:off x="10579334" y="5029200"/>
            <a:ext cx="1018002" cy="640080"/>
          </a:xfrm>
          <a:prstGeom prst="rect">
            <a:avLst/>
          </a:prstGeom>
          <a:noFill/>
          <a:ln/>
        </p:spPr>
        <p:txBody>
          <a:bodyPr wrap="square" lIns="0" tIns="0" rIns="0" bIns="0" rtlCol="0" anchor="t"/>
          <a:lstStyle/>
          <a:p>
            <a:pPr algn="ctr" indent="0" marL="0">
              <a:buNone/>
            </a:pPr>
            <a:r>
              <a:rPr lang="en-US" sz="1000" dirty="0">
                <a:solidFill>
                  <a:srgbClr val="FFFFFF"/>
                </a:solidFill>
              </a:rPr>
              <a:t>Clinical pearls</a:t>
            </a:r>
            <a:endParaRPr lang="en-US" sz="1000" dirty="0"/>
          </a:p>
        </p:txBody>
      </p:sp>
      <p:sp>
        <p:nvSpPr>
          <p:cNvPr id="35" name="Text 2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44</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NSAIDS &amp; COX-2 SELECTIVE INHIBITION</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Class · Prototype + other drugs named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SO2 · SO3 · SO5 · IO2.1 · IO2.2 · IO2.3 · IO2.4</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45</a:t>
            </a:r>
            <a:endParaRPr lang="en-US" sz="1000" dirty="0"/>
          </a:p>
        </p:txBody>
      </p:sp>
      <p:sp>
        <p:nvSpPr>
          <p:cNvPr id="7" name="Class card"/>
          <p:cNvSpPr/>
          <p:nvPr/>
        </p:nvSpPr>
        <p:spPr>
          <a:xfrm>
            <a:off x="548640" y="1325880"/>
            <a:ext cx="5410048" cy="4777740"/>
          </a:xfrm>
          <a:prstGeom prst="roundRect">
            <a:avLst>
              <a:gd name="adj" fmla="val 2297"/>
            </a:avLst>
          </a:prstGeom>
          <a:solidFill>
            <a:srgbClr val="F2F4F7"/>
          </a:solidFill>
          <a:ln w="12700">
            <a:solidFill>
              <a:srgbClr val="F2F4F7"/>
            </a:solidFill>
            <a:prstDash val="solid"/>
          </a:ln>
        </p:spPr>
      </p:sp>
      <p:sp>
        <p:nvSpPr>
          <p:cNvPr id="8" name="Clas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Clas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as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44546A"/>
                </a:solidFill>
              </a:rPr>
              <a:t>Class</a:t>
            </a:r>
            <a:endParaRPr lang="en-US" sz="1800" dirty="0"/>
          </a:p>
        </p:txBody>
      </p:sp>
      <p:sp>
        <p:nvSpPr>
          <p:cNvPr id="11" name="Class body"/>
          <p:cNvSpPr txBox="1"/>
          <p:nvPr/>
        </p:nvSpPr>
        <p:spPr>
          <a:xfrm>
            <a:off x="777240" y="2075688"/>
            <a:ext cx="4952848" cy="390906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Powerful anti-inflammatory effect, with real systemic risk.</a:t>
            </a:r>
            <a:r>
              <a:rPr lang="en-US" sz="1300" dirty="0">
                <a:solidFill>
                  <a:srgbClr val="666666"/>
                </a:solidFill>
              </a:rPr>
              <a:t>  S23</a:t>
            </a:r>
            <a:endParaRPr lang="en-US" sz="1800" dirty="0"/>
          </a:p>
          <a:p>
            <a:pPr marL="228600" indent="-228600">
              <a:spcAft>
                <a:spcPts val="800"/>
              </a:spcAft>
              <a:buSzPct val="100000"/>
              <a:buChar char="•"/>
            </a:pPr>
            <a:r>
              <a:rPr lang="en-US" sz="1800" b="1" dirty="0">
                <a:solidFill>
                  <a:srgbClr val="1F1F1F"/>
                </a:solidFill>
              </a:rPr>
              <a:t>Nonselective NSAIDs inhibit both COX-1 and COX-2.</a:t>
            </a:r>
            <a:r>
              <a:rPr lang="en-US" sz="1300" dirty="0">
                <a:solidFill>
                  <a:srgbClr val="666666"/>
                </a:solidFill>
              </a:rPr>
              <a:t>  S28</a:t>
            </a:r>
            <a:endParaRPr lang="en-US" sz="1800" dirty="0"/>
          </a:p>
          <a:p>
            <a:pPr marL="228600" indent="-228600">
              <a:spcAft>
                <a:spcPts val="800"/>
              </a:spcAft>
              <a:buSzPct val="100000"/>
              <a:buChar char="•"/>
            </a:pPr>
            <a:r>
              <a:rPr lang="en-US" sz="1800" b="1" dirty="0">
                <a:solidFill>
                  <a:srgbClr val="1F1F1F"/>
                </a:solidFill>
              </a:rPr>
              <a:t>Celecoxib selectively inhibits COX-2 over COX-1.</a:t>
            </a:r>
            <a:r>
              <a:rPr lang="en-US" sz="1300" dirty="0">
                <a:solidFill>
                  <a:srgbClr val="666666"/>
                </a:solidFill>
              </a:rPr>
              <a:t>  S29</a:t>
            </a:r>
            <a:endParaRPr lang="en-US" sz="1800" dirty="0"/>
          </a:p>
        </p:txBody>
      </p:sp>
      <p:sp>
        <p:nvSpPr>
          <p:cNvPr id="12" name="Prototype + other drugs named card"/>
          <p:cNvSpPr/>
          <p:nvPr/>
        </p:nvSpPr>
        <p:spPr>
          <a:xfrm>
            <a:off x="6233008" y="1325880"/>
            <a:ext cx="5410048" cy="4777740"/>
          </a:xfrm>
          <a:prstGeom prst="roundRect">
            <a:avLst>
              <a:gd name="adj" fmla="val 2297"/>
            </a:avLst>
          </a:prstGeom>
          <a:solidFill>
            <a:srgbClr val="F2F4F7"/>
          </a:solidFill>
          <a:ln w="12700">
            <a:solidFill>
              <a:srgbClr val="F2F4F7"/>
            </a:solidFill>
            <a:prstDash val="solid"/>
          </a:ln>
        </p:spPr>
      </p:sp>
      <p:sp>
        <p:nvSpPr>
          <p:cNvPr id="13" name="Prototype + other drugs named icon circle"/>
          <p:cNvSpPr/>
          <p:nvPr/>
        </p:nvSpPr>
        <p:spPr>
          <a:xfrm>
            <a:off x="6461608" y="1508760"/>
            <a:ext cx="438912" cy="438912"/>
          </a:xfrm>
          <a:prstGeom prst="ellipse">
            <a:avLst/>
          </a:prstGeom>
          <a:solidFill>
            <a:srgbClr val="4472C4"/>
          </a:solidFill>
          <a:ln w="12700">
            <a:solidFill>
              <a:srgbClr val="4472C4"/>
            </a:solidFill>
            <a:prstDash val="solid"/>
          </a:ln>
        </p:spPr>
      </p:sp>
      <p:pic>
        <p:nvPicPr>
          <p:cNvPr id="14" name="Prototype + other drugs named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Prototype + other drugs named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4472C4"/>
                </a:solidFill>
              </a:rPr>
              <a:t>Prototype + other drugs named</a:t>
            </a:r>
            <a:endParaRPr lang="en-US" sz="1800" dirty="0"/>
          </a:p>
        </p:txBody>
      </p:sp>
      <p:sp>
        <p:nvSpPr>
          <p:cNvPr id="16" name="Prototype + other drugs named body"/>
          <p:cNvSpPr txBox="1"/>
          <p:nvPr/>
        </p:nvSpPr>
        <p:spPr>
          <a:xfrm>
            <a:off x="6461608" y="2075688"/>
            <a:ext cx="4952848" cy="390906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Ibuprofen — common first-line choice for mild-moderate pain.</a:t>
            </a:r>
            <a:r>
              <a:rPr lang="en-US" sz="1300" dirty="0">
                <a:solidFill>
                  <a:srgbClr val="666666"/>
                </a:solidFill>
              </a:rPr>
              <a:t>  S28</a:t>
            </a:r>
            <a:endParaRPr lang="en-US" sz="1800" dirty="0"/>
          </a:p>
          <a:p>
            <a:pPr marL="228600" indent="-228600">
              <a:spcAft>
                <a:spcPts val="800"/>
              </a:spcAft>
              <a:buSzPct val="100000"/>
              <a:buChar char="•"/>
            </a:pPr>
            <a:r>
              <a:rPr lang="en-US" sz="1800" dirty="0">
                <a:solidFill>
                  <a:srgbClr val="1F1F1F"/>
                </a:solidFill>
              </a:rPr>
              <a:t>Naproxen — longer half-life, twice-daily dosing.</a:t>
            </a:r>
            <a:r>
              <a:rPr lang="en-US" sz="1300" dirty="0">
                <a:solidFill>
                  <a:srgbClr val="666666"/>
                </a:solidFill>
              </a:rPr>
              <a:t>  S28</a:t>
            </a:r>
            <a:endParaRPr lang="en-US" sz="1800" dirty="0"/>
          </a:p>
          <a:p>
            <a:pPr marL="228600" indent="-228600">
              <a:spcAft>
                <a:spcPts val="800"/>
              </a:spcAft>
              <a:buSzPct val="100000"/>
              <a:buChar char="•"/>
            </a:pPr>
            <a:r>
              <a:rPr lang="en-US" sz="1800" dirty="0">
                <a:solidFill>
                  <a:srgbClr val="1F1F1F"/>
                </a:solidFill>
              </a:rPr>
              <a:t>Diclofenac — available in oral and topical formulations.</a:t>
            </a:r>
            <a:r>
              <a:rPr lang="en-US" sz="1300" dirty="0">
                <a:solidFill>
                  <a:srgbClr val="666666"/>
                </a:solidFill>
              </a:rPr>
              <a:t>  S28</a:t>
            </a:r>
            <a:endParaRPr lang="en-US" sz="1800" dirty="0"/>
          </a:p>
          <a:p>
            <a:pPr marL="228600" indent="-228600">
              <a:spcAft>
                <a:spcPts val="800"/>
              </a:spcAft>
              <a:buSzPct val="100000"/>
              <a:buChar char="•"/>
            </a:pPr>
            <a:r>
              <a:rPr lang="en-US" sz="1800" dirty="0">
                <a:solidFill>
                  <a:srgbClr val="1F1F1F"/>
                </a:solidFill>
              </a:rPr>
              <a:t>Indomethacin — more potent, more GI/CNS adverse effects.</a:t>
            </a:r>
            <a:r>
              <a:rPr lang="en-US" sz="1300" dirty="0">
                <a:solidFill>
                  <a:srgbClr val="666666"/>
                </a:solidFill>
              </a:rPr>
              <a:t>  S28</a:t>
            </a:r>
            <a:endParaRPr lang="en-US" sz="1800" dirty="0"/>
          </a:p>
          <a:p>
            <a:pPr marL="228600" indent="-228600">
              <a:spcAft>
                <a:spcPts val="800"/>
              </a:spcAft>
              <a:buSzPct val="100000"/>
              <a:buChar char="•"/>
            </a:pPr>
            <a:r>
              <a:rPr lang="en-US" sz="1800" b="1" dirty="0">
                <a:solidFill>
                  <a:srgbClr val="1F1F1F"/>
                </a:solidFill>
              </a:rPr>
              <a:t>Ketorolac — short-term use only, significant GI/renal risk.</a:t>
            </a:r>
            <a:r>
              <a:rPr lang="en-US" sz="1300" dirty="0">
                <a:solidFill>
                  <a:srgbClr val="666666"/>
                </a:solidFill>
              </a:rPr>
              <a:t>  S28</a:t>
            </a:r>
            <a:endParaRPr lang="en-US" sz="1800" dirty="0"/>
          </a:p>
          <a:p>
            <a:pPr marL="228600" indent="-228600">
              <a:spcAft>
                <a:spcPts val="800"/>
              </a:spcAft>
              <a:buSzPct val="100000"/>
              <a:buChar char="•"/>
            </a:pPr>
            <a:r>
              <a:rPr lang="en-US" sz="1800" dirty="0">
                <a:solidFill>
                  <a:srgbClr val="1F1F1F"/>
                </a:solidFill>
              </a:rPr>
              <a:t>Celecoxib — the COX-2 selective agent.</a:t>
            </a:r>
            <a:r>
              <a:rPr lang="en-US" sz="1300" dirty="0">
                <a:solidFill>
                  <a:srgbClr val="666666"/>
                </a:solidFill>
              </a:rPr>
              <a:t>  S29</a:t>
            </a:r>
            <a:endParaRPr lang="en-US" sz="1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NSAIDS &amp; COX-2 SELECTIVE INHIBITION</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Mechanism of action</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SO2 · SO3 · SO5 · IO2.1 · IO2.2 · IO2.3 · IO2.4</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46</a:t>
            </a:r>
            <a:endParaRPr lang="en-US" sz="1000" dirty="0"/>
          </a:p>
        </p:txBody>
      </p:sp>
      <p:sp>
        <p:nvSpPr>
          <p:cNvPr id="7" name="Mechanism of action (1/3) card"/>
          <p:cNvSpPr/>
          <p:nvPr/>
        </p:nvSpPr>
        <p:spPr>
          <a:xfrm>
            <a:off x="548640" y="1325880"/>
            <a:ext cx="11094415" cy="4110228"/>
          </a:xfrm>
          <a:prstGeom prst="roundRect">
            <a:avLst>
              <a:gd name="adj" fmla="val 2670"/>
            </a:avLst>
          </a:prstGeom>
          <a:solidFill>
            <a:srgbClr val="F2F4F7"/>
          </a:solidFill>
          <a:ln w="12700">
            <a:solidFill>
              <a:srgbClr val="F2F4F7"/>
            </a:solidFill>
            <a:prstDash val="solid"/>
          </a:ln>
        </p:spPr>
      </p:sp>
      <p:sp>
        <p:nvSpPr>
          <p:cNvPr id="8" name="Mechanism of action (1/3)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Mechanism of action (1/3)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Mechanism of action (1/3)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Mechanism of action (1/3)</a:t>
            </a:r>
            <a:endParaRPr lang="en-US" sz="1800" dirty="0"/>
          </a:p>
        </p:txBody>
      </p:sp>
      <p:sp>
        <p:nvSpPr>
          <p:cNvPr id="11" name="Mechanism of action (1/3) body"/>
          <p:cNvSpPr txBox="1"/>
          <p:nvPr/>
        </p:nvSpPr>
        <p:spPr>
          <a:xfrm>
            <a:off x="777240" y="2075688"/>
            <a:ext cx="10637215" cy="324154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NSAID → COX inhibition → ↓ prostaglandins → ↓ pain, inflammation, fever.</a:t>
            </a:r>
            <a:r>
              <a:rPr lang="en-US" sz="1300" dirty="0">
                <a:solidFill>
                  <a:srgbClr val="666666"/>
                </a:solidFill>
              </a:rPr>
              <a:t>  S24</a:t>
            </a:r>
            <a:endParaRPr lang="en-US" sz="1800" dirty="0"/>
          </a:p>
          <a:p>
            <a:pPr marL="228600" indent="-228600">
              <a:spcAft>
                <a:spcPts val="800"/>
              </a:spcAft>
              <a:buSzPct val="100000"/>
              <a:buChar char="•"/>
            </a:pPr>
            <a:r>
              <a:rPr lang="en-US" sz="1800" b="1" dirty="0">
                <a:solidFill>
                  <a:srgbClr val="1F1F1F"/>
                </a:solidFill>
              </a:rPr>
              <a:t>COX-1, the “housekeeping” enzyme:</a:t>
            </a:r>
            <a:r>
              <a:rPr lang="en-US" sz="1800" dirty="0">
                <a:solidFill>
                  <a:srgbClr val="1F1F1F"/>
                </a:solidFill>
              </a:rPr>
              <a:t> maintains gastric mucosal protection and normal renal blood flow; inhibiting it causes GI and renal adverse effects.</a:t>
            </a:r>
            <a:r>
              <a:rPr lang="en-US" sz="1300" dirty="0">
                <a:solidFill>
                  <a:srgbClr val="666666"/>
                </a:solidFill>
              </a:rPr>
              <a:t>  S26; SG U2-R4</a:t>
            </a:r>
            <a:endParaRPr lang="en-US" sz="1800" dirty="0"/>
          </a:p>
          <a:p>
            <a:pPr marL="228600" indent="-228600">
              <a:spcAft>
                <a:spcPts val="800"/>
              </a:spcAft>
              <a:buSzPct val="100000"/>
              <a:buChar char="•"/>
            </a:pPr>
            <a:r>
              <a:rPr lang="en-US" sz="1800" b="1" dirty="0">
                <a:solidFill>
                  <a:srgbClr val="1F1F1F"/>
                </a:solidFill>
              </a:rPr>
              <a:t>COX-2:</a:t>
            </a:r>
            <a:r>
              <a:rPr lang="en-US" sz="1800" dirty="0">
                <a:solidFill>
                  <a:srgbClr val="1F1F1F"/>
                </a:solidFill>
              </a:rPr>
              <a:t> induced mainly at sites of inflammation and the primary source of inflammatory prostaglandins; selective inhibition targets inflammation with less GI toxicity.</a:t>
            </a:r>
            <a:r>
              <a:rPr lang="en-US" sz="1300" dirty="0">
                <a:solidFill>
                  <a:srgbClr val="666666"/>
                </a:solidFill>
              </a:rPr>
              <a:t>  S26; SG U2-R4</a:t>
            </a:r>
            <a:endParaRPr lang="en-US" sz="1800" dirty="0"/>
          </a:p>
          <a:p>
            <a:pPr marL="228600" indent="-228600">
              <a:spcAft>
                <a:spcPts val="800"/>
              </a:spcAft>
              <a:buSzPct val="100000"/>
              <a:buChar char="•"/>
            </a:pPr>
            <a:r>
              <a:rPr lang="en-US" sz="1800" dirty="0">
                <a:solidFill>
                  <a:srgbClr val="1F1F1F"/>
                </a:solidFill>
              </a:rPr>
              <a:t>Simplified teaching model, not an absolute separation: COX-1 and COX-2 functions overlap, and COX-2 is also constitutively expressed in the kidney and elsewhere.</a:t>
            </a:r>
            <a:r>
              <a:rPr lang="en-US" sz="1300" dirty="0">
                <a:solidFill>
                  <a:srgbClr val="666666"/>
                </a:solidFill>
              </a:rPr>
              <a:t>  S26 (notes)</a:t>
            </a:r>
            <a:endParaRPr lang="en-US" sz="1800" dirty="0"/>
          </a:p>
          <a:p>
            <a:pPr marL="228600" indent="-228600">
              <a:spcAft>
                <a:spcPts val="800"/>
              </a:spcAft>
              <a:buSzPct val="100000"/>
              <a:buChar char="•"/>
            </a:pPr>
            <a:r>
              <a:rPr lang="en-US" sz="1800" b="1" dirty="0">
                <a:solidFill>
                  <a:srgbClr val="1F1F1F"/>
                </a:solidFill>
              </a:rPr>
              <a:t>Pathway:</a:t>
            </a:r>
            <a:r>
              <a:rPr lang="en-US" sz="1800" dirty="0">
                <a:solidFill>
                  <a:srgbClr val="1F1F1F"/>
                </a:solidFill>
              </a:rPr>
              <a:t> COX converts arachidonic acid to prostaglandins </a:t>
            </a:r>
            <a:r>
              <a:rPr lang="en-US" sz="1800" b="1" dirty="0">
                <a:solidFill>
                  <a:srgbClr val="1F1F1F"/>
                </a:solidFill>
              </a:rPr>
              <a:t>and thromboxane A2 (TXA2)</a:t>
            </a:r>
            <a:r>
              <a:rPr lang="en-US" sz="1800" dirty="0">
                <a:solidFill>
                  <a:srgbClr val="1F1F1F"/>
                </a:solidFill>
              </a:rPr>
              <a:t>. Less prostaglandin: pain, fever, and inflammation fall. Less TXA2: bleeding risk.</a:t>
            </a:r>
            <a:r>
              <a:rPr lang="en-US" sz="1300" dirty="0">
                <a:solidFill>
                  <a:srgbClr val="666666"/>
                </a:solidFill>
              </a:rPr>
              <a:t>  S25; S24 (notes)</a:t>
            </a:r>
            <a:endParaRPr lang="en-US" sz="1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NSAIDS &amp; COX-2 SELECTIVE INHIBITION</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Mechanism of action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SO2 · SO3 · SO5 · IO2.1 · IO2.2 · IO2.3 · IO2.4</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47</a:t>
            </a:r>
            <a:endParaRPr lang="en-US" sz="1000" dirty="0"/>
          </a:p>
        </p:txBody>
      </p:sp>
      <p:sp>
        <p:nvSpPr>
          <p:cNvPr id="7" name="Mechanism of action (2/3) card"/>
          <p:cNvSpPr/>
          <p:nvPr/>
        </p:nvSpPr>
        <p:spPr>
          <a:xfrm>
            <a:off x="548640" y="1325880"/>
            <a:ext cx="11094415" cy="4389120"/>
          </a:xfrm>
          <a:prstGeom prst="roundRect">
            <a:avLst>
              <a:gd name="adj" fmla="val 2500"/>
            </a:avLst>
          </a:prstGeom>
          <a:solidFill>
            <a:srgbClr val="F2F4F7"/>
          </a:solidFill>
          <a:ln w="12700">
            <a:solidFill>
              <a:srgbClr val="F2F4F7"/>
            </a:solidFill>
            <a:prstDash val="solid"/>
          </a:ln>
        </p:spPr>
      </p:sp>
      <p:sp>
        <p:nvSpPr>
          <p:cNvPr id="8" name="Mechanism of action (2/3)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Mechanism of action (2/3)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Mechanism of action (2/3)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Mechanism of action (2/3)</a:t>
            </a:r>
            <a:endParaRPr lang="en-US" sz="1800" dirty="0"/>
          </a:p>
        </p:txBody>
      </p:sp>
      <p:sp>
        <p:nvSpPr>
          <p:cNvPr id="11" name="Mechanism of action (2/3) body"/>
          <p:cNvSpPr txBox="1"/>
          <p:nvPr/>
        </p:nvSpPr>
        <p:spPr>
          <a:xfrm>
            <a:off x="777240" y="2075688"/>
            <a:ext cx="10637215" cy="35204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Every NSAID shares the COX mechanism; the side effects follow from losing protective prostaglandins (GI injury, platelet inhibition, renal effects).</a:t>
            </a:r>
            <a:r>
              <a:rPr lang="en-US" sz="1300" dirty="0">
                <a:solidFill>
                  <a:srgbClr val="666666"/>
                </a:solidFill>
              </a:rPr>
              <a:t>  S25; S25 (notes)</a:t>
            </a:r>
            <a:endParaRPr lang="en-US" sz="1800" dirty="0"/>
          </a:p>
          <a:p>
            <a:pPr marL="228600" indent="-228600">
              <a:spcAft>
                <a:spcPts val="800"/>
              </a:spcAft>
              <a:buSzPct val="100000"/>
              <a:buChar char="•"/>
            </a:pPr>
            <a:r>
              <a:rPr lang="en-US" sz="1800" b="1" dirty="0">
                <a:solidFill>
                  <a:srgbClr val="1F1F1F"/>
                </a:solidFill>
              </a:rPr>
              <a:t>COX-1 is constitutive:</a:t>
            </a:r>
            <a:r>
              <a:rPr lang="en-US" sz="1800" dirty="0">
                <a:solidFill>
                  <a:srgbClr val="1F1F1F"/>
                </a:solidFill>
              </a:rPr>
              <a:t> gastric mucosa (protection), platelets (TXA2, clotting), kidney (renal blood flow). </a:t>
            </a:r>
            <a:r>
              <a:rPr lang="en-US" sz="1800" b="1" dirty="0">
                <a:solidFill>
                  <a:srgbClr val="1F1F1F"/>
                </a:solidFill>
              </a:rPr>
              <a:t>COX-2 is inducible</a:t>
            </a:r>
            <a:r>
              <a:rPr lang="en-US" sz="1800" dirty="0">
                <a:solidFill>
                  <a:srgbClr val="1F1F1F"/>
                </a:solidFill>
              </a:rPr>
              <a:t> in inflamed tissue: pain, swelling, fever.</a:t>
            </a:r>
            <a:r>
              <a:rPr lang="en-US" sz="1300" dirty="0">
                <a:solidFill>
                  <a:srgbClr val="666666"/>
                </a:solidFill>
              </a:rPr>
              <a:t>  S27; S26 (notes)</a:t>
            </a:r>
            <a:endParaRPr lang="en-US" sz="1800" dirty="0"/>
          </a:p>
          <a:p>
            <a:pPr marL="228600" indent="-228600">
              <a:spcAft>
                <a:spcPts val="800"/>
              </a:spcAft>
              <a:buSzPct val="100000"/>
              <a:buChar char="•"/>
            </a:pPr>
            <a:r>
              <a:rPr lang="en-US" sz="1800" dirty="0">
                <a:solidFill>
                  <a:srgbClr val="1F1F1F"/>
                </a:solidFill>
              </a:rPr>
              <a:t>Nonselective NSAIDs block both isoforms, so GI injury is common. Selectivity trades anti-inflammatory benefit against GI and platelet protection.</a:t>
            </a:r>
            <a:r>
              <a:rPr lang="en-US" sz="1300" dirty="0">
                <a:solidFill>
                  <a:srgbClr val="666666"/>
                </a:solidFill>
              </a:rPr>
              <a:t>  S27; S27 (notes)</a:t>
            </a:r>
            <a:endParaRPr lang="en-US" sz="1800" dirty="0"/>
          </a:p>
          <a:p>
            <a:pPr marL="228600" indent="-228600">
              <a:spcAft>
                <a:spcPts val="800"/>
              </a:spcAft>
              <a:buSzPct val="100000"/>
              <a:buChar char="•"/>
            </a:pPr>
            <a:r>
              <a:rPr lang="en-US" sz="1800" dirty="0">
                <a:solidFill>
                  <a:srgbClr val="1F1F1F"/>
                </a:solidFill>
              </a:rPr>
              <a:t>Celecoxib selectively inhibits inducible COX-2, the main source of inflammatory prostaglandins, and largely spares COX-1 in gastric mucosa — lowering ulcer and bleeding risk.</a:t>
            </a:r>
            <a:r>
              <a:rPr lang="en-US" sz="1300" dirty="0">
                <a:solidFill>
                  <a:srgbClr val="666666"/>
                </a:solidFill>
              </a:rPr>
              <a:t>  S30; S27</a:t>
            </a:r>
            <a:endParaRPr lang="en-US" sz="1800" dirty="0"/>
          </a:p>
          <a:p>
            <a:pPr marL="228600" indent="-228600">
              <a:spcAft>
                <a:spcPts val="800"/>
              </a:spcAft>
              <a:buSzPct val="100000"/>
              <a:buChar char="•"/>
            </a:pPr>
            <a:r>
              <a:rPr lang="en-US" sz="1800" b="1" dirty="0">
                <a:solidFill>
                  <a:srgbClr val="1F1F1F"/>
                </a:solidFill>
              </a:rPr>
              <a:t>Celecoxib’s trade-off:</a:t>
            </a:r>
            <a:r>
              <a:rPr lang="en-US" sz="1800" dirty="0">
                <a:solidFill>
                  <a:srgbClr val="1F1F1F"/>
                </a:solidFill>
              </a:rPr>
              <a:t> PGI2 (prostacyclin) falls without a matching drop in TXA2, which raises cardiovascular event risk; stomach and platelet protection continue.</a:t>
            </a:r>
            <a:r>
              <a:rPr lang="en-US" sz="1300" dirty="0">
                <a:solidFill>
                  <a:srgbClr val="666666"/>
                </a:solidFill>
              </a:rPr>
              <a:t>  S30; S29 (notes)</a:t>
            </a:r>
            <a:endParaRPr lang="en-US" sz="1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NSAIDS &amp; COX-2 SELECTIVE INHIBITION</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Mechanism of action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SO2 · SO3 · SO5 · IO2.1 · IO2.2 · IO2.3 · IO2.4</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48</a:t>
            </a:r>
            <a:endParaRPr lang="en-US" sz="1000" dirty="0"/>
          </a:p>
        </p:txBody>
      </p:sp>
      <p:sp>
        <p:nvSpPr>
          <p:cNvPr id="7" name="Mechanism of action (3/3) card"/>
          <p:cNvSpPr/>
          <p:nvPr/>
        </p:nvSpPr>
        <p:spPr>
          <a:xfrm>
            <a:off x="548640" y="1325880"/>
            <a:ext cx="11094415" cy="2775204"/>
          </a:xfrm>
          <a:prstGeom prst="roundRect">
            <a:avLst>
              <a:gd name="adj" fmla="val 3954"/>
            </a:avLst>
          </a:prstGeom>
          <a:solidFill>
            <a:srgbClr val="F2F4F7"/>
          </a:solidFill>
          <a:ln w="12700">
            <a:solidFill>
              <a:srgbClr val="F2F4F7"/>
            </a:solidFill>
            <a:prstDash val="solid"/>
          </a:ln>
        </p:spPr>
      </p:sp>
      <p:sp>
        <p:nvSpPr>
          <p:cNvPr id="8" name="Mechanism of action (3/3)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Mechanism of action (3/3)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Mechanism of action (3/3)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Mechanism of action (3/3)</a:t>
            </a:r>
            <a:endParaRPr lang="en-US" sz="1800" dirty="0"/>
          </a:p>
        </p:txBody>
      </p:sp>
      <p:sp>
        <p:nvSpPr>
          <p:cNvPr id="11" name="Mechanism of action (3/3) body"/>
          <p:cNvSpPr txBox="1"/>
          <p:nvPr/>
        </p:nvSpPr>
        <p:spPr>
          <a:xfrm>
            <a:off x="777240" y="2075688"/>
            <a:ext cx="10637215" cy="190652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Celecoxib still affects kidney prostaglandins, so renal risk is not eliminated.</a:t>
            </a:r>
            <a:r>
              <a:rPr lang="en-US" sz="1300" dirty="0">
                <a:solidFill>
                  <a:srgbClr val="666666"/>
                </a:solidFill>
              </a:rPr>
              <a:t>  S30; S29 (notes)</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Aspirin irreversibly blocks platelet COX (the effect lasts the 8–10-day life of the platelet); other nonselective NSAIDs are reversible inhibitors.</a:t>
            </a:r>
            <a:r>
              <a:rPr lang="en-US" sz="1300" dirty="0">
                <a:solidFill>
                  <a:srgbClr val="666666"/>
                </a:solidFill>
              </a:rPr>
              <a:t>  p. 675; p. 677</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COX-2 inhibitors spare platelet thromboxane (made by COX-1) but block endothelial prostacyclin — so they are not cardioprotective.</a:t>
            </a:r>
            <a:r>
              <a:rPr lang="en-US" sz="1300" dirty="0">
                <a:solidFill>
                  <a:srgbClr val="666666"/>
                </a:solidFill>
              </a:rPr>
              <a:t>  p. 677</a:t>
            </a:r>
            <a:endParaRPr lang="en-US" sz="1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NSAIDS &amp; COX-2 SELECTIVE INHIBITION</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Indications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SO2 · SO3 · SO5 · IO2.1 · IO2.2 · IO2.3 · IO2.4</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49</a:t>
            </a:r>
            <a:endParaRPr lang="en-US" sz="1000" dirty="0"/>
          </a:p>
        </p:txBody>
      </p:sp>
      <p:sp>
        <p:nvSpPr>
          <p:cNvPr id="7" name="Indications card"/>
          <p:cNvSpPr/>
          <p:nvPr/>
        </p:nvSpPr>
        <p:spPr>
          <a:xfrm>
            <a:off x="548640" y="1325880"/>
            <a:ext cx="11094415" cy="2884932"/>
          </a:xfrm>
          <a:prstGeom prst="roundRect">
            <a:avLst>
              <a:gd name="adj" fmla="val 3803"/>
            </a:avLst>
          </a:prstGeom>
          <a:solidFill>
            <a:srgbClr val="F2F4F7"/>
          </a:solidFill>
          <a:ln w="12700">
            <a:solidFill>
              <a:srgbClr val="F2F4F7"/>
            </a:solidFill>
            <a:prstDash val="solid"/>
          </a:ln>
        </p:spPr>
      </p:sp>
      <p:sp>
        <p:nvSpPr>
          <p:cNvPr id="8" name="Indications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Indica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ndication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Indications</a:t>
            </a:r>
            <a:endParaRPr lang="en-US" sz="1800" dirty="0"/>
          </a:p>
        </p:txBody>
      </p:sp>
      <p:sp>
        <p:nvSpPr>
          <p:cNvPr id="11" name="Indications body"/>
          <p:cNvSpPr txBox="1"/>
          <p:nvPr/>
        </p:nvSpPr>
        <p:spPr>
          <a:xfrm>
            <a:off x="777240" y="2075688"/>
            <a:ext cx="10637215" cy="201625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Oral NSAIDs for osteoarthritis — effective, but carry the systemic risks below.</a:t>
            </a:r>
            <a:r>
              <a:rPr lang="en-US" sz="1300" dirty="0">
                <a:solidFill>
                  <a:srgbClr val="666666"/>
                </a:solidFill>
              </a:rPr>
              <a:t>  S43</a:t>
            </a:r>
            <a:endParaRPr lang="en-US" sz="1800" dirty="0"/>
          </a:p>
          <a:p>
            <a:pPr marL="228600" indent="-228600">
              <a:spcAft>
                <a:spcPts val="800"/>
              </a:spcAft>
              <a:buSzPct val="100000"/>
              <a:buChar char="•"/>
            </a:pPr>
            <a:r>
              <a:rPr lang="en-US" sz="1800" dirty="0">
                <a:solidFill>
                  <a:srgbClr val="1F1F1F"/>
                </a:solidFill>
              </a:rPr>
              <a:t>Topical NSAIDs — effective local relief with much lower systemic exposure.</a:t>
            </a:r>
            <a:r>
              <a:rPr lang="en-US" sz="1300" dirty="0">
                <a:solidFill>
                  <a:srgbClr val="666666"/>
                </a:solidFill>
              </a:rPr>
              <a:t>  S43</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NSAIDs ease symptoms but, unlike DMARDs, do not alter the course of any arthritic disorder.</a:t>
            </a:r>
            <a:r>
              <a:rPr lang="en-US" sz="1300" dirty="0">
                <a:solidFill>
                  <a:srgbClr val="666666"/>
                </a:solidFill>
              </a:rPr>
              <a:t>  p. 676</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Used in RA, spondyloarthropathies, OA, sprains and strains, low back pain, and gout (tolmetin appears ineffective in gout).</a:t>
            </a:r>
            <a:r>
              <a:rPr lang="en-US" sz="1300" dirty="0">
                <a:solidFill>
                  <a:srgbClr val="666666"/>
                </a:solidFill>
              </a:rPr>
              <a:t>  p. 676</a:t>
            </a:r>
            <a:endParaRPr lang="en-US" sz="1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NSAIDS &amp; COX-2 SELECTIVE INHIBITION</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Adverse effects (boxed warnings first)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SO2 · SO3 · SO5 · IO2.1 · IO2.2 · IO2.3 · IO2.4</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50</a:t>
            </a:r>
            <a:endParaRPr lang="en-US" sz="1000" dirty="0"/>
          </a:p>
        </p:txBody>
      </p:sp>
      <p:sp>
        <p:nvSpPr>
          <p:cNvPr id="7" name="Adverse effects (boxed warnings first) (1/2) card"/>
          <p:cNvSpPr/>
          <p:nvPr/>
        </p:nvSpPr>
        <p:spPr>
          <a:xfrm>
            <a:off x="548640" y="1325880"/>
            <a:ext cx="11094415" cy="3552444"/>
          </a:xfrm>
          <a:prstGeom prst="roundRect">
            <a:avLst>
              <a:gd name="adj" fmla="val 3089"/>
            </a:avLst>
          </a:prstGeom>
          <a:solidFill>
            <a:srgbClr val="F2F4F7"/>
          </a:solidFill>
          <a:ln w="12700">
            <a:solidFill>
              <a:srgbClr val="F2F4F7"/>
            </a:solidFill>
            <a:prstDash val="solid"/>
          </a:ln>
        </p:spPr>
      </p:sp>
      <p:sp>
        <p:nvSpPr>
          <p:cNvPr id="8" name="Adverse effects (boxed warnings first) (1/2)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Adverse effects (boxed warnings first)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Adverse effects (boxed warnings first)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Adverse effects (boxed warnings first) (1/2)</a:t>
            </a:r>
            <a:endParaRPr lang="en-US" sz="1800" dirty="0"/>
          </a:p>
        </p:txBody>
      </p:sp>
      <p:sp>
        <p:nvSpPr>
          <p:cNvPr id="11" name="Adverse effects (boxed warnings first) (1/2) body"/>
          <p:cNvSpPr txBox="1"/>
          <p:nvPr/>
        </p:nvSpPr>
        <p:spPr>
          <a:xfrm>
            <a:off x="777240" y="2075688"/>
            <a:ext cx="10637215" cy="2683764"/>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Gastrointestinal:</a:t>
            </a:r>
            <a:r>
              <a:rPr lang="en-US" sz="1800" dirty="0">
                <a:solidFill>
                  <a:srgbClr val="1F1F1F"/>
                </a:solidFill>
              </a:rPr>
              <a:t> gastritis, peptic ulcer, GI bleeding.</a:t>
            </a:r>
            <a:r>
              <a:rPr lang="en-US" sz="1300" dirty="0">
                <a:solidFill>
                  <a:srgbClr val="666666"/>
                </a:solidFill>
              </a:rPr>
              <a:t>  S34</a:t>
            </a:r>
            <a:endParaRPr lang="en-US" sz="1800" dirty="0"/>
          </a:p>
          <a:p>
            <a:pPr marL="228600" indent="-228600">
              <a:spcAft>
                <a:spcPts val="800"/>
              </a:spcAft>
              <a:buSzPct val="100000"/>
              <a:buChar char="•"/>
            </a:pPr>
            <a:r>
              <a:rPr lang="en-US" sz="1800" b="1" dirty="0">
                <a:solidFill>
                  <a:srgbClr val="1F1F1F"/>
                </a:solidFill>
              </a:rPr>
              <a:t>Renal:</a:t>
            </a:r>
            <a:r>
              <a:rPr lang="en-US" sz="1800" dirty="0">
                <a:solidFill>
                  <a:srgbClr val="1F1F1F"/>
                </a:solidFill>
              </a:rPr>
              <a:t> decreased renal perfusion, fluid retention, acute kidney injury.</a:t>
            </a:r>
            <a:r>
              <a:rPr lang="en-US" sz="1300" dirty="0">
                <a:solidFill>
                  <a:srgbClr val="666666"/>
                </a:solidFill>
              </a:rPr>
              <a:t>  S34</a:t>
            </a:r>
            <a:endParaRPr lang="en-US" sz="1800" dirty="0"/>
          </a:p>
          <a:p>
            <a:pPr marL="228600" indent="-228600">
              <a:spcAft>
                <a:spcPts val="800"/>
              </a:spcAft>
              <a:buSzPct val="100000"/>
              <a:buChar char="•"/>
            </a:pPr>
            <a:r>
              <a:rPr lang="en-US" sz="1800" b="1" dirty="0">
                <a:solidFill>
                  <a:srgbClr val="1F1F1F"/>
                </a:solidFill>
              </a:rPr>
              <a:t>Cardiovascular:</a:t>
            </a:r>
            <a:r>
              <a:rPr lang="en-US" sz="1800" dirty="0">
                <a:solidFill>
                  <a:srgbClr val="1F1F1F"/>
                </a:solidFill>
              </a:rPr>
              <a:t> hypertension, increased risk of cardiovascular events.</a:t>
            </a:r>
            <a:r>
              <a:rPr lang="en-US" sz="1300" dirty="0">
                <a:solidFill>
                  <a:srgbClr val="666666"/>
                </a:solidFill>
              </a:rPr>
              <a:t>  S34</a:t>
            </a:r>
            <a:endParaRPr lang="en-US" sz="1800" dirty="0"/>
          </a:p>
          <a:p>
            <a:pPr marL="228600" indent="-228600">
              <a:spcAft>
                <a:spcPts val="800"/>
              </a:spcAft>
              <a:buSzPct val="100000"/>
              <a:buChar char="•"/>
            </a:pPr>
            <a:r>
              <a:rPr lang="en-US" sz="1800" b="1" dirty="0">
                <a:solidFill>
                  <a:srgbClr val="1F1F1F"/>
                </a:solidFill>
              </a:rPr>
              <a:t>Celecoxib:</a:t>
            </a:r>
            <a:r>
              <a:rPr lang="en-US" sz="1800" dirty="0">
                <a:solidFill>
                  <a:srgbClr val="1F1F1F"/>
                </a:solidFill>
              </a:rPr>
              <a:t> lower risk of ulcer/bleeding, but </a:t>
            </a:r>
            <a:r>
              <a:rPr lang="en-US" sz="1800" b="1" dirty="0">
                <a:solidFill>
                  <a:srgbClr val="1F1F1F"/>
                </a:solidFill>
              </a:rPr>
              <a:t>COX-2 selectivity is associated with increased cardiovascular event risk — a key trade-off.</a:t>
            </a:r>
            <a:r>
              <a:rPr lang="en-US" sz="1300" dirty="0">
                <a:solidFill>
                  <a:srgbClr val="666666"/>
                </a:solidFill>
              </a:rPr>
              <a:t>  S29; SG U2-R5</a:t>
            </a:r>
            <a:endParaRPr lang="en-US" sz="1800" dirty="0"/>
          </a:p>
          <a:p>
            <a:pPr marL="228600" indent="-228600">
              <a:spcAft>
                <a:spcPts val="800"/>
              </a:spcAft>
              <a:buSzPct val="100000"/>
              <a:buChar char="•"/>
            </a:pPr>
            <a:r>
              <a:rPr lang="en-US" sz="1800" dirty="0">
                <a:solidFill>
                  <a:srgbClr val="1F1F1F"/>
                </a:solidFill>
              </a:rPr>
              <a:t>Celecoxib’s renal risk is similar to nonselective NSAIDs — COX-2 selectivity does not protect the kidney.</a:t>
            </a:r>
            <a:r>
              <a:rPr lang="en-US" sz="1300" dirty="0">
                <a:solidFill>
                  <a:srgbClr val="666666"/>
                </a:solidFill>
              </a:rPr>
              <a:t>  S29; SG U2-R5</a:t>
            </a:r>
            <a:endParaRPr lang="en-US" sz="1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NSAIDS &amp; COX-2 SELECTIVE INHIBITION</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Adverse effects (boxed warnings first)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SO2 · SO3 · SO5 · IO2.1 · IO2.2 · IO2.3 · IO2.4</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51</a:t>
            </a:r>
            <a:endParaRPr lang="en-US" sz="1000" dirty="0"/>
          </a:p>
        </p:txBody>
      </p:sp>
      <p:sp>
        <p:nvSpPr>
          <p:cNvPr id="7" name="Adverse effects (boxed warnings first) (2/2) card"/>
          <p:cNvSpPr/>
          <p:nvPr/>
        </p:nvSpPr>
        <p:spPr>
          <a:xfrm>
            <a:off x="548640" y="1325880"/>
            <a:ext cx="11094415" cy="3163824"/>
          </a:xfrm>
          <a:prstGeom prst="roundRect">
            <a:avLst>
              <a:gd name="adj" fmla="val 3468"/>
            </a:avLst>
          </a:prstGeom>
          <a:solidFill>
            <a:srgbClr val="F2F4F7"/>
          </a:solidFill>
          <a:ln w="12700">
            <a:solidFill>
              <a:srgbClr val="F2F4F7"/>
            </a:solidFill>
            <a:prstDash val="solid"/>
          </a:ln>
        </p:spPr>
      </p:sp>
      <p:sp>
        <p:nvSpPr>
          <p:cNvPr id="8" name="Adverse effects (boxed warnings first) (2/2)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Adverse effects (boxed warnings first)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Adverse effects (boxed warnings first)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Adverse effects (boxed warnings first) (2/2)</a:t>
            </a:r>
            <a:endParaRPr lang="en-US" sz="1800" dirty="0"/>
          </a:p>
        </p:txBody>
      </p:sp>
      <p:sp>
        <p:nvSpPr>
          <p:cNvPr id="11" name="Adverse effects (boxed warnings first) (2/2) body"/>
          <p:cNvSpPr txBox="1"/>
          <p:nvPr/>
        </p:nvSpPr>
        <p:spPr>
          <a:xfrm>
            <a:off x="777240" y="2075688"/>
            <a:ext cx="10637215" cy="2295144"/>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GI:</a:t>
            </a:r>
            <a:r>
              <a:rPr lang="en-US" sz="1800" dirty="0">
                <a:solidFill>
                  <a:srgbClr val="1F1F1F"/>
                </a:solidFill>
              </a:rPr>
              <a:t> less prostaglandin-driven mucus and bicarbonate leaves the mucosa open to injury (ulcer, bleeding).</a:t>
            </a:r>
            <a:r>
              <a:rPr lang="en-US" sz="1300" dirty="0">
                <a:solidFill>
                  <a:srgbClr val="666666"/>
                </a:solidFill>
              </a:rPr>
              <a:t>  S35; S34 (notes)</a:t>
            </a:r>
            <a:endParaRPr lang="en-US" sz="1800" dirty="0"/>
          </a:p>
          <a:p>
            <a:pPr marL="228600" indent="-228600">
              <a:spcAft>
                <a:spcPts val="800"/>
              </a:spcAft>
              <a:buSzPct val="100000"/>
              <a:buChar char="•"/>
            </a:pPr>
            <a:r>
              <a:rPr lang="en-US" sz="1800" b="1" dirty="0">
                <a:solidFill>
                  <a:srgbClr val="1F1F1F"/>
                </a:solidFill>
              </a:rPr>
              <a:t>Kidney:</a:t>
            </a:r>
            <a:r>
              <a:rPr lang="en-US" sz="1800" dirty="0">
                <a:solidFill>
                  <a:srgbClr val="1F1F1F"/>
                </a:solidFill>
              </a:rPr>
              <a:t> reduced afferent arteriolar dilation lowers renal blood flow (AKI, fluid retention).</a:t>
            </a:r>
            <a:r>
              <a:rPr lang="en-US" sz="1300" dirty="0">
                <a:solidFill>
                  <a:srgbClr val="666666"/>
                </a:solidFill>
              </a:rPr>
              <a:t>  S35; S34 (notes)</a:t>
            </a:r>
            <a:endParaRPr lang="en-US" sz="1800" dirty="0"/>
          </a:p>
          <a:p>
            <a:pPr marL="228600" indent="-228600">
              <a:spcAft>
                <a:spcPts val="800"/>
              </a:spcAft>
              <a:buSzPct val="100000"/>
              <a:buChar char="•"/>
            </a:pPr>
            <a:r>
              <a:rPr lang="en-US" sz="1800" b="1" dirty="0">
                <a:solidFill>
                  <a:srgbClr val="1F1F1F"/>
                </a:solidFill>
              </a:rPr>
              <a:t>Platelets:</a:t>
            </a:r>
            <a:r>
              <a:rPr lang="en-US" sz="1800" dirty="0">
                <a:solidFill>
                  <a:srgbClr val="1F1F1F"/>
                </a:solidFill>
              </a:rPr>
              <a:t> reduced TXA2 impairs aggregation, increasing bleeding risk.</a:t>
            </a:r>
            <a:r>
              <a:rPr lang="en-US" sz="1300" dirty="0">
                <a:solidFill>
                  <a:srgbClr val="666666"/>
                </a:solidFill>
              </a:rPr>
              <a:t>  S35</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Beyond GI, renal, and CV: headache, tinnitus, dizziness, rare aseptic meningitis, liver test abnormalities, asthma, rashes, hyperkalemia.</a:t>
            </a:r>
            <a:r>
              <a:rPr lang="en-US" sz="1300" dirty="0">
                <a:solidFill>
                  <a:srgbClr val="666666"/>
                </a:solidFill>
              </a:rPr>
              <a:t>  p. 676</a:t>
            </a:r>
            <a:endParaRPr lang="en-US" sz="18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NSAIDS &amp; COX-2 SELECTIVE INHIBITION</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Contraindications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SO2 · SO3 · SO5 · IO2.1 · IO2.2 · IO2.3 · IO2.4</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52</a:t>
            </a:r>
            <a:endParaRPr lang="en-US" sz="1000" dirty="0"/>
          </a:p>
        </p:txBody>
      </p:sp>
      <p:sp>
        <p:nvSpPr>
          <p:cNvPr id="7" name="Contraindications card"/>
          <p:cNvSpPr/>
          <p:nvPr/>
        </p:nvSpPr>
        <p:spPr>
          <a:xfrm>
            <a:off x="548640" y="1325880"/>
            <a:ext cx="11094415" cy="2775204"/>
          </a:xfrm>
          <a:prstGeom prst="roundRect">
            <a:avLst>
              <a:gd name="adj" fmla="val 3954"/>
            </a:avLst>
          </a:prstGeom>
          <a:solidFill>
            <a:srgbClr val="F2F4F7"/>
          </a:solidFill>
          <a:ln w="12700">
            <a:solidFill>
              <a:srgbClr val="F2F4F7"/>
            </a:solidFill>
            <a:prstDash val="solid"/>
          </a:ln>
        </p:spPr>
      </p:sp>
      <p:sp>
        <p:nvSpPr>
          <p:cNvPr id="8" name="Contraindications icon circle"/>
          <p:cNvSpPr/>
          <p:nvPr/>
        </p:nvSpPr>
        <p:spPr>
          <a:xfrm>
            <a:off x="777240" y="1508760"/>
            <a:ext cx="438912" cy="438912"/>
          </a:xfrm>
          <a:prstGeom prst="ellipse">
            <a:avLst/>
          </a:prstGeom>
          <a:solidFill>
            <a:srgbClr val="C00000"/>
          </a:solidFill>
          <a:ln w="12700">
            <a:solidFill>
              <a:srgbClr val="C00000"/>
            </a:solidFill>
            <a:prstDash val="solid"/>
          </a:ln>
        </p:spPr>
      </p:sp>
      <p:pic>
        <p:nvPicPr>
          <p:cNvPr id="9" name="Contraindica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ontraindication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00000"/>
                </a:solidFill>
              </a:rPr>
              <a:t>Contraindications</a:t>
            </a:r>
            <a:endParaRPr lang="en-US" sz="1800" dirty="0"/>
          </a:p>
        </p:txBody>
      </p:sp>
      <p:sp>
        <p:nvSpPr>
          <p:cNvPr id="11" name="Contraindications body"/>
          <p:cNvSpPr txBox="1"/>
          <p:nvPr/>
        </p:nvSpPr>
        <p:spPr>
          <a:xfrm>
            <a:off x="777240" y="2075688"/>
            <a:ext cx="10637215" cy="190652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Use caution or avoid in: active GI bleeding or ulcer history; chronic kidney disease; heart failure or cardiovascular disease.</a:t>
            </a:r>
            <a:r>
              <a:rPr lang="en-US" sz="1300" dirty="0">
                <a:solidFill>
                  <a:srgbClr val="666666"/>
                </a:solidFill>
              </a:rPr>
              <a:t>  S36</a:t>
            </a:r>
            <a:endParaRPr lang="en-US" sz="1800" dirty="0"/>
          </a:p>
          <a:p>
            <a:pPr marL="228600" indent="-228600">
              <a:spcAft>
                <a:spcPts val="800"/>
              </a:spcAft>
              <a:buSzPct val="100000"/>
              <a:buChar char="•"/>
            </a:pPr>
            <a:r>
              <a:rPr lang="en-US" sz="1800" dirty="0">
                <a:solidFill>
                  <a:srgbClr val="1F1F1F"/>
                </a:solidFill>
              </a:rPr>
              <a:t>Also caution or avoid with anticoagulant therapy and in late pregnancy.</a:t>
            </a:r>
            <a:r>
              <a:rPr lang="en-US" sz="1300" dirty="0">
                <a:solidFill>
                  <a:srgbClr val="666666"/>
                </a:solidFill>
              </a:rPr>
              <a:t>  S36</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Ibuprofen is relatively contraindicated with nasal polyps, angioedema, or bronchospastic reactivity to aspirin.</a:t>
            </a:r>
            <a:r>
              <a:rPr lang="en-US" sz="1300" dirty="0">
                <a:solidFill>
                  <a:srgbClr val="666666"/>
                </a:solidFill>
              </a:rPr>
              <a:t>  p. 680</a:t>
            </a:r>
            <a:endParaRPr lang="en-US" sz="18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NSAIDS &amp; COX-2 SELECTIVE INHIBITION</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 interactions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SO2 · SO3 · SO5 · IO2.1 · IO2.2 · IO2.3 · IO2.4</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53</a:t>
            </a:r>
            <a:endParaRPr lang="en-US" sz="1000" dirty="0"/>
          </a:p>
        </p:txBody>
      </p:sp>
      <p:sp>
        <p:nvSpPr>
          <p:cNvPr id="7" name="Drug interactions card"/>
          <p:cNvSpPr/>
          <p:nvPr/>
        </p:nvSpPr>
        <p:spPr>
          <a:xfrm>
            <a:off x="548640" y="1325880"/>
            <a:ext cx="11094415" cy="4219956"/>
          </a:xfrm>
          <a:prstGeom prst="roundRect">
            <a:avLst>
              <a:gd name="adj" fmla="val 2600"/>
            </a:avLst>
          </a:prstGeom>
          <a:solidFill>
            <a:srgbClr val="F2F4F7"/>
          </a:solidFill>
          <a:ln w="12700">
            <a:solidFill>
              <a:srgbClr val="F2F4F7"/>
            </a:solidFill>
            <a:prstDash val="solid"/>
          </a:ln>
        </p:spPr>
      </p:sp>
      <p:sp>
        <p:nvSpPr>
          <p:cNvPr id="8" name="Drug interactions icon circle"/>
          <p:cNvSpPr/>
          <p:nvPr/>
        </p:nvSpPr>
        <p:spPr>
          <a:xfrm>
            <a:off x="777240" y="1508760"/>
            <a:ext cx="438912" cy="438912"/>
          </a:xfrm>
          <a:prstGeom prst="ellipse">
            <a:avLst/>
          </a:prstGeom>
          <a:solidFill>
            <a:srgbClr val="7F6000"/>
          </a:solidFill>
          <a:ln w="12700">
            <a:solidFill>
              <a:srgbClr val="7F6000"/>
            </a:solidFill>
            <a:prstDash val="solid"/>
          </a:ln>
        </p:spPr>
      </p:sp>
      <p:pic>
        <p:nvPicPr>
          <p:cNvPr id="9" name="Drug interac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 interaction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F6000"/>
                </a:solidFill>
              </a:rPr>
              <a:t>Drug interactions</a:t>
            </a:r>
            <a:endParaRPr lang="en-US" sz="1800" dirty="0"/>
          </a:p>
        </p:txBody>
      </p:sp>
      <p:sp>
        <p:nvSpPr>
          <p:cNvPr id="11" name="Drug interactions body"/>
          <p:cNvSpPr txBox="1"/>
          <p:nvPr/>
        </p:nvSpPr>
        <p:spPr>
          <a:xfrm>
            <a:off x="777240" y="2075688"/>
            <a:ext cx="10637215" cy="33512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NSAIDs + anticoagulants → ↑ bleeding risk.</a:t>
            </a:r>
            <a:r>
              <a:rPr lang="en-US" sz="1300" dirty="0">
                <a:solidFill>
                  <a:srgbClr val="666666"/>
                </a:solidFill>
              </a:rPr>
              <a:t>  S36</a:t>
            </a:r>
            <a:endParaRPr lang="en-US" sz="1800" dirty="0"/>
          </a:p>
          <a:p>
            <a:pPr marL="228600" indent="-228600">
              <a:spcAft>
                <a:spcPts val="800"/>
              </a:spcAft>
              <a:buSzPct val="100000"/>
              <a:buChar char="•"/>
            </a:pPr>
            <a:r>
              <a:rPr lang="en-US" sz="1800" dirty="0">
                <a:solidFill>
                  <a:srgbClr val="1F1F1F"/>
                </a:solidFill>
              </a:rPr>
              <a:t>NSAIDs + ACE inhibitors/ARBs → ↑ AKI risk; add a diuretic and it is the </a:t>
            </a:r>
            <a:r>
              <a:rPr lang="en-US" sz="1800" b="1" dirty="0">
                <a:solidFill>
                  <a:srgbClr val="1F1F1F"/>
                </a:solidFill>
              </a:rPr>
              <a:t>“triple whammy,”</a:t>
            </a:r>
            <a:r>
              <a:rPr lang="en-US" sz="1800" dirty="0">
                <a:solidFill>
                  <a:srgbClr val="1F1F1F"/>
                </a:solidFill>
              </a:rPr>
              <a:t> a very high-yield AKI pattern.</a:t>
            </a:r>
            <a:r>
              <a:rPr lang="en-US" sz="1300" dirty="0">
                <a:solidFill>
                  <a:srgbClr val="666666"/>
                </a:solidFill>
              </a:rPr>
              <a:t>  S36; S36 (notes)</a:t>
            </a:r>
            <a:endParaRPr lang="en-US" sz="1800" dirty="0"/>
          </a:p>
          <a:p>
            <a:pPr marL="228600" indent="-228600">
              <a:spcAft>
                <a:spcPts val="800"/>
              </a:spcAft>
              <a:buSzPct val="100000"/>
              <a:buChar char="•"/>
            </a:pPr>
            <a:r>
              <a:rPr lang="en-US" sz="1800" dirty="0">
                <a:solidFill>
                  <a:srgbClr val="1F1F1F"/>
                </a:solidFill>
              </a:rPr>
              <a:t>NSAIDs + diuretics → reduced diuretic effect, ↑ renal risk.</a:t>
            </a:r>
            <a:r>
              <a:rPr lang="en-US" sz="1300" dirty="0">
                <a:solidFill>
                  <a:srgbClr val="666666"/>
                </a:solidFill>
              </a:rPr>
              <a:t>  S36</a:t>
            </a:r>
            <a:endParaRPr lang="en-US" sz="1800" dirty="0"/>
          </a:p>
          <a:p>
            <a:pPr marL="228600" indent="-228600">
              <a:spcAft>
                <a:spcPts val="800"/>
              </a:spcAft>
              <a:buSzPct val="100000"/>
              <a:buChar char="•"/>
            </a:pPr>
            <a:r>
              <a:rPr lang="en-US" sz="1800" dirty="0">
                <a:solidFill>
                  <a:srgbClr val="1F1F1F"/>
                </a:solidFill>
              </a:rPr>
              <a:t>NSAIDs + corticosteroids → ↑ GI ulcer risk.</a:t>
            </a:r>
            <a:r>
              <a:rPr lang="en-US" sz="1300" dirty="0">
                <a:solidFill>
                  <a:srgbClr val="666666"/>
                </a:solidFill>
              </a:rPr>
              <a:t>  S36</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Ibuprofen taken with aspirin blocks aspirin’s irreversible platelet inhibition, limiting its cardioprotective effect.</a:t>
            </a:r>
            <a:r>
              <a:rPr lang="en-US" sz="1300" dirty="0">
                <a:solidFill>
                  <a:srgbClr val="666666"/>
                </a:solidFill>
              </a:rPr>
              <a:t>  p. 680</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Celecoxib (a CYP2C9 substrate) occasionally interacts with warfarin and raises lithium and fluconazole levels.</a:t>
            </a:r>
            <a:r>
              <a:rPr lang="en-US" sz="1300" dirty="0">
                <a:solidFill>
                  <a:srgbClr val="666666"/>
                </a:solidFill>
              </a:rPr>
              <a:t>  p. 679</a:t>
            </a:r>
            <a:endParaRPr lang="en-US" sz="18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NSAIDS &amp; COX-2 SELECTIVE INHIBITION</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Pharmacokinetics · Monitoring</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SO2 · SO3 · SO5 · IO2.1 · IO2.2 · IO2.3 · IO2.4</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54</a:t>
            </a:r>
            <a:endParaRPr lang="en-US" sz="1000" dirty="0"/>
          </a:p>
        </p:txBody>
      </p:sp>
      <p:sp>
        <p:nvSpPr>
          <p:cNvPr id="7" name="Pharmacokinetics card"/>
          <p:cNvSpPr/>
          <p:nvPr/>
        </p:nvSpPr>
        <p:spPr>
          <a:xfrm>
            <a:off x="548640" y="1325880"/>
            <a:ext cx="5410048" cy="3223260"/>
          </a:xfrm>
          <a:prstGeom prst="roundRect">
            <a:avLst>
              <a:gd name="adj" fmla="val 3404"/>
            </a:avLst>
          </a:prstGeom>
          <a:solidFill>
            <a:srgbClr val="F2F4F7"/>
          </a:solidFill>
          <a:ln w="12700">
            <a:solidFill>
              <a:srgbClr val="F2F4F7"/>
            </a:solidFill>
            <a:prstDash val="solid"/>
          </a:ln>
        </p:spPr>
      </p:sp>
      <p:sp>
        <p:nvSpPr>
          <p:cNvPr id="8" name="Pharmacokinetics icon circle"/>
          <p:cNvSpPr/>
          <p:nvPr/>
        </p:nvSpPr>
        <p:spPr>
          <a:xfrm>
            <a:off x="777240" y="1508760"/>
            <a:ext cx="438912" cy="438912"/>
          </a:xfrm>
          <a:prstGeom prst="ellipse">
            <a:avLst/>
          </a:prstGeom>
          <a:solidFill>
            <a:srgbClr val="2E75B6"/>
          </a:solidFill>
          <a:ln w="12700">
            <a:solidFill>
              <a:srgbClr val="2E75B6"/>
            </a:solidFill>
            <a:prstDash val="solid"/>
          </a:ln>
        </p:spPr>
      </p:sp>
      <p:pic>
        <p:nvPicPr>
          <p:cNvPr id="9" name="Pharmacokinetic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Pharmacokinetic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2E75B6"/>
                </a:solidFill>
              </a:rPr>
              <a:t>Pharmacokinetics</a:t>
            </a:r>
            <a:endParaRPr lang="en-US" sz="1800" dirty="0"/>
          </a:p>
        </p:txBody>
      </p:sp>
      <p:sp>
        <p:nvSpPr>
          <p:cNvPr id="11" name="Pharmacokinetics body"/>
          <p:cNvSpPr txBox="1"/>
          <p:nvPr/>
        </p:nvSpPr>
        <p:spPr>
          <a:xfrm>
            <a:off x="777240" y="2075688"/>
            <a:ext cx="4952848" cy="235458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Naproxen’s longer half-life allows twice-daily dosing; diclofenac comes as oral and topical forms.</a:t>
            </a:r>
            <a:r>
              <a:rPr lang="en-US" sz="1300" dirty="0">
                <a:solidFill>
                  <a:srgbClr val="666666"/>
                </a:solidFill>
              </a:rPr>
              <a:t>  S28</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Chemistry &amp; pharmacokinetics:</a:t>
            </a:r>
            <a:r>
              <a:rPr lang="en-US" sz="1800" dirty="0">
                <a:solidFill>
                  <a:srgbClr val="1F1F1F"/>
                </a:solidFill>
              </a:rPr>
              <a:t> most NSAIDs are weak acids, well absorbed, ~98% albumin-bound, metabolized by CYP3A or CYP2C, and renally excreted.</a:t>
            </a:r>
            <a:r>
              <a:rPr lang="en-US" sz="1300" dirty="0">
                <a:solidFill>
                  <a:srgbClr val="666666"/>
                </a:solidFill>
              </a:rPr>
              <a:t>  p. 675</a:t>
            </a:r>
            <a:endParaRPr lang="en-US" sz="1800" dirty="0"/>
          </a:p>
        </p:txBody>
      </p:sp>
      <p:sp>
        <p:nvSpPr>
          <p:cNvPr id="12" name="Monitoring card"/>
          <p:cNvSpPr/>
          <p:nvPr/>
        </p:nvSpPr>
        <p:spPr>
          <a:xfrm>
            <a:off x="6233008" y="1325880"/>
            <a:ext cx="5410048" cy="3223260"/>
          </a:xfrm>
          <a:prstGeom prst="roundRect">
            <a:avLst>
              <a:gd name="adj" fmla="val 3404"/>
            </a:avLst>
          </a:prstGeom>
          <a:solidFill>
            <a:srgbClr val="F2F4F7"/>
          </a:solidFill>
          <a:ln w="12700">
            <a:solidFill>
              <a:srgbClr val="F2F4F7"/>
            </a:solidFill>
            <a:prstDash val="solid"/>
          </a:ln>
        </p:spPr>
      </p:sp>
      <p:sp>
        <p:nvSpPr>
          <p:cNvPr id="13" name="Monitoring icon circle"/>
          <p:cNvSpPr/>
          <p:nvPr/>
        </p:nvSpPr>
        <p:spPr>
          <a:xfrm>
            <a:off x="6461608" y="1508760"/>
            <a:ext cx="438912" cy="438912"/>
          </a:xfrm>
          <a:prstGeom prst="ellipse">
            <a:avLst/>
          </a:prstGeom>
          <a:solidFill>
            <a:srgbClr val="1F7A7A"/>
          </a:solidFill>
          <a:ln w="12700">
            <a:solidFill>
              <a:srgbClr val="1F7A7A"/>
            </a:solidFill>
            <a:prstDash val="solid"/>
          </a:ln>
        </p:spPr>
      </p:sp>
      <p:pic>
        <p:nvPicPr>
          <p:cNvPr id="14" name="Monitoring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Monitoring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1F7A7A"/>
                </a:solidFill>
              </a:rPr>
              <a:t>Monitoring</a:t>
            </a:r>
            <a:endParaRPr lang="en-US" sz="1800" dirty="0"/>
          </a:p>
        </p:txBody>
      </p:sp>
      <p:sp>
        <p:nvSpPr>
          <p:cNvPr id="16" name="Monitoring body"/>
          <p:cNvSpPr txBox="1"/>
          <p:nvPr/>
        </p:nvSpPr>
        <p:spPr>
          <a:xfrm>
            <a:off x="6461608" y="2075688"/>
            <a:ext cx="4952848" cy="235458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These three systems (GI, renal, CV) are the organizing framework for every NSAID contraindication and interaction discussion (Table 1).</a:t>
            </a:r>
            <a:r>
              <a:rPr lang="en-US" sz="1300" dirty="0">
                <a:solidFill>
                  <a:srgbClr val="666666"/>
                </a:solidFill>
              </a:rPr>
              <a:t>  S34 (notes)</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Highest GI-bleeding risk: celecoxib, or a nonselective NSAID plus omeprazole or misoprostol.</a:t>
            </a:r>
            <a:r>
              <a:rPr lang="en-US" sz="1300" dirty="0">
                <a:solidFill>
                  <a:srgbClr val="666666"/>
                </a:solidFill>
              </a:rPr>
              <a:t>  p. 681</a:t>
            </a:r>
            <a:endParaRPr lang="en-US" sz="18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NSAIDS &amp; COX-2 SELECTIVE INHIBITION</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pearls / "why" hook</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SO2 · SO3 · SO5 · IO2.1 · IO2.2 · IO2.3 · IO2.4</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55</a:t>
            </a:r>
            <a:endParaRPr lang="en-US" sz="1000" dirty="0"/>
          </a:p>
        </p:txBody>
      </p:sp>
      <p:sp>
        <p:nvSpPr>
          <p:cNvPr id="7" name="Clinical pearls / &quot;why&quot; hook card"/>
          <p:cNvSpPr/>
          <p:nvPr/>
        </p:nvSpPr>
        <p:spPr>
          <a:xfrm>
            <a:off x="548640" y="1325880"/>
            <a:ext cx="11094415" cy="4110228"/>
          </a:xfrm>
          <a:prstGeom prst="roundRect">
            <a:avLst>
              <a:gd name="adj" fmla="val 2670"/>
            </a:avLst>
          </a:prstGeom>
          <a:solidFill>
            <a:srgbClr val="F2F4F7"/>
          </a:solidFill>
          <a:ln w="12700">
            <a:solidFill>
              <a:srgbClr val="F2F4F7"/>
            </a:solidFill>
            <a:prstDash val="solid"/>
          </a:ln>
        </p:spPr>
      </p:sp>
      <p:sp>
        <p:nvSpPr>
          <p:cNvPr id="8" name="Clinical pearls / &quot;why&quot; hook icon circle"/>
          <p:cNvSpPr/>
          <p:nvPr/>
        </p:nvSpPr>
        <p:spPr>
          <a:xfrm>
            <a:off x="777240" y="1508760"/>
            <a:ext cx="438912" cy="438912"/>
          </a:xfrm>
          <a:prstGeom prst="ellipse">
            <a:avLst/>
          </a:prstGeom>
          <a:solidFill>
            <a:srgbClr val="2E75B6"/>
          </a:solidFill>
          <a:ln w="12700">
            <a:solidFill>
              <a:srgbClr val="2E75B6"/>
            </a:solidFill>
            <a:prstDash val="solid"/>
          </a:ln>
        </p:spPr>
      </p:sp>
      <p:pic>
        <p:nvPicPr>
          <p:cNvPr id="9" name="Clinical pearls / &quot;why&quot; hook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pearls / &amp;quot;why&amp;quot; hook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2E75B6"/>
                </a:solidFill>
              </a:rPr>
              <a:t>Clinical pearls / "why" hook</a:t>
            </a:r>
            <a:endParaRPr lang="en-US" sz="1800" dirty="0"/>
          </a:p>
        </p:txBody>
      </p:sp>
      <p:sp>
        <p:nvSpPr>
          <p:cNvPr id="11" name="Clinical pearls / &quot;why&quot; hook body"/>
          <p:cNvSpPr txBox="1"/>
          <p:nvPr/>
        </p:nvSpPr>
        <p:spPr>
          <a:xfrm>
            <a:off x="777240" y="2075688"/>
            <a:ext cx="10637215" cy="324154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Case: a 72-year-old with OA, CKD, hypertension, and an anticoagulant. </a:t>
            </a:r>
            <a:r>
              <a:rPr lang="en-US" sz="1800" b="1" dirty="0">
                <a:solidFill>
                  <a:srgbClr val="1F1F1F"/>
                </a:solidFill>
              </a:rPr>
              <a:t>Is an NSAID a good first-line choice for this patient’s pain? Why or why not?</a:t>
            </a:r>
            <a:r>
              <a:rPr lang="en-US" sz="1300" dirty="0">
                <a:solidFill>
                  <a:srgbClr val="666666"/>
                </a:solidFill>
              </a:rPr>
              <a:t>  S37</a:t>
            </a:r>
            <a:endParaRPr lang="en-US" sz="1800" dirty="0"/>
          </a:p>
          <a:p>
            <a:pPr marL="228600" indent="-228600">
              <a:spcAft>
                <a:spcPts val="800"/>
              </a:spcAft>
              <a:buSzPct val="100000"/>
              <a:buChar char="•"/>
            </a:pPr>
            <a:r>
              <a:rPr lang="en-US" sz="1800" b="1" dirty="0">
                <a:solidFill>
                  <a:srgbClr val="1F1F1F"/>
                </a:solidFill>
              </a:rPr>
              <a:t>Three NSAID red flags at once</a:t>
            </a:r>
            <a:r>
              <a:rPr lang="en-US" sz="1800" dirty="0">
                <a:solidFill>
                  <a:srgbClr val="1F1F1F"/>
                </a:solidFill>
              </a:rPr>
              <a:t> — renal disease, anticoagulation, and age-related bleeding risk — make acetaminophen or a non-NSAID strategy generally safer first-line.</a:t>
            </a:r>
            <a:r>
              <a:rPr lang="en-US" sz="1300" dirty="0">
                <a:solidFill>
                  <a:srgbClr val="666666"/>
                </a:solidFill>
              </a:rPr>
              <a:t>  S37</a:t>
            </a:r>
            <a:endParaRPr lang="en-US" sz="1800" dirty="0"/>
          </a:p>
          <a:p>
            <a:pPr marL="228600" indent="-228600">
              <a:spcAft>
                <a:spcPts val="800"/>
              </a:spcAft>
              <a:buSzPct val="100000"/>
              <a:buChar char="•"/>
            </a:pPr>
            <a:r>
              <a:rPr lang="en-US" sz="1800" dirty="0">
                <a:solidFill>
                  <a:srgbClr val="1F1F1F"/>
                </a:solidFill>
              </a:rPr>
              <a:t>Celecoxib is a classic “trade one risk for another” point: a better GI profile, but not a free lunch cardiovascularly or renally.</a:t>
            </a:r>
            <a:r>
              <a:rPr lang="en-US" sz="1300" dirty="0">
                <a:solidFill>
                  <a:srgbClr val="666666"/>
                </a:solidFill>
              </a:rPr>
              <a:t>  S29 (notes)</a:t>
            </a:r>
            <a:endParaRPr lang="en-US" sz="1800" dirty="0"/>
          </a:p>
          <a:p>
            <a:pPr marL="228600" indent="-228600">
              <a:spcAft>
                <a:spcPts val="800"/>
              </a:spcAft>
              <a:buSzPct val="100000"/>
              <a:buChar char="•"/>
            </a:pPr>
            <a:r>
              <a:rPr lang="en-US" sz="1800" dirty="0">
                <a:solidFill>
                  <a:srgbClr val="1F1F1F"/>
                </a:solidFill>
              </a:rPr>
              <a:t>There is no risk-free NSAID choice, only a different risk profile.</a:t>
            </a:r>
            <a:r>
              <a:rPr lang="en-US" sz="1300" dirty="0">
                <a:solidFill>
                  <a:srgbClr val="666666"/>
                </a:solidFill>
              </a:rPr>
              <a:t>  S31 (notes)</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Choice of NSAID:</a:t>
            </a:r>
            <a:r>
              <a:rPr lang="en-US" sz="1800" dirty="0">
                <a:solidFill>
                  <a:srgbClr val="1F1F1F"/>
                </a:solidFill>
              </a:rPr>
              <a:t> all are about equally effective, so choose by toxicity, cost, and patient factors; in renal insufficiency nonacetylated salicylates may be best.</a:t>
            </a:r>
            <a:r>
              <a:rPr lang="en-US" sz="1300" dirty="0">
                <a:solidFill>
                  <a:srgbClr val="666666"/>
                </a:solidFill>
              </a:rPr>
              <a:t>  p. 681</a:t>
            </a:r>
            <a:endParaRPr lang="en-US" sz="18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NSAIDS &amp; COX-2 SELECTIVE INHIBITION</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500" b="1" dirty="0">
                <a:solidFill>
                  <a:srgbClr val="1F1F1F"/>
                </a:solidFill>
                <a:latin typeface="Calibri" pitchFamily="34" charset="0"/>
                <a:ea typeface="Calibri" pitchFamily="34" charset="-122"/>
                <a:cs typeface="Calibri" pitchFamily="34" charset="-120"/>
              </a:rPr>
              <a:t>Figure 2 · Nonselective NSAIDs vs. COX-2 selective inhibition</a:t>
            </a:r>
            <a:endParaRPr lang="en-US" sz="25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SO2 · SO3 · SO5 · IO2.1 · IO2.2 · IO2.3 · IO2.4</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56</a:t>
            </a:r>
            <a:endParaRPr lang="en-US" sz="1000" dirty="0"/>
          </a:p>
        </p:txBody>
      </p:sp>
      <p:pic>
        <p:nvPicPr>
          <p:cNvPr id="7" name="Figure S31_1.jpg" descr="/home/user/dpas-pharm/work/L03/figures/S31_1.jpg">    </p:cNvPr>
          <p:cNvPicPr>
            <a:picLocks noChangeAspect="1"/>
          </p:cNvPicPr>
          <p:nvPr/>
        </p:nvPicPr>
        <p:blipFill>
          <a:blip r:embed="rId1"/>
          <a:stretch>
            <a:fillRect/>
          </a:stretch>
        </p:blipFill>
        <p:spPr>
          <a:xfrm>
            <a:off x="2853327" y="1325880"/>
            <a:ext cx="6485042" cy="3919728"/>
          </a:xfrm>
          <a:prstGeom prst="rect">
            <a:avLst/>
          </a:prstGeom>
        </p:spPr>
      </p:pic>
      <p:sp>
        <p:nvSpPr>
          <p:cNvPr id="8" name="Figure caption"/>
          <p:cNvSpPr txBox="1"/>
          <p:nvPr/>
        </p:nvSpPr>
        <p:spPr>
          <a:xfrm>
            <a:off x="548640" y="5428488"/>
            <a:ext cx="11094415" cy="835152"/>
          </a:xfrm>
          <a:prstGeom prst="rect">
            <a:avLst/>
          </a:prstGeom>
          <a:noFill/>
          <a:ln/>
        </p:spPr>
        <p:txBody>
          <a:bodyPr wrap="square" lIns="0" tIns="0" rIns="0" bIns="0" rtlCol="0" anchor="t"/>
          <a:lstStyle/>
          <a:p>
            <a:pPr indent="0" marL="0">
              <a:buNone/>
            </a:pPr>
            <a:r>
              <a:rPr lang="en-US" sz="1600" dirty="0">
                <a:solidFill>
                  <a:srgbClr val="1F1F1F"/>
                </a:solidFill>
              </a:rPr>
              <a:t>Original illustrative comparison (illustrative relative-risk values, not from Katzung; not clinical data): nonselective NSAIDs (e.g., ibuprofen, naproxen) carry higher GI ulcer/bleeding risk (75) than cardiovascular risk (35); celecoxib trades lower GI risk (30) for higher cardiovascular risk (65).</a:t>
            </a:r>
            <a:r>
              <a:rPr lang="en-US" sz="1100" dirty="0">
                <a:solidFill>
                  <a:srgbClr val="666666"/>
                </a:solidFill>
              </a:rPr>
              <a:t>  S31; S31 (notes)</a:t>
            </a:r>
            <a:endParaRPr lang="en-US" sz="16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NSAIDS &amp; COX-2 SELECTIVE INHIBITION</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NSAID GI, renal and platelet effects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SO2 · SO3 · SO5 · IO2.1 · IO2.2 · IO2.3 · IO2.4</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57</a:t>
            </a:r>
            <a:endParaRPr lang="en-US" sz="1000" dirty="0"/>
          </a:p>
        </p:txBody>
      </p:sp>
      <p:pic>
        <p:nvPicPr>
          <p:cNvPr id="7" name="Figure S35_1.jpg" descr="/home/user/dpas-pharm/work/L03/figures/S35_1.jpg">    </p:cNvPr>
          <p:cNvPicPr>
            <a:picLocks noChangeAspect="1"/>
          </p:cNvPicPr>
          <p:nvPr/>
        </p:nvPicPr>
        <p:blipFill>
          <a:blip r:embed="rId1"/>
          <a:stretch>
            <a:fillRect/>
          </a:stretch>
        </p:blipFill>
        <p:spPr>
          <a:xfrm>
            <a:off x="2398755" y="1325880"/>
            <a:ext cx="7394186" cy="4167632"/>
          </a:xfrm>
          <a:prstGeom prst="rect">
            <a:avLst/>
          </a:prstGeom>
        </p:spPr>
      </p:pic>
      <p:sp>
        <p:nvSpPr>
          <p:cNvPr id="8" name="Figure caption"/>
          <p:cNvSpPr txBox="1"/>
          <p:nvPr/>
        </p:nvSpPr>
        <p:spPr>
          <a:xfrm>
            <a:off x="548640" y="5676392"/>
            <a:ext cx="11094415" cy="587248"/>
          </a:xfrm>
          <a:prstGeom prst="rect">
            <a:avLst/>
          </a:prstGeom>
          <a:noFill/>
          <a:ln/>
        </p:spPr>
        <p:txBody>
          <a:bodyPr wrap="square" lIns="0" tIns="0" rIns="0" bIns="0" rtlCol="0" anchor="t"/>
          <a:lstStyle/>
          <a:p>
            <a:pPr indent="0" marL="0">
              <a:buNone/>
            </a:pPr>
            <a:r>
              <a:rPr lang="en-US" sz="1600" dirty="0">
                <a:solidFill>
                  <a:srgbClr val="1F1F1F"/>
                </a:solidFill>
              </a:rPr>
              <a:t>Companion diagram: reduced prostaglandins → GI mucosal injury (less mucus and bicarbonate, ulcer risk), reduced afferent arteriolar dilation (kidney blood flow falls), and reduced TXA2 (platelets aggregate less, bleeding risk).</a:t>
            </a:r>
            <a:r>
              <a:rPr lang="en-US" sz="1100" dirty="0">
                <a:solidFill>
                  <a:srgbClr val="666666"/>
                </a:solidFill>
              </a:rPr>
              <a:t>  S35; S34 (notes)</a:t>
            </a:r>
            <a:endParaRPr lang="en-US" sz="16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NSAIDS &amp; COX-2 SELECTIVE INHIBITION</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COX-1 vs. COX-2</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SO2 · SO3 · SO5 · IO2.1 · IO2.2 · IO2.3 · IO2.4</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58</a:t>
            </a:r>
            <a:endParaRPr lang="en-US" sz="1000" dirty="0"/>
          </a:p>
        </p:txBody>
      </p:sp>
      <p:graphicFrame>
        <p:nvGraphicFramePr>
          <p:cNvPr id="59"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COX-1</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COX-2</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Expression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Constitutive</a:t>
                      </a:r>
                      <a:r>
                        <a:rPr lang="en-US" sz="1600" dirty="0">
                          <a:solidFill>
                            <a:srgbClr val="1F1F1F"/>
                          </a:solidFill>
                        </a:rPr>
                        <a:t> (“housekeeping”)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Inducible</a:t>
                      </a:r>
                      <a:r>
                        <a:rPr lang="en-US" sz="1600" dirty="0">
                          <a:solidFill>
                            <a:srgbClr val="1F1F1F"/>
                          </a:solidFill>
                        </a:rPr>
                        <a:t> in inflamed tissue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Protects / makes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Gastric mucosa; platelet TXA₂ (clotting); renal blood flow</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Primary source of </a:t>
                      </a:r>
                      <a:r>
                        <a:rPr lang="en-US" sz="1600" b="1" dirty="0">
                          <a:solidFill>
                            <a:srgbClr val="1F1F1F"/>
                          </a:solidFill>
                        </a:rPr>
                        <a:t>inflammatory prostaglandins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Blocking it causes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GI and renal adverse effects; less clotting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Less pain, swelling, fever (selective blockade = less GI toxicity)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Who blocks it</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Nonselective NSAIDs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Nonselective NSAIDs and celecoxib</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3838448"/>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S26; S27; SG U2-R4</a:t>
            </a:r>
            <a:endParaRPr lang="en-US" sz="11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NSAIDS &amp; COX-2 SELECTIVE INHIBITION</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Nonselective NSAIDs vs. celecoxib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SO2 · SO3 · SO5 · IO2.1 · IO2.2 · IO2.3 · IO2.4</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59</a:t>
            </a:r>
            <a:endParaRPr lang="en-US" sz="1000" dirty="0"/>
          </a:p>
        </p:txBody>
      </p:sp>
      <p:graphicFrame>
        <p:nvGraphicFramePr>
          <p:cNvPr id="60"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Nonselective (ibuprofen, naproxen…)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Celecoxib (COX-2 selective)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GI ulcer / bleeding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Higher</a:t>
                      </a:r>
                      <a:r>
                        <a:rPr lang="en-US" sz="1600" dirty="0">
                          <a:solidFill>
                            <a:srgbClr val="1F1F1F"/>
                          </a:solidFill>
                        </a:rPr>
                        <a:t> (Figure 2: 75)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Lower</a:t>
                      </a:r>
                      <a:r>
                        <a:rPr lang="en-US" sz="1600" dirty="0">
                          <a:solidFill>
                            <a:srgbClr val="1F1F1F"/>
                          </a:solidFill>
                        </a:rPr>
                        <a:t> (Figure 2: 30)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Cardiovascular events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Lower (Figure 2: 35)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b="1" dirty="0">
                          <a:solidFill>
                            <a:srgbClr val="1F1F1F"/>
                          </a:solidFill>
                        </a:rPr>
                        <a:t>Higher</a:t>
                      </a:r>
                      <a:r>
                        <a:rPr lang="en-US" sz="1600" dirty="0">
                          <a:solidFill>
                            <a:srgbClr val="1F1F1F"/>
                          </a:solidFill>
                        </a:rPr>
                        <a:t> (Figure 2: 65)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Renal risk</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Present</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Similar</a:t>
                      </a:r>
                      <a:r>
                        <a:rPr lang="en-US" sz="1600" dirty="0">
                          <a:solidFill>
                            <a:srgbClr val="1F1F1F"/>
                          </a:solidFill>
                        </a:rPr>
                        <a:t> — selectivity does not protect the kidney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296672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S29; S31; SG U2-R5</a:t>
            </a:r>
            <a:endParaRPr lang="en-US" sz="11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NSAIDS &amp; COX-2 SELECTIVE INHIBITION</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Other NSAIDs in the reading (textbook)</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SO2 · SO3 · SO5 · IO2.1 · IO2.2 · IO2.3 · IO2.4</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60</a:t>
            </a:r>
            <a:endParaRPr lang="en-US" sz="1000" dirty="0"/>
          </a:p>
        </p:txBody>
      </p:sp>
      <p:graphicFrame>
        <p:nvGraphicFramePr>
          <p:cNvPr id="61"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r>
                        <a:rPr lang="en-US" sz="1400" b="1" dirty="0">
                          <a:solidFill>
                            <a:srgbClr val="FFFFFF"/>
                          </a:solidFill>
                        </a:rPr>
                        <a:t>Drug</a:t>
                      </a:r>
                      <a:endParaRPr lang="en-US" sz="14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Half-life (h)</a:t>
                      </a:r>
                      <a:endParaRPr lang="en-US" sz="14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What sets it apart</a:t>
                      </a:r>
                      <a:endParaRPr lang="en-US" sz="14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400" b="1" dirty="0">
                          <a:solidFill>
                            <a:srgbClr val="1F1F1F"/>
                          </a:solidFill>
                        </a:rPr>
                        <a:t>Aspirin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0.25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Now mainly antiplatelet (81–325 mg daily); avoid in hemophilia</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400" b="1" dirty="0">
                          <a:solidFill>
                            <a:srgbClr val="1F1F1F"/>
                          </a:solidFill>
                        </a:rPr>
                        <a:t>Nonacetylated salicylates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400" dirty="0">
                          <a:solidFill>
                            <a:srgbClr val="1F1F1F"/>
                          </a:solidFill>
                        </a:rPr>
                        <a:t>Not covered in materials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400" dirty="0">
                          <a:solidFill>
                            <a:srgbClr val="1F1F1F"/>
                          </a:solidFill>
                        </a:rPr>
                        <a:t>Anti-inflammatory without platelet inhibition: an option in asthma, bleeding tendency, renal dysfunction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F1F1F"/>
                          </a:solidFill>
                        </a:rPr>
                        <a:t>Ibuprofen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2</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 1600 mg/day analgesic only; 2400 mg/day anti-inflammatory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400" b="1" dirty="0">
                          <a:solidFill>
                            <a:srgbClr val="1F1F1F"/>
                          </a:solidFill>
                        </a:rPr>
                        <a:t>Naproxen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400" dirty="0">
                          <a:solidFill>
                            <a:srgbClr val="1F1F1F"/>
                          </a:solidFill>
                        </a:rPr>
                        <a:t>12–17</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400" dirty="0">
                          <a:solidFill>
                            <a:srgbClr val="1F1F1F"/>
                          </a:solidFill>
                        </a:rPr>
                        <a:t>More GI bleeding than OTC ibuprofen, better CV profile; avoid in hepatic impairment</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F1F1F"/>
                          </a:solidFill>
                        </a:rPr>
                        <a:t>Diclofenac</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1.9–2.3</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More aminotransferase rises; 1% topical gel OTC</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400" b="1" dirty="0">
                          <a:solidFill>
                            <a:srgbClr val="1F1F1F"/>
                          </a:solidFill>
                        </a:rPr>
                        <a:t>Indomethacin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400" dirty="0">
                          <a:solidFill>
                            <a:srgbClr val="1F1F1F"/>
                          </a:solidFill>
                        </a:rPr>
                        <a:t>4–5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400" dirty="0">
                          <a:solidFill>
                            <a:srgbClr val="1F1F1F"/>
                          </a:solidFill>
                        </a:rPr>
                        <a:t>Headache in 11.7%; can worsen depression, epilepsy, parkinsonism</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F1F1F"/>
                          </a:solidFill>
                        </a:rPr>
                        <a:t>Ketorolac</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5–6</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Analgesic use; start IV/IM/intranasal; ≤ 120 mg/day; ≤ 5 days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5523992"/>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p. 677; p. 679; p. 680; p. 681; p. 694</a:t>
            </a:r>
            <a:endParaRPr lang="en-US" sz="11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NSAIDS &amp; COX-2 SELECTIVE INHIBITION</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700" b="1" dirty="0">
                <a:solidFill>
                  <a:srgbClr val="1F1F1F"/>
                </a:solidFill>
                <a:latin typeface="Calibri" pitchFamily="34" charset="0"/>
                <a:ea typeface="Calibri" pitchFamily="34" charset="-122"/>
                <a:cs typeface="Calibri" pitchFamily="34" charset="-120"/>
              </a:rPr>
              <a:t>Compare: Other NSAIDs in the reading (textbook) (cont.)</a:t>
            </a:r>
            <a:endParaRPr lang="en-US" sz="27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SO2 · SO3 · SO5 · IO2.1 · IO2.2 · IO2.3 · IO2.4</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61</a:t>
            </a:r>
            <a:endParaRPr lang="en-US" sz="1000" dirty="0"/>
          </a:p>
        </p:txBody>
      </p:sp>
      <p:graphicFrame>
        <p:nvGraphicFramePr>
          <p:cNvPr id="62"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r>
                        <a:rPr lang="en-US" sz="1400" b="1" dirty="0">
                          <a:solidFill>
                            <a:srgbClr val="FFFFFF"/>
                          </a:solidFill>
                        </a:rPr>
                        <a:t>Drug</a:t>
                      </a:r>
                      <a:endParaRPr lang="en-US" sz="14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Half-life (h)</a:t>
                      </a:r>
                      <a:endParaRPr lang="en-US" sz="14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What sets it apart</a:t>
                      </a:r>
                      <a:endParaRPr lang="en-US" sz="14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400" b="1" dirty="0">
                          <a:solidFill>
                            <a:srgbClr val="1F1F1F"/>
                          </a:solidFill>
                        </a:rPr>
                        <a:t>Celecoxib</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11.2</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10–20× COX-2 selective; 100–200 mg bid; no platelet effect at usual doses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400" b="1" dirty="0">
                          <a:solidFill>
                            <a:srgbClr val="1F1F1F"/>
                          </a:solidFill>
                        </a:rPr>
                        <a:t>Meloxicam</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400" dirty="0">
                          <a:solidFill>
                            <a:srgbClr val="1F1F1F"/>
                          </a:solidFill>
                        </a:rPr>
                        <a:t>20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400" dirty="0">
                          <a:solidFill>
                            <a:srgbClr val="1F1F1F"/>
                          </a:solidFill>
                        </a:rPr>
                        <a:t>Relatively COX-2 selective at 7.5 mg/day; fewer GI effects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F1F1F"/>
                          </a:solidFill>
                        </a:rPr>
                        <a:t>Etodolac</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6.4</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Relatively COX-2 selective; linked to acute pancreatitis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400" b="1" dirty="0">
                          <a:solidFill>
                            <a:srgbClr val="1F1F1F"/>
                          </a:solidFill>
                        </a:rPr>
                        <a:t>Nabumetone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400" dirty="0">
                          <a:solidFill>
                            <a:srgbClr val="1F1F1F"/>
                          </a:solidFill>
                        </a:rPr>
                        <a:t>22.5–29.8</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400" dirty="0">
                          <a:solidFill>
                            <a:srgbClr val="1F1F1F"/>
                          </a:solidFill>
                        </a:rPr>
                        <a:t>Only nonacid NSAID (prodrug); less ulceration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F1F1F"/>
                          </a:solidFill>
                        </a:rPr>
                        <a:t>Piroxicam</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50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Above 20 mg/day sharply raises ulcer and bleeding risk</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400" b="1" dirty="0">
                          <a:solidFill>
                            <a:srgbClr val="1F1F1F"/>
                          </a:solidFill>
                        </a:rPr>
                        <a:t>Sulindac</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400" dirty="0">
                          <a:solidFill>
                            <a:srgbClr val="1F1F1F"/>
                          </a:solidFill>
                        </a:rPr>
                        <a:t>16.4</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400" dirty="0">
                          <a:solidFill>
                            <a:srgbClr val="1F1F1F"/>
                          </a:solidFill>
                        </a:rPr>
                        <a:t>Less effect on renal prostaglandins; more liver test abnormalities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F1F1F"/>
                          </a:solidFill>
                        </a:rPr>
                        <a:t>Oxaprozin · diflunisal · flurbiprofen · tolmetin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54.9 · 8–12 · 3.8 · 1–2</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Oxaprozin once daily; diflunisal rarely used; flurbiprofen rare tremor/rigidity; tolmetin ineffective in gout</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509016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p. 677; p. 679; p. 680; p. 681; p. 694</a:t>
            </a:r>
            <a:endParaRPr lang="en-US" sz="11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NSAIDS &amp; COX-2 SELECTIVE INHIBITION</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SO2 · SO3 · SO5 · IO2.1 · IO2.2 · IO2.3 · IO2.4</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62</a:t>
            </a:r>
            <a:endParaRPr lang="en-US" sz="1000" dirty="0"/>
          </a:p>
        </p:txBody>
      </p:sp>
      <p:sp>
        <p:nvSpPr>
          <p:cNvPr id="7" name="Why it happens card"/>
          <p:cNvSpPr/>
          <p:nvPr/>
        </p:nvSpPr>
        <p:spPr>
          <a:xfrm>
            <a:off x="548640" y="1325880"/>
            <a:ext cx="5364328" cy="2276856"/>
          </a:xfrm>
          <a:prstGeom prst="roundRect">
            <a:avLst>
              <a:gd name="adj" fmla="val 4819"/>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 NSAIDs hurt the stomach and kidney? Blocking COX-1, the housekeeping enzyme, removes the prostaglandins that protect gastric mucosa and keep renal blood flow normal.</a:t>
            </a:r>
            <a:r>
              <a:rPr lang="en-US" sz="1300" dirty="0">
                <a:solidFill>
                  <a:srgbClr val="666666"/>
                </a:solidFill>
              </a:rPr>
              <a:t>  S26</a:t>
            </a:r>
            <a:endParaRPr lang="en-US" sz="1800" dirty="0"/>
          </a:p>
        </p:txBody>
      </p:sp>
      <p:sp>
        <p:nvSpPr>
          <p:cNvPr id="12" name="Mnemonic (memory aid) card"/>
          <p:cNvSpPr/>
          <p:nvPr/>
        </p:nvSpPr>
        <p:spPr>
          <a:xfrm>
            <a:off x="548640" y="3831336"/>
            <a:ext cx="5364328" cy="1719072"/>
          </a:xfrm>
          <a:prstGeom prst="roundRect">
            <a:avLst>
              <a:gd name="adj" fmla="val 6383"/>
            </a:avLst>
          </a:prstGeom>
          <a:solidFill>
            <a:srgbClr val="F2F4F7"/>
          </a:solidFill>
          <a:ln w="12700">
            <a:solidFill>
              <a:srgbClr val="F2F4F7"/>
            </a:solidFill>
            <a:prstDash val="solid"/>
          </a:ln>
        </p:spPr>
      </p:sp>
      <p:sp>
        <p:nvSpPr>
          <p:cNvPr id="13" name="Mnemonic (memory aid) icon circle"/>
          <p:cNvSpPr/>
          <p:nvPr/>
        </p:nvSpPr>
        <p:spPr>
          <a:xfrm>
            <a:off x="777240" y="4014216"/>
            <a:ext cx="438912" cy="438912"/>
          </a:xfrm>
          <a:prstGeom prst="ellipse">
            <a:avLst/>
          </a:prstGeom>
          <a:solidFill>
            <a:srgbClr val="7030A0"/>
          </a:solidFill>
          <a:ln w="12700">
            <a:solidFill>
              <a:srgbClr val="7030A0"/>
            </a:solidFill>
            <a:prstDash val="solid"/>
          </a:ln>
        </p:spPr>
      </p:sp>
      <p:pic>
        <p:nvPicPr>
          <p:cNvPr id="14" name="Mnemonic (memory aid) icon" descr="preencoded.png">    </p:cNvPr>
          <p:cNvPicPr>
            <a:picLocks noChangeAspect="1"/>
          </p:cNvPicPr>
          <p:nvPr/>
        </p:nvPicPr>
        <p:blipFill>
          <a:blip r:embed="rId2"/>
          <a:stretch>
            <a:fillRect/>
          </a:stretch>
        </p:blipFill>
        <p:spPr>
          <a:xfrm>
            <a:off x="877824" y="4114800"/>
            <a:ext cx="237744" cy="237744"/>
          </a:xfrm>
          <a:prstGeom prst="rect">
            <a:avLst/>
          </a:prstGeom>
        </p:spPr>
      </p:pic>
      <p:sp>
        <p:nvSpPr>
          <p:cNvPr id="15" name="Mnemonic (memory aid) heading"/>
          <p:cNvSpPr txBox="1"/>
          <p:nvPr/>
        </p:nvSpPr>
        <p:spPr>
          <a:xfrm>
            <a:off x="1353312" y="4014216"/>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16" name="Mnemonic (memory aid) body"/>
          <p:cNvSpPr txBox="1"/>
          <p:nvPr/>
        </p:nvSpPr>
        <p:spPr>
          <a:xfrm>
            <a:off x="777240" y="4581144"/>
            <a:ext cx="4907128" cy="85039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NSAID harms = </a:t>
            </a:r>
            <a:r>
              <a:rPr lang="en-US" sz="1800" b="1" dirty="0">
                <a:solidFill>
                  <a:srgbClr val="1F1F1F"/>
                </a:solidFill>
              </a:rPr>
              <a:t>GRC</a:t>
            </a:r>
            <a:r>
              <a:rPr lang="en-US" sz="1800" dirty="0">
                <a:solidFill>
                  <a:srgbClr val="1F1F1F"/>
                </a:solidFill>
              </a:rPr>
              <a:t>: </a:t>
            </a:r>
            <a:r>
              <a:rPr lang="en-US" sz="1800" b="1" dirty="0">
                <a:solidFill>
                  <a:srgbClr val="1F1F1F"/>
                </a:solidFill>
              </a:rPr>
              <a:t>G</a:t>
            </a:r>
            <a:r>
              <a:rPr lang="en-US" sz="1800" dirty="0">
                <a:solidFill>
                  <a:srgbClr val="1F1F1F"/>
                </a:solidFill>
              </a:rPr>
              <a:t>ut, </a:t>
            </a:r>
            <a:r>
              <a:rPr lang="en-US" sz="1800" b="1" dirty="0">
                <a:solidFill>
                  <a:srgbClr val="1F1F1F"/>
                </a:solidFill>
              </a:rPr>
              <a:t>R</a:t>
            </a:r>
            <a:r>
              <a:rPr lang="en-US" sz="1800" dirty="0">
                <a:solidFill>
                  <a:srgbClr val="1F1F1F"/>
                </a:solidFill>
              </a:rPr>
              <a:t>enal, </a:t>
            </a:r>
            <a:r>
              <a:rPr lang="en-US" sz="1800" b="1" dirty="0">
                <a:solidFill>
                  <a:srgbClr val="1F1F1F"/>
                </a:solidFill>
              </a:rPr>
              <a:t>C</a:t>
            </a:r>
            <a:r>
              <a:rPr lang="en-US" sz="1800" dirty="0">
                <a:solidFill>
                  <a:srgbClr val="1F1F1F"/>
                </a:solidFill>
              </a:rPr>
              <a:t>ardiovascular (Table 1).</a:t>
            </a:r>
            <a:r>
              <a:rPr lang="en-US" sz="1300" dirty="0">
                <a:solidFill>
                  <a:srgbClr val="666666"/>
                </a:solidFill>
              </a:rPr>
              <a:t>  S34</a:t>
            </a:r>
            <a:endParaRPr lang="en-US" sz="1800" dirty="0"/>
          </a:p>
        </p:txBody>
      </p:sp>
      <p:sp>
        <p:nvSpPr>
          <p:cNvPr id="17" name="Why it happens card"/>
          <p:cNvSpPr/>
          <p:nvPr/>
        </p:nvSpPr>
        <p:spPr>
          <a:xfrm>
            <a:off x="6278728" y="1325880"/>
            <a:ext cx="5364328" cy="2555748"/>
          </a:xfrm>
          <a:prstGeom prst="roundRect">
            <a:avLst>
              <a:gd name="adj" fmla="val 4293"/>
            </a:avLst>
          </a:prstGeom>
          <a:solidFill>
            <a:srgbClr val="F2F4F7"/>
          </a:solidFill>
          <a:ln w="12700">
            <a:solidFill>
              <a:srgbClr val="F2F4F7"/>
            </a:solidFill>
            <a:prstDash val="solid"/>
          </a:ln>
        </p:spPr>
      </p:sp>
      <p:sp>
        <p:nvSpPr>
          <p:cNvPr id="18" name="Why it happens icon circle"/>
          <p:cNvSpPr/>
          <p:nvPr/>
        </p:nvSpPr>
        <p:spPr>
          <a:xfrm>
            <a:off x="6507328" y="1508760"/>
            <a:ext cx="438912" cy="438912"/>
          </a:xfrm>
          <a:prstGeom prst="ellipse">
            <a:avLst/>
          </a:prstGeom>
          <a:solidFill>
            <a:srgbClr val="4472C4"/>
          </a:solidFill>
          <a:ln w="12700">
            <a:solidFill>
              <a:srgbClr val="4472C4"/>
            </a:solidFill>
            <a:prstDash val="solid"/>
          </a:ln>
        </p:spPr>
      </p:sp>
      <p:pic>
        <p:nvPicPr>
          <p:cNvPr id="19" name="Why it happens icon" descr="preencoded.png">    </p:cNvPr>
          <p:cNvPicPr>
            <a:picLocks noChangeAspect="1"/>
          </p:cNvPicPr>
          <p:nvPr/>
        </p:nvPicPr>
        <p:blipFill>
          <a:blip r:embed="rId3"/>
          <a:stretch>
            <a:fillRect/>
          </a:stretch>
        </p:blipFill>
        <p:spPr>
          <a:xfrm>
            <a:off x="6607912" y="1609344"/>
            <a:ext cx="237744" cy="237744"/>
          </a:xfrm>
          <a:prstGeom prst="rect">
            <a:avLst/>
          </a:prstGeom>
        </p:spPr>
      </p:pic>
      <p:sp>
        <p:nvSpPr>
          <p:cNvPr id="20" name="Why it happens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21" name="Why it happens body"/>
          <p:cNvSpPr txBox="1"/>
          <p:nvPr/>
        </p:nvSpPr>
        <p:spPr>
          <a:xfrm>
            <a:off x="6507328" y="2075688"/>
            <a:ext cx="4907128" cy="168706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the “triple whammy”? An ACE inhibitor/ARB, a diuretic, and an NSAID each push kidney perfusion the wrong way at once — together they cause acute kidney injury.</a:t>
            </a:r>
            <a:r>
              <a:rPr lang="en-US" sz="1300" dirty="0">
                <a:solidFill>
                  <a:srgbClr val="666666"/>
                </a:solidFill>
              </a:rPr>
              <a:t>  S36; S36 (notes)</a:t>
            </a:r>
            <a:endParaRPr lang="en-US" sz="18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NSAIDS &amp; COX-2 SELECTIVE INHIBITION</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SO2 · SO3 · SO5 · IO2.1 · IO2.2 · IO2.3 · IO2.4</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63</a:t>
            </a:r>
            <a:endParaRPr lang="en-US" sz="1000" dirty="0"/>
          </a:p>
        </p:txBody>
      </p:sp>
      <p:sp>
        <p:nvSpPr>
          <p:cNvPr id="7" name="If you remember nothing else card"/>
          <p:cNvSpPr/>
          <p:nvPr/>
        </p:nvSpPr>
        <p:spPr>
          <a:xfrm>
            <a:off x="548640" y="1325880"/>
            <a:ext cx="11094415" cy="4050792"/>
          </a:xfrm>
          <a:prstGeom prst="roundRect">
            <a:avLst>
              <a:gd name="adj" fmla="val 2709"/>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318211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COX-1 = housekeeping (gastric protection, renal blood flow); COX-2 = inflammation.</a:t>
            </a:r>
            <a:r>
              <a:rPr lang="en-US" sz="1300" dirty="0">
                <a:solidFill>
                  <a:srgbClr val="666666"/>
                </a:solidFill>
              </a:rPr>
              <a:t>  S26; SG U2-R4</a:t>
            </a:r>
            <a:endParaRPr lang="en-US" sz="1800" dirty="0"/>
          </a:p>
          <a:p>
            <a:pPr marL="228600" indent="-228600">
              <a:spcAft>
                <a:spcPts val="800"/>
              </a:spcAft>
              <a:buSzPct val="100000"/>
              <a:buChar char="•"/>
            </a:pPr>
            <a:r>
              <a:rPr lang="en-US" sz="1800" dirty="0">
                <a:solidFill>
                  <a:srgbClr val="1F1F1F"/>
                </a:solidFill>
              </a:rPr>
              <a:t>NSAIDs are effective but carry real GI, renal, and cardiovascular risk; celecoxib trades GI risk for cardiovascular risk (renal risk similar).</a:t>
            </a:r>
            <a:r>
              <a:rPr lang="en-US" sz="1300" dirty="0">
                <a:solidFill>
                  <a:srgbClr val="666666"/>
                </a:solidFill>
              </a:rPr>
              <a:t>  S61; S29; SG U2-R5</a:t>
            </a:r>
            <a:endParaRPr lang="en-US" sz="1800" dirty="0"/>
          </a:p>
          <a:p>
            <a:pPr marL="228600" indent="-228600">
              <a:spcAft>
                <a:spcPts val="800"/>
              </a:spcAft>
              <a:buSzPct val="100000"/>
              <a:buChar char="•"/>
            </a:pPr>
            <a:r>
              <a:rPr lang="en-US" sz="1800" dirty="0">
                <a:solidFill>
                  <a:srgbClr val="1F1F1F"/>
                </a:solidFill>
              </a:rPr>
              <a:t>NSAID harms: GI, renal, cardiovascular.</a:t>
            </a:r>
            <a:r>
              <a:rPr lang="en-US" sz="1300" dirty="0">
                <a:solidFill>
                  <a:srgbClr val="666666"/>
                </a:solidFill>
              </a:rPr>
              <a:t>  S34</a:t>
            </a:r>
            <a:endParaRPr lang="en-US" sz="1800" dirty="0"/>
          </a:p>
          <a:p>
            <a:pPr marL="228600" indent="-228600">
              <a:spcAft>
                <a:spcPts val="800"/>
              </a:spcAft>
              <a:buSzPct val="100000"/>
              <a:buChar char="•"/>
            </a:pPr>
            <a:r>
              <a:rPr lang="en-US" sz="1800" dirty="0">
                <a:solidFill>
                  <a:srgbClr val="1F1F1F"/>
                </a:solidFill>
              </a:rPr>
              <a:t>Triple whammy: NSAID + ACEi/ARB + diuretic → AKI.</a:t>
            </a:r>
            <a:r>
              <a:rPr lang="en-US" sz="1300" dirty="0">
                <a:solidFill>
                  <a:srgbClr val="666666"/>
                </a:solidFill>
              </a:rPr>
              <a:t>  S36 (notes)</a:t>
            </a:r>
            <a:endParaRPr lang="en-US" sz="1800" dirty="0"/>
          </a:p>
          <a:p>
            <a:pPr marL="228600" indent="-228600">
              <a:spcAft>
                <a:spcPts val="800"/>
              </a:spcAft>
              <a:buSzPct val="100000"/>
              <a:buChar char="•"/>
            </a:pPr>
            <a:r>
              <a:rPr lang="en-US" sz="1800" dirty="0">
                <a:solidFill>
                  <a:srgbClr val="1F1F1F"/>
                </a:solidFill>
              </a:rPr>
              <a:t>Ketorolac: short-term only; significant GI/renal risk.</a:t>
            </a:r>
            <a:r>
              <a:rPr lang="en-US" sz="1300" dirty="0">
                <a:solidFill>
                  <a:srgbClr val="666666"/>
                </a:solidFill>
              </a:rPr>
              <a:t>  S28</a:t>
            </a:r>
            <a:endParaRPr lang="en-US" sz="1800" dirty="0"/>
          </a:p>
          <a:p>
            <a:pPr marL="228600" indent="-228600">
              <a:spcAft>
                <a:spcPts val="800"/>
              </a:spcAft>
              <a:buSzPct val="100000"/>
              <a:buChar char="•"/>
            </a:pPr>
            <a:r>
              <a:rPr lang="en-US" sz="1800" dirty="0">
                <a:solidFill>
                  <a:srgbClr val="1F1F1F"/>
                </a:solidFill>
              </a:rPr>
              <a:t>COX-1 protects the stomach, platelets and kidney. Nonselective NSAIDs block both isoforms.</a:t>
            </a:r>
            <a:r>
              <a:rPr lang="en-US" sz="1300" dirty="0">
                <a:solidFill>
                  <a:srgbClr val="666666"/>
                </a:solidFill>
              </a:rPr>
              <a:t>  S61 (notes)</a:t>
            </a:r>
            <a:endParaRPr lang="en-US" sz="1800" dirty="0"/>
          </a:p>
          <a:p>
            <a:pPr marL="228600" indent="-228600">
              <a:spcAft>
                <a:spcPts val="800"/>
              </a:spcAft>
              <a:buSzPct val="100000"/>
              <a:buChar char="•"/>
            </a:pPr>
            <a:r>
              <a:rPr lang="en-US" sz="1800" dirty="0">
                <a:solidFill>
                  <a:srgbClr val="1F1F1F"/>
                </a:solidFill>
              </a:rPr>
              <a:t>Celecoxib cuts GI risk but raises cardiovascular risk, and does not spare the kidney.</a:t>
            </a:r>
            <a:r>
              <a:rPr lang="en-US" sz="1300" dirty="0">
                <a:solidFill>
                  <a:srgbClr val="666666"/>
                </a:solidFill>
              </a:rPr>
              <a:t>  S61 (notes)</a:t>
            </a:r>
            <a:endParaRPr lang="en-US" sz="18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S37</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7</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SO2 · SO3 · SO5 · IO2.1 · IO2.2 · IO2.3 · IO2.4</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64</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72-year-old patient with osteoarthritis also has chronic kidney disease, hypertension, and takes an anticoagulant. Is an NSAID a good first-line choice for this patient’s pain?</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 renal disease, anticoagulation, and age are NSAID red flags</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Yes — if celecoxib is chosen to protect the kidney</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 but only because NSAIDs never relieve joint pain</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Yes — NSAIDs are first-line for all osteoarthritis pain</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Yes — the anticoagulant cancels the NSAID’s bleeding risk</a:t>
            </a:r>
            <a:endParaRPr lang="en-US" sz="18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7: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SO2 · SO3 · SO5 · IO2.1 · IO2.2 · IO2.3 · IO2.4</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65</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No — renal disease, anticoagulation, and age are NSAID red flags</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This patient has three separate NSAID red flags at once (renal disease, anticoagulation, age-related bleeding risk); acetaminophen or a non-NSAID strategy is generally safer first-line (S37).</a:t>
            </a:r>
            <a:r>
              <a:rPr lang="en-US" sz="1100" dirty="0">
                <a:solidFill>
                  <a:srgbClr val="666666"/>
                </a:solidFill>
              </a:rPr>
              <a:t>  S37</a:t>
            </a:r>
            <a:endParaRPr lang="en-US" sz="1600" dirty="0"/>
          </a:p>
        </p:txBody>
      </p:sp>
      <p:sp>
        <p:nvSpPr>
          <p:cNvPr id="11" name="Why others wrong card"/>
          <p:cNvSpPr/>
          <p:nvPr/>
        </p:nvSpPr>
        <p:spPr>
          <a:xfrm>
            <a:off x="548640" y="2873248"/>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2982976"/>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Yes — if celecoxib is chosen to protect the kidney — </a:t>
            </a:r>
            <a:r>
              <a:rPr lang="en-US" sz="1600" dirty="0">
                <a:solidFill>
                  <a:srgbClr val="1F1F1F"/>
                </a:solidFill>
              </a:rPr>
              <a:t>COX-2 selectivity does not protect the kidney (S29).</a:t>
            </a:r>
            <a:endParaRPr lang="en-US" sz="1600" dirty="0"/>
          </a:p>
          <a:p>
            <a:pPr indent="0" marL="0">
              <a:buNone/>
            </a:pPr>
            <a:r>
              <a:rPr lang="en-US" sz="1600" b="1" dirty="0">
                <a:solidFill>
                  <a:srgbClr val="1F1F1F"/>
                </a:solidFill>
              </a:rPr>
              <a:t>C. No — but only because NSAIDs never relieve joint pain — </a:t>
            </a:r>
            <a:r>
              <a:rPr lang="en-US" sz="1600" dirty="0">
                <a:solidFill>
                  <a:srgbClr val="1F1F1F"/>
                </a:solidFill>
              </a:rPr>
              <a:t>NSAIDs are effective; the problem is this patient’s risk (S43).</a:t>
            </a:r>
            <a:endParaRPr lang="en-US" sz="1600" dirty="0"/>
          </a:p>
          <a:p>
            <a:pPr indent="0" marL="0">
              <a:buNone/>
            </a:pPr>
            <a:r>
              <a:rPr lang="en-US" sz="1600" b="1" dirty="0">
                <a:solidFill>
                  <a:srgbClr val="1F1F1F"/>
                </a:solidFill>
              </a:rPr>
              <a:t>D. Yes — NSAIDs are first-line for all osteoarthritis pain — </a:t>
            </a:r>
            <a:r>
              <a:rPr lang="en-US" sz="1600" dirty="0">
                <a:solidFill>
                  <a:srgbClr val="1F1F1F"/>
                </a:solidFill>
              </a:rPr>
              <a:t>Oral NSAIDs are effective but carry systemic risks; acetaminophen is a reasonable first-line (S43).</a:t>
            </a:r>
            <a:endParaRPr lang="en-US" sz="1600" dirty="0"/>
          </a:p>
          <a:p>
            <a:pPr indent="0" marL="0">
              <a:buNone/>
            </a:pPr>
            <a:r>
              <a:rPr lang="en-US" sz="1600" b="1" dirty="0">
                <a:solidFill>
                  <a:srgbClr val="1F1F1F"/>
                </a:solidFill>
              </a:rPr>
              <a:t>E. Yes — the anticoagulant cancels the NSAID’s bleeding risk — </a:t>
            </a:r>
            <a:r>
              <a:rPr lang="en-US" sz="1600" dirty="0">
                <a:solidFill>
                  <a:srgbClr val="1F1F1F"/>
                </a:solidFill>
              </a:rPr>
              <a:t>NSAIDs plus anticoagulants raise bleeding risk (S36).</a:t>
            </a:r>
            <a:endParaRPr lang="en-US" sz="16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S32-33</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9</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SO2 · SO3 · SO5 · IO2.1 · IO2.2 · IO2.3 · IO2.4</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66</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Based on Figure 2, a patient with a history of GI ulcer but no cardiovascular disease is switched from ibuprofen to celecoxib. What is the most likely net effect on this patient’s risk profile?</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Lower GI risk, plus kidney protection from selectivity</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Both GI and cardiovascular risk increase</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change, since all NSAIDs carry identical risk profiles</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Both GI and cardiovascular risk decrease</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Lower GI risk, with some increase in cardiovascular risk</a:t>
            </a:r>
            <a:endParaRPr lang="en-US" sz="18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9: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SO2 · SO3 · SO5 · IO2.1 · IO2.2 · IO2.3 · IO2.4</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67</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Lower GI risk, with some increase in cardiovascular risk</a:t>
            </a:r>
            <a:endParaRPr lang="en-US" sz="1600" dirty="0"/>
          </a:p>
        </p:txBody>
      </p:sp>
      <p:sp>
        <p:nvSpPr>
          <p:cNvPr id="10" name="Why correct"/>
          <p:cNvSpPr txBox="1"/>
          <p:nvPr/>
        </p:nvSpPr>
        <p:spPr>
          <a:xfrm>
            <a:off x="777240" y="2011680"/>
            <a:ext cx="10637215" cy="972312"/>
          </a:xfrm>
          <a:prstGeom prst="rect">
            <a:avLst/>
          </a:prstGeom>
          <a:noFill/>
          <a:ln/>
        </p:spPr>
        <p:txBody>
          <a:bodyPr wrap="square" lIns="0" tIns="0" rIns="0" bIns="0" rtlCol="0" anchor="t"/>
          <a:lstStyle/>
          <a:p>
            <a:pPr indent="0" marL="0">
              <a:buNone/>
            </a:pPr>
            <a:r>
              <a:rPr lang="en-US" sz="1600" dirty="0">
                <a:solidFill>
                  <a:srgbClr val="1F1F1F"/>
                </a:solidFill>
              </a:rPr>
              <a:t>Celecoxib’s illustrative GI-risk bar is lower than the nonselective NSAID bar, while its cardiovascular-risk bar is higher. For this patient the trade may be favorable, but the added cardiovascular risk should still be discussed (S33; SG U2-R5).</a:t>
            </a:r>
            <a:r>
              <a:rPr lang="en-US" sz="1100" dirty="0">
                <a:solidFill>
                  <a:srgbClr val="666666"/>
                </a:solidFill>
              </a:rPr>
              <a:t>  S31-33; SG U2-R5</a:t>
            </a:r>
            <a:endParaRPr lang="en-US" sz="1600" dirty="0"/>
          </a:p>
        </p:txBody>
      </p:sp>
      <p:sp>
        <p:nvSpPr>
          <p:cNvPr id="11" name="Why others wrong card"/>
          <p:cNvSpPr/>
          <p:nvPr/>
        </p:nvSpPr>
        <p:spPr>
          <a:xfrm>
            <a:off x="548640" y="3121152"/>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3230880"/>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Lower GI risk, plus kidney protection from selectivity — </a:t>
            </a:r>
            <a:r>
              <a:rPr lang="en-US" sz="1600" dirty="0">
                <a:solidFill>
                  <a:srgbClr val="1F1F1F"/>
                </a:solidFill>
              </a:rPr>
              <a:t>COX-2 selectivity does not protect the kidney (S29-30).</a:t>
            </a:r>
            <a:endParaRPr lang="en-US" sz="1600" dirty="0"/>
          </a:p>
          <a:p>
            <a:pPr indent="0" marL="0">
              <a:buNone/>
            </a:pPr>
            <a:r>
              <a:rPr lang="en-US" sz="1600" b="1" dirty="0">
                <a:solidFill>
                  <a:srgbClr val="1F1F1F"/>
                </a:solidFill>
              </a:rPr>
              <a:t>B. Both GI and cardiovascular risk increase — </a:t>
            </a:r>
            <a:r>
              <a:rPr lang="en-US" sz="1600" dirty="0">
                <a:solidFill>
                  <a:srgbClr val="1F1F1F"/>
                </a:solidFill>
              </a:rPr>
              <a:t>GI risk falls with celecoxib (S29; S33).</a:t>
            </a:r>
            <a:endParaRPr lang="en-US" sz="1600" dirty="0"/>
          </a:p>
          <a:p>
            <a:pPr indent="0" marL="0">
              <a:buNone/>
            </a:pPr>
            <a:r>
              <a:rPr lang="en-US" sz="1600" b="1" dirty="0">
                <a:solidFill>
                  <a:srgbClr val="1F1F1F"/>
                </a:solidFill>
              </a:rPr>
              <a:t>C. No change, since all NSAIDs carry identical risk profiles — </a:t>
            </a:r>
            <a:r>
              <a:rPr lang="en-US" sz="1600" dirty="0">
                <a:solidFill>
                  <a:srgbClr val="1F1F1F"/>
                </a:solidFill>
              </a:rPr>
              <a:t>Figure 2 shows different profiles (S31).</a:t>
            </a:r>
            <a:endParaRPr lang="en-US" sz="1600" dirty="0"/>
          </a:p>
          <a:p>
            <a:pPr indent="0" marL="0">
              <a:buNone/>
            </a:pPr>
            <a:r>
              <a:rPr lang="en-US" sz="1600" b="1" dirty="0">
                <a:solidFill>
                  <a:srgbClr val="1F1F1F"/>
                </a:solidFill>
              </a:rPr>
              <a:t>D. Both GI and cardiovascular risk decrease — </a:t>
            </a:r>
            <a:r>
              <a:rPr lang="en-US" sz="1600" dirty="0">
                <a:solidFill>
                  <a:srgbClr val="1F1F1F"/>
                </a:solidFill>
              </a:rPr>
              <a:t>Cardiovascular risk rises with COX-2 selectivity (S29; S33).</a:t>
            </a:r>
            <a:endParaRPr lang="en-US" sz="16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10</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SO2 · SO3 · SO5 · IO2.1 · IO2.2 · IO2.3 · IO2.4</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68</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on lisinopril (an ACE inhibitor) and hydrochlorothiazide starts daily naproxen for knee pain. Two weeks later, creatinine has risen sharply. What pattern explains this?</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Expected COX-2 renal protection failing under stress</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Bleeding from the NSAID plus the ACE inhibitor together</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“triple whammy”: NSAID + ACE inhibitor + diuretic causing AKI</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GI ulcer from NSAID plus diuretic, causing dehydration</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Hepatotoxicity from NAPQI formed by naproxen metabolism</a:t>
            </a:r>
            <a:endParaRPr lang="en-US" sz="18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10: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SO2 · SO3 · SO5 · IO2.1 · IO2.2 · IO2.3 · IO2.4</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69</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The “triple whammy”: NSAID + ACE inhibitor + diuretic causing AKI</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NSAIDs with ACE inhibitors/ARBs raise AKI risk, and adding a diuretic is the high-yield “triple whammy” AKI pattern (S36; S36 notes).</a:t>
            </a:r>
            <a:r>
              <a:rPr lang="en-US" sz="1100" dirty="0">
                <a:solidFill>
                  <a:srgbClr val="666666"/>
                </a:solidFill>
              </a:rPr>
              <a:t>  S36; S36 (notes)</a:t>
            </a:r>
            <a:endParaRPr lang="en-US" sz="1600" dirty="0"/>
          </a:p>
        </p:txBody>
      </p:sp>
      <p:sp>
        <p:nvSpPr>
          <p:cNvPr id="11" name="Why others wrong card"/>
          <p:cNvSpPr/>
          <p:nvPr/>
        </p:nvSpPr>
        <p:spPr>
          <a:xfrm>
            <a:off x="548640" y="2873248"/>
            <a:ext cx="11094415" cy="2448560"/>
          </a:xfrm>
          <a:prstGeom prst="roundRect">
            <a:avLst>
              <a:gd name="adj" fmla="val 3734"/>
            </a:avLst>
          </a:prstGeom>
          <a:solidFill>
            <a:srgbClr val="F2F4F7"/>
          </a:solidFill>
          <a:ln w="12700">
            <a:solidFill>
              <a:srgbClr val="F2F4F7"/>
            </a:solidFill>
            <a:prstDash val="solid"/>
          </a:ln>
        </p:spPr>
      </p:sp>
      <p:sp>
        <p:nvSpPr>
          <p:cNvPr id="12" name="Why others wrong"/>
          <p:cNvSpPr txBox="1"/>
          <p:nvPr/>
        </p:nvSpPr>
        <p:spPr>
          <a:xfrm>
            <a:off x="777240" y="2982976"/>
            <a:ext cx="10637215" cy="2265680"/>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Expected COX-2 renal protection failing under stress — </a:t>
            </a:r>
            <a:r>
              <a:rPr lang="en-US" sz="1600" dirty="0">
                <a:solidFill>
                  <a:srgbClr val="1F1F1F"/>
                </a:solidFill>
              </a:rPr>
              <a:t>COX-2 selectivity does not protect the kidney, and naproxen is nonselective (S28-29).</a:t>
            </a:r>
            <a:endParaRPr lang="en-US" sz="1600" dirty="0"/>
          </a:p>
          <a:p>
            <a:pPr indent="0" marL="0">
              <a:buNone/>
            </a:pPr>
            <a:r>
              <a:rPr lang="en-US" sz="1600" b="1" dirty="0">
                <a:solidFill>
                  <a:srgbClr val="1F1F1F"/>
                </a:solidFill>
              </a:rPr>
              <a:t>B. Bleeding from the NSAID plus the ACE inhibitor together — </a:t>
            </a:r>
            <a:r>
              <a:rPr lang="en-US" sz="1600" dirty="0">
                <a:solidFill>
                  <a:srgbClr val="1F1F1F"/>
                </a:solidFill>
              </a:rPr>
              <a:t>NSAID + anticoagulant raises bleeding; this is a renal pattern (S36).</a:t>
            </a:r>
            <a:endParaRPr lang="en-US" sz="1600" dirty="0"/>
          </a:p>
          <a:p>
            <a:pPr indent="0" marL="0">
              <a:buNone/>
            </a:pPr>
            <a:r>
              <a:rPr lang="en-US" sz="1600" b="1" dirty="0">
                <a:solidFill>
                  <a:srgbClr val="1F1F1F"/>
                </a:solidFill>
              </a:rPr>
              <a:t>D. A GI ulcer from NSAID plus diuretic, causing dehydration — </a:t>
            </a:r>
            <a:r>
              <a:rPr lang="en-US" sz="1600" dirty="0">
                <a:solidFill>
                  <a:srgbClr val="1F1F1F"/>
                </a:solidFill>
              </a:rPr>
              <a:t>NSAID + corticosteroid raises ulcer risk; this is a kidney injury pattern (S36).</a:t>
            </a:r>
            <a:endParaRPr lang="en-US" sz="1600" dirty="0"/>
          </a:p>
          <a:p>
            <a:pPr indent="0" marL="0">
              <a:buNone/>
            </a:pPr>
            <a:r>
              <a:rPr lang="en-US" sz="1600" b="1" dirty="0">
                <a:solidFill>
                  <a:srgbClr val="1F1F1F"/>
                </a:solidFill>
              </a:rPr>
              <a:t>E. Hepatotoxicity from NAPQI formed by naproxen metabolism — </a:t>
            </a:r>
            <a:r>
              <a:rPr lang="en-US" sz="1600" dirty="0">
                <a:solidFill>
                  <a:srgbClr val="1F1F1F"/>
                </a:solidFill>
              </a:rPr>
              <a:t>NAPQI comes from acetaminophen (S19).</a:t>
            </a:r>
            <a:endParaRPr lang="en-US" sz="16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S38-39</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12</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SO2 · SO3 · SO5 · IO2.1 · IO2.2 · IO2.3 · IO2.4</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70</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with CKD, hypertension, and anticoagulant use needs analgesia for osteoarthritis. Which class carries the highest combined renal and bleeding risk for this patient?</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Acetaminophen</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Oral NSAIDs</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Topical capsaicin</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Physical therapy alone</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Topical NSAIDs</a:t>
            </a:r>
            <a:endParaRPr lang="en-US" sz="18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12: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SO2 · SO3 · SO5 · IO2.1 · IO2.2 · IO2.3 · IO2.4</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71</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Oral NSAIDs</a:t>
            </a:r>
            <a:endParaRPr lang="en-US" sz="1600" dirty="0"/>
          </a:p>
        </p:txBody>
      </p:sp>
      <p:sp>
        <p:nvSpPr>
          <p:cNvPr id="10" name="Why correct"/>
          <p:cNvSpPr txBox="1"/>
          <p:nvPr/>
        </p:nvSpPr>
        <p:spPr>
          <a:xfrm>
            <a:off x="777240" y="2011680"/>
            <a:ext cx="10637215" cy="972312"/>
          </a:xfrm>
          <a:prstGeom prst="rect">
            <a:avLst/>
          </a:prstGeom>
          <a:noFill/>
          <a:ln/>
        </p:spPr>
        <p:txBody>
          <a:bodyPr wrap="square" lIns="0" tIns="0" rIns="0" bIns="0" rtlCol="0" anchor="t"/>
          <a:lstStyle/>
          <a:p>
            <a:pPr indent="0" marL="0">
              <a:buNone/>
            </a:pPr>
            <a:r>
              <a:rPr lang="en-US" sz="1600" dirty="0">
                <a:solidFill>
                  <a:srgbClr val="1F1F1F"/>
                </a:solidFill>
              </a:rPr>
              <a:t>This patient has multiple NSAID red flags at once: CKD (renal risk), anticoagulant use (bleeding risk), and hypertension (cardiovascular risk) — oral NSAIDs carry the highest combined risk; acetaminophen or a non-NSAID approach is generally safer (S39).</a:t>
            </a:r>
            <a:r>
              <a:rPr lang="en-US" sz="1100" dirty="0">
                <a:solidFill>
                  <a:srgbClr val="666666"/>
                </a:solidFill>
              </a:rPr>
              <a:t>  S38-39; S36</a:t>
            </a:r>
            <a:endParaRPr lang="en-US" sz="1600" dirty="0"/>
          </a:p>
        </p:txBody>
      </p:sp>
      <p:sp>
        <p:nvSpPr>
          <p:cNvPr id="11" name="Why others wrong card"/>
          <p:cNvSpPr/>
          <p:nvPr/>
        </p:nvSpPr>
        <p:spPr>
          <a:xfrm>
            <a:off x="548640" y="3121152"/>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3230880"/>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Acetaminophen — </a:t>
            </a:r>
            <a:r>
              <a:rPr lang="en-US" sz="1600" dirty="0">
                <a:solidFill>
                  <a:srgbClr val="1F1F1F"/>
                </a:solidFill>
              </a:rPr>
              <a:t>Generally the safer first-line choice here (S37; S39).</a:t>
            </a:r>
            <a:endParaRPr lang="en-US" sz="1600" dirty="0"/>
          </a:p>
          <a:p>
            <a:pPr indent="0" marL="0">
              <a:buNone/>
            </a:pPr>
            <a:r>
              <a:rPr lang="en-US" sz="1600" b="1" dirty="0">
                <a:solidFill>
                  <a:srgbClr val="1F1F1F"/>
                </a:solidFill>
              </a:rPr>
              <a:t>C. Topical capsaicin — </a:t>
            </a:r>
            <a:r>
              <a:rPr lang="en-US" sz="1600" dirty="0">
                <a:solidFill>
                  <a:srgbClr val="1F1F1F"/>
                </a:solidFill>
              </a:rPr>
              <a:t>Not the high-risk option in this lecture (S38-39).</a:t>
            </a:r>
            <a:endParaRPr lang="en-US" sz="1600" dirty="0"/>
          </a:p>
          <a:p>
            <a:pPr indent="0" marL="0">
              <a:buNone/>
            </a:pPr>
            <a:r>
              <a:rPr lang="en-US" sz="1600" b="1" dirty="0">
                <a:solidFill>
                  <a:srgbClr val="1F1F1F"/>
                </a:solidFill>
              </a:rPr>
              <a:t>D. Physical therapy alone — </a:t>
            </a:r>
            <a:r>
              <a:rPr lang="en-US" sz="1600" dirty="0">
                <a:solidFill>
                  <a:srgbClr val="1F1F1F"/>
                </a:solidFill>
              </a:rPr>
              <a:t>A non-drug approach carries no renal or bleeding risk (S43).</a:t>
            </a:r>
            <a:endParaRPr lang="en-US" sz="1600" dirty="0"/>
          </a:p>
          <a:p>
            <a:pPr indent="0" marL="0">
              <a:buNone/>
            </a:pPr>
            <a:r>
              <a:rPr lang="en-US" sz="1600" b="1" dirty="0">
                <a:solidFill>
                  <a:srgbClr val="1F1F1F"/>
                </a:solidFill>
              </a:rPr>
              <a:t>E. Topical NSAIDs — </a:t>
            </a:r>
            <a:r>
              <a:rPr lang="en-US" sz="1600" dirty="0">
                <a:solidFill>
                  <a:srgbClr val="1F1F1F"/>
                </a:solidFill>
              </a:rPr>
              <a:t>Much lower systemic exposure than oral NSAIDs (S43).</a:t>
            </a:r>
            <a:endParaRPr lang="en-US" sz="16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Drug class 4 of 4</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300" b="1" dirty="0">
                <a:solidFill>
                  <a:srgbClr val="FFFFFF"/>
                </a:solidFill>
                <a:latin typeface="Calibri" pitchFamily="34" charset="0"/>
                <a:ea typeface="Calibri" pitchFamily="34" charset="-122"/>
                <a:cs typeface="Calibri" pitchFamily="34" charset="-120"/>
              </a:rPr>
              <a:t>Osteoarthritis, Rheumatoid Arthritis &amp; DMARDs</a:t>
            </a:r>
            <a:endParaRPr lang="en-US" sz="43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IO2.1 · IO2.2 · IO2.3 · IO2.4 · IO2.5 · IO2.6 · SO3 · SO4 · SO5</a:t>
            </a:r>
            <a:endParaRPr lang="en-US" sz="1800" dirty="0"/>
          </a:p>
        </p:txBody>
      </p:sp>
      <p:sp>
        <p:nvSpPr>
          <p:cNvPr id="5" name="Shape 3"/>
          <p:cNvSpPr/>
          <p:nvPr/>
        </p:nvSpPr>
        <p:spPr>
          <a:xfrm>
            <a:off x="783321"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938769" y="4453128"/>
            <a:ext cx="329184" cy="329184"/>
          </a:xfrm>
          <a:prstGeom prst="rect">
            <a:avLst/>
          </a:prstGeom>
        </p:spPr>
      </p:pic>
      <p:sp>
        <p:nvSpPr>
          <p:cNvPr id="7" name="Text 4"/>
          <p:cNvSpPr txBox="1"/>
          <p:nvPr/>
        </p:nvSpPr>
        <p:spPr>
          <a:xfrm>
            <a:off x="594360" y="5029200"/>
            <a:ext cx="1018002" cy="640080"/>
          </a:xfrm>
          <a:prstGeom prst="rect">
            <a:avLst/>
          </a:prstGeom>
          <a:noFill/>
          <a:ln/>
        </p:spPr>
        <p:txBody>
          <a:bodyPr wrap="square" lIns="0" tIns="0" rIns="0" bIns="0" rtlCol="0" anchor="t"/>
          <a:lstStyle/>
          <a:p>
            <a:pPr algn="ctr" indent="0" marL="0">
              <a:buNone/>
            </a:pPr>
            <a:r>
              <a:rPr lang="en-US" sz="1000" dirty="0">
                <a:solidFill>
                  <a:srgbClr val="FFFFFF"/>
                </a:solidFill>
              </a:rPr>
              <a:t>Class</a:t>
            </a:r>
            <a:endParaRPr lang="en-US" sz="1000" dirty="0"/>
          </a:p>
        </p:txBody>
      </p:sp>
      <p:sp>
        <p:nvSpPr>
          <p:cNvPr id="8" name="Shape 5"/>
          <p:cNvSpPr/>
          <p:nvPr/>
        </p:nvSpPr>
        <p:spPr>
          <a:xfrm>
            <a:off x="1892762" y="4297680"/>
            <a:ext cx="640080" cy="640080"/>
          </a:xfrm>
          <a:prstGeom prst="ellipse">
            <a:avLst/>
          </a:prstGeom>
          <a:solidFill>
            <a:srgbClr val="4472C4"/>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2048210" y="4453128"/>
            <a:ext cx="329184" cy="329184"/>
          </a:xfrm>
          <a:prstGeom prst="rect">
            <a:avLst/>
          </a:prstGeom>
        </p:spPr>
      </p:pic>
      <p:sp>
        <p:nvSpPr>
          <p:cNvPr id="10" name="Text 6"/>
          <p:cNvSpPr txBox="1"/>
          <p:nvPr/>
        </p:nvSpPr>
        <p:spPr>
          <a:xfrm>
            <a:off x="1703802" y="5029200"/>
            <a:ext cx="1018002" cy="640080"/>
          </a:xfrm>
          <a:prstGeom prst="rect">
            <a:avLst/>
          </a:prstGeom>
          <a:noFill/>
          <a:ln/>
        </p:spPr>
        <p:txBody>
          <a:bodyPr wrap="square" lIns="0" tIns="0" rIns="0" bIns="0" rtlCol="0" anchor="t"/>
          <a:lstStyle/>
          <a:p>
            <a:pPr algn="ctr" indent="0" marL="0">
              <a:buNone/>
            </a:pPr>
            <a:r>
              <a:rPr lang="en-US" sz="1000" dirty="0">
                <a:solidFill>
                  <a:srgbClr val="FFFFFF"/>
                </a:solidFill>
              </a:rPr>
              <a:t>Prototype</a:t>
            </a:r>
            <a:endParaRPr lang="en-US" sz="1000" dirty="0"/>
          </a:p>
        </p:txBody>
      </p:sp>
      <p:sp>
        <p:nvSpPr>
          <p:cNvPr id="11" name="Shape 7"/>
          <p:cNvSpPr/>
          <p:nvPr/>
        </p:nvSpPr>
        <p:spPr>
          <a:xfrm>
            <a:off x="3002204" y="4297680"/>
            <a:ext cx="640080" cy="640080"/>
          </a:xfrm>
          <a:prstGeom prst="ellipse">
            <a:avLst/>
          </a:prstGeom>
          <a:solidFill>
            <a:srgbClr val="7030A0"/>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3157652" y="4453128"/>
            <a:ext cx="329184" cy="329184"/>
          </a:xfrm>
          <a:prstGeom prst="rect">
            <a:avLst/>
          </a:prstGeom>
        </p:spPr>
      </p:pic>
      <p:sp>
        <p:nvSpPr>
          <p:cNvPr id="13" name="Text 8"/>
          <p:cNvSpPr txBox="1"/>
          <p:nvPr/>
        </p:nvSpPr>
        <p:spPr>
          <a:xfrm>
            <a:off x="2813243" y="5029200"/>
            <a:ext cx="1018002" cy="640080"/>
          </a:xfrm>
          <a:prstGeom prst="rect">
            <a:avLst/>
          </a:prstGeom>
          <a:noFill/>
          <a:ln/>
        </p:spPr>
        <p:txBody>
          <a:bodyPr wrap="square" lIns="0" tIns="0" rIns="0" bIns="0" rtlCol="0" anchor="t"/>
          <a:lstStyle/>
          <a:p>
            <a:pPr algn="ctr" indent="0" marL="0">
              <a:buNone/>
            </a:pPr>
            <a:r>
              <a:rPr lang="en-US" sz="1000" dirty="0">
                <a:solidFill>
                  <a:srgbClr val="FFFFFF"/>
                </a:solidFill>
              </a:rPr>
              <a:t>Mechanism of action</a:t>
            </a:r>
            <a:endParaRPr lang="en-US" sz="1000" dirty="0"/>
          </a:p>
        </p:txBody>
      </p:sp>
      <p:sp>
        <p:nvSpPr>
          <p:cNvPr id="14" name="Shape 9"/>
          <p:cNvSpPr/>
          <p:nvPr/>
        </p:nvSpPr>
        <p:spPr>
          <a:xfrm>
            <a:off x="4111645" y="4297680"/>
            <a:ext cx="640080" cy="640080"/>
          </a:xfrm>
          <a:prstGeom prst="ellipse">
            <a:avLst/>
          </a:prstGeom>
          <a:solidFill>
            <a:srgbClr val="548235"/>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4267093" y="4453128"/>
            <a:ext cx="329184" cy="329184"/>
          </a:xfrm>
          <a:prstGeom prst="rect">
            <a:avLst/>
          </a:prstGeom>
        </p:spPr>
      </p:pic>
      <p:sp>
        <p:nvSpPr>
          <p:cNvPr id="16" name="Text 10"/>
          <p:cNvSpPr txBox="1"/>
          <p:nvPr/>
        </p:nvSpPr>
        <p:spPr>
          <a:xfrm>
            <a:off x="3922685" y="5029200"/>
            <a:ext cx="1018002" cy="640080"/>
          </a:xfrm>
          <a:prstGeom prst="rect">
            <a:avLst/>
          </a:prstGeom>
          <a:noFill/>
          <a:ln/>
        </p:spPr>
        <p:txBody>
          <a:bodyPr wrap="square" lIns="0" tIns="0" rIns="0" bIns="0" rtlCol="0" anchor="t"/>
          <a:lstStyle/>
          <a:p>
            <a:pPr algn="ctr" indent="0" marL="0">
              <a:buNone/>
            </a:pPr>
            <a:r>
              <a:rPr lang="en-US" sz="1000" dirty="0">
                <a:solidFill>
                  <a:srgbClr val="FFFFFF"/>
                </a:solidFill>
              </a:rPr>
              <a:t>Indications</a:t>
            </a:r>
            <a:endParaRPr lang="en-US" sz="1000" dirty="0"/>
          </a:p>
        </p:txBody>
      </p:sp>
      <p:sp>
        <p:nvSpPr>
          <p:cNvPr id="17" name="Shape 11"/>
          <p:cNvSpPr/>
          <p:nvPr/>
        </p:nvSpPr>
        <p:spPr>
          <a:xfrm>
            <a:off x="5221087" y="4297680"/>
            <a:ext cx="640080" cy="640080"/>
          </a:xfrm>
          <a:prstGeom prst="ellipse">
            <a:avLst/>
          </a:prstGeom>
          <a:solidFill>
            <a:srgbClr val="C55A11"/>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5376535" y="4453128"/>
            <a:ext cx="329184" cy="329184"/>
          </a:xfrm>
          <a:prstGeom prst="rect">
            <a:avLst/>
          </a:prstGeom>
        </p:spPr>
      </p:pic>
      <p:sp>
        <p:nvSpPr>
          <p:cNvPr id="19" name="Text 12"/>
          <p:cNvSpPr txBox="1"/>
          <p:nvPr/>
        </p:nvSpPr>
        <p:spPr>
          <a:xfrm>
            <a:off x="5032126" y="5029200"/>
            <a:ext cx="1018002" cy="640080"/>
          </a:xfrm>
          <a:prstGeom prst="rect">
            <a:avLst/>
          </a:prstGeom>
          <a:noFill/>
          <a:ln/>
        </p:spPr>
        <p:txBody>
          <a:bodyPr wrap="square" lIns="0" tIns="0" rIns="0" bIns="0" rtlCol="0" anchor="t"/>
          <a:lstStyle/>
          <a:p>
            <a:pPr algn="ctr" indent="0" marL="0">
              <a:buNone/>
            </a:pPr>
            <a:r>
              <a:rPr lang="en-US" sz="1000" dirty="0">
                <a:solidFill>
                  <a:srgbClr val="FFFFFF"/>
                </a:solidFill>
              </a:rPr>
              <a:t>Adverse effects</a:t>
            </a:r>
            <a:endParaRPr lang="en-US" sz="1000" dirty="0"/>
          </a:p>
        </p:txBody>
      </p:sp>
      <p:sp>
        <p:nvSpPr>
          <p:cNvPr id="20" name="Shape 13"/>
          <p:cNvSpPr/>
          <p:nvPr/>
        </p:nvSpPr>
        <p:spPr>
          <a:xfrm>
            <a:off x="6330528" y="4297680"/>
            <a:ext cx="640080" cy="640080"/>
          </a:xfrm>
          <a:prstGeom prst="ellipse">
            <a:avLst/>
          </a:prstGeom>
          <a:solidFill>
            <a:srgbClr val="C00000"/>
          </a:solidFill>
          <a:ln w="19050">
            <a:solidFill>
              <a:srgbClr val="FFFFFF"/>
            </a:solidFill>
            <a:prstDash val="solid"/>
          </a:ln>
        </p:spPr>
      </p:sp>
      <p:pic>
        <p:nvPicPr>
          <p:cNvPr id="21" name="Image 5" descr="preencoded.png">    </p:cNvPr>
          <p:cNvPicPr>
            <a:picLocks noChangeAspect="1"/>
          </p:cNvPicPr>
          <p:nvPr/>
        </p:nvPicPr>
        <p:blipFill>
          <a:blip r:embed="rId6"/>
          <a:stretch>
            <a:fillRect/>
          </a:stretch>
        </p:blipFill>
        <p:spPr>
          <a:xfrm>
            <a:off x="6485976" y="4453128"/>
            <a:ext cx="329184" cy="329184"/>
          </a:xfrm>
          <a:prstGeom prst="rect">
            <a:avLst/>
          </a:prstGeom>
        </p:spPr>
      </p:pic>
      <p:sp>
        <p:nvSpPr>
          <p:cNvPr id="22" name="Text 14"/>
          <p:cNvSpPr txBox="1"/>
          <p:nvPr/>
        </p:nvSpPr>
        <p:spPr>
          <a:xfrm>
            <a:off x="6141568" y="5029200"/>
            <a:ext cx="1018002" cy="640080"/>
          </a:xfrm>
          <a:prstGeom prst="rect">
            <a:avLst/>
          </a:prstGeom>
          <a:noFill/>
          <a:ln/>
        </p:spPr>
        <p:txBody>
          <a:bodyPr wrap="square" lIns="0" tIns="0" rIns="0" bIns="0" rtlCol="0" anchor="t"/>
          <a:lstStyle/>
          <a:p>
            <a:pPr algn="ctr" indent="0" marL="0">
              <a:buNone/>
            </a:pPr>
            <a:r>
              <a:rPr lang="en-US" sz="1000" dirty="0">
                <a:solidFill>
                  <a:srgbClr val="FFFFFF"/>
                </a:solidFill>
              </a:rPr>
              <a:t>Contraindications</a:t>
            </a:r>
            <a:endParaRPr lang="en-US" sz="1000" dirty="0"/>
          </a:p>
        </p:txBody>
      </p:sp>
      <p:sp>
        <p:nvSpPr>
          <p:cNvPr id="23" name="Shape 15"/>
          <p:cNvSpPr/>
          <p:nvPr/>
        </p:nvSpPr>
        <p:spPr>
          <a:xfrm>
            <a:off x="7439970" y="4297680"/>
            <a:ext cx="640080" cy="640080"/>
          </a:xfrm>
          <a:prstGeom prst="ellipse">
            <a:avLst/>
          </a:prstGeom>
          <a:solidFill>
            <a:srgbClr val="7F6000"/>
          </a:solidFill>
          <a:ln w="19050">
            <a:solidFill>
              <a:srgbClr val="FFFFFF"/>
            </a:solidFill>
            <a:prstDash val="solid"/>
          </a:ln>
        </p:spPr>
      </p:sp>
      <p:pic>
        <p:nvPicPr>
          <p:cNvPr id="24" name="Image 6" descr="preencoded.png">    </p:cNvPr>
          <p:cNvPicPr>
            <a:picLocks noChangeAspect="1"/>
          </p:cNvPicPr>
          <p:nvPr/>
        </p:nvPicPr>
        <p:blipFill>
          <a:blip r:embed="rId7"/>
          <a:stretch>
            <a:fillRect/>
          </a:stretch>
        </p:blipFill>
        <p:spPr>
          <a:xfrm>
            <a:off x="7595418" y="4453128"/>
            <a:ext cx="329184" cy="329184"/>
          </a:xfrm>
          <a:prstGeom prst="rect">
            <a:avLst/>
          </a:prstGeom>
        </p:spPr>
      </p:pic>
      <p:sp>
        <p:nvSpPr>
          <p:cNvPr id="25" name="Text 16"/>
          <p:cNvSpPr txBox="1"/>
          <p:nvPr/>
        </p:nvSpPr>
        <p:spPr>
          <a:xfrm>
            <a:off x="7251009" y="5029200"/>
            <a:ext cx="1018002" cy="640080"/>
          </a:xfrm>
          <a:prstGeom prst="rect">
            <a:avLst/>
          </a:prstGeom>
          <a:noFill/>
          <a:ln/>
        </p:spPr>
        <p:txBody>
          <a:bodyPr wrap="square" lIns="0" tIns="0" rIns="0" bIns="0" rtlCol="0" anchor="t"/>
          <a:lstStyle/>
          <a:p>
            <a:pPr algn="ctr" indent="0" marL="0">
              <a:buNone/>
            </a:pPr>
            <a:r>
              <a:rPr lang="en-US" sz="1000" dirty="0">
                <a:solidFill>
                  <a:srgbClr val="FFFFFF"/>
                </a:solidFill>
              </a:rPr>
              <a:t>Drug interactions</a:t>
            </a:r>
            <a:endParaRPr lang="en-US" sz="1000" dirty="0"/>
          </a:p>
        </p:txBody>
      </p:sp>
      <p:sp>
        <p:nvSpPr>
          <p:cNvPr id="26" name="Shape 17"/>
          <p:cNvSpPr/>
          <p:nvPr/>
        </p:nvSpPr>
        <p:spPr>
          <a:xfrm>
            <a:off x="8549411" y="4297680"/>
            <a:ext cx="640080" cy="640080"/>
          </a:xfrm>
          <a:prstGeom prst="ellipse">
            <a:avLst/>
          </a:prstGeom>
          <a:solidFill>
            <a:srgbClr val="2E75B6"/>
          </a:solidFill>
          <a:ln w="19050">
            <a:solidFill>
              <a:srgbClr val="FFFFFF"/>
            </a:solidFill>
            <a:prstDash val="solid"/>
          </a:ln>
        </p:spPr>
      </p:sp>
      <p:pic>
        <p:nvPicPr>
          <p:cNvPr id="27" name="Image 7" descr="preencoded.png">    </p:cNvPr>
          <p:cNvPicPr>
            <a:picLocks noChangeAspect="1"/>
          </p:cNvPicPr>
          <p:nvPr/>
        </p:nvPicPr>
        <p:blipFill>
          <a:blip r:embed="rId8"/>
          <a:stretch>
            <a:fillRect/>
          </a:stretch>
        </p:blipFill>
        <p:spPr>
          <a:xfrm>
            <a:off x="8704859" y="4453128"/>
            <a:ext cx="329184" cy="329184"/>
          </a:xfrm>
          <a:prstGeom prst="rect">
            <a:avLst/>
          </a:prstGeom>
        </p:spPr>
      </p:pic>
      <p:sp>
        <p:nvSpPr>
          <p:cNvPr id="28" name="Text 18"/>
          <p:cNvSpPr txBox="1"/>
          <p:nvPr/>
        </p:nvSpPr>
        <p:spPr>
          <a:xfrm>
            <a:off x="8360451" y="5029200"/>
            <a:ext cx="1018002" cy="640080"/>
          </a:xfrm>
          <a:prstGeom prst="rect">
            <a:avLst/>
          </a:prstGeom>
          <a:noFill/>
          <a:ln/>
        </p:spPr>
        <p:txBody>
          <a:bodyPr wrap="square" lIns="0" tIns="0" rIns="0" bIns="0" rtlCol="0" anchor="t"/>
          <a:lstStyle/>
          <a:p>
            <a:pPr algn="ctr" indent="0" marL="0">
              <a:buNone/>
            </a:pPr>
            <a:r>
              <a:rPr lang="en-US" sz="1000" dirty="0">
                <a:solidFill>
                  <a:srgbClr val="FFFFFF"/>
                </a:solidFill>
              </a:rPr>
              <a:t>Pharmacokinetics</a:t>
            </a:r>
            <a:endParaRPr lang="en-US" sz="1000" dirty="0"/>
          </a:p>
        </p:txBody>
      </p:sp>
      <p:sp>
        <p:nvSpPr>
          <p:cNvPr id="29" name="Shape 19"/>
          <p:cNvSpPr/>
          <p:nvPr/>
        </p:nvSpPr>
        <p:spPr>
          <a:xfrm>
            <a:off x="9658853" y="4297680"/>
            <a:ext cx="640080" cy="640080"/>
          </a:xfrm>
          <a:prstGeom prst="ellipse">
            <a:avLst/>
          </a:prstGeom>
          <a:solidFill>
            <a:srgbClr val="1F7A7A"/>
          </a:solidFill>
          <a:ln w="19050">
            <a:solidFill>
              <a:srgbClr val="FFFFFF"/>
            </a:solidFill>
            <a:prstDash val="solid"/>
          </a:ln>
        </p:spPr>
      </p:sp>
      <p:pic>
        <p:nvPicPr>
          <p:cNvPr id="30" name="Image 8" descr="preencoded.png">    </p:cNvPr>
          <p:cNvPicPr>
            <a:picLocks noChangeAspect="1"/>
          </p:cNvPicPr>
          <p:nvPr/>
        </p:nvPicPr>
        <p:blipFill>
          <a:blip r:embed="rId9"/>
          <a:stretch>
            <a:fillRect/>
          </a:stretch>
        </p:blipFill>
        <p:spPr>
          <a:xfrm>
            <a:off x="9814301" y="4453128"/>
            <a:ext cx="329184" cy="329184"/>
          </a:xfrm>
          <a:prstGeom prst="rect">
            <a:avLst/>
          </a:prstGeom>
        </p:spPr>
      </p:pic>
      <p:sp>
        <p:nvSpPr>
          <p:cNvPr id="31" name="Text 20"/>
          <p:cNvSpPr txBox="1"/>
          <p:nvPr/>
        </p:nvSpPr>
        <p:spPr>
          <a:xfrm>
            <a:off x="9469892" y="5029200"/>
            <a:ext cx="1018002" cy="640080"/>
          </a:xfrm>
          <a:prstGeom prst="rect">
            <a:avLst/>
          </a:prstGeom>
          <a:noFill/>
          <a:ln/>
        </p:spPr>
        <p:txBody>
          <a:bodyPr wrap="square" lIns="0" tIns="0" rIns="0" bIns="0" rtlCol="0" anchor="t"/>
          <a:lstStyle/>
          <a:p>
            <a:pPr algn="ctr" indent="0" marL="0">
              <a:buNone/>
            </a:pPr>
            <a:r>
              <a:rPr lang="en-US" sz="1000" dirty="0">
                <a:solidFill>
                  <a:srgbClr val="FFFFFF"/>
                </a:solidFill>
              </a:rPr>
              <a:t>Monitoring</a:t>
            </a:r>
            <a:endParaRPr lang="en-US" sz="1000" dirty="0"/>
          </a:p>
        </p:txBody>
      </p:sp>
      <p:sp>
        <p:nvSpPr>
          <p:cNvPr id="32" name="Shape 21"/>
          <p:cNvSpPr/>
          <p:nvPr/>
        </p:nvSpPr>
        <p:spPr>
          <a:xfrm>
            <a:off x="10768294" y="4297680"/>
            <a:ext cx="640080" cy="640080"/>
          </a:xfrm>
          <a:prstGeom prst="ellipse">
            <a:avLst/>
          </a:prstGeom>
          <a:solidFill>
            <a:srgbClr val="2E75B6"/>
          </a:solidFill>
          <a:ln w="19050">
            <a:solidFill>
              <a:srgbClr val="FFFFFF"/>
            </a:solidFill>
            <a:prstDash val="solid"/>
          </a:ln>
        </p:spPr>
      </p:sp>
      <p:pic>
        <p:nvPicPr>
          <p:cNvPr id="33" name="Image 9" descr="preencoded.png">    </p:cNvPr>
          <p:cNvPicPr>
            <a:picLocks noChangeAspect="1"/>
          </p:cNvPicPr>
          <p:nvPr/>
        </p:nvPicPr>
        <p:blipFill>
          <a:blip r:embed="rId10"/>
          <a:stretch>
            <a:fillRect/>
          </a:stretch>
        </p:blipFill>
        <p:spPr>
          <a:xfrm>
            <a:off x="10923742" y="4453128"/>
            <a:ext cx="329184" cy="329184"/>
          </a:xfrm>
          <a:prstGeom prst="rect">
            <a:avLst/>
          </a:prstGeom>
        </p:spPr>
      </p:pic>
      <p:sp>
        <p:nvSpPr>
          <p:cNvPr id="34" name="Text 22"/>
          <p:cNvSpPr txBox="1"/>
          <p:nvPr/>
        </p:nvSpPr>
        <p:spPr>
          <a:xfrm>
            <a:off x="10579334" y="5029200"/>
            <a:ext cx="1018002" cy="640080"/>
          </a:xfrm>
          <a:prstGeom prst="rect">
            <a:avLst/>
          </a:prstGeom>
          <a:noFill/>
          <a:ln/>
        </p:spPr>
        <p:txBody>
          <a:bodyPr wrap="square" lIns="0" tIns="0" rIns="0" bIns="0" rtlCol="0" anchor="t"/>
          <a:lstStyle/>
          <a:p>
            <a:pPr algn="ctr" indent="0" marL="0">
              <a:buNone/>
            </a:pPr>
            <a:r>
              <a:rPr lang="en-US" sz="1000" dirty="0">
                <a:solidFill>
                  <a:srgbClr val="FFFFFF"/>
                </a:solidFill>
              </a:rPr>
              <a:t>Clinical pearls</a:t>
            </a:r>
            <a:endParaRPr lang="en-US" sz="1000" dirty="0"/>
          </a:p>
        </p:txBody>
      </p:sp>
      <p:sp>
        <p:nvSpPr>
          <p:cNvPr id="35" name="Text 2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72</a:t>
            </a:r>
            <a:endParaRPr lang="en-US" sz="10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OSTEOARTHRITIS, RHEUMATOID ARTHRITIS &amp; DMARDS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Class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IO2.1 · IO2.2 · IO2.3 · IO2.4 · IO2.5 · IO2.6 · SO3 · SO4 · SO5</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73</a:t>
            </a:r>
            <a:endParaRPr lang="en-US" sz="1000" dirty="0"/>
          </a:p>
        </p:txBody>
      </p:sp>
      <p:sp>
        <p:nvSpPr>
          <p:cNvPr id="7" name="Class (1/3) card"/>
          <p:cNvSpPr/>
          <p:nvPr/>
        </p:nvSpPr>
        <p:spPr>
          <a:xfrm>
            <a:off x="548640" y="1325880"/>
            <a:ext cx="11094415" cy="3831336"/>
          </a:xfrm>
          <a:prstGeom prst="roundRect">
            <a:avLst>
              <a:gd name="adj" fmla="val 2864"/>
            </a:avLst>
          </a:prstGeom>
          <a:solidFill>
            <a:srgbClr val="F2F4F7"/>
          </a:solidFill>
          <a:ln w="12700">
            <a:solidFill>
              <a:srgbClr val="F2F4F7"/>
            </a:solidFill>
            <a:prstDash val="solid"/>
          </a:ln>
        </p:spPr>
      </p:sp>
      <p:sp>
        <p:nvSpPr>
          <p:cNvPr id="8" name="Class (1/3)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Class (1/3)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ass (1/3)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Class (1/3)</a:t>
            </a:r>
            <a:endParaRPr lang="en-US" sz="1800" dirty="0"/>
          </a:p>
        </p:txBody>
      </p:sp>
      <p:sp>
        <p:nvSpPr>
          <p:cNvPr id="11" name="Class (1/3) body"/>
          <p:cNvSpPr txBox="1"/>
          <p:nvPr/>
        </p:nvSpPr>
        <p:spPr>
          <a:xfrm>
            <a:off x="777240" y="2075688"/>
            <a:ext cx="10637215" cy="2962656"/>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Osteoarthritis (OA):</a:t>
            </a:r>
            <a:r>
              <a:rPr lang="en-US" sz="1800" dirty="0">
                <a:solidFill>
                  <a:srgbClr val="1F1F1F"/>
                </a:solidFill>
              </a:rPr>
              <a:t> primarily degenerative joint disease — cartilage breakdown with mechanical wear.</a:t>
            </a:r>
            <a:r>
              <a:rPr lang="en-US" sz="1300" dirty="0">
                <a:solidFill>
                  <a:srgbClr val="666666"/>
                </a:solidFill>
              </a:rPr>
              <a:t>  S41</a:t>
            </a:r>
            <a:endParaRPr lang="en-US" sz="1800" dirty="0"/>
          </a:p>
          <a:p>
            <a:pPr marL="228600" indent="-228600">
              <a:spcAft>
                <a:spcPts val="800"/>
              </a:spcAft>
              <a:buSzPct val="100000"/>
              <a:buChar char="•"/>
            </a:pPr>
            <a:r>
              <a:rPr lang="en-US" sz="1800" b="1" dirty="0">
                <a:solidFill>
                  <a:srgbClr val="1F1F1F"/>
                </a:solidFill>
              </a:rPr>
              <a:t>Rheumatoid arthritis (RA):</a:t>
            </a:r>
            <a:r>
              <a:rPr lang="en-US" sz="1800" dirty="0">
                <a:solidFill>
                  <a:srgbClr val="1F1F1F"/>
                </a:solidFill>
              </a:rPr>
              <a:t> autoimmune, systemic inflammatory disease — immune-mediated joint destruction.</a:t>
            </a:r>
            <a:r>
              <a:rPr lang="en-US" sz="1300" dirty="0">
                <a:solidFill>
                  <a:srgbClr val="666666"/>
                </a:solidFill>
              </a:rPr>
              <a:t>  S41</a:t>
            </a:r>
            <a:endParaRPr lang="en-US" sz="1800" dirty="0"/>
          </a:p>
          <a:p>
            <a:pPr marL="228600" indent="-228600">
              <a:spcAft>
                <a:spcPts val="800"/>
              </a:spcAft>
              <a:buSzPct val="100000"/>
              <a:buChar char="•"/>
            </a:pPr>
            <a:r>
              <a:rPr lang="en-US" sz="1800" b="1" dirty="0">
                <a:solidFill>
                  <a:srgbClr val="1F1F1F"/>
                </a:solidFill>
              </a:rPr>
              <a:t>OA pathophysiology:</a:t>
            </a:r>
            <a:r>
              <a:rPr lang="en-US" sz="1800" dirty="0">
                <a:solidFill>
                  <a:srgbClr val="1F1F1F"/>
                </a:solidFill>
              </a:rPr>
              <a:t> mechanical load and wear degrade cartilage; bone remodels with osteophytes.</a:t>
            </a:r>
            <a:r>
              <a:rPr lang="en-US" sz="1300" dirty="0">
                <a:solidFill>
                  <a:srgbClr val="666666"/>
                </a:solidFill>
              </a:rPr>
              <a:t>  S42; S41 (notes)</a:t>
            </a:r>
            <a:endParaRPr lang="en-US" sz="1800" dirty="0"/>
          </a:p>
          <a:p>
            <a:pPr marL="228600" indent="-228600">
              <a:spcAft>
                <a:spcPts val="800"/>
              </a:spcAft>
              <a:buSzPct val="100000"/>
              <a:buChar char="•"/>
            </a:pPr>
            <a:r>
              <a:rPr lang="en-US" sz="1800" b="1" dirty="0">
                <a:solidFill>
                  <a:srgbClr val="1F1F1F"/>
                </a:solidFill>
              </a:rPr>
              <a:t>RA pathophysiology:</a:t>
            </a:r>
            <a:r>
              <a:rPr lang="en-US" sz="1800" dirty="0">
                <a:solidFill>
                  <a:srgbClr val="1F1F1F"/>
                </a:solidFill>
              </a:rPr>
              <a:t> immune activation → autoimmune synovitis forms a </a:t>
            </a:r>
            <a:r>
              <a:rPr lang="en-US" sz="1800" b="1" dirty="0">
                <a:solidFill>
                  <a:srgbClr val="1F1F1F"/>
                </a:solidFill>
              </a:rPr>
              <a:t>pannus</a:t>
            </a:r>
            <a:r>
              <a:rPr lang="en-US" sz="1800" dirty="0">
                <a:solidFill>
                  <a:srgbClr val="1F1F1F"/>
                </a:solidFill>
              </a:rPr>
              <a:t> that erodes cartilage and bone; </a:t>
            </a:r>
            <a:r>
              <a:rPr lang="en-US" sz="1800" b="1" dirty="0">
                <a:solidFill>
                  <a:srgbClr val="1F1F1F"/>
                </a:solidFill>
              </a:rPr>
              <a:t>TNF-α and IL-6</a:t>
            </a:r>
            <a:r>
              <a:rPr lang="en-US" sz="1800" dirty="0">
                <a:solidFill>
                  <a:srgbClr val="1F1F1F"/>
                </a:solidFill>
              </a:rPr>
              <a:t> drive the inflammation and joint damage.</a:t>
            </a:r>
            <a:r>
              <a:rPr lang="en-US" sz="1300" dirty="0">
                <a:solidFill>
                  <a:srgbClr val="666666"/>
                </a:solidFill>
              </a:rPr>
              <a:t>  S42; S41 (notes)</a:t>
            </a:r>
            <a:endParaRPr lang="en-US" sz="1800" dirty="0"/>
          </a:p>
          <a:p>
            <a:pPr marL="228600" indent="-228600">
              <a:spcAft>
                <a:spcPts val="800"/>
              </a:spcAft>
              <a:buSzPct val="100000"/>
              <a:buChar char="•"/>
            </a:pPr>
            <a:r>
              <a:rPr lang="en-US" sz="1800" dirty="0">
                <a:solidFill>
                  <a:srgbClr val="1F1F1F"/>
                </a:solidFill>
              </a:rPr>
              <a:t>OA treatment goal: pain control and function.</a:t>
            </a:r>
            <a:r>
              <a:rPr lang="en-US" sz="1300" dirty="0">
                <a:solidFill>
                  <a:srgbClr val="666666"/>
                </a:solidFill>
              </a:rPr>
              <a:t>  S41</a:t>
            </a:r>
            <a:endParaRPr lang="en-US" sz="18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OSTEOARTHRITIS, RHEUMATOID ARTHRITIS &amp; DMARDS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Class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IO2.1 · IO2.2 · IO2.3 · IO2.4 · IO2.5 · IO2.6 · SO3 · SO4 · SO5</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74</a:t>
            </a:r>
            <a:endParaRPr lang="en-US" sz="1000" dirty="0"/>
          </a:p>
        </p:txBody>
      </p:sp>
      <p:sp>
        <p:nvSpPr>
          <p:cNvPr id="7" name="Class (2/3) card"/>
          <p:cNvSpPr/>
          <p:nvPr/>
        </p:nvSpPr>
        <p:spPr>
          <a:xfrm>
            <a:off x="548640" y="1325880"/>
            <a:ext cx="11094415" cy="4110228"/>
          </a:xfrm>
          <a:prstGeom prst="roundRect">
            <a:avLst>
              <a:gd name="adj" fmla="val 2670"/>
            </a:avLst>
          </a:prstGeom>
          <a:solidFill>
            <a:srgbClr val="F2F4F7"/>
          </a:solidFill>
          <a:ln w="12700">
            <a:solidFill>
              <a:srgbClr val="F2F4F7"/>
            </a:solidFill>
            <a:prstDash val="solid"/>
          </a:ln>
        </p:spPr>
      </p:sp>
      <p:sp>
        <p:nvSpPr>
          <p:cNvPr id="8" name="Class (2/3)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Class (2/3)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ass (2/3)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Class (2/3)</a:t>
            </a:r>
            <a:endParaRPr lang="en-US" sz="1800" dirty="0"/>
          </a:p>
        </p:txBody>
      </p:sp>
      <p:sp>
        <p:nvSpPr>
          <p:cNvPr id="11" name="Class (2/3) body"/>
          <p:cNvSpPr txBox="1"/>
          <p:nvPr/>
        </p:nvSpPr>
        <p:spPr>
          <a:xfrm>
            <a:off x="777240" y="2075688"/>
            <a:ext cx="10637215" cy="324154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RA treatment goal: suppress disease activity, not just pain.</a:t>
            </a:r>
            <a:r>
              <a:rPr lang="en-US" sz="1300" dirty="0">
                <a:solidFill>
                  <a:srgbClr val="666666"/>
                </a:solidFill>
              </a:rPr>
              <a:t>  S41</a:t>
            </a:r>
            <a:endParaRPr lang="en-US" sz="1800" dirty="0"/>
          </a:p>
          <a:p>
            <a:pPr marL="228600" indent="-228600">
              <a:spcAft>
                <a:spcPts val="800"/>
              </a:spcAft>
              <a:buSzPct val="100000"/>
              <a:buChar char="•"/>
            </a:pPr>
            <a:r>
              <a:rPr lang="en-US" sz="1800" dirty="0">
                <a:solidFill>
                  <a:srgbClr val="1F1F1F"/>
                </a:solidFill>
              </a:rPr>
              <a:t>The hinge: OA is managed mainly with analgesics/NSAIDs, while RA requires disease-modifying therapy.</a:t>
            </a:r>
            <a:r>
              <a:rPr lang="en-US" sz="1300" dirty="0">
                <a:solidFill>
                  <a:srgbClr val="666666"/>
                </a:solidFill>
              </a:rPr>
              <a:t>  S41 (notes)</a:t>
            </a:r>
            <a:endParaRPr lang="en-US" sz="1800" dirty="0"/>
          </a:p>
          <a:p>
            <a:pPr marL="228600" indent="-228600">
              <a:spcAft>
                <a:spcPts val="800"/>
              </a:spcAft>
              <a:buSzPct val="100000"/>
              <a:buChar char="•"/>
            </a:pPr>
            <a:r>
              <a:rPr lang="en-US" sz="1800" b="1" dirty="0">
                <a:solidFill>
                  <a:srgbClr val="1F1F1F"/>
                </a:solidFill>
              </a:rPr>
              <a:t>DMARD (Disease-Modifying Antirheumatic Drug):</a:t>
            </a:r>
            <a:r>
              <a:rPr lang="en-US" sz="1800" dirty="0">
                <a:solidFill>
                  <a:srgbClr val="1F1F1F"/>
                </a:solidFill>
              </a:rPr>
              <a:t> a drug intended to alter the course of RA, not just mask its symptoms.</a:t>
            </a:r>
            <a:r>
              <a:rPr lang="en-US" sz="1300" dirty="0">
                <a:solidFill>
                  <a:srgbClr val="666666"/>
                </a:solidFill>
              </a:rPr>
              <a:t>  S45; SG U2-R6</a:t>
            </a:r>
            <a:endParaRPr lang="en-US" sz="1800" dirty="0"/>
          </a:p>
          <a:p>
            <a:pPr marL="228600" indent="-228600">
              <a:spcAft>
                <a:spcPts val="800"/>
              </a:spcAft>
              <a:buSzPct val="100000"/>
              <a:buChar char="•"/>
            </a:pPr>
            <a:r>
              <a:rPr lang="en-US" sz="1800" b="1" dirty="0">
                <a:solidFill>
                  <a:srgbClr val="1F1F1F"/>
                </a:solidFill>
              </a:rPr>
              <a:t>Goal of therapy:</a:t>
            </a:r>
            <a:r>
              <a:rPr lang="en-US" sz="1800" dirty="0">
                <a:solidFill>
                  <a:srgbClr val="1F1F1F"/>
                </a:solidFill>
              </a:rPr>
              <a:t> slow or halt joint destruction and systemic inflammation, rather than providing analgesia alone.</a:t>
            </a:r>
            <a:r>
              <a:rPr lang="en-US" sz="1300" dirty="0">
                <a:solidFill>
                  <a:srgbClr val="666666"/>
                </a:solidFill>
              </a:rPr>
              <a:t>  S45</a:t>
            </a:r>
            <a:endParaRPr lang="en-US" sz="1800" dirty="0"/>
          </a:p>
          <a:p>
            <a:pPr marL="228600" indent="-228600">
              <a:spcAft>
                <a:spcPts val="800"/>
              </a:spcAft>
              <a:buSzPct val="100000"/>
              <a:buChar char="•"/>
            </a:pPr>
            <a:r>
              <a:rPr lang="en-US" sz="1800" dirty="0">
                <a:solidFill>
                  <a:srgbClr val="1F1F1F"/>
                </a:solidFill>
              </a:rPr>
              <a:t>An NSAID can make a patient feel better without changing the disease trajectory; a DMARD is meant to change the trajectory itself.</a:t>
            </a:r>
            <a:r>
              <a:rPr lang="en-US" sz="1300" dirty="0">
                <a:solidFill>
                  <a:srgbClr val="666666"/>
                </a:solidFill>
              </a:rPr>
              <a:t>  S45 (notes); SG U2-R6</a:t>
            </a:r>
            <a:endParaRPr lang="en-US" sz="18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OSTEOARTHRITIS, RHEUMATOID ARTHRITIS &amp; DMARDS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Class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IO2.1 · IO2.2 · IO2.3 · IO2.4 · IO2.5 · IO2.6 · SO3 · SO4 · SO5</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75</a:t>
            </a:r>
            <a:endParaRPr lang="en-US" sz="1000" dirty="0"/>
          </a:p>
        </p:txBody>
      </p:sp>
      <p:sp>
        <p:nvSpPr>
          <p:cNvPr id="7" name="Class (3/3) card"/>
          <p:cNvSpPr/>
          <p:nvPr/>
        </p:nvSpPr>
        <p:spPr>
          <a:xfrm>
            <a:off x="548640" y="1325880"/>
            <a:ext cx="11094415" cy="4389120"/>
          </a:xfrm>
          <a:prstGeom prst="roundRect">
            <a:avLst>
              <a:gd name="adj" fmla="val 2500"/>
            </a:avLst>
          </a:prstGeom>
          <a:solidFill>
            <a:srgbClr val="F2F4F7"/>
          </a:solidFill>
          <a:ln w="12700">
            <a:solidFill>
              <a:srgbClr val="F2F4F7"/>
            </a:solidFill>
            <a:prstDash val="solid"/>
          </a:ln>
        </p:spPr>
      </p:sp>
      <p:sp>
        <p:nvSpPr>
          <p:cNvPr id="8" name="Class (3/3)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Class (3/3)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ass (3/3)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Class (3/3)</a:t>
            </a:r>
            <a:endParaRPr lang="en-US" sz="1800" dirty="0"/>
          </a:p>
        </p:txBody>
      </p:sp>
      <p:sp>
        <p:nvSpPr>
          <p:cNvPr id="11" name="Class (3/3) body"/>
          <p:cNvSpPr txBox="1"/>
          <p:nvPr/>
        </p:nvSpPr>
        <p:spPr>
          <a:xfrm>
            <a:off x="777240" y="2075688"/>
            <a:ext cx="10637215" cy="3520440"/>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NSAIDs</a:t>
            </a:r>
            <a:r>
              <a:rPr lang="en-US" sz="1800" dirty="0">
                <a:solidFill>
                  <a:srgbClr val="1F1F1F"/>
                </a:solidFill>
              </a:rPr>
              <a:t> relieve pain and swelling within days but do not alter joint damage; </a:t>
            </a:r>
            <a:r>
              <a:rPr lang="en-US" sz="1800" b="1" dirty="0">
                <a:solidFill>
                  <a:srgbClr val="1F1F1F"/>
                </a:solidFill>
              </a:rPr>
              <a:t>DMARDs</a:t>
            </a:r>
            <a:r>
              <a:rPr lang="en-US" sz="1800" dirty="0">
                <a:solidFill>
                  <a:srgbClr val="1F1F1F"/>
                </a:solidFill>
              </a:rPr>
              <a:t> take weeks to months to act, then slow cartilage and bone destruction.</a:t>
            </a:r>
            <a:r>
              <a:rPr lang="en-US" sz="1300" dirty="0">
                <a:solidFill>
                  <a:srgbClr val="666666"/>
                </a:solidFill>
              </a:rPr>
              <a:t>  S46; S46 (notes)</a:t>
            </a:r>
            <a:endParaRPr lang="en-US" sz="1800" dirty="0"/>
          </a:p>
          <a:p>
            <a:pPr marL="228600" indent="-228600">
              <a:spcAft>
                <a:spcPts val="800"/>
              </a:spcAft>
              <a:buSzPct val="100000"/>
              <a:buChar char="•"/>
            </a:pPr>
            <a:r>
              <a:rPr lang="en-US" sz="1800" b="1" dirty="0">
                <a:solidFill>
                  <a:srgbClr val="1F1F1F"/>
                </a:solidFill>
              </a:rPr>
              <a:t>Timing:</a:t>
            </a:r>
            <a:r>
              <a:rPr lang="en-US" sz="1800" dirty="0">
                <a:solidFill>
                  <a:srgbClr val="1F1F1F"/>
                </a:solidFill>
              </a:rPr>
              <a:t> judge a DMARD over months, not after the first visit — set expectations that benefit builds over months. Relief now with NSAIDs, protection later with DMARDs.</a:t>
            </a:r>
            <a:r>
              <a:rPr lang="en-US" sz="1300" dirty="0">
                <a:solidFill>
                  <a:srgbClr val="666666"/>
                </a:solidFill>
              </a:rPr>
              <a:t>  S46; S46 (notes)</a:t>
            </a:r>
            <a:endParaRPr lang="en-US" sz="1800" dirty="0"/>
          </a:p>
          <a:p>
            <a:pPr marL="228600" indent="-228600">
              <a:spcAft>
                <a:spcPts val="800"/>
              </a:spcAft>
              <a:buSzPct val="100000"/>
              <a:buChar char="•"/>
            </a:pPr>
            <a:r>
              <a:rPr lang="en-US" sz="1800" dirty="0">
                <a:solidFill>
                  <a:srgbClr val="1F1F1F"/>
                </a:solidFill>
              </a:rPr>
              <a:t>Targeted therapy: each biologic class corresponds to a different cytokine or cell type in the inflammatory cascade — the mediator list from the start of the lecture.</a:t>
            </a:r>
            <a:r>
              <a:rPr lang="en-US" sz="1300" dirty="0">
                <a:solidFill>
                  <a:srgbClr val="666666"/>
                </a:solidFill>
              </a:rPr>
              <a:t>  S51 (notes)</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DMARD effects take 2 weeks to 6 months to appear. Types: conventional synthetic (cs), biologic (b), and targeted synthetic (ts, e.g., tofacitinib).</a:t>
            </a:r>
            <a:r>
              <a:rPr lang="en-US" sz="1300" dirty="0">
                <a:solidFill>
                  <a:srgbClr val="666666"/>
                </a:solidFill>
              </a:rPr>
              <a:t>  p. 681</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Biologics are large molecules, usually proteins made by recombinant DNA technology; JAK inhibitors are oral small-molecule targeted synthetic DMARDs.</a:t>
            </a:r>
            <a:r>
              <a:rPr lang="en-US" sz="1300" dirty="0">
                <a:solidFill>
                  <a:srgbClr val="666666"/>
                </a:solidFill>
              </a:rPr>
              <a:t>  p. 681; p. 686</a:t>
            </a:r>
            <a:endParaRPr lang="en-US" sz="18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OSTEOARTHRITIS, RHEUMATOID ARTHRITIS &amp; DMARDS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Prototype + other drugs named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IO2.1 · IO2.2 · IO2.3 · IO2.4 · IO2.5 · IO2.6 · SO3 · SO4 · SO5</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76</a:t>
            </a:r>
            <a:endParaRPr lang="en-US" sz="1000" dirty="0"/>
          </a:p>
        </p:txBody>
      </p:sp>
      <p:sp>
        <p:nvSpPr>
          <p:cNvPr id="7" name="Prototype + other drugs named card"/>
          <p:cNvSpPr/>
          <p:nvPr/>
        </p:nvSpPr>
        <p:spPr>
          <a:xfrm>
            <a:off x="548640" y="1325880"/>
            <a:ext cx="11094415" cy="4160520"/>
          </a:xfrm>
          <a:prstGeom prst="roundRect">
            <a:avLst>
              <a:gd name="adj" fmla="val 2637"/>
            </a:avLst>
          </a:prstGeom>
          <a:solidFill>
            <a:srgbClr val="F2F4F7"/>
          </a:solidFill>
          <a:ln w="12700">
            <a:solidFill>
              <a:srgbClr val="F2F4F7"/>
            </a:solidFill>
            <a:prstDash val="solid"/>
          </a:ln>
        </p:spPr>
      </p:sp>
      <p:sp>
        <p:nvSpPr>
          <p:cNvPr id="8" name="Prototype + other drugs named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Prototype + other drugs named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Prototype + other drugs named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72C4"/>
                </a:solidFill>
              </a:rPr>
              <a:t>Prototype + other drugs named</a:t>
            </a:r>
            <a:endParaRPr lang="en-US" sz="1800" dirty="0"/>
          </a:p>
        </p:txBody>
      </p:sp>
      <p:sp>
        <p:nvSpPr>
          <p:cNvPr id="11" name="Prototype + other drugs named body"/>
          <p:cNvSpPr txBox="1"/>
          <p:nvPr/>
        </p:nvSpPr>
        <p:spPr>
          <a:xfrm>
            <a:off x="777240" y="2075688"/>
            <a:ext cx="10637215" cy="3291840"/>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Methotrexate — the anchor drug for most RA regimens.</a:t>
            </a:r>
            <a:r>
              <a:rPr lang="en-US" sz="1300" dirty="0">
                <a:solidFill>
                  <a:srgbClr val="666666"/>
                </a:solidFill>
              </a:rPr>
              <a:t>  S47</a:t>
            </a:r>
            <a:endParaRPr lang="en-US" sz="1800" dirty="0"/>
          </a:p>
          <a:p>
            <a:pPr marL="228600" indent="-228600">
              <a:spcAft>
                <a:spcPts val="800"/>
              </a:spcAft>
              <a:buSzPct val="100000"/>
              <a:buChar char="•"/>
            </a:pPr>
            <a:r>
              <a:rPr lang="en-US" sz="1800" dirty="0">
                <a:solidFill>
                  <a:srgbClr val="1F1F1F"/>
                </a:solidFill>
              </a:rPr>
              <a:t>Hydroxychloroquine — milder disease; relatively favorable safety profile.</a:t>
            </a:r>
            <a:r>
              <a:rPr lang="en-US" sz="1300" dirty="0">
                <a:solidFill>
                  <a:srgbClr val="666666"/>
                </a:solidFill>
              </a:rPr>
              <a:t>  S47</a:t>
            </a:r>
            <a:endParaRPr lang="en-US" sz="1800" dirty="0"/>
          </a:p>
          <a:p>
            <a:pPr marL="228600" indent="-228600">
              <a:spcAft>
                <a:spcPts val="800"/>
              </a:spcAft>
              <a:buSzPct val="100000"/>
              <a:buChar char="•"/>
            </a:pPr>
            <a:r>
              <a:rPr lang="en-US" sz="1800" dirty="0">
                <a:solidFill>
                  <a:srgbClr val="1F1F1F"/>
                </a:solidFill>
              </a:rPr>
              <a:t>Sulfasalazine — often used in combination regimens.</a:t>
            </a:r>
            <a:r>
              <a:rPr lang="en-US" sz="1300" dirty="0">
                <a:solidFill>
                  <a:srgbClr val="666666"/>
                </a:solidFill>
              </a:rPr>
              <a:t>  S47</a:t>
            </a:r>
            <a:endParaRPr lang="en-US" sz="1800" dirty="0"/>
          </a:p>
          <a:p>
            <a:pPr marL="228600" indent="-228600">
              <a:spcAft>
                <a:spcPts val="800"/>
              </a:spcAft>
              <a:buSzPct val="100000"/>
              <a:buChar char="•"/>
            </a:pPr>
            <a:r>
              <a:rPr lang="en-US" sz="1800" dirty="0">
                <a:solidFill>
                  <a:srgbClr val="1F1F1F"/>
                </a:solidFill>
              </a:rPr>
              <a:t>Leflunomide — alternative when methotrexate is not tolerated.</a:t>
            </a:r>
            <a:r>
              <a:rPr lang="en-US" sz="1300" dirty="0">
                <a:solidFill>
                  <a:srgbClr val="666666"/>
                </a:solidFill>
              </a:rPr>
              <a:t>  S47</a:t>
            </a:r>
            <a:endParaRPr lang="en-US" sz="1800" dirty="0"/>
          </a:p>
          <a:p>
            <a:pPr marL="228600" indent="-228600">
              <a:spcAft>
                <a:spcPts val="800"/>
              </a:spcAft>
              <a:buSzPct val="100000"/>
              <a:buChar char="•"/>
            </a:pPr>
            <a:r>
              <a:rPr lang="en-US" sz="1800" dirty="0">
                <a:solidFill>
                  <a:srgbClr val="1F1F1F"/>
                </a:solidFill>
              </a:rPr>
              <a:t>Adalimumab, etanercept, infliximab — </a:t>
            </a:r>
            <a:r>
              <a:rPr lang="en-US" sz="1800" b="1" dirty="0">
                <a:solidFill>
                  <a:srgbClr val="1F1F1F"/>
                </a:solidFill>
              </a:rPr>
              <a:t>TNF inhibitors</a:t>
            </a:r>
            <a:r>
              <a:rPr lang="en-US" sz="1800" dirty="0">
                <a:solidFill>
                  <a:srgbClr val="1F1F1F"/>
                </a:solidFill>
              </a:rPr>
              <a:t>.</a:t>
            </a:r>
            <a:r>
              <a:rPr lang="en-US" sz="1300" dirty="0">
                <a:solidFill>
                  <a:srgbClr val="666666"/>
                </a:solidFill>
              </a:rPr>
              <a:t>  S51; SG U2-R8</a:t>
            </a:r>
            <a:endParaRPr lang="en-US" sz="1800" dirty="0"/>
          </a:p>
          <a:p>
            <a:pPr marL="228600" indent="-228600">
              <a:spcAft>
                <a:spcPts val="800"/>
              </a:spcAft>
              <a:buSzPct val="100000"/>
              <a:buChar char="•"/>
            </a:pPr>
            <a:r>
              <a:rPr lang="en-US" sz="1800" dirty="0">
                <a:solidFill>
                  <a:srgbClr val="1F1F1F"/>
                </a:solidFill>
              </a:rPr>
              <a:t>Tocilizumab — </a:t>
            </a:r>
            <a:r>
              <a:rPr lang="en-US" sz="1800" b="1" dirty="0">
                <a:solidFill>
                  <a:srgbClr val="1F1F1F"/>
                </a:solidFill>
              </a:rPr>
              <a:t>IL-6 inhibitor</a:t>
            </a:r>
            <a:r>
              <a:rPr lang="en-US" sz="1800" dirty="0">
                <a:solidFill>
                  <a:srgbClr val="1F1F1F"/>
                </a:solidFill>
              </a:rPr>
              <a:t>.</a:t>
            </a:r>
            <a:r>
              <a:rPr lang="en-US" sz="1300" dirty="0">
                <a:solidFill>
                  <a:srgbClr val="666666"/>
                </a:solidFill>
              </a:rPr>
              <a:t>  S51; SG U2-R8</a:t>
            </a:r>
            <a:endParaRPr lang="en-US" sz="1800" dirty="0"/>
          </a:p>
          <a:p>
            <a:pPr marL="228600" indent="-228600">
              <a:spcAft>
                <a:spcPts val="800"/>
              </a:spcAft>
              <a:buSzPct val="100000"/>
              <a:buChar char="•"/>
            </a:pPr>
            <a:r>
              <a:rPr lang="en-US" sz="1800" dirty="0">
                <a:solidFill>
                  <a:srgbClr val="1F1F1F"/>
                </a:solidFill>
              </a:rPr>
              <a:t>Rituximab — </a:t>
            </a:r>
            <a:r>
              <a:rPr lang="en-US" sz="1800" b="1" dirty="0">
                <a:solidFill>
                  <a:srgbClr val="1F1F1F"/>
                </a:solidFill>
              </a:rPr>
              <a:t>B-cell targeted therapy</a:t>
            </a:r>
            <a:r>
              <a:rPr lang="en-US" sz="1800" dirty="0">
                <a:solidFill>
                  <a:srgbClr val="1F1F1F"/>
                </a:solidFill>
              </a:rPr>
              <a:t>.</a:t>
            </a:r>
            <a:r>
              <a:rPr lang="en-US" sz="1300" dirty="0">
                <a:solidFill>
                  <a:srgbClr val="666666"/>
                </a:solidFill>
              </a:rPr>
              <a:t>  S51; SG U2-R8</a:t>
            </a:r>
            <a:endParaRPr lang="en-US" sz="1800" dirty="0"/>
          </a:p>
          <a:p>
            <a:pPr marL="228600" indent="-228600">
              <a:spcAft>
                <a:spcPts val="800"/>
              </a:spcAft>
              <a:buSzPct val="100000"/>
              <a:buChar char="•"/>
            </a:pPr>
            <a:r>
              <a:rPr lang="en-US" sz="1800" dirty="0">
                <a:solidFill>
                  <a:srgbClr val="1F1F1F"/>
                </a:solidFill>
              </a:rPr>
              <a:t>Abatacept — </a:t>
            </a:r>
            <a:r>
              <a:rPr lang="en-US" sz="1800" b="1" dirty="0">
                <a:solidFill>
                  <a:srgbClr val="1F1F1F"/>
                </a:solidFill>
              </a:rPr>
              <a:t>T-cell costimulation modulator</a:t>
            </a:r>
            <a:r>
              <a:rPr lang="en-US" sz="1800" dirty="0">
                <a:solidFill>
                  <a:srgbClr val="1F1F1F"/>
                </a:solidFill>
              </a:rPr>
              <a:t>.</a:t>
            </a:r>
            <a:r>
              <a:rPr lang="en-US" sz="1300" dirty="0">
                <a:solidFill>
                  <a:srgbClr val="666666"/>
                </a:solidFill>
              </a:rPr>
              <a:t>  S51; SG U2-R8</a:t>
            </a:r>
            <a:endParaRPr lang="en-US" sz="18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OSTEOARTHRITIS, RHEUMATOID ARTHRITIS &amp; DMARDS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Mechanism of action</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IO2.1 · IO2.2 · IO2.3 · IO2.4 · IO2.5 · IO2.6 · SO3 · SO4 · SO5</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77</a:t>
            </a:r>
            <a:endParaRPr lang="en-US" sz="1000" dirty="0"/>
          </a:p>
        </p:txBody>
      </p:sp>
      <p:sp>
        <p:nvSpPr>
          <p:cNvPr id="7" name="Mechanism of action (1/3) card"/>
          <p:cNvSpPr/>
          <p:nvPr/>
        </p:nvSpPr>
        <p:spPr>
          <a:xfrm>
            <a:off x="548640" y="1325880"/>
            <a:ext cx="11094415" cy="4498848"/>
          </a:xfrm>
          <a:prstGeom prst="roundRect">
            <a:avLst>
              <a:gd name="adj" fmla="val 2439"/>
            </a:avLst>
          </a:prstGeom>
          <a:solidFill>
            <a:srgbClr val="F2F4F7"/>
          </a:solidFill>
          <a:ln w="12700">
            <a:solidFill>
              <a:srgbClr val="F2F4F7"/>
            </a:solidFill>
            <a:prstDash val="solid"/>
          </a:ln>
        </p:spPr>
      </p:sp>
      <p:sp>
        <p:nvSpPr>
          <p:cNvPr id="8" name="Mechanism of action (1/3)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Mechanism of action (1/3)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Mechanism of action (1/3)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Mechanism of action (1/3)</a:t>
            </a:r>
            <a:endParaRPr lang="en-US" sz="1800" dirty="0"/>
          </a:p>
        </p:txBody>
      </p:sp>
      <p:sp>
        <p:nvSpPr>
          <p:cNvPr id="11" name="Mechanism of action (1/3) body"/>
          <p:cNvSpPr txBox="1"/>
          <p:nvPr/>
        </p:nvSpPr>
        <p:spPr>
          <a:xfrm>
            <a:off x="777240" y="2075688"/>
            <a:ext cx="10637215" cy="3630168"/>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Mechanism: inhibits dihydrofolate reductase, reducing immune cell proliferation at low RA doses.</a:t>
            </a:r>
            <a:r>
              <a:rPr lang="en-US" sz="1800" dirty="0">
                <a:solidFill>
                  <a:srgbClr val="1F1F1F"/>
                </a:solidFill>
              </a:rPr>
              <a:t> (methotrexate)</a:t>
            </a:r>
            <a:r>
              <a:rPr lang="en-US" sz="1300" dirty="0">
                <a:solidFill>
                  <a:srgbClr val="666666"/>
                </a:solidFill>
              </a:rPr>
              <a:t>  S49; SG U2-M</a:t>
            </a:r>
            <a:endParaRPr lang="en-US" sz="1800" dirty="0"/>
          </a:p>
          <a:p>
            <a:pPr marL="228600" indent="-228600">
              <a:spcAft>
                <a:spcPts val="800"/>
              </a:spcAft>
              <a:buSzPct val="100000"/>
              <a:buChar char="•"/>
            </a:pPr>
            <a:r>
              <a:rPr lang="en-US" sz="1800" b="1" dirty="0">
                <a:solidFill>
                  <a:srgbClr val="1F1F1F"/>
                </a:solidFill>
              </a:rPr>
              <a:t>Hydroxychloroquine</a:t>
            </a:r>
            <a:r>
              <a:rPr lang="en-US" sz="1800" dirty="0">
                <a:solidFill>
                  <a:srgbClr val="1F1F1F"/>
                </a:solidFill>
              </a:rPr>
              <a:t> alters lysosomal and TLR signaling (less antigen signaling); </a:t>
            </a:r>
            <a:r>
              <a:rPr lang="en-US" sz="1800" b="1" dirty="0">
                <a:solidFill>
                  <a:srgbClr val="1F1F1F"/>
                </a:solidFill>
              </a:rPr>
              <a:t>sulfasalazine</a:t>
            </a:r>
            <a:r>
              <a:rPr lang="en-US" sz="1800" dirty="0">
                <a:solidFill>
                  <a:srgbClr val="1F1F1F"/>
                </a:solidFill>
              </a:rPr>
              <a:t> reduces cytokine and prostaglandin production.</a:t>
            </a:r>
            <a:r>
              <a:rPr lang="en-US" sz="1300" dirty="0">
                <a:solidFill>
                  <a:srgbClr val="666666"/>
                </a:solidFill>
              </a:rPr>
              <a:t>  S48</a:t>
            </a:r>
            <a:endParaRPr lang="en-US" sz="1800" dirty="0"/>
          </a:p>
          <a:p>
            <a:pPr marL="228600" indent="-228600">
              <a:spcAft>
                <a:spcPts val="800"/>
              </a:spcAft>
              <a:buSzPct val="100000"/>
              <a:buChar char="•"/>
            </a:pPr>
            <a:r>
              <a:rPr lang="en-US" sz="1800" b="1" dirty="0">
                <a:solidFill>
                  <a:srgbClr val="1F1F1F"/>
                </a:solidFill>
              </a:rPr>
              <a:t>Leflunomide</a:t>
            </a:r>
            <a:r>
              <a:rPr lang="en-US" sz="1800" dirty="0">
                <a:solidFill>
                  <a:srgbClr val="1F1F1F"/>
                </a:solidFill>
              </a:rPr>
              <a:t> inhibits DHODH, blocking pyrimidine synthesis (slower T-cell growth).</a:t>
            </a:r>
            <a:r>
              <a:rPr lang="en-US" sz="1300" dirty="0">
                <a:solidFill>
                  <a:srgbClr val="666666"/>
                </a:solidFill>
              </a:rPr>
              <a:t>  S48; S47 (notes)</a:t>
            </a:r>
            <a:endParaRPr lang="en-US" sz="1800" dirty="0"/>
          </a:p>
          <a:p>
            <a:pPr marL="228600" indent="-228600">
              <a:spcAft>
                <a:spcPts val="800"/>
              </a:spcAft>
              <a:buSzPct val="100000"/>
              <a:buChar char="•"/>
            </a:pPr>
            <a:r>
              <a:rPr lang="en-US" sz="1800" dirty="0">
                <a:solidFill>
                  <a:srgbClr val="1F1F1F"/>
                </a:solidFill>
              </a:rPr>
              <a:t>Conventional DMARDs act inside cells or on broad immune pathways, with a slower onset than biologics.</a:t>
            </a:r>
            <a:r>
              <a:rPr lang="en-US" sz="1300" dirty="0">
                <a:solidFill>
                  <a:srgbClr val="666666"/>
                </a:solidFill>
              </a:rPr>
              <a:t>  S48 (notes)</a:t>
            </a:r>
            <a:endParaRPr lang="en-US" sz="1800" dirty="0"/>
          </a:p>
          <a:p>
            <a:pPr marL="228600" indent="-228600">
              <a:spcAft>
                <a:spcPts val="800"/>
              </a:spcAft>
              <a:buSzPct val="100000"/>
              <a:buChar char="•"/>
            </a:pPr>
            <a:r>
              <a:rPr lang="en-US" sz="1800" b="1" dirty="0">
                <a:solidFill>
                  <a:srgbClr val="1F1F1F"/>
                </a:solidFill>
              </a:rPr>
              <a:t>Methotrexate’s folate pathway:</a:t>
            </a:r>
            <a:r>
              <a:rPr lang="en-US" sz="1800" dirty="0">
                <a:solidFill>
                  <a:srgbClr val="1F1F1F"/>
                </a:solidFill>
              </a:rPr>
              <a:t> blocking DHFR stops dihydrofolate (DHF) → tetrahydrofolate (THF), the folate needed for purine and thymidylate (DNA) synthesis.</a:t>
            </a:r>
            <a:r>
              <a:rPr lang="en-US" sz="1300" dirty="0">
                <a:solidFill>
                  <a:srgbClr val="666666"/>
                </a:solidFill>
              </a:rPr>
              <a:t>  S50; S50 (notes)</a:t>
            </a:r>
            <a:endParaRPr lang="en-US" sz="1800" dirty="0"/>
          </a:p>
          <a:p>
            <a:pPr marL="228600" indent="-228600">
              <a:spcAft>
                <a:spcPts val="800"/>
              </a:spcAft>
              <a:buSzPct val="100000"/>
              <a:buChar char="•"/>
            </a:pPr>
            <a:r>
              <a:rPr lang="en-US" sz="1800" dirty="0">
                <a:solidFill>
                  <a:srgbClr val="1F1F1F"/>
                </a:solidFill>
              </a:rPr>
              <a:t>At low RA doses methotrexate is likely anti-inflammatory via </a:t>
            </a:r>
            <a:r>
              <a:rPr lang="en-US" sz="1800" b="1" dirty="0">
                <a:solidFill>
                  <a:srgbClr val="1F1F1F"/>
                </a:solidFill>
              </a:rPr>
              <a:t>adenosine release</a:t>
            </a:r>
            <a:r>
              <a:rPr lang="en-US" sz="1800" dirty="0">
                <a:solidFill>
                  <a:srgbClr val="1F1F1F"/>
                </a:solidFill>
              </a:rPr>
              <a:t>, not cytotoxicity.</a:t>
            </a:r>
            <a:r>
              <a:rPr lang="en-US" sz="1300" dirty="0">
                <a:solidFill>
                  <a:srgbClr val="666666"/>
                </a:solidFill>
              </a:rPr>
              <a:t>  S50</a:t>
            </a:r>
            <a:endParaRPr lang="en-US" sz="18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OSTEOARTHRITIS, RHEUMATOID ARTHRITIS &amp; DMARDS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Mechanism of action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IO2.1 · IO2.2 · IO2.3 · IO2.4 · IO2.5 · IO2.6 · SO3 · SO4 · SO5</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78</a:t>
            </a:r>
            <a:endParaRPr lang="en-US" sz="1000" dirty="0"/>
          </a:p>
        </p:txBody>
      </p:sp>
      <p:sp>
        <p:nvSpPr>
          <p:cNvPr id="7" name="Mechanism of action (2/3) card"/>
          <p:cNvSpPr/>
          <p:nvPr/>
        </p:nvSpPr>
        <p:spPr>
          <a:xfrm>
            <a:off x="548640" y="1325880"/>
            <a:ext cx="11094415" cy="3941064"/>
          </a:xfrm>
          <a:prstGeom prst="roundRect">
            <a:avLst>
              <a:gd name="adj" fmla="val 2784"/>
            </a:avLst>
          </a:prstGeom>
          <a:solidFill>
            <a:srgbClr val="F2F4F7"/>
          </a:solidFill>
          <a:ln w="12700">
            <a:solidFill>
              <a:srgbClr val="F2F4F7"/>
            </a:solidFill>
            <a:prstDash val="solid"/>
          </a:ln>
        </p:spPr>
      </p:sp>
      <p:sp>
        <p:nvSpPr>
          <p:cNvPr id="8" name="Mechanism of action (2/3)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Mechanism of action (2/3)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Mechanism of action (2/3)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Mechanism of action (2/3)</a:t>
            </a:r>
            <a:endParaRPr lang="en-US" sz="1800" dirty="0"/>
          </a:p>
        </p:txBody>
      </p:sp>
      <p:sp>
        <p:nvSpPr>
          <p:cNvPr id="11" name="Mechanism of action (2/3) body"/>
          <p:cNvSpPr txBox="1"/>
          <p:nvPr/>
        </p:nvSpPr>
        <p:spPr>
          <a:xfrm>
            <a:off x="777240" y="2075688"/>
            <a:ext cx="10637215" cy="30723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TNF inhibitors block tumor necrosis factor-alpha signaling.</a:t>
            </a:r>
            <a:r>
              <a:rPr lang="en-US" sz="1300" dirty="0">
                <a:solidFill>
                  <a:srgbClr val="666666"/>
                </a:solidFill>
              </a:rPr>
              <a:t>  S51</a:t>
            </a:r>
            <a:endParaRPr lang="en-US" sz="1800" dirty="0"/>
          </a:p>
          <a:p>
            <a:pPr marL="228600" indent="-228600">
              <a:spcAft>
                <a:spcPts val="800"/>
              </a:spcAft>
              <a:buSzPct val="100000"/>
              <a:buChar char="•"/>
            </a:pPr>
            <a:r>
              <a:rPr lang="en-US" sz="1800" dirty="0">
                <a:solidFill>
                  <a:srgbClr val="1F1F1F"/>
                </a:solidFill>
              </a:rPr>
              <a:t>IL-6 inhibitors block interleukin-6 receptor signaling.</a:t>
            </a:r>
            <a:r>
              <a:rPr lang="en-US" sz="1300" dirty="0">
                <a:solidFill>
                  <a:srgbClr val="666666"/>
                </a:solidFill>
              </a:rPr>
              <a:t>  S51</a:t>
            </a:r>
            <a:endParaRPr lang="en-US" sz="1800" dirty="0"/>
          </a:p>
          <a:p>
            <a:pPr marL="228600" indent="-228600">
              <a:spcAft>
                <a:spcPts val="800"/>
              </a:spcAft>
              <a:buSzPct val="100000"/>
              <a:buChar char="•"/>
            </a:pPr>
            <a:r>
              <a:rPr lang="en-US" sz="1800" dirty="0">
                <a:solidFill>
                  <a:srgbClr val="1F1F1F"/>
                </a:solidFill>
              </a:rPr>
              <a:t>B-cell targeted therapy depletes or modulates B lymphocytes.</a:t>
            </a:r>
            <a:r>
              <a:rPr lang="en-US" sz="1300" dirty="0">
                <a:solidFill>
                  <a:srgbClr val="666666"/>
                </a:solidFill>
              </a:rPr>
              <a:t>  S51</a:t>
            </a:r>
            <a:endParaRPr lang="en-US" sz="1800" dirty="0"/>
          </a:p>
          <a:p>
            <a:pPr marL="228600" indent="-228600">
              <a:spcAft>
                <a:spcPts val="800"/>
              </a:spcAft>
              <a:buSzPct val="100000"/>
              <a:buChar char="•"/>
            </a:pPr>
            <a:r>
              <a:rPr lang="en-US" sz="1800" dirty="0">
                <a:solidFill>
                  <a:srgbClr val="1F1F1F"/>
                </a:solidFill>
              </a:rPr>
              <a:t>T-cell costimulation modulators block the second signal needed for T-cell activation.</a:t>
            </a:r>
            <a:r>
              <a:rPr lang="en-US" sz="1300" dirty="0">
                <a:solidFill>
                  <a:srgbClr val="666666"/>
                </a:solidFill>
              </a:rPr>
              <a:t>  S51; SG U2-M</a:t>
            </a:r>
            <a:endParaRPr lang="en-US" sz="1800" dirty="0"/>
          </a:p>
          <a:p>
            <a:pPr marL="228600" indent="-228600">
              <a:spcAft>
                <a:spcPts val="800"/>
              </a:spcAft>
              <a:buSzPct val="100000"/>
              <a:buChar char="•"/>
            </a:pPr>
            <a:r>
              <a:rPr lang="en-US" sz="1800" dirty="0">
                <a:solidFill>
                  <a:srgbClr val="1F1F1F"/>
                </a:solidFill>
              </a:rPr>
              <a:t>Figure 3: abatacept acts at T-cell activation, TNF inhibitors and tocilizumab at cytokine release, rituximab at B cells — all upstream of synovial inflammation and joint destruction.</a:t>
            </a:r>
            <a:r>
              <a:rPr lang="en-US" sz="1300" dirty="0">
                <a:solidFill>
                  <a:srgbClr val="666666"/>
                </a:solidFill>
              </a:rPr>
              <a:t>  S53</a:t>
            </a:r>
            <a:endParaRPr lang="en-US" sz="1800" dirty="0"/>
          </a:p>
          <a:p>
            <a:pPr marL="228600" indent="-228600">
              <a:spcAft>
                <a:spcPts val="800"/>
              </a:spcAft>
              <a:buSzPct val="100000"/>
              <a:buChar char="•"/>
            </a:pPr>
            <a:r>
              <a:rPr lang="en-US" sz="1800" b="1" dirty="0">
                <a:solidFill>
                  <a:srgbClr val="1F1F1F"/>
                </a:solidFill>
              </a:rPr>
              <a:t>TNF inhibitors:</a:t>
            </a:r>
            <a:r>
              <a:rPr lang="en-US" sz="1800" dirty="0">
                <a:solidFill>
                  <a:srgbClr val="1F1F1F"/>
                </a:solidFill>
              </a:rPr>
              <a:t> antibodies (infliximab, adalimumab) and etanercept, a receptor fusion protein, neutralize soluble and membrane TNF-α, preventing TNFR activation.</a:t>
            </a:r>
            <a:r>
              <a:rPr lang="en-US" sz="1300" dirty="0">
                <a:solidFill>
                  <a:srgbClr val="666666"/>
                </a:solidFill>
              </a:rPr>
              <a:t>  S52</a:t>
            </a:r>
            <a:endParaRPr lang="en-US" sz="18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OSTEOARTHRITIS, RHEUMATOID ARTHRITIS &amp; DMARDS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Mechanism of action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IO2.1 · IO2.2 · IO2.3 · IO2.4 · IO2.5 · IO2.6 · SO3 · SO4 · SO5</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79</a:t>
            </a:r>
            <a:endParaRPr lang="en-US" sz="1000" dirty="0"/>
          </a:p>
        </p:txBody>
      </p:sp>
      <p:sp>
        <p:nvSpPr>
          <p:cNvPr id="7" name="Mechanism of action (3/3) card"/>
          <p:cNvSpPr/>
          <p:nvPr/>
        </p:nvSpPr>
        <p:spPr>
          <a:xfrm>
            <a:off x="548640" y="1325880"/>
            <a:ext cx="11094415" cy="3163824"/>
          </a:xfrm>
          <a:prstGeom prst="roundRect">
            <a:avLst>
              <a:gd name="adj" fmla="val 3468"/>
            </a:avLst>
          </a:prstGeom>
          <a:solidFill>
            <a:srgbClr val="F2F4F7"/>
          </a:solidFill>
          <a:ln w="12700">
            <a:solidFill>
              <a:srgbClr val="F2F4F7"/>
            </a:solidFill>
            <a:prstDash val="solid"/>
          </a:ln>
        </p:spPr>
      </p:sp>
      <p:sp>
        <p:nvSpPr>
          <p:cNvPr id="8" name="Mechanism of action (3/3)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Mechanism of action (3/3)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Mechanism of action (3/3)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Mechanism of action (3/3)</a:t>
            </a:r>
            <a:endParaRPr lang="en-US" sz="1800" dirty="0"/>
          </a:p>
        </p:txBody>
      </p:sp>
      <p:sp>
        <p:nvSpPr>
          <p:cNvPr id="11" name="Mechanism of action (3/3) body"/>
          <p:cNvSpPr txBox="1"/>
          <p:nvPr/>
        </p:nvSpPr>
        <p:spPr>
          <a:xfrm>
            <a:off x="777240" y="2075688"/>
            <a:ext cx="10637215" cy="2295144"/>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Tocilizumab</a:t>
            </a:r>
            <a:r>
              <a:rPr lang="en-US" sz="1800" dirty="0">
                <a:solidFill>
                  <a:srgbClr val="1F1F1F"/>
                </a:solidFill>
              </a:rPr>
              <a:t> blocks both membrane and soluble IL-6 receptors.</a:t>
            </a:r>
            <a:r>
              <a:rPr lang="en-US" sz="1300" dirty="0">
                <a:solidFill>
                  <a:srgbClr val="666666"/>
                </a:solidFill>
              </a:rPr>
              <a:t>  S52</a:t>
            </a:r>
            <a:endParaRPr lang="en-US" sz="1800" dirty="0"/>
          </a:p>
          <a:p>
            <a:pPr marL="228600" indent="-228600">
              <a:spcAft>
                <a:spcPts val="800"/>
              </a:spcAft>
              <a:buSzPct val="100000"/>
              <a:buChar char="•"/>
            </a:pPr>
            <a:r>
              <a:rPr lang="en-US" sz="1800" b="1" dirty="0">
                <a:solidFill>
                  <a:srgbClr val="1F1F1F"/>
                </a:solidFill>
              </a:rPr>
              <a:t>Abatacept (CTLA-4-Ig)</a:t>
            </a:r>
            <a:r>
              <a:rPr lang="en-US" sz="1800" dirty="0">
                <a:solidFill>
                  <a:srgbClr val="1F1F1F"/>
                </a:solidFill>
              </a:rPr>
              <a:t> binds CD80/86 and blocks CD28 costimulation, acting early at T-cell activation.</a:t>
            </a:r>
            <a:r>
              <a:rPr lang="en-US" sz="1300" dirty="0">
                <a:solidFill>
                  <a:srgbClr val="666666"/>
                </a:solidFill>
              </a:rPr>
              <a:t>  S52; S51 (notes)</a:t>
            </a:r>
            <a:endParaRPr lang="en-US" sz="1800" dirty="0"/>
          </a:p>
          <a:p>
            <a:pPr marL="228600" indent="-228600">
              <a:spcAft>
                <a:spcPts val="800"/>
              </a:spcAft>
              <a:buSzPct val="100000"/>
              <a:buChar char="•"/>
            </a:pPr>
            <a:r>
              <a:rPr lang="en-US" sz="1800" b="1" dirty="0">
                <a:solidFill>
                  <a:srgbClr val="1F1F1F"/>
                </a:solidFill>
              </a:rPr>
              <a:t>Rituximab (anti-CD20)</a:t>
            </a:r>
            <a:r>
              <a:rPr lang="en-US" sz="1800" dirty="0">
                <a:solidFill>
                  <a:srgbClr val="1F1F1F"/>
                </a:solidFill>
              </a:rPr>
              <a:t> binds CD20 and depletes B cells for months.</a:t>
            </a:r>
            <a:r>
              <a:rPr lang="en-US" sz="1300" dirty="0">
                <a:solidFill>
                  <a:srgbClr val="666666"/>
                </a:solidFill>
              </a:rPr>
              <a:t>  S52; S51 (notes)</a:t>
            </a:r>
            <a:endParaRPr lang="en-US" sz="1800" dirty="0"/>
          </a:p>
          <a:p>
            <a:pPr marL="228600" indent="-228600">
              <a:spcAft>
                <a:spcPts val="800"/>
              </a:spcAft>
              <a:buSzPct val="100000"/>
              <a:buChar char="•"/>
            </a:pPr>
            <a:r>
              <a:rPr lang="en-US" sz="1800" dirty="0">
                <a:solidFill>
                  <a:srgbClr val="1F1F1F"/>
                </a:solidFill>
              </a:rPr>
              <a:t>Each biologic intercepts a different step of the immune cascade: walk it from T-cell activation to cytokines to synovial damage — abatacept acts earliest.</a:t>
            </a:r>
            <a:r>
              <a:rPr lang="en-US" sz="1300" dirty="0">
                <a:solidFill>
                  <a:srgbClr val="666666"/>
                </a:solidFill>
              </a:rPr>
              <a:t>  S52 (notes); S53 (notes)</a:t>
            </a:r>
            <a:endParaRPr lang="en-US" sz="18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OSTEOARTHRITIS, RHEUMATOID ARTHRITIS &amp; DMARDS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Indications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IO2.1 · IO2.2 · IO2.3 · IO2.4 · IO2.5 · IO2.6 · SO3 · SO4 · SO5</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80</a:t>
            </a:r>
            <a:endParaRPr lang="en-US" sz="1000" dirty="0"/>
          </a:p>
        </p:txBody>
      </p:sp>
      <p:sp>
        <p:nvSpPr>
          <p:cNvPr id="7" name="Indications (1/3) card"/>
          <p:cNvSpPr/>
          <p:nvPr/>
        </p:nvSpPr>
        <p:spPr>
          <a:xfrm>
            <a:off x="548640" y="1325880"/>
            <a:ext cx="11094415" cy="4219956"/>
          </a:xfrm>
          <a:prstGeom prst="roundRect">
            <a:avLst>
              <a:gd name="adj" fmla="val 2600"/>
            </a:avLst>
          </a:prstGeom>
          <a:solidFill>
            <a:srgbClr val="F2F4F7"/>
          </a:solidFill>
          <a:ln w="12700">
            <a:solidFill>
              <a:srgbClr val="F2F4F7"/>
            </a:solidFill>
            <a:prstDash val="solid"/>
          </a:ln>
        </p:spPr>
      </p:sp>
      <p:sp>
        <p:nvSpPr>
          <p:cNvPr id="8" name="Indications (1/3)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Indications (1/3)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ndications (1/3)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Indications (1/3)</a:t>
            </a:r>
            <a:endParaRPr lang="en-US" sz="1800" dirty="0"/>
          </a:p>
        </p:txBody>
      </p:sp>
      <p:sp>
        <p:nvSpPr>
          <p:cNvPr id="11" name="Indications (1/3) body"/>
          <p:cNvSpPr txBox="1"/>
          <p:nvPr/>
        </p:nvSpPr>
        <p:spPr>
          <a:xfrm>
            <a:off x="777240" y="2075688"/>
            <a:ext cx="10637215" cy="3351276"/>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OA step 1:</a:t>
            </a:r>
            <a:r>
              <a:rPr lang="en-US" sz="1800" dirty="0">
                <a:solidFill>
                  <a:srgbClr val="1F1F1F"/>
                </a:solidFill>
              </a:rPr>
              <a:t> acetaminophen — reasonable first-line for mild OA pain.</a:t>
            </a:r>
            <a:r>
              <a:rPr lang="en-US" sz="1300" dirty="0">
                <a:solidFill>
                  <a:srgbClr val="666666"/>
                </a:solidFill>
              </a:rPr>
              <a:t>  S43</a:t>
            </a:r>
            <a:endParaRPr lang="en-US" sz="1800" dirty="0"/>
          </a:p>
          <a:p>
            <a:pPr marL="228600" indent="-228600">
              <a:spcAft>
                <a:spcPts val="800"/>
              </a:spcAft>
              <a:buSzPct val="100000"/>
              <a:buChar char="•"/>
            </a:pPr>
            <a:r>
              <a:rPr lang="en-US" sz="1800" b="1" dirty="0">
                <a:solidFill>
                  <a:srgbClr val="1F1F1F"/>
                </a:solidFill>
              </a:rPr>
              <a:t>OA step 2:</a:t>
            </a:r>
            <a:r>
              <a:rPr lang="en-US" sz="1800" dirty="0">
                <a:solidFill>
                  <a:srgbClr val="1F1F1F"/>
                </a:solidFill>
              </a:rPr>
              <a:t> oral NSAIDs (effective, systemic risks) or topical NSAIDs (local relief, much lower systemic exposure).</a:t>
            </a:r>
            <a:r>
              <a:rPr lang="en-US" sz="1300" dirty="0">
                <a:solidFill>
                  <a:srgbClr val="666666"/>
                </a:solidFill>
              </a:rPr>
              <a:t>  S43</a:t>
            </a:r>
            <a:endParaRPr lang="en-US" sz="1800" dirty="0"/>
          </a:p>
          <a:p>
            <a:pPr marL="228600" indent="-228600">
              <a:spcAft>
                <a:spcPts val="800"/>
              </a:spcAft>
              <a:buSzPct val="100000"/>
              <a:buChar char="•"/>
            </a:pPr>
            <a:r>
              <a:rPr lang="en-US" sz="1800" b="1" dirty="0">
                <a:solidFill>
                  <a:srgbClr val="1F1F1F"/>
                </a:solidFill>
              </a:rPr>
              <a:t>Intra-articular corticosteroid injections:</a:t>
            </a:r>
            <a:r>
              <a:rPr lang="en-US" sz="1800" dirty="0">
                <a:solidFill>
                  <a:srgbClr val="1F1F1F"/>
                </a:solidFill>
              </a:rPr>
              <a:t> short-term relief for flares in a single joint.</a:t>
            </a:r>
            <a:r>
              <a:rPr lang="en-US" sz="1300" dirty="0">
                <a:solidFill>
                  <a:srgbClr val="666666"/>
                </a:solidFill>
              </a:rPr>
              <a:t>  S43</a:t>
            </a:r>
            <a:endParaRPr lang="en-US" sz="1800" dirty="0"/>
          </a:p>
          <a:p>
            <a:pPr marL="228600" indent="-228600">
              <a:spcAft>
                <a:spcPts val="800"/>
              </a:spcAft>
              <a:buSzPct val="100000"/>
              <a:buChar char="•"/>
            </a:pPr>
            <a:r>
              <a:rPr lang="en-US" sz="1800" dirty="0">
                <a:solidFill>
                  <a:srgbClr val="1F1F1F"/>
                </a:solidFill>
              </a:rPr>
              <a:t>Other approaches: activity modification, physical therapy, weight management.</a:t>
            </a:r>
            <a:r>
              <a:rPr lang="en-US" sz="1300" dirty="0">
                <a:solidFill>
                  <a:srgbClr val="666666"/>
                </a:solidFill>
              </a:rPr>
              <a:t>  S43</a:t>
            </a:r>
            <a:endParaRPr lang="en-US" sz="1800" dirty="0"/>
          </a:p>
          <a:p>
            <a:pPr marL="228600" indent="-228600">
              <a:spcAft>
                <a:spcPts val="800"/>
              </a:spcAft>
              <a:buSzPct val="100000"/>
              <a:buChar char="•"/>
            </a:pPr>
            <a:r>
              <a:rPr lang="en-US" sz="1800" b="1" dirty="0">
                <a:solidFill>
                  <a:srgbClr val="1F1F1F"/>
                </a:solidFill>
              </a:rPr>
              <a:t>Where each OA analgesic acts:</a:t>
            </a:r>
            <a:r>
              <a:rPr lang="en-US" sz="1800" dirty="0">
                <a:solidFill>
                  <a:srgbClr val="1F1F1F"/>
                </a:solidFill>
              </a:rPr>
              <a:t> acetaminophen centrally (brain and spinal cord COX) — little anti-inflammatory effect in the joint.</a:t>
            </a:r>
            <a:r>
              <a:rPr lang="en-US" sz="1300" dirty="0">
                <a:solidFill>
                  <a:srgbClr val="666666"/>
                </a:solidFill>
              </a:rPr>
              <a:t>  S44; S44 (notes)</a:t>
            </a:r>
            <a:endParaRPr lang="en-US" sz="1800" dirty="0"/>
          </a:p>
          <a:p>
            <a:pPr marL="228600" indent="-228600">
              <a:spcAft>
                <a:spcPts val="800"/>
              </a:spcAft>
              <a:buSzPct val="100000"/>
              <a:buChar char="•"/>
            </a:pPr>
            <a:r>
              <a:rPr lang="en-US" sz="1800" dirty="0">
                <a:solidFill>
                  <a:srgbClr val="1F1F1F"/>
                </a:solidFill>
              </a:rPr>
              <a:t>Oral or topical NSAIDs block COX in joint tissue (synovium and cartilage), lowering prostaglandins, pain, and swelling.</a:t>
            </a:r>
            <a:r>
              <a:rPr lang="en-US" sz="1300" dirty="0">
                <a:solidFill>
                  <a:srgbClr val="666666"/>
                </a:solidFill>
              </a:rPr>
              <a:t>  S44; S44 (notes)</a:t>
            </a:r>
            <a:endParaRPr lang="en-US" sz="18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OSTEOARTHRITIS, RHEUMATOID ARTHRITIS &amp; DMARDS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Indications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IO2.1 · IO2.2 · IO2.3 · IO2.4 · IO2.5 · IO2.6 · SO3 · SO4 · SO5</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81</a:t>
            </a:r>
            <a:endParaRPr lang="en-US" sz="1000" dirty="0"/>
          </a:p>
        </p:txBody>
      </p:sp>
      <p:sp>
        <p:nvSpPr>
          <p:cNvPr id="7" name="Indications (2/3) card"/>
          <p:cNvSpPr/>
          <p:nvPr/>
        </p:nvSpPr>
        <p:spPr>
          <a:xfrm>
            <a:off x="548640" y="1325880"/>
            <a:ext cx="11094415" cy="4498848"/>
          </a:xfrm>
          <a:prstGeom prst="roundRect">
            <a:avLst>
              <a:gd name="adj" fmla="val 2439"/>
            </a:avLst>
          </a:prstGeom>
          <a:solidFill>
            <a:srgbClr val="F2F4F7"/>
          </a:solidFill>
          <a:ln w="12700">
            <a:solidFill>
              <a:srgbClr val="F2F4F7"/>
            </a:solidFill>
            <a:prstDash val="solid"/>
          </a:ln>
        </p:spPr>
      </p:sp>
      <p:sp>
        <p:nvSpPr>
          <p:cNvPr id="8" name="Indications (2/3)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Indications (2/3)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ndications (2/3)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Indications (2/3)</a:t>
            </a:r>
            <a:endParaRPr lang="en-US" sz="1800" dirty="0"/>
          </a:p>
        </p:txBody>
      </p:sp>
      <p:sp>
        <p:nvSpPr>
          <p:cNvPr id="11" name="Indications (2/3) body"/>
          <p:cNvSpPr txBox="1"/>
          <p:nvPr/>
        </p:nvSpPr>
        <p:spPr>
          <a:xfrm>
            <a:off x="777240" y="2075688"/>
            <a:ext cx="10637215" cy="363016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An intra-articular steroid calms local inflammation inside the joint for fast, short-term flare relief. Choice depends on which tissue drives the pain.</a:t>
            </a:r>
            <a:r>
              <a:rPr lang="en-US" sz="1300" dirty="0">
                <a:solidFill>
                  <a:srgbClr val="666666"/>
                </a:solidFill>
              </a:rPr>
              <a:t>  S44; S44 (notes)</a:t>
            </a:r>
            <a:endParaRPr lang="en-US" sz="1800" dirty="0"/>
          </a:p>
          <a:p>
            <a:pPr marL="228600" indent="-228600">
              <a:spcAft>
                <a:spcPts val="800"/>
              </a:spcAft>
              <a:buSzPct val="100000"/>
              <a:buChar char="•"/>
            </a:pPr>
            <a:r>
              <a:rPr lang="en-US" sz="1800" dirty="0">
                <a:solidFill>
                  <a:srgbClr val="1F1F1F"/>
                </a:solidFill>
              </a:rPr>
              <a:t>Methotrexate anchors most RA regimens; leflunomide is the alternative when it is not tolerated.</a:t>
            </a:r>
            <a:r>
              <a:rPr lang="en-US" sz="1300" dirty="0">
                <a:solidFill>
                  <a:srgbClr val="666666"/>
                </a:solidFill>
              </a:rPr>
              <a:t>  S47</a:t>
            </a:r>
            <a:endParaRPr lang="en-US" sz="1800" dirty="0"/>
          </a:p>
          <a:p>
            <a:pPr marL="228600" indent="-228600">
              <a:spcAft>
                <a:spcPts val="800"/>
              </a:spcAft>
              <a:buSzPct val="100000"/>
              <a:buChar char="•"/>
            </a:pPr>
            <a:r>
              <a:rPr lang="en-US" sz="1800" dirty="0">
                <a:solidFill>
                  <a:srgbClr val="1F1F1F"/>
                </a:solidFill>
              </a:rPr>
              <a:t>Rheumatoid arthritis: they modify the disease course rather than only masking symptoms.</a:t>
            </a:r>
            <a:r>
              <a:rPr lang="en-US" sz="1300" dirty="0">
                <a:solidFill>
                  <a:srgbClr val="666666"/>
                </a:solidFill>
              </a:rPr>
              <a:t>  S61; SG U2-R6</a:t>
            </a:r>
            <a:endParaRPr lang="en-US" sz="1800" dirty="0"/>
          </a:p>
          <a:p>
            <a:pPr marL="228600" indent="-228600">
              <a:spcAft>
                <a:spcPts val="800"/>
              </a:spcAft>
              <a:buSzPct val="100000"/>
              <a:buChar char="•"/>
            </a:pPr>
            <a:r>
              <a:rPr lang="en-US" sz="1800" dirty="0">
                <a:solidFill>
                  <a:srgbClr val="1F1F1F"/>
                </a:solidFill>
              </a:rPr>
              <a:t>TNF inhibitors are the first-line biologic; tocilizumab works as monotherapy; rituximab is used after TNF-inhibitor failure.</a:t>
            </a:r>
            <a:r>
              <a:rPr lang="en-US" sz="1300" dirty="0">
                <a:solidFill>
                  <a:srgbClr val="666666"/>
                </a:solidFill>
              </a:rPr>
              <a:t>  S52</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Glucocorticoid drugs in rheumatic diseases:</a:t>
            </a:r>
            <a:r>
              <a:rPr lang="en-US" sz="1800" dirty="0">
                <a:solidFill>
                  <a:srgbClr val="1F1F1F"/>
                </a:solidFill>
              </a:rPr>
              <a:t> used chronically in 30–70% of RA patients; relief is prompt and dramatic, and they slow new bone erosions.</a:t>
            </a:r>
            <a:r>
              <a:rPr lang="en-US" sz="1300" dirty="0">
                <a:solidFill>
                  <a:srgbClr val="666666"/>
                </a:solidFill>
              </a:rPr>
              <a:t>  p. 693</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Long-term prednisone in RA: no more than 7.5 mg daily, tapered when possible — even 2.8 mg daily for over 5 years is linked to severe infections.</a:t>
            </a:r>
            <a:r>
              <a:rPr lang="en-US" sz="1300" dirty="0">
                <a:solidFill>
                  <a:srgbClr val="666666"/>
                </a:solidFill>
              </a:rPr>
              <a:t>  p. 693</a:t>
            </a:r>
            <a:endParaRPr lang="en-US" sz="18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OSTEOARTHRITIS, RHEUMATOID ARTHRITIS &amp; DMARDS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Indications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IO2.1 · IO2.2 · IO2.3 · IO2.4 · IO2.5 · IO2.6 · SO3 · SO4 · SO5</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82</a:t>
            </a:r>
            <a:endParaRPr lang="en-US" sz="1000" dirty="0"/>
          </a:p>
        </p:txBody>
      </p:sp>
      <p:sp>
        <p:nvSpPr>
          <p:cNvPr id="7" name="Indications (3/3) card"/>
          <p:cNvSpPr/>
          <p:nvPr/>
        </p:nvSpPr>
        <p:spPr>
          <a:xfrm>
            <a:off x="548640" y="1325880"/>
            <a:ext cx="11094415" cy="3163824"/>
          </a:xfrm>
          <a:prstGeom prst="roundRect">
            <a:avLst>
              <a:gd name="adj" fmla="val 3468"/>
            </a:avLst>
          </a:prstGeom>
          <a:solidFill>
            <a:srgbClr val="F2F4F7"/>
          </a:solidFill>
          <a:ln w="12700">
            <a:solidFill>
              <a:srgbClr val="F2F4F7"/>
            </a:solidFill>
            <a:prstDash val="solid"/>
          </a:ln>
        </p:spPr>
      </p:sp>
      <p:sp>
        <p:nvSpPr>
          <p:cNvPr id="8" name="Indications (3/3)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Indications (3/3)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ndications (3/3)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Indications (3/3)</a:t>
            </a:r>
            <a:endParaRPr lang="en-US" sz="1800" dirty="0"/>
          </a:p>
        </p:txBody>
      </p:sp>
      <p:sp>
        <p:nvSpPr>
          <p:cNvPr id="11" name="Indications (3/3) body"/>
          <p:cNvSpPr txBox="1"/>
          <p:nvPr/>
        </p:nvSpPr>
        <p:spPr>
          <a:xfrm>
            <a:off x="777240" y="2075688"/>
            <a:ext cx="10637215" cy="2295144"/>
          </a:xfrm>
          <a:prstGeom prst="rect">
            <a:avLst/>
          </a:prstGeom>
          <a:noFill/>
          <a:ln/>
        </p:spPr>
        <p:txBody>
          <a:bodyPr wrap="square" lIns="0" tIns="0" rIns="0" bIns="0" rtlCol="0" anchor="t"/>
          <a:lstStyle/>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Intra-articular corticosteroids often relieve painful symptoms for up to several months.</a:t>
            </a:r>
            <a:r>
              <a:rPr lang="en-US" sz="1300" dirty="0">
                <a:solidFill>
                  <a:srgbClr val="666666"/>
                </a:solidFill>
              </a:rPr>
              <a:t>  p. 693</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Long-term glucocorticoid harms: osteoporosis, hyperglycemia, Cushing syndrome, infections, cataract, glaucoma, gastric ulcer, depression.</a:t>
            </a:r>
            <a:r>
              <a:rPr lang="en-US" sz="1300" dirty="0">
                <a:solidFill>
                  <a:srgbClr val="666666"/>
                </a:solidFill>
              </a:rPr>
              <a:t>  p. 694</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Methotrexate starts at 7.5 mg weekly and rises to 15–25 mg weekly; it slows new erosions in RA.</a:t>
            </a:r>
            <a:r>
              <a:rPr lang="en-US" sz="1300" dirty="0">
                <a:solidFill>
                  <a:srgbClr val="666666"/>
                </a:solidFill>
              </a:rPr>
              <a:t>  p. 688</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Combination therapy with DMARDs</a:t>
            </a:r>
            <a:r>
              <a:rPr lang="en-US" sz="1800" dirty="0">
                <a:solidFill>
                  <a:srgbClr val="1F1F1F"/>
                </a:solidFill>
              </a:rPr>
              <a:t> is now the rule when monotherapy falls short; triple therapy (methotrexate, sulfasalazine, hydroxychloroquine) rivals etanercept plus methotrexate.</a:t>
            </a:r>
            <a:r>
              <a:rPr lang="en-US" sz="1300" dirty="0">
                <a:solidFill>
                  <a:srgbClr val="666666"/>
                </a:solidFill>
              </a:rPr>
              <a:t>  p. 693</a:t>
            </a:r>
            <a:endParaRPr lang="en-US" sz="14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OSTEOARTHRITIS, RHEUMATOID ARTHRITIS &amp; DMARDS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Adverse effects (boxed warnings first)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IO2.1 · IO2.2 · IO2.3 · IO2.4 · IO2.5 · IO2.6 · SO3 · SO4 · SO5</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83</a:t>
            </a:r>
            <a:endParaRPr lang="en-US" sz="1000" dirty="0"/>
          </a:p>
        </p:txBody>
      </p:sp>
      <p:sp>
        <p:nvSpPr>
          <p:cNvPr id="7" name="Adverse effects (boxed warnings first) (1/2) card"/>
          <p:cNvSpPr/>
          <p:nvPr/>
        </p:nvSpPr>
        <p:spPr>
          <a:xfrm>
            <a:off x="548640" y="1325880"/>
            <a:ext cx="11094415" cy="3442716"/>
          </a:xfrm>
          <a:prstGeom prst="roundRect">
            <a:avLst>
              <a:gd name="adj" fmla="val 3187"/>
            </a:avLst>
          </a:prstGeom>
          <a:solidFill>
            <a:srgbClr val="F2F4F7"/>
          </a:solidFill>
          <a:ln w="12700">
            <a:solidFill>
              <a:srgbClr val="F2F4F7"/>
            </a:solidFill>
            <a:prstDash val="solid"/>
          </a:ln>
        </p:spPr>
      </p:sp>
      <p:sp>
        <p:nvSpPr>
          <p:cNvPr id="8" name="Adverse effects (boxed warnings first) (1/2)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Adverse effects (boxed warnings first)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Adverse effects (boxed warnings first)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Adverse effects (boxed warnings first) (1/2)</a:t>
            </a:r>
            <a:endParaRPr lang="en-US" sz="1800" dirty="0"/>
          </a:p>
        </p:txBody>
      </p:sp>
      <p:sp>
        <p:nvSpPr>
          <p:cNvPr id="11" name="Adverse effects (boxed warnings first) (1/2) body"/>
          <p:cNvSpPr txBox="1"/>
          <p:nvPr/>
        </p:nvSpPr>
        <p:spPr>
          <a:xfrm>
            <a:off x="777240" y="2075688"/>
            <a:ext cx="10637215" cy="2574036"/>
          </a:xfrm>
          <a:prstGeom prst="rect">
            <a:avLst/>
          </a:prstGeom>
          <a:noFill/>
          <a:ln/>
        </p:spPr>
        <p:txBody>
          <a:bodyPr wrap="square" lIns="0" tIns="0" rIns="0" bIns="0" rtlCol="0" anchor="t"/>
          <a:lstStyle/>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Boxed warning — all TNF inhibitors:</a:t>
            </a:r>
            <a:r>
              <a:rPr lang="en-US" sz="1800" dirty="0">
                <a:solidFill>
                  <a:srgbClr val="1F1F1F"/>
                </a:solidFill>
              </a:rPr>
              <a:t> possible malignancy, especially lymphoma.</a:t>
            </a:r>
            <a:r>
              <a:rPr lang="en-US" sz="1300" dirty="0">
                <a:solidFill>
                  <a:srgbClr val="666666"/>
                </a:solidFill>
              </a:rPr>
              <a:t>  p. 692</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Boxed warning — all JAK inhibitors:</a:t>
            </a:r>
            <a:r>
              <a:rPr lang="en-US" sz="1800" dirty="0">
                <a:solidFill>
                  <a:srgbClr val="1F1F1F"/>
                </a:solidFill>
              </a:rPr>
              <a:t> venous thromboembolism (DVT, PE), major adverse cardiovascular events, and cancer.</a:t>
            </a:r>
            <a:r>
              <a:rPr lang="en-US" sz="1300" dirty="0">
                <a:solidFill>
                  <a:srgbClr val="666666"/>
                </a:solidFill>
              </a:rPr>
              <a:t>  p. 686</a:t>
            </a:r>
            <a:endParaRPr lang="en-US" sz="1400" dirty="0"/>
          </a:p>
          <a:p>
            <a:pPr marL="228600" indent="-228600">
              <a:spcAft>
                <a:spcPts val="800"/>
              </a:spcAft>
              <a:buSzPct val="100000"/>
              <a:buChar char="•"/>
            </a:pPr>
            <a:r>
              <a:rPr lang="en-US" sz="1800" dirty="0">
                <a:solidFill>
                  <a:srgbClr val="1F1F1F"/>
                </a:solidFill>
              </a:rPr>
              <a:t>Methotrexate key adverse effects: </a:t>
            </a:r>
            <a:r>
              <a:rPr lang="en-US" sz="1800" b="1" dirty="0">
                <a:solidFill>
                  <a:srgbClr val="1F1F1F"/>
                </a:solidFill>
              </a:rPr>
              <a:t>hepatotoxicity, bone marrow suppression, pulmonary toxicity.</a:t>
            </a:r>
            <a:r>
              <a:rPr lang="en-US" sz="1300" dirty="0">
                <a:solidFill>
                  <a:srgbClr val="666666"/>
                </a:solidFill>
              </a:rPr>
              <a:t>  S49; SG U2-R7</a:t>
            </a:r>
            <a:endParaRPr lang="en-US" sz="1400" dirty="0"/>
          </a:p>
          <a:p>
            <a:pPr marL="228600" indent="-228600">
              <a:spcAft>
                <a:spcPts val="800"/>
              </a:spcAft>
              <a:buSzPct val="100000"/>
              <a:buChar char="•"/>
            </a:pPr>
            <a:r>
              <a:rPr lang="en-US" sz="1800" b="1" dirty="0">
                <a:solidFill>
                  <a:srgbClr val="1F1F1F"/>
                </a:solidFill>
              </a:rPr>
              <a:t>The major safety theme across all DMARDs: immunosuppression → increased infection risk.</a:t>
            </a:r>
            <a:r>
              <a:rPr lang="en-US" sz="1800" dirty="0">
                <a:solidFill>
                  <a:srgbClr val="1F1F1F"/>
                </a:solidFill>
              </a:rPr>
              <a:t> This holds for conventional and biologic DMARDs alike.</a:t>
            </a:r>
            <a:r>
              <a:rPr lang="en-US" sz="1300" dirty="0">
                <a:solidFill>
                  <a:srgbClr val="666666"/>
                </a:solidFill>
              </a:rPr>
              <a:t>  S56; SG U2-R8</a:t>
            </a:r>
            <a:endParaRPr lang="en-US" sz="14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OSTEOARTHRITIS, RHEUMATOID ARTHRITIS &amp; DMARDS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Adverse effects (boxed warnings first)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IO2.1 · IO2.2 · IO2.3 · IO2.4 · IO2.5 · IO2.6 · SO3 · SO4 · SO5</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84</a:t>
            </a:r>
            <a:endParaRPr lang="en-US" sz="1000" dirty="0"/>
          </a:p>
        </p:txBody>
      </p:sp>
      <p:sp>
        <p:nvSpPr>
          <p:cNvPr id="7" name="Adverse effects (boxed warnings first) (2/2) card"/>
          <p:cNvSpPr/>
          <p:nvPr/>
        </p:nvSpPr>
        <p:spPr>
          <a:xfrm>
            <a:off x="548640" y="1325880"/>
            <a:ext cx="11094415" cy="3442716"/>
          </a:xfrm>
          <a:prstGeom prst="roundRect">
            <a:avLst>
              <a:gd name="adj" fmla="val 3187"/>
            </a:avLst>
          </a:prstGeom>
          <a:solidFill>
            <a:srgbClr val="F2F4F7"/>
          </a:solidFill>
          <a:ln w="12700">
            <a:solidFill>
              <a:srgbClr val="F2F4F7"/>
            </a:solidFill>
            <a:prstDash val="solid"/>
          </a:ln>
        </p:spPr>
      </p:sp>
      <p:sp>
        <p:nvSpPr>
          <p:cNvPr id="8" name="Adverse effects (boxed warnings first) (2/2)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Adverse effects (boxed warnings first)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Adverse effects (boxed warnings first)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Adverse effects (boxed warnings first) (2/2)</a:t>
            </a:r>
            <a:endParaRPr lang="en-US" sz="1800" dirty="0"/>
          </a:p>
        </p:txBody>
      </p:sp>
      <p:sp>
        <p:nvSpPr>
          <p:cNvPr id="11" name="Adverse effects (boxed warnings first) (2/2) body"/>
          <p:cNvSpPr txBox="1"/>
          <p:nvPr/>
        </p:nvSpPr>
        <p:spPr>
          <a:xfrm>
            <a:off x="777240" y="2075688"/>
            <a:ext cx="10637215" cy="2574036"/>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Risk:</a:t>
            </a:r>
            <a:r>
              <a:rPr lang="en-US" sz="1800" dirty="0">
                <a:solidFill>
                  <a:srgbClr val="1F1F1F"/>
                </a:solidFill>
              </a:rPr>
              <a:t> suppressed immunity lets latent TB and opportunistic infections (TB, viral, fungal) emerge.</a:t>
            </a:r>
            <a:r>
              <a:rPr lang="en-US" sz="1300" dirty="0">
                <a:solidFill>
                  <a:srgbClr val="666666"/>
                </a:solidFill>
              </a:rPr>
              <a:t>  S57</a:t>
            </a:r>
            <a:endParaRPr lang="en-US" sz="1800" dirty="0"/>
          </a:p>
          <a:p>
            <a:pPr marL="228600" indent="-228600">
              <a:spcAft>
                <a:spcPts val="800"/>
              </a:spcAft>
              <a:buSzPct val="100000"/>
              <a:buChar char="•"/>
            </a:pPr>
            <a:r>
              <a:rPr lang="en-US" sz="1800" dirty="0">
                <a:solidFill>
                  <a:srgbClr val="1F1F1F"/>
                </a:solidFill>
              </a:rPr>
              <a:t>TNF inhibitors: watch for reactivation of latent TB. Tocilizumab can raise lipids and liver enzymes. Abatacept has a generally lower infection signal.</a:t>
            </a:r>
            <a:r>
              <a:rPr lang="en-US" sz="1300" dirty="0">
                <a:solidFill>
                  <a:srgbClr val="666666"/>
                </a:solidFill>
              </a:rPr>
              <a:t>  S52</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Methotrexate’s most common toxicities are nausea and stomatitis; dose-related liver enzyme elevations are frequent.</a:t>
            </a:r>
            <a:r>
              <a:rPr lang="en-US" sz="1300" dirty="0">
                <a:solidFill>
                  <a:srgbClr val="666666"/>
                </a:solidFill>
              </a:rPr>
              <a:t>  p. 689</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TNF inhibitors: TB reactivation, fungal infections, hepatitis B reactivation, new or worse heart failure, demyelinating disease, lupus-like syndrome.</a:t>
            </a:r>
            <a:r>
              <a:rPr lang="en-US" sz="1300" dirty="0">
                <a:solidFill>
                  <a:srgbClr val="666666"/>
                </a:solidFill>
              </a:rPr>
              <a:t>  p. 690; p. 692</a:t>
            </a:r>
            <a:endParaRPr lang="en-US" sz="18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OSTEOARTHRITIS, RHEUMATOID ARTHRITIS &amp; DMARDS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Contraindications · Drug interactions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IO2.1 · IO2.2 · IO2.3 · IO2.4 · IO2.5 · IO2.6 · SO3 · SO4 · SO5</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85</a:t>
            </a:r>
            <a:endParaRPr lang="en-US" sz="1000" dirty="0"/>
          </a:p>
        </p:txBody>
      </p:sp>
      <p:sp>
        <p:nvSpPr>
          <p:cNvPr id="7" name="Contraindications card"/>
          <p:cNvSpPr/>
          <p:nvPr/>
        </p:nvSpPr>
        <p:spPr>
          <a:xfrm>
            <a:off x="548640" y="1325880"/>
            <a:ext cx="5410048" cy="3611880"/>
          </a:xfrm>
          <a:prstGeom prst="roundRect">
            <a:avLst>
              <a:gd name="adj" fmla="val 3038"/>
            </a:avLst>
          </a:prstGeom>
          <a:solidFill>
            <a:srgbClr val="F2F4F7"/>
          </a:solidFill>
          <a:ln w="12700">
            <a:solidFill>
              <a:srgbClr val="F2F4F7"/>
            </a:solidFill>
            <a:prstDash val="solid"/>
          </a:ln>
        </p:spPr>
      </p:sp>
      <p:sp>
        <p:nvSpPr>
          <p:cNvPr id="8" name="Contraindications icon circle"/>
          <p:cNvSpPr/>
          <p:nvPr/>
        </p:nvSpPr>
        <p:spPr>
          <a:xfrm>
            <a:off x="777240" y="1508760"/>
            <a:ext cx="438912" cy="438912"/>
          </a:xfrm>
          <a:prstGeom prst="ellipse">
            <a:avLst/>
          </a:prstGeom>
          <a:solidFill>
            <a:srgbClr val="C00000"/>
          </a:solidFill>
          <a:ln w="12700">
            <a:solidFill>
              <a:srgbClr val="C00000"/>
            </a:solidFill>
            <a:prstDash val="solid"/>
          </a:ln>
        </p:spPr>
      </p:sp>
      <p:pic>
        <p:nvPicPr>
          <p:cNvPr id="9" name="Contraindica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ontraindication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C00000"/>
                </a:solidFill>
              </a:rPr>
              <a:t>Contraindications</a:t>
            </a:r>
            <a:endParaRPr lang="en-US" sz="1800" dirty="0"/>
          </a:p>
        </p:txBody>
      </p:sp>
      <p:sp>
        <p:nvSpPr>
          <p:cNvPr id="11" name="Contraindications body"/>
          <p:cNvSpPr txBox="1"/>
          <p:nvPr/>
        </p:nvSpPr>
        <p:spPr>
          <a:xfrm>
            <a:off x="777240" y="2075688"/>
            <a:ext cx="4952848" cy="2743200"/>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Methotrexate is contraindicated in pregnancy (teratogenic).</a:t>
            </a:r>
            <a:r>
              <a:rPr lang="en-US" sz="1300" dirty="0">
                <a:solidFill>
                  <a:srgbClr val="666666"/>
                </a:solidFill>
              </a:rPr>
              <a:t>  S49; S50 (notes)</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Don’t stack biologics: abatacept with a TNF inhibitor probably raises serious infections; upadacitinib with biologic DMARDs is not recommended.</a:t>
            </a:r>
            <a:r>
              <a:rPr lang="en-US" sz="1300" dirty="0">
                <a:solidFill>
                  <a:srgbClr val="666666"/>
                </a:solidFill>
              </a:rPr>
              <a:t>  p. 682; p. 687</a:t>
            </a:r>
            <a:endParaRPr lang="en-US" sz="1800" dirty="0"/>
          </a:p>
        </p:txBody>
      </p:sp>
      <p:sp>
        <p:nvSpPr>
          <p:cNvPr id="12" name="Drug interactions card"/>
          <p:cNvSpPr/>
          <p:nvPr/>
        </p:nvSpPr>
        <p:spPr>
          <a:xfrm>
            <a:off x="6233008" y="1325880"/>
            <a:ext cx="5410048" cy="3611880"/>
          </a:xfrm>
          <a:prstGeom prst="roundRect">
            <a:avLst>
              <a:gd name="adj" fmla="val 3038"/>
            </a:avLst>
          </a:prstGeom>
          <a:solidFill>
            <a:srgbClr val="F2F4F7"/>
          </a:solidFill>
          <a:ln w="12700">
            <a:solidFill>
              <a:srgbClr val="F2F4F7"/>
            </a:solidFill>
            <a:prstDash val="solid"/>
          </a:ln>
        </p:spPr>
      </p:sp>
      <p:sp>
        <p:nvSpPr>
          <p:cNvPr id="13" name="Drug interactions icon circle"/>
          <p:cNvSpPr/>
          <p:nvPr/>
        </p:nvSpPr>
        <p:spPr>
          <a:xfrm>
            <a:off x="6461608" y="1508760"/>
            <a:ext cx="438912" cy="438912"/>
          </a:xfrm>
          <a:prstGeom prst="ellipse">
            <a:avLst/>
          </a:prstGeom>
          <a:solidFill>
            <a:srgbClr val="7F6000"/>
          </a:solidFill>
          <a:ln w="12700">
            <a:solidFill>
              <a:srgbClr val="7F6000"/>
            </a:solidFill>
            <a:prstDash val="solid"/>
          </a:ln>
        </p:spPr>
      </p:sp>
      <p:pic>
        <p:nvPicPr>
          <p:cNvPr id="14" name="Drug interaction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Drug interaction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7F6000"/>
                </a:solidFill>
              </a:rPr>
              <a:t>Drug interactions</a:t>
            </a:r>
            <a:endParaRPr lang="en-US" sz="1800" dirty="0"/>
          </a:p>
        </p:txBody>
      </p:sp>
      <p:sp>
        <p:nvSpPr>
          <p:cNvPr id="16" name="Drug interactions body"/>
          <p:cNvSpPr txBox="1"/>
          <p:nvPr/>
        </p:nvSpPr>
        <p:spPr>
          <a:xfrm>
            <a:off x="6461608" y="2075688"/>
            <a:ext cx="4952848" cy="2743200"/>
          </a:xfrm>
          <a:prstGeom prst="rect">
            <a:avLst/>
          </a:prstGeom>
          <a:noFill/>
          <a:ln/>
        </p:spPr>
        <p:txBody>
          <a:bodyPr wrap="square" lIns="0" tIns="0" rIns="0" bIns="0" rtlCol="0" anchor="t"/>
          <a:lstStyle/>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Hydroxychloroquine can reduce methotrexate clearance.</a:t>
            </a:r>
            <a:r>
              <a:rPr lang="en-US" sz="1300" dirty="0">
                <a:solidFill>
                  <a:srgbClr val="666666"/>
                </a:solidFill>
              </a:rPr>
              <a:t>  p. 688</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Tocilizumab stimulates CYP450 — doses of cyclosporine or warfarin may need adjusting.</a:t>
            </a:r>
            <a:r>
              <a:rPr lang="en-US" sz="1300" dirty="0">
                <a:solidFill>
                  <a:srgbClr val="666666"/>
                </a:solidFill>
              </a:rPr>
              <a:t>  p. 692</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Methotrexate given with TNF inhibitors reduces anti-drug antibodies (infliximab, golimumab, certolizumab).</a:t>
            </a:r>
            <a:r>
              <a:rPr lang="en-US" sz="1300" dirty="0">
                <a:solidFill>
                  <a:srgbClr val="666666"/>
                </a:solidFill>
              </a:rPr>
              <a:t>  p. 691; p. 692</a:t>
            </a:r>
            <a:endParaRPr lang="en-US" sz="14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OSTEOARTHRITIS, RHEUMATOID ARTHRITIS &amp; DMARDS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Pharmacokinetics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IO2.1 · IO2.2 · IO2.3 · IO2.4 · IO2.5 · IO2.6 · SO3 · SO4 · SO5</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86</a:t>
            </a:r>
            <a:endParaRPr lang="en-US" sz="1000" dirty="0"/>
          </a:p>
        </p:txBody>
      </p:sp>
      <p:sp>
        <p:nvSpPr>
          <p:cNvPr id="7" name="Pharmacokinetics card"/>
          <p:cNvSpPr/>
          <p:nvPr/>
        </p:nvSpPr>
        <p:spPr>
          <a:xfrm>
            <a:off x="548640" y="1325880"/>
            <a:ext cx="11094415" cy="2107692"/>
          </a:xfrm>
          <a:prstGeom prst="roundRect">
            <a:avLst>
              <a:gd name="adj" fmla="val 5206"/>
            </a:avLst>
          </a:prstGeom>
          <a:solidFill>
            <a:srgbClr val="F2F4F7"/>
          </a:solidFill>
          <a:ln w="12700">
            <a:solidFill>
              <a:srgbClr val="F2F4F7"/>
            </a:solidFill>
            <a:prstDash val="solid"/>
          </a:ln>
        </p:spPr>
      </p:sp>
      <p:sp>
        <p:nvSpPr>
          <p:cNvPr id="8" name="Pharmacokinetics icon circle"/>
          <p:cNvSpPr/>
          <p:nvPr/>
        </p:nvSpPr>
        <p:spPr>
          <a:xfrm>
            <a:off x="777240" y="1508760"/>
            <a:ext cx="438912" cy="438912"/>
          </a:xfrm>
          <a:prstGeom prst="ellipse">
            <a:avLst/>
          </a:prstGeom>
          <a:solidFill>
            <a:srgbClr val="2E75B6"/>
          </a:solidFill>
          <a:ln w="12700">
            <a:solidFill>
              <a:srgbClr val="2E75B6"/>
            </a:solidFill>
            <a:prstDash val="solid"/>
          </a:ln>
        </p:spPr>
      </p:sp>
      <p:pic>
        <p:nvPicPr>
          <p:cNvPr id="9" name="Pharmacokinetic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Pharmacokinetic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2E75B6"/>
                </a:solidFill>
              </a:rPr>
              <a:t>Pharmacokinetics</a:t>
            </a:r>
            <a:endParaRPr lang="en-US" sz="1800" dirty="0"/>
          </a:p>
        </p:txBody>
      </p:sp>
      <p:sp>
        <p:nvSpPr>
          <p:cNvPr id="11" name="Pharmacokinetics body"/>
          <p:cNvSpPr txBox="1"/>
          <p:nvPr/>
        </p:nvSpPr>
        <p:spPr>
          <a:xfrm>
            <a:off x="777240" y="2075688"/>
            <a:ext cx="10637215" cy="1239012"/>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Methotrexate is dosed weekly (not daily) — a critical patient-safety point, since daily dosing can be fatal.</a:t>
            </a:r>
            <a:r>
              <a:rPr lang="en-US" sz="1300" dirty="0">
                <a:solidFill>
                  <a:srgbClr val="666666"/>
                </a:solidFill>
              </a:rPr>
              <a:t>  S49; SG U2-R7</a:t>
            </a:r>
            <a:endParaRPr lang="en-US" sz="1800" dirty="0"/>
          </a:p>
          <a:p>
            <a:pPr marL="228600" indent="-228600">
              <a:spcAft>
                <a:spcPts val="800"/>
              </a:spcAft>
              <a:buSzPct val="100000"/>
              <a:buChar char="•"/>
            </a:pPr>
            <a:r>
              <a:rPr lang="en-US" sz="1800" b="1" dirty="0">
                <a:solidFill>
                  <a:srgbClr val="1F1F1F"/>
                </a:solidFill>
              </a:rPr>
              <a:t>Weekly dosing only:</a:t>
            </a:r>
            <a:r>
              <a:rPr lang="en-US" sz="1800" dirty="0">
                <a:solidFill>
                  <a:srgbClr val="1F1F1F"/>
                </a:solidFill>
              </a:rPr>
              <a:t> daily dosing has caused fatal toxicity.</a:t>
            </a:r>
            <a:r>
              <a:rPr lang="en-US" sz="1300" dirty="0">
                <a:solidFill>
                  <a:srgbClr val="666666"/>
                </a:solidFill>
              </a:rPr>
              <a:t>  S50; S49 (notes)</a:t>
            </a:r>
            <a:endParaRPr lang="en-US" sz="18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OSTEOARTHRITIS, RHEUMATOID ARTHRITIS &amp; DMARDS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Monitoring</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IO2.1 · IO2.2 · IO2.3 · IO2.4 · IO2.5 · IO2.6 · SO3 · SO4 · SO5</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87</a:t>
            </a:r>
            <a:endParaRPr lang="en-US" sz="1000" dirty="0"/>
          </a:p>
        </p:txBody>
      </p:sp>
      <p:sp>
        <p:nvSpPr>
          <p:cNvPr id="7" name="Monitoring (1/2) card"/>
          <p:cNvSpPr/>
          <p:nvPr/>
        </p:nvSpPr>
        <p:spPr>
          <a:xfrm>
            <a:off x="548640" y="1325880"/>
            <a:ext cx="11094415" cy="3383280"/>
          </a:xfrm>
          <a:prstGeom prst="roundRect">
            <a:avLst>
              <a:gd name="adj" fmla="val 3243"/>
            </a:avLst>
          </a:prstGeom>
          <a:solidFill>
            <a:srgbClr val="F2F4F7"/>
          </a:solidFill>
          <a:ln w="12700">
            <a:solidFill>
              <a:srgbClr val="F2F4F7"/>
            </a:solidFill>
            <a:prstDash val="solid"/>
          </a:ln>
        </p:spPr>
      </p:sp>
      <p:sp>
        <p:nvSpPr>
          <p:cNvPr id="8" name="Monitoring (1/2) icon circle"/>
          <p:cNvSpPr/>
          <p:nvPr/>
        </p:nvSpPr>
        <p:spPr>
          <a:xfrm>
            <a:off x="777240" y="1508760"/>
            <a:ext cx="438912" cy="438912"/>
          </a:xfrm>
          <a:prstGeom prst="ellipse">
            <a:avLst/>
          </a:prstGeom>
          <a:solidFill>
            <a:srgbClr val="1F7A7A"/>
          </a:solidFill>
          <a:ln w="12700">
            <a:solidFill>
              <a:srgbClr val="1F7A7A"/>
            </a:solidFill>
            <a:prstDash val="solid"/>
          </a:ln>
        </p:spPr>
      </p:sp>
      <p:pic>
        <p:nvPicPr>
          <p:cNvPr id="9" name="Monitoring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Monitoring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1F7A7A"/>
                </a:solidFill>
              </a:rPr>
              <a:t>Monitoring (1/2)</a:t>
            </a:r>
            <a:endParaRPr lang="en-US" sz="1800" dirty="0"/>
          </a:p>
        </p:txBody>
      </p:sp>
      <p:sp>
        <p:nvSpPr>
          <p:cNvPr id="11" name="Monitoring (1/2) body"/>
          <p:cNvSpPr txBox="1"/>
          <p:nvPr/>
        </p:nvSpPr>
        <p:spPr>
          <a:xfrm>
            <a:off x="777240" y="2075688"/>
            <a:ext cx="10637215" cy="2514600"/>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Folate supplementation</a:t>
            </a:r>
            <a:r>
              <a:rPr lang="en-US" sz="1800" dirty="0">
                <a:solidFill>
                  <a:srgbClr val="1F1F1F"/>
                </a:solidFill>
              </a:rPr>
              <a:t> is routinely co-prescribed with methotrexate to reduce toxicity.</a:t>
            </a:r>
            <a:r>
              <a:rPr lang="en-US" sz="1300" dirty="0">
                <a:solidFill>
                  <a:srgbClr val="666666"/>
                </a:solidFill>
              </a:rPr>
              <a:t>  S49; SG U2-R7</a:t>
            </a:r>
            <a:endParaRPr lang="en-US" sz="1800" dirty="0"/>
          </a:p>
          <a:p>
            <a:pPr marL="228600" indent="-228600">
              <a:spcAft>
                <a:spcPts val="800"/>
              </a:spcAft>
              <a:buSzPct val="100000"/>
              <a:buChar char="•"/>
            </a:pPr>
            <a:r>
              <a:rPr lang="en-US" sz="1800" dirty="0">
                <a:solidFill>
                  <a:srgbClr val="1F1F1F"/>
                </a:solidFill>
              </a:rPr>
              <a:t>Folic acid co-therapy reduces methotrexate’s liver, marrow, lung, and GI toxicity.</a:t>
            </a:r>
            <a:r>
              <a:rPr lang="en-US" sz="1300" dirty="0">
                <a:solidFill>
                  <a:srgbClr val="666666"/>
                </a:solidFill>
              </a:rPr>
              <a:t>  S50; S50 (notes)</a:t>
            </a:r>
            <a:endParaRPr lang="en-US" sz="1800" dirty="0"/>
          </a:p>
          <a:p>
            <a:pPr marL="228600" indent="-228600">
              <a:spcAft>
                <a:spcPts val="800"/>
              </a:spcAft>
              <a:buSzPct val="100000"/>
              <a:buChar char="•"/>
            </a:pPr>
            <a:r>
              <a:rPr lang="en-US" sz="1800" b="1" dirty="0">
                <a:solidFill>
                  <a:srgbClr val="1F1F1F"/>
                </a:solidFill>
              </a:rPr>
              <a:t>Baseline screening:</a:t>
            </a:r>
            <a:r>
              <a:rPr lang="en-US" sz="1800" dirty="0">
                <a:solidFill>
                  <a:srgbClr val="1F1F1F"/>
                </a:solidFill>
              </a:rPr>
              <a:t> e.g., tuberculosis and hepatitis B/C screening before starting biologics.</a:t>
            </a:r>
            <a:r>
              <a:rPr lang="en-US" sz="1300" dirty="0">
                <a:solidFill>
                  <a:srgbClr val="666666"/>
                </a:solidFill>
              </a:rPr>
              <a:t>  S56</a:t>
            </a:r>
            <a:endParaRPr lang="en-US" sz="1800" dirty="0"/>
          </a:p>
          <a:p>
            <a:pPr marL="228600" indent="-228600">
              <a:spcAft>
                <a:spcPts val="800"/>
              </a:spcAft>
              <a:buSzPct val="100000"/>
              <a:buChar char="•"/>
            </a:pPr>
            <a:r>
              <a:rPr lang="en-US" sz="1800" b="1" dirty="0">
                <a:solidFill>
                  <a:srgbClr val="1F1F1F"/>
                </a:solidFill>
              </a:rPr>
              <a:t>Vaccination:</a:t>
            </a:r>
            <a:r>
              <a:rPr lang="en-US" sz="1800" dirty="0">
                <a:solidFill>
                  <a:srgbClr val="1F1F1F"/>
                </a:solidFill>
              </a:rPr>
              <a:t> update vaccines, especially live vaccines, before starting therapy.</a:t>
            </a:r>
            <a:r>
              <a:rPr lang="en-US" sz="1300" dirty="0">
                <a:solidFill>
                  <a:srgbClr val="666666"/>
                </a:solidFill>
              </a:rPr>
              <a:t>  S56</a:t>
            </a:r>
            <a:endParaRPr lang="en-US" sz="1800" dirty="0"/>
          </a:p>
          <a:p>
            <a:pPr marL="228600" indent="-228600">
              <a:spcAft>
                <a:spcPts val="800"/>
              </a:spcAft>
              <a:buSzPct val="100000"/>
              <a:buChar char="•"/>
            </a:pPr>
            <a:r>
              <a:rPr lang="en-US" sz="1800" b="1" dirty="0">
                <a:solidFill>
                  <a:srgbClr val="1F1F1F"/>
                </a:solidFill>
              </a:rPr>
              <a:t>Ongoing monitoring:</a:t>
            </a:r>
            <a:r>
              <a:rPr lang="en-US" sz="1800" dirty="0">
                <a:solidFill>
                  <a:srgbClr val="1F1F1F"/>
                </a:solidFill>
              </a:rPr>
              <a:t> regular labs to catch cytopenias, hepatotoxicity, or infection early.</a:t>
            </a:r>
            <a:r>
              <a:rPr lang="en-US" sz="1300" dirty="0">
                <a:solidFill>
                  <a:srgbClr val="666666"/>
                </a:solidFill>
              </a:rPr>
              <a:t>  S56</a:t>
            </a:r>
            <a:endParaRPr lang="en-US" sz="1800" dirty="0"/>
          </a:p>
          <a:p>
            <a:pPr marL="228600" indent="-228600">
              <a:spcAft>
                <a:spcPts val="800"/>
              </a:spcAft>
              <a:buSzPct val="100000"/>
              <a:buChar char="•"/>
            </a:pPr>
            <a:r>
              <a:rPr lang="en-US" sz="1800" b="1" dirty="0">
                <a:solidFill>
                  <a:srgbClr val="1F1F1F"/>
                </a:solidFill>
              </a:rPr>
              <a:t>Infection precautions:</a:t>
            </a:r>
            <a:r>
              <a:rPr lang="en-US" sz="1800" dirty="0">
                <a:solidFill>
                  <a:srgbClr val="1F1F1F"/>
                </a:solidFill>
              </a:rPr>
              <a:t> counsel patients to report fevers or infection symptoms promptly.</a:t>
            </a:r>
            <a:r>
              <a:rPr lang="en-US" sz="1300" dirty="0">
                <a:solidFill>
                  <a:srgbClr val="666666"/>
                </a:solidFill>
              </a:rPr>
              <a:t>  S56</a:t>
            </a:r>
            <a:endParaRPr lang="en-US" sz="18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OSTEOARTHRITIS, RHEUMATOID ARTHRITIS &amp; DMARDS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Monitoring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IO2.1 · IO2.2 · IO2.3 · IO2.4 · IO2.5 · IO2.6 · SO3 · SO4 · SO5</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88</a:t>
            </a:r>
            <a:endParaRPr lang="en-US" sz="1000" dirty="0"/>
          </a:p>
        </p:txBody>
      </p:sp>
      <p:sp>
        <p:nvSpPr>
          <p:cNvPr id="7" name="Monitoring (2/2) card"/>
          <p:cNvSpPr/>
          <p:nvPr/>
        </p:nvSpPr>
        <p:spPr>
          <a:xfrm>
            <a:off x="548640" y="1325880"/>
            <a:ext cx="11094415" cy="4219956"/>
          </a:xfrm>
          <a:prstGeom prst="roundRect">
            <a:avLst>
              <a:gd name="adj" fmla="val 2600"/>
            </a:avLst>
          </a:prstGeom>
          <a:solidFill>
            <a:srgbClr val="F2F4F7"/>
          </a:solidFill>
          <a:ln w="12700">
            <a:solidFill>
              <a:srgbClr val="F2F4F7"/>
            </a:solidFill>
            <a:prstDash val="solid"/>
          </a:ln>
        </p:spPr>
      </p:sp>
      <p:sp>
        <p:nvSpPr>
          <p:cNvPr id="8" name="Monitoring (2/2) icon circle"/>
          <p:cNvSpPr/>
          <p:nvPr/>
        </p:nvSpPr>
        <p:spPr>
          <a:xfrm>
            <a:off x="777240" y="1508760"/>
            <a:ext cx="438912" cy="438912"/>
          </a:xfrm>
          <a:prstGeom prst="ellipse">
            <a:avLst/>
          </a:prstGeom>
          <a:solidFill>
            <a:srgbClr val="1F7A7A"/>
          </a:solidFill>
          <a:ln w="12700">
            <a:solidFill>
              <a:srgbClr val="1F7A7A"/>
            </a:solidFill>
            <a:prstDash val="solid"/>
          </a:ln>
        </p:spPr>
      </p:sp>
      <p:pic>
        <p:nvPicPr>
          <p:cNvPr id="9" name="Monitoring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Monitoring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1F7A7A"/>
                </a:solidFill>
              </a:rPr>
              <a:t>Monitoring (2/2)</a:t>
            </a:r>
            <a:endParaRPr lang="en-US" sz="1800" dirty="0"/>
          </a:p>
        </p:txBody>
      </p:sp>
      <p:sp>
        <p:nvSpPr>
          <p:cNvPr id="11" name="Monitoring (2/2) body"/>
          <p:cNvSpPr txBox="1"/>
          <p:nvPr/>
        </p:nvSpPr>
        <p:spPr>
          <a:xfrm>
            <a:off x="777240" y="2075688"/>
            <a:ext cx="10637215" cy="3351276"/>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Screen first:</a:t>
            </a:r>
            <a:r>
              <a:rPr lang="en-US" sz="1800" dirty="0">
                <a:solidFill>
                  <a:srgbClr val="1F1F1F"/>
                </a:solidFill>
              </a:rPr>
              <a:t> TB test (IGRA or TST) and hepatitis B and C serology before starting; check hepatitis B before rituximab.</a:t>
            </a:r>
            <a:r>
              <a:rPr lang="en-US" sz="1300" dirty="0">
                <a:solidFill>
                  <a:srgbClr val="666666"/>
                </a:solidFill>
              </a:rPr>
              <a:t>  S57; S52</a:t>
            </a:r>
            <a:endParaRPr lang="en-US" sz="1800" dirty="0"/>
          </a:p>
          <a:p>
            <a:pPr marL="228600" indent="-228600">
              <a:spcAft>
                <a:spcPts val="800"/>
              </a:spcAft>
              <a:buSzPct val="100000"/>
              <a:buChar char="•"/>
            </a:pPr>
            <a:r>
              <a:rPr lang="en-US" sz="1800" b="1" dirty="0">
                <a:solidFill>
                  <a:srgbClr val="1F1F1F"/>
                </a:solidFill>
              </a:rPr>
              <a:t>Vaccines:</a:t>
            </a:r>
            <a:r>
              <a:rPr lang="en-US" sz="1800" dirty="0">
                <a:solidFill>
                  <a:srgbClr val="1F1F1F"/>
                </a:solidFill>
              </a:rPr>
              <a:t> update non-live vaccines before treatment.</a:t>
            </a:r>
            <a:r>
              <a:rPr lang="en-US" sz="1300" dirty="0">
                <a:solidFill>
                  <a:srgbClr val="666666"/>
                </a:solidFill>
              </a:rPr>
              <a:t>  S57; S57 (notes)</a:t>
            </a:r>
            <a:endParaRPr lang="en-US" sz="1800" dirty="0"/>
          </a:p>
          <a:p>
            <a:pPr marL="228600" indent="-228600">
              <a:spcAft>
                <a:spcPts val="800"/>
              </a:spcAft>
              <a:buSzPct val="100000"/>
              <a:buChar char="•"/>
            </a:pPr>
            <a:r>
              <a:rPr lang="en-US" sz="1800" b="1" dirty="0">
                <a:solidFill>
                  <a:srgbClr val="1F1F1F"/>
                </a:solidFill>
              </a:rPr>
              <a:t>Monitor:</a:t>
            </a:r>
            <a:r>
              <a:rPr lang="en-US" sz="1800" dirty="0">
                <a:solidFill>
                  <a:srgbClr val="1F1F1F"/>
                </a:solidFill>
              </a:rPr>
              <a:t> CBC and liver and kidney labs every 1–3 months; act early on fever or infection signs.</a:t>
            </a:r>
            <a:r>
              <a:rPr lang="en-US" sz="1300" dirty="0">
                <a:solidFill>
                  <a:srgbClr val="666666"/>
                </a:solidFill>
              </a:rPr>
              <a:t>  S57; S57 (notes)</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Folic acid or leucovorin reduces stomatitis, GI, and liver test problems but may cut methotrexate efficacy by 10–18%.</a:t>
            </a:r>
            <a:r>
              <a:rPr lang="en-US" sz="1300" dirty="0">
                <a:solidFill>
                  <a:srgbClr val="666666"/>
                </a:solidFill>
              </a:rPr>
              <a:t>  p. 689</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Hydroxychloroquine: baseline eye exam, then annual screening after 5 years (retinopathy).</a:t>
            </a:r>
            <a:r>
              <a:rPr lang="en-US" sz="1300" dirty="0">
                <a:solidFill>
                  <a:srgbClr val="666666"/>
                </a:solidFill>
              </a:rPr>
              <a:t>  p. 684</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Avoid live vaccines for up to 3 months after stopping abatacept; stop upadacitinib before a live attenuated vaccine.</a:t>
            </a:r>
            <a:r>
              <a:rPr lang="en-US" sz="1300" dirty="0">
                <a:solidFill>
                  <a:srgbClr val="666666"/>
                </a:solidFill>
              </a:rPr>
              <a:t>  p. 682; p. 687</a:t>
            </a:r>
            <a:endParaRPr lang="en-US" sz="18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OSTEOARTHRITIS, RHEUMATOID ARTHRITIS &amp; DMARDS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pearls / "why" hook</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IO2.1 · IO2.2 · IO2.3 · IO2.4 · IO2.5 · IO2.6 · SO3 · SO4 · SO5</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89</a:t>
            </a:r>
            <a:endParaRPr lang="en-US" sz="1000" dirty="0"/>
          </a:p>
        </p:txBody>
      </p:sp>
      <p:sp>
        <p:nvSpPr>
          <p:cNvPr id="7" name="Clinical pearls / &quot;why&quot; hook (1/2) card"/>
          <p:cNvSpPr/>
          <p:nvPr/>
        </p:nvSpPr>
        <p:spPr>
          <a:xfrm>
            <a:off x="548640" y="1325880"/>
            <a:ext cx="11094415" cy="3721608"/>
          </a:xfrm>
          <a:prstGeom prst="roundRect">
            <a:avLst>
              <a:gd name="adj" fmla="val 2948"/>
            </a:avLst>
          </a:prstGeom>
          <a:solidFill>
            <a:srgbClr val="F2F4F7"/>
          </a:solidFill>
          <a:ln w="12700">
            <a:solidFill>
              <a:srgbClr val="F2F4F7"/>
            </a:solidFill>
            <a:prstDash val="solid"/>
          </a:ln>
        </p:spPr>
      </p:sp>
      <p:sp>
        <p:nvSpPr>
          <p:cNvPr id="8" name="Clinical pearls / &quot;why&quot; hook (1/2) icon circle"/>
          <p:cNvSpPr/>
          <p:nvPr/>
        </p:nvSpPr>
        <p:spPr>
          <a:xfrm>
            <a:off x="777240" y="1508760"/>
            <a:ext cx="438912" cy="438912"/>
          </a:xfrm>
          <a:prstGeom prst="ellipse">
            <a:avLst/>
          </a:prstGeom>
          <a:solidFill>
            <a:srgbClr val="2E75B6"/>
          </a:solidFill>
          <a:ln w="12700">
            <a:solidFill>
              <a:srgbClr val="2E75B6"/>
            </a:solidFill>
            <a:prstDash val="solid"/>
          </a:ln>
        </p:spPr>
      </p:sp>
      <p:pic>
        <p:nvPicPr>
          <p:cNvPr id="9" name="Clinical pearls / &quot;why&quot; hook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pearls / &amp;quot;why&amp;quot; hook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2E75B6"/>
                </a:solidFill>
              </a:rPr>
              <a:t>Clinical pearls / "why" hook (1/2)</a:t>
            </a:r>
            <a:endParaRPr lang="en-US" sz="1800" dirty="0"/>
          </a:p>
        </p:txBody>
      </p:sp>
      <p:sp>
        <p:nvSpPr>
          <p:cNvPr id="11" name="Clinical pearls / &quot;why&quot; hook (1/2) body"/>
          <p:cNvSpPr txBox="1"/>
          <p:nvPr/>
        </p:nvSpPr>
        <p:spPr>
          <a:xfrm>
            <a:off x="777240" y="2075688"/>
            <a:ext cx="10637215" cy="285292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A 72-year-old with OA, CKD, hypertension, and an anticoagulant: acetaminophen or a non-NSAID strategy first.</a:t>
            </a:r>
            <a:r>
              <a:rPr lang="en-US" sz="1300" dirty="0">
                <a:solidFill>
                  <a:srgbClr val="666666"/>
                </a:solidFill>
              </a:rPr>
              <a:t>  S37</a:t>
            </a:r>
            <a:endParaRPr lang="en-US" sz="1800" dirty="0"/>
          </a:p>
          <a:p>
            <a:pPr marL="228600" indent="-228600">
              <a:spcAft>
                <a:spcPts val="800"/>
              </a:spcAft>
              <a:buSzPct val="100000"/>
              <a:buChar char="•"/>
            </a:pPr>
            <a:r>
              <a:rPr lang="en-US" sz="1800" dirty="0">
                <a:solidFill>
                  <a:srgbClr val="1F1F1F"/>
                </a:solidFill>
              </a:rPr>
              <a:t>OA and RA both affect the joint but are two very different diseases — don’t give RA patients analgesia alone.</a:t>
            </a:r>
            <a:r>
              <a:rPr lang="en-US" sz="1300" dirty="0">
                <a:solidFill>
                  <a:srgbClr val="666666"/>
                </a:solidFill>
              </a:rPr>
              <a:t>  S40; S41 (notes)</a:t>
            </a:r>
            <a:endParaRPr lang="en-US" sz="1800" dirty="0"/>
          </a:p>
          <a:p>
            <a:pPr marL="228600" indent="-228600">
              <a:spcAft>
                <a:spcPts val="800"/>
              </a:spcAft>
              <a:buSzPct val="100000"/>
              <a:buChar char="•"/>
            </a:pPr>
            <a:r>
              <a:rPr lang="en-US" sz="1800" dirty="0">
                <a:solidFill>
                  <a:srgbClr val="1F1F1F"/>
                </a:solidFill>
              </a:rPr>
              <a:t>Methotrexate’s weekly dosing is one of the highest-yield patient-safety points in all of rheumatology pharmacology.</a:t>
            </a:r>
            <a:r>
              <a:rPr lang="en-US" sz="1300" dirty="0">
                <a:solidFill>
                  <a:srgbClr val="666666"/>
                </a:solidFill>
              </a:rPr>
              <a:t>  S49 (notes)</a:t>
            </a:r>
            <a:endParaRPr lang="en-US" sz="1800" dirty="0"/>
          </a:p>
          <a:p>
            <a:pPr marL="228600" indent="-228600">
              <a:spcAft>
                <a:spcPts val="800"/>
              </a:spcAft>
              <a:buSzPct val="100000"/>
              <a:buChar char="•"/>
            </a:pPr>
            <a:r>
              <a:rPr lang="en-US" sz="1800" dirty="0">
                <a:solidFill>
                  <a:srgbClr val="1F1F1F"/>
                </a:solidFill>
              </a:rPr>
              <a:t>Match each generic name to its class: adalimumab, etanercept, infliximab (TNF); tocilizumab (IL-6); rituximab (B cell); abatacept (T-cell costimulation).</a:t>
            </a:r>
            <a:r>
              <a:rPr lang="en-US" sz="1300" dirty="0">
                <a:solidFill>
                  <a:srgbClr val="666666"/>
                </a:solidFill>
              </a:rPr>
              <a:t>  S51; S53; S61</a:t>
            </a:r>
            <a:endParaRPr lang="en-US" sz="18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OSTEOARTHRITIS, RHEUMATOID ARTHRITIS &amp; DMARDS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pearls / "why" hook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IO2.1 · IO2.2 · IO2.3 · IO2.4 · IO2.5 · IO2.6 · SO3 · SO4 · SO5</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90</a:t>
            </a:r>
            <a:endParaRPr lang="en-US" sz="1000" dirty="0"/>
          </a:p>
        </p:txBody>
      </p:sp>
      <p:sp>
        <p:nvSpPr>
          <p:cNvPr id="7" name="Clinical pearls / &quot;why&quot; hook (2/2) card"/>
          <p:cNvSpPr/>
          <p:nvPr/>
        </p:nvSpPr>
        <p:spPr>
          <a:xfrm>
            <a:off x="548640" y="1325880"/>
            <a:ext cx="11094415" cy="3721608"/>
          </a:xfrm>
          <a:prstGeom prst="roundRect">
            <a:avLst>
              <a:gd name="adj" fmla="val 2948"/>
            </a:avLst>
          </a:prstGeom>
          <a:solidFill>
            <a:srgbClr val="F2F4F7"/>
          </a:solidFill>
          <a:ln w="12700">
            <a:solidFill>
              <a:srgbClr val="F2F4F7"/>
            </a:solidFill>
            <a:prstDash val="solid"/>
          </a:ln>
        </p:spPr>
      </p:sp>
      <p:sp>
        <p:nvSpPr>
          <p:cNvPr id="8" name="Clinical pearls / &quot;why&quot; hook (2/2) icon circle"/>
          <p:cNvSpPr/>
          <p:nvPr/>
        </p:nvSpPr>
        <p:spPr>
          <a:xfrm>
            <a:off x="777240" y="1508760"/>
            <a:ext cx="438912" cy="438912"/>
          </a:xfrm>
          <a:prstGeom prst="ellipse">
            <a:avLst/>
          </a:prstGeom>
          <a:solidFill>
            <a:srgbClr val="2E75B6"/>
          </a:solidFill>
          <a:ln w="12700">
            <a:solidFill>
              <a:srgbClr val="2E75B6"/>
            </a:solidFill>
            <a:prstDash val="solid"/>
          </a:ln>
        </p:spPr>
      </p:sp>
      <p:pic>
        <p:nvPicPr>
          <p:cNvPr id="9" name="Clinical pearls / &quot;why&quot; hook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pearls / &amp;quot;why&amp;quot; hook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2E75B6"/>
                </a:solidFill>
              </a:rPr>
              <a:t>Clinical pearls / "why" hook (2/2)</a:t>
            </a:r>
            <a:endParaRPr lang="en-US" sz="1800" dirty="0"/>
          </a:p>
        </p:txBody>
      </p:sp>
      <p:sp>
        <p:nvSpPr>
          <p:cNvPr id="11" name="Clinical pearls / &quot;why&quot; hook (2/2) body"/>
          <p:cNvSpPr txBox="1"/>
          <p:nvPr/>
        </p:nvSpPr>
        <p:spPr>
          <a:xfrm>
            <a:off x="777240" y="2075688"/>
            <a:ext cx="10637215" cy="2852928"/>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Read the stem first:</a:t>
            </a:r>
            <a:r>
              <a:rPr lang="en-US" sz="1800" dirty="0">
                <a:solidFill>
                  <a:srgbClr val="1F1F1F"/>
                </a:solidFill>
              </a:rPr>
              <a:t> it reveals the mechanism class before the drug is recalled (-mab antibody: -zumab humanized, -ximab chimeric, -umab fully human; -cept receptor fusion; -nib/-tinib kinase inhibitor; -coxib COX-2 selective; -profen, -fenac, -oxicam NSAID subclasses).</a:t>
            </a:r>
            <a:r>
              <a:rPr lang="en-US" sz="1300" dirty="0">
                <a:solidFill>
                  <a:srgbClr val="666666"/>
                </a:solidFill>
              </a:rPr>
              <a:t>  S60; S60 (notes)</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Topical diclofenac 1% gel is sold over the counter for OA and muscular pain.</a:t>
            </a:r>
            <a:r>
              <a:rPr lang="en-US" sz="1300" dirty="0">
                <a:solidFill>
                  <a:srgbClr val="666666"/>
                </a:solidFill>
              </a:rPr>
              <a:t>  p. 679</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Biosimilars:</a:t>
            </a:r>
            <a:r>
              <a:rPr lang="en-US" sz="1800" dirty="0">
                <a:solidFill>
                  <a:srgbClr val="1F1F1F"/>
                </a:solidFill>
              </a:rPr>
              <a:t> near-copies of legacy biologics with the same efficacy, toxicity, and immunogenicity at potentially lower cost.</a:t>
            </a:r>
            <a:r>
              <a:rPr lang="en-US" sz="1300" dirty="0">
                <a:solidFill>
                  <a:srgbClr val="666666"/>
                </a:solidFill>
              </a:rPr>
              <a:t>  p. 693</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If methotrexate alone falls short: add csDMARDs or a biologic — usually a TNF inhibitor first, then non-TNF biologics or JAK inhibitors.</a:t>
            </a:r>
            <a:r>
              <a:rPr lang="en-US" sz="1300" dirty="0">
                <a:solidFill>
                  <a:srgbClr val="666666"/>
                </a:solidFill>
              </a:rPr>
              <a:t>  p. 701</a:t>
            </a:r>
            <a:endParaRPr lang="en-US" sz="18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OSTEOARTHRITIS, RHEUMATOID ARTHRITIS &amp; DMARDS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700" b="1" dirty="0">
                <a:solidFill>
                  <a:srgbClr val="1F1F1F"/>
                </a:solidFill>
                <a:latin typeface="Calibri" pitchFamily="34" charset="0"/>
                <a:ea typeface="Calibri" pitchFamily="34" charset="-122"/>
                <a:cs typeface="Calibri" pitchFamily="34" charset="-120"/>
              </a:rPr>
              <a:t>Osteoarthritis vs. rheumatoid arthritis: pathophysiology</a:t>
            </a:r>
            <a:endParaRPr lang="en-US" sz="27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IO2.1 · IO2.2 · IO2.3 · IO2.4 · IO2.5 · IO2.6 · SO3 · SO4 · SO5</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91</a:t>
            </a:r>
            <a:endParaRPr lang="en-US" sz="1000" dirty="0"/>
          </a:p>
        </p:txBody>
      </p:sp>
      <p:pic>
        <p:nvPicPr>
          <p:cNvPr id="7" name="Figure S42_1.jpg" descr="/home/user/dpas-pharm/work/L03/figures/S42_1.jpg">    </p:cNvPr>
          <p:cNvPicPr>
            <a:picLocks noChangeAspect="1"/>
          </p:cNvPicPr>
          <p:nvPr/>
        </p:nvPicPr>
        <p:blipFill>
          <a:blip r:embed="rId1"/>
          <a:stretch>
            <a:fillRect/>
          </a:stretch>
        </p:blipFill>
        <p:spPr>
          <a:xfrm>
            <a:off x="2398755" y="1325880"/>
            <a:ext cx="7394186" cy="4167632"/>
          </a:xfrm>
          <a:prstGeom prst="rect">
            <a:avLst/>
          </a:prstGeom>
        </p:spPr>
      </p:pic>
      <p:sp>
        <p:nvSpPr>
          <p:cNvPr id="8" name="Figure caption"/>
          <p:cNvSpPr txBox="1"/>
          <p:nvPr/>
        </p:nvSpPr>
        <p:spPr>
          <a:xfrm>
            <a:off x="548640" y="5676392"/>
            <a:ext cx="11094415" cy="587248"/>
          </a:xfrm>
          <a:prstGeom prst="rect">
            <a:avLst/>
          </a:prstGeom>
          <a:noFill/>
          <a:ln/>
        </p:spPr>
        <p:txBody>
          <a:bodyPr wrap="square" lIns="0" tIns="0" rIns="0" bIns="0" rtlCol="0" anchor="t"/>
          <a:lstStyle/>
          <a:p>
            <a:pPr indent="0" marL="0">
              <a:buNone/>
            </a:pPr>
            <a:r>
              <a:rPr lang="en-US" sz="1600" dirty="0">
                <a:solidFill>
                  <a:srgbClr val="1F1F1F"/>
                </a:solidFill>
              </a:rPr>
              <a:t>Companion diagram: OA (mechanical) runs mechanical load and wear → cartilage degradation → bone remodeling and osteophytes; RA (autoimmune) runs immune activation → synovitis with pannus → TNF-α and IL-6 drive joint erosion.</a:t>
            </a:r>
            <a:r>
              <a:rPr lang="en-US" sz="1100" dirty="0">
                <a:solidFill>
                  <a:srgbClr val="666666"/>
                </a:solidFill>
              </a:rPr>
              <a:t>  S42; S41 (notes)</a:t>
            </a:r>
            <a:endParaRPr lang="en-US" sz="16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OSTEOARTHRITIS, RHEUMATOID ARTHRITIS &amp; DMARDS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Where each analgesic acts in osteoarthritis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IO2.1 · IO2.2 · IO2.3 · IO2.4 · IO2.5 · IO2.6 · SO3 · SO4 · SO5</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92</a:t>
            </a:r>
            <a:endParaRPr lang="en-US" sz="1000" dirty="0"/>
          </a:p>
        </p:txBody>
      </p:sp>
      <p:pic>
        <p:nvPicPr>
          <p:cNvPr id="7" name="Figure S44_1.jpg" descr="/home/user/dpas-pharm/work/L03/figures/S44_1.jpg">    </p:cNvPr>
          <p:cNvPicPr>
            <a:picLocks noChangeAspect="1"/>
          </p:cNvPicPr>
          <p:nvPr/>
        </p:nvPicPr>
        <p:blipFill>
          <a:blip r:embed="rId1"/>
          <a:stretch>
            <a:fillRect/>
          </a:stretch>
        </p:blipFill>
        <p:spPr>
          <a:xfrm>
            <a:off x="2598155" y="1325880"/>
            <a:ext cx="6995385" cy="3919728"/>
          </a:xfrm>
          <a:prstGeom prst="rect">
            <a:avLst/>
          </a:prstGeom>
        </p:spPr>
      </p:pic>
      <p:sp>
        <p:nvSpPr>
          <p:cNvPr id="8" name="Figure caption"/>
          <p:cNvSpPr txBox="1"/>
          <p:nvPr/>
        </p:nvSpPr>
        <p:spPr>
          <a:xfrm>
            <a:off x="548640" y="5428488"/>
            <a:ext cx="11094415" cy="835152"/>
          </a:xfrm>
          <a:prstGeom prst="rect">
            <a:avLst/>
          </a:prstGeom>
          <a:noFill/>
          <a:ln/>
        </p:spPr>
        <p:txBody>
          <a:bodyPr wrap="square" lIns="0" tIns="0" rIns="0" bIns="0" rtlCol="0" anchor="t"/>
          <a:lstStyle/>
          <a:p>
            <a:pPr indent="0" marL="0">
              <a:buNone/>
            </a:pPr>
            <a:r>
              <a:rPr lang="en-US" sz="1600" dirty="0">
                <a:solidFill>
                  <a:srgbClr val="1F1F1F"/>
                </a:solidFill>
              </a:rPr>
              <a:t>Companion diagram: acetaminophen (oral) acts centrally on brain and spinal cord COX — analgesia and antipyresis, little joint anti-inflammation; oral or topical NSAIDs block COX in synovium and cartilage — less prostaglandin, pain, and swelling; an intra-articular corticosteroid calms local inflammation for fast, short-term flare relief.</a:t>
            </a:r>
            <a:r>
              <a:rPr lang="en-US" sz="1100" dirty="0">
                <a:solidFill>
                  <a:srgbClr val="666666"/>
                </a:solidFill>
              </a:rPr>
              <a:t>  S44; S44 (notes)</a:t>
            </a:r>
            <a:endParaRPr lang="en-US" sz="16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OSTEOARTHRITIS, RHEUMATOID ARTHRITIS &amp; DMARDS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Symptom relief vs. slowing joint destruction</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IO2.1 · IO2.2 · IO2.3 · IO2.4 · IO2.5 · IO2.6 · SO3 · SO4 · SO5</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93</a:t>
            </a:r>
            <a:endParaRPr lang="en-US" sz="1000" dirty="0"/>
          </a:p>
        </p:txBody>
      </p:sp>
      <p:pic>
        <p:nvPicPr>
          <p:cNvPr id="7" name="Figure S46_1.jpg" descr="/home/user/dpas-pharm/work/L03/figures/S46_1.jpg">    </p:cNvPr>
          <p:cNvPicPr>
            <a:picLocks noChangeAspect="1"/>
          </p:cNvPicPr>
          <p:nvPr/>
        </p:nvPicPr>
        <p:blipFill>
          <a:blip r:embed="rId1"/>
          <a:stretch>
            <a:fillRect/>
          </a:stretch>
        </p:blipFill>
        <p:spPr>
          <a:xfrm>
            <a:off x="2376943" y="1325880"/>
            <a:ext cx="7437809" cy="4167632"/>
          </a:xfrm>
          <a:prstGeom prst="rect">
            <a:avLst/>
          </a:prstGeom>
        </p:spPr>
      </p:pic>
      <p:sp>
        <p:nvSpPr>
          <p:cNvPr id="8" name="Figure caption"/>
          <p:cNvSpPr txBox="1"/>
          <p:nvPr/>
        </p:nvSpPr>
        <p:spPr>
          <a:xfrm>
            <a:off x="548640" y="5676392"/>
            <a:ext cx="11094415" cy="587248"/>
          </a:xfrm>
          <a:prstGeom prst="rect">
            <a:avLst/>
          </a:prstGeom>
          <a:noFill/>
          <a:ln/>
        </p:spPr>
        <p:txBody>
          <a:bodyPr wrap="square" lIns="0" tIns="0" rIns="0" bIns="0" rtlCol="0" anchor="t"/>
          <a:lstStyle/>
          <a:p>
            <a:pPr indent="0" marL="0">
              <a:buNone/>
            </a:pPr>
            <a:r>
              <a:rPr lang="en-US" sz="1600" dirty="0">
                <a:solidFill>
                  <a:srgbClr val="1F1F1F"/>
                </a:solidFill>
              </a:rPr>
              <a:t>Schematic, not data: symptom relief from NSAIDs rises within days and plateaus; joint-damage slowing from DMARDs builds over weeks to months.</a:t>
            </a:r>
            <a:r>
              <a:rPr lang="en-US" sz="1100" dirty="0">
                <a:solidFill>
                  <a:srgbClr val="666666"/>
                </a:solidFill>
              </a:rPr>
              <a:t>  S46; S46 (notes)</a:t>
            </a:r>
            <a:endParaRPr lang="en-US" sz="16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OSTEOARTHRITIS, RHEUMATOID ARTHRITIS &amp; DMARDS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200" b="1" dirty="0">
                <a:solidFill>
                  <a:srgbClr val="1F1F1F"/>
                </a:solidFill>
                <a:latin typeface="Calibri" pitchFamily="34" charset="0"/>
                <a:ea typeface="Calibri" pitchFamily="34" charset="-122"/>
                <a:cs typeface="Calibri" pitchFamily="34" charset="-120"/>
              </a:rPr>
              <a:t>Figure 3 · Biologic DMARDs: where each class intercepts the immune cascade</a:t>
            </a:r>
            <a:endParaRPr lang="en-US" sz="22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IO2.1 · IO2.2 · IO2.3 · IO2.4 · IO2.5 · IO2.6 · SO3 · SO4 · SO5</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94</a:t>
            </a:r>
            <a:endParaRPr lang="en-US" sz="1000" dirty="0"/>
          </a:p>
        </p:txBody>
      </p:sp>
      <p:pic>
        <p:nvPicPr>
          <p:cNvPr id="7" name="Figure S53_1.jpg" descr="/home/user/dpas-pharm/work/L03/figures/S53_1.jpg">    </p:cNvPr>
          <p:cNvPicPr>
            <a:picLocks noChangeAspect="1"/>
          </p:cNvPicPr>
          <p:nvPr/>
        </p:nvPicPr>
        <p:blipFill>
          <a:blip r:embed="rId1"/>
          <a:stretch>
            <a:fillRect/>
          </a:stretch>
        </p:blipFill>
        <p:spPr>
          <a:xfrm>
            <a:off x="2238907" y="1325880"/>
            <a:ext cx="7713881" cy="3919728"/>
          </a:xfrm>
          <a:prstGeom prst="rect">
            <a:avLst/>
          </a:prstGeom>
        </p:spPr>
      </p:pic>
      <p:sp>
        <p:nvSpPr>
          <p:cNvPr id="8" name="Figure caption"/>
          <p:cNvSpPr txBox="1"/>
          <p:nvPr/>
        </p:nvSpPr>
        <p:spPr>
          <a:xfrm>
            <a:off x="548640" y="5428488"/>
            <a:ext cx="11094415" cy="835152"/>
          </a:xfrm>
          <a:prstGeom prst="rect">
            <a:avLst/>
          </a:prstGeom>
          <a:noFill/>
          <a:ln/>
        </p:spPr>
        <p:txBody>
          <a:bodyPr wrap="square" lIns="0" tIns="0" rIns="0" bIns="0" rtlCol="0" anchor="t"/>
          <a:lstStyle/>
          <a:p>
            <a:pPr indent="0" marL="0">
              <a:buNone/>
            </a:pPr>
            <a:r>
              <a:rPr lang="en-US" sz="1600" dirty="0">
                <a:solidFill>
                  <a:srgbClr val="1F1F1F"/>
                </a:solidFill>
              </a:rPr>
              <a:t>Original illustrative diagram (not from Katzung): abatacept blocks T-cell costimulation; TNF inhibitors (adalimumab, etanercept, infliximab) and tocilizumab block cytokine signaling; rituximab depletes B cells — each upstream of synovial inflammation and joint destruction. Walk it from T-cell activation to cytokines to synovial damage: abatacept acts earliest.</a:t>
            </a:r>
            <a:r>
              <a:rPr lang="en-US" sz="1100" dirty="0">
                <a:solidFill>
                  <a:srgbClr val="666666"/>
                </a:solidFill>
              </a:rPr>
              <a:t>  S53; S53 (notes)</a:t>
            </a:r>
            <a:endParaRPr lang="en-US" sz="16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OSTEOARTHRITIS, RHEUMATOID ARTHRITIS &amp; DMARDS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Immune suppression raises infection risk</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IO2.1 · IO2.2 · IO2.3 · IO2.4 · IO2.5 · IO2.6 · SO3 · SO4 · SO5</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95</a:t>
            </a:r>
            <a:endParaRPr lang="en-US" sz="1000" dirty="0"/>
          </a:p>
        </p:txBody>
      </p:sp>
      <p:pic>
        <p:nvPicPr>
          <p:cNvPr id="7" name="Figure S57_1.jpg" descr="/home/user/dpas-pharm/work/L03/figures/S57_1.jpg">    </p:cNvPr>
          <p:cNvPicPr>
            <a:picLocks noChangeAspect="1"/>
          </p:cNvPicPr>
          <p:nvPr/>
        </p:nvPicPr>
        <p:blipFill>
          <a:blip r:embed="rId1"/>
          <a:stretch>
            <a:fillRect/>
          </a:stretch>
        </p:blipFill>
        <p:spPr>
          <a:xfrm>
            <a:off x="2598155" y="1325880"/>
            <a:ext cx="6995385" cy="3919728"/>
          </a:xfrm>
          <a:prstGeom prst="rect">
            <a:avLst/>
          </a:prstGeom>
        </p:spPr>
      </p:pic>
      <p:sp>
        <p:nvSpPr>
          <p:cNvPr id="8" name="Figure caption"/>
          <p:cNvSpPr txBox="1"/>
          <p:nvPr/>
        </p:nvSpPr>
        <p:spPr>
          <a:xfrm>
            <a:off x="548640" y="5428488"/>
            <a:ext cx="11094415" cy="835152"/>
          </a:xfrm>
          <a:prstGeom prst="rect">
            <a:avLst/>
          </a:prstGeom>
          <a:noFill/>
          <a:ln/>
        </p:spPr>
        <p:txBody>
          <a:bodyPr wrap="square" lIns="0" tIns="0" rIns="0" bIns="0" rtlCol="0" anchor="t"/>
          <a:lstStyle/>
          <a:p>
            <a:pPr indent="0" marL="0">
              <a:buNone/>
            </a:pPr>
            <a:r>
              <a:rPr lang="en-US" sz="1600" dirty="0">
                <a:solidFill>
                  <a:srgbClr val="1F1F1F"/>
                </a:solidFill>
              </a:rPr>
              <a:t>Companion diagram: a DMARD or biologic suppresses immunity → infection risk (TB, viral, fungal) → screen before starting: TB test (IGRA or TST), hepatitis B and C serology, vaccines up to date (non-live), and labs (CBC, liver, kidney) every 1–3 months.</a:t>
            </a:r>
            <a:r>
              <a:rPr lang="en-US" sz="1100" dirty="0">
                <a:solidFill>
                  <a:srgbClr val="666666"/>
                </a:solidFill>
              </a:rPr>
              <a:t>  S57; S57 (notes)</a:t>
            </a:r>
            <a:endParaRPr lang="en-US" sz="16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OSTEOARTHRITIS, RHEUMATOID ARTHRITIS &amp; DMARDS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600" b="1" dirty="0">
                <a:solidFill>
                  <a:srgbClr val="1F1F1F"/>
                </a:solidFill>
                <a:latin typeface="Calibri" pitchFamily="34" charset="0"/>
                <a:ea typeface="Calibri" pitchFamily="34" charset="-122"/>
                <a:cs typeface="Calibri" pitchFamily="34" charset="-120"/>
              </a:rPr>
              <a:t>⚠ Sources disagree: How methotrexate works at RA doses</a:t>
            </a:r>
            <a:endParaRPr lang="en-US" sz="26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IO2.1 · IO2.2 · IO2.3 · IO2.4 · IO2.5 · IO2.6 · SO3 · SO4 · SO5</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96</a:t>
            </a:r>
            <a:endParaRPr lang="en-US" sz="1000" dirty="0"/>
          </a:p>
        </p:txBody>
      </p:sp>
      <p:sp>
        <p:nvSpPr>
          <p:cNvPr id="7" name="Lecture slides say card"/>
          <p:cNvSpPr/>
          <p:nvPr/>
        </p:nvSpPr>
        <p:spPr>
          <a:xfrm>
            <a:off x="548640" y="1325880"/>
            <a:ext cx="5364328" cy="2555748"/>
          </a:xfrm>
          <a:prstGeom prst="roundRect">
            <a:avLst>
              <a:gd name="adj" fmla="val 4293"/>
            </a:avLst>
          </a:prstGeom>
          <a:solidFill>
            <a:srgbClr val="F2F4F7"/>
          </a:solidFill>
          <a:ln w="12700">
            <a:solidFill>
              <a:srgbClr val="F2F4F7"/>
            </a:solidFill>
            <a:prstDash val="solid"/>
          </a:ln>
        </p:spPr>
      </p:sp>
      <p:sp>
        <p:nvSpPr>
          <p:cNvPr id="8" name="Lecture slides say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Lecture slides say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Lecture slides say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Lecture slides say</a:t>
            </a:r>
            <a:endParaRPr lang="en-US" sz="1800" dirty="0"/>
          </a:p>
        </p:txBody>
      </p:sp>
      <p:sp>
        <p:nvSpPr>
          <p:cNvPr id="11" name="Lecture slides say body"/>
          <p:cNvSpPr txBox="1"/>
          <p:nvPr/>
        </p:nvSpPr>
        <p:spPr>
          <a:xfrm>
            <a:off x="777240" y="2075688"/>
            <a:ext cx="4907128" cy="168706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Inhibits dihydrofolate reductase, reducing immune cell proliferation at low RA doses; the depth slide adds that the low-dose RA effect is likely anti-inflammatory via adenosine release, not cytotoxicity.</a:t>
            </a:r>
            <a:r>
              <a:rPr lang="en-US" sz="1300" dirty="0">
                <a:solidFill>
                  <a:srgbClr val="666666"/>
                </a:solidFill>
              </a:rPr>
              <a:t>  S49; S50; SG U2-M</a:t>
            </a:r>
            <a:endParaRPr lang="en-US" sz="1800" dirty="0"/>
          </a:p>
        </p:txBody>
      </p:sp>
      <p:sp>
        <p:nvSpPr>
          <p:cNvPr id="12" name="Textbook says card"/>
          <p:cNvSpPr/>
          <p:nvPr/>
        </p:nvSpPr>
        <p:spPr>
          <a:xfrm>
            <a:off x="6278728" y="1325880"/>
            <a:ext cx="5364328" cy="2555748"/>
          </a:xfrm>
          <a:prstGeom prst="roundRect">
            <a:avLst>
              <a:gd name="adj" fmla="val 4293"/>
            </a:avLst>
          </a:prstGeom>
          <a:solidFill>
            <a:srgbClr val="F2F4F7"/>
          </a:solidFill>
          <a:ln w="12700">
            <a:solidFill>
              <a:srgbClr val="F2F4F7"/>
            </a:solidFill>
            <a:prstDash val="solid"/>
          </a:ln>
        </p:spPr>
      </p:sp>
      <p:sp>
        <p:nvSpPr>
          <p:cNvPr id="13" name="Textbook says icon circle"/>
          <p:cNvSpPr/>
          <p:nvPr/>
        </p:nvSpPr>
        <p:spPr>
          <a:xfrm>
            <a:off x="6507328" y="1508760"/>
            <a:ext cx="438912" cy="438912"/>
          </a:xfrm>
          <a:prstGeom prst="ellipse">
            <a:avLst/>
          </a:prstGeom>
          <a:solidFill>
            <a:srgbClr val="B07D00"/>
          </a:solidFill>
          <a:ln w="12700">
            <a:solidFill>
              <a:srgbClr val="B07D00"/>
            </a:solidFill>
            <a:prstDash val="solid"/>
          </a:ln>
        </p:spPr>
      </p:sp>
      <p:pic>
        <p:nvPicPr>
          <p:cNvPr id="14" name="Textbook says icon" descr="preencoded.png">    </p:cNvPr>
          <p:cNvPicPr>
            <a:picLocks noChangeAspect="1"/>
          </p:cNvPicPr>
          <p:nvPr/>
        </p:nvPicPr>
        <p:blipFill>
          <a:blip r:embed="rId2"/>
          <a:stretch>
            <a:fillRect/>
          </a:stretch>
        </p:blipFill>
        <p:spPr>
          <a:xfrm>
            <a:off x="6607912" y="1609344"/>
            <a:ext cx="237744" cy="237744"/>
          </a:xfrm>
          <a:prstGeom prst="rect">
            <a:avLst/>
          </a:prstGeom>
        </p:spPr>
      </p:pic>
      <p:sp>
        <p:nvSpPr>
          <p:cNvPr id="15" name="Textbook says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B07D00"/>
                </a:solidFill>
              </a:rPr>
              <a:t>Textbook says</a:t>
            </a:r>
            <a:endParaRPr lang="en-US" sz="1800" dirty="0"/>
          </a:p>
        </p:txBody>
      </p:sp>
      <p:sp>
        <p:nvSpPr>
          <p:cNvPr id="16" name="Textbook says body"/>
          <p:cNvSpPr txBox="1"/>
          <p:nvPr/>
        </p:nvSpPr>
        <p:spPr>
          <a:xfrm>
            <a:off x="6507328" y="2075688"/>
            <a:ext cx="4907128" cy="1687068"/>
          </a:xfrm>
          <a:prstGeom prst="rect">
            <a:avLst/>
          </a:prstGeom>
          <a:noFill/>
          <a:ln/>
        </p:spPr>
        <p:txBody>
          <a:bodyPr wrap="square" lIns="0" tIns="0" rIns="0" bIns="0" rtlCol="0" anchor="t"/>
          <a:lstStyle/>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Low-dose methotrexate mainly inhibits AICAR transformylase and thymidylate synthetase, raising extracellular AMP that suppresses inflammation; its dihydrofolate reductase effect is relatively minor at rheumatic doses.</a:t>
            </a:r>
            <a:r>
              <a:rPr lang="en-US" sz="1300" dirty="0">
                <a:solidFill>
                  <a:srgbClr val="666666"/>
                </a:solidFill>
              </a:rPr>
              <a:t>  p. 688</a:t>
            </a:r>
            <a:endParaRPr lang="en-US" sz="14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OSTEOARTHRITIS, RHEUMATOID ARTHRITIS &amp; DMARDS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OA vs. RA at a glance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IO2.1 · IO2.2 · IO2.3 · IO2.4 · IO2.5 · IO2.6 · SO3 · SO4 · SO5</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97</a:t>
            </a:r>
            <a:endParaRPr lang="en-US" sz="1000" dirty="0"/>
          </a:p>
        </p:txBody>
      </p:sp>
      <p:graphicFrame>
        <p:nvGraphicFramePr>
          <p:cNvPr id="98"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Osteoarthritis</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Rheumatoid arthritis</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Disease type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Degenerative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Autoimmune, systemic inflammatory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What damages the joint</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Cartilage breakdown, mechanical wear</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Immune-mediated joint destruction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Treatment goal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Pain control and function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Suppress disease activity</a:t>
                      </a:r>
                      <a:r>
                        <a:rPr lang="en-US" sz="1600" dirty="0">
                          <a:solidFill>
                            <a:srgbClr val="1F1F1F"/>
                          </a:solidFill>
                        </a:rPr>
                        <a:t>, not just pain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Core drugs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Acetaminophen, NSAIDs (oral/topical), intra-articular steroids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b="1" dirty="0">
                          <a:solidFill>
                            <a:srgbClr val="1F1F1F"/>
                          </a:solidFill>
                        </a:rPr>
                        <a:t>DMARDs</a:t>
                      </a:r>
                      <a:r>
                        <a:rPr lang="en-US" sz="1600" dirty="0">
                          <a:solidFill>
                            <a:srgbClr val="1F1F1F"/>
                          </a:solidFill>
                        </a:rPr>
                        <a:t> (methotrexate first)</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3590544"/>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S41; S41 (notes); S43; S47</a:t>
            </a:r>
            <a:endParaRPr lang="en-US" sz="11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OSTEOARTHRITIS, RHEUMATOID ARTHRITIS &amp; DMARDS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700" b="1" dirty="0">
                <a:solidFill>
                  <a:srgbClr val="1F1F1F"/>
                </a:solidFill>
                <a:latin typeface="Calibri" pitchFamily="34" charset="0"/>
                <a:ea typeface="Calibri" pitchFamily="34" charset="-122"/>
                <a:cs typeface="Calibri" pitchFamily="34" charset="-120"/>
              </a:rPr>
              <a:t>Compare: Conventional DMARDs: where each drug acts</a:t>
            </a:r>
            <a:endParaRPr lang="en-US" sz="27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IO2.1 · IO2.2 · IO2.3 · IO2.4 · IO2.5 · IO2.6 · SO3 · SO4 · SO5</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98</a:t>
            </a:r>
            <a:endParaRPr lang="en-US" sz="1000" dirty="0"/>
          </a:p>
        </p:txBody>
      </p:sp>
      <p:graphicFrame>
        <p:nvGraphicFramePr>
          <p:cNvPr id="99"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r>
                        <a:rPr lang="en-US" sz="1600" b="1" dirty="0">
                          <a:solidFill>
                            <a:srgbClr val="FFFFFF"/>
                          </a:solidFill>
                        </a:rPr>
                        <a:t>Drug</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Target / action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Effect</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Methotrexate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Inhibits DHFR; disrupts folate metabolism</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Slower immune-cell growth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Hydroxychloroquine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Alters lysosomal and TLR signaling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Less antigen signaling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Sulfasalazine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Reduces cytokine and prostaglandin production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Less inflammation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Leflunomide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Inhibits DHODH; limits pyrimidine synthesis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Slower T-cell growth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334264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S48</a:t>
            </a:r>
            <a:endParaRPr lang="en-US" sz="11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OSTEOARTHRITIS, RHEUMATOID ARTHRITIS &amp; DMARDS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The four biologic classes in the lecture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IO2.1 · IO2.2 · IO2.3 · IO2.4 · IO2.5 · IO2.6 · SO3 · SO4 · SO5</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99</a:t>
            </a:r>
            <a:endParaRPr lang="en-US" sz="1000" dirty="0"/>
          </a:p>
        </p:txBody>
      </p:sp>
      <p:graphicFrame>
        <p:nvGraphicFramePr>
          <p:cNvPr id="100"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r>
                        <a:rPr lang="en-US" sz="1600" b="1" dirty="0">
                          <a:solidFill>
                            <a:srgbClr val="FFFFFF"/>
                          </a:solidFill>
                        </a:rPr>
                        <a:t>Class · example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How it works</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Pearl</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TNF inhibitors</a:t>
                      </a:r>
                      <a:r>
                        <a:rPr lang="en-US" sz="1600" b="1" dirty="0">
                          <a:solidFill>
                            <a:srgbClr val="1F1F1F"/>
                          </a:solidFill>
                        </a:rPr>
                        <a:t> · adalimumab, etanercept, infliximab</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Bind soluble or membrane TNF-α, preventing TNFR activation (etanercept is a receptor fusion)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First-line biologic; watch latent TB reactivation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IL-6 inhibitor</a:t>
                      </a:r>
                      <a:r>
                        <a:rPr lang="en-US" sz="1600" b="1" dirty="0">
                          <a:solidFill>
                            <a:srgbClr val="1F1F1F"/>
                          </a:solidFill>
                        </a:rPr>
                        <a:t> · tocilizumab</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Blocks membrane and soluble IL-6 receptors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Works as monotherapy; can raise lipids and liver enzymes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B-cell therapy</a:t>
                      </a:r>
                      <a:r>
                        <a:rPr lang="en-US" sz="1600" b="1" dirty="0">
                          <a:solidFill>
                            <a:srgbClr val="1F1F1F"/>
                          </a:solidFill>
                        </a:rPr>
                        <a:t> · rituximab (anti-CD20)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Binds CD20 and depletes B cells for months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After TNF-inhibitor failure; check hepatitis B first</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T-cell costimulation</a:t>
                      </a:r>
                      <a:r>
                        <a:rPr lang="en-US" sz="1600" b="1" dirty="0">
                          <a:solidFill>
                            <a:srgbClr val="1F1F1F"/>
                          </a:solidFill>
                        </a:rPr>
                        <a:t> · abatacept (CTLA-4-Ig)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Binds CD80/86; blocks CD28 costimulation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Acts earliest; generally lower infection signal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458216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S51; S52; S53; SG U2-R8</a:t>
            </a:r>
            <a:endParaRPr lang="en-US" sz="11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OSTEOARTHRITIS, RHEUMATOID ARTHRITIS &amp; DMARDS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Compare: Drug names reveal the class: read the stem</a:t>
            </a:r>
            <a:endParaRPr lang="en-US" sz="28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IO2.1 · IO2.2 · IO2.3 · IO2.4 · IO2.5 · IO2.6 · SO3 · SO4 · SO5</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100</a:t>
            </a:r>
            <a:endParaRPr lang="en-US" sz="1000" dirty="0"/>
          </a:p>
        </p:txBody>
      </p:sp>
      <p:graphicFrame>
        <p:nvGraphicFramePr>
          <p:cNvPr id="101"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r>
                        <a:rPr lang="en-US" sz="1600" b="1" dirty="0">
                          <a:solidFill>
                            <a:srgbClr val="FFFFFF"/>
                          </a:solidFill>
                        </a:rPr>
                        <a:t>Stem</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Meaning</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Example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-mab</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Monoclonal antibody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Rituximab (anti-CD20)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-zumab</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Humanized antibody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Tocilizumab (IL-6R)</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-ximab</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Chimeric antibody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Infliximab (TNF-α)</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-umab</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Fully human antibody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Adalimumab (TNF-α)</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-cept</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Receptor fusion protein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Etanercept, abatacept</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-nib / -tinib</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Kinase inhibitor</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Tofacitinib (JAK)</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-coxib</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Selective COX-2 inhibitor</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Celecoxib</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-profen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Propionic-acid NSAID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Ibuprofen, naproxen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-fenac</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Acetic-acid NSAID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Diclofenac</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-oxicam</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Oxicam NSAID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Meloxicam</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559816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S60; S60 (notes)</a:t>
            </a:r>
            <a:endParaRPr lang="en-US" sz="11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OSTEOARTHRITIS, RHEUMATOID ARTHRITIS &amp; DMARDS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800" b="1" dirty="0">
                <a:solidFill>
                  <a:srgbClr val="1F1F1F"/>
                </a:solidFill>
                <a:latin typeface="Calibri" pitchFamily="34" charset="0"/>
                <a:ea typeface="Calibri" pitchFamily="34" charset="-122"/>
                <a:cs typeface="Calibri" pitchFamily="34" charset="-120"/>
              </a:rPr>
              <a:t>Compare: Conventional synthetic DMARDs (textbook)</a:t>
            </a:r>
            <a:endParaRPr lang="en-US" sz="28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IO2.1 · IO2.2 · IO2.3 · IO2.4 · IO2.5 · IO2.6 · SO3 · SO4 · SO5</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101</a:t>
            </a:r>
            <a:endParaRPr lang="en-US" sz="1000" dirty="0"/>
          </a:p>
        </p:txBody>
      </p:sp>
      <p:graphicFrame>
        <p:nvGraphicFramePr>
          <p:cNvPr id="102"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2905658"/>
                <a:gridCol w="2905658"/>
                <a:gridCol w="2905658"/>
              </a:tblGrid>
              <a:tr h="0">
                <a:tc>
                  <a:txBody>
                    <a:bodyPr/>
                    <a:lstStyle/>
                    <a:p>
                      <a:pPr indent="0" marL="0">
                        <a:buNone/>
                      </a:pPr>
                      <a:r>
                        <a:rPr lang="en-US" sz="1400" b="1" dirty="0">
                          <a:solidFill>
                            <a:srgbClr val="FFFFFF"/>
                          </a:solidFill>
                        </a:rPr>
                        <a:t>Drug</a:t>
                      </a:r>
                      <a:endParaRPr lang="en-US" sz="14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How it works</a:t>
                      </a:r>
                      <a:endParaRPr lang="en-US" sz="14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Main uses</a:t>
                      </a:r>
                      <a:endParaRPr lang="en-US" sz="14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Watch for</a:t>
                      </a:r>
                      <a:endParaRPr lang="en-US" sz="14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400" b="1" dirty="0">
                          <a:solidFill>
                            <a:srgbClr val="1F1F1F"/>
                          </a:solidFill>
                        </a:rPr>
                        <a:t>Methotrexate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DHFR (slides); AICAR transformylase (textbook)</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RA anchor; psoriasis, PsA, JIA</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Nausea, stomatitis, liver, marrow, lung; teratogenic</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400" b="1" dirty="0">
                          <a:solidFill>
                            <a:srgbClr val="1F1F1F"/>
                          </a:solidFill>
                        </a:rPr>
                        <a:t>Hydroxychloroquine</a:t>
                      </a:r>
                      <a:r>
                        <a:rPr lang="en-US" sz="1400" b="1" dirty="0">
                          <a:solidFill>
                            <a:srgbClr val="1F1F1F"/>
                          </a:solidFill>
                        </a:rPr>
                        <a:t>, chloroquine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400" dirty="0">
                          <a:solidFill>
                            <a:srgbClr val="1F1F1F"/>
                          </a:solidFill>
                        </a:rPr>
                        <a:t>Suppress T-cell responses and chemotaxis; dampen type 1 IFN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400" dirty="0">
                          <a:solidFill>
                            <a:srgbClr val="1F1F1F"/>
                          </a:solidFill>
                        </a:rPr>
                        <a:t>Mild RA; SLE (lowers mortality); Sjögren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400" dirty="0">
                          <a:solidFill>
                            <a:srgbClr val="1F1F1F"/>
                          </a:solidFill>
                        </a:rPr>
                        <a:t>Retinopathy (eye exams); cardiomyopathy; 3–6 months to respond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F1F1F"/>
                          </a:solidFill>
                        </a:rPr>
                        <a:t>Sulfasalazine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Split into sulfapyridine + 5-aminosalicylic acid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RA (slows radiologic progression); ulcerative colitis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~30% stop it; rash, toxic epidermal necrolysis, neutropenia; reversible male infertility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400" b="1" dirty="0">
                          <a:solidFill>
                            <a:srgbClr val="1F1F1F"/>
                          </a:solidFill>
                        </a:rPr>
                        <a:t>Leflunomide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400" dirty="0">
                          <a:solidFill>
                            <a:srgbClr val="1F1F1F"/>
                          </a:solidFill>
                        </a:rPr>
                        <a:t>Dihydroorotate dehydrogenase inhibitor</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400" dirty="0">
                          <a:solidFill>
                            <a:srgbClr val="1F1F1F"/>
                          </a:solidFill>
                        </a:rPr>
                        <a:t>RA (equals methotrexate)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400" dirty="0">
                          <a:solidFill>
                            <a:srgbClr val="1F1F1F"/>
                          </a:solidFill>
                        </a:rPr>
                        <a:t>Diarrhea (25%), liver tests, hypertension; half-life 19 days (cholestyramine shortens)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F1F1F"/>
                          </a:solidFill>
                        </a:rPr>
                        <a:t>Azathioprine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Becomes 6-thioguanine; suppresses B and T cells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RA, SLE, transplant</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Marrow suppression (TPMT, NUDT15), GI upset, cancer, infection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526796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S47; S49; p. 682; p. 683; p. 684; p. 687; p. 688; p. 689; p. 690</a:t>
            </a:r>
            <a:endParaRPr lang="en-US" sz="11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OSTEOARTHRITIS, RHEUMATOID ARTHRITIS &amp; DMARDS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500" b="1" dirty="0">
                <a:solidFill>
                  <a:srgbClr val="1F1F1F"/>
                </a:solidFill>
                <a:latin typeface="Calibri" pitchFamily="34" charset="0"/>
                <a:ea typeface="Calibri" pitchFamily="34" charset="-122"/>
                <a:cs typeface="Calibri" pitchFamily="34" charset="-120"/>
              </a:rPr>
              <a:t>Compare: Conventional synthetic DMARDs (textbook) (cont.)</a:t>
            </a:r>
            <a:endParaRPr lang="en-US" sz="25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IO2.1 · IO2.2 · IO2.3 · IO2.4 · IO2.5 · IO2.6 · SO3 · SO4 · SO5</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102</a:t>
            </a:r>
            <a:endParaRPr lang="en-US" sz="1000" dirty="0"/>
          </a:p>
        </p:txBody>
      </p:sp>
      <p:graphicFrame>
        <p:nvGraphicFramePr>
          <p:cNvPr id="103"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2905658"/>
                <a:gridCol w="2905658"/>
                <a:gridCol w="2905658"/>
              </a:tblGrid>
              <a:tr h="0">
                <a:tc>
                  <a:txBody>
                    <a:bodyPr/>
                    <a:lstStyle/>
                    <a:p>
                      <a:pPr indent="0" marL="0">
                        <a:buNone/>
                      </a:pPr>
                      <a:r>
                        <a:rPr lang="en-US" sz="1400" b="1" dirty="0">
                          <a:solidFill>
                            <a:srgbClr val="FFFFFF"/>
                          </a:solidFill>
                        </a:rPr>
                        <a:t>Drug</a:t>
                      </a:r>
                      <a:endParaRPr lang="en-US" sz="14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How it works</a:t>
                      </a:r>
                      <a:endParaRPr lang="en-US" sz="14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Main uses</a:t>
                      </a:r>
                      <a:endParaRPr lang="en-US" sz="14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Watch for</a:t>
                      </a:r>
                      <a:endParaRPr lang="en-US" sz="14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400" b="1" dirty="0">
                          <a:solidFill>
                            <a:srgbClr val="1F1F1F"/>
                          </a:solidFill>
                        </a:rPr>
                        <a:t>Mycophenolate mofetil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IMPDH inhibitor</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SLE (renal and nonrenal), scleroderma lung; not proven in RA</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GI, liver, cytopenias, infection; contraindicated in pregnancy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400" b="1" dirty="0">
                          <a:solidFill>
                            <a:srgbClr val="1F1F1F"/>
                          </a:solidFill>
                        </a:rPr>
                        <a:t>Cyclosporine, tacrolimus, voclosporin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400" dirty="0">
                          <a:solidFill>
                            <a:srgbClr val="1F1F1F"/>
                          </a:solidFill>
                        </a:rPr>
                        <a:t>Calcineurin inhibitors (block T-cell cytokines)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400" dirty="0">
                          <a:solidFill>
                            <a:srgbClr val="1F1F1F"/>
                          </a:solidFill>
                        </a:rPr>
                        <a:t>Severe RA; lupus nephritis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400" dirty="0">
                          <a:solidFill>
                            <a:srgbClr val="1F1F1F"/>
                          </a:solidFill>
                        </a:rPr>
                        <a:t>Nephro-, neuro-, cardiotoxicity, hypertension; CYP3A4 interactions (grapefruit)</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F1F1F"/>
                          </a:solidFill>
                        </a:rPr>
                        <a:t>Cyclophosphamide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Cross-links DNA</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Lupus nephritis, CNS lupus, vasculitis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Cytopenias, infection, sterility, bladder and skin cancer</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400" b="1" dirty="0">
                          <a:solidFill>
                            <a:srgbClr val="1F1F1F"/>
                          </a:solidFill>
                        </a:rPr>
                        <a:t>Apremilast</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400" dirty="0">
                          <a:solidFill>
                            <a:srgbClr val="1F1F1F"/>
                          </a:solidFill>
                        </a:rPr>
                        <a:t>PDE4 inhibitor (↑ cAMP)</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400" dirty="0">
                          <a:solidFill>
                            <a:srgbClr val="1F1F1F"/>
                          </a:solidFill>
                        </a:rPr>
                        <a:t>Plaque psoriasis, PsA, Behçet oral ulcers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400" dirty="0">
                          <a:solidFill>
                            <a:srgbClr val="1F1F1F"/>
                          </a:solidFill>
                        </a:rPr>
                        <a:t>Diarrhea, nausea, weight loss, mood changes; CYP3A4</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F1F1F"/>
                          </a:solidFill>
                        </a:rPr>
                        <a:t>Mesalamine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Topical colonic 5-aminosalicylate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Ulcerative colitis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Diarrhea, headache; renal impairment (monitor)</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4834128"/>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S47; S49; p. 682; p. 683; p. 684; p. 687; p. 688; p. 689; p. 690</a:t>
            </a:r>
            <a:endParaRPr lang="en-US" sz="11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OSTEOARTHRITIS, RHEUMATOID ARTHRITIS &amp; DMARDS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300" b="1" dirty="0">
                <a:solidFill>
                  <a:srgbClr val="1F1F1F"/>
                </a:solidFill>
                <a:latin typeface="Calibri" pitchFamily="34" charset="0"/>
                <a:ea typeface="Calibri" pitchFamily="34" charset="-122"/>
                <a:cs typeface="Calibri" pitchFamily="34" charset="-120"/>
              </a:rPr>
              <a:t>Compare: Biologic and targeted DMARDs in the reading (textbook)</a:t>
            </a:r>
            <a:endParaRPr lang="en-US" sz="23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IO2.1 · IO2.2 · IO2.3 · IO2.4 · IO2.5 · IO2.6 · SO3 · SO4 · SO5</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103</a:t>
            </a:r>
            <a:endParaRPr lang="en-US" sz="1000" dirty="0"/>
          </a:p>
        </p:txBody>
      </p:sp>
      <p:graphicFrame>
        <p:nvGraphicFramePr>
          <p:cNvPr id="104"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2905658"/>
                <a:gridCol w="2905658"/>
                <a:gridCol w="2905658"/>
              </a:tblGrid>
              <a:tr h="0">
                <a:tc>
                  <a:txBody>
                    <a:bodyPr/>
                    <a:lstStyle/>
                    <a:p>
                      <a:pPr indent="0" marL="0">
                        <a:buNone/>
                      </a:pPr>
                      <a:r>
                        <a:rPr lang="en-US" sz="1400" b="1" dirty="0">
                          <a:solidFill>
                            <a:srgbClr val="FFFFFF"/>
                          </a:solidFill>
                        </a:rPr>
                        <a:t>Drug(s)</a:t>
                      </a:r>
                      <a:endParaRPr lang="en-US" sz="14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Target</a:t>
                      </a:r>
                      <a:endParaRPr lang="en-US" sz="14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Main uses</a:t>
                      </a:r>
                      <a:endParaRPr lang="en-US" sz="14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Watch for</a:t>
                      </a:r>
                      <a:endParaRPr lang="en-US" sz="14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400" b="1" dirty="0">
                          <a:solidFill>
                            <a:srgbClr val="1F1F1F"/>
                          </a:solidFill>
                        </a:rPr>
                        <a:t>Adalimumab, etanercept, infliximab</a:t>
                      </a:r>
                      <a:r>
                        <a:rPr lang="en-US" sz="1400" b="1" dirty="0">
                          <a:solidFill>
                            <a:srgbClr val="1F1F1F"/>
                          </a:solidFill>
                        </a:rPr>
                        <a:t>, certolizumab, golimumab</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TNF-α</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RA, PsA, AS, psoriasis; infliximab and adalimumab also Crohn and UC</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TB, fungal, hepatitis B; heart failure; demyelination; lymphoma (boxed)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400" b="1" dirty="0">
                          <a:solidFill>
                            <a:srgbClr val="1F1F1F"/>
                          </a:solidFill>
                        </a:rPr>
                        <a:t>Tocilizumab</a:t>
                      </a:r>
                      <a:r>
                        <a:rPr lang="en-US" sz="1400" b="1" dirty="0">
                          <a:solidFill>
                            <a:srgbClr val="1F1F1F"/>
                          </a:solidFill>
                        </a:rPr>
                        <a:t>, sarilumab</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400" dirty="0">
                          <a:solidFill>
                            <a:srgbClr val="1F1F1F"/>
                          </a:solidFill>
                        </a:rPr>
                        <a:t>IL-6 receptor</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400" dirty="0">
                          <a:solidFill>
                            <a:srgbClr val="1F1F1F"/>
                          </a:solidFill>
                        </a:rPr>
                        <a:t>RA; tocilizumab also giant cell arteritis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400" dirty="0">
                          <a:solidFill>
                            <a:srgbClr val="1F1F1F"/>
                          </a:solidFill>
                        </a:rPr>
                        <a:t>Infection, liver enzymes, lipids, cytopenias; no sarilumab with diverticulitis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F1F1F"/>
                          </a:solidFill>
                        </a:rPr>
                        <a:t>Rituximab</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CD20 B cells (depletion)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RA with methotrexate; GPA</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First-dose rash (~30%), infusion reactions, hepatitis B reactivation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400" b="1" dirty="0">
                          <a:solidFill>
                            <a:srgbClr val="1F1F1F"/>
                          </a:solidFill>
                        </a:rPr>
                        <a:t>Abatacept</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400" dirty="0">
                          <a:solidFill>
                            <a:srgbClr val="1F1F1F"/>
                          </a:solidFill>
                        </a:rPr>
                        <a:t>CD80/86–CD28 costimulation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400" dirty="0">
                          <a:solidFill>
                            <a:srgbClr val="1F1F1F"/>
                          </a:solidFill>
                        </a:rPr>
                        <a:t>RA, PsA, JIA</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400" dirty="0">
                          <a:solidFill>
                            <a:srgbClr val="1F1F1F"/>
                          </a:solidFill>
                        </a:rPr>
                        <a:t>Infection; don’t combine with TNF inhibitors; live vaccines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F1F1F"/>
                          </a:solidFill>
                        </a:rPr>
                        <a:t>Anakinra, canakinumab, rilonacept</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Interleukin-1</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CAPS; anakinra approved but rarely used in RA</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Injection-site reactions (up to 40%), URIs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400" b="1" dirty="0">
                          <a:solidFill>
                            <a:srgbClr val="1F1F1F"/>
                          </a:solidFill>
                        </a:rPr>
                        <a:t>Baricitinib, tofacitinib, upadacitinib</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400" dirty="0">
                          <a:solidFill>
                            <a:srgbClr val="1F1F1F"/>
                          </a:solidFill>
                        </a:rPr>
                        <a:t>Janus kinase (JAK-STAT), oral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400" dirty="0">
                          <a:solidFill>
                            <a:srgbClr val="1F1F1F"/>
                          </a:solidFill>
                        </a:rPr>
                        <a:t>RA after TNF or methotrexate failure; PsA; UC</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400" dirty="0">
                          <a:solidFill>
                            <a:srgbClr val="1F1F1F"/>
                          </a:solidFill>
                        </a:rPr>
                        <a:t>Boxed VTE/MACE/cancer; herpes zoster; ↑ LDL; caution with diverticulitis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5829808"/>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S51; p. 682; p. 683; p. 684; p. 685; p. 686; p. 689; p. 690; p. 692; p. 693</a:t>
            </a:r>
            <a:endParaRPr lang="en-US" sz="11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OSTEOARTHRITIS, RHEUMATOID ARTHRITIS &amp; DMARDS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000" b="1" dirty="0">
                <a:solidFill>
                  <a:srgbClr val="1F1F1F"/>
                </a:solidFill>
                <a:latin typeface="Calibri" pitchFamily="34" charset="0"/>
                <a:ea typeface="Calibri" pitchFamily="34" charset="-122"/>
                <a:cs typeface="Calibri" pitchFamily="34" charset="-120"/>
              </a:rPr>
              <a:t>Compare: Biologic and targeted DMARDs in the reading (textbook) (cont.)</a:t>
            </a:r>
            <a:endParaRPr lang="en-US" sz="2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IO2.1 · IO2.2 · IO2.3 · IO2.4 · IO2.5 · IO2.6 · SO3 · SO4 · SO5</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104</a:t>
            </a:r>
            <a:endParaRPr lang="en-US" sz="1000" dirty="0"/>
          </a:p>
        </p:txBody>
      </p:sp>
      <p:graphicFrame>
        <p:nvGraphicFramePr>
          <p:cNvPr id="105"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2905658"/>
                <a:gridCol w="2905658"/>
                <a:gridCol w="2905658"/>
              </a:tblGrid>
              <a:tr h="0">
                <a:tc>
                  <a:txBody>
                    <a:bodyPr/>
                    <a:lstStyle/>
                    <a:p>
                      <a:pPr indent="0" marL="0">
                        <a:buNone/>
                      </a:pPr>
                      <a:r>
                        <a:rPr lang="en-US" sz="1400" b="1" dirty="0">
                          <a:solidFill>
                            <a:srgbClr val="FFFFFF"/>
                          </a:solidFill>
                        </a:rPr>
                        <a:t>Drug(s)</a:t>
                      </a:r>
                      <a:endParaRPr lang="en-US" sz="14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Target</a:t>
                      </a:r>
                      <a:endParaRPr lang="en-US" sz="14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Main uses</a:t>
                      </a:r>
                      <a:endParaRPr lang="en-US" sz="14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Watch for</a:t>
                      </a:r>
                      <a:endParaRPr lang="en-US" sz="14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400" b="1" dirty="0">
                          <a:solidFill>
                            <a:srgbClr val="1F1F1F"/>
                          </a:solidFill>
                        </a:rPr>
                        <a:t>Secukinumab, ixekizumab</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IL-17A</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Psoriasis, PsA, AS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Infection; can cause or worsen IBD; TB screen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400" b="1" dirty="0">
                          <a:solidFill>
                            <a:srgbClr val="1F1F1F"/>
                          </a:solidFill>
                        </a:rPr>
                        <a:t>Ustekinumab</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400" dirty="0">
                          <a:solidFill>
                            <a:srgbClr val="1F1F1F"/>
                          </a:solidFill>
                        </a:rPr>
                        <a:t>IL-12/IL-23 (p40)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400" dirty="0">
                          <a:solidFill>
                            <a:srgbClr val="1F1F1F"/>
                          </a:solidFill>
                        </a:rPr>
                        <a:t>PsA, psoriasis, Crohn, UC</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400" dirty="0">
                          <a:solidFill>
                            <a:srgbClr val="1F1F1F"/>
                          </a:solidFill>
                        </a:rPr>
                        <a:t>URIs; stop ≥ 15 weeks before live vaccines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F1F1F"/>
                          </a:solidFill>
                        </a:rPr>
                        <a:t>Guselkumab, risankizumab</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IL-23 (p19)</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Plaque psoriasis, PsA</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URIs; TB screen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400" b="1" dirty="0">
                          <a:solidFill>
                            <a:srgbClr val="1F1F1F"/>
                          </a:solidFill>
                        </a:rPr>
                        <a:t>Belimumab</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400" dirty="0">
                          <a:solidFill>
                            <a:srgbClr val="1F1F1F"/>
                          </a:solidFill>
                        </a:rPr>
                        <a:t>BLyS (B-cell survival)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400" dirty="0">
                          <a:solidFill>
                            <a:srgbClr val="1F1F1F"/>
                          </a:solidFill>
                        </a:rPr>
                        <a:t>SLE, lupus nephritis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400" dirty="0">
                          <a:solidFill>
                            <a:srgbClr val="1F1F1F"/>
                          </a:solidFill>
                        </a:rPr>
                        <a:t>Infection; depression and suicide reported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F1F1F"/>
                          </a:solidFill>
                        </a:rPr>
                        <a:t>Anifrolumab</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Type 1 interferon receptor</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Nonrenal SLE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400" dirty="0">
                          <a:solidFill>
                            <a:srgbClr val="1F1F1F"/>
                          </a:solidFill>
                        </a:rPr>
                        <a:t>URIs, bronchitis, infusion reactions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418338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S51; p. 682; p. 683; p. 684; p. 685; p. 686; p. 689; p. 690; p. 692; p. 693</a:t>
            </a:r>
            <a:endParaRPr lang="en-US" sz="11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OSTEOARTHRITIS, RHEUMATOID ARTHRITIS &amp; DMARDS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IO2.1 · IO2.2 · IO2.3 · IO2.4 · IO2.5 · IO2.6 · SO3 · SO4 · SO5</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105</a:t>
            </a:r>
            <a:endParaRPr lang="en-US" sz="1000" dirty="0"/>
          </a:p>
        </p:txBody>
      </p:sp>
      <p:sp>
        <p:nvSpPr>
          <p:cNvPr id="7" name="Why it happens card"/>
          <p:cNvSpPr/>
          <p:nvPr/>
        </p:nvSpPr>
        <p:spPr>
          <a:xfrm>
            <a:off x="548640" y="1325880"/>
            <a:ext cx="5364328" cy="2276856"/>
          </a:xfrm>
          <a:prstGeom prst="roundRect">
            <a:avLst>
              <a:gd name="adj" fmla="val 4819"/>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can’t RA be treated like OA? RA is immune-mediated joint destruction; analgesics ease pain but leave the immune attack — and the damage — running.</a:t>
            </a:r>
            <a:r>
              <a:rPr lang="en-US" sz="1300" dirty="0">
                <a:solidFill>
                  <a:srgbClr val="666666"/>
                </a:solidFill>
              </a:rPr>
              <a:t>  S41; S45 (notes)</a:t>
            </a:r>
            <a:endParaRPr lang="en-US" sz="1800" dirty="0"/>
          </a:p>
        </p:txBody>
      </p:sp>
      <p:sp>
        <p:nvSpPr>
          <p:cNvPr id="12" name="Why it happens card"/>
          <p:cNvSpPr/>
          <p:nvPr/>
        </p:nvSpPr>
        <p:spPr>
          <a:xfrm>
            <a:off x="548640" y="3831336"/>
            <a:ext cx="5364328" cy="2276856"/>
          </a:xfrm>
          <a:prstGeom prst="roundRect">
            <a:avLst>
              <a:gd name="adj" fmla="val 4819"/>
            </a:avLst>
          </a:prstGeom>
          <a:solidFill>
            <a:srgbClr val="F2F4F7"/>
          </a:solidFill>
          <a:ln w="12700">
            <a:solidFill>
              <a:srgbClr val="F2F4F7"/>
            </a:solidFill>
            <a:prstDash val="solid"/>
          </a:ln>
        </p:spPr>
      </p:sp>
      <p:sp>
        <p:nvSpPr>
          <p:cNvPr id="13" name="Why it happens icon circle"/>
          <p:cNvSpPr/>
          <p:nvPr/>
        </p:nvSpPr>
        <p:spPr>
          <a:xfrm>
            <a:off x="777240" y="4014216"/>
            <a:ext cx="438912" cy="438912"/>
          </a:xfrm>
          <a:prstGeom prst="ellipse">
            <a:avLst/>
          </a:prstGeom>
          <a:solidFill>
            <a:srgbClr val="4472C4"/>
          </a:solidFill>
          <a:ln w="12700">
            <a:solidFill>
              <a:srgbClr val="4472C4"/>
            </a:solidFill>
            <a:prstDash val="solid"/>
          </a:ln>
        </p:spPr>
      </p:sp>
      <p:pic>
        <p:nvPicPr>
          <p:cNvPr id="14" name="Why it happens icon" descr="preencoded.png">    </p:cNvPr>
          <p:cNvPicPr>
            <a:picLocks noChangeAspect="1"/>
          </p:cNvPicPr>
          <p:nvPr/>
        </p:nvPicPr>
        <p:blipFill>
          <a:blip r:embed="rId2"/>
          <a:stretch>
            <a:fillRect/>
          </a:stretch>
        </p:blipFill>
        <p:spPr>
          <a:xfrm>
            <a:off x="877824" y="4114800"/>
            <a:ext cx="237744" cy="237744"/>
          </a:xfrm>
          <a:prstGeom prst="rect">
            <a:avLst/>
          </a:prstGeom>
        </p:spPr>
      </p:pic>
      <p:sp>
        <p:nvSpPr>
          <p:cNvPr id="15" name="Why it happens heading"/>
          <p:cNvSpPr txBox="1"/>
          <p:nvPr/>
        </p:nvSpPr>
        <p:spPr>
          <a:xfrm>
            <a:off x="1353312" y="4014216"/>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6" name="Why it happens body"/>
          <p:cNvSpPr txBox="1"/>
          <p:nvPr/>
        </p:nvSpPr>
        <p:spPr>
          <a:xfrm>
            <a:off x="777240" y="4581144"/>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screen for TB and hepatitis first? These drugs suppress the immune response that keeps latent infections in check, so a hidden infection can reactivate.</a:t>
            </a:r>
            <a:r>
              <a:rPr lang="en-US" sz="1300" dirty="0">
                <a:solidFill>
                  <a:srgbClr val="666666"/>
                </a:solidFill>
              </a:rPr>
              <a:t>  S56</a:t>
            </a:r>
            <a:endParaRPr lang="en-US" sz="1800" dirty="0"/>
          </a:p>
        </p:txBody>
      </p:sp>
      <p:sp>
        <p:nvSpPr>
          <p:cNvPr id="17" name="Mnemonic (memory aid) card"/>
          <p:cNvSpPr/>
          <p:nvPr/>
        </p:nvSpPr>
        <p:spPr>
          <a:xfrm>
            <a:off x="6278728" y="1325880"/>
            <a:ext cx="5364328" cy="1997964"/>
          </a:xfrm>
          <a:prstGeom prst="roundRect">
            <a:avLst>
              <a:gd name="adj" fmla="val 5492"/>
            </a:avLst>
          </a:prstGeom>
          <a:solidFill>
            <a:srgbClr val="F2F4F7"/>
          </a:solidFill>
          <a:ln w="12700">
            <a:solidFill>
              <a:srgbClr val="F2F4F7"/>
            </a:solidFill>
            <a:prstDash val="solid"/>
          </a:ln>
        </p:spPr>
      </p:sp>
      <p:sp>
        <p:nvSpPr>
          <p:cNvPr id="18" name="Mnemonic (memory aid) icon circle"/>
          <p:cNvSpPr/>
          <p:nvPr/>
        </p:nvSpPr>
        <p:spPr>
          <a:xfrm>
            <a:off x="6507328" y="1508760"/>
            <a:ext cx="438912" cy="438912"/>
          </a:xfrm>
          <a:prstGeom prst="ellipse">
            <a:avLst/>
          </a:prstGeom>
          <a:solidFill>
            <a:srgbClr val="7030A0"/>
          </a:solidFill>
          <a:ln w="12700">
            <a:solidFill>
              <a:srgbClr val="7030A0"/>
            </a:solidFill>
            <a:prstDash val="solid"/>
          </a:ln>
        </p:spPr>
      </p:sp>
      <p:pic>
        <p:nvPicPr>
          <p:cNvPr id="19" name="Mnemonic (memory aid) icon" descr="preencoded.png">    </p:cNvPr>
          <p:cNvPicPr>
            <a:picLocks noChangeAspect="1"/>
          </p:cNvPicPr>
          <p:nvPr/>
        </p:nvPicPr>
        <p:blipFill>
          <a:blip r:embed="rId3"/>
          <a:stretch>
            <a:fillRect/>
          </a:stretch>
        </p:blipFill>
        <p:spPr>
          <a:xfrm>
            <a:off x="6607912" y="1609344"/>
            <a:ext cx="237744" cy="237744"/>
          </a:xfrm>
          <a:prstGeom prst="rect">
            <a:avLst/>
          </a:prstGeom>
        </p:spPr>
      </p:pic>
      <p:sp>
        <p:nvSpPr>
          <p:cNvPr id="20" name="Mnemonic (memory aid)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21" name="Mnemonic (memory aid) body"/>
          <p:cNvSpPr txBox="1"/>
          <p:nvPr/>
        </p:nvSpPr>
        <p:spPr>
          <a:xfrm>
            <a:off x="6507328" y="2075688"/>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Methotrexate rules = </a:t>
            </a:r>
            <a:r>
              <a:rPr lang="en-US" sz="1800" b="1" dirty="0">
                <a:solidFill>
                  <a:srgbClr val="1F1F1F"/>
                </a:solidFill>
              </a:rPr>
              <a:t>W-F-P</a:t>
            </a:r>
            <a:r>
              <a:rPr lang="en-US" sz="1800" dirty="0">
                <a:solidFill>
                  <a:srgbClr val="1F1F1F"/>
                </a:solidFill>
              </a:rPr>
              <a:t>: </a:t>
            </a:r>
            <a:r>
              <a:rPr lang="en-US" sz="1800" b="1" dirty="0">
                <a:solidFill>
                  <a:srgbClr val="1F1F1F"/>
                </a:solidFill>
              </a:rPr>
              <a:t>W</a:t>
            </a:r>
            <a:r>
              <a:rPr lang="en-US" sz="1800" dirty="0">
                <a:solidFill>
                  <a:srgbClr val="1F1F1F"/>
                </a:solidFill>
              </a:rPr>
              <a:t>eekly (never daily), </a:t>
            </a:r>
            <a:r>
              <a:rPr lang="en-US" sz="1800" b="1" dirty="0">
                <a:solidFill>
                  <a:srgbClr val="1F1F1F"/>
                </a:solidFill>
              </a:rPr>
              <a:t>F</a:t>
            </a:r>
            <a:r>
              <a:rPr lang="en-US" sz="1800" dirty="0">
                <a:solidFill>
                  <a:srgbClr val="1F1F1F"/>
                </a:solidFill>
              </a:rPr>
              <a:t>olate with it, </a:t>
            </a:r>
            <a:r>
              <a:rPr lang="en-US" sz="1800" b="1" dirty="0">
                <a:solidFill>
                  <a:srgbClr val="1F1F1F"/>
                </a:solidFill>
              </a:rPr>
              <a:t>P</a:t>
            </a:r>
            <a:r>
              <a:rPr lang="en-US" sz="1800" dirty="0">
                <a:solidFill>
                  <a:srgbClr val="1F1F1F"/>
                </a:solidFill>
              </a:rPr>
              <a:t>regnancy contraindicated.</a:t>
            </a:r>
            <a:r>
              <a:rPr lang="en-US" sz="1300" dirty="0">
                <a:solidFill>
                  <a:srgbClr val="666666"/>
                </a:solidFill>
              </a:rPr>
              <a:t>  S49; SG U2-R7</a:t>
            </a:r>
            <a:endParaRPr lang="en-US" sz="1800" dirty="0"/>
          </a:p>
        </p:txBody>
      </p:sp>
      <p:sp>
        <p:nvSpPr>
          <p:cNvPr id="22" name="Mnemonic (memory aid) card"/>
          <p:cNvSpPr/>
          <p:nvPr/>
        </p:nvSpPr>
        <p:spPr>
          <a:xfrm>
            <a:off x="6278728" y="3552444"/>
            <a:ext cx="5364328" cy="1719072"/>
          </a:xfrm>
          <a:prstGeom prst="roundRect">
            <a:avLst>
              <a:gd name="adj" fmla="val 6383"/>
            </a:avLst>
          </a:prstGeom>
          <a:solidFill>
            <a:srgbClr val="F2F4F7"/>
          </a:solidFill>
          <a:ln w="12700">
            <a:solidFill>
              <a:srgbClr val="F2F4F7"/>
            </a:solidFill>
            <a:prstDash val="solid"/>
          </a:ln>
        </p:spPr>
      </p:sp>
      <p:sp>
        <p:nvSpPr>
          <p:cNvPr id="23" name="Mnemonic (memory aid) icon circle"/>
          <p:cNvSpPr/>
          <p:nvPr/>
        </p:nvSpPr>
        <p:spPr>
          <a:xfrm>
            <a:off x="6507328" y="3735324"/>
            <a:ext cx="438912" cy="438912"/>
          </a:xfrm>
          <a:prstGeom prst="ellipse">
            <a:avLst/>
          </a:prstGeom>
          <a:solidFill>
            <a:srgbClr val="7030A0"/>
          </a:solidFill>
          <a:ln w="12700">
            <a:solidFill>
              <a:srgbClr val="7030A0"/>
            </a:solidFill>
            <a:prstDash val="solid"/>
          </a:ln>
        </p:spPr>
      </p:sp>
      <p:pic>
        <p:nvPicPr>
          <p:cNvPr id="24" name="Mnemonic (memory aid) icon" descr="preencoded.png">    </p:cNvPr>
          <p:cNvPicPr>
            <a:picLocks noChangeAspect="1"/>
          </p:cNvPicPr>
          <p:nvPr/>
        </p:nvPicPr>
        <p:blipFill>
          <a:blip r:embed="rId4"/>
          <a:stretch>
            <a:fillRect/>
          </a:stretch>
        </p:blipFill>
        <p:spPr>
          <a:xfrm>
            <a:off x="6607912" y="3835908"/>
            <a:ext cx="237744" cy="237744"/>
          </a:xfrm>
          <a:prstGeom prst="rect">
            <a:avLst/>
          </a:prstGeom>
        </p:spPr>
      </p:pic>
      <p:sp>
        <p:nvSpPr>
          <p:cNvPr id="25" name="Mnemonic (memory aid) heading"/>
          <p:cNvSpPr txBox="1"/>
          <p:nvPr/>
        </p:nvSpPr>
        <p:spPr>
          <a:xfrm>
            <a:off x="7083400" y="3735324"/>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26" name="Mnemonic (memory aid) body"/>
          <p:cNvSpPr txBox="1"/>
          <p:nvPr/>
        </p:nvSpPr>
        <p:spPr>
          <a:xfrm>
            <a:off x="6507328" y="4302252"/>
            <a:ext cx="4907128" cy="85039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Methotrexate toxicity hits </a:t>
            </a:r>
            <a:r>
              <a:rPr lang="en-US" sz="1800" b="1" dirty="0">
                <a:solidFill>
                  <a:srgbClr val="1F1F1F"/>
                </a:solidFill>
              </a:rPr>
              <a:t>L-B-L</a:t>
            </a:r>
            <a:r>
              <a:rPr lang="en-US" sz="1800" dirty="0">
                <a:solidFill>
                  <a:srgbClr val="1F1F1F"/>
                </a:solidFill>
              </a:rPr>
              <a:t>: </a:t>
            </a:r>
            <a:r>
              <a:rPr lang="en-US" sz="1800" b="1" dirty="0">
                <a:solidFill>
                  <a:srgbClr val="1F1F1F"/>
                </a:solidFill>
              </a:rPr>
              <a:t>L</a:t>
            </a:r>
            <a:r>
              <a:rPr lang="en-US" sz="1800" dirty="0">
                <a:solidFill>
                  <a:srgbClr val="1F1F1F"/>
                </a:solidFill>
              </a:rPr>
              <a:t>iver, </a:t>
            </a:r>
            <a:r>
              <a:rPr lang="en-US" sz="1800" b="1" dirty="0">
                <a:solidFill>
                  <a:srgbClr val="1F1F1F"/>
                </a:solidFill>
              </a:rPr>
              <a:t>B</a:t>
            </a:r>
            <a:r>
              <a:rPr lang="en-US" sz="1800" dirty="0">
                <a:solidFill>
                  <a:srgbClr val="1F1F1F"/>
                </a:solidFill>
              </a:rPr>
              <a:t>one marrow, </a:t>
            </a:r>
            <a:r>
              <a:rPr lang="en-US" sz="1800" b="1" dirty="0">
                <a:solidFill>
                  <a:srgbClr val="1F1F1F"/>
                </a:solidFill>
              </a:rPr>
              <a:t>L</a:t>
            </a:r>
            <a:r>
              <a:rPr lang="en-US" sz="1800" dirty="0">
                <a:solidFill>
                  <a:srgbClr val="1F1F1F"/>
                </a:solidFill>
              </a:rPr>
              <a:t>ung.</a:t>
            </a:r>
            <a:r>
              <a:rPr lang="en-US" sz="1300" dirty="0">
                <a:solidFill>
                  <a:srgbClr val="666666"/>
                </a:solidFill>
              </a:rPr>
              <a:t>  S49</a:t>
            </a:r>
            <a:endParaRPr lang="en-US" sz="18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OSTEOARTHRITIS, RHEUMATOID ARTHRITIS &amp; DMARDS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IO2.1 · IO2.2 · IO2.3 · IO2.4 · IO2.5 · IO2.6 · SO3 · SO4 · SO5</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106</a:t>
            </a:r>
            <a:endParaRPr lang="en-US" sz="1000" dirty="0"/>
          </a:p>
        </p:txBody>
      </p:sp>
      <p:sp>
        <p:nvSpPr>
          <p:cNvPr id="7" name="Mnemonic (memory aid) card"/>
          <p:cNvSpPr/>
          <p:nvPr/>
        </p:nvSpPr>
        <p:spPr>
          <a:xfrm>
            <a:off x="548640" y="1325880"/>
            <a:ext cx="5364328" cy="2276856"/>
          </a:xfrm>
          <a:prstGeom prst="roundRect">
            <a:avLst>
              <a:gd name="adj" fmla="val 4819"/>
            </a:avLst>
          </a:prstGeom>
          <a:solidFill>
            <a:srgbClr val="F2F4F7"/>
          </a:solidFill>
          <a:ln w="12700">
            <a:solidFill>
              <a:srgbClr val="F2F4F7"/>
            </a:solidFill>
            <a:prstDash val="solid"/>
          </a:ln>
        </p:spPr>
      </p:sp>
      <p:sp>
        <p:nvSpPr>
          <p:cNvPr id="8" name="Mnemonic (memory aid)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Mnemonic (memory aid)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Mnemonic (memory aid)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11" name="Mnemonic (memory aid) body"/>
          <p:cNvSpPr txBox="1"/>
          <p:nvPr/>
        </p:nvSpPr>
        <p:spPr>
          <a:xfrm>
            <a:off x="777240"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Generic-name endings: </a:t>
            </a:r>
            <a:r>
              <a:rPr lang="en-US" sz="1800" b="1" dirty="0">
                <a:solidFill>
                  <a:srgbClr val="1F1F1F"/>
                </a:solidFill>
              </a:rPr>
              <a:t>-mab</a:t>
            </a:r>
            <a:r>
              <a:rPr lang="en-US" sz="1800" dirty="0">
                <a:solidFill>
                  <a:srgbClr val="1F1F1F"/>
                </a:solidFill>
              </a:rPr>
              <a:t> = monoclonal antibody (adalimumab, infliximab, tocilizumab, rituximab); </a:t>
            </a:r>
            <a:r>
              <a:rPr lang="en-US" sz="1800" b="1" dirty="0">
                <a:solidFill>
                  <a:srgbClr val="1F1F1F"/>
                </a:solidFill>
              </a:rPr>
              <a:t>-cept</a:t>
            </a:r>
            <a:r>
              <a:rPr lang="en-US" sz="1800" dirty="0">
                <a:solidFill>
                  <a:srgbClr val="1F1F1F"/>
                </a:solidFill>
              </a:rPr>
              <a:t> = receptor-fusion protein (etanercept, abatacept).</a:t>
            </a:r>
            <a:r>
              <a:rPr lang="en-US" sz="1300" dirty="0">
                <a:solidFill>
                  <a:srgbClr val="666666"/>
                </a:solidFill>
              </a:rPr>
              <a:t>  S60</a:t>
            </a:r>
            <a:endParaRPr lang="en-US" sz="18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OSTEOARTHRITIS, RHEUMATOID ARTHRITIS &amp; DMARDS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IO2.1 · IO2.2 · IO2.3 · IO2.4 · IO2.5 · IO2.6 · SO3 · SO4 · SO5</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107</a:t>
            </a:r>
            <a:endParaRPr lang="en-US" sz="1000" dirty="0"/>
          </a:p>
        </p:txBody>
      </p:sp>
      <p:sp>
        <p:nvSpPr>
          <p:cNvPr id="7" name="If you remember nothing else card"/>
          <p:cNvSpPr/>
          <p:nvPr/>
        </p:nvSpPr>
        <p:spPr>
          <a:xfrm>
            <a:off x="548640" y="1325880"/>
            <a:ext cx="11094415" cy="3273552"/>
          </a:xfrm>
          <a:prstGeom prst="roundRect">
            <a:avLst>
              <a:gd name="adj" fmla="val 3352"/>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240487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OA = degenerative → pain control; RA = autoimmune → suppress disease activity.</a:t>
            </a:r>
            <a:r>
              <a:rPr lang="en-US" sz="1300" dirty="0">
                <a:solidFill>
                  <a:srgbClr val="666666"/>
                </a:solidFill>
              </a:rPr>
              <a:t>  S41</a:t>
            </a:r>
            <a:endParaRPr lang="en-US" sz="1800" dirty="0"/>
          </a:p>
          <a:p>
            <a:pPr marL="228600" indent="-228600">
              <a:spcAft>
                <a:spcPts val="800"/>
              </a:spcAft>
              <a:buSzPct val="100000"/>
              <a:buChar char="•"/>
            </a:pPr>
            <a:r>
              <a:rPr lang="en-US" sz="1800" dirty="0">
                <a:solidFill>
                  <a:srgbClr val="1F1F1F"/>
                </a:solidFill>
              </a:rPr>
              <a:t>OA ladder: acetaminophen → oral or topical NSAIDs → intra-articular steroids for a single-joint flare.</a:t>
            </a:r>
            <a:r>
              <a:rPr lang="en-US" sz="1300" dirty="0">
                <a:solidFill>
                  <a:srgbClr val="666666"/>
                </a:solidFill>
              </a:rPr>
              <a:t>  S43</a:t>
            </a:r>
            <a:endParaRPr lang="en-US" sz="1800" dirty="0"/>
          </a:p>
          <a:p>
            <a:pPr marL="228600" indent="-228600">
              <a:spcAft>
                <a:spcPts val="800"/>
              </a:spcAft>
              <a:buSzPct val="100000"/>
              <a:buChar char="•"/>
            </a:pPr>
            <a:r>
              <a:rPr lang="en-US" sz="1800" dirty="0">
                <a:solidFill>
                  <a:srgbClr val="1F1F1F"/>
                </a:solidFill>
              </a:rPr>
              <a:t>DMARDs (conventional and biologic — methotrexate, adalimumab, etanercept, infliximab, tocilizumab, rituximab, abatacept) modify RA’s disease course rather than only masking symptoms.</a:t>
            </a:r>
            <a:r>
              <a:rPr lang="en-US" sz="1300" dirty="0">
                <a:solidFill>
                  <a:srgbClr val="666666"/>
                </a:solidFill>
              </a:rPr>
              <a:t>  S61; S45; SG U2-R6</a:t>
            </a:r>
            <a:endParaRPr lang="en-US" sz="1800" dirty="0"/>
          </a:p>
          <a:p>
            <a:pPr marL="228600" indent="-228600">
              <a:spcAft>
                <a:spcPts val="800"/>
              </a:spcAft>
              <a:buSzPct val="100000"/>
              <a:buChar char="•"/>
            </a:pPr>
            <a:r>
              <a:rPr lang="en-US" sz="1800" dirty="0">
                <a:solidFill>
                  <a:srgbClr val="1F1F1F"/>
                </a:solidFill>
              </a:rPr>
              <a:t>Methotrexate: DHFR inhibitor, </a:t>
            </a:r>
            <a:r>
              <a:rPr lang="en-US" sz="1800" b="1" dirty="0">
                <a:solidFill>
                  <a:srgbClr val="1F1F1F"/>
                </a:solidFill>
              </a:rPr>
              <a:t>weekly</a:t>
            </a:r>
            <a:r>
              <a:rPr lang="en-US" sz="1800" dirty="0">
                <a:solidFill>
                  <a:srgbClr val="1F1F1F"/>
                </a:solidFill>
              </a:rPr>
              <a:t>, with folate.</a:t>
            </a:r>
            <a:r>
              <a:rPr lang="en-US" sz="1300" dirty="0">
                <a:solidFill>
                  <a:srgbClr val="666666"/>
                </a:solidFill>
              </a:rPr>
              <a:t>  S49; SG U2-R7</a:t>
            </a:r>
            <a:endParaRPr lang="en-US" sz="1800" dirty="0"/>
          </a:p>
          <a:p>
            <a:pPr marL="228600" indent="-228600">
              <a:spcAft>
                <a:spcPts val="800"/>
              </a:spcAft>
              <a:buSzPct val="100000"/>
              <a:buChar char="•"/>
            </a:pPr>
            <a:r>
              <a:rPr lang="en-US" sz="1800" dirty="0">
                <a:solidFill>
                  <a:srgbClr val="1F1F1F"/>
                </a:solidFill>
              </a:rPr>
              <a:t>Methotrexate toxicity: liver, marrow, lung; teratogenic.</a:t>
            </a:r>
            <a:r>
              <a:rPr lang="en-US" sz="1300" dirty="0">
                <a:solidFill>
                  <a:srgbClr val="666666"/>
                </a:solidFill>
              </a:rPr>
              <a:t>  S49</a:t>
            </a:r>
            <a:endParaRPr lang="en-US" sz="18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OSTEOARTHRITIS, RHEUMATOID ARTHRITIS &amp; DMARDS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IO2.1 · IO2.2 · IO2.3 · IO2.4 · IO2.5 · IO2.6 · SO3 · SO4 · SO5</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108</a:t>
            </a:r>
            <a:endParaRPr lang="en-US" sz="1000" dirty="0"/>
          </a:p>
        </p:txBody>
      </p:sp>
      <p:sp>
        <p:nvSpPr>
          <p:cNvPr id="7" name="If you remember nothing else card"/>
          <p:cNvSpPr/>
          <p:nvPr/>
        </p:nvSpPr>
        <p:spPr>
          <a:xfrm>
            <a:off x="548640" y="1325880"/>
            <a:ext cx="11094415" cy="3273552"/>
          </a:xfrm>
          <a:prstGeom prst="roundRect">
            <a:avLst>
              <a:gd name="adj" fmla="val 3352"/>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240487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HCQ = milder RA; sulfasalazine = combinations; leflunomide = if MTX not tolerated.</a:t>
            </a:r>
            <a:r>
              <a:rPr lang="en-US" sz="1300" dirty="0">
                <a:solidFill>
                  <a:srgbClr val="666666"/>
                </a:solidFill>
              </a:rPr>
              <a:t>  S47</a:t>
            </a:r>
            <a:endParaRPr lang="en-US" sz="1800" dirty="0"/>
          </a:p>
          <a:p>
            <a:pPr marL="228600" indent="-228600">
              <a:spcAft>
                <a:spcPts val="800"/>
              </a:spcAft>
              <a:buSzPct val="100000"/>
              <a:buChar char="•"/>
            </a:pPr>
            <a:r>
              <a:rPr lang="en-US" sz="1800" dirty="0">
                <a:solidFill>
                  <a:srgbClr val="1F1F1F"/>
                </a:solidFill>
              </a:rPr>
              <a:t>DMARDs change disease. Methotrexate is weekly, and screen for TB and hepatitis before biologics.</a:t>
            </a:r>
            <a:r>
              <a:rPr lang="en-US" sz="1300" dirty="0">
                <a:solidFill>
                  <a:srgbClr val="666666"/>
                </a:solidFill>
              </a:rPr>
              <a:t>  S61 (notes)</a:t>
            </a:r>
            <a:endParaRPr lang="en-US" sz="1800" dirty="0"/>
          </a:p>
          <a:p>
            <a:pPr marL="228600" indent="-228600">
              <a:spcAft>
                <a:spcPts val="800"/>
              </a:spcAft>
              <a:buSzPct val="100000"/>
              <a:buChar char="•"/>
            </a:pPr>
            <a:r>
              <a:rPr lang="en-US" sz="1800" dirty="0">
                <a:solidFill>
                  <a:srgbClr val="1F1F1F"/>
                </a:solidFill>
              </a:rPr>
              <a:t>TNF: adalimumab, etanercept, infliximab · IL-6: tocilizumab · B cell: rituximab · T-cell costimulation: abatacept.</a:t>
            </a:r>
            <a:r>
              <a:rPr lang="en-US" sz="1300" dirty="0">
                <a:solidFill>
                  <a:srgbClr val="666666"/>
                </a:solidFill>
              </a:rPr>
              <a:t>  S51; SG U2-R8</a:t>
            </a:r>
            <a:endParaRPr lang="en-US" sz="1800" dirty="0"/>
          </a:p>
          <a:p>
            <a:pPr marL="228600" indent="-228600">
              <a:spcAft>
                <a:spcPts val="800"/>
              </a:spcAft>
              <a:buSzPct val="100000"/>
              <a:buChar char="•"/>
            </a:pPr>
            <a:r>
              <a:rPr lang="en-US" sz="1800" dirty="0">
                <a:solidFill>
                  <a:srgbClr val="1F1F1F"/>
                </a:solidFill>
              </a:rPr>
              <a:t>Shared risk: immunosuppression → infection.</a:t>
            </a:r>
            <a:r>
              <a:rPr lang="en-US" sz="1300" dirty="0">
                <a:solidFill>
                  <a:srgbClr val="666666"/>
                </a:solidFill>
              </a:rPr>
              <a:t>  S56; SG U2-R8</a:t>
            </a:r>
            <a:endParaRPr lang="en-US" sz="1800" dirty="0"/>
          </a:p>
          <a:p>
            <a:pPr marL="228600" indent="-228600">
              <a:spcAft>
                <a:spcPts val="800"/>
              </a:spcAft>
              <a:buSzPct val="100000"/>
              <a:buChar char="•"/>
            </a:pPr>
            <a:r>
              <a:rPr lang="en-US" sz="1800" dirty="0">
                <a:solidFill>
                  <a:srgbClr val="1F1F1F"/>
                </a:solidFill>
              </a:rPr>
              <a:t>Before biologics: TB + hepatitis B/C screening, update (live) vaccines.</a:t>
            </a:r>
            <a:r>
              <a:rPr lang="en-US" sz="1300" dirty="0">
                <a:solidFill>
                  <a:srgbClr val="666666"/>
                </a:solidFill>
              </a:rPr>
              <a:t>  S56</a:t>
            </a:r>
            <a:endParaRPr lang="en-US" sz="18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14</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IO2.1 · IO2.2 · IO2.3 · IO2.4 · IO2.5 · IO2.6 · SO3 · SO4 · SO5</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109</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66-year-old has knee pain worse with activity, no systemic symptoms, and mild disease. Which first-line drug does the lecture call reasonable?</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Acetaminophen for mild osteoarthritis pain</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Methotrexate to slow joint destruction</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Hydroxychloroquine for mild disease</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Adalimumab to block TNF-α signaling</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Ketorolac taken daily as maintenance</a:t>
            </a:r>
            <a:endParaRPr lang="en-US" sz="18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14: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IO2.1 · IO2.2 · IO2.3 · IO2.4 · IO2.5 · IO2.6 · SO3 · SO4 · SO5</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110</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Acetaminophen for mild osteoarthritis pain</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Acetaminophen is a reasonable first-line for mild OA pain (S43).</a:t>
            </a:r>
            <a:r>
              <a:rPr lang="en-US" sz="1100" dirty="0">
                <a:solidFill>
                  <a:srgbClr val="666666"/>
                </a:solidFill>
              </a:rPr>
              <a:t>  S41; S43</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Methotrexate to slow joint destruction — </a:t>
            </a:r>
            <a:r>
              <a:rPr lang="en-US" sz="1600" dirty="0">
                <a:solidFill>
                  <a:srgbClr val="1F1F1F"/>
                </a:solidFill>
              </a:rPr>
              <a:t>Methotrexate is the anchor DMARD for RA, an autoimmune disease (S41; S47).</a:t>
            </a:r>
            <a:endParaRPr lang="en-US" sz="1600" dirty="0"/>
          </a:p>
          <a:p>
            <a:pPr indent="0" marL="0">
              <a:buNone/>
            </a:pPr>
            <a:r>
              <a:rPr lang="en-US" sz="1600" b="1" dirty="0">
                <a:solidFill>
                  <a:srgbClr val="1F1F1F"/>
                </a:solidFill>
              </a:rPr>
              <a:t>C. Hydroxychloroquine for mild disease — </a:t>
            </a:r>
            <a:r>
              <a:rPr lang="en-US" sz="1600" dirty="0">
                <a:solidFill>
                  <a:srgbClr val="1F1F1F"/>
                </a:solidFill>
              </a:rPr>
              <a:t>Hydroxychloroquine is a DMARD for milder RA (S47).</a:t>
            </a:r>
            <a:endParaRPr lang="en-US" sz="1600" dirty="0"/>
          </a:p>
          <a:p>
            <a:pPr indent="0" marL="0">
              <a:buNone/>
            </a:pPr>
            <a:r>
              <a:rPr lang="en-US" sz="1600" b="1" dirty="0">
                <a:solidFill>
                  <a:srgbClr val="1F1F1F"/>
                </a:solidFill>
              </a:rPr>
              <a:t>D. Adalimumab to block TNF-α signaling — </a:t>
            </a:r>
            <a:r>
              <a:rPr lang="en-US" sz="1600" dirty="0">
                <a:solidFill>
                  <a:srgbClr val="1F1F1F"/>
                </a:solidFill>
              </a:rPr>
              <a:t>Biologic DMARDs treat RA, not degenerative OA (S41; S51).</a:t>
            </a:r>
            <a:endParaRPr lang="en-US" sz="1600" dirty="0"/>
          </a:p>
          <a:p>
            <a:pPr indent="0" marL="0">
              <a:buNone/>
            </a:pPr>
            <a:r>
              <a:rPr lang="en-US" sz="1600" b="1" dirty="0">
                <a:solidFill>
                  <a:srgbClr val="1F1F1F"/>
                </a:solidFill>
              </a:rPr>
              <a:t>E. Ketorolac taken daily as maintenance — </a:t>
            </a:r>
            <a:r>
              <a:rPr lang="en-US" sz="1600" dirty="0">
                <a:solidFill>
                  <a:srgbClr val="1F1F1F"/>
                </a:solidFill>
              </a:rPr>
              <a:t>Ketorolac is short-term only (S28).</a:t>
            </a:r>
            <a:endParaRPr lang="en-US" sz="16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S58-59</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19</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IO2.1 · IO2.2 · IO2.3 · IO2.4 · IO2.5 · IO2.6 · SO3 · SO4 · SO5</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111</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Which feature distinguishes a DMARD from an NSAID in the management of rheumatoid arthritis?</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DMARDs provide faster pain relief than NSAIDs do</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DMARDs are only available as biologic agents</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NSAIDs suppress the immune system more than DMARDs</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DMARDs and NSAIDs share the same COX mechanism</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DMARDs modify the disease process, not just symptoms</a:t>
            </a:r>
            <a:endParaRPr lang="en-US" sz="18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19: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IO2.1 · IO2.2 · IO2.3 · IO2.4 · IO2.5 · IO2.6 · SO3 · SO4 · SO5</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112</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DMARDs modify the disease process, not just symptoms</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An NSAID can make a patient feel better without changing RA’s disease trajectory; a DMARD (conventional or biologic) is intended to slow or halt joint destruction and systemic inflammation itself (S59; SG U2-R6).</a:t>
            </a:r>
            <a:r>
              <a:rPr lang="en-US" sz="1100" dirty="0">
                <a:solidFill>
                  <a:srgbClr val="666666"/>
                </a:solidFill>
              </a:rPr>
              <a:t>  S58-59; S45; SG U2-R6</a:t>
            </a:r>
            <a:endParaRPr lang="en-US" sz="1600" dirty="0"/>
          </a:p>
        </p:txBody>
      </p:sp>
      <p:sp>
        <p:nvSpPr>
          <p:cNvPr id="11" name="Why others wrong card"/>
          <p:cNvSpPr/>
          <p:nvPr/>
        </p:nvSpPr>
        <p:spPr>
          <a:xfrm>
            <a:off x="548640" y="2873248"/>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982976"/>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DMARDs provide faster pain relief than NSAIDs do — </a:t>
            </a:r>
            <a:r>
              <a:rPr lang="en-US" sz="1600" dirty="0">
                <a:solidFill>
                  <a:srgbClr val="1F1F1F"/>
                </a:solidFill>
              </a:rPr>
              <a:t>NSAIDs act within days; DMARDs take weeks to months (S46).</a:t>
            </a:r>
            <a:endParaRPr lang="en-US" sz="1600" dirty="0"/>
          </a:p>
          <a:p>
            <a:pPr indent="0" marL="0">
              <a:buNone/>
            </a:pPr>
            <a:r>
              <a:rPr lang="en-US" sz="1600" b="1" dirty="0">
                <a:solidFill>
                  <a:srgbClr val="1F1F1F"/>
                </a:solidFill>
              </a:rPr>
              <a:t>B. DMARDs are only available as biologic agents — </a:t>
            </a:r>
            <a:r>
              <a:rPr lang="en-US" sz="1600" dirty="0">
                <a:solidFill>
                  <a:srgbClr val="1F1F1F"/>
                </a:solidFill>
              </a:rPr>
              <a:t>Conventional DMARDs such as methotrexate are not biologics (S47).</a:t>
            </a:r>
            <a:endParaRPr lang="en-US" sz="1600" dirty="0"/>
          </a:p>
          <a:p>
            <a:pPr indent="0" marL="0">
              <a:buNone/>
            </a:pPr>
            <a:r>
              <a:rPr lang="en-US" sz="1600" b="1" dirty="0">
                <a:solidFill>
                  <a:srgbClr val="1F1F1F"/>
                </a:solidFill>
              </a:rPr>
              <a:t>C. NSAIDs suppress the immune system more than DMARDs — </a:t>
            </a:r>
            <a:r>
              <a:rPr lang="en-US" sz="1600" dirty="0">
                <a:solidFill>
                  <a:srgbClr val="1F1F1F"/>
                </a:solidFill>
              </a:rPr>
              <a:t>Immunosuppression is the DMARD safety theme (S56).</a:t>
            </a:r>
            <a:endParaRPr lang="en-US" sz="1600" dirty="0"/>
          </a:p>
          <a:p>
            <a:pPr indent="0" marL="0">
              <a:buNone/>
            </a:pPr>
            <a:r>
              <a:rPr lang="en-US" sz="1600" b="1" dirty="0">
                <a:solidFill>
                  <a:srgbClr val="1F1F1F"/>
                </a:solidFill>
              </a:rPr>
              <a:t>D. DMARDs and NSAIDs share the same COX mechanism — </a:t>
            </a:r>
            <a:r>
              <a:rPr lang="en-US" sz="1600" dirty="0">
                <a:solidFill>
                  <a:srgbClr val="1F1F1F"/>
                </a:solidFill>
              </a:rPr>
              <a:t>COX inhibition is the NSAID mechanism (S24).</a:t>
            </a:r>
            <a:endParaRPr lang="en-US" sz="16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S54-55</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21</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IO2.1 · IO2.2 · IO2.3 · IO2.4 · IO2.5 · IO2.6 · SO3 · SO4 · SO5</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113</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In Figure 3, which biologic DMARD acts earliest in the cascade shown, before cytokines like TNF-α and IL-6 are even released?</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Tocilizumab</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Adalimumab</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Infliximab</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Abatacept</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Rituximab</a:t>
            </a:r>
            <a:endParaRPr lang="en-US" sz="18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21: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800" b="1" dirty="0">
                <a:solidFill>
                  <a:srgbClr val="2F4F8A"/>
                </a:solidFill>
              </a:rPr>
              <a:t>Objectives: IO2.1 · IO2.2 · IO2.3 · IO2.4 · IO2.5 · IO2.6 · SO3 · SO4 · SO5</a:t>
            </a:r>
            <a:endParaRPr lang="en-US" sz="8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L03 · Musculoskeletal Pharmacology — Session 1</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114</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Abatacept</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Abatacept blocks T-cell costimulation — the step furthest upstream in the diagram, before activated T cells drive cytokine release (blocked downstream by adalimumab/tocilizumab) or B-cell activity (blocked by rituximab) (S55).</a:t>
            </a:r>
            <a:r>
              <a:rPr lang="en-US" sz="1100" dirty="0">
                <a:solidFill>
                  <a:srgbClr val="666666"/>
                </a:solidFill>
              </a:rPr>
              <a:t>  S53-55; SG U2-M</a:t>
            </a:r>
            <a:endParaRPr lang="en-US" sz="1600" dirty="0"/>
          </a:p>
        </p:txBody>
      </p:sp>
      <p:sp>
        <p:nvSpPr>
          <p:cNvPr id="11" name="Why others wrong card"/>
          <p:cNvSpPr/>
          <p:nvPr/>
        </p:nvSpPr>
        <p:spPr>
          <a:xfrm>
            <a:off x="548640" y="2873248"/>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982976"/>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Tocilizumab — </a:t>
            </a:r>
            <a:r>
              <a:rPr lang="en-US" sz="1600" dirty="0">
                <a:solidFill>
                  <a:srgbClr val="1F1F1F"/>
                </a:solidFill>
              </a:rPr>
              <a:t>Blocks IL-6 receptor signaling, downstream of release (S52-53).</a:t>
            </a:r>
            <a:endParaRPr lang="en-US" sz="1600" dirty="0"/>
          </a:p>
          <a:p>
            <a:pPr indent="0" marL="0">
              <a:buNone/>
            </a:pPr>
            <a:r>
              <a:rPr lang="en-US" sz="1600" b="1" dirty="0">
                <a:solidFill>
                  <a:srgbClr val="1F1F1F"/>
                </a:solidFill>
              </a:rPr>
              <a:t>B. Adalimumab — </a:t>
            </a:r>
            <a:r>
              <a:rPr lang="en-US" sz="1600" dirty="0">
                <a:solidFill>
                  <a:srgbClr val="1F1F1F"/>
                </a:solidFill>
              </a:rPr>
              <a:t>Blocks TNF-α after it is released (S52-53).</a:t>
            </a:r>
            <a:endParaRPr lang="en-US" sz="1600" dirty="0"/>
          </a:p>
          <a:p>
            <a:pPr indent="0" marL="0">
              <a:buNone/>
            </a:pPr>
            <a:r>
              <a:rPr lang="en-US" sz="1600" b="1" dirty="0">
                <a:solidFill>
                  <a:srgbClr val="1F1F1F"/>
                </a:solidFill>
              </a:rPr>
              <a:t>C. Infliximab — </a:t>
            </a:r>
            <a:r>
              <a:rPr lang="en-US" sz="1600" dirty="0">
                <a:solidFill>
                  <a:srgbClr val="1F1F1F"/>
                </a:solidFill>
              </a:rPr>
              <a:t>Blocks TNF-α after it is released (S52-53).</a:t>
            </a:r>
            <a:endParaRPr lang="en-US" sz="1600" dirty="0"/>
          </a:p>
          <a:p>
            <a:pPr indent="0" marL="0">
              <a:buNone/>
            </a:pPr>
            <a:r>
              <a:rPr lang="en-US" sz="1600" b="1" dirty="0">
                <a:solidFill>
                  <a:srgbClr val="1F1F1F"/>
                </a:solidFill>
              </a:rPr>
              <a:t>E. Rituximab — </a:t>
            </a:r>
            <a:r>
              <a:rPr lang="en-US" sz="1600" dirty="0">
                <a:solidFill>
                  <a:srgbClr val="1F1F1F"/>
                </a:solidFill>
              </a:rPr>
              <a:t>Depletes B cells, a separate input (S52-53).</a:t>
            </a:r>
            <a:endParaRPr lang="en-US" sz="1600" dirty="0"/>
          </a:p>
        </p:txBody>
      </p:sp>
    </p:spTree>
  </p:cSld>
  <p:clrMapOvr>
    <a:masterClrMapping/>
  </p:clrMapOvr>
</p:sld>
</file>

<file path=ppt/theme/theme1.xml><?xml version="1.0" encoding="utf-8"?>
<a:theme xmlns:a="http://schemas.openxmlformats.org/drawingml/2006/main" name="Study deck light">
  <a:themeElements>
    <a:clrScheme name="Study deck light">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Study deck light">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114</Slides>
  <Notes>114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114</vt:i4>
      </vt:variant>
    </vt:vector>
  </HeadingPairs>
  <TitlesOfParts>
    <vt:vector size="1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L03 Musculoskeletal Pharmacology — Session 1</dc:title>
  <dc:subject>PptxGenJS Presentation</dc:subject>
  <dc:creator>PptxGenJS</dc:creator>
  <cp:lastModifiedBy>PptxGenJS</cp:lastModifiedBy>
  <cp:revision>1</cp:revision>
  <dcterms:created xsi:type="dcterms:W3CDTF">2026-10-27T21:42:15Z</dcterms:created>
  <dcterms:modified xsi:type="dcterms:W3CDTF">2026-10-27T21:42:15Z</dcterms:modified>
</cp:coreProperties>
</file>