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S8; SG U2-R2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S17; S18; SG U2-R5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S23; S24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image" Target="../media/image-54-7.png"/><Relationship Id="rId8" Type="http://schemas.openxmlformats.org/officeDocument/2006/relationships/image" Target="../media/image-54-8.png"/><Relationship Id="rId9" Type="http://schemas.openxmlformats.org/officeDocument/2006/relationships/image" Target="../media/image-54-9.png"/><Relationship Id="rId10" Type="http://schemas.openxmlformats.org/officeDocument/2006/relationships/image" Target="../media/image-5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L03 · Tue, Oct 27, 2026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Pharmacology — Session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Pharmacology study deck · organized by drug class</a:t>
            </a:r>
            <a:endParaRPr lang="en-US" sz="1800" dirty="0"/>
          </a:p>
        </p:txBody>
      </p:sp>
      <p:sp>
        <p:nvSpPr>
          <p:cNvPr id="5" name="Legend card"/>
          <p:cNvSpPr/>
          <p:nvPr/>
        </p:nvSpPr>
        <p:spPr>
          <a:xfrm>
            <a:off x="548640" y="384048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How to read this deck</a:t>
            </a:r>
            <a:endParaRPr lang="en-US" sz="1600" dirty="0"/>
          </a:p>
        </p:txBody>
      </p:sp>
      <p:sp>
        <p:nvSpPr>
          <p:cNvPr id="7" name="Legend"/>
          <p:cNvSpPr txBox="1"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400" dirty="0">
                <a:solidFill>
                  <a:srgbClr val="1F1F1F"/>
                </a:solidFill>
              </a:rPr>
              <a:t>  = textbook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400" dirty="0">
                <a:solidFill>
                  <a:srgbClr val="1F1F1F"/>
                </a:solidFill>
              </a:rPr>
              <a:t>  = course study guide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</a:rPr>
              <a:t>Bold</a:t>
            </a:r>
            <a:r>
              <a:rPr lang="en-US" sz="1400" dirty="0">
                <a:solidFill>
                  <a:srgbClr val="1F1F1F"/>
                </a:solidFill>
              </a:rPr>
              <a:t> = emphasized on the lecture slides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6666"/>
                </a:solidFill>
              </a:rPr>
              <a:t>S12</a:t>
            </a:r>
            <a:r>
              <a:rPr lang="en-US" sz="1400" dirty="0">
                <a:solidFill>
                  <a:srgbClr val="1F1F1F"/>
                </a:solidFill>
              </a:rPr>
              <a:t> = lecture slide 12   ·   </a:t>
            </a:r>
            <a:r>
              <a:rPr lang="en-US" sz="1400" dirty="0">
                <a:solidFill>
                  <a:srgbClr val="666666"/>
                </a:solidFill>
              </a:rPr>
              <a:t>p. 245</a:t>
            </a:r>
            <a:r>
              <a:rPr lang="en-US" sz="1400" dirty="0">
                <a:solidFill>
                  <a:srgbClr val="1F1F1F"/>
                </a:solidFill>
              </a:rPr>
              <a:t> = textbook page 245   ·   </a:t>
            </a:r>
            <a:r>
              <a:rPr lang="en-US" sz="1400" dirty="0">
                <a:solidFill>
                  <a:srgbClr val="666666"/>
                </a:solidFill>
              </a:rPr>
              <a:t>SG U1-R3</a:t>
            </a:r>
            <a:r>
              <a:rPr lang="en-US" sz="1400" dirty="0">
                <a:solidFill>
                  <a:srgbClr val="1F1F1F"/>
                </a:solidFill>
              </a:rPr>
              <a:t> = study guide item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Objective IO2.1"/>
          <p:cNvSpPr/>
          <p:nvPr/>
        </p:nvSpPr>
        <p:spPr>
          <a:xfrm>
            <a:off x="548640" y="1325880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major pharmacologic classes used in the management of musculoskeletal conditions and describe their mechanisms of action.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Musculoskeletal Pain &amp; the Inflammatory Cascade, Acetaminophen, 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0" name="Objective IO2.2"/>
          <p:cNvSpPr/>
          <p:nvPr/>
        </p:nvSpPr>
        <p:spPr>
          <a:xfrm>
            <a:off x="548640" y="2221992"/>
            <a:ext cx="11094415" cy="1018032"/>
          </a:xfrm>
          <a:prstGeom prst="roundRect">
            <a:avLst>
              <a:gd name="adj" fmla="val 89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21992"/>
            <a:ext cx="7315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21992"/>
            <a:ext cx="62179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Describe the indications, contraindications, adverse effects, and clinically significant interactions associated with medications used to treat musculoskeletal conditions.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21992"/>
            <a:ext cx="359633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4" name="Objective IO2.3"/>
          <p:cNvSpPr/>
          <p:nvPr/>
        </p:nvSpPr>
        <p:spPr>
          <a:xfrm>
            <a:off x="548640" y="3349752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49752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49752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Compare pharmacologic agents within and across therapeutic classes to distinguish clinically relevant differences in efficacy, safety, and use.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349752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8" name="Objective IO2.4"/>
          <p:cNvSpPr/>
          <p:nvPr/>
        </p:nvSpPr>
        <p:spPr>
          <a:xfrm>
            <a:off x="548640" y="4229608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29608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229608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Select appropriate pharmacologic therapy for common musculoskeletal conditions based on clinical presentation and patient-specific factors.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229608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NSAIDs &amp; COX-2 Selective Inhibition, Osteoarthritis, Rheumatoid Arthritis &amp; DMARDs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Objective IO2.5"/>
          <p:cNvSpPr/>
          <p:nvPr/>
        </p:nvSpPr>
        <p:spPr>
          <a:xfrm>
            <a:off x="548640" y="1325880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appropriate dosing, administration, and monitoring considerations for medications used in musculoskeletal conditions.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10" name="Objective IO2.6"/>
          <p:cNvSpPr/>
          <p:nvPr/>
        </p:nvSpPr>
        <p:spPr>
          <a:xfrm>
            <a:off x="548640" y="220573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573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0573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important medication-use and safety information to patients receiving pharmacotherapy for musculoskeletal.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0573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Osteoarthritis, Rheumatoid Arthritis &amp; DMARDs</a:t>
            </a:r>
            <a:endParaRPr lang="en-US" sz="1200" dirty="0"/>
          </a:p>
        </p:txBody>
      </p:sp>
      <p:sp>
        <p:nvSpPr>
          <p:cNvPr id="14" name="Objective SO1"/>
          <p:cNvSpPr/>
          <p:nvPr/>
        </p:nvSpPr>
        <p:spPr>
          <a:xfrm>
            <a:off x="548640" y="308559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855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8559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the pharmacologic basis of musculoskeletal pain and inflammation.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08559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18" name="Objective SO2"/>
          <p:cNvSpPr/>
          <p:nvPr/>
        </p:nvSpPr>
        <p:spPr>
          <a:xfrm>
            <a:off x="548640" y="376224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622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762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Compare acetaminophen and NSAIDs, including COX-1 vs. COX-2 inhibition.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762248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NSAIDs &amp; COX-2 Selective Inhibition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Objective SO3"/>
          <p:cNvSpPr/>
          <p:nvPr/>
        </p:nvSpPr>
        <p:spPr>
          <a:xfrm>
            <a:off x="548640" y="1325880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major NSAID adverse effects and select therapy based on patient risk factors.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0" name="Objective SO4"/>
          <p:cNvSpPr/>
          <p:nvPr/>
        </p:nvSpPr>
        <p:spPr>
          <a:xfrm>
            <a:off x="548640" y="220573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573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0573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the mechanisms of conventional vs. biologic DMARDs, including representative generic agents in each class.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0573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14" name="Objective SO5"/>
          <p:cNvSpPr/>
          <p:nvPr/>
        </p:nvSpPr>
        <p:spPr>
          <a:xfrm>
            <a:off x="548640" y="3085592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85592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85592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key contraindications, adverse effects, and drug interactions for analgesics and DMARDs.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085592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8" name="Objective SO6"/>
          <p:cNvSpPr/>
          <p:nvPr/>
        </p:nvSpPr>
        <p:spPr>
          <a:xfrm>
            <a:off x="548640" y="3965448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965448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965448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Preview: gout, skeletal muscle relaxants, and bone pharmacology continue in Session 2 (Thursday, October 29).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965448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Preview only — taught in Session 2 (L04) · No section covers this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PA Pharmacology Course · Lecture 2 · Session 1 of 2 — Musculoskeletal Pharmacology (Tuesday, October 27): pain, acetaminophen, NSAIDs, and osteoarthritis/rheumatoid arthritis pharmacotherapy, including DMARDs.</a:t>
            </a:r>
            <a:r>
              <a:rPr lang="en-US" sz="1300" dirty="0">
                <a:solidFill>
                  <a:srgbClr val="666666"/>
                </a:solidFill>
              </a:rPr>
              <a:t>  S1; S2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Session 2 (Thursday, October 29) picks up with gout, skeletal muscle relaxants, bone pharmacology, and the cumulative Lecture Recall Quiz.</a:t>
            </a:r>
            <a:r>
              <a:rPr lang="en-US" sz="1300" dirty="0">
                <a:solidFill>
                  <a:srgbClr val="666666"/>
                </a:solidFill>
              </a:rPr>
              <a:t>  S2 (notes); S31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Required text: Katzung’s Basic and Clinical Pharmacology, 16th Edition (Todd W. Vanderah, 2025, McGraw-Hill Education; ISBN 1260463303 eBook; on AccessMedicine: accessmedicine.mhmedical.com/book.aspx?bookid=3382). Unit 2 — Musculoskeletal: Chapters 27, 36, and 42.</a:t>
            </a:r>
            <a:r>
              <a:rPr lang="en-US" sz="1300" dirty="0">
                <a:solidFill>
                  <a:srgbClr val="666666"/>
                </a:solidFill>
              </a:rPr>
              <a:t>  S3; S3 (notes)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781044"/>
          </a:xfrm>
          <a:prstGeom prst="roundRect">
            <a:avLst>
              <a:gd name="adj" fmla="val 29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Recommended text (additional support, not a substitute): Pharmacotherapy Principles and Practice (Chisholm-Burns, Schwinghammer, Malone, Kolesar, Lee, 2022, McGraw-Hill Education; Print ISBN 9781260460278, eText ISBN 9781260460285) — supplemental support alongside Katzung’s Chapters 27, 36, and 42 for Unit 2.</a:t>
            </a:r>
            <a:r>
              <a:rPr lang="en-US" sz="1300" dirty="0">
                <a:solidFill>
                  <a:srgbClr val="666666"/>
                </a:solidFill>
              </a:rPr>
              <a:t>  S3; S3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Original figures in this deck:</a:t>
            </a:r>
            <a:r>
              <a:rPr lang="en-US" sz="1800" dirty="0">
                <a:solidFill>
                  <a:srgbClr val="1F1F1F"/>
                </a:solidFill>
              </a:rPr>
              <a:t> Figures 1–3 (The Arachidonic Acid Pathway: Where Analgesics Act; Nonselective NSAIDs vs. COX-2 Selective Inhibition; Biologic DMARDs: Where Each Class Intercepts the Immune Cascade) were generated by the course director using the AI tool Claude to illustrate standard, non-copyrighted pharmacologic concepts — original diagrams, not reproduced from Katzung or any other copyrighted source. </a:t>
            </a:r>
            <a:r>
              <a:rPr lang="en-US" sz="1800" b="1" dirty="0">
                <a:solidFill>
                  <a:srgbClr val="1F1F1F"/>
                </a:solidFill>
              </a:rPr>
              <a:t>Reference:</a:t>
            </a:r>
            <a:r>
              <a:rPr lang="en-US" sz="1800" dirty="0">
                <a:solidFill>
                  <a:srgbClr val="1F1F1F"/>
                </a:solidFill>
              </a:rPr>
              <a:t> Anthropic. (2026). Claude (Sonnet 5) [Large language model]. https://claude.ai</a:t>
            </a:r>
            <a:r>
              <a:rPr lang="en-US" sz="1300" dirty="0">
                <a:solidFill>
                  <a:srgbClr val="666666"/>
                </a:solidFill>
              </a:rPr>
              <a:t>  S32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classes in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2588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Musculoskeletal Pain &amp; the Inflammatory Cascade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SO1, IO2.1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774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Acetaminophen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SO2, SO5, IO2.1, IO2.2, IO2.6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290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NSAIDs &amp; COX-2 Selective Inhibition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SO2, SO3, SO5, IO2.1, IO2.2, IO2.3, IO2.4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805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Osteoarthritis, Rheumatoid Arthritis &amp; DMARDs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IO2.1, IO2.2, IO2.3, IO2.4, IO2.5, IO2.6, SO3, SO4, SO5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1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Pain &amp; the Inflammatory Cascade</a:t>
            </a:r>
            <a:endParaRPr lang="en-US" sz="4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SO1 · IO2.1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Key definitions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</a:t>
            </a:r>
            <a:endParaRPr lang="en-US" sz="1800" dirty="0"/>
          </a:p>
        </p:txBody>
      </p:sp>
      <p:sp>
        <p:nvSpPr>
          <p:cNvPr id="11" name="Key definitions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Nociceptive pain:</a:t>
            </a:r>
            <a:r>
              <a:rPr lang="en-US" sz="1800" dirty="0">
                <a:solidFill>
                  <a:srgbClr val="1F1F1F"/>
                </a:solidFill>
              </a:rPr>
              <a:t> direct activation of pain receptors by tissue injury.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Inflammatory pain:</a:t>
            </a:r>
            <a:r>
              <a:rPr lang="en-US" sz="1800" dirty="0">
                <a:solidFill>
                  <a:srgbClr val="1F1F1F"/>
                </a:solidFill>
              </a:rPr>
              <a:t> pain driven by inflammatory mediators.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Neuropathic pain:</a:t>
            </a:r>
            <a:r>
              <a:rPr lang="en-US" sz="1800" dirty="0">
                <a:solidFill>
                  <a:srgbClr val="1F1F1F"/>
                </a:solidFill>
              </a:rPr>
              <a:t> pain from nerve injury or dysfunction.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Acute pain:</a:t>
            </a:r>
            <a:r>
              <a:rPr lang="en-US" sz="1800" dirty="0">
                <a:solidFill>
                  <a:srgbClr val="1F1F1F"/>
                </a:solidFill>
              </a:rPr>
              <a:t> recent onset, often tied to an identifiable injury or flare.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Chronic pain:</a:t>
            </a:r>
            <a:r>
              <a:rPr lang="en-US" sz="1800" dirty="0">
                <a:solidFill>
                  <a:srgbClr val="1F1F1F"/>
                </a:solidFill>
              </a:rPr>
              <a:t> persists beyond expected healing time, often &gt; 3 months. Treatment approach differs sharply between acute and chronic pain.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How it works (1/2)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(1/2)</a:t>
            </a:r>
            <a:endParaRPr lang="en-US" sz="1800" dirty="0"/>
          </a:p>
        </p:txBody>
      </p:sp>
      <p:sp>
        <p:nvSpPr>
          <p:cNvPr id="11" name="How it works (1/2)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Tissue injury → release of inflammatory mediators → sensitization of nociceptors → pain.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Key mediators: </a:t>
            </a:r>
            <a:r>
              <a:rPr lang="en-US" sz="1800" b="1" dirty="0">
                <a:solidFill>
                  <a:srgbClr val="1F1F1F"/>
                </a:solidFill>
              </a:rPr>
              <a:t>prostaglandins, bradykinin, histamine, and cytokines (TNF-α, IL-1, IL-6).</a:t>
            </a:r>
            <a:r>
              <a:rPr lang="en-US" sz="1300" dirty="0">
                <a:solidFill>
                  <a:srgbClr val="666666"/>
                </a:solidFill>
              </a:rPr>
              <a:t>  S6; SG U2-R1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Arachidonic acid → COX enzyme → prostaglandins → pain and inflammation: the spine of the acetaminophen, NSAID, and corticosteroid sections.</a:t>
            </a:r>
            <a:r>
              <a:rPr lang="en-US" sz="1300" dirty="0">
                <a:solidFill>
                  <a:srgbClr val="666666"/>
                </a:solidFill>
              </a:rPr>
              <a:t>  S7; S7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NSAIDs and COX-2 inhibitors act at the COX step; glucocorticoids act further upstream; cytokine inhibitors and analgesics act through separate, parallel pathways.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How it works (2/2)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(2/2)</a:t>
            </a:r>
            <a:endParaRPr lang="en-US" sz="1800" dirty="0"/>
          </a:p>
        </p:txBody>
      </p:sp>
      <p:sp>
        <p:nvSpPr>
          <p:cNvPr id="11" name="How it works (2/2)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Corticosteroids block phospholipase A₂</a:t>
            </a:r>
            <a:r>
              <a:rPr lang="en-US" sz="1800" dirty="0">
                <a:solidFill>
                  <a:srgbClr val="1F1F1F"/>
                </a:solidFill>
              </a:rPr>
              <a:t> (membrane phospholipids → arachidonic acid), so a broad range of mediators falls. NSAIDs block only COX, so they lower prostaglandins specifically.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The immune response:</a:t>
            </a:r>
            <a:r>
              <a:rPr lang="en-US" sz="1800" dirty="0">
                <a:solidFill>
                  <a:srgbClr val="1F1F1F"/>
                </a:solidFill>
              </a:rPr>
              <a:t> chronic inflammation involves eicosanoids, leukotrienes, cytokines, chemokines, and many immune cells; RA, SLE, vasculitis, and gout all stem from this cascade.</a:t>
            </a:r>
            <a:r>
              <a:rPr lang="en-US" sz="1300" dirty="0">
                <a:solidFill>
                  <a:srgbClr val="666666"/>
                </a:solidFill>
              </a:rPr>
              <a:t>  p. 675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The lipoxygenase branch of arachidonic acid makes leukotrienes (chemotaxis, bronchoconstriction, vascular permeability) — a separate branch from the COX step NSAIDs block.</a:t>
            </a:r>
            <a:r>
              <a:rPr lang="en-US" sz="1300" dirty="0">
                <a:solidFill>
                  <a:srgbClr val="666666"/>
                </a:solidFill>
              </a:rPr>
              <a:t>  p. 675; p. 678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 · 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5410048" cy="4727448"/>
          </a:xfrm>
          <a:prstGeom prst="roundRect">
            <a:avLst>
              <a:gd name="adj" fmla="val 232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495284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Most musculoskeletal pain in this lecture is a mix of nociceptive and inflammatory; pure neuropathic pain belongs to a separate pharmacology unit.</a:t>
            </a:r>
            <a:r>
              <a:rPr lang="en-US" sz="1300" dirty="0">
                <a:solidFill>
                  <a:srgbClr val="666666"/>
                </a:solidFill>
              </a:rPr>
              <a:t>  S5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mediator list is the roadmap for the lecture: NSAIDs target prostaglandins, biologic DMARDs target specific cytokines.</a:t>
            </a:r>
            <a:r>
              <a:rPr lang="en-US" sz="1300" dirty="0">
                <a:solidFill>
                  <a:srgbClr val="666666"/>
                </a:solidFill>
              </a:rPr>
              <a:t>  S6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Therapeutic strategies:</a:t>
            </a:r>
            <a:r>
              <a:rPr lang="en-US" sz="1800" dirty="0">
                <a:solidFill>
                  <a:srgbClr val="1F1F1F"/>
                </a:solidFill>
              </a:rPr>
              <a:t> goal 1 is symptom relief and function (NSAIDs and DMARDs); goal 2 is slowing tissue damage, for which DMARDs are absolutely necessary. Response is tracked with indices such as DAS28 in RA.</a:t>
            </a:r>
            <a:r>
              <a:rPr lang="en-US" sz="1300" dirty="0">
                <a:solidFill>
                  <a:srgbClr val="666666"/>
                </a:solidFill>
              </a:rPr>
              <a:t>  p. 675</a:t>
            </a:r>
            <a:endParaRPr lang="en-US" sz="1800" dirty="0"/>
          </a:p>
        </p:txBody>
      </p:sp>
      <p:sp>
        <p:nvSpPr>
          <p:cNvPr id="12" name="Drugs named as examples card"/>
          <p:cNvSpPr/>
          <p:nvPr/>
        </p:nvSpPr>
        <p:spPr>
          <a:xfrm>
            <a:off x="6233008" y="1325880"/>
            <a:ext cx="5410048" cy="4727448"/>
          </a:xfrm>
          <a:prstGeom prst="roundRect">
            <a:avLst>
              <a:gd name="adj" fmla="val 232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s named as example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Drugs named as exampl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s named as example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6" name="Drugs named as examples body"/>
          <p:cNvSpPr txBox="1"/>
          <p:nvPr/>
        </p:nvSpPr>
        <p:spPr>
          <a:xfrm>
            <a:off x="6461608" y="2075688"/>
            <a:ext cx="495284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Corticosteroids (block phospholipase A₂) vs. NSAIDs and COX-2 inhibitors (block COX): two distinct points of intervention.</a:t>
            </a:r>
            <a:r>
              <a:rPr lang="en-US" sz="1300" dirty="0">
                <a:solidFill>
                  <a:srgbClr val="666666"/>
                </a:solidFill>
              </a:rPr>
              <a:t>  S8; S8 (notes)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2107692"/>
          </a:xfrm>
          <a:prstGeom prst="roundRect">
            <a:avLst>
              <a:gd name="adj" fmla="val 52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Corticosteroids act </a:t>
            </a:r>
            <a:r>
              <a:rPr lang="en-US" sz="1800" b="1" dirty="0">
                <a:solidFill>
                  <a:srgbClr val="1F1F1F"/>
                </a:solidFill>
              </a:rPr>
              <a:t>upstream</a:t>
            </a:r>
            <a:r>
              <a:rPr lang="en-US" sz="1800" dirty="0">
                <a:solidFill>
                  <a:srgbClr val="1F1F1F"/>
                </a:solidFill>
              </a:rPr>
              <a:t> at phospholipase A₂, not at COX — that is why their effect is broader than an NSAID’s.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lecture’s drugs target nociceptive and inflammatory pain; neuropathic pain is a different unit.</a:t>
            </a:r>
            <a:r>
              <a:rPr lang="en-US" sz="1300" dirty="0">
                <a:solidFill>
                  <a:srgbClr val="666666"/>
                </a:solidFill>
              </a:rPr>
              <a:t>  S5 (notes)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· The arachidonic acid pathway: where analgesics act</a:t>
            </a:r>
            <a:endParaRPr lang="en-US" sz="24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  <p:pic>
        <p:nvPicPr>
          <p:cNvPr id="7" name="Figure S8_1.png" descr="/home/user/dpas-pharm/work/L03/figures/S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8216" y="1325880"/>
            <a:ext cx="8335264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diagram: membrane phospholipids → arachidonic acid → COX-1/COX-2 → prostaglandins → pain, inflammation, fever. Corticosteroids block phospholipase A₂ upstream; NSAIDs and COX-2 inhibitors block the COX step itself.</a:t>
            </a:r>
            <a:r>
              <a:rPr lang="en-US" sz="1100" dirty="0">
                <a:solidFill>
                  <a:srgbClr val="666666"/>
                </a:solidFill>
              </a:rPr>
              <a:t>  S8; S8 (notes)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Where each drug class intervenes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  <p:graphicFrame>
        <p:nvGraphicFramePr>
          <p:cNvPr id="1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Drug 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Step it blocks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falls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Corticosteroids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Phospholipase A₂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(upstream)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 broad range of mediators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NSAIDs, COX-2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COX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enzyme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Prostaglandins specifically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Biologic DMARDs (cytokine inhibitors)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Specific cytokines or immune cells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TNF-α, IL-6 signaling; B or T cells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214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S7; S8; S6 (notes); SG U2-R2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are corticosteroids broader than NSAIDs? They act at phospholipase A₂, before arachidonic acid is released, so every mediator made from it falls — NSAIDs only stop the COX branch.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Mediators that make pain: </a:t>
            </a:r>
            <a:r>
              <a:rPr lang="en-US" sz="1800" b="1" dirty="0">
                <a:solidFill>
                  <a:srgbClr val="1F1F1F"/>
                </a:solidFill>
              </a:rPr>
              <a:t>P-B-H-C</a:t>
            </a:r>
            <a:r>
              <a:rPr lang="en-US" sz="1800" dirty="0">
                <a:solidFill>
                  <a:srgbClr val="1F1F1F"/>
                </a:solidFill>
              </a:rPr>
              <a:t> —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rostaglandins, </a:t>
            </a:r>
            <a:r>
              <a:rPr lang="en-US" sz="1800" b="1" dirty="0">
                <a:solidFill>
                  <a:srgbClr val="1F1F1F"/>
                </a:solidFill>
              </a:rPr>
              <a:t>B</a:t>
            </a:r>
            <a:r>
              <a:rPr lang="en-US" sz="1800" dirty="0">
                <a:solidFill>
                  <a:srgbClr val="1F1F1F"/>
                </a:solidFill>
              </a:rPr>
              <a:t>radykinin, </a:t>
            </a:r>
            <a:r>
              <a:rPr lang="en-US" sz="1800" b="1" dirty="0">
                <a:solidFill>
                  <a:srgbClr val="1F1F1F"/>
                </a:solidFill>
              </a:rPr>
              <a:t>H</a:t>
            </a:r>
            <a:r>
              <a:rPr lang="en-US" sz="1800" dirty="0">
                <a:solidFill>
                  <a:srgbClr val="1F1F1F"/>
                </a:solidFill>
              </a:rPr>
              <a:t>istamine,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ytokines (TNF-α, IL-1, IL-6).</a:t>
            </a:r>
            <a:r>
              <a:rPr lang="en-US" sz="1300" dirty="0">
                <a:solidFill>
                  <a:srgbClr val="666666"/>
                </a:solidFill>
              </a:rPr>
              <a:t>  S6; SG U2-R1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496312"/>
          </a:xfrm>
          <a:prstGeom prst="roundRect">
            <a:avLst>
              <a:gd name="adj" fmla="val 43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Injury → mediators → nociceptor sensitization → pain.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Musculoskeletal pain is driven by inflammatory mediators (prostaglandins, bradykinin, histamine, cytokines) — NSAIDs and corticosteroids intervene at different points along this cascade.</a:t>
            </a:r>
            <a:r>
              <a:rPr lang="en-US" sz="1300" dirty="0">
                <a:solidFill>
                  <a:srgbClr val="666666"/>
                </a:solidFill>
              </a:rPr>
              <a:t>  S31; S6; SG U2-R1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Corticosteroids = phospholipase A₂ (broad); NSAIDs = COX (prostaglandins).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drug blocks phospholipase A₂, so arachidonic acid is not released from membrane phospholipids. Which class is this, and how does its effect compare with an NSAID’s?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COX-2 inhibitor, sparing COX-1 housekeeping in the stomach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An NSAID, blocking the same COX step that celecoxib blocks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Acetaminophen, acting centrally on the hypothalamus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biologic DMARD, neutralizing TNF-α outside the cell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corticosteroid, suppressing a broader range of mediators than an NSAID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A corticosteroid, suppressing a broader range of mediators than an NSAID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Corticosteroids block phospholipase A₂ upstream of arachidonic acid release, suppressing a broad range of mediators; NSAIDs act only at COX (S8; SG U2-R2).</a:t>
            </a:r>
            <a:r>
              <a:rPr lang="en-US" sz="1100" dirty="0">
                <a:solidFill>
                  <a:srgbClr val="666666"/>
                </a:solidFill>
              </a:rPr>
              <a:t>  S8; SG U2-R2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448560"/>
          </a:xfrm>
          <a:prstGeom prst="roundRect">
            <a:avLst>
              <a:gd name="adj" fmla="val 37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A COX-2 inhibitor, sparing COX-1 housekeeping in the stomach — </a:t>
            </a:r>
            <a:r>
              <a:rPr lang="en-US" sz="1600" dirty="0">
                <a:solidFill>
                  <a:srgbClr val="1F1F1F"/>
                </a:solidFill>
              </a:rPr>
              <a:t>COX-2 inhibitors act at the COX step, not phospholipase A₂ (S8).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An NSAID, blocking the same COX step that celecoxib blocks — </a:t>
            </a:r>
            <a:r>
              <a:rPr lang="en-US" sz="1600" dirty="0">
                <a:solidFill>
                  <a:srgbClr val="1F1F1F"/>
                </a:solidFill>
              </a:rPr>
              <a:t>NSAIDs block COX, downstream of arachidonic acid release (S8).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Acetaminophen, acting centrally on the hypothalamus — </a:t>
            </a:r>
            <a:r>
              <a:rPr lang="en-US" sz="1600" dirty="0">
                <a:solidFill>
                  <a:srgbClr val="1F1F1F"/>
                </a:solidFill>
              </a:rPr>
              <a:t>Acetaminophen acts centrally; it does not block phospholipase A₂ (S10).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A biologic DMARD, neutralizing TNF-α outside the cell — </a:t>
            </a:r>
            <a:r>
              <a:rPr lang="en-US" sz="1600" dirty="0">
                <a:solidFill>
                  <a:srgbClr val="1F1F1F"/>
                </a:solidFill>
              </a:rPr>
              <a:t>Cytokine inhibitors act on a separate, parallel pathway (S7).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2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Acetaminophen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SO2 · SO5 · IO2.1 · IO2.2 · IO2.6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Class card"/>
          <p:cNvSpPr/>
          <p:nvPr/>
        </p:nvSpPr>
        <p:spPr>
          <a:xfrm>
            <a:off x="548640" y="1325880"/>
            <a:ext cx="541004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</a:t>
            </a:r>
            <a:endParaRPr lang="en-US" sz="1800" dirty="0"/>
          </a:p>
        </p:txBody>
      </p:sp>
      <p:sp>
        <p:nvSpPr>
          <p:cNvPr id="11" name="Class body"/>
          <p:cNvSpPr txBox="1"/>
          <p:nvPr/>
        </p:nvSpPr>
        <p:spPr>
          <a:xfrm>
            <a:off x="777240" y="2075688"/>
            <a:ext cx="495284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Effective analgesia, with a narrow margin in overdose: treats pain and fever well, but is </a:t>
            </a:r>
            <a:r>
              <a:rPr lang="en-US" sz="1800" b="1" dirty="0">
                <a:solidFill>
                  <a:srgbClr val="1F1F1F"/>
                </a:solidFill>
              </a:rPr>
              <a:t>not an anti-inflammatory drug</a:t>
            </a:r>
            <a:r>
              <a:rPr lang="en-US" sz="1800" dirty="0">
                <a:solidFill>
                  <a:srgbClr val="1F1F1F"/>
                </a:solidFill>
              </a:rPr>
              <a:t> the way NSAIDs are.</a:t>
            </a:r>
            <a:r>
              <a:rPr lang="en-US" sz="1300" dirty="0">
                <a:solidFill>
                  <a:srgbClr val="666666"/>
                </a:solidFill>
              </a:rPr>
              <a:t>  S9; S10 (notes)</a:t>
            </a:r>
            <a:endParaRPr lang="en-US" sz="1800" dirty="0"/>
          </a:p>
        </p:txBody>
      </p:sp>
      <p:sp>
        <p:nvSpPr>
          <p:cNvPr id="12" name="Prototype + other drugs named card"/>
          <p:cNvSpPr/>
          <p:nvPr/>
        </p:nvSpPr>
        <p:spPr>
          <a:xfrm>
            <a:off x="6233008" y="1325880"/>
            <a:ext cx="541004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Prototype + other drugs named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Prototype + other drugs nam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Prototype + other drugs named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6" name="Prototype + other drugs named body"/>
          <p:cNvSpPr txBox="1"/>
          <p:nvPr/>
        </p:nvSpPr>
        <p:spPr>
          <a:xfrm>
            <a:off x="6461608" y="2075688"/>
            <a:ext cx="495284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(the lecture’s single non-NSAID analgesic).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22</a:t>
            </a:r>
            <a:endParaRPr lang="en-US" sz="1000" dirty="0"/>
          </a:p>
        </p:txBody>
      </p:sp>
      <p:sp>
        <p:nvSpPr>
          <p:cNvPr id="7" name="Mechanism of action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</a:t>
            </a:r>
            <a:endParaRPr lang="en-US" sz="1800" dirty="0"/>
          </a:p>
        </p:txBody>
      </p:sp>
      <p:sp>
        <p:nvSpPr>
          <p:cNvPr id="11" name="Mechanism of action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Analgesic effect:</a:t>
            </a:r>
            <a:r>
              <a:rPr lang="en-US" sz="1800" dirty="0">
                <a:solidFill>
                  <a:srgbClr val="1F1F1F"/>
                </a:solidFill>
              </a:rPr>
              <a:t> relieves mild-to-moderate pain, with a central mechanism that is still incompletely understood.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Antipyretic effect:</a:t>
            </a:r>
            <a:r>
              <a:rPr lang="en-US" sz="1800" dirty="0">
                <a:solidFill>
                  <a:srgbClr val="1F1F1F"/>
                </a:solidFill>
              </a:rPr>
              <a:t> reduces fever via central effects on the hypothalamic temperature-regulating center.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Anti-inflammatory effect:</a:t>
            </a:r>
            <a:r>
              <a:rPr lang="en-US" sz="1800" dirty="0">
                <a:solidFill>
                  <a:srgbClr val="1F1F1F"/>
                </a:solidFill>
              </a:rPr>
              <a:t> minimal at the periphery — unlike NSAIDs, acetaminophen is not a reliable anti-inflammatory agent.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Textbook adds: a weak peripheral COX-1/COX-2 inhibitor whose pain relief also involves opioid, cannabinoid, and serotonergic systems.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· 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Indications card"/>
          <p:cNvSpPr/>
          <p:nvPr/>
        </p:nvSpPr>
        <p:spPr>
          <a:xfrm>
            <a:off x="548640" y="1325880"/>
            <a:ext cx="5410048" cy="4169664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</a:t>
            </a:r>
            <a:endParaRPr lang="en-US" sz="1800" dirty="0"/>
          </a:p>
        </p:txBody>
      </p:sp>
      <p:sp>
        <p:nvSpPr>
          <p:cNvPr id="11" name="Indications body"/>
          <p:cNvSpPr txBox="1"/>
          <p:nvPr/>
        </p:nvSpPr>
        <p:spPr>
          <a:xfrm>
            <a:off x="777240" y="2075688"/>
            <a:ext cx="495284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Reasonable first-line for mild osteoarthritis pain.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Generally safer first-line than an NSAID in a patient with NSAID red flags (kidney disease, anticoagulation, older age).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Preferred over aspirin in aspirin allergy, hemophilia, peptic ulcer history, or aspirin-induced bronchospasm; alone it is inadequate for inflammatory conditions such as RA.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  <p:sp>
        <p:nvSpPr>
          <p:cNvPr id="12" name="Adverse effects (boxed warnings first) card"/>
          <p:cNvSpPr/>
          <p:nvPr/>
        </p:nvSpPr>
        <p:spPr>
          <a:xfrm>
            <a:off x="6233008" y="1325880"/>
            <a:ext cx="5410048" cy="4169664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Adverse effects (boxed warnings first)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14" name="Adverse effects (boxed warnings first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Adverse effects (boxed warnings first)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</a:t>
            </a:r>
            <a:endParaRPr lang="en-US" sz="1800" dirty="0"/>
          </a:p>
        </p:txBody>
      </p:sp>
      <p:sp>
        <p:nvSpPr>
          <p:cNvPr id="16" name="Adverse effects (boxed warnings first) body"/>
          <p:cNvSpPr txBox="1"/>
          <p:nvPr/>
        </p:nvSpPr>
        <p:spPr>
          <a:xfrm>
            <a:off x="6461608" y="2075688"/>
            <a:ext cx="495284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Overdose: glutathione stores are depleted, NAPQI accumulates, and hepatocyte injury follows.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Ingesting 15 g may be fatal (centrilobular hepatic necrosis); take care with liver disease, heavy alcohol use, or malnutrition.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· 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Not covered in materials</a:t>
            </a:r>
            <a:endParaRPr lang="en-US" sz="1800" dirty="0"/>
          </a:p>
        </p:txBody>
      </p:sp>
      <p:sp>
        <p:nvSpPr>
          <p:cNvPr id="12" name="Drug interactions card"/>
          <p:cNvSpPr/>
          <p:nvPr/>
        </p:nvSpPr>
        <p:spPr>
          <a:xfrm>
            <a:off x="6233008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 interaction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14" name="Drug interac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 interaction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6" name="Drug interactions body"/>
          <p:cNvSpPr txBox="1"/>
          <p:nvPr/>
        </p:nvSpPr>
        <p:spPr>
          <a:xfrm>
            <a:off x="6461608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Hidden overdose:</a:t>
            </a:r>
            <a:r>
              <a:rPr lang="en-US" sz="1800" dirty="0">
                <a:solidFill>
                  <a:srgbClr val="1F1F1F"/>
                </a:solidFill>
              </a:rPr>
              <a:t> many combination cold, flu, and sleep products also contain acetaminophen — </a:t>
            </a:r>
            <a:r>
              <a:rPr lang="en-US" sz="1800" b="1" dirty="0">
                <a:solidFill>
                  <a:srgbClr val="1F1F1F"/>
                </a:solidFill>
              </a:rPr>
              <a:t>unintentional double-dosing is a leading cause of acetaminophen-related liver injury.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Combining acetaminophen with an NSAID improves pain control but can potentiate the NSAID’s GI toxicity.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· 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25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5410048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4952848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Normal handling: acetaminophen → NAPQI (toxic metabolite) → glutathione conjugation → safe excretion.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NAPQI = N-acetyl-p-benzoquinone imine — the “toxic metabolite” example from Lecture 1’s drug-metabolism section.</a:t>
            </a:r>
            <a:r>
              <a:rPr lang="en-US" sz="1300" dirty="0">
                <a:solidFill>
                  <a:srgbClr val="666666"/>
                </a:solidFill>
              </a:rPr>
              <a:t>  S11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Mostly conjugated to inactive sulfate and glucuronide; half-life 2–3 hours, relatively unaffected by renal function.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  <p:sp>
        <p:nvSpPr>
          <p:cNvPr id="12" name="Monitoring card"/>
          <p:cNvSpPr/>
          <p:nvPr/>
        </p:nvSpPr>
        <p:spPr>
          <a:xfrm>
            <a:off x="6233008" y="1325880"/>
            <a:ext cx="5410048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onitoring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14" name="Monitor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Monitoring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6" name="Monitoring body"/>
          <p:cNvSpPr txBox="1"/>
          <p:nvPr/>
        </p:nvSpPr>
        <p:spPr>
          <a:xfrm>
            <a:off x="6461608" y="2075688"/>
            <a:ext cx="4952848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Always ask about ALL sources of acetaminophen.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Patients often don’t realize a product contains acetaminophen unless they check the label — reinforce generic-name awareness.</a:t>
            </a:r>
            <a:r>
              <a:rPr lang="en-US" sz="1300" dirty="0">
                <a:solidFill>
                  <a:srgbClr val="666666"/>
                </a:solidFill>
              </a:rPr>
              <a:t>  S12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Adults: generally no more than 4 g/day — and even 4 g is associated with more liver function test abnormalities.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26</a:t>
            </a:r>
            <a:endParaRPr lang="en-US" sz="1000" dirty="0"/>
          </a:p>
        </p:txBody>
      </p:sp>
      <p:sp>
        <p:nvSpPr>
          <p:cNvPr id="7" name="Clinical pearls / &quot;why&quot; hook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</a:t>
            </a:r>
            <a:endParaRPr lang="en-US" sz="1800" dirty="0"/>
          </a:p>
        </p:txBody>
      </p:sp>
      <p:sp>
        <p:nvSpPr>
          <p:cNvPr id="11" name="Clinical pearls / &quot;why&quot; hook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Antidote: N-acetylcysteine</a:t>
            </a:r>
            <a:r>
              <a:rPr lang="en-US" sz="1800" dirty="0">
                <a:solidFill>
                  <a:srgbClr val="1F1F1F"/>
                </a:solidFill>
              </a:rPr>
              <a:t>, a glutathione precursor — it replenishes glutathione to detoxify NAPQI.</a:t>
            </a:r>
            <a:r>
              <a:rPr lang="en-US" sz="1300" dirty="0">
                <a:solidFill>
                  <a:srgbClr val="666666"/>
                </a:solidFill>
              </a:rPr>
              <a:t>  S11; SG U2-R3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Case: a patient on regular acetaminophen for back pain starts an OTC cold-and-flu combination. </a:t>
            </a:r>
            <a:r>
              <a:rPr lang="en-US" sz="1800" b="1" dirty="0">
                <a:solidFill>
                  <a:srgbClr val="1F1F1F"/>
                </a:solidFill>
              </a:rPr>
              <a:t>What is the hidden danger in this combination?</a:t>
            </a:r>
            <a:r>
              <a:rPr lang="en-US" sz="1800" dirty="0">
                <a:solidFill>
                  <a:srgbClr val="1F1F1F"/>
                </a:solidFill>
              </a:rPr>
              <a:t> Double-dosing acetaminophen.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Other analgesics — tramadol:</a:t>
            </a:r>
            <a:r>
              <a:rPr lang="en-US" sz="1800" dirty="0">
                <a:solidFill>
                  <a:srgbClr val="1F1F1F"/>
                </a:solidFill>
              </a:rPr>
              <a:t> weak μ-opioid agonist plus serotonin/norepinephrine reuptake inhibition; no anti-inflammatory effect; up to 300 mg/day; risks serotonin syndrome and seizures.</a:t>
            </a:r>
            <a:r>
              <a:rPr lang="en-US" sz="1300" dirty="0">
                <a:solidFill>
                  <a:srgbClr val="666666"/>
                </a:solidFill>
              </a:rPr>
              <a:t>  p. 694; p. 695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Acetaminophen vs. NSAIDs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27</a:t>
            </a:r>
            <a:endParaRPr lang="en-US" sz="1000" dirty="0"/>
          </a:p>
        </p:txBody>
      </p:sp>
      <p:graphicFrame>
        <p:nvGraphicFramePr>
          <p:cNvPr id="2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Acetaminophen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NSAIDs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Pain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 (mild–moderate)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Fever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 (hypothalamus)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Inflammation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Minimal — not reliable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Yes — powerful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Main danger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Liver (NAPQI) in overdose or double-dosing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GI, renal, cardiovascular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Antidote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N-acetylcysteine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718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S10; S11; S13; S19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28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N-acetylcysteine work? Glutathione is what safely conjugates NAPQI. Overdose uses it up; N-acetylcysteine is a glutathione precursor, so it refills the supply.</a:t>
            </a:r>
            <a:r>
              <a:rPr lang="en-US" sz="1300" dirty="0">
                <a:solidFill>
                  <a:srgbClr val="666666"/>
                </a:solidFill>
              </a:rPr>
              <a:t>  S11; SG U2-R3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does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ain and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yrexia, not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uffiness (inflammation).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treats pain and fever but is not a reliable anti-inflammatory agent; its overdose toxicity is mediated by NAPQI accumulation.</a:t>
            </a:r>
            <a:r>
              <a:rPr lang="en-US" sz="1300" dirty="0">
                <a:solidFill>
                  <a:srgbClr val="666666"/>
                </a:solidFill>
              </a:rPr>
              <a:t>  S31; S10;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Overdose: glutathione depleted → NAPQI → hepatocyte injury.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Antidote: N-acetylcysteine (glutathione precursor).</a:t>
            </a:r>
            <a:r>
              <a:rPr lang="en-US" sz="1300" dirty="0">
                <a:solidFill>
                  <a:srgbClr val="666666"/>
                </a:solidFill>
              </a:rPr>
              <a:t>  S11; SG U2-R3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Ask about ALL sources — combination cold/flu/sleep products hide acetaminophen.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S12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takes acetaminophen regularly for chronic back pain. For a cold, they also start an over-the-counter combination cold-and-flu medication. What is the hidden danger in this combination?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Unintentional acetaminophen double-dosing, risking liver injury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Kidney injury from the decongestant in the product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Additive GI bleeding from two anti-inflammatory drugs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Masking of fever, which hides a bacterial infection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CYP inhibitor in the cold product raising its level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Unintentional acetaminophen double-dosing, risking liver injury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Many combination cold, flu, and sleep products also contain acetaminophen; unintentional double-dosing is a leading cause of acetaminophen-related liver injury (S12).</a:t>
            </a:r>
            <a:r>
              <a:rPr lang="en-US" sz="1100" dirty="0">
                <a:solidFill>
                  <a:srgbClr val="666666"/>
                </a:solidFill>
              </a:rPr>
              <a:t>  S12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200656"/>
          </a:xfrm>
          <a:prstGeom prst="roundRect">
            <a:avLst>
              <a:gd name="adj" fmla="val 41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0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Kidney injury from the decongestant in the product — </a:t>
            </a:r>
            <a:r>
              <a:rPr lang="en-US" sz="1600" dirty="0">
                <a:solidFill>
                  <a:srgbClr val="1F1F1F"/>
                </a:solidFill>
              </a:rPr>
              <a:t>The lecture’s concern is liver injury from hidden acetaminophen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Additive GI bleeding from two anti-inflammatory drugs — </a:t>
            </a:r>
            <a:r>
              <a:rPr lang="en-US" sz="1600" dirty="0">
                <a:solidFill>
                  <a:srgbClr val="1F1F1F"/>
                </a:solidFill>
              </a:rPr>
              <a:t>Acetaminophen is not an anti-inflammatory and GI bleeding is an NSAID risk (S10; S19).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Masking of fever, which hides a bacterial infection — </a:t>
            </a:r>
            <a:r>
              <a:rPr lang="en-US" sz="1600" dirty="0">
                <a:solidFill>
                  <a:srgbClr val="1F1F1F"/>
                </a:solidFill>
              </a:rPr>
              <a:t>Not the point of the case — the hidden danger is double-dosing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A CYP inhibitor in the cold product raising its level — </a:t>
            </a:r>
            <a:r>
              <a:rPr lang="en-US" sz="1600" dirty="0">
                <a:solidFill>
                  <a:srgbClr val="1F1F1F"/>
                </a:solidFill>
              </a:rPr>
              <a:t>The danger is a second source of the same drug, not an enzyme interaction (S12).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40-year-old with an acutely swollen, inflamed knee asks for the drug that best treats the inflammation itself. Why is acetaminophen not the best choice?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Its anti-inflammatory effect at the periphery is minimal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only works when given intravenously in hospital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causes more GI bleeding than the NSAIDs do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is contraindicated in anyone with joint swelling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has no analgesic effect in musculoskeletal pain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Its anti-inflammatory effect at the periphery is minimal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Acetaminophen relieves pain and fever centrally, but its peripheral anti-inflammatory effect is minimal — it is not a reliable anti-inflammatory agent (S10).</a:t>
            </a:r>
            <a:r>
              <a:rPr lang="en-US" sz="1100" dirty="0">
                <a:solidFill>
                  <a:srgbClr val="666666"/>
                </a:solidFill>
              </a:rPr>
              <a:t>  S10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200656"/>
          </a:xfrm>
          <a:prstGeom prst="roundRect">
            <a:avLst>
              <a:gd name="adj" fmla="val 41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0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It only works when given intravenously in hospital — </a:t>
            </a:r>
            <a:r>
              <a:rPr lang="en-US" sz="1600" dirty="0">
                <a:solidFill>
                  <a:srgbClr val="1F1F1F"/>
                </a:solidFill>
              </a:rPr>
              <a:t>No route restriction is taught; it is used orally first-line for mild OA pain (S24).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It causes more GI bleeding than the NSAIDs do — </a:t>
            </a:r>
            <a:r>
              <a:rPr lang="en-US" sz="1600" dirty="0">
                <a:solidFill>
                  <a:srgbClr val="1F1F1F"/>
                </a:solidFill>
              </a:rPr>
              <a:t>GI bleeding is the NSAID risk (S19).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It is contraindicated in anyone with joint swelling — </a:t>
            </a:r>
            <a:r>
              <a:rPr lang="en-US" sz="1600" dirty="0">
                <a:solidFill>
                  <a:srgbClr val="1F1F1F"/>
                </a:solidFill>
              </a:rPr>
              <a:t>No such contraindication is taught; the issue is weak anti-inflammatory action (S10).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It has no analgesic effect in musculoskeletal pain — </a:t>
            </a:r>
            <a:r>
              <a:rPr lang="en-US" sz="1600" dirty="0">
                <a:solidFill>
                  <a:srgbClr val="1F1F1F"/>
                </a:solidFill>
              </a:rPr>
              <a:t>It does relieve mild-to-moderate pain (S10).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3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&amp; COX-2 Selective Inhibition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SO2 · SO3 · SO5 · IO2.1 · IO2.2 · IO2.3 · IO2.4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35</a:t>
            </a:r>
            <a:endParaRPr lang="en-US" sz="1000" dirty="0"/>
          </a:p>
        </p:txBody>
      </p:sp>
      <p:sp>
        <p:nvSpPr>
          <p:cNvPr id="7" name="Class card"/>
          <p:cNvSpPr/>
          <p:nvPr/>
        </p:nvSpPr>
        <p:spPr>
          <a:xfrm>
            <a:off x="548640" y="1325880"/>
            <a:ext cx="5410048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</a:t>
            </a:r>
            <a:endParaRPr lang="en-US" sz="1800" dirty="0"/>
          </a:p>
        </p:txBody>
      </p:sp>
      <p:sp>
        <p:nvSpPr>
          <p:cNvPr id="11" name="Class body"/>
          <p:cNvSpPr txBox="1"/>
          <p:nvPr/>
        </p:nvSpPr>
        <p:spPr>
          <a:xfrm>
            <a:off x="777240" y="2075688"/>
            <a:ext cx="4952848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Powerful anti-inflammatory effect, with real systemic risk.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Nonselective NSAIDs inhibit both COX-1 and COX-2.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Celecoxib selectively inhibits COX-2 over COX-1.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</p:txBody>
      </p:sp>
      <p:sp>
        <p:nvSpPr>
          <p:cNvPr id="12" name="Prototype + other drugs named card"/>
          <p:cNvSpPr/>
          <p:nvPr/>
        </p:nvSpPr>
        <p:spPr>
          <a:xfrm>
            <a:off x="6233008" y="1325880"/>
            <a:ext cx="5410048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Prototype + other drugs named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Prototype + other drugs nam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Prototype + other drugs named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6" name="Prototype + other drugs named body"/>
          <p:cNvSpPr txBox="1"/>
          <p:nvPr/>
        </p:nvSpPr>
        <p:spPr>
          <a:xfrm>
            <a:off x="6461608" y="2075688"/>
            <a:ext cx="4952848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Ibuprofen — common first-line choice for mild-moderate pain.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Naproxen — longer half-life, twice-daily dosing.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Diclofenac — available in oral and topical formulations.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Indomethacin — more potent, more GI/CNS adverse effects.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Ketorolac — short-term use only, significant GI/renal risk.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Celecoxib — the COX-2 selective agent.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36</a:t>
            </a:r>
            <a:endParaRPr lang="en-US" sz="1000" dirty="0"/>
          </a:p>
        </p:txBody>
      </p:sp>
      <p:sp>
        <p:nvSpPr>
          <p:cNvPr id="7" name="Mechanism of action card"/>
          <p:cNvSpPr/>
          <p:nvPr/>
        </p:nvSpPr>
        <p:spPr>
          <a:xfrm>
            <a:off x="548640" y="1325880"/>
            <a:ext cx="11094415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</a:t>
            </a:r>
            <a:endParaRPr lang="en-US" sz="1800" dirty="0"/>
          </a:p>
        </p:txBody>
      </p:sp>
      <p:sp>
        <p:nvSpPr>
          <p:cNvPr id="11" name="Mechanism of action body"/>
          <p:cNvSpPr txBox="1"/>
          <p:nvPr/>
        </p:nvSpPr>
        <p:spPr>
          <a:xfrm>
            <a:off x="777240" y="2075688"/>
            <a:ext cx="10637215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 → COX inhibition → ↓ prostaglandins → ↓ pain, inflammation, fever.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COX-1, the “housekeeping” enzyme:</a:t>
            </a:r>
            <a:r>
              <a:rPr lang="en-US" sz="1800" dirty="0">
                <a:solidFill>
                  <a:srgbClr val="1F1F1F"/>
                </a:solidFill>
              </a:rPr>
              <a:t> maintains gastric mucosal protection and normal renal blood flow; inhibiting it causes GI and renal adverse effects.</a:t>
            </a:r>
            <a:r>
              <a:rPr lang="en-US" sz="1300" dirty="0">
                <a:solidFill>
                  <a:srgbClr val="666666"/>
                </a:solidFill>
              </a:rPr>
              <a:t>  S15; SG U2-R4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COX-2:</a:t>
            </a:r>
            <a:r>
              <a:rPr lang="en-US" sz="1800" dirty="0">
                <a:solidFill>
                  <a:srgbClr val="1F1F1F"/>
                </a:solidFill>
              </a:rPr>
              <a:t> induced mainly at sites of inflammation and the primary source of inflammatory prostaglandins; selective inhibition targets inflammation with less GI toxicity.</a:t>
            </a:r>
            <a:r>
              <a:rPr lang="en-US" sz="1300" dirty="0">
                <a:solidFill>
                  <a:srgbClr val="666666"/>
                </a:solidFill>
              </a:rPr>
              <a:t>  S15; SG U2-R4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Simplified teaching model, not an absolute separation: COX-1 and COX-2 functions overlap, and COX-2 is also constitutively expressed in the kidney and elsewhere.</a:t>
            </a:r>
            <a:r>
              <a:rPr lang="en-US" sz="1300" dirty="0">
                <a:solidFill>
                  <a:srgbClr val="666666"/>
                </a:solidFill>
              </a:rPr>
              <a:t>  S15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Aspirin irreversibly blocks platelet COX (the effect lasts the 8–10-day life of the platelet); other nonselective NSAIDs are reversible inhibitors.</a:t>
            </a:r>
            <a:r>
              <a:rPr lang="en-US" sz="1300" dirty="0">
                <a:solidFill>
                  <a:srgbClr val="666666"/>
                </a:solidFill>
              </a:rPr>
              <a:t>  p. 675; p. 677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COX-2 inhibitors spare platelet thromboxane (made by COX-1) but block endothelial prostacyclin — so they are not cardioprotective.</a:t>
            </a:r>
            <a:r>
              <a:rPr lang="en-US" sz="1300" dirty="0">
                <a:solidFill>
                  <a:srgbClr val="666666"/>
                </a:solidFill>
              </a:rPr>
              <a:t>  p. 677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Indications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</a:t>
            </a:r>
            <a:endParaRPr lang="en-US" sz="1800" dirty="0"/>
          </a:p>
        </p:txBody>
      </p:sp>
      <p:sp>
        <p:nvSpPr>
          <p:cNvPr id="11" name="Indications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Oral NSAIDs for osteoarthritis — effective, but carry the systemic risks below.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Topical NSAIDs — effective local relief with much lower systemic exposure.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NSAIDs ease symptoms but, unlike DMARDs, do not alter the course of any arthritic disorder.</a:t>
            </a:r>
            <a:r>
              <a:rPr lang="en-US" sz="1300" dirty="0">
                <a:solidFill>
                  <a:srgbClr val="666666"/>
                </a:solidFill>
              </a:rPr>
              <a:t>  p. 676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Used in RA, spondyloarthropathies, OA, sprains and strains, low back pain, and gout (tolmetin appears ineffective in gout).</a:t>
            </a:r>
            <a:r>
              <a:rPr lang="en-US" sz="1300" dirty="0">
                <a:solidFill>
                  <a:srgbClr val="666666"/>
                </a:solidFill>
              </a:rPr>
              <a:t>  p. 676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Adverse effects (boxed warnings first)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</a:t>
            </a:r>
            <a:endParaRPr lang="en-US" sz="1800" dirty="0"/>
          </a:p>
        </p:txBody>
      </p:sp>
      <p:sp>
        <p:nvSpPr>
          <p:cNvPr id="11" name="Adverse effects (boxed warnings first)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Gastrointestinal:</a:t>
            </a:r>
            <a:r>
              <a:rPr lang="en-US" sz="1800" dirty="0">
                <a:solidFill>
                  <a:srgbClr val="1F1F1F"/>
                </a:solidFill>
              </a:rPr>
              <a:t> gastritis, peptic ulcer, GI bleeding.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Renal:</a:t>
            </a:r>
            <a:r>
              <a:rPr lang="en-US" sz="1800" dirty="0">
                <a:solidFill>
                  <a:srgbClr val="1F1F1F"/>
                </a:solidFill>
              </a:rPr>
              <a:t> decreased renal perfusion, fluid retention, acute kidney injury.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Cardiovascular:</a:t>
            </a:r>
            <a:r>
              <a:rPr lang="en-US" sz="1800" dirty="0">
                <a:solidFill>
                  <a:srgbClr val="1F1F1F"/>
                </a:solidFill>
              </a:rPr>
              <a:t> hypertension, increased risk of cardiovascular events.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Celecoxib:</a:t>
            </a:r>
            <a:r>
              <a:rPr lang="en-US" sz="1800" dirty="0">
                <a:solidFill>
                  <a:srgbClr val="1F1F1F"/>
                </a:solidFill>
              </a:rPr>
              <a:t> lower risk of ulcer/bleeding, but </a:t>
            </a:r>
            <a:r>
              <a:rPr lang="en-US" sz="1800" b="1" dirty="0">
                <a:solidFill>
                  <a:srgbClr val="1F1F1F"/>
                </a:solidFill>
              </a:rPr>
              <a:t>COX-2 selectivity is associated with increased cardiovascular event risk — a key trade-off.</a:t>
            </a:r>
            <a:r>
              <a:rPr lang="en-US" sz="1300" dirty="0">
                <a:solidFill>
                  <a:srgbClr val="666666"/>
                </a:solidFill>
              </a:rPr>
              <a:t>  S17; SG U2-R5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Celecoxib’s renal risk is similar to nonselective NSAIDs — COX-2 selectivity does not protect the kidney.</a:t>
            </a:r>
            <a:r>
              <a:rPr lang="en-US" sz="1300" dirty="0">
                <a:solidFill>
                  <a:srgbClr val="666666"/>
                </a:solidFill>
              </a:rPr>
              <a:t>  S17; SG U2-R5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Beyond GI, renal, and CV: headache, tinnitus, dizziness, rare aseptic meningitis, liver test abnormalities, asthma, rashes, hyperkalemia.</a:t>
            </a:r>
            <a:r>
              <a:rPr lang="en-US" sz="1300" dirty="0">
                <a:solidFill>
                  <a:srgbClr val="666666"/>
                </a:solidFill>
              </a:rPr>
              <a:t>  p. 676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11094415" cy="2775204"/>
          </a:xfrm>
          <a:prstGeom prst="roundRect">
            <a:avLst>
              <a:gd name="adj" fmla="val 39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10637215" cy="190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Use caution or avoid in: active GI bleeding or ulcer history; chronic kidney disease; heart failure or cardiovascular disease.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Also caution or avoid with anticoagulant therapy and in late pregnancy.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Ibuprofen is relatively contraindicated with nasal polyps, angioedema, or bronchospastic reactivity to aspirin.</a:t>
            </a:r>
            <a:r>
              <a:rPr lang="en-US" sz="1300" dirty="0">
                <a:solidFill>
                  <a:srgbClr val="666666"/>
                </a:solidFill>
              </a:rPr>
              <a:t>  p. 680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Drug interactions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 interac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9" name="Drug interac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 interac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1" name="Drug interactions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anticoagulants → ↑ bleeding risk.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ACE inhibitors/ARBs → ↑ AKI risk; add a diuretic and it is the </a:t>
            </a:r>
            <a:r>
              <a:rPr lang="en-US" sz="1800" b="1" dirty="0">
                <a:solidFill>
                  <a:srgbClr val="1F1F1F"/>
                </a:solidFill>
              </a:rPr>
              <a:t>“triple whammy,”</a:t>
            </a:r>
            <a:r>
              <a:rPr lang="en-US" sz="1800" dirty="0">
                <a:solidFill>
                  <a:srgbClr val="1F1F1F"/>
                </a:solidFill>
              </a:rPr>
              <a:t> a very high-yield AKI pattern.</a:t>
            </a:r>
            <a:r>
              <a:rPr lang="en-US" sz="1300" dirty="0">
                <a:solidFill>
                  <a:srgbClr val="666666"/>
                </a:solidFill>
              </a:rPr>
              <a:t>  S20; S20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diuretics → reduced diuretic effect, ↑ renal risk.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corticosteroids → ↑ GI ulcer risk.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Ibuprofen taken with aspirin blocks aspirin’s irreversible platelet inhibition, limiting its cardioprotective effect.</a:t>
            </a:r>
            <a:r>
              <a:rPr lang="en-US" sz="1300" dirty="0">
                <a:solidFill>
                  <a:srgbClr val="666666"/>
                </a:solidFill>
              </a:rPr>
              <a:t>  p. 680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Celecoxib (a CYP2C9 substrate) occasionally interacts with warfarin and raises lithium and fluconazole levels.</a:t>
            </a:r>
            <a:r>
              <a:rPr lang="en-US" sz="1300" dirty="0">
                <a:solidFill>
                  <a:srgbClr val="666666"/>
                </a:solidFill>
              </a:rPr>
              <a:t>  p. 679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· 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Naproxen’s longer half-life allows twice-daily dosing; diclofenac comes as oral and topical forms.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Chemistry &amp; pharmacokinetics:</a:t>
            </a:r>
            <a:r>
              <a:rPr lang="en-US" sz="1800" dirty="0">
                <a:solidFill>
                  <a:srgbClr val="1F1F1F"/>
                </a:solidFill>
              </a:rPr>
              <a:t> most NSAIDs are weak acids, well absorbed, ~98% albumin-bound, metabolized by CYP3A or CYP2C, and renally excreted.</a:t>
            </a:r>
            <a:r>
              <a:rPr lang="en-US" sz="1300" dirty="0">
                <a:solidFill>
                  <a:srgbClr val="666666"/>
                </a:solidFill>
              </a:rPr>
              <a:t>  p. 675</a:t>
            </a:r>
            <a:endParaRPr lang="en-US" sz="1800" dirty="0"/>
          </a:p>
        </p:txBody>
      </p:sp>
      <p:sp>
        <p:nvSpPr>
          <p:cNvPr id="12" name="Monitoring card"/>
          <p:cNvSpPr/>
          <p:nvPr/>
        </p:nvSpPr>
        <p:spPr>
          <a:xfrm>
            <a:off x="6233008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onitoring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14" name="Monitor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Monitoring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6" name="Monitoring body"/>
          <p:cNvSpPr txBox="1"/>
          <p:nvPr/>
        </p:nvSpPr>
        <p:spPr>
          <a:xfrm>
            <a:off x="6461608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These three systems (GI, renal, CV) are the organizing framework for every NSAID contraindication and interaction discussion (Table 1).</a:t>
            </a:r>
            <a:r>
              <a:rPr lang="en-US" sz="1300" dirty="0">
                <a:solidFill>
                  <a:srgbClr val="666666"/>
                </a:solidFill>
              </a:rPr>
              <a:t>  S19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Highest GI-bleeding risk: celecoxib, or a nonselective NSAID plus omeprazole or misoprostol.</a:t>
            </a:r>
            <a:r>
              <a:rPr lang="en-US" sz="1300" dirty="0">
                <a:solidFill>
                  <a:srgbClr val="666666"/>
                </a:solidFill>
              </a:rPr>
              <a:t>  p. 681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Clinical pearls / &quot;why&quot; hook card"/>
          <p:cNvSpPr/>
          <p:nvPr/>
        </p:nvSpPr>
        <p:spPr>
          <a:xfrm>
            <a:off x="548640" y="1325880"/>
            <a:ext cx="11094415" cy="4110228"/>
          </a:xfrm>
          <a:prstGeom prst="roundRect">
            <a:avLst>
              <a:gd name="adj" fmla="val 267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</a:t>
            </a:r>
            <a:endParaRPr lang="en-US" sz="1800" dirty="0"/>
          </a:p>
        </p:txBody>
      </p:sp>
      <p:sp>
        <p:nvSpPr>
          <p:cNvPr id="11" name="Clinical pearls / &quot;why&quot; hook body"/>
          <p:cNvSpPr txBox="1"/>
          <p:nvPr/>
        </p:nvSpPr>
        <p:spPr>
          <a:xfrm>
            <a:off x="777240" y="2075688"/>
            <a:ext cx="10637215" cy="324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Case: a 72-year-old with OA, CKD, hypertension, and an anticoagulant. </a:t>
            </a:r>
            <a:r>
              <a:rPr lang="en-US" sz="1800" b="1" dirty="0">
                <a:solidFill>
                  <a:srgbClr val="1F1F1F"/>
                </a:solidFill>
              </a:rPr>
              <a:t>Is an NSAID a good first-line choice for this patient’s pain? Why or why not?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Three NSAID red flags at once</a:t>
            </a:r>
            <a:r>
              <a:rPr lang="en-US" sz="1800" dirty="0">
                <a:solidFill>
                  <a:srgbClr val="1F1F1F"/>
                </a:solidFill>
              </a:rPr>
              <a:t> — renal disease, anticoagulation, and age-related bleeding risk — make acetaminophen or a non-NSAID strategy generally safer first-line.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Celecoxib is a classic “trade one risk for another” point: a better GI profile, but not a free lunch cardiovascularly or renally.</a:t>
            </a:r>
            <a:r>
              <a:rPr lang="en-US" sz="1300" dirty="0">
                <a:solidFill>
                  <a:srgbClr val="666666"/>
                </a:solidFill>
              </a:rPr>
              <a:t>  S17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There is no risk-free NSAID choice, only a different risk profile.</a:t>
            </a:r>
            <a:r>
              <a:rPr lang="en-US" sz="1300" dirty="0">
                <a:solidFill>
                  <a:srgbClr val="666666"/>
                </a:solidFill>
              </a:rPr>
              <a:t>  S18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Choice of NSAID:</a:t>
            </a:r>
            <a:r>
              <a:rPr lang="en-US" sz="1800" dirty="0">
                <a:solidFill>
                  <a:srgbClr val="1F1F1F"/>
                </a:solidFill>
              </a:rPr>
              <a:t> all are about equally effective, so choose by toxicity, cost, and patient factors; in renal insufficiency nonacetylated salicylates may be best.</a:t>
            </a:r>
            <a:r>
              <a:rPr lang="en-US" sz="1300" dirty="0">
                <a:solidFill>
                  <a:srgbClr val="666666"/>
                </a:solidFill>
              </a:rPr>
              <a:t>  p. 681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· Nonselective NSAIDs vs. COX-2 selective inhibition</a:t>
            </a:r>
            <a:endParaRPr lang="en-US" sz="25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43</a:t>
            </a:r>
            <a:endParaRPr lang="en-US" sz="1000" dirty="0"/>
          </a:p>
        </p:txBody>
      </p:sp>
      <p:pic>
        <p:nvPicPr>
          <p:cNvPr id="7" name="Figure S18_1.png" descr="/home/user/dpas-pharm/work/L03/figures/S1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935" y="1325880"/>
            <a:ext cx="6487826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comparison (illustrative relative-risk values, not from Katzung): nonselective NSAIDs (e.g., ibuprofen, naproxen) carry higher GI ulcer/bleeding risk (75) than cardiovascular risk (35); celecoxib trades lower GI risk (30) for higher cardiovascular risk (65).</a:t>
            </a:r>
            <a:r>
              <a:rPr lang="en-US" sz="1100" dirty="0">
                <a:solidFill>
                  <a:srgbClr val="666666"/>
                </a:solidFill>
              </a:rPr>
              <a:t>  S18; S18 (notes)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COX-1 vs. COX-2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44</a:t>
            </a:r>
            <a:endParaRPr lang="en-US" sz="1000" dirty="0"/>
          </a:p>
        </p:txBody>
      </p:sp>
      <p:graphicFrame>
        <p:nvGraphicFramePr>
          <p:cNvPr id="4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COX-1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COX-2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“Housekeeping”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enzyme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Induced mainly at sites of inflammation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Protects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Gastric mucosa; normal renal blood flow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Makes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Primary source of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inflammatory prostaglandins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Blocking it causes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GI and renal adverse effects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Less inflammation (selective blockade = less GI toxicity)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S15; SG U2-R4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Nonselective NSAIDs vs. celecoxib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45</a:t>
            </a:r>
            <a:endParaRPr lang="en-US" sz="1000" dirty="0"/>
          </a:p>
        </p:txBody>
      </p:sp>
      <p:graphicFrame>
        <p:nvGraphicFramePr>
          <p:cNvPr id="4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Nonselective (ibuprofen, naproxen…)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Celecoxib (COX-2 selective)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GI ulcer / bleeding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(Figure 2: 75)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(Figure 2: 30)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Cardiovascular events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Lower (Figure 2: 35)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(Figure 2: 65)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Renal 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Present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Similar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— selectivity does not protect the kidney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2966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S17; S18; SG U2-R5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Other NSAIDs in the reading (textbook)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46</a:t>
            </a:r>
            <a:endParaRPr lang="en-US" sz="1000" dirty="0"/>
          </a:p>
        </p:txBody>
      </p:sp>
      <p:graphicFrame>
        <p:nvGraphicFramePr>
          <p:cNvPr id="4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Half-life (h)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sets it apart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Aspirin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0.25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Now mainly antiplatelet (81–325 mg daily); avoid in hemophilia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Nonacetylated salicylates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Anti-inflammatory without platelet inhibition: an option in asthma, bleeding tendency, renal dysfunction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Ibuprofen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≤ 1600 mg/day analgesic only; 2400 mg/day anti-inflammatory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Naproxen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12–17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More GI bleeding than OTC ibuprofen, better CV profile; avoid in hepatic impairment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Diclofenac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1.9–2.3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More aminotransferase rises; 1% topical gel OTC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Indomethacin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4–5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Headache in 11.7%; can worsen depression, epilepsy, parkinsonism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Ketorolac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5–6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Analgesic use; start IV/IM/intranasal; ≤ 120 mg/day; ≤ 5 days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5239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677; p. 679; p. 680; p. 681; p. 694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Other NSAIDs in the reading (textbook) (cont.)</a:t>
            </a:r>
            <a:endParaRPr lang="en-US" sz="27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47</a:t>
            </a:r>
            <a:endParaRPr lang="en-US" sz="1000" dirty="0"/>
          </a:p>
        </p:txBody>
      </p:sp>
      <p:graphicFrame>
        <p:nvGraphicFramePr>
          <p:cNvPr id="4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Half-life (h)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sets it apart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Celecoxib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11.2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10–20× COX-2 selective; 100–200 mg bid; no platelet effect at usual doses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Meloxicam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Relatively COX-2 selective at 7.5 mg/day; fewer GI effects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Etodolac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6.4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Relatively COX-2 selective; linked to acute pancreatitis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Nabumetone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22.5–29.8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Only nonacid NSAID (prodrug); less ulceration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Piroxicam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Above 20 mg/day sharply raises ulcer and bleeding 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Sulindac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16.4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Less effect on renal prostaglandins; more liver test abnormalities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Oxaprozin · diflunisal · flurbiprofen · tolmetin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54.9 · 8–12 · 3.8 · 1–2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Oxaprozin once daily; diflunisal rarely used; flurbiprofen rare tremor/rigidity; tolmetin ineffective in gout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090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677; p. 679; p. 680; p. 681; p. 694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48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 NSAIDs hurt the stomach and kidney? Blocking COX-1, the housekeeping enzyme, removes the prostaglandins that protect gastric mucosa and keep renal blood flow normal.</a:t>
            </a:r>
            <a:r>
              <a:rPr lang="en-US" sz="1300" dirty="0">
                <a:solidFill>
                  <a:srgbClr val="666666"/>
                </a:solidFill>
              </a:rPr>
              <a:t>  S15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548640" y="3831336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777240" y="4581144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 harms = </a:t>
            </a:r>
            <a:r>
              <a:rPr lang="en-US" sz="1800" b="1" dirty="0">
                <a:solidFill>
                  <a:srgbClr val="1F1F1F"/>
                </a:solidFill>
              </a:rPr>
              <a:t>GRC</a:t>
            </a:r>
            <a:r>
              <a:rPr lang="en-US" sz="1800" dirty="0">
                <a:solidFill>
                  <a:srgbClr val="1F1F1F"/>
                </a:solidFill>
              </a:rPr>
              <a:t>: </a:t>
            </a:r>
            <a:r>
              <a:rPr lang="en-US" sz="1800" b="1" dirty="0">
                <a:solidFill>
                  <a:srgbClr val="1F1F1F"/>
                </a:solidFill>
              </a:rPr>
              <a:t>G</a:t>
            </a:r>
            <a:r>
              <a:rPr lang="en-US" sz="1800" dirty="0">
                <a:solidFill>
                  <a:srgbClr val="1F1F1F"/>
                </a:solidFill>
              </a:rPr>
              <a:t>ut, </a:t>
            </a:r>
            <a:r>
              <a:rPr lang="en-US" sz="1800" b="1" dirty="0">
                <a:solidFill>
                  <a:srgbClr val="1F1F1F"/>
                </a:solidFill>
              </a:rPr>
              <a:t>R</a:t>
            </a:r>
            <a:r>
              <a:rPr lang="en-US" sz="1800" dirty="0">
                <a:solidFill>
                  <a:srgbClr val="1F1F1F"/>
                </a:solidFill>
              </a:rPr>
              <a:t>enal,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ardiovascular (Table 1).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the “triple whammy”? An ACE inhibitor/ARB, a diuretic, and an NSAID each push kidney perfusion the wrong way at once — together they cause acute kidney injury.</a:t>
            </a:r>
            <a:r>
              <a:rPr lang="en-US" sz="1300" dirty="0">
                <a:solidFill>
                  <a:srgbClr val="666666"/>
                </a:solidFill>
              </a:rPr>
              <a:t>  S20; S20 (notes)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49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COX-1 = housekeeping (gastric protection, renal blood flow); COX-2 = inflammation.</a:t>
            </a:r>
            <a:r>
              <a:rPr lang="en-US" sz="1300" dirty="0">
                <a:solidFill>
                  <a:srgbClr val="666666"/>
                </a:solidFill>
              </a:rPr>
              <a:t>  S15; SG U2-R4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are effective but carry real GI, renal, and cardiovascular risk; celecoxib trades GI risk for cardiovascular risk (renal risk similar).</a:t>
            </a:r>
            <a:r>
              <a:rPr lang="en-US" sz="1300" dirty="0">
                <a:solidFill>
                  <a:srgbClr val="666666"/>
                </a:solidFill>
              </a:rPr>
              <a:t>  S31; S17; SG U2-R5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 harms: GI, renal, cardiovascular.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Triple whammy: NSAID + ACEi/ARB + diuretic → AKI.</a:t>
            </a:r>
            <a:r>
              <a:rPr lang="en-US" sz="1300" dirty="0">
                <a:solidFill>
                  <a:srgbClr val="666666"/>
                </a:solidFill>
              </a:rPr>
              <a:t>  S20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Ketorolac: short-term only; significant GI/renal risk.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S21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72-year-old patient with osteoarthritis also has chronic kidney disease, hypertension, and takes an anticoagulant. Is an NSAID a good first-line choice for this patient’s pain?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No — but only because NSAIDs never relieve joint pain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Yes — the anticoagulant cancels the NSAID’s bleeding risk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Yes — NSAIDs are first-line for all osteoarthritis pain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No — renal disease, anticoagulation, and age are NSAID red flags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Yes — if celecoxib is chosen to protect the kidney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No — renal disease, anticoagulation, and age are NSAID red flags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This patient has three separate NSAID red flags at once (renal disease, anticoagulation, age-related bleeding risk); acetaminophen or a non-NSAID strategy is generally safer first-line (S21).</a:t>
            </a:r>
            <a:r>
              <a:rPr lang="en-US" sz="1100" dirty="0">
                <a:solidFill>
                  <a:srgbClr val="666666"/>
                </a:solidFill>
              </a:rPr>
              <a:t>  S21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952752"/>
          </a:xfrm>
          <a:prstGeom prst="roundRect">
            <a:avLst>
              <a:gd name="adj" fmla="val 46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76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No — but only because NSAIDs never relieve joint pain — </a:t>
            </a:r>
            <a:r>
              <a:rPr lang="en-US" sz="1600" dirty="0">
                <a:solidFill>
                  <a:srgbClr val="1F1F1F"/>
                </a:solidFill>
              </a:rPr>
              <a:t>NSAIDs are effective; the problem is this patient’s risk (S24).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Yes — the anticoagulant cancels the NSAID’s bleeding risk — </a:t>
            </a:r>
            <a:r>
              <a:rPr lang="en-US" sz="1600" dirty="0">
                <a:solidFill>
                  <a:srgbClr val="1F1F1F"/>
                </a:solidFill>
              </a:rPr>
              <a:t>NSAIDs plus anticoagulants raise bleeding risk (S20).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Yes — NSAIDs are first-line for all osteoarthritis pain — </a:t>
            </a:r>
            <a:r>
              <a:rPr lang="en-US" sz="1600" dirty="0">
                <a:solidFill>
                  <a:srgbClr val="1F1F1F"/>
                </a:solidFill>
              </a:rPr>
              <a:t>Oral NSAIDs are effective but carry systemic risks; acetaminophen is a reasonable first-line (S24).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Yes — if celecoxib is chosen to protect the kidney — </a:t>
            </a:r>
            <a:r>
              <a:rPr lang="en-US" sz="1600" dirty="0">
                <a:solidFill>
                  <a:srgbClr val="1F1F1F"/>
                </a:solidFill>
              </a:rPr>
              <a:t>COX-2 selectivity does not protect the kidney (S17).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with a history of peptic ulcer bleeding and no cardiac disease needs an anti-inflammatory for osteoarthritis. The team considers celecoxib. What trade-off must be weighed?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cardiovascular risk, but higher liver toxicity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GI risk, but higher cardiovascular risk and similar renal risk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Higher GI risk, but lower cardiovascular and renal risk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GI risk, plus kidney protection from COX-2 selectivity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No trade-off: celecoxib is safer in every organ system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Lower GI risk, but higher cardiovascular risk and similar renal risk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Celecoxib lowers ulcer/bleeding risk but is associated with increased cardiovascular event risk, and its renal risk is similar to nonselective NSAIDs (S17; SG U2-R5).</a:t>
            </a:r>
            <a:r>
              <a:rPr lang="en-US" sz="1100" dirty="0">
                <a:solidFill>
                  <a:srgbClr val="666666"/>
                </a:solidFill>
              </a:rPr>
              <a:t>  S17; S18; SG U2-R5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Lower cardiovascular risk, but higher liver toxicity — </a:t>
            </a:r>
            <a:r>
              <a:rPr lang="en-US" sz="1600" dirty="0">
                <a:solidFill>
                  <a:srgbClr val="1F1F1F"/>
                </a:solidFill>
              </a:rPr>
              <a:t>Higher cardiovascular risk is the taught trade-off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Higher GI risk, but lower cardiovascular and renal risk — </a:t>
            </a:r>
            <a:r>
              <a:rPr lang="en-US" sz="1600" dirty="0">
                <a:solidFill>
                  <a:srgbClr val="1F1F1F"/>
                </a:solidFill>
              </a:rPr>
              <a:t>Reversed — celecoxib has lower GI and higher CV risk (S17-18).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Lower GI risk, plus kidney protection from COX-2 selectivity — </a:t>
            </a:r>
            <a:r>
              <a:rPr lang="en-US" sz="1600" dirty="0">
                <a:solidFill>
                  <a:srgbClr val="1F1F1F"/>
                </a:solidFill>
              </a:rPr>
              <a:t>COX-2 selectivity does not protect the kidney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No trade-off: celecoxib is safer in every organ system — </a:t>
            </a:r>
            <a:r>
              <a:rPr lang="en-US" sz="1600" dirty="0">
                <a:solidFill>
                  <a:srgbClr val="1F1F1F"/>
                </a:solidFill>
              </a:rPr>
              <a:t>The lecture stresses it is not a free lunch (S17 notes).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4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Osteoarthritis, Rheumatoid Arthritis &amp; DMARDs</a:t>
            </a:r>
            <a:endParaRPr lang="en-US" sz="4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IO2.1 · IO2.2 · IO2.3 · IO2.4 · IO2.5 · IO2.6 · SO3 · SO4 · SO5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55</a:t>
            </a:r>
            <a:endParaRPr lang="en-US" sz="1000" dirty="0"/>
          </a:p>
        </p:txBody>
      </p:sp>
      <p:sp>
        <p:nvSpPr>
          <p:cNvPr id="7" name="Class (1/2)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(1/2)</a:t>
            </a:r>
            <a:endParaRPr lang="en-US" sz="1800" dirty="0"/>
          </a:p>
        </p:txBody>
      </p:sp>
      <p:sp>
        <p:nvSpPr>
          <p:cNvPr id="11" name="Class (1/2)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Osteoarthritis (OA):</a:t>
            </a:r>
            <a:r>
              <a:rPr lang="en-US" sz="1800" dirty="0">
                <a:solidFill>
                  <a:srgbClr val="1F1F1F"/>
                </a:solidFill>
              </a:rPr>
              <a:t> primarily degenerative joint disease — cartilage breakdown with mechanical wear.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Rheumatoid arthritis (RA):</a:t>
            </a:r>
            <a:r>
              <a:rPr lang="en-US" sz="1800" dirty="0">
                <a:solidFill>
                  <a:srgbClr val="1F1F1F"/>
                </a:solidFill>
              </a:rPr>
              <a:t> autoimmune, systemic inflammatory disease — immune-mediated joint destruction.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treatment goal: pain control and function.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RA treatment goal: suppress disease activity, not just pain.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hinge: OA is managed mainly with analgesics/NSAIDs, while RA requires disease-modifying therapy.</a:t>
            </a:r>
            <a:r>
              <a:rPr lang="en-US" sz="1300" dirty="0">
                <a:solidFill>
                  <a:srgbClr val="666666"/>
                </a:solidFill>
              </a:rPr>
              <a:t>  S23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DMARD (Disease-Modifying Antirheumatic Drug):</a:t>
            </a:r>
            <a:r>
              <a:rPr lang="en-US" sz="1800" dirty="0">
                <a:solidFill>
                  <a:srgbClr val="1F1F1F"/>
                </a:solidFill>
              </a:rPr>
              <a:t> a drug intended to alter the course of RA, not just mask its symptoms.</a:t>
            </a:r>
            <a:r>
              <a:rPr lang="en-US" sz="1300" dirty="0">
                <a:solidFill>
                  <a:srgbClr val="666666"/>
                </a:solidFill>
              </a:rPr>
              <a:t>  S25; SG U2-R6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56</a:t>
            </a:r>
            <a:endParaRPr lang="en-US" sz="1000" dirty="0"/>
          </a:p>
        </p:txBody>
      </p:sp>
      <p:sp>
        <p:nvSpPr>
          <p:cNvPr id="7" name="Class (2/2)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(2/2)</a:t>
            </a:r>
            <a:endParaRPr lang="en-US" sz="1800" dirty="0"/>
          </a:p>
        </p:txBody>
      </p:sp>
      <p:sp>
        <p:nvSpPr>
          <p:cNvPr id="11" name="Class (2/2)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Goal of therapy:</a:t>
            </a:r>
            <a:r>
              <a:rPr lang="en-US" sz="1800" dirty="0">
                <a:solidFill>
                  <a:srgbClr val="1F1F1F"/>
                </a:solidFill>
              </a:rPr>
              <a:t> slow or halt joint destruction and systemic inflammation, rather than providing analgesia alone.</a:t>
            </a:r>
            <a:r>
              <a:rPr lang="en-US" sz="1300" dirty="0">
                <a:solidFill>
                  <a:srgbClr val="666666"/>
                </a:solidFill>
              </a:rPr>
              <a:t>  S25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An NSAID can make a patient feel better without changing the disease trajectory; a DMARD is meant to change the trajectory itself.</a:t>
            </a:r>
            <a:r>
              <a:rPr lang="en-US" sz="1300" dirty="0">
                <a:solidFill>
                  <a:srgbClr val="666666"/>
                </a:solidFill>
              </a:rPr>
              <a:t>  S25 (notes); SG U2-R6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Targeted therapy: each biologic class corresponds to a different cytokine or cell type in the inflammatory cascade — the mediator list from the start of the lecture.</a:t>
            </a:r>
            <a:r>
              <a:rPr lang="en-US" sz="1300" dirty="0">
                <a:solidFill>
                  <a:srgbClr val="666666"/>
                </a:solidFill>
              </a:rPr>
              <a:t>  S28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DMARD effects take 2 weeks to 6 months to appear. Types: conventional synthetic (cs), biologic (b), and targeted synthetic (ts, e.g., tofacitinib).</a:t>
            </a:r>
            <a:r>
              <a:rPr lang="en-US" sz="1300" dirty="0">
                <a:solidFill>
                  <a:srgbClr val="666666"/>
                </a:solidFill>
              </a:rPr>
              <a:t>  p. 681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Biologics are large molecules, usually proteins made by recombinant DNA technology; JAK inhibitors are oral small-molecule targeted synthetic DMARDs.</a:t>
            </a:r>
            <a:r>
              <a:rPr lang="en-US" sz="1300" dirty="0">
                <a:solidFill>
                  <a:srgbClr val="666666"/>
                </a:solidFill>
              </a:rPr>
              <a:t>  p. 681; p. 686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57</a:t>
            </a:r>
            <a:endParaRPr lang="en-US" sz="1000" dirty="0"/>
          </a:p>
        </p:txBody>
      </p:sp>
      <p:sp>
        <p:nvSpPr>
          <p:cNvPr id="7" name="Prototype + other drugs named card"/>
          <p:cNvSpPr/>
          <p:nvPr/>
        </p:nvSpPr>
        <p:spPr>
          <a:xfrm>
            <a:off x="548640" y="1325880"/>
            <a:ext cx="11094415" cy="4160520"/>
          </a:xfrm>
          <a:prstGeom prst="roundRect">
            <a:avLst>
              <a:gd name="adj" fmla="val 263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rototype + other drugs named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Prototype + other drugs nam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rototype + other drugs named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1" name="Prototype + other drugs named body"/>
          <p:cNvSpPr txBox="1"/>
          <p:nvPr/>
        </p:nvSpPr>
        <p:spPr>
          <a:xfrm>
            <a:off x="777240" y="2075688"/>
            <a:ext cx="10637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Methotrexate — the anchor drug for most RA regimens.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Hydroxychloroquine — milder disease; relatively favorable safety profile.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Sulfasalazine — often used in combination regimens.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Leflunomide — alternative when methotrexate is not tolerated.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Adalimumab, etanercept, infliximab — </a:t>
            </a:r>
            <a:r>
              <a:rPr lang="en-US" sz="1800" b="1" dirty="0">
                <a:solidFill>
                  <a:srgbClr val="1F1F1F"/>
                </a:solidFill>
              </a:rPr>
              <a:t>TNF inhibitors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Tocilizumab — </a:t>
            </a:r>
            <a:r>
              <a:rPr lang="en-US" sz="1800" b="1" dirty="0">
                <a:solidFill>
                  <a:srgbClr val="1F1F1F"/>
                </a:solidFill>
              </a:rPr>
              <a:t>IL-6 inhibitor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Rituximab — </a:t>
            </a:r>
            <a:r>
              <a:rPr lang="en-US" sz="1800" b="1" dirty="0">
                <a:solidFill>
                  <a:srgbClr val="1F1F1F"/>
                </a:solidFill>
              </a:rPr>
              <a:t>B-cell targeted therapy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Abatacept — </a:t>
            </a:r>
            <a:r>
              <a:rPr lang="en-US" sz="1800" b="1" dirty="0">
                <a:solidFill>
                  <a:srgbClr val="1F1F1F"/>
                </a:solidFill>
              </a:rPr>
              <a:t>T-cell costimulation modulator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58</a:t>
            </a:r>
            <a:endParaRPr lang="en-US" sz="1000" dirty="0"/>
          </a:p>
        </p:txBody>
      </p:sp>
      <p:sp>
        <p:nvSpPr>
          <p:cNvPr id="7" name="Mechanism of action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</a:t>
            </a:r>
            <a:endParaRPr lang="en-US" sz="1800" dirty="0"/>
          </a:p>
        </p:txBody>
      </p:sp>
      <p:sp>
        <p:nvSpPr>
          <p:cNvPr id="11" name="Mechanism of action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Mechanism: inhibits dihydrofolate reductase, reducing immune cell proliferation at low RA doses.</a:t>
            </a:r>
            <a:r>
              <a:rPr lang="en-US" sz="1800" dirty="0">
                <a:solidFill>
                  <a:srgbClr val="1F1F1F"/>
                </a:solidFill>
              </a:rPr>
              <a:t> (methotrexate)</a:t>
            </a:r>
            <a:r>
              <a:rPr lang="en-US" sz="1300" dirty="0">
                <a:solidFill>
                  <a:srgbClr val="666666"/>
                </a:solidFill>
              </a:rPr>
              <a:t>  S27;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TNF inhibitors block tumor necrosis factor-alpha signaling.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IL-6 inhibitors block interleukin-6 receptor signaling.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B-cell targeted therapy depletes or modulates B lymphocytes.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T-cell costimulation modulators block the second signal needed for T-cell activation.</a:t>
            </a:r>
            <a:r>
              <a:rPr lang="en-US" sz="1300" dirty="0">
                <a:solidFill>
                  <a:srgbClr val="666666"/>
                </a:solidFill>
              </a:rPr>
              <a:t>  S28;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Figure 3: abatacept acts at T-cell activation, TNF inhibitors and tocilizumab at cytokine release, rituximab at B cells — all upstream of synovial inflammation and joint destruction.</a:t>
            </a:r>
            <a:r>
              <a:rPr lang="en-US" sz="1300" dirty="0">
                <a:solidFill>
                  <a:srgbClr val="666666"/>
                </a:solidFill>
              </a:rPr>
              <a:t>  S29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59</a:t>
            </a:r>
            <a:endParaRPr lang="en-US" sz="1000" dirty="0"/>
          </a:p>
        </p:txBody>
      </p:sp>
      <p:sp>
        <p:nvSpPr>
          <p:cNvPr id="7" name="Indications (1/2) card"/>
          <p:cNvSpPr/>
          <p:nvPr/>
        </p:nvSpPr>
        <p:spPr>
          <a:xfrm>
            <a:off x="548640" y="1325880"/>
            <a:ext cx="11094415" cy="3662172"/>
          </a:xfrm>
          <a:prstGeom prst="roundRect">
            <a:avLst>
              <a:gd name="adj" fmla="val 29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(1/2)</a:t>
            </a:r>
            <a:endParaRPr lang="en-US" sz="1800" dirty="0"/>
          </a:p>
        </p:txBody>
      </p:sp>
      <p:sp>
        <p:nvSpPr>
          <p:cNvPr id="11" name="Indications (1/2) body"/>
          <p:cNvSpPr txBox="1"/>
          <p:nvPr/>
        </p:nvSpPr>
        <p:spPr>
          <a:xfrm>
            <a:off x="777240" y="2075688"/>
            <a:ext cx="10637215" cy="27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OA step 1:</a:t>
            </a:r>
            <a:r>
              <a:rPr lang="en-US" sz="1800" dirty="0">
                <a:solidFill>
                  <a:srgbClr val="1F1F1F"/>
                </a:solidFill>
              </a:rPr>
              <a:t> acetaminophen — reasonable first-line for mild OA pain.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OA step 2:</a:t>
            </a:r>
            <a:r>
              <a:rPr lang="en-US" sz="1800" dirty="0">
                <a:solidFill>
                  <a:srgbClr val="1F1F1F"/>
                </a:solidFill>
              </a:rPr>
              <a:t> oral NSAIDs (effective, systemic risks) or topical NSAIDs (local relief, much lower systemic exposure).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Intra-articular corticosteroid injections:</a:t>
            </a:r>
            <a:r>
              <a:rPr lang="en-US" sz="1800" dirty="0">
                <a:solidFill>
                  <a:srgbClr val="1F1F1F"/>
                </a:solidFill>
              </a:rPr>
              <a:t> short-term relief for flares in a single joint.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Other approaches: activity modification, physical therapy, weight management.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anchors most RA regimens; leflunomide is the alternative when it is not tolerated.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Rheumatoid arthritis: they modify the disease course rather than only masking symptoms.</a:t>
            </a:r>
            <a:r>
              <a:rPr lang="en-US" sz="1300" dirty="0">
                <a:solidFill>
                  <a:srgbClr val="666666"/>
                </a:solidFill>
              </a:rPr>
              <a:t>  S31; SG U2-R6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60</a:t>
            </a:r>
            <a:endParaRPr lang="en-US" sz="1000" dirty="0"/>
          </a:p>
        </p:txBody>
      </p:sp>
      <p:sp>
        <p:nvSpPr>
          <p:cNvPr id="7" name="Indications (2/2)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(2/2)</a:t>
            </a:r>
            <a:endParaRPr lang="en-US" sz="1800" dirty="0"/>
          </a:p>
        </p:txBody>
      </p:sp>
      <p:sp>
        <p:nvSpPr>
          <p:cNvPr id="11" name="Indications (2/2)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Glucocorticoid drugs in rheumatic diseases:</a:t>
            </a:r>
            <a:r>
              <a:rPr lang="en-US" sz="1800" dirty="0">
                <a:solidFill>
                  <a:srgbClr val="1F1F1F"/>
                </a:solidFill>
              </a:rPr>
              <a:t> used chronically in 30–70% of RA patients; relief is prompt and dramatic, and they slow new bone erosions.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Long-term prednisone in RA: no more than 7.5 mg daily, tapered when possible — even 2.8 mg daily for over 5 years is linked to severe infections.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Intra-articular corticosteroids often relieve painful symptoms for up to several months.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Long-term glucocorticoid harms: osteoporosis, hyperglycemia, Cushing syndrome, infections, cataract, glaucoma, gastric ulcer, depression.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Methotrexate starts at 7.5 mg weekly and rises to 15–25 mg weekly; it slows new erosions in RA.</a:t>
            </a:r>
            <a:r>
              <a:rPr lang="en-US" sz="1300" dirty="0">
                <a:solidFill>
                  <a:srgbClr val="666666"/>
                </a:solidFill>
              </a:rPr>
              <a:t>  p. 688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Combination therapy with DMARDs</a:t>
            </a:r>
            <a:r>
              <a:rPr lang="en-US" sz="1800" dirty="0">
                <a:solidFill>
                  <a:srgbClr val="1F1F1F"/>
                </a:solidFill>
              </a:rPr>
              <a:t> is now the rule when monotherapy falls short; triple therapy (methotrexate, sulfasalazine, hydroxychloroquine) rivals etanercept plus methotrexate.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61</a:t>
            </a:r>
            <a:endParaRPr lang="en-US" sz="1000" dirty="0"/>
          </a:p>
        </p:txBody>
      </p:sp>
      <p:sp>
        <p:nvSpPr>
          <p:cNvPr id="7" name="Adverse effects (boxed warnings first) card"/>
          <p:cNvSpPr/>
          <p:nvPr/>
        </p:nvSpPr>
        <p:spPr>
          <a:xfrm>
            <a:off x="548640" y="1325880"/>
            <a:ext cx="11094415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</a:t>
            </a:r>
            <a:endParaRPr lang="en-US" sz="1800" dirty="0"/>
          </a:p>
        </p:txBody>
      </p:sp>
      <p:sp>
        <p:nvSpPr>
          <p:cNvPr id="11" name="Adverse effects (boxed warnings first) body"/>
          <p:cNvSpPr txBox="1"/>
          <p:nvPr/>
        </p:nvSpPr>
        <p:spPr>
          <a:xfrm>
            <a:off x="777240" y="2075688"/>
            <a:ext cx="10637215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Boxed warning — all TNF inhibitors:</a:t>
            </a:r>
            <a:r>
              <a:rPr lang="en-US" sz="1800" dirty="0">
                <a:solidFill>
                  <a:srgbClr val="1F1F1F"/>
                </a:solidFill>
              </a:rPr>
              <a:t> possible malignancy, especially lymphoma.</a:t>
            </a:r>
            <a:r>
              <a:rPr lang="en-US" sz="1300" dirty="0">
                <a:solidFill>
                  <a:srgbClr val="666666"/>
                </a:solidFill>
              </a:rPr>
              <a:t>  p. 692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Boxed warning — all JAK inhibitors:</a:t>
            </a:r>
            <a:r>
              <a:rPr lang="en-US" sz="1800" dirty="0">
                <a:solidFill>
                  <a:srgbClr val="1F1F1F"/>
                </a:solidFill>
              </a:rPr>
              <a:t> venous thromboembolism (DVT, PE), major adverse cardiovascular events, and cancer.</a:t>
            </a:r>
            <a:r>
              <a:rPr lang="en-US" sz="1300" dirty="0">
                <a:solidFill>
                  <a:srgbClr val="666666"/>
                </a:solidFill>
              </a:rPr>
              <a:t>  p. 686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key adverse effects: </a:t>
            </a:r>
            <a:r>
              <a:rPr lang="en-US" sz="1800" b="1" dirty="0">
                <a:solidFill>
                  <a:srgbClr val="1F1F1F"/>
                </a:solidFill>
              </a:rPr>
              <a:t>hepatotoxicity, bone marrow suppression, pulmonary toxicity.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The major safety theme across all DMARDs: immunosuppression → increased infection risk.</a:t>
            </a:r>
            <a:r>
              <a:rPr lang="en-US" sz="1800" dirty="0">
                <a:solidFill>
                  <a:srgbClr val="1F1F1F"/>
                </a:solidFill>
              </a:rPr>
              <a:t> This holds for conventional and biologic DMARDs alike.</a:t>
            </a:r>
            <a:r>
              <a:rPr lang="en-US" sz="1300" dirty="0">
                <a:solidFill>
                  <a:srgbClr val="666666"/>
                </a:solidFill>
              </a:rPr>
              <a:t>  S30; SG U2-R8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Methotrexate’s most common toxicities are nausea and stomatitis; dose-related liver enzyme elevations are frequent.</a:t>
            </a:r>
            <a:r>
              <a:rPr lang="en-US" sz="1300" dirty="0">
                <a:solidFill>
                  <a:srgbClr val="666666"/>
                </a:solidFill>
              </a:rPr>
              <a:t>  p. 689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TNF inhibitors: TB reactivation, fungal infections, hepatitis B reactivation, new or worse heart failure, demyelinating disease, lupus-like syndrome.</a:t>
            </a:r>
            <a:r>
              <a:rPr lang="en-US" sz="1300" dirty="0">
                <a:solidFill>
                  <a:srgbClr val="666666"/>
                </a:solidFill>
              </a:rPr>
              <a:t>  p. 690; p. 692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· 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62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5410048" cy="361188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49528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Methotrexate is contraindicated in pregnancy (teratogenic).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Don’t stack biologics: abatacept with a TNF inhibitor probably raises serious infections; upadacitinib with biologic DMARDs is not recommended.</a:t>
            </a:r>
            <a:r>
              <a:rPr lang="en-US" sz="1300" dirty="0">
                <a:solidFill>
                  <a:srgbClr val="666666"/>
                </a:solidFill>
              </a:rPr>
              <a:t>  p. 682; p. 687</a:t>
            </a:r>
            <a:endParaRPr lang="en-US" sz="1800" dirty="0"/>
          </a:p>
        </p:txBody>
      </p:sp>
      <p:sp>
        <p:nvSpPr>
          <p:cNvPr id="12" name="Drug interactions card"/>
          <p:cNvSpPr/>
          <p:nvPr/>
        </p:nvSpPr>
        <p:spPr>
          <a:xfrm>
            <a:off x="6233008" y="1325880"/>
            <a:ext cx="5410048" cy="361188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 interaction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14" name="Drug interac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 interaction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6" name="Drug interactions body"/>
          <p:cNvSpPr txBox="1"/>
          <p:nvPr/>
        </p:nvSpPr>
        <p:spPr>
          <a:xfrm>
            <a:off x="6461608" y="2075688"/>
            <a:ext cx="49528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Hydroxychloroquine can reduce methotrexate clearance.</a:t>
            </a:r>
            <a:r>
              <a:rPr lang="en-US" sz="1300" dirty="0">
                <a:solidFill>
                  <a:srgbClr val="666666"/>
                </a:solidFill>
              </a:rPr>
              <a:t>  p. 688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Tocilizumab stimulates CYP450 — doses of cyclosporine or warfarin may need adjusting.</a:t>
            </a:r>
            <a:r>
              <a:rPr lang="en-US" sz="1300" dirty="0">
                <a:solidFill>
                  <a:srgbClr val="666666"/>
                </a:solidFill>
              </a:rPr>
              <a:t>  p. 692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Methotrexate given with TNF inhibitors reduces anti-drug antibodies (infliximab, golimumab, certolizumab).</a:t>
            </a:r>
            <a:r>
              <a:rPr lang="en-US" sz="1300" dirty="0">
                <a:solidFill>
                  <a:srgbClr val="666666"/>
                </a:solidFill>
              </a:rPr>
              <a:t>  p. 691; p. 692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63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Methotrexate is dosed weekly (not daily) — a critical patient-safety point, since daily dosing can be fatal.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64</a:t>
            </a:r>
            <a:endParaRPr lang="en-US" sz="1000" dirty="0"/>
          </a:p>
        </p:txBody>
      </p:sp>
      <p:sp>
        <p:nvSpPr>
          <p:cNvPr id="7" name="Monitoring card"/>
          <p:cNvSpPr/>
          <p:nvPr/>
        </p:nvSpPr>
        <p:spPr>
          <a:xfrm>
            <a:off x="548640" y="1325880"/>
            <a:ext cx="11094415" cy="4718304"/>
          </a:xfrm>
          <a:prstGeom prst="roundRect">
            <a:avLst>
              <a:gd name="adj" fmla="val 23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onitoring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9" name="Monitor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onitoring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1" name="Monitoring body"/>
          <p:cNvSpPr txBox="1"/>
          <p:nvPr/>
        </p:nvSpPr>
        <p:spPr>
          <a:xfrm>
            <a:off x="777240" y="2075688"/>
            <a:ext cx="10637215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Folate supplementation</a:t>
            </a:r>
            <a:r>
              <a:rPr lang="en-US" sz="1800" dirty="0">
                <a:solidFill>
                  <a:srgbClr val="1F1F1F"/>
                </a:solidFill>
              </a:rPr>
              <a:t> is routinely co-prescribed with methotrexate to reduce toxicity.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Baseline screening:</a:t>
            </a:r>
            <a:r>
              <a:rPr lang="en-US" sz="1800" dirty="0">
                <a:solidFill>
                  <a:srgbClr val="1F1F1F"/>
                </a:solidFill>
              </a:rPr>
              <a:t> e.g., tuberculosis and hepatitis B/C screening before starting biologics.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Vaccination:</a:t>
            </a:r>
            <a:r>
              <a:rPr lang="en-US" sz="1800" dirty="0">
                <a:solidFill>
                  <a:srgbClr val="1F1F1F"/>
                </a:solidFill>
              </a:rPr>
              <a:t> update vaccines, especially live vaccines, before starting therapy.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Ongoing monitoring:</a:t>
            </a:r>
            <a:r>
              <a:rPr lang="en-US" sz="1800" dirty="0">
                <a:solidFill>
                  <a:srgbClr val="1F1F1F"/>
                </a:solidFill>
              </a:rPr>
              <a:t> regular labs to catch cytopenias, hepatotoxicity, or infection early.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Infection precautions:</a:t>
            </a:r>
            <a:r>
              <a:rPr lang="en-US" sz="1800" dirty="0">
                <a:solidFill>
                  <a:srgbClr val="1F1F1F"/>
                </a:solidFill>
              </a:rPr>
              <a:t> counsel patients to report fevers or infection symptoms promptly.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Folic acid or leucovorin reduces stomatitis, GI, and liver test problems but may cut methotrexate efficacy by 10–18%.</a:t>
            </a:r>
            <a:r>
              <a:rPr lang="en-US" sz="1300" dirty="0">
                <a:solidFill>
                  <a:srgbClr val="666666"/>
                </a:solidFill>
              </a:rPr>
              <a:t>  p. 689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Hydroxychloroquine: baseline eye exam, then annual screening after 5 years (retinopathy).</a:t>
            </a:r>
            <a:r>
              <a:rPr lang="en-US" sz="1300" dirty="0">
                <a:solidFill>
                  <a:srgbClr val="666666"/>
                </a:solidFill>
              </a:rPr>
              <a:t>  p. 684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Avoid live vaccines for up to 3 months after stopping abatacept; stop upadacitinib before a live attenuated vaccine.</a:t>
            </a:r>
            <a:r>
              <a:rPr lang="en-US" sz="1300" dirty="0">
                <a:solidFill>
                  <a:srgbClr val="666666"/>
                </a:solidFill>
              </a:rPr>
              <a:t>  p. 682; p. 687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65</a:t>
            </a:r>
            <a:endParaRPr lang="en-US" sz="1000" dirty="0"/>
          </a:p>
        </p:txBody>
      </p:sp>
      <p:sp>
        <p:nvSpPr>
          <p:cNvPr id="7" name="Clinical pearls / &quot;why&quot; hook (1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(1/2)</a:t>
            </a:r>
            <a:endParaRPr lang="en-US" sz="1800" dirty="0"/>
          </a:p>
        </p:txBody>
      </p:sp>
      <p:sp>
        <p:nvSpPr>
          <p:cNvPr id="11" name="Clinical pearls / &quot;why&quot; hook (1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72-year-old with OA, CKD, hypertension, and an anticoagulant: acetaminophen or a non-NSAID strategy first.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and RA both affect the joint but are two very different diseases — don’t give RA patients analgesia alone.</a:t>
            </a:r>
            <a:r>
              <a:rPr lang="en-US" sz="1300" dirty="0">
                <a:solidFill>
                  <a:srgbClr val="666666"/>
                </a:solidFill>
              </a:rPr>
              <a:t>  S22; S23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Methotrexate’s weekly dosing is one of the highest-yield patient-safety points in all of rheumatology pharmacology.</a:t>
            </a:r>
            <a:r>
              <a:rPr lang="en-US" sz="1300" dirty="0">
                <a:solidFill>
                  <a:srgbClr val="666666"/>
                </a:solidFill>
              </a:rPr>
              <a:t>  S27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Match each generic name to its class: adalimumab, etanercept, infliximab (TNF); tocilizumab (IL-6); rituximab (B cell); abatacept (T-cell costimulation).</a:t>
            </a:r>
            <a:r>
              <a:rPr lang="en-US" sz="1300" dirty="0">
                <a:solidFill>
                  <a:srgbClr val="666666"/>
                </a:solidFill>
              </a:rPr>
              <a:t>  S28; S29; S31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66</a:t>
            </a:r>
            <a:endParaRPr lang="en-US" sz="1000" dirty="0"/>
          </a:p>
        </p:txBody>
      </p:sp>
      <p:sp>
        <p:nvSpPr>
          <p:cNvPr id="7" name="Clinical pearls / &quot;why&quot; hook (2/2) card"/>
          <p:cNvSpPr/>
          <p:nvPr/>
        </p:nvSpPr>
        <p:spPr>
          <a:xfrm>
            <a:off x="548640" y="1325880"/>
            <a:ext cx="11094415" cy="2775204"/>
          </a:xfrm>
          <a:prstGeom prst="roundRect">
            <a:avLst>
              <a:gd name="adj" fmla="val 39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(2/2)</a:t>
            </a:r>
            <a:endParaRPr lang="en-US" sz="1800" dirty="0"/>
          </a:p>
        </p:txBody>
      </p:sp>
      <p:sp>
        <p:nvSpPr>
          <p:cNvPr id="11" name="Clinical pearls / &quot;why&quot; hook (2/2) body"/>
          <p:cNvSpPr txBox="1"/>
          <p:nvPr/>
        </p:nvSpPr>
        <p:spPr>
          <a:xfrm>
            <a:off x="777240" y="2075688"/>
            <a:ext cx="10637215" cy="190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Topical diclofenac 1% gel is sold over the counter for OA and muscular pain.</a:t>
            </a:r>
            <a:r>
              <a:rPr lang="en-US" sz="1300" dirty="0">
                <a:solidFill>
                  <a:srgbClr val="666666"/>
                </a:solidFill>
              </a:rPr>
              <a:t>  p. 679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Biosimilars:</a:t>
            </a:r>
            <a:r>
              <a:rPr lang="en-US" sz="1800" dirty="0">
                <a:solidFill>
                  <a:srgbClr val="1F1F1F"/>
                </a:solidFill>
              </a:rPr>
              <a:t> near-copies of legacy biologics with the same efficacy, toxicity, and immunogenicity at potentially lower cost.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If methotrexate alone falls short: add csDMARDs or a biologic — usually a TNF inhibitor first, then non-TNF biologics or JAK inhibitors.</a:t>
            </a:r>
            <a:r>
              <a:rPr lang="en-US" sz="1300" dirty="0">
                <a:solidFill>
                  <a:srgbClr val="666666"/>
                </a:solidFill>
              </a:rPr>
              <a:t>  p. 701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· Biologic DMARDs: where each class intercepts the immune cascade</a:t>
            </a:r>
            <a:endParaRPr lang="en-US" sz="22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67</a:t>
            </a:r>
            <a:endParaRPr lang="en-US" sz="1000" dirty="0"/>
          </a:p>
        </p:txBody>
      </p:sp>
      <p:pic>
        <p:nvPicPr>
          <p:cNvPr id="7" name="Figure S29_1.png" descr="/home/user/dpas-pharm/work/L03/figures/S2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448" y="1325880"/>
            <a:ext cx="7708798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 (not from Katzung): abatacept blocks T-cell costimulation; TNF inhibitors (adalimumab, etanercept, infliximab) and tocilizumab block cytokine signaling; rituximab depletes B cells — each upstream of synovial inflammation and joint destruction.</a:t>
            </a:r>
            <a:r>
              <a:rPr lang="en-US" sz="1100" dirty="0">
                <a:solidFill>
                  <a:srgbClr val="666666"/>
                </a:solidFill>
              </a:rPr>
              <a:t>  S29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How methotrexate works at RA doses</a:t>
            </a:r>
            <a:endParaRPr lang="en-US" sz="26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68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Inhibits dihydrofolate reductase, reducing immune cell proliferation at low RA doses.</a:t>
            </a:r>
            <a:r>
              <a:rPr lang="en-US" sz="1300" dirty="0">
                <a:solidFill>
                  <a:srgbClr val="666666"/>
                </a:solidFill>
              </a:rPr>
              <a:t>  S27; SG U2-M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Low-dose methotrexate mainly inhibits AICAR transformylase and thymidylate synthetase, raising extracellular AMP that suppresses inflammation; its dihydrofolate reductase effect is relatively minor at rheumatic doses.</a:t>
            </a:r>
            <a:r>
              <a:rPr lang="en-US" sz="1300" dirty="0">
                <a:solidFill>
                  <a:srgbClr val="666666"/>
                </a:solidFill>
              </a:rPr>
              <a:t>  p. 688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OA vs. RA at a glance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69</a:t>
            </a:r>
            <a:endParaRPr lang="en-US" sz="1000" dirty="0"/>
          </a:p>
        </p:txBody>
      </p:sp>
      <p:graphicFrame>
        <p:nvGraphicFramePr>
          <p:cNvPr id="7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Osteoarthritis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Rheumatoid arthritis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Disease type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Degenerative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Autoimmune, systemic inflammatory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What damages the joint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Cartilage breakdown, mechanical wear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Immune-mediated joint destruction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Treatment goal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Pain control and function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Suppress disease activity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, not just pain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Core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Acetaminophen, NSAIDs (oral/topical), intra-articular steroids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DMARDs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(methotrexate first)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S23; S23 (notes); S24; S26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four biologic classes in the lecture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70</a:t>
            </a:r>
            <a:endParaRPr lang="en-US" sz="1000" dirty="0"/>
          </a:p>
        </p:txBody>
      </p:sp>
      <p:graphicFrame>
        <p:nvGraphicFramePr>
          <p:cNvPr id="7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TNF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 TNF-α signaling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Adalimumab, etanercept, infliximab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IL-6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 IL-6 receptor signaling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Tocilizumab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B-cell targeted therapy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Deplete or modulate B lymphocytes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Rituximab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T-cell costimulation modulator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 the second signal for T-cell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Abatacept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S28; S29; SG U2-R8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Conventional synthetic DMARDs (textbook)</a:t>
            </a:r>
            <a:endParaRPr lang="en-US" sz="28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71</a:t>
            </a:r>
            <a:endParaRPr lang="en-US" sz="1000" dirty="0"/>
          </a:p>
        </p:txBody>
      </p:sp>
      <p:graphicFrame>
        <p:nvGraphicFramePr>
          <p:cNvPr id="7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Methotrexate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DHFR (slides); AICAR transformylase (textbook)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anchor; psoriasis, PsA, JIA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Nausea, stomatitis, liver, marrow, lung; teratogenic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Hydroxychloroquine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, chloroquine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Suppress T-cell responses and chemotaxis; dampen type 1 IFN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Mild RA; SLE (lowers mortality); Sjögren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Retinopathy (eye exams); cardiomyopathy; 3–6 months to respond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Sulfasalazine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Split into sulfapyridine + 5-aminosalicylic acid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(slows radiologic progression); ulcerative colitis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~30% stop it; rash, toxic epidermal necrolysis, neutropenia; reversible male infertility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Leflunomide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Dihydroorotate dehydrogenase inhibitor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(equals methotrexate)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Diarrhea (25%), liver tests, hypertension; half-life 19 days (cholestyramine shortens)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Azathioprine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Becomes 6-thioguanine; suppresses B and T cells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RA, SLE, transplant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Marrow suppression (TPMT, NUDT15), GI upset, cancer, infection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267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S26; S27; p. 682; p. 683; p. 684; p. 687; p. 688; p. 689; p. 690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Conventional synthetic DMARDs (textbook) (cont.)</a:t>
            </a:r>
            <a:endParaRPr lang="en-US" sz="25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72</a:t>
            </a:r>
            <a:endParaRPr lang="en-US" sz="1000" dirty="0"/>
          </a:p>
        </p:txBody>
      </p:sp>
      <p:graphicFrame>
        <p:nvGraphicFramePr>
          <p:cNvPr id="7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Mycophenolate mofetil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IMPDH inhibitor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SLE (renal and nonrenal), scleroderma lung; not proven in RA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GI, liver, cytopenias, infection; contraindicated in pregnancy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Cyclosporine, tacrolimus, voclosporin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Calcineurin inhibitors (block T-cell cytokines)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Severe RA; lupus nephritis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Nephro-, neuro-, cardiotoxicity, hypertension; CYP3A4 interactions (grapefruit)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Cyclophosphamide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Cross-links DNA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Lupus nephritis, CNS lupus, vasculitis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Cytopenias, infection, sterility, bladder and skin cancer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Apremilast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PDE4 inhibitor (↑ cAMP)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Plaque psoriasis, PsA, Behçet oral ulcers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Diarrhea, nausea, weight loss, mood changes; CYP3A4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Mesalamine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Topical colonic 5-aminosalicylate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Ulcerative colitis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Diarrhea, headache; renal impairment (monitor)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8341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S26; S27; p. 682; p. 683; p. 684; p. 687; p. 688; p. 689; p. 690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Biologic and targeted DMARDs in the reading (textbook)</a:t>
            </a:r>
            <a:endParaRPr lang="en-US" sz="23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73</a:t>
            </a:r>
            <a:endParaRPr lang="en-US" sz="1000" dirty="0"/>
          </a:p>
        </p:txBody>
      </p:sp>
      <p:graphicFrame>
        <p:nvGraphicFramePr>
          <p:cNvPr id="7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Drug(s)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Adalimumab, etanercept, infliximab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, certolizumab, golimumab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TNF-α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RA, PsA, AS, psoriasis; infliximab and adalimumab also Crohn and UC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TB, fungal, hepatitis B; heart failure; demyelination; lymphoma (boxed)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Tocilizumab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, sarilumab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IL-6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RA; tocilizumab also giant cell arteritis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Infection, liver enzymes, lipids, cytopenias; no sarilumab with diverticulitis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Rituximab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CD20 B cells (depletion)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with methotrexate; GPA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First-dose rash (~30%), infusion reactions, hepatitis B reactivation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Abatacept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CD80/86–CD28 costimulation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RA, PsA, JIA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Infection; don’t combine with TNF inhibitors; live vaccines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Anakinra, canakinumab, rilonacept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Interleukin-1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CAPS; anakinra approved but rarely used in RA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Injection-site reactions (up to 40%), URIs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Baricitinib, tofacitinib, upadacitinib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Janus kinase (JAK-STAT), oral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after TNF or methotrexate failure; PsA; UC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Boxed VTE/MACE/cancer; herpes zoster; ↑ LDL; caution with diverticulitis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8298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S28; p. 682; p. 683; p. 684; p. 685; p. 686; p. 689; p. 690; p. 692; p. 693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Biologic and targeted DMARDs in the reading (textbook) (cont.)</a:t>
            </a:r>
            <a:endParaRPr lang="en-US" sz="2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74</a:t>
            </a:r>
            <a:endParaRPr lang="en-US" sz="1000" dirty="0"/>
          </a:p>
        </p:txBody>
      </p:sp>
      <p:graphicFrame>
        <p:nvGraphicFramePr>
          <p:cNvPr id="7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Drug(s)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Secukinumab, ixekizumab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IL-17A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Psoriasis, PsA, AS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Infection; can cause or worsen IBD; TB screen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Ustekinumab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IL-12/IL-23 (p40)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PsA, psoriasis, Crohn, UC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URIs; stop ≥ 15 weeks before live vaccines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Guselkumab, risankizumab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IL-23 (p19)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Plaque psoriasis, PsA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URIs; TB screen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Belimumab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BLyS (B-cell survival)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SLE, lupus nephritis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Infection; depression and suicide reported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Anifrolumab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Type 1 interferon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Nonrenal SLE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URIs, bronchitis, infusion reactions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1833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S28; p. 682; p. 683; p. 684; p. 685; p. 686; p. 689; p. 690; p. 692; p. 693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75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can’t RA be treated like OA? RA is immune-mediated joint destruction; analgesics ease pain but leave the immune attack — and the damage — running.</a:t>
            </a:r>
            <a:r>
              <a:rPr lang="en-US" sz="1300" dirty="0">
                <a:solidFill>
                  <a:srgbClr val="666666"/>
                </a:solidFill>
              </a:rPr>
              <a:t>  S23; S25 (notes)</a:t>
            </a:r>
            <a:endParaRPr lang="en-US" sz="1800" dirty="0"/>
          </a:p>
        </p:txBody>
      </p:sp>
      <p:sp>
        <p:nvSpPr>
          <p:cNvPr id="12" name="Why it happens card"/>
          <p:cNvSpPr/>
          <p:nvPr/>
        </p:nvSpPr>
        <p:spPr>
          <a:xfrm>
            <a:off x="548640" y="3831336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Why it happens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Why it happe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Why it happens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6" name="Why it happens body"/>
          <p:cNvSpPr txBox="1"/>
          <p:nvPr/>
        </p:nvSpPr>
        <p:spPr>
          <a:xfrm>
            <a:off x="777240" y="4581144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screen for TB and hepatitis first? These drugs suppress the immune response that keeps latent infections in check, so a hidden infection can reactivate.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rules = </a:t>
            </a:r>
            <a:r>
              <a:rPr lang="en-US" sz="1800" b="1" dirty="0">
                <a:solidFill>
                  <a:srgbClr val="1F1F1F"/>
                </a:solidFill>
              </a:rPr>
              <a:t>W-F-P</a:t>
            </a:r>
            <a:r>
              <a:rPr lang="en-US" sz="1800" dirty="0">
                <a:solidFill>
                  <a:srgbClr val="1F1F1F"/>
                </a:solidFill>
              </a:rPr>
              <a:t>: </a:t>
            </a:r>
            <a:r>
              <a:rPr lang="en-US" sz="1800" b="1" dirty="0">
                <a:solidFill>
                  <a:srgbClr val="1F1F1F"/>
                </a:solidFill>
              </a:rPr>
              <a:t>W</a:t>
            </a:r>
            <a:r>
              <a:rPr lang="en-US" sz="1800" dirty="0">
                <a:solidFill>
                  <a:srgbClr val="1F1F1F"/>
                </a:solidFill>
              </a:rPr>
              <a:t>eekly (never daily), </a:t>
            </a:r>
            <a:r>
              <a:rPr lang="en-US" sz="1800" b="1" dirty="0">
                <a:solidFill>
                  <a:srgbClr val="1F1F1F"/>
                </a:solidFill>
              </a:rPr>
              <a:t>F</a:t>
            </a:r>
            <a:r>
              <a:rPr lang="en-US" sz="1800" dirty="0">
                <a:solidFill>
                  <a:srgbClr val="1F1F1F"/>
                </a:solidFill>
              </a:rPr>
              <a:t>olate with it,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regnancy contraindicated.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</p:txBody>
      </p:sp>
      <p:sp>
        <p:nvSpPr>
          <p:cNvPr id="22" name="Mnemonic (memory aid) card"/>
          <p:cNvSpPr/>
          <p:nvPr/>
        </p:nvSpPr>
        <p:spPr>
          <a:xfrm>
            <a:off x="6278728" y="3552444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Mnemonic (memory aid) icon circle"/>
          <p:cNvSpPr/>
          <p:nvPr/>
        </p:nvSpPr>
        <p:spPr>
          <a:xfrm>
            <a:off x="6507328" y="3735324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24" name="Mnemonic (memory aid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3835908"/>
            <a:ext cx="237744" cy="237744"/>
          </a:xfrm>
          <a:prstGeom prst="rect">
            <a:avLst/>
          </a:prstGeom>
        </p:spPr>
      </p:pic>
      <p:sp>
        <p:nvSpPr>
          <p:cNvPr id="25" name="Mnemonic (memory aid) heading"/>
          <p:cNvSpPr txBox="1"/>
          <p:nvPr/>
        </p:nvSpPr>
        <p:spPr>
          <a:xfrm>
            <a:off x="7083400" y="3735324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6" name="Mnemonic (memory aid) body"/>
          <p:cNvSpPr txBox="1"/>
          <p:nvPr/>
        </p:nvSpPr>
        <p:spPr>
          <a:xfrm>
            <a:off x="6507328" y="4302252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toxicity hits </a:t>
            </a:r>
            <a:r>
              <a:rPr lang="en-US" sz="1800" b="1" dirty="0">
                <a:solidFill>
                  <a:srgbClr val="1F1F1F"/>
                </a:solidFill>
              </a:rPr>
              <a:t>L-B-L</a:t>
            </a:r>
            <a:r>
              <a:rPr lang="en-US" sz="1800" dirty="0">
                <a:solidFill>
                  <a:srgbClr val="1F1F1F"/>
                </a:solidFill>
              </a:rPr>
              <a:t>: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iver, </a:t>
            </a:r>
            <a:r>
              <a:rPr lang="en-US" sz="1800" b="1" dirty="0">
                <a:solidFill>
                  <a:srgbClr val="1F1F1F"/>
                </a:solidFill>
              </a:rPr>
              <a:t>B</a:t>
            </a:r>
            <a:r>
              <a:rPr lang="en-US" sz="1800" dirty="0">
                <a:solidFill>
                  <a:srgbClr val="1F1F1F"/>
                </a:solidFill>
              </a:rPr>
              <a:t>one marrow,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ung.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76</a:t>
            </a:r>
            <a:endParaRPr lang="en-US" sz="1000" dirty="0"/>
          </a:p>
        </p:txBody>
      </p:sp>
      <p:sp>
        <p:nvSpPr>
          <p:cNvPr id="7" name="Mnemonic (memory aid)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nemonic (memory aid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nemonic (memory aid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nemonic (memory aid)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1" name="Mnemonic (memory aid)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Generic-name endings: </a:t>
            </a:r>
            <a:r>
              <a:rPr lang="en-US" sz="1800" b="1" dirty="0">
                <a:solidFill>
                  <a:srgbClr val="1F1F1F"/>
                </a:solidFill>
              </a:rPr>
              <a:t>-mab</a:t>
            </a:r>
            <a:r>
              <a:rPr lang="en-US" sz="1800" dirty="0">
                <a:solidFill>
                  <a:srgbClr val="1F1F1F"/>
                </a:solidFill>
              </a:rPr>
              <a:t> = monoclonal antibody (adalimumab, infliximab, tocilizumab, rituximab); </a:t>
            </a:r>
            <a:r>
              <a:rPr lang="en-US" sz="1800" b="1" dirty="0">
                <a:solidFill>
                  <a:srgbClr val="1F1F1F"/>
                </a:solidFill>
              </a:rPr>
              <a:t>-cept</a:t>
            </a:r>
            <a:r>
              <a:rPr lang="en-US" sz="1800" dirty="0">
                <a:solidFill>
                  <a:srgbClr val="1F1F1F"/>
                </a:solidFill>
              </a:rPr>
              <a:t> = receptor-fusion protein (etanercept, abatacept).</a:t>
            </a:r>
            <a:r>
              <a:rPr lang="en-US" sz="1300" dirty="0">
                <a:solidFill>
                  <a:srgbClr val="666666"/>
                </a:solidFill>
              </a:rPr>
              <a:t>  S28; p. 682; p. 690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77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= degenerative → pain control; RA = autoimmune → suppress disease activity.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ladder: acetaminophen → oral or topical NSAIDs → intra-articular steroids for a single-joint flare.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DMARDs (conventional and biologic — methotrexate, adalimumab, etanercept, infliximab, tocilizumab, rituximab, abatacept) modify RA’s disease course rather than only masking symptoms.</a:t>
            </a:r>
            <a:r>
              <a:rPr lang="en-US" sz="1300" dirty="0">
                <a:solidFill>
                  <a:srgbClr val="666666"/>
                </a:solidFill>
              </a:rPr>
              <a:t>  S31; S25; SG U2-R6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Methotrexate: DHFR inhibitor, </a:t>
            </a:r>
            <a:r>
              <a:rPr lang="en-US" sz="1800" b="1" dirty="0">
                <a:solidFill>
                  <a:srgbClr val="1F1F1F"/>
                </a:solidFill>
              </a:rPr>
              <a:t>weekly</a:t>
            </a:r>
            <a:r>
              <a:rPr lang="en-US" sz="1800" dirty="0">
                <a:solidFill>
                  <a:srgbClr val="1F1F1F"/>
                </a:solidFill>
              </a:rPr>
              <a:t>, with folate.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toxicity: liver, marrow, lung; teratogenic.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78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HCQ = milder RA; sulfasalazine = combinations; leflunomide = if MTX not tolerated.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TNF: adalimumab, etanercept, infliximab · IL-6: tocilizumab · B cell: rituximab · T-cell costimulation: abatacept.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Shared risk: immunosuppression → infection.</a:t>
            </a:r>
            <a:r>
              <a:rPr lang="en-US" sz="1300" dirty="0">
                <a:solidFill>
                  <a:srgbClr val="666666"/>
                </a:solidFill>
              </a:rPr>
              <a:t>  S30;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Before biologics: TB + hepatitis B/C screening, update (live) vaccines.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79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66-year-old has knee pain worse with activity, no systemic symptoms, and mild disease. Which first-line drug does the lecture call reasonable?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Methotrexate to slow joint destruction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Acetaminophen for mild osteoarthritis pain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Adalimumab to block TNF-α signaling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Ketorolac taken daily as maintenance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Hydroxychloroquine for mild disease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12: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80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Acetaminophen for mild osteoarthritis pain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Acetaminophen is a reasonable first-line for mild OA pain (S24).</a:t>
            </a:r>
            <a:r>
              <a:rPr lang="en-US" sz="1100" dirty="0">
                <a:solidFill>
                  <a:srgbClr val="666666"/>
                </a:solidFill>
              </a:rPr>
              <a:t>  S23; S24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Methotrexate to slow joint destruction — </a:t>
            </a:r>
            <a:r>
              <a:rPr lang="en-US" sz="1600" dirty="0">
                <a:solidFill>
                  <a:srgbClr val="1F1F1F"/>
                </a:solidFill>
              </a:rPr>
              <a:t>Methotrexate is the anchor DMARD for RA, an autoimmune disease (S23; 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Adalimumab to block TNF-α signaling — </a:t>
            </a:r>
            <a:r>
              <a:rPr lang="en-US" sz="1600" dirty="0">
                <a:solidFill>
                  <a:srgbClr val="1F1F1F"/>
                </a:solidFill>
              </a:rPr>
              <a:t>Biologic DMARDs treat RA, not degenerative OA (S23; S28).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Ketorolac taken daily as maintenance — </a:t>
            </a:r>
            <a:r>
              <a:rPr lang="en-US" sz="1600" dirty="0">
                <a:solidFill>
                  <a:srgbClr val="1F1F1F"/>
                </a:solidFill>
              </a:rPr>
              <a:t>Ketorolac is short-term only (S16).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Hydroxychloroquine for mild disease — </a:t>
            </a:r>
            <a:r>
              <a:rPr lang="en-US" sz="1600" dirty="0">
                <a:solidFill>
                  <a:srgbClr val="1F1F1F"/>
                </a:solidFill>
              </a:rPr>
              <a:t>Hydroxychloroquine is a DMARD for milder RA (S26).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deck light">
  <a:themeElements>
    <a:clrScheme name="Study deck ligh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udy deck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L03 Musculoskeletal Pharmacology — Session 1</dc:title>
  <dc:subject>PptxGenJS Presentation</dc:subject>
  <dc:creator>PptxGenJS</dc:creator>
  <cp:lastModifiedBy>PptxGenJS</cp:lastModifiedBy>
  <cp:revision>1</cp:revision>
  <dcterms:created xsi:type="dcterms:W3CDTF">2026-10-27T13:37:19Z</dcterms:created>
  <dcterms:modified xsi:type="dcterms:W3CDTF">2026-10-27T13:37:19Z</dcterms:modified>
</cp:coreProperties>
</file>