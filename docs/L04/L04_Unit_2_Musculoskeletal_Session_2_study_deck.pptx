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</p:sldIdLst>
  <p:notesMasterIdLst>
    <p:notesMasterId r:id="rId1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notesMaster" Target="notesMasters/notesMaster1.xml"/><Relationship Id="rId116" Type="http://schemas.openxmlformats.org/officeDocument/2006/relationships/presProps" Target="presProps.xml"/><Relationship Id="rId117" Type="http://schemas.openxmlformats.org/officeDocument/2006/relationships/viewProps" Target="viewProps.xml"/><Relationship Id="rId118" Type="http://schemas.openxmlformats.org/officeDocument/2006/relationships/theme" Target="theme/theme1.xml"/><Relationship Id="rId1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on the next slide. Source: S14; SG U2-R10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on the next slide. Source: S9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on the next slide. Source: S28; S29; SG U2-R11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on the next slide. Source: S40; S41; SG U2-R13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on the next slide. Source: S51; S53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on the next slide. Source: S51; S53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on the next slide. Source: S51; S53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on the next slide. Source: S52; S53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on the next slide. Source: S52; S53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on the next slide. Source: S52; S53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on the next slide. Source: SG U2-S; S7; S9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image" Target="../media/image-35-3.png"/><Relationship Id="rId4" Type="http://schemas.openxmlformats.org/officeDocument/2006/relationships/image" Target="../media/image-35-4.png"/><Relationship Id="rId5" Type="http://schemas.openxmlformats.org/officeDocument/2006/relationships/image" Target="../media/image-35-5.png"/><Relationship Id="rId6" Type="http://schemas.openxmlformats.org/officeDocument/2006/relationships/image" Target="../media/image-35-6.png"/><Relationship Id="rId7" Type="http://schemas.openxmlformats.org/officeDocument/2006/relationships/image" Target="../media/image-35-7.png"/><Relationship Id="rId8" Type="http://schemas.openxmlformats.org/officeDocument/2006/relationships/image" Target="../media/image-35-8.png"/><Relationship Id="rId9" Type="http://schemas.openxmlformats.org/officeDocument/2006/relationships/image" Target="../media/image-35-9.png"/><Relationship Id="rId10" Type="http://schemas.openxmlformats.org/officeDocument/2006/relationships/image" Target="../media/image-35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image" Target="../media/image-4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image" Target="../media/image-4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image" Target="../media/image-55-2.png"/><Relationship Id="rId3" Type="http://schemas.openxmlformats.org/officeDocument/2006/relationships/image" Target="../media/image-5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image" Target="../media/image-59-2.png"/><Relationship Id="rId3" Type="http://schemas.openxmlformats.org/officeDocument/2006/relationships/image" Target="../media/image-59-3.png"/><Relationship Id="rId4" Type="http://schemas.openxmlformats.org/officeDocument/2006/relationships/image" Target="../media/image-59-4.png"/><Relationship Id="rId5" Type="http://schemas.openxmlformats.org/officeDocument/2006/relationships/image" Target="../media/image-59-5.png"/><Relationship Id="rId6" Type="http://schemas.openxmlformats.org/officeDocument/2006/relationships/image" Target="../media/image-59-6.png"/><Relationship Id="rId7" Type="http://schemas.openxmlformats.org/officeDocument/2006/relationships/image" Target="../media/image-59-7.png"/><Relationship Id="rId8" Type="http://schemas.openxmlformats.org/officeDocument/2006/relationships/image" Target="../media/image-59-8.png"/><Relationship Id="rId9" Type="http://schemas.openxmlformats.org/officeDocument/2006/relationships/image" Target="../media/image-59-9.png"/><Relationship Id="rId10" Type="http://schemas.openxmlformats.org/officeDocument/2006/relationships/image" Target="../media/image-59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9-1.png"/><Relationship Id="rId2" Type="http://schemas.openxmlformats.org/officeDocument/2006/relationships/image" Target="../media/image-6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7-1.png"/><Relationship Id="rId2" Type="http://schemas.openxmlformats.org/officeDocument/2006/relationships/image" Target="../media/image-7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5-1.png"/><Relationship Id="rId2" Type="http://schemas.openxmlformats.org/officeDocument/2006/relationships/image" Target="../media/image-85-2.png"/><Relationship Id="rId3" Type="http://schemas.openxmlformats.org/officeDocument/2006/relationships/image" Target="../media/image-8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9-1.png"/><Relationship Id="rId2" Type="http://schemas.openxmlformats.org/officeDocument/2006/relationships/image" Target="../media/image-89-2.png"/><Relationship Id="rId3" Type="http://schemas.openxmlformats.org/officeDocument/2006/relationships/image" Target="../media/image-89-3.png"/><Relationship Id="rId4" Type="http://schemas.openxmlformats.org/officeDocument/2006/relationships/image" Target="../media/image-89-4.png"/><Relationship Id="rId5" Type="http://schemas.openxmlformats.org/officeDocument/2006/relationships/image" Target="../media/image-8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9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472C4"/>
                </a:solidFill>
              </a:rPr>
              <a:t>L04 · Thu, Oct 29, 2026</a:t>
            </a:r>
            <a:endParaRPr lang="en-US" sz="16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1783080"/>
            <a:ext cx="1109441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Musculoskeletal Pharmacology — Session 2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0632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66666"/>
                </a:solidFill>
              </a:rPr>
              <a:t>Pharmacology study deck · organized by drug class</a:t>
            </a:r>
            <a:endParaRPr lang="en-US" sz="1800" dirty="0"/>
          </a:p>
        </p:txBody>
      </p:sp>
      <p:sp>
        <p:nvSpPr>
          <p:cNvPr id="5" name="Legend card"/>
          <p:cNvSpPr/>
          <p:nvPr/>
        </p:nvSpPr>
        <p:spPr>
          <a:xfrm>
            <a:off x="548640" y="3840480"/>
            <a:ext cx="11094415" cy="2103120"/>
          </a:xfrm>
          <a:prstGeom prst="roundRect">
            <a:avLst>
              <a:gd name="adj" fmla="val 5217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4023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How to read this deck</a:t>
            </a:r>
            <a:endParaRPr lang="en-US" sz="1600" dirty="0"/>
          </a:p>
        </p:txBody>
      </p:sp>
      <p:sp>
        <p:nvSpPr>
          <p:cNvPr id="7" name="Legend"/>
          <p:cNvSpPr txBox="1"/>
          <p:nvPr/>
        </p:nvSpPr>
        <p:spPr>
          <a:xfrm>
            <a:off x="822960" y="4389120"/>
            <a:ext cx="1054577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400" dirty="0">
                <a:solidFill>
                  <a:srgbClr val="1F1F1F"/>
                </a:solidFill>
              </a:rPr>
              <a:t>  = textbook only (not on the lecture slides)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highlight>
                  <a:srgbClr val="9FE0D8"/>
                </a:highlight>
              </a:rPr>
              <a:t> SG </a:t>
            </a:r>
            <a:r>
              <a:rPr lang="en-US" sz="1400" dirty="0">
                <a:solidFill>
                  <a:srgbClr val="1F1F1F"/>
                </a:solidFill>
              </a:rPr>
              <a:t>  = course study guide only (not on the lecture slides)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F1F1F"/>
                </a:solidFill>
              </a:rPr>
              <a:t>Bold</a:t>
            </a:r>
            <a:r>
              <a:rPr lang="en-US" sz="1400" dirty="0">
                <a:solidFill>
                  <a:srgbClr val="1F1F1F"/>
                </a:solidFill>
              </a:rPr>
              <a:t> = emphasized on the lecture slides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666666"/>
                </a:solidFill>
              </a:rPr>
              <a:t>S12</a:t>
            </a:r>
            <a:r>
              <a:rPr lang="en-US" sz="1400" dirty="0">
                <a:solidFill>
                  <a:srgbClr val="1F1F1F"/>
                </a:solidFill>
              </a:rPr>
              <a:t> = lecture slide 12   ·   </a:t>
            </a:r>
            <a:r>
              <a:rPr lang="en-US" sz="1400" dirty="0">
                <a:solidFill>
                  <a:srgbClr val="666666"/>
                </a:solidFill>
              </a:rPr>
              <a:t>p. 245</a:t>
            </a:r>
            <a:r>
              <a:rPr lang="en-US" sz="1400" dirty="0">
                <a:solidFill>
                  <a:srgbClr val="1F1F1F"/>
                </a:solidFill>
              </a:rPr>
              <a:t> = textbook page 245   ·   </a:t>
            </a:r>
            <a:r>
              <a:rPr lang="en-US" sz="1400" dirty="0">
                <a:solidFill>
                  <a:srgbClr val="666666"/>
                </a:solidFill>
              </a:rPr>
              <a:t>SG U1-R3</a:t>
            </a:r>
            <a:r>
              <a:rPr lang="en-US" sz="1400" dirty="0">
                <a:solidFill>
                  <a:srgbClr val="1F1F1F"/>
                </a:solidFill>
              </a:rPr>
              <a:t> = study guide item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START HERE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4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L04 · Musculoskeletal Pharmacology — Session 2</a:t>
            </a:r>
            <a:endParaRPr lang="en-US" sz="1000" dirty="0"/>
          </a:p>
        </p:txBody>
      </p:sp>
      <p:sp>
        <p:nvSpPr>
          <p:cNvPr id="5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2</a:t>
            </a:r>
            <a:endParaRPr lang="en-US" sz="1000" dirty="0"/>
          </a:p>
        </p:txBody>
      </p:sp>
      <p:sp>
        <p:nvSpPr>
          <p:cNvPr id="6" name="Objective IO2.1"/>
          <p:cNvSpPr/>
          <p:nvPr/>
        </p:nvSpPr>
        <p:spPr>
          <a:xfrm>
            <a:off x="548640" y="1325880"/>
            <a:ext cx="11094415" cy="770128"/>
          </a:xfrm>
          <a:prstGeom prst="roundRect">
            <a:avLst>
              <a:gd name="adj" fmla="val 1187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325880"/>
            <a:ext cx="731520" cy="770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472C4"/>
                </a:solidFill>
              </a:rPr>
              <a:t>IO2.1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1325880"/>
            <a:ext cx="6217920" cy="770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</a:rPr>
              <a:t>Identify major pharmacologic classes used in the management of musculoskeletal conditions and describe their mechanisms of action.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863840" y="1325880"/>
            <a:ext cx="3596335" cy="770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Gout: Acute Flares &amp; Urate-Lowering Therapy, Skeletal Muscle Relaxants, Bone Pharmacology &amp; Osteoporosis</a:t>
            </a:r>
            <a:endParaRPr lang="en-US" sz="1200" dirty="0"/>
          </a:p>
        </p:txBody>
      </p:sp>
      <p:sp>
        <p:nvSpPr>
          <p:cNvPr id="10" name="Objective IO2.2"/>
          <p:cNvSpPr/>
          <p:nvPr/>
        </p:nvSpPr>
        <p:spPr>
          <a:xfrm>
            <a:off x="548640" y="2205736"/>
            <a:ext cx="11094415" cy="1018032"/>
          </a:xfrm>
          <a:prstGeom prst="roundRect">
            <a:avLst>
              <a:gd name="adj" fmla="val 8982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2205736"/>
            <a:ext cx="731520" cy="1018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472C4"/>
                </a:solidFill>
              </a:rPr>
              <a:t>IO2.2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2205736"/>
            <a:ext cx="6217920" cy="1018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</a:rPr>
              <a:t>Describe the indications, contraindications, adverse effects, and clinically significant interactions associated with medications used to treat musculoskeletal conditions.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863840" y="2205736"/>
            <a:ext cx="3596335" cy="1018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Gout: Acute Flares &amp; Urate-Lowering Therapy, Skeletal Muscle Relaxants, Bone Pharmacology &amp; Osteoporosis</a:t>
            </a:r>
            <a:endParaRPr lang="en-US" sz="1200" dirty="0"/>
          </a:p>
        </p:txBody>
      </p:sp>
      <p:sp>
        <p:nvSpPr>
          <p:cNvPr id="14" name="Objective IO2.3"/>
          <p:cNvSpPr/>
          <p:nvPr/>
        </p:nvSpPr>
        <p:spPr>
          <a:xfrm>
            <a:off x="548640" y="3333496"/>
            <a:ext cx="11094415" cy="786384"/>
          </a:xfrm>
          <a:prstGeom prst="roundRect">
            <a:avLst>
              <a:gd name="adj" fmla="val 11628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3333496"/>
            <a:ext cx="7315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472C4"/>
                </a:solidFill>
              </a:rPr>
              <a:t>IO2.3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3333496"/>
            <a:ext cx="62179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</a:rPr>
              <a:t>Compare pharmacologic agents within and across therapeutic classes to distinguish clinically relevant differences in efficacy, safety, and use.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863840" y="3333496"/>
            <a:ext cx="359633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Gout: Acute Flares &amp; Urate-Lowering Therapy, Skeletal Muscle Relaxants, Bone Pharmacology &amp; Osteoporosis, Putting It All Together: Musculoskeletal Toolkit</a:t>
            </a:r>
            <a:endParaRPr lang="en-US" sz="1200" dirty="0"/>
          </a:p>
        </p:txBody>
      </p:sp>
      <p:sp>
        <p:nvSpPr>
          <p:cNvPr id="18" name="Objective IO2.4"/>
          <p:cNvSpPr/>
          <p:nvPr/>
        </p:nvSpPr>
        <p:spPr>
          <a:xfrm>
            <a:off x="548640" y="4229608"/>
            <a:ext cx="11094415" cy="786384"/>
          </a:xfrm>
          <a:prstGeom prst="roundRect">
            <a:avLst>
              <a:gd name="adj" fmla="val 11628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" y="4229608"/>
            <a:ext cx="7315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472C4"/>
                </a:solidFill>
              </a:rPr>
              <a:t>IO2.4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463040" y="4229608"/>
            <a:ext cx="62179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</a:rPr>
              <a:t>Select appropriate pharmacologic therapy for common musculoskeletal conditions based on clinical presentation and patient-specific factors.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863840" y="4229608"/>
            <a:ext cx="359633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Gout: Acute Flares &amp; Urate-Lowering Therapy, Bone Pharmacology &amp; Osteoporosis, Putting It All Together: Musculoskeletal Toolkit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START HERE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 (cont.)</a:t>
            </a:r>
            <a:endParaRPr lang="en-US" sz="3000" dirty="0"/>
          </a:p>
        </p:txBody>
      </p:sp>
      <p:sp>
        <p:nvSpPr>
          <p:cNvPr id="4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L04 · Musculoskeletal Pharmacology — Session 2</a:t>
            </a:r>
            <a:endParaRPr lang="en-US" sz="1000" dirty="0"/>
          </a:p>
        </p:txBody>
      </p:sp>
      <p:sp>
        <p:nvSpPr>
          <p:cNvPr id="5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3</a:t>
            </a:r>
            <a:endParaRPr lang="en-US" sz="1000" dirty="0"/>
          </a:p>
        </p:txBody>
      </p:sp>
      <p:sp>
        <p:nvSpPr>
          <p:cNvPr id="6" name="Objective IO2.5"/>
          <p:cNvSpPr/>
          <p:nvPr/>
        </p:nvSpPr>
        <p:spPr>
          <a:xfrm>
            <a:off x="548640" y="1325880"/>
            <a:ext cx="11094415" cy="770128"/>
          </a:xfrm>
          <a:prstGeom prst="roundRect">
            <a:avLst>
              <a:gd name="adj" fmla="val 1187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325880"/>
            <a:ext cx="731520" cy="770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472C4"/>
                </a:solidFill>
              </a:rPr>
              <a:t>IO2.5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1325880"/>
            <a:ext cx="6217920" cy="770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</a:rPr>
              <a:t>Identify appropriate dosing, administration, and monitoring considerations for medications used in musculoskeletal conditions.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863840" y="1325880"/>
            <a:ext cx="3596335" cy="770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Gout: Acute Flares &amp; Urate-Lowering Therapy, Skeletal Muscle Relaxants, Bone Pharmacology &amp; Osteoporosis</a:t>
            </a:r>
            <a:endParaRPr lang="en-US" sz="1200" dirty="0"/>
          </a:p>
        </p:txBody>
      </p:sp>
      <p:sp>
        <p:nvSpPr>
          <p:cNvPr id="10" name="Objective IO2.6"/>
          <p:cNvSpPr/>
          <p:nvPr/>
        </p:nvSpPr>
        <p:spPr>
          <a:xfrm>
            <a:off x="548640" y="2205736"/>
            <a:ext cx="11094415" cy="770128"/>
          </a:xfrm>
          <a:prstGeom prst="roundRect">
            <a:avLst>
              <a:gd name="adj" fmla="val 1187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2205736"/>
            <a:ext cx="731520" cy="770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472C4"/>
                </a:solidFill>
              </a:rPr>
              <a:t>IO2.6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2205736"/>
            <a:ext cx="6217920" cy="770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</a:rPr>
              <a:t>Explain important medication-use and safety information to patients receiving pharmacotherapy for musculoskeletal.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863840" y="2205736"/>
            <a:ext cx="3596335" cy="770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Skeletal Muscle Relaxants, Bone Pharmacology &amp; Osteoporosis</a:t>
            </a:r>
            <a:endParaRPr lang="en-US" sz="1200" dirty="0"/>
          </a:p>
        </p:txBody>
      </p:sp>
      <p:sp>
        <p:nvSpPr>
          <p:cNvPr id="14" name="Objective SO1"/>
          <p:cNvSpPr/>
          <p:nvPr/>
        </p:nvSpPr>
        <p:spPr>
          <a:xfrm>
            <a:off x="548640" y="3085592"/>
            <a:ext cx="11094415" cy="770128"/>
          </a:xfrm>
          <a:prstGeom prst="roundRect">
            <a:avLst>
              <a:gd name="adj" fmla="val 1187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3085592"/>
            <a:ext cx="731520" cy="770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472C4"/>
                </a:solidFill>
              </a:rPr>
              <a:t>SO1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3085592"/>
            <a:ext cx="6217920" cy="770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</a:rPr>
              <a:t>Explain the pharmacologic treatment of acute and chronic gout, including representative generic agents.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863840" y="3085592"/>
            <a:ext cx="3596335" cy="770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Gout: Acute Flares &amp; Urate-Lowering Therapy</a:t>
            </a:r>
            <a:endParaRPr lang="en-US" sz="1200" dirty="0"/>
          </a:p>
        </p:txBody>
      </p:sp>
      <p:sp>
        <p:nvSpPr>
          <p:cNvPr id="18" name="Objective SO2"/>
          <p:cNvSpPr/>
          <p:nvPr/>
        </p:nvSpPr>
        <p:spPr>
          <a:xfrm>
            <a:off x="548640" y="3965448"/>
            <a:ext cx="11094415" cy="770128"/>
          </a:xfrm>
          <a:prstGeom prst="roundRect">
            <a:avLst>
              <a:gd name="adj" fmla="val 1187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" y="3965448"/>
            <a:ext cx="731520" cy="770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472C4"/>
                </a:solidFill>
              </a:rPr>
              <a:t>SO2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463040" y="3965448"/>
            <a:ext cx="6217920" cy="770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</a:rPr>
              <a:t>Classify skeletal muscle relaxants by mechanism and clinical use, including representative generic agents.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863840" y="3965448"/>
            <a:ext cx="3596335" cy="770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Skeletal Muscle Relaxants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START HERE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 (cont.)</a:t>
            </a:r>
            <a:endParaRPr lang="en-US" sz="3000" dirty="0"/>
          </a:p>
        </p:txBody>
      </p:sp>
      <p:sp>
        <p:nvSpPr>
          <p:cNvPr id="4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L04 · Musculoskeletal Pharmacology — Session 2</a:t>
            </a:r>
            <a:endParaRPr lang="en-US" sz="1000" dirty="0"/>
          </a:p>
        </p:txBody>
      </p:sp>
      <p:sp>
        <p:nvSpPr>
          <p:cNvPr id="5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4</a:t>
            </a:r>
            <a:endParaRPr lang="en-US" sz="1000" dirty="0"/>
          </a:p>
        </p:txBody>
      </p:sp>
      <p:sp>
        <p:nvSpPr>
          <p:cNvPr id="6" name="Objective SO3"/>
          <p:cNvSpPr/>
          <p:nvPr/>
        </p:nvSpPr>
        <p:spPr>
          <a:xfrm>
            <a:off x="548640" y="1325880"/>
            <a:ext cx="11094415" cy="770128"/>
          </a:xfrm>
          <a:prstGeom prst="roundRect">
            <a:avLst>
              <a:gd name="adj" fmla="val 1187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325880"/>
            <a:ext cx="731520" cy="770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472C4"/>
                </a:solidFill>
              </a:rPr>
              <a:t>SO3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1325880"/>
            <a:ext cx="6217920" cy="770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</a:rPr>
              <a:t>Explain the pharmacologic management of osteoporosis, including representative generic agents.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863840" y="1325880"/>
            <a:ext cx="3596335" cy="770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Bone Pharmacology &amp; Osteoporosis</a:t>
            </a:r>
            <a:endParaRPr lang="en-US" sz="1200" dirty="0"/>
          </a:p>
        </p:txBody>
      </p:sp>
      <p:sp>
        <p:nvSpPr>
          <p:cNvPr id="10" name="Objective SO4"/>
          <p:cNvSpPr/>
          <p:nvPr/>
        </p:nvSpPr>
        <p:spPr>
          <a:xfrm>
            <a:off x="548640" y="2205736"/>
            <a:ext cx="11094415" cy="770128"/>
          </a:xfrm>
          <a:prstGeom prst="roundRect">
            <a:avLst>
              <a:gd name="adj" fmla="val 1187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2205736"/>
            <a:ext cx="731520" cy="770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472C4"/>
                </a:solidFill>
              </a:rPr>
              <a:t>SO4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2205736"/>
            <a:ext cx="6217920" cy="770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</a:rPr>
              <a:t>Identify key contraindications, adverse effects, and drug interactions throughout.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863840" y="2205736"/>
            <a:ext cx="3596335" cy="770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Gout: Acute Flares &amp; Urate-Lowering Therapy, Skeletal Muscle Relaxants, Bone Pharmacology &amp; Osteoporosis</a:t>
            </a:r>
            <a:endParaRPr lang="en-US" sz="1200" dirty="0"/>
          </a:p>
        </p:txBody>
      </p:sp>
      <p:sp>
        <p:nvSpPr>
          <p:cNvPr id="14" name="Objective SO5"/>
          <p:cNvSpPr/>
          <p:nvPr/>
        </p:nvSpPr>
        <p:spPr>
          <a:xfrm>
            <a:off x="548640" y="3085592"/>
            <a:ext cx="11094415" cy="770128"/>
          </a:xfrm>
          <a:prstGeom prst="roundRect">
            <a:avLst>
              <a:gd name="adj" fmla="val 1187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3085592"/>
            <a:ext cx="731520" cy="770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472C4"/>
                </a:solidFill>
              </a:rPr>
              <a:t>SO5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3085592"/>
            <a:ext cx="6217920" cy="770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</a:rPr>
              <a:t>Apply the full musculoskeletal pharmacology toolkit to integrated clinical scenarios.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863840" y="3085592"/>
            <a:ext cx="3596335" cy="770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Putting It All Together: Musculoskeletal Toolkit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START HERE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this lecture</a:t>
            </a:r>
            <a:endParaRPr lang="en-US" sz="3000" dirty="0"/>
          </a:p>
        </p:txBody>
      </p:sp>
      <p:sp>
        <p:nvSpPr>
          <p:cNvPr id="4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L04 · Musculoskeletal Pharmacology — Session 2</a:t>
            </a:r>
            <a:endParaRPr lang="en-US" sz="1000" dirty="0"/>
          </a:p>
        </p:txBody>
      </p:sp>
      <p:sp>
        <p:nvSpPr>
          <p:cNvPr id="5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5</a:t>
            </a:r>
            <a:endParaRPr lang="en-US" sz="1000" dirty="0"/>
          </a:p>
        </p:txBody>
      </p:sp>
      <p:sp>
        <p:nvSpPr>
          <p:cNvPr id="6" name="Scope, readings &amp; sources card"/>
          <p:cNvSpPr/>
          <p:nvPr/>
        </p:nvSpPr>
        <p:spPr>
          <a:xfrm>
            <a:off x="548640" y="1325880"/>
            <a:ext cx="11094415" cy="3054096"/>
          </a:xfrm>
          <a:prstGeom prst="roundRect">
            <a:avLst>
              <a:gd name="adj" fmla="val 359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7" name="Scope, readings &amp; sources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pic>
        <p:nvPicPr>
          <p:cNvPr id="8" name="Scope, readings &amp; sources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9" name="Scope, readings &amp;amp; sources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472C4"/>
                </a:solidFill>
              </a:rPr>
              <a:t>Scope, readings &amp; sources</a:t>
            </a:r>
            <a:endParaRPr lang="en-US" sz="1800" dirty="0"/>
          </a:p>
        </p:txBody>
      </p:sp>
      <p:sp>
        <p:nvSpPr>
          <p:cNvPr id="10" name="Scope, readings &amp; sources body"/>
          <p:cNvSpPr txBox="1"/>
          <p:nvPr/>
        </p:nvSpPr>
        <p:spPr>
          <a:xfrm>
            <a:off x="777240" y="2075688"/>
            <a:ext cx="10637215" cy="218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PA Pharmacology Course · Lecture 2 · Session 2 of 2 — Musculoskeletal Pharmacology (Thursday, October 29): gout, skeletal muscle relaxants, and bone pharmacology.</a:t>
            </a:r>
            <a:r>
              <a:rPr lang="en-US" sz="1300" dirty="0">
                <a:solidFill>
                  <a:srgbClr val="666666"/>
                </a:solidFill>
              </a:rPr>
              <a:t>  S1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Recap: Session 1 (Oct 27) covered musculoskeletal pain pathways, acetaminophen, NSAIDs, and osteoarthritis/rheumatoid arthritis pharmacotherapy including DMARDs.</a:t>
            </a:r>
            <a:r>
              <a:rPr lang="en-US" sz="1300" dirty="0">
                <a:solidFill>
                  <a:srgbClr val="666666"/>
                </a:solidFill>
              </a:rPr>
              <a:t>  S2; S2 (notes)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Today picks up with gout (Section 5) and runs through skeletal muscle relaxants, bone pharmacology, integration, and the cumulative Lecture Recall Quiz.</a:t>
            </a:r>
            <a:r>
              <a:rPr lang="en-US" sz="1300" dirty="0">
                <a:solidFill>
                  <a:srgbClr val="666666"/>
                </a:solidFill>
              </a:rPr>
              <a:t>  S2 (notes)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START HERE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this lecture (cont.)</a:t>
            </a:r>
            <a:endParaRPr lang="en-US" sz="3000" dirty="0"/>
          </a:p>
        </p:txBody>
      </p:sp>
      <p:sp>
        <p:nvSpPr>
          <p:cNvPr id="4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L04 · Musculoskeletal Pharmacology — Session 2</a:t>
            </a:r>
            <a:endParaRPr lang="en-US" sz="1000" dirty="0"/>
          </a:p>
        </p:txBody>
      </p:sp>
      <p:sp>
        <p:nvSpPr>
          <p:cNvPr id="5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6</a:t>
            </a:r>
            <a:endParaRPr lang="en-US" sz="1000" dirty="0"/>
          </a:p>
        </p:txBody>
      </p:sp>
      <p:sp>
        <p:nvSpPr>
          <p:cNvPr id="6" name="Scope, readings &amp; sources card"/>
          <p:cNvSpPr/>
          <p:nvPr/>
        </p:nvSpPr>
        <p:spPr>
          <a:xfrm>
            <a:off x="548640" y="1325880"/>
            <a:ext cx="11094415" cy="3781044"/>
          </a:xfrm>
          <a:prstGeom prst="roundRect">
            <a:avLst>
              <a:gd name="adj" fmla="val 2902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7" name="Scope, readings &amp; sources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pic>
        <p:nvPicPr>
          <p:cNvPr id="8" name="Scope, readings &amp; sources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9" name="Scope, readings &amp;amp; sources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472C4"/>
                </a:solidFill>
              </a:rPr>
              <a:t>Scope, readings &amp; sources</a:t>
            </a:r>
            <a:endParaRPr lang="en-US" sz="1800" dirty="0"/>
          </a:p>
        </p:txBody>
      </p:sp>
      <p:sp>
        <p:nvSpPr>
          <p:cNvPr id="10" name="Scope, readings &amp; sources body"/>
          <p:cNvSpPr txBox="1"/>
          <p:nvPr/>
        </p:nvSpPr>
        <p:spPr>
          <a:xfrm>
            <a:off x="777240" y="2075688"/>
            <a:ext cx="10637215" cy="2912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Required reading: Katzung 16e — Ch. 27 (skeletal muscle relaxants), the gout part of Ch. 36, and Ch. 42 (bone mineral homeostasis).</a:t>
            </a:r>
            <a:r>
              <a:rPr lang="en-US" sz="1300" dirty="0">
                <a:solidFill>
                  <a:srgbClr val="666666"/>
                </a:solidFill>
              </a:rPr>
              <a:t>  Syllabus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Original figures in this deck:</a:t>
            </a:r>
            <a:r>
              <a:rPr lang="en-US" sz="1800" dirty="0">
                <a:solidFill>
                  <a:srgbClr val="1F1F1F"/>
                </a:solidFill>
              </a:rPr>
              <a:t> Figures 4–8 (Gout: From Purine Metabolism to Joint Inflammation; Skeletal Muscle Relaxants: Central vs. Peripheral Site of Action; Calcium Homeostasis: The PTH Feedback Loop; Bisphosphonate Dosing Frequency; How Osteoporosis Drugs Shift the Remodeling Balance) were generated by the course director using the AI tool Claude to illustrate standard, non-copyrighted pharmacologic concepts. They are original diagrams, not reproduced from Katzung’s Basic and Clinical Pharmacology or any other copyrighted source. </a:t>
            </a:r>
            <a:r>
              <a:rPr lang="en-US" sz="1800" b="1" dirty="0">
                <a:solidFill>
                  <a:srgbClr val="1F1F1F"/>
                </a:solidFill>
              </a:rPr>
              <a:t>Reference:</a:t>
            </a:r>
            <a:r>
              <a:rPr lang="en-US" sz="1800" dirty="0">
                <a:solidFill>
                  <a:srgbClr val="1F1F1F"/>
                </a:solidFill>
              </a:rPr>
              <a:t> Anthropic. (2026). Claude (Sonnet 5) [Large language model]. https://claude.ai</a:t>
            </a:r>
            <a:r>
              <a:rPr lang="en-US" sz="1300" dirty="0">
                <a:solidFill>
                  <a:srgbClr val="666666"/>
                </a:solidFill>
              </a:rPr>
              <a:t>  S54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ROADMAP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classes in this lecture</a:t>
            </a:r>
            <a:endParaRPr lang="en-US" sz="3000" dirty="0"/>
          </a:p>
        </p:txBody>
      </p:sp>
      <p:sp>
        <p:nvSpPr>
          <p:cNvPr id="4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L04 · Musculoskeletal Pharmacology — Session 2</a:t>
            </a:r>
            <a:endParaRPr lang="en-US" sz="1000" dirty="0"/>
          </a:p>
        </p:txBody>
      </p:sp>
      <p:sp>
        <p:nvSpPr>
          <p:cNvPr id="5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11094415" cy="914400"/>
          </a:xfrm>
          <a:prstGeom prst="roundRect">
            <a:avLst>
              <a:gd name="adj" fmla="val 1000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554480"/>
            <a:ext cx="457200" cy="457200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1325880"/>
            <a:ext cx="100885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</a:rPr>
              <a:t>Gout: Acute Flares &amp; Urate-Lowering Therapy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Objectives: SO1, SO4, IO2.1, IO2.2, IO2.3, IO2.4, IO2.5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2377440"/>
            <a:ext cx="11094415" cy="914400"/>
          </a:xfrm>
          <a:prstGeom prst="roundRect">
            <a:avLst>
              <a:gd name="adj" fmla="val 1000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2606040"/>
            <a:ext cx="457200" cy="457200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2377440"/>
            <a:ext cx="100885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</a:rPr>
              <a:t>Skeletal Muscle Relaxants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Objectives: SO2, SO4, IO2.1, IO2.2, IO2.3, IO2.5, IO2.6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48640" y="3429000"/>
            <a:ext cx="11094415" cy="914400"/>
          </a:xfrm>
          <a:prstGeom prst="roundRect">
            <a:avLst>
              <a:gd name="adj" fmla="val 1000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3657600"/>
            <a:ext cx="457200" cy="457200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3429000"/>
            <a:ext cx="100885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</a:rPr>
              <a:t>Bone Pharmacology &amp; Osteoporosis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Objectives: SO3, SO4, IO2.1, IO2.2, IO2.3, IO2.4, IO2.5, IO2.6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48640" y="4480560"/>
            <a:ext cx="11094415" cy="914400"/>
          </a:xfrm>
          <a:prstGeom prst="roundRect">
            <a:avLst>
              <a:gd name="adj" fmla="val 1000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4709160"/>
            <a:ext cx="457200" cy="457200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1520" y="4709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4480560"/>
            <a:ext cx="100885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</a:rPr>
              <a:t>Putting It All Together: Musculoskeletal Toolkit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Objectives: SO5, IO2.3, IO2.4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F4F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6E0F5"/>
                </a:solidFill>
              </a:rPr>
              <a:t>Drug class 1 of 4</a:t>
            </a:r>
            <a:endParaRPr lang="en-US" sz="16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187452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Gout: Acute Flares &amp; Urate-Lowering Therapy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108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6E0F5"/>
                </a:solidFill>
              </a:rPr>
              <a:t>Covers objectives: SO1 · SO4 · IO2.1 · IO2.2 · IO2.3 · IO2.4 · IO2.5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83321" y="4297680"/>
            <a:ext cx="640080" cy="640080"/>
          </a:xfrm>
          <a:prstGeom prst="ellipse">
            <a:avLst/>
          </a:prstGeom>
          <a:solidFill>
            <a:srgbClr val="44546A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8769" y="4453128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94360" y="5029200"/>
            <a:ext cx="101800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Class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1892762" y="4297680"/>
            <a:ext cx="640080" cy="640080"/>
          </a:xfrm>
          <a:prstGeom prst="ellipse">
            <a:avLst/>
          </a:prstGeom>
          <a:solidFill>
            <a:srgbClr val="4472C4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8210" y="4453128"/>
            <a:ext cx="329184" cy="32918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703802" y="5029200"/>
            <a:ext cx="101800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Prototype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3002204" y="4297680"/>
            <a:ext cx="640080" cy="640080"/>
          </a:xfrm>
          <a:prstGeom prst="ellipse">
            <a:avLst/>
          </a:prstGeom>
          <a:solidFill>
            <a:srgbClr val="7030A0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7652" y="4453128"/>
            <a:ext cx="329184" cy="32918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2813243" y="5029200"/>
            <a:ext cx="101800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Mechanism of action</a:t>
            </a:r>
            <a:endParaRPr lang="en-US" sz="1000" dirty="0"/>
          </a:p>
        </p:txBody>
      </p:sp>
      <p:sp>
        <p:nvSpPr>
          <p:cNvPr id="14" name="Shape 9"/>
          <p:cNvSpPr/>
          <p:nvPr/>
        </p:nvSpPr>
        <p:spPr>
          <a:xfrm>
            <a:off x="4111645" y="4297680"/>
            <a:ext cx="640080" cy="640080"/>
          </a:xfrm>
          <a:prstGeom prst="ellipse">
            <a:avLst/>
          </a:prstGeom>
          <a:solidFill>
            <a:srgbClr val="548235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7093" y="4453128"/>
            <a:ext cx="329184" cy="32918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3922685" y="5029200"/>
            <a:ext cx="101800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Indications</a:t>
            </a:r>
            <a:endParaRPr lang="en-US" sz="1000" dirty="0"/>
          </a:p>
        </p:txBody>
      </p:sp>
      <p:sp>
        <p:nvSpPr>
          <p:cNvPr id="17" name="Shape 11"/>
          <p:cNvSpPr/>
          <p:nvPr/>
        </p:nvSpPr>
        <p:spPr>
          <a:xfrm>
            <a:off x="5221087" y="4297680"/>
            <a:ext cx="640080" cy="640080"/>
          </a:xfrm>
          <a:prstGeom prst="ellipse">
            <a:avLst/>
          </a:prstGeom>
          <a:solidFill>
            <a:srgbClr val="C55A11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6535" y="4453128"/>
            <a:ext cx="329184" cy="329184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5032126" y="5029200"/>
            <a:ext cx="101800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Adverse effects</a:t>
            </a:r>
            <a:endParaRPr lang="en-US" sz="1000" dirty="0"/>
          </a:p>
        </p:txBody>
      </p:sp>
      <p:sp>
        <p:nvSpPr>
          <p:cNvPr id="20" name="Shape 13"/>
          <p:cNvSpPr/>
          <p:nvPr/>
        </p:nvSpPr>
        <p:spPr>
          <a:xfrm>
            <a:off x="6330528" y="4297680"/>
            <a:ext cx="640080" cy="640080"/>
          </a:xfrm>
          <a:prstGeom prst="ellipse">
            <a:avLst/>
          </a:prstGeom>
          <a:solidFill>
            <a:srgbClr val="C00000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5976" y="4453128"/>
            <a:ext cx="329184" cy="329184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6141568" y="5029200"/>
            <a:ext cx="101800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Contraindications</a:t>
            </a:r>
            <a:endParaRPr lang="en-US" sz="1000" dirty="0"/>
          </a:p>
        </p:txBody>
      </p:sp>
      <p:sp>
        <p:nvSpPr>
          <p:cNvPr id="23" name="Shape 15"/>
          <p:cNvSpPr/>
          <p:nvPr/>
        </p:nvSpPr>
        <p:spPr>
          <a:xfrm>
            <a:off x="7439970" y="4297680"/>
            <a:ext cx="640080" cy="640080"/>
          </a:xfrm>
          <a:prstGeom prst="ellipse">
            <a:avLst/>
          </a:prstGeom>
          <a:solidFill>
            <a:srgbClr val="7F6000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95418" y="4453128"/>
            <a:ext cx="329184" cy="329184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7251009" y="5029200"/>
            <a:ext cx="101800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Drug interactions</a:t>
            </a:r>
            <a:endParaRPr lang="en-US" sz="1000" dirty="0"/>
          </a:p>
        </p:txBody>
      </p:sp>
      <p:sp>
        <p:nvSpPr>
          <p:cNvPr id="26" name="Shape 17"/>
          <p:cNvSpPr/>
          <p:nvPr/>
        </p:nvSpPr>
        <p:spPr>
          <a:xfrm>
            <a:off x="8549411" y="4297680"/>
            <a:ext cx="640080" cy="640080"/>
          </a:xfrm>
          <a:prstGeom prst="ellipse">
            <a:avLst/>
          </a:prstGeom>
          <a:solidFill>
            <a:srgbClr val="2E75B6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04859" y="4453128"/>
            <a:ext cx="329184" cy="329184"/>
          </a:xfrm>
          <a:prstGeom prst="rect">
            <a:avLst/>
          </a:prstGeom>
        </p:spPr>
      </p:pic>
      <p:sp>
        <p:nvSpPr>
          <p:cNvPr id="28" name="Text 18"/>
          <p:cNvSpPr txBox="1"/>
          <p:nvPr/>
        </p:nvSpPr>
        <p:spPr>
          <a:xfrm>
            <a:off x="8360451" y="5029200"/>
            <a:ext cx="101800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Pharmacokinetics</a:t>
            </a:r>
            <a:endParaRPr lang="en-US" sz="1000" dirty="0"/>
          </a:p>
        </p:txBody>
      </p:sp>
      <p:sp>
        <p:nvSpPr>
          <p:cNvPr id="29" name="Shape 19"/>
          <p:cNvSpPr/>
          <p:nvPr/>
        </p:nvSpPr>
        <p:spPr>
          <a:xfrm>
            <a:off x="9658853" y="4297680"/>
            <a:ext cx="640080" cy="640080"/>
          </a:xfrm>
          <a:prstGeom prst="ellipse">
            <a:avLst/>
          </a:prstGeom>
          <a:solidFill>
            <a:srgbClr val="1F7A7A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14301" y="4453128"/>
            <a:ext cx="329184" cy="329184"/>
          </a:xfrm>
          <a:prstGeom prst="rect">
            <a:avLst/>
          </a:prstGeom>
        </p:spPr>
      </p:pic>
      <p:sp>
        <p:nvSpPr>
          <p:cNvPr id="31" name="Text 20"/>
          <p:cNvSpPr txBox="1"/>
          <p:nvPr/>
        </p:nvSpPr>
        <p:spPr>
          <a:xfrm>
            <a:off x="9469892" y="5029200"/>
            <a:ext cx="101800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Monitoring</a:t>
            </a:r>
            <a:endParaRPr lang="en-US" sz="1000" dirty="0"/>
          </a:p>
        </p:txBody>
      </p:sp>
      <p:sp>
        <p:nvSpPr>
          <p:cNvPr id="32" name="Shape 21"/>
          <p:cNvSpPr/>
          <p:nvPr/>
        </p:nvSpPr>
        <p:spPr>
          <a:xfrm>
            <a:off x="10768294" y="4297680"/>
            <a:ext cx="640080" cy="640080"/>
          </a:xfrm>
          <a:prstGeom prst="ellipse">
            <a:avLst/>
          </a:prstGeom>
          <a:solidFill>
            <a:srgbClr val="2E75B6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3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23742" y="4453128"/>
            <a:ext cx="329184" cy="329184"/>
          </a:xfrm>
          <a:prstGeom prst="rect">
            <a:avLst/>
          </a:prstGeom>
        </p:spPr>
      </p:pic>
      <p:sp>
        <p:nvSpPr>
          <p:cNvPr id="34" name="Text 22"/>
          <p:cNvSpPr txBox="1"/>
          <p:nvPr/>
        </p:nvSpPr>
        <p:spPr>
          <a:xfrm>
            <a:off x="10579334" y="5029200"/>
            <a:ext cx="101800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Clinical pearls</a:t>
            </a:r>
            <a:endParaRPr lang="en-US" sz="1000" dirty="0"/>
          </a:p>
        </p:txBody>
      </p:sp>
      <p:sp>
        <p:nvSpPr>
          <p:cNvPr id="35" name="Text 23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6E0F5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GOUT: ACUTE FLARES &amp; URATE-LOWERING THERAPY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4F8A"/>
                </a:solidFill>
              </a:rPr>
              <a:t>Objectives: SO1 · SO4 · IO2.1 · IO2.2 · IO2.3 · IO2.4 · IO2.5</a:t>
            </a:r>
            <a:endParaRPr lang="en-US" sz="8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L04 · Musculoskeletal Pharmacology — Session 2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9</a:t>
            </a:r>
            <a:endParaRPr lang="en-US" sz="1000" dirty="0"/>
          </a:p>
        </p:txBody>
      </p:sp>
      <p:sp>
        <p:nvSpPr>
          <p:cNvPr id="7" name="Class (1/2) card"/>
          <p:cNvSpPr/>
          <p:nvPr/>
        </p:nvSpPr>
        <p:spPr>
          <a:xfrm>
            <a:off x="548640" y="1325880"/>
            <a:ext cx="11094415" cy="4777740"/>
          </a:xfrm>
          <a:prstGeom prst="roundRect">
            <a:avLst>
              <a:gd name="adj" fmla="val 2297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Class (1/2)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44546A"/>
          </a:solidFill>
          <a:ln w="12700">
            <a:solidFill>
              <a:srgbClr val="44546A"/>
            </a:solidFill>
            <a:prstDash val="solid"/>
          </a:ln>
        </p:spPr>
      </p:sp>
      <p:pic>
        <p:nvPicPr>
          <p:cNvPr id="9" name="Class (1/2)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Class (1/2)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4546A"/>
                </a:solidFill>
              </a:rPr>
              <a:t>Class (1/2)</a:t>
            </a:r>
            <a:endParaRPr lang="en-US" sz="1800" dirty="0"/>
          </a:p>
        </p:txBody>
      </p:sp>
      <p:sp>
        <p:nvSpPr>
          <p:cNvPr id="11" name="Class (1/2) body"/>
          <p:cNvSpPr txBox="1"/>
          <p:nvPr/>
        </p:nvSpPr>
        <p:spPr>
          <a:xfrm>
            <a:off x="777240" y="2075688"/>
            <a:ext cx="10637215" cy="3909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Gout is a crystal-driven inflammatory arthritis with </a:t>
            </a:r>
            <a:r>
              <a:rPr lang="en-US" sz="1800" b="1" dirty="0">
                <a:solidFill>
                  <a:srgbClr val="1F1F1F"/>
                </a:solidFill>
              </a:rPr>
              <a:t>two very different treatment phases</a:t>
            </a:r>
            <a:r>
              <a:rPr lang="en-US" sz="1800" dirty="0">
                <a:solidFill>
                  <a:srgbClr val="1F1F1F"/>
                </a:solidFill>
              </a:rPr>
              <a:t>.</a:t>
            </a:r>
            <a:r>
              <a:rPr lang="en-US" sz="1300" dirty="0">
                <a:solidFill>
                  <a:srgbClr val="666666"/>
                </a:solidFill>
              </a:rPr>
              <a:t>  S3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The chain:</a:t>
            </a:r>
            <a:r>
              <a:rPr lang="en-US" sz="1800" dirty="0">
                <a:solidFill>
                  <a:srgbClr val="1F1F1F"/>
                </a:solidFill>
              </a:rPr>
              <a:t> purine metabolism → uric acid → monosodium urate crystals → joint inflammation. Everything downstream — colchicine, allopurinol, febuxostat, probenecid — targets a specific point along this chain.</a:t>
            </a:r>
            <a:r>
              <a:rPr lang="en-US" sz="1300" dirty="0">
                <a:solidFill>
                  <a:srgbClr val="666666"/>
                </a:solidFill>
              </a:rPr>
              <a:t>  S4; S4 (notes)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Purine breakdown:</a:t>
            </a:r>
            <a:r>
              <a:rPr lang="en-US" sz="1800" dirty="0">
                <a:solidFill>
                  <a:srgbClr val="1F1F1F"/>
                </a:solidFill>
              </a:rPr>
              <a:t> hypoxanthine → xanthine → uric acid (via </a:t>
            </a:r>
            <a:r>
              <a:rPr lang="en-US" sz="1800" b="1" dirty="0">
                <a:solidFill>
                  <a:srgbClr val="1F1F1F"/>
                </a:solidFill>
              </a:rPr>
              <a:t>xanthine oxidase</a:t>
            </a:r>
            <a:r>
              <a:rPr lang="en-US" sz="1800" dirty="0">
                <a:solidFill>
                  <a:srgbClr val="1F1F1F"/>
                </a:solidFill>
              </a:rPr>
              <a:t>) → hyperuricemia → urate crystals in the joint.</a:t>
            </a:r>
            <a:r>
              <a:rPr lang="en-US" sz="1300" dirty="0">
                <a:solidFill>
                  <a:srgbClr val="666666"/>
                </a:solidFill>
              </a:rPr>
              <a:t>  S5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Crystals activate neutrophils and macrophages (</a:t>
            </a:r>
            <a:r>
              <a:rPr lang="en-US" sz="1800" b="1" dirty="0">
                <a:solidFill>
                  <a:srgbClr val="1F1F1F"/>
                </a:solidFill>
              </a:rPr>
              <a:t>NLRP3, IL-1β</a:t>
            </a:r>
            <a:r>
              <a:rPr lang="en-US" sz="1800" dirty="0">
                <a:solidFill>
                  <a:srgbClr val="1F1F1F"/>
                </a:solidFill>
              </a:rPr>
              <a:t>) → the acute flare, the end of the cascade.</a:t>
            </a:r>
            <a:r>
              <a:rPr lang="en-US" sz="1300" dirty="0">
                <a:solidFill>
                  <a:srgbClr val="666666"/>
                </a:solidFill>
              </a:rPr>
              <a:t>  S5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Raise urate:</a:t>
            </a:r>
            <a:r>
              <a:rPr lang="en-US" sz="1800" dirty="0">
                <a:solidFill>
                  <a:srgbClr val="1F1F1F"/>
                </a:solidFill>
              </a:rPr>
              <a:t> diets rich in purines and fructose; alcohol, especially beer (more production, less renal excretion).</a:t>
            </a:r>
            <a:r>
              <a:rPr lang="en-US" sz="1300" dirty="0">
                <a:solidFill>
                  <a:srgbClr val="666666"/>
                </a:solidFill>
              </a:rPr>
              <a:t>  S5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Lower urate excretion:</a:t>
            </a:r>
            <a:r>
              <a:rPr lang="en-US" sz="1800" dirty="0">
                <a:solidFill>
                  <a:srgbClr val="1F1F1F"/>
                </a:solidFill>
              </a:rPr>
              <a:t> diuretics, especially thiazides and loop agents; chronic kidney disease sustains hyperuricemia.</a:t>
            </a:r>
            <a:r>
              <a:rPr lang="en-US" sz="1300" dirty="0">
                <a:solidFill>
                  <a:srgbClr val="666666"/>
                </a:solidFill>
              </a:rPr>
              <a:t>  S5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GOUT: ACUTE FLARES &amp; URATE-LOWERING THERAPY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(cont.)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4F8A"/>
                </a:solidFill>
              </a:rPr>
              <a:t>Objectives: SO1 · SO4 · IO2.1 · IO2.2 · IO2.3 · IO2.4 · IO2.5</a:t>
            </a:r>
            <a:endParaRPr lang="en-US" sz="8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L04 · Musculoskeletal Pharmacology — Session 2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10</a:t>
            </a:r>
            <a:endParaRPr lang="en-US" sz="1000" dirty="0"/>
          </a:p>
        </p:txBody>
      </p:sp>
      <p:sp>
        <p:nvSpPr>
          <p:cNvPr id="7" name="Class (2/2) card"/>
          <p:cNvSpPr/>
          <p:nvPr/>
        </p:nvSpPr>
        <p:spPr>
          <a:xfrm>
            <a:off x="548640" y="1325880"/>
            <a:ext cx="11094415" cy="4389120"/>
          </a:xfrm>
          <a:prstGeom prst="roundRect">
            <a:avLst>
              <a:gd name="adj" fmla="val 250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Class (2/2)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44546A"/>
          </a:solidFill>
          <a:ln w="12700">
            <a:solidFill>
              <a:srgbClr val="44546A"/>
            </a:solidFill>
            <a:prstDash val="solid"/>
          </a:ln>
        </p:spPr>
      </p:sp>
      <p:pic>
        <p:nvPicPr>
          <p:cNvPr id="9" name="Class (2/2)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Class (2/2)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4546A"/>
                </a:solidFill>
              </a:rPr>
              <a:t>Class (2/2)</a:t>
            </a:r>
            <a:endParaRPr lang="en-US" sz="1800" dirty="0"/>
          </a:p>
        </p:txBody>
      </p:sp>
      <p:sp>
        <p:nvSpPr>
          <p:cNvPr id="11" name="Class (2/2) body"/>
          <p:cNvSpPr txBox="1"/>
          <p:nvPr/>
        </p:nvSpPr>
        <p:spPr>
          <a:xfrm>
            <a:off x="777240" y="2075688"/>
            <a:ext cx="10637215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Walk the full chain and sort the drugs into </a:t>
            </a:r>
            <a:r>
              <a:rPr lang="en-US" sz="1800" b="1" dirty="0">
                <a:solidFill>
                  <a:srgbClr val="1F1F1F"/>
                </a:solidFill>
              </a:rPr>
              <a:t>two buckets:</a:t>
            </a:r>
            <a:r>
              <a:rPr lang="en-US" sz="1800" dirty="0">
                <a:solidFill>
                  <a:srgbClr val="1F1F1F"/>
                </a:solidFill>
              </a:rPr>
              <a:t> “lowers uric acid” (allopurinol, febuxostat, probenecid) vs. “treats the acute flare” (colchicine, NSAIDs, corticosteroids) — the same acute-vs-chronic distinction made explicit next.</a:t>
            </a:r>
            <a:r>
              <a:rPr lang="en-US" sz="1300" dirty="0">
                <a:solidFill>
                  <a:srgbClr val="666666"/>
                </a:solidFill>
              </a:rPr>
              <a:t>  S6; S6 (notes)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Acute flare</a:t>
            </a:r>
            <a:r>
              <a:rPr lang="en-US" sz="1800" dirty="0">
                <a:solidFill>
                  <a:srgbClr val="1F1F1F"/>
                </a:solidFill>
              </a:rPr>
              <a:t> — goal: control pain and inflammation now. Agents: colchicine, NSAIDs, corticosteroids.</a:t>
            </a:r>
            <a:r>
              <a:rPr lang="en-US" sz="1300" dirty="0">
                <a:solidFill>
                  <a:srgbClr val="666666"/>
                </a:solidFill>
              </a:rPr>
              <a:t>  S7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Chronic management</a:t>
            </a:r>
            <a:r>
              <a:rPr lang="en-US" sz="1800" dirty="0">
                <a:solidFill>
                  <a:srgbClr val="1F1F1F"/>
                </a:solidFill>
              </a:rPr>
              <a:t> — goal: lower serum uric acid to prevent future flares. Agents: allopurinol, febuxostat (↓ production); probenecid (↑ excretion).</a:t>
            </a:r>
            <a:r>
              <a:rPr lang="en-US" sz="1300" dirty="0">
                <a:solidFill>
                  <a:srgbClr val="666666"/>
                </a:solidFill>
              </a:rPr>
              <a:t>  S7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Humans lack uricase, the enzyme other mammals use to turn uric acid into soluble allantoin; most people with hyperuricemia never have a gout attack.</a:t>
            </a:r>
            <a:r>
              <a:rPr lang="en-US" sz="1300" dirty="0">
                <a:solidFill>
                  <a:srgbClr val="666666"/>
                </a:solidFill>
              </a:rPr>
              <a:t>  p. 695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Treat gout, not a number: long-term drug treatment of asymptomatic hyperuricemia is unproven. Adherence is poor (18–26% in younger patients).</a:t>
            </a:r>
            <a:r>
              <a:rPr lang="en-US" sz="1300" dirty="0">
                <a:solidFill>
                  <a:srgbClr val="666666"/>
                </a:solidFill>
              </a:rPr>
              <a:t>  p. 695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GOUT: ACUTE FLARES &amp; URATE-LOWERING THERAPY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+ other drugs named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4F8A"/>
                </a:solidFill>
              </a:rPr>
              <a:t>Objectives: SO1 · SO4 · IO2.1 · IO2.2 · IO2.3 · IO2.4 · IO2.5</a:t>
            </a:r>
            <a:endParaRPr lang="en-US" sz="8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L04 · Musculoskeletal Pharmacology — Session 2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11</a:t>
            </a:r>
            <a:endParaRPr lang="en-US" sz="1000" dirty="0"/>
          </a:p>
        </p:txBody>
      </p:sp>
      <p:sp>
        <p:nvSpPr>
          <p:cNvPr id="7" name="Prototype + other drugs named card"/>
          <p:cNvSpPr/>
          <p:nvPr/>
        </p:nvSpPr>
        <p:spPr>
          <a:xfrm>
            <a:off x="548640" y="1325880"/>
            <a:ext cx="11094415" cy="2606040"/>
          </a:xfrm>
          <a:prstGeom prst="roundRect">
            <a:avLst>
              <a:gd name="adj" fmla="val 421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Prototype + other drugs named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pic>
        <p:nvPicPr>
          <p:cNvPr id="9" name="Prototype + other drugs named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Prototype + other drugs named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472C4"/>
                </a:solidFill>
              </a:rPr>
              <a:t>Prototype + other drugs named</a:t>
            </a:r>
            <a:endParaRPr lang="en-US" sz="1800" dirty="0"/>
          </a:p>
        </p:txBody>
      </p:sp>
      <p:sp>
        <p:nvSpPr>
          <p:cNvPr id="11" name="Prototype + other drugs named body"/>
          <p:cNvSpPr txBox="1"/>
          <p:nvPr/>
        </p:nvSpPr>
        <p:spPr>
          <a:xfrm>
            <a:off x="777240" y="2075688"/>
            <a:ext cx="106372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Colchicine — acute treatment (plant-derived alkaloid, no stem).</a:t>
            </a:r>
            <a:r>
              <a:rPr lang="en-US" sz="1300" dirty="0">
                <a:solidFill>
                  <a:srgbClr val="666666"/>
                </a:solidFill>
              </a:rPr>
              <a:t>  S8; S15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Allopurinol — first-line urate-lowering therapy for most patients.</a:t>
            </a:r>
            <a:r>
              <a:rPr lang="en-US" sz="1300" dirty="0">
                <a:solidFill>
                  <a:srgbClr val="666666"/>
                </a:solidFill>
              </a:rPr>
              <a:t>  S10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Febuxostat — alternative xanthine oxidase inhibitor.</a:t>
            </a:r>
            <a:r>
              <a:rPr lang="en-US" sz="1300" dirty="0">
                <a:solidFill>
                  <a:srgbClr val="666666"/>
                </a:solidFill>
              </a:rPr>
              <a:t>  S10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Probenecid — uricosuric (second-line oral). Pegloticase, rasburicase — uricases (refractory).</a:t>
            </a:r>
            <a:r>
              <a:rPr lang="en-US" sz="1300" dirty="0">
                <a:solidFill>
                  <a:srgbClr val="666666"/>
                </a:solidFill>
              </a:rPr>
              <a:t>  S12; S13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GOUT: ACUTE FLARES &amp; URATE-LOWERING THERAPY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 of action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4F8A"/>
                </a:solidFill>
              </a:rPr>
              <a:t>Objectives: SO1 · SO4 · IO2.1 · IO2.2 · IO2.3 · IO2.4 · IO2.5</a:t>
            </a:r>
            <a:endParaRPr lang="en-US" sz="8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L04 · Musculoskeletal Pharmacology — Session 2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12</a:t>
            </a:r>
            <a:endParaRPr lang="en-US" sz="1000" dirty="0"/>
          </a:p>
        </p:txBody>
      </p:sp>
      <p:sp>
        <p:nvSpPr>
          <p:cNvPr id="7" name="Mechanism of action (1/2) card"/>
          <p:cNvSpPr/>
          <p:nvPr/>
        </p:nvSpPr>
        <p:spPr>
          <a:xfrm>
            <a:off x="548640" y="1325880"/>
            <a:ext cx="11094415" cy="4498848"/>
          </a:xfrm>
          <a:prstGeom prst="roundRect">
            <a:avLst>
              <a:gd name="adj" fmla="val 2439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Mechanism of action (1/2)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pic>
        <p:nvPicPr>
          <p:cNvPr id="9" name="Mechanism of action (1/2)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Mechanism of action (1/2)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030A0"/>
                </a:solidFill>
              </a:rPr>
              <a:t>Mechanism of action (1/2)</a:t>
            </a:r>
            <a:endParaRPr lang="en-US" sz="1800" dirty="0"/>
          </a:p>
        </p:txBody>
      </p:sp>
      <p:sp>
        <p:nvSpPr>
          <p:cNvPr id="11" name="Mechanism of action (1/2) body"/>
          <p:cNvSpPr txBox="1"/>
          <p:nvPr/>
        </p:nvSpPr>
        <p:spPr>
          <a:xfrm>
            <a:off x="777240" y="2075688"/>
            <a:ext cx="10637215" cy="3630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Mechanism: disrupts microtubule formation in neutrophils.</a:t>
            </a:r>
            <a:r>
              <a:rPr lang="en-US" sz="1800" dirty="0">
                <a:solidFill>
                  <a:srgbClr val="1F1F1F"/>
                </a:solidFill>
              </a:rPr>
              <a:t> Colchicine binds tubulin → less neutrophil migration and NLRP3 activation → less inflammation at the crystal site.</a:t>
            </a:r>
            <a:r>
              <a:rPr lang="en-US" sz="1300" dirty="0">
                <a:solidFill>
                  <a:srgbClr val="666666"/>
                </a:solidFill>
              </a:rPr>
              <a:t>  S8; S9; SG U2-M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Colchicine works on the cell’s cytoskeleton, so its effect builds in the early hours of a flare.</a:t>
            </a:r>
            <a:r>
              <a:rPr lang="en-US" sz="1300" dirty="0">
                <a:solidFill>
                  <a:srgbClr val="666666"/>
                </a:solidFill>
              </a:rPr>
              <a:t>  S9 (notes)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Allopurinol</a:t>
            </a:r>
            <a:r>
              <a:rPr lang="en-US" sz="1800" dirty="0">
                <a:solidFill>
                  <a:srgbClr val="1F1F1F"/>
                </a:solidFill>
              </a:rPr>
              <a:t> (via its metabolite oxypurinol) and </a:t>
            </a:r>
            <a:r>
              <a:rPr lang="en-US" sz="1800" b="1" dirty="0">
                <a:solidFill>
                  <a:srgbClr val="1F1F1F"/>
                </a:solidFill>
              </a:rPr>
              <a:t>febuxostat</a:t>
            </a:r>
            <a:r>
              <a:rPr lang="en-US" sz="1800" dirty="0">
                <a:solidFill>
                  <a:srgbClr val="1F1F1F"/>
                </a:solidFill>
              </a:rPr>
              <a:t> block </a:t>
            </a:r>
            <a:r>
              <a:rPr lang="en-US" sz="1800" b="1" dirty="0">
                <a:solidFill>
                  <a:srgbClr val="1F1F1F"/>
                </a:solidFill>
              </a:rPr>
              <a:t>xanthine oxidase</a:t>
            </a:r>
            <a:r>
              <a:rPr lang="en-US" sz="1800" dirty="0">
                <a:solidFill>
                  <a:srgbClr val="1F1F1F"/>
                </a:solidFill>
              </a:rPr>
              <a:t> → ↓ uric acid </a:t>
            </a:r>
            <a:r>
              <a:rPr lang="en-US" sz="1800" b="1" dirty="0">
                <a:solidFill>
                  <a:srgbClr val="1F1F1F"/>
                </a:solidFill>
              </a:rPr>
              <a:t>production</a:t>
            </a:r>
            <a:r>
              <a:rPr lang="en-US" sz="1800" dirty="0">
                <a:solidFill>
                  <a:srgbClr val="1F1F1F"/>
                </a:solidFill>
              </a:rPr>
              <a:t>.</a:t>
            </a:r>
            <a:r>
              <a:rPr lang="en-US" sz="1300" dirty="0">
                <a:solidFill>
                  <a:srgbClr val="666666"/>
                </a:solidFill>
              </a:rPr>
              <a:t>  S10; S11; SG U2-R9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Febuxostat is also a xanthine oxidase inhibitor, with a different chemical structure.</a:t>
            </a:r>
            <a:r>
              <a:rPr lang="en-US" sz="1300" dirty="0">
                <a:solidFill>
                  <a:srgbClr val="666666"/>
                </a:solidFill>
              </a:rPr>
              <a:t>  S10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Probenecid — mechanism: inhibits renal tubular reabsorption of uric acid, increasing its excretion</a:t>
            </a:r>
            <a:r>
              <a:rPr lang="en-US" sz="1800" dirty="0">
                <a:solidFill>
                  <a:srgbClr val="1F1F1F"/>
                </a:solidFill>
              </a:rPr>
              <a:t> (blocks URAT1). A uricosuric, not a xanthine oxidase inhibitor — a different strategy.</a:t>
            </a:r>
            <a:r>
              <a:rPr lang="en-US" sz="1300" dirty="0">
                <a:solidFill>
                  <a:srgbClr val="666666"/>
                </a:solidFill>
              </a:rPr>
              <a:t>  S12; S13; SG U2-R9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Pegloticase, rasburicase:</a:t>
            </a:r>
            <a:r>
              <a:rPr lang="en-US" sz="1800" dirty="0">
                <a:solidFill>
                  <a:srgbClr val="1F1F1F"/>
                </a:solidFill>
              </a:rPr>
              <a:t> recombinant </a:t>
            </a:r>
            <a:r>
              <a:rPr lang="en-US" sz="1800" b="1" dirty="0">
                <a:solidFill>
                  <a:srgbClr val="1F1F1F"/>
                </a:solidFill>
              </a:rPr>
              <a:t>uricase</a:t>
            </a:r>
            <a:r>
              <a:rPr lang="en-US" sz="1800" dirty="0">
                <a:solidFill>
                  <a:srgbClr val="1F1F1F"/>
                </a:solidFill>
              </a:rPr>
              <a:t> converts uric acid to </a:t>
            </a:r>
            <a:r>
              <a:rPr lang="en-US" sz="1800" b="1" dirty="0">
                <a:solidFill>
                  <a:srgbClr val="1F1F1F"/>
                </a:solidFill>
              </a:rPr>
              <a:t>allantoin</a:t>
            </a:r>
            <a:r>
              <a:rPr lang="en-US" sz="1800" dirty="0">
                <a:solidFill>
                  <a:srgbClr val="1F1F1F"/>
                </a:solidFill>
              </a:rPr>
              <a:t>, which is soluble and excreted.</a:t>
            </a:r>
            <a:r>
              <a:rPr lang="en-US" sz="1300" dirty="0">
                <a:solidFill>
                  <a:srgbClr val="666666"/>
                </a:solidFill>
              </a:rPr>
              <a:t>  S12; S13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GOUT: ACUTE FLARES &amp; URATE-LOWERING THERAPY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 of action (cont.)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4F8A"/>
                </a:solidFill>
              </a:rPr>
              <a:t>Objectives: SO1 · SO4 · IO2.1 · IO2.2 · IO2.3 · IO2.4 · IO2.5</a:t>
            </a:r>
            <a:endParaRPr lang="en-US" sz="8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L04 · Musculoskeletal Pharmacology — Session 2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13</a:t>
            </a:r>
            <a:endParaRPr lang="en-US" sz="1000" dirty="0"/>
          </a:p>
        </p:txBody>
      </p:sp>
      <p:sp>
        <p:nvSpPr>
          <p:cNvPr id="7" name="Mechanism of action (2/2) card"/>
          <p:cNvSpPr/>
          <p:nvPr/>
        </p:nvSpPr>
        <p:spPr>
          <a:xfrm>
            <a:off x="548640" y="1325880"/>
            <a:ext cx="11094415" cy="3831336"/>
          </a:xfrm>
          <a:prstGeom prst="roundRect">
            <a:avLst>
              <a:gd name="adj" fmla="val 2864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Mechanism of action (2/2)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pic>
        <p:nvPicPr>
          <p:cNvPr id="9" name="Mechanism of action (2/2)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Mechanism of action (2/2)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030A0"/>
                </a:solidFill>
              </a:rPr>
              <a:t>Mechanism of action (2/2)</a:t>
            </a:r>
            <a:endParaRPr lang="en-US" sz="1800" dirty="0"/>
          </a:p>
        </p:txBody>
      </p:sp>
      <p:sp>
        <p:nvSpPr>
          <p:cNvPr id="11" name="Mechanism of action (2/2) body"/>
          <p:cNvSpPr txBox="1"/>
          <p:nvPr/>
        </p:nvSpPr>
        <p:spPr>
          <a:xfrm>
            <a:off x="777240" y="2075688"/>
            <a:ext cx="10637215" cy="296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Uricosurics block reabsorption; uricases remove uric acid enzymatically, which is why they suit refractory disease.</a:t>
            </a:r>
            <a:r>
              <a:rPr lang="en-US" sz="1300" dirty="0">
                <a:solidFill>
                  <a:srgbClr val="666666"/>
                </a:solidFill>
              </a:rPr>
              <a:t>  S13 (notes)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NSAIDs and corticosteroids reduce joint inflammation in a flare.</a:t>
            </a:r>
            <a:r>
              <a:rPr lang="en-US" sz="1300" dirty="0">
                <a:solidFill>
                  <a:srgbClr val="666666"/>
                </a:solidFill>
              </a:rPr>
              <a:t>  S6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Allopurinol is a purine analog; its metabolite oxypurinol (half-life 15 hours) also inhibits xanthine oxidase, so it is dosed once daily.</a:t>
            </a:r>
            <a:r>
              <a:rPr lang="en-US" sz="1300" dirty="0">
                <a:solidFill>
                  <a:srgbClr val="666666"/>
                </a:solidFill>
              </a:rPr>
              <a:t>  p. 695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Colchicine relieves gout pain and inflammation in 12–24 hours without changing urate metabolism or excretion.</a:t>
            </a:r>
            <a:r>
              <a:rPr lang="en-US" sz="1300" dirty="0">
                <a:solidFill>
                  <a:srgbClr val="666666"/>
                </a:solidFill>
              </a:rPr>
              <a:t>  p. 696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Glucocorticoids in gout: reduce neutrophil migration, prostaglandins, and IL-1β.</a:t>
            </a:r>
            <a:r>
              <a:rPr lang="en-US" sz="1300" dirty="0">
                <a:solidFill>
                  <a:srgbClr val="666666"/>
                </a:solidFill>
              </a:rPr>
              <a:t>  p. 698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GOUT: ACUTE FLARES &amp; URATE-LOWERING THERAPY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Indications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4F8A"/>
                </a:solidFill>
              </a:rPr>
              <a:t>Objectives: SO1 · SO4 · IO2.1 · IO2.2 · IO2.3 · IO2.4 · IO2.5</a:t>
            </a:r>
            <a:endParaRPr lang="en-US" sz="8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L04 · Musculoskeletal Pharmacology — Session 2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14</a:t>
            </a:r>
            <a:endParaRPr lang="en-US" sz="1000" dirty="0"/>
          </a:p>
        </p:txBody>
      </p:sp>
      <p:sp>
        <p:nvSpPr>
          <p:cNvPr id="7" name="Indications (1/2) card"/>
          <p:cNvSpPr/>
          <p:nvPr/>
        </p:nvSpPr>
        <p:spPr>
          <a:xfrm>
            <a:off x="548640" y="1325880"/>
            <a:ext cx="11094415" cy="3442716"/>
          </a:xfrm>
          <a:prstGeom prst="roundRect">
            <a:avLst>
              <a:gd name="adj" fmla="val 3187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Indications (1/2)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548235"/>
          </a:solidFill>
          <a:ln w="12700">
            <a:solidFill>
              <a:srgbClr val="548235"/>
            </a:solidFill>
            <a:prstDash val="solid"/>
          </a:ln>
        </p:spPr>
      </p:sp>
      <p:pic>
        <p:nvPicPr>
          <p:cNvPr id="9" name="Indications (1/2)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Indications (1/2)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48235"/>
                </a:solidFill>
              </a:rPr>
              <a:t>Indications (1/2)</a:t>
            </a:r>
            <a:endParaRPr lang="en-US" sz="1800" dirty="0"/>
          </a:p>
        </p:txBody>
      </p:sp>
      <p:sp>
        <p:nvSpPr>
          <p:cNvPr id="11" name="Indications (1/2) body"/>
          <p:cNvSpPr txBox="1"/>
          <p:nvPr/>
        </p:nvSpPr>
        <p:spPr>
          <a:xfrm>
            <a:off x="777240" y="2075688"/>
            <a:ext cx="10637215" cy="2574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Treat the acute flare first</a:t>
            </a:r>
            <a:r>
              <a:rPr lang="en-US" sz="1800" dirty="0">
                <a:solidFill>
                  <a:srgbClr val="1F1F1F"/>
                </a:solidFill>
              </a:rPr>
              <a:t> (colchicine, NSAID, or corticosteroid); urate-lowering therapy is deferred until the flare resolves, then used for long-term prevention.</a:t>
            </a:r>
            <a:r>
              <a:rPr lang="en-US" sz="1300" dirty="0">
                <a:solidFill>
                  <a:srgbClr val="666666"/>
                </a:solidFill>
              </a:rPr>
              <a:t>  S14; SG U2-R10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Colchicine is most effective when started early in a flare — </a:t>
            </a:r>
            <a:r>
              <a:rPr lang="en-US" sz="1800" b="1" dirty="0">
                <a:solidFill>
                  <a:srgbClr val="1F1F1F"/>
                </a:solidFill>
              </a:rPr>
              <a:t>best within 24 hours of onset</a:t>
            </a:r>
            <a:r>
              <a:rPr lang="en-US" sz="1800" dirty="0">
                <a:solidFill>
                  <a:srgbClr val="1F1F1F"/>
                </a:solidFill>
              </a:rPr>
              <a:t>.</a:t>
            </a:r>
            <a:r>
              <a:rPr lang="en-US" sz="1300" dirty="0">
                <a:solidFill>
                  <a:srgbClr val="666666"/>
                </a:solidFill>
              </a:rPr>
              <a:t>  S8; S9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Allopurinol is first-line for most patients; febuxostat is the alternative when allopurinol is not tolerated or contraindicated.</a:t>
            </a:r>
            <a:r>
              <a:rPr lang="en-US" sz="1300" dirty="0">
                <a:solidFill>
                  <a:srgbClr val="666666"/>
                </a:solidFill>
              </a:rPr>
              <a:t>  S10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Probenecid is an older, second-line oral option. </a:t>
            </a:r>
            <a:r>
              <a:rPr lang="en-US" sz="1800" b="1" dirty="0">
                <a:solidFill>
                  <a:srgbClr val="1F1F1F"/>
                </a:solidFill>
              </a:rPr>
              <a:t>Pegloticase — a recombinant uricase enzyme for severe, refractory gout not controlled by other agents.</a:t>
            </a:r>
            <a:r>
              <a:rPr lang="en-US" sz="1300" dirty="0">
                <a:solidFill>
                  <a:srgbClr val="666666"/>
                </a:solidFill>
              </a:rPr>
              <a:t>  S12; S12 (notes); S13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GOUT: ACUTE FLARES &amp; URATE-LOWERING THERAPY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Indications (cont.)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4F8A"/>
                </a:solidFill>
              </a:rPr>
              <a:t>Objectives: SO1 · SO4 · IO2.1 · IO2.2 · IO2.3 · IO2.4 · IO2.5</a:t>
            </a:r>
            <a:endParaRPr lang="en-US" sz="8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L04 · Musculoskeletal Pharmacology — Session 2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15</a:t>
            </a:r>
            <a:endParaRPr lang="en-US" sz="1000" dirty="0"/>
          </a:p>
        </p:txBody>
      </p:sp>
      <p:sp>
        <p:nvSpPr>
          <p:cNvPr id="7" name="Indications (2/2) card"/>
          <p:cNvSpPr/>
          <p:nvPr/>
        </p:nvSpPr>
        <p:spPr>
          <a:xfrm>
            <a:off x="548640" y="1325880"/>
            <a:ext cx="11094415" cy="3442716"/>
          </a:xfrm>
          <a:prstGeom prst="roundRect">
            <a:avLst>
              <a:gd name="adj" fmla="val 3187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Indications (2/2)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548235"/>
          </a:solidFill>
          <a:ln w="12700">
            <a:solidFill>
              <a:srgbClr val="548235"/>
            </a:solidFill>
            <a:prstDash val="solid"/>
          </a:ln>
        </p:spPr>
      </p:sp>
      <p:pic>
        <p:nvPicPr>
          <p:cNvPr id="9" name="Indications (2/2)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Indications (2/2)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48235"/>
                </a:solidFill>
              </a:rPr>
              <a:t>Indications (2/2)</a:t>
            </a:r>
            <a:endParaRPr lang="en-US" sz="1800" dirty="0"/>
          </a:p>
        </p:txBody>
      </p:sp>
      <p:sp>
        <p:nvSpPr>
          <p:cNvPr id="11" name="Indications (2/2) body"/>
          <p:cNvSpPr txBox="1"/>
          <p:nvPr/>
        </p:nvSpPr>
        <p:spPr>
          <a:xfrm>
            <a:off x="777240" y="2075688"/>
            <a:ext cx="10637215" cy="2574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Colchicine flare regimen: 1.2 mg, then 0.6 mg an hour later; prophylaxis 0.6 mg once or twice daily during urate-lowering therapy initiation.</a:t>
            </a:r>
            <a:r>
              <a:rPr lang="en-US" sz="1300" dirty="0">
                <a:solidFill>
                  <a:srgbClr val="666666"/>
                </a:solidFill>
              </a:rPr>
              <a:t>  p. 696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Corticosteroids are a good alternative when NSAIDs or colchicine are contraindicated, including CKD: prednisone 30–50 mg/d for 1–2 days, tapered over 7–10 days, or intra-articular.</a:t>
            </a:r>
            <a:r>
              <a:rPr lang="en-US" sz="1300" dirty="0">
                <a:solidFill>
                  <a:srgbClr val="666666"/>
                </a:solidFill>
              </a:rPr>
              <a:t>  p. 698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All NSAIDs except aspirin, salicylates, and tolmetin treat gout flares.</a:t>
            </a:r>
            <a:r>
              <a:rPr lang="en-US" sz="1300" dirty="0">
                <a:solidFill>
                  <a:srgbClr val="666666"/>
                </a:solidFill>
              </a:rPr>
              <a:t>  p. 697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Febuxostat appears safe in moderate CKD; it can be tried after allopurinol hypersensitivity, though a reaction may still occur.</a:t>
            </a:r>
            <a:r>
              <a:rPr lang="en-US" sz="1300" dirty="0">
                <a:solidFill>
                  <a:srgbClr val="666666"/>
                </a:solidFill>
              </a:rPr>
              <a:t>  p. 697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GOUT: ACUTE FLARES &amp; URATE-LOWERING THERAPY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Adverse effects (boxed warnings first)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4F8A"/>
                </a:solidFill>
              </a:rPr>
              <a:t>Objectives: SO1 · SO4 · IO2.1 · IO2.2 · IO2.3 · IO2.4 · IO2.5</a:t>
            </a:r>
            <a:endParaRPr lang="en-US" sz="8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L04 · Musculoskeletal Pharmacology — Session 2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16</a:t>
            </a:r>
            <a:endParaRPr lang="en-US" sz="1000" dirty="0"/>
          </a:p>
        </p:txBody>
      </p:sp>
      <p:sp>
        <p:nvSpPr>
          <p:cNvPr id="7" name="Adverse effects (boxed warnings first) card"/>
          <p:cNvSpPr/>
          <p:nvPr/>
        </p:nvSpPr>
        <p:spPr>
          <a:xfrm>
            <a:off x="548640" y="1325880"/>
            <a:ext cx="11094415" cy="4887468"/>
          </a:xfrm>
          <a:prstGeom prst="roundRect">
            <a:avLst>
              <a:gd name="adj" fmla="val 2245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Adverse effects (boxed warnings first)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pic>
        <p:nvPicPr>
          <p:cNvPr id="9" name="Adverse effects (boxed warnings first)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Adverse effects (boxed warnings first)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55A11"/>
                </a:solidFill>
              </a:rPr>
              <a:t>Adverse effects (boxed warnings first)</a:t>
            </a:r>
            <a:endParaRPr lang="en-US" sz="1800" dirty="0"/>
          </a:p>
        </p:txBody>
      </p:sp>
      <p:sp>
        <p:nvSpPr>
          <p:cNvPr id="11" name="Adverse effects (boxed warnings first) body"/>
          <p:cNvSpPr txBox="1"/>
          <p:nvPr/>
        </p:nvSpPr>
        <p:spPr>
          <a:xfrm>
            <a:off x="777240" y="2075688"/>
            <a:ext cx="10637215" cy="4018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Febuxostat: boxed warning for cardiovascular death</a:t>
            </a:r>
            <a:r>
              <a:rPr lang="en-US" sz="1800" dirty="0">
                <a:solidFill>
                  <a:srgbClr val="1F1F1F"/>
                </a:solidFill>
              </a:rPr>
              <a:t> — it carries its own cardiovascular safety considerations.</a:t>
            </a:r>
            <a:r>
              <a:rPr lang="en-US" sz="1300" dirty="0">
                <a:solidFill>
                  <a:srgbClr val="666666"/>
                </a:solidFill>
              </a:rPr>
              <a:t>  S10; S11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Colchicine: narrow therapeutic window</a:t>
            </a:r>
            <a:r>
              <a:rPr lang="en-US" sz="1800" dirty="0">
                <a:solidFill>
                  <a:srgbClr val="1F1F1F"/>
                </a:solidFill>
              </a:rPr>
              <a:t> — GI adverse effects (diarrhea) are common and dose-limiting.</a:t>
            </a:r>
            <a:r>
              <a:rPr lang="en-US" sz="1300" dirty="0">
                <a:solidFill>
                  <a:srgbClr val="666666"/>
                </a:solidFill>
              </a:rPr>
              <a:t>  S8; S9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Allopurinol:</a:t>
            </a:r>
            <a:r>
              <a:rPr lang="en-US" sz="1800" dirty="0">
                <a:solidFill>
                  <a:srgbClr val="1F1F1F"/>
                </a:solidFill>
              </a:rPr>
              <a:t> the **HLA-B*58:01** allele raises the risk of severe hypersensitivity / severe cutaneous reactions.</a:t>
            </a:r>
            <a:r>
              <a:rPr lang="en-US" sz="1300" dirty="0">
                <a:solidFill>
                  <a:srgbClr val="666666"/>
                </a:solidFill>
              </a:rPr>
              <a:t>  S10; S11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Pegloticase: infusion reactions are common; anti-drug antibodies can reduce response.</a:t>
            </a:r>
            <a:r>
              <a:rPr lang="en-US" sz="1300" dirty="0">
                <a:solidFill>
                  <a:srgbClr val="666666"/>
                </a:solidFill>
              </a:rPr>
              <a:t>  S13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Allopurinol hypersensitivity syndrome (SJS/TEN, fever, eosinophilia, hepatitis, renal failure) usually appears 2–4 weeks after starting — stop at the first rash.</a:t>
            </a:r>
            <a:r>
              <a:rPr lang="en-US" sz="1300" dirty="0">
                <a:solidFill>
                  <a:srgbClr val="666666"/>
                </a:solidFill>
              </a:rPr>
              <a:t>  p. 696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Colchicine can also cause marrow suppression, myopathy, rhabdomyolysis, and neuritis; it is not removed by dialysis.</a:t>
            </a:r>
            <a:r>
              <a:rPr lang="en-US" sz="1300" dirty="0">
                <a:solidFill>
                  <a:srgbClr val="666666"/>
                </a:solidFill>
              </a:rPr>
              <a:t>  p. 696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Febuxostat: liver function abnormalities, diarrhea, headache, nausea.</a:t>
            </a:r>
            <a:r>
              <a:rPr lang="en-US" sz="1300" dirty="0">
                <a:solidFill>
                  <a:srgbClr val="666666"/>
                </a:solidFill>
              </a:rPr>
              <a:t>  p. 697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GOUT: ACUTE FLARES &amp; URATE-LOWERING THERAPY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Contraindications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4F8A"/>
                </a:solidFill>
              </a:rPr>
              <a:t>Objectives: SO1 · SO4 · IO2.1 · IO2.2 · IO2.3 · IO2.4 · IO2.5</a:t>
            </a:r>
            <a:endParaRPr lang="en-US" sz="8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L04 · Musculoskeletal Pharmacology — Session 2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17</a:t>
            </a:r>
            <a:endParaRPr lang="en-US" sz="1000" dirty="0"/>
          </a:p>
        </p:txBody>
      </p:sp>
      <p:sp>
        <p:nvSpPr>
          <p:cNvPr id="7" name="Contraindications card"/>
          <p:cNvSpPr/>
          <p:nvPr/>
        </p:nvSpPr>
        <p:spPr>
          <a:xfrm>
            <a:off x="548640" y="1325880"/>
            <a:ext cx="11094415" cy="3552444"/>
          </a:xfrm>
          <a:prstGeom prst="roundRect">
            <a:avLst>
              <a:gd name="adj" fmla="val 3089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Contraindications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pic>
        <p:nvPicPr>
          <p:cNvPr id="9" name="Contraindications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Contraindications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0000"/>
                </a:solidFill>
              </a:rPr>
              <a:t>Contraindications</a:t>
            </a:r>
            <a:endParaRPr lang="en-US" sz="1800" dirty="0"/>
          </a:p>
        </p:txBody>
      </p:sp>
      <p:sp>
        <p:nvSpPr>
          <p:cNvPr id="11" name="Contraindications body"/>
          <p:cNvSpPr txBox="1"/>
          <p:nvPr/>
        </p:nvSpPr>
        <p:spPr>
          <a:xfrm>
            <a:off x="777240" y="2075688"/>
            <a:ext cx="10637215" cy="2683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Do NOT start urate-lowering therapy during an acute flare</a:t>
            </a:r>
            <a:r>
              <a:rPr lang="en-US" sz="1800" dirty="0">
                <a:solidFill>
                  <a:srgbClr val="1F1F1F"/>
                </a:solidFill>
              </a:rPr>
              <a:t> — starting or changing it then can actually prolong the flare. Start or adjust only once the flare has resolved.</a:t>
            </a:r>
            <a:r>
              <a:rPr lang="en-US" sz="1300" dirty="0">
                <a:solidFill>
                  <a:srgbClr val="666666"/>
                </a:solidFill>
              </a:rPr>
              <a:t>  S7; S7 (notes); SG U2-R10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Probenecid:</a:t>
            </a:r>
            <a:r>
              <a:rPr lang="en-US" sz="1800" dirty="0">
                <a:solidFill>
                  <a:srgbClr val="1F1F1F"/>
                </a:solidFill>
              </a:rPr>
              <a:t> avoid with a history of uric acid kidney stones or significant renal impairment; needs adequate hydration.</a:t>
            </a:r>
            <a:r>
              <a:rPr lang="en-US" sz="1300" dirty="0">
                <a:solidFill>
                  <a:srgbClr val="666666"/>
                </a:solidFill>
              </a:rPr>
              <a:t>  S12; S13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Pegloticase and rasburicase:</a:t>
            </a:r>
            <a:r>
              <a:rPr lang="en-US" sz="1800" dirty="0">
                <a:solidFill>
                  <a:srgbClr val="1F1F1F"/>
                </a:solidFill>
              </a:rPr>
              <a:t> contraindicated in </a:t>
            </a:r>
            <a:r>
              <a:rPr lang="en-US" sz="1800" b="1" dirty="0">
                <a:solidFill>
                  <a:srgbClr val="1F1F1F"/>
                </a:solidFill>
              </a:rPr>
              <a:t>G6PD deficiency</a:t>
            </a:r>
            <a:r>
              <a:rPr lang="en-US" sz="1800" dirty="0">
                <a:solidFill>
                  <a:srgbClr val="1F1F1F"/>
                </a:solidFill>
              </a:rPr>
              <a:t> (hemolysis risk).</a:t>
            </a:r>
            <a:r>
              <a:rPr lang="en-US" sz="1300" dirty="0">
                <a:solidFill>
                  <a:srgbClr val="666666"/>
                </a:solidFill>
              </a:rPr>
              <a:t>  S13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Aspirin is avoided in gout: at low doses (≤2.6 g/d) it causes renal retention of uric acid.</a:t>
            </a:r>
            <a:r>
              <a:rPr lang="en-US" sz="1300" dirty="0">
                <a:solidFill>
                  <a:srgbClr val="666666"/>
                </a:solidFill>
              </a:rPr>
              <a:t>  p. 697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Uricosurics should not be used in patients who already excrete large amounts of uric acid.</a:t>
            </a:r>
            <a:r>
              <a:rPr lang="en-US" sz="1300" dirty="0">
                <a:solidFill>
                  <a:srgbClr val="666666"/>
                </a:solidFill>
              </a:rPr>
              <a:t>  p. 698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GOUT: ACUTE FLARES &amp; URATE-LOWERING THERAPY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interactions · Pharmacokinetics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4F8A"/>
                </a:solidFill>
              </a:rPr>
              <a:t>Objectives: SO1 · SO4 · IO2.1 · IO2.2 · IO2.3 · IO2.4 · IO2.5</a:t>
            </a:r>
            <a:endParaRPr lang="en-US" sz="8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L04 · Musculoskeletal Pharmacology — Session 2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18</a:t>
            </a:r>
            <a:endParaRPr lang="en-US" sz="1000" dirty="0"/>
          </a:p>
        </p:txBody>
      </p:sp>
      <p:sp>
        <p:nvSpPr>
          <p:cNvPr id="7" name="Drug interactions card"/>
          <p:cNvSpPr/>
          <p:nvPr/>
        </p:nvSpPr>
        <p:spPr>
          <a:xfrm>
            <a:off x="548640" y="1325880"/>
            <a:ext cx="5410048" cy="4279392"/>
          </a:xfrm>
          <a:prstGeom prst="roundRect">
            <a:avLst>
              <a:gd name="adj" fmla="val 2564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Drug interactions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7F6000"/>
          </a:solidFill>
          <a:ln w="12700">
            <a:solidFill>
              <a:srgbClr val="7F6000"/>
            </a:solidFill>
            <a:prstDash val="solid"/>
          </a:ln>
        </p:spPr>
      </p:sp>
      <p:pic>
        <p:nvPicPr>
          <p:cNvPr id="9" name="Drug interactions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Drug interactions heading"/>
          <p:cNvSpPr txBox="1"/>
          <p:nvPr/>
        </p:nvSpPr>
        <p:spPr>
          <a:xfrm>
            <a:off x="1353312" y="1508760"/>
            <a:ext cx="4404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F6000"/>
                </a:solidFill>
              </a:rPr>
              <a:t>Drug interactions</a:t>
            </a:r>
            <a:endParaRPr lang="en-US" sz="1800" dirty="0"/>
          </a:p>
        </p:txBody>
      </p:sp>
      <p:sp>
        <p:nvSpPr>
          <p:cNvPr id="11" name="Drug interactions body"/>
          <p:cNvSpPr txBox="1"/>
          <p:nvPr/>
        </p:nvSpPr>
        <p:spPr>
          <a:xfrm>
            <a:off x="777240" y="2075688"/>
            <a:ext cx="4952848" cy="3410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Colchicine + CYP3A4 / P-gp inhibitors</a:t>
            </a:r>
            <a:r>
              <a:rPr lang="en-US" sz="1800" dirty="0">
                <a:solidFill>
                  <a:srgbClr val="1F1F1F"/>
                </a:solidFill>
              </a:rPr>
              <a:t> (clarithromycin, cyclosporine, strong CYP3A4 inhibitors) → raised levels and toxicity.</a:t>
            </a:r>
            <a:r>
              <a:rPr lang="en-US" sz="1300" dirty="0">
                <a:solidFill>
                  <a:srgbClr val="666666"/>
                </a:solidFill>
              </a:rPr>
              <a:t>  S9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Allopurinol + azathioprine or mercaptopurine:</a:t>
            </a:r>
            <a:r>
              <a:rPr lang="en-US" sz="1800" dirty="0">
                <a:solidFill>
                  <a:srgbClr val="1F1F1F"/>
                </a:solidFill>
              </a:rPr>
              <a:t> reduce the dose (xanthine oxidase also clears these drugs).</a:t>
            </a:r>
            <a:r>
              <a:rPr lang="en-US" sz="1300" dirty="0">
                <a:solidFill>
                  <a:srgbClr val="666666"/>
                </a:solidFill>
              </a:rPr>
              <a:t>  S11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Allopurinol with azathioprine: cut the azathioprine dose by 75%.</a:t>
            </a:r>
            <a:r>
              <a:rPr lang="en-US" sz="1300" dirty="0">
                <a:solidFill>
                  <a:srgbClr val="666666"/>
                </a:solidFill>
              </a:rPr>
              <a:t>  p. 696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Probenecid also reduces renal secretion of other weak acids, such as penicillin.</a:t>
            </a:r>
            <a:r>
              <a:rPr lang="en-US" sz="1300" dirty="0">
                <a:solidFill>
                  <a:srgbClr val="666666"/>
                </a:solidFill>
              </a:rPr>
              <a:t>  p. 698</a:t>
            </a:r>
            <a:endParaRPr lang="en-US" sz="1800" dirty="0"/>
          </a:p>
        </p:txBody>
      </p:sp>
      <p:sp>
        <p:nvSpPr>
          <p:cNvPr id="12" name="Pharmacokinetics card"/>
          <p:cNvSpPr/>
          <p:nvPr/>
        </p:nvSpPr>
        <p:spPr>
          <a:xfrm>
            <a:off x="6233008" y="1325880"/>
            <a:ext cx="5410048" cy="4279392"/>
          </a:xfrm>
          <a:prstGeom prst="roundRect">
            <a:avLst>
              <a:gd name="adj" fmla="val 2564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3" name="Pharmacokinetics icon circle"/>
          <p:cNvSpPr/>
          <p:nvPr/>
        </p:nvSpPr>
        <p:spPr>
          <a:xfrm>
            <a:off x="6461608" y="1508760"/>
            <a:ext cx="438912" cy="438912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pic>
        <p:nvPicPr>
          <p:cNvPr id="14" name="Pharmacokinetics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2192" y="1609344"/>
            <a:ext cx="237744" cy="237744"/>
          </a:xfrm>
          <a:prstGeom prst="rect">
            <a:avLst/>
          </a:prstGeom>
        </p:spPr>
      </p:pic>
      <p:sp>
        <p:nvSpPr>
          <p:cNvPr id="15" name="Pharmacokinetics heading"/>
          <p:cNvSpPr txBox="1"/>
          <p:nvPr/>
        </p:nvSpPr>
        <p:spPr>
          <a:xfrm>
            <a:off x="7037680" y="1508760"/>
            <a:ext cx="4404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5B6"/>
                </a:solidFill>
              </a:rPr>
              <a:t>Pharmacokinetics</a:t>
            </a:r>
            <a:endParaRPr lang="en-US" sz="1800" dirty="0"/>
          </a:p>
        </p:txBody>
      </p:sp>
      <p:sp>
        <p:nvSpPr>
          <p:cNvPr id="16" name="Pharmacokinetics body"/>
          <p:cNvSpPr txBox="1"/>
          <p:nvPr/>
        </p:nvSpPr>
        <p:spPr>
          <a:xfrm>
            <a:off x="6461608" y="2075688"/>
            <a:ext cx="4952848" cy="3410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Colchicine: adjust the dose for renal or hepatic impairment.</a:t>
            </a:r>
            <a:r>
              <a:rPr lang="en-US" sz="1300" dirty="0">
                <a:solidFill>
                  <a:srgbClr val="666666"/>
                </a:solidFill>
              </a:rPr>
              <a:t>  S9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Allopurinol: reduce the dose in renal impairment.</a:t>
            </a:r>
            <a:r>
              <a:rPr lang="en-US" sz="1300" dirty="0">
                <a:solidFill>
                  <a:srgbClr val="666666"/>
                </a:solidFill>
              </a:rPr>
              <a:t>  S11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Pegloticase is given by IV infusion.</a:t>
            </a:r>
            <a:r>
              <a:rPr lang="en-US" sz="1300" dirty="0">
                <a:solidFill>
                  <a:srgbClr val="666666"/>
                </a:solidFill>
              </a:rPr>
              <a:t>  S12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Allopurinol: start 100 mg/d (≤50 mg/d in CKD), titrate every 2–5 weeks to uric acid &lt;6 mg/dL (max 800 mg/d).</a:t>
            </a:r>
            <a:r>
              <a:rPr lang="en-US" sz="1300" dirty="0">
                <a:solidFill>
                  <a:srgbClr val="666666"/>
                </a:solidFill>
              </a:rPr>
              <a:t>  p. 695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GOUT: ACUTE FLARES &amp; URATE-LOWERING THERAPY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4F8A"/>
                </a:solidFill>
              </a:rPr>
              <a:t>Objectives: SO1 · SO4 · IO2.1 · IO2.2 · IO2.3 · IO2.4 · IO2.5</a:t>
            </a:r>
            <a:endParaRPr lang="en-US" sz="8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L04 · Musculoskeletal Pharmacology — Session 2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19</a:t>
            </a:r>
            <a:endParaRPr lang="en-US" sz="1000" dirty="0"/>
          </a:p>
        </p:txBody>
      </p:sp>
      <p:sp>
        <p:nvSpPr>
          <p:cNvPr id="7" name="Monitoring card"/>
          <p:cNvSpPr/>
          <p:nvPr/>
        </p:nvSpPr>
        <p:spPr>
          <a:xfrm>
            <a:off x="548640" y="1325880"/>
            <a:ext cx="11094415" cy="3163824"/>
          </a:xfrm>
          <a:prstGeom prst="roundRect">
            <a:avLst>
              <a:gd name="adj" fmla="val 3468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Monitoring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1F7A7A"/>
          </a:solidFill>
          <a:ln w="12700">
            <a:solidFill>
              <a:srgbClr val="1F7A7A"/>
            </a:solidFill>
            <a:prstDash val="solid"/>
          </a:ln>
        </p:spPr>
      </p:sp>
      <p:pic>
        <p:nvPicPr>
          <p:cNvPr id="9" name="Monitoring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Monitoring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7A7A"/>
                </a:solidFill>
              </a:rPr>
              <a:t>Monitoring</a:t>
            </a:r>
            <a:endParaRPr lang="en-US" sz="1800" dirty="0"/>
          </a:p>
        </p:txBody>
      </p:sp>
      <p:sp>
        <p:nvSpPr>
          <p:cNvPr id="11" name="Monitoring body"/>
          <p:cNvSpPr txBox="1"/>
          <p:nvPr/>
        </p:nvSpPr>
        <p:spPr>
          <a:xfrm>
            <a:off x="777240" y="2075688"/>
            <a:ext cx="10637215" cy="2295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Xanthine oxidase inhibitors: </a:t>
            </a:r>
            <a:r>
              <a:rPr lang="en-US" sz="1800" b="1" dirty="0">
                <a:solidFill>
                  <a:srgbClr val="1F1F1F"/>
                </a:solidFill>
              </a:rPr>
              <a:t>start low and titrate upward toward a serum urate target</a:t>
            </a:r>
            <a:r>
              <a:rPr lang="en-US" sz="1800" dirty="0">
                <a:solidFill>
                  <a:srgbClr val="1F1F1F"/>
                </a:solidFill>
              </a:rPr>
              <a:t>.</a:t>
            </a:r>
            <a:r>
              <a:rPr lang="en-US" sz="1300" dirty="0">
                <a:solidFill>
                  <a:srgbClr val="666666"/>
                </a:solidFill>
              </a:rPr>
              <a:t>  S11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When starting urate-lowering therapy, give </a:t>
            </a:r>
            <a:r>
              <a:rPr lang="en-US" sz="1800" b="1" dirty="0">
                <a:solidFill>
                  <a:srgbClr val="1F1F1F"/>
                </a:solidFill>
              </a:rPr>
              <a:t>colchicine or an NSAID as prophylaxis for 3–6 months</a:t>
            </a:r>
            <a:r>
              <a:rPr lang="en-US" sz="1800" dirty="0">
                <a:solidFill>
                  <a:srgbClr val="1F1F1F"/>
                </a:solidFill>
              </a:rPr>
              <a:t>.</a:t>
            </a:r>
            <a:r>
              <a:rPr lang="en-US" sz="1300" dirty="0">
                <a:solidFill>
                  <a:srgbClr val="666666"/>
                </a:solidFill>
              </a:rPr>
              <a:t>  S11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Probenecid: keep urine volume high and urine pH above 6.0 early on to prevent stones; start 2–3 weeks after an attack.</a:t>
            </a:r>
            <a:r>
              <a:rPr lang="en-US" sz="1300" dirty="0">
                <a:solidFill>
                  <a:srgbClr val="666666"/>
                </a:solidFill>
              </a:rPr>
              <a:t>  p. 698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Pegloticase: premedicate with a corticosteroid and antihistamine; flares are common in the first 3–6 months.</a:t>
            </a:r>
            <a:r>
              <a:rPr lang="en-US" sz="1300" dirty="0">
                <a:solidFill>
                  <a:srgbClr val="666666"/>
                </a:solidFill>
              </a:rPr>
              <a:t>  p. 698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GOUT: ACUTE FLARES &amp; URATE-LOWERING THERAPY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pearls / "why" hook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4F8A"/>
                </a:solidFill>
              </a:rPr>
              <a:t>Objectives: SO1 · SO4 · IO2.1 · IO2.2 · IO2.3 · IO2.4 · IO2.5</a:t>
            </a:r>
            <a:endParaRPr lang="en-US" sz="8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L04 · Musculoskeletal Pharmacology — Session 2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20</a:t>
            </a:r>
            <a:endParaRPr lang="en-US" sz="1000" dirty="0"/>
          </a:p>
        </p:txBody>
      </p:sp>
      <p:sp>
        <p:nvSpPr>
          <p:cNvPr id="7" name="Clinical pearls / &quot;why&quot; hook (1/2) card"/>
          <p:cNvSpPr/>
          <p:nvPr/>
        </p:nvSpPr>
        <p:spPr>
          <a:xfrm>
            <a:off x="548640" y="1325880"/>
            <a:ext cx="11094415" cy="3163824"/>
          </a:xfrm>
          <a:prstGeom prst="roundRect">
            <a:avLst>
              <a:gd name="adj" fmla="val 3468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Clinical pearls / &quot;why&quot; hook (1/2)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pic>
        <p:nvPicPr>
          <p:cNvPr id="9" name="Clinical pearls / &quot;why&quot; hook (1/2)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Clinical pearls / &amp;quot;why&amp;quot; hook (1/2)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5B6"/>
                </a:solidFill>
              </a:rPr>
              <a:t>Clinical pearls / "why" hook (1/2)</a:t>
            </a:r>
            <a:endParaRPr lang="en-US" sz="1800" dirty="0"/>
          </a:p>
        </p:txBody>
      </p:sp>
      <p:sp>
        <p:nvSpPr>
          <p:cNvPr id="11" name="Clinical pearls / &quot;why&quot; hook (1/2) body"/>
          <p:cNvSpPr txBox="1"/>
          <p:nvPr/>
        </p:nvSpPr>
        <p:spPr>
          <a:xfrm>
            <a:off x="777240" y="2075688"/>
            <a:ext cx="10637215" cy="2295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This acute-vs-chronic distinction is one of the single most testable concepts in gout pharmacology.</a:t>
            </a:r>
            <a:r>
              <a:rPr lang="en-US" sz="1300" dirty="0">
                <a:solidFill>
                  <a:srgbClr val="666666"/>
                </a:solidFill>
              </a:rPr>
              <a:t>  S7 (notes)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Allopurinol vs. febuxostat: both sit on the same enzyme; the choice turns on safety profile and tolerability.</a:t>
            </a:r>
            <a:r>
              <a:rPr lang="en-US" sz="1300" dirty="0">
                <a:solidFill>
                  <a:srgbClr val="666666"/>
                </a:solidFill>
              </a:rPr>
              <a:t>  S11 (notes)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**HLA-B*5801** is a direct callback to Lecture 1’s pharmacogenomics section.</a:t>
            </a:r>
            <a:r>
              <a:rPr lang="en-US" sz="1300" dirty="0">
                <a:solidFill>
                  <a:srgbClr val="666666"/>
                </a:solidFill>
              </a:rPr>
              <a:t>  S10 (notes)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Pegloticase is reserved for refractory cases given its cost, infusion-reaction risk, and need for specialty administration.</a:t>
            </a:r>
            <a:r>
              <a:rPr lang="en-US" sz="1300" dirty="0">
                <a:solidFill>
                  <a:srgbClr val="666666"/>
                </a:solidFill>
              </a:rPr>
              <a:t>  S12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GOUT: ACUTE FLARES &amp; URATE-LOWERING THERAPY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pearls / "why" hook (cont.)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4F8A"/>
                </a:solidFill>
              </a:rPr>
              <a:t>Objectives: SO1 · SO4 · IO2.1 · IO2.2 · IO2.3 · IO2.4 · IO2.5</a:t>
            </a:r>
            <a:endParaRPr lang="en-US" sz="8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L04 · Musculoskeletal Pharmacology — Session 2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21</a:t>
            </a:r>
            <a:endParaRPr lang="en-US" sz="1000" dirty="0"/>
          </a:p>
        </p:txBody>
      </p:sp>
      <p:sp>
        <p:nvSpPr>
          <p:cNvPr id="7" name="Clinical pearls / &quot;why&quot; hook (2/2) card"/>
          <p:cNvSpPr/>
          <p:nvPr/>
        </p:nvSpPr>
        <p:spPr>
          <a:xfrm>
            <a:off x="548640" y="1325880"/>
            <a:ext cx="11094415" cy="4000500"/>
          </a:xfrm>
          <a:prstGeom prst="roundRect">
            <a:avLst>
              <a:gd name="adj" fmla="val 274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Clinical pearls / &quot;why&quot; hook (2/2)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pic>
        <p:nvPicPr>
          <p:cNvPr id="9" name="Clinical pearls / &quot;why&quot; hook (2/2)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Clinical pearls / &amp;quot;why&amp;quot; hook (2/2)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5B6"/>
                </a:solidFill>
              </a:rPr>
              <a:t>Clinical pearls / "why" hook (2/2)</a:t>
            </a:r>
            <a:endParaRPr lang="en-US" sz="1800" dirty="0"/>
          </a:p>
        </p:txBody>
      </p:sp>
      <p:sp>
        <p:nvSpPr>
          <p:cNvPr id="11" name="Clinical pearls / &quot;why&quot; hook (2/2) body"/>
          <p:cNvSpPr txBox="1"/>
          <p:nvPr/>
        </p:nvSpPr>
        <p:spPr>
          <a:xfrm>
            <a:off x="777240" y="2075688"/>
            <a:ext cx="10637215" cy="3131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Case: sudden, severe pain, redness, and swelling of the first metatarsophalangeal joint — an acute gout flare. </a:t>
            </a:r>
            <a:r>
              <a:rPr lang="en-US" sz="1800" b="1" dirty="0">
                <a:solidFill>
                  <a:srgbClr val="1F1F1F"/>
                </a:solidFill>
              </a:rPr>
              <a:t>Is this the moment to start acute treatment, chronic urate-lowering therapy, or both?</a:t>
            </a:r>
            <a:r>
              <a:rPr lang="en-US" sz="1800" dirty="0">
                <a:solidFill>
                  <a:srgbClr val="1F1F1F"/>
                </a:solidFill>
              </a:rPr>
              <a:t> Acute treatment now; ULT later.</a:t>
            </a:r>
            <a:r>
              <a:rPr lang="en-US" sz="1300" dirty="0">
                <a:solidFill>
                  <a:srgbClr val="666666"/>
                </a:solidFill>
              </a:rPr>
              <a:t>  S14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Name clues:</a:t>
            </a:r>
            <a:r>
              <a:rPr lang="en-US" sz="1800" dirty="0">
                <a:solidFill>
                  <a:srgbClr val="1F1F1F"/>
                </a:solidFill>
              </a:rPr>
              <a:t> suffixes often reveal the mechanism before you recall the drug — use them as memory hooks, then confirm each class before prescribing.</a:t>
            </a:r>
            <a:r>
              <a:rPr lang="en-US" sz="1300" dirty="0">
                <a:solidFill>
                  <a:srgbClr val="666666"/>
                </a:solidFill>
              </a:rPr>
              <a:t>  S15; S15 (notes)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-ostat</a:t>
            </a:r>
            <a:r>
              <a:rPr lang="en-US" sz="1800" dirty="0">
                <a:solidFill>
                  <a:srgbClr val="1F1F1F"/>
                </a:solidFill>
              </a:rPr>
              <a:t> marks xanthine oxidase inhibitors (allopurinol is the exception); </a:t>
            </a:r>
            <a:r>
              <a:rPr lang="en-US" sz="1800" b="1" dirty="0">
                <a:solidFill>
                  <a:srgbClr val="1F1F1F"/>
                </a:solidFill>
              </a:rPr>
              <a:t>-ase</a:t>
            </a:r>
            <a:r>
              <a:rPr lang="en-US" sz="1800" dirty="0">
                <a:solidFill>
                  <a:srgbClr val="1F1F1F"/>
                </a:solidFill>
              </a:rPr>
              <a:t> names enzymes, so pegloticase and rasburicase are uricases; </a:t>
            </a:r>
            <a:r>
              <a:rPr lang="en-US" sz="1800" b="1" dirty="0">
                <a:solidFill>
                  <a:srgbClr val="1F1F1F"/>
                </a:solidFill>
              </a:rPr>
              <a:t>-sone, -olone</a:t>
            </a:r>
            <a:r>
              <a:rPr lang="en-US" sz="1800" dirty="0">
                <a:solidFill>
                  <a:srgbClr val="1F1F1F"/>
                </a:solidFill>
              </a:rPr>
              <a:t> mark corticosteroids used to treat flares.</a:t>
            </a:r>
            <a:r>
              <a:rPr lang="en-US" sz="1300" dirty="0">
                <a:solidFill>
                  <a:srgbClr val="666666"/>
                </a:solidFill>
              </a:rPr>
              <a:t>  S15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Allopurinol already running when a flare hits? Don’t stop it — stopping can worsen and lengthen the attack.</a:t>
            </a:r>
            <a:r>
              <a:rPr lang="en-US" sz="1300" dirty="0">
                <a:solidFill>
                  <a:srgbClr val="666666"/>
                </a:solidFill>
              </a:rPr>
              <a:t>  p. 696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GOUT: ACUTE FLARES &amp; URATE-LOWERING THERAPY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4 · Gout: from purine metabolism to joint inflammation</a:t>
            </a:r>
            <a:endParaRPr lang="en-US" sz="24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4F8A"/>
                </a:solidFill>
              </a:rPr>
              <a:t>Objectives: SO1 · SO4 · IO2.1 · IO2.2 · IO2.3 · IO2.4 · IO2.5</a:t>
            </a:r>
            <a:endParaRPr lang="en-US" sz="8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L04 · Musculoskeletal Pharmacology — Session 2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22</a:t>
            </a:r>
            <a:endParaRPr lang="en-US" sz="1000" dirty="0"/>
          </a:p>
        </p:txBody>
      </p:sp>
      <p:pic>
        <p:nvPicPr>
          <p:cNvPr id="7" name="Figure S6_1.jpg" descr="/home/user/dpas-pharm/work/L04/figures/S6_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38907" y="1325880"/>
            <a:ext cx="7713881" cy="3919728"/>
          </a:xfrm>
          <a:prstGeom prst="rect">
            <a:avLst/>
          </a:prstGeom>
        </p:spPr>
      </p:pic>
      <p:sp>
        <p:nvSpPr>
          <p:cNvPr id="8" name="Figure caption"/>
          <p:cNvSpPr txBox="1"/>
          <p:nvPr/>
        </p:nvSpPr>
        <p:spPr>
          <a:xfrm>
            <a:off x="548640" y="5428488"/>
            <a:ext cx="11094415" cy="835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</a:rPr>
              <a:t>Original illustrative diagram (not from Katzung): purine metabolism → xanthine → uric acid → monosodium urate (MSU) crystals in the joint → neutrophil-driven joint inflammation. Allopurinol and febuxostat (xanthine oxidase inhibitors) reduce uric acid production; probenecid increases renal excretion of uric acid; colchicine, NSAIDs, and corticosteroids reduce joint inflammation.</a:t>
            </a:r>
            <a:r>
              <a:rPr lang="en-US" sz="1100" dirty="0">
                <a:solidFill>
                  <a:srgbClr val="666666"/>
                </a:solidFill>
              </a:rPr>
              <a:t>  S6; S6 (notes)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GOUT: ACUTE FLARES &amp; URATE-LOWERING THERAPY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Sources disagree: Febuxostat cardiovascular risk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4F8A"/>
                </a:solidFill>
              </a:rPr>
              <a:t>Objectives: SO1 · SO4 · IO2.1 · IO2.2 · IO2.3 · IO2.4 · IO2.5</a:t>
            </a:r>
            <a:endParaRPr lang="en-US" sz="8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L04 · Musculoskeletal Pharmacology — Session 2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23</a:t>
            </a:r>
            <a:endParaRPr lang="en-US" sz="1000" dirty="0"/>
          </a:p>
        </p:txBody>
      </p:sp>
      <p:sp>
        <p:nvSpPr>
          <p:cNvPr id="7" name="Lecture slides say card"/>
          <p:cNvSpPr/>
          <p:nvPr/>
        </p:nvSpPr>
        <p:spPr>
          <a:xfrm>
            <a:off x="548640" y="1325880"/>
            <a:ext cx="5364328" cy="2011680"/>
          </a:xfrm>
          <a:prstGeom prst="roundRect">
            <a:avLst>
              <a:gd name="adj" fmla="val 5455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Lecture slides say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pic>
        <p:nvPicPr>
          <p:cNvPr id="9" name="Lecture slides say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Lecture slides say heading"/>
          <p:cNvSpPr txBox="1"/>
          <p:nvPr/>
        </p:nvSpPr>
        <p:spPr>
          <a:xfrm>
            <a:off x="1353312" y="1508760"/>
            <a:ext cx="4358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472C4"/>
                </a:solidFill>
              </a:rPr>
              <a:t>Lecture slides say</a:t>
            </a:r>
            <a:endParaRPr lang="en-US" sz="1800" dirty="0"/>
          </a:p>
        </p:txBody>
      </p:sp>
      <p:sp>
        <p:nvSpPr>
          <p:cNvPr id="11" name="Lecture slides say body"/>
          <p:cNvSpPr txBox="1"/>
          <p:nvPr/>
        </p:nvSpPr>
        <p:spPr>
          <a:xfrm>
            <a:off x="777240" y="2075688"/>
            <a:ext cx="49071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Febuxostat carries a boxed warning for cardiovascular death.</a:t>
            </a:r>
            <a:r>
              <a:rPr lang="en-US" sz="1300" dirty="0">
                <a:solidFill>
                  <a:srgbClr val="666666"/>
                </a:solidFill>
              </a:rPr>
              <a:t>  S11</a:t>
            </a:r>
            <a:endParaRPr lang="en-US" sz="1800" dirty="0"/>
          </a:p>
        </p:txBody>
      </p:sp>
      <p:sp>
        <p:nvSpPr>
          <p:cNvPr id="12" name="Textbook says card"/>
          <p:cNvSpPr/>
          <p:nvPr/>
        </p:nvSpPr>
        <p:spPr>
          <a:xfrm>
            <a:off x="6278728" y="1325880"/>
            <a:ext cx="5364328" cy="2011680"/>
          </a:xfrm>
          <a:prstGeom prst="roundRect">
            <a:avLst>
              <a:gd name="adj" fmla="val 5455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3" name="Textbook says icon circle"/>
          <p:cNvSpPr/>
          <p:nvPr/>
        </p:nvSpPr>
        <p:spPr>
          <a:xfrm>
            <a:off x="6507328" y="1508760"/>
            <a:ext cx="438912" cy="438912"/>
          </a:xfrm>
          <a:prstGeom prst="ellipse">
            <a:avLst/>
          </a:prstGeom>
          <a:solidFill>
            <a:srgbClr val="B07D00"/>
          </a:solidFill>
          <a:ln w="12700">
            <a:solidFill>
              <a:srgbClr val="B07D00"/>
            </a:solidFill>
            <a:prstDash val="solid"/>
          </a:ln>
        </p:spPr>
      </p:sp>
      <p:pic>
        <p:nvPicPr>
          <p:cNvPr id="14" name="Textbook says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7912" y="1609344"/>
            <a:ext cx="237744" cy="237744"/>
          </a:xfrm>
          <a:prstGeom prst="rect">
            <a:avLst/>
          </a:prstGeom>
        </p:spPr>
      </p:pic>
      <p:sp>
        <p:nvSpPr>
          <p:cNvPr id="15" name="Textbook says heading"/>
          <p:cNvSpPr txBox="1"/>
          <p:nvPr/>
        </p:nvSpPr>
        <p:spPr>
          <a:xfrm>
            <a:off x="7083400" y="1508760"/>
            <a:ext cx="4358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07D00"/>
                </a:solidFill>
              </a:rPr>
              <a:t>Textbook says</a:t>
            </a:r>
            <a:endParaRPr lang="en-US" sz="1800" dirty="0"/>
          </a:p>
        </p:txBody>
      </p:sp>
      <p:sp>
        <p:nvSpPr>
          <p:cNvPr id="16" name="Textbook says body"/>
          <p:cNvSpPr txBox="1"/>
          <p:nvPr/>
        </p:nvSpPr>
        <p:spPr>
          <a:xfrm>
            <a:off x="6507328" y="2075688"/>
            <a:ext cx="49071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Initial concerns about increased MACE with febuxostat have not been borne out; the FDA approved only the 40- and 80-mg doses.</a:t>
            </a:r>
            <a:r>
              <a:rPr lang="en-US" sz="1300" dirty="0">
                <a:solidFill>
                  <a:srgbClr val="666666"/>
                </a:solidFill>
              </a:rPr>
              <a:t>  p. 697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GOUT: ACUTE FLARES &amp; URATE-LOWERING THERAPY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Sources disagree: Colchicine timing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4F8A"/>
                </a:solidFill>
              </a:rPr>
              <a:t>Objectives: SO1 · SO4 · IO2.1 · IO2.2 · IO2.3 · IO2.4 · IO2.5</a:t>
            </a:r>
            <a:endParaRPr lang="en-US" sz="8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L04 · Musculoskeletal Pharmacology — Session 2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24</a:t>
            </a:r>
            <a:endParaRPr lang="en-US" sz="1000" dirty="0"/>
          </a:p>
        </p:txBody>
      </p:sp>
      <p:sp>
        <p:nvSpPr>
          <p:cNvPr id="7" name="Lecture slides say card"/>
          <p:cNvSpPr/>
          <p:nvPr/>
        </p:nvSpPr>
        <p:spPr>
          <a:xfrm>
            <a:off x="548640" y="1325880"/>
            <a:ext cx="5364328" cy="2011680"/>
          </a:xfrm>
          <a:prstGeom prst="roundRect">
            <a:avLst>
              <a:gd name="adj" fmla="val 5455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Lecture slides say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pic>
        <p:nvPicPr>
          <p:cNvPr id="9" name="Lecture slides say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Lecture slides say heading"/>
          <p:cNvSpPr txBox="1"/>
          <p:nvPr/>
        </p:nvSpPr>
        <p:spPr>
          <a:xfrm>
            <a:off x="1353312" y="1508760"/>
            <a:ext cx="4358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472C4"/>
                </a:solidFill>
              </a:rPr>
              <a:t>Lecture slides say</a:t>
            </a:r>
            <a:endParaRPr lang="en-US" sz="1800" dirty="0"/>
          </a:p>
        </p:txBody>
      </p:sp>
      <p:sp>
        <p:nvSpPr>
          <p:cNvPr id="11" name="Lecture slides say body"/>
          <p:cNvSpPr txBox="1"/>
          <p:nvPr/>
        </p:nvSpPr>
        <p:spPr>
          <a:xfrm>
            <a:off x="777240" y="2075688"/>
            <a:ext cx="49071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Best started within 24 hours of flare onset.</a:t>
            </a:r>
            <a:r>
              <a:rPr lang="en-US" sz="1300" dirty="0">
                <a:solidFill>
                  <a:srgbClr val="666666"/>
                </a:solidFill>
              </a:rPr>
              <a:t>  S9</a:t>
            </a:r>
            <a:endParaRPr lang="en-US" sz="1800" dirty="0"/>
          </a:p>
        </p:txBody>
      </p:sp>
      <p:sp>
        <p:nvSpPr>
          <p:cNvPr id="12" name="Textbook says card"/>
          <p:cNvSpPr/>
          <p:nvPr/>
        </p:nvSpPr>
        <p:spPr>
          <a:xfrm>
            <a:off x="6278728" y="1325880"/>
            <a:ext cx="5364328" cy="2011680"/>
          </a:xfrm>
          <a:prstGeom prst="roundRect">
            <a:avLst>
              <a:gd name="adj" fmla="val 5455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3" name="Textbook says icon circle"/>
          <p:cNvSpPr/>
          <p:nvPr/>
        </p:nvSpPr>
        <p:spPr>
          <a:xfrm>
            <a:off x="6507328" y="1508760"/>
            <a:ext cx="438912" cy="438912"/>
          </a:xfrm>
          <a:prstGeom prst="ellipse">
            <a:avLst/>
          </a:prstGeom>
          <a:solidFill>
            <a:srgbClr val="B07D00"/>
          </a:solidFill>
          <a:ln w="12700">
            <a:solidFill>
              <a:srgbClr val="B07D00"/>
            </a:solidFill>
            <a:prstDash val="solid"/>
          </a:ln>
        </p:spPr>
      </p:sp>
      <p:pic>
        <p:nvPicPr>
          <p:cNvPr id="14" name="Textbook says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7912" y="1609344"/>
            <a:ext cx="237744" cy="237744"/>
          </a:xfrm>
          <a:prstGeom prst="rect">
            <a:avLst/>
          </a:prstGeom>
        </p:spPr>
      </p:pic>
      <p:sp>
        <p:nvSpPr>
          <p:cNvPr id="15" name="Textbook says heading"/>
          <p:cNvSpPr txBox="1"/>
          <p:nvPr/>
        </p:nvSpPr>
        <p:spPr>
          <a:xfrm>
            <a:off x="7083400" y="1508760"/>
            <a:ext cx="4358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07D00"/>
                </a:solidFill>
              </a:rPr>
              <a:t>Textbook says</a:t>
            </a:r>
            <a:endParaRPr lang="en-US" sz="1800" dirty="0"/>
          </a:p>
        </p:txBody>
      </p:sp>
      <p:sp>
        <p:nvSpPr>
          <p:cNvPr id="16" name="Textbook says body"/>
          <p:cNvSpPr txBox="1"/>
          <p:nvPr/>
        </p:nvSpPr>
        <p:spPr>
          <a:xfrm>
            <a:off x="6507328" y="2075688"/>
            <a:ext cx="49071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Guidelines suggest giving colchicine within 36 hours of an attack; efficacy falls after that.</a:t>
            </a:r>
            <a:r>
              <a:rPr lang="en-US" sz="1300" dirty="0">
                <a:solidFill>
                  <a:srgbClr val="666666"/>
                </a:solidFill>
              </a:rPr>
              <a:t>  p. 696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GOUT: ACUTE FLARES &amp; URATE-LOWERING THERAPY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Compare: Acute flare vs. chronic urate-lowering therapy</a:t>
            </a:r>
            <a:endParaRPr lang="en-US" sz="27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4F8A"/>
                </a:solidFill>
              </a:rPr>
              <a:t>Objectives: SO1 · SO4 · IO2.1 · IO2.2 · IO2.3 · IO2.4 · IO2.5</a:t>
            </a:r>
            <a:endParaRPr lang="en-US" sz="8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L04 · Musculoskeletal Pharmacology — Session 2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25</a:t>
            </a:r>
            <a:endParaRPr lang="en-US" sz="1000" dirty="0"/>
          </a:p>
        </p:txBody>
      </p:sp>
      <p:graphicFrame>
        <p:nvGraphicFramePr>
          <p:cNvPr id="26" name="Comparis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358488"/>
                <a:gridCol w="435848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Acute flare</a:t>
                      </a: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Chronic management</a:t>
                      </a: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Goal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Control pain and inflammation </a:t>
                      </a: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now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Lower serum uric acid to </a:t>
                      </a: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prevent</a:t>
                      </a: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 future flares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Agents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Colchicine, NSAIDs, corticosteroids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Allopurinol, febuxostat (↓ production); probenecid (↑ excretion)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When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At once — colchicine best within 24 h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Only after the flare resolves; start low, titrate to a urate target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Trap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ULT is not a flare treatment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Starting/changing ULT in a flare can prolong it; cover with prophylaxis 3–6 months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able sources"/>
          <p:cNvSpPr txBox="1"/>
          <p:nvPr/>
        </p:nvSpPr>
        <p:spPr>
          <a:xfrm>
            <a:off x="548640" y="408635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Focus: what tells these apart.  Sources: S7; S9; S11; SG U2-R10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GOUT: ACUTE FLARES &amp; URATE-LOWERING THERAPY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Compare: The gout drugs side by side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4F8A"/>
                </a:solidFill>
              </a:rPr>
              <a:t>Objectives: SO1 · SO4 · IO2.1 · IO2.2 · IO2.3 · IO2.4 · IO2.5</a:t>
            </a:r>
            <a:endParaRPr lang="en-US" sz="8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L04 · Musculoskeletal Pharmacology — Session 2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26</a:t>
            </a:r>
            <a:endParaRPr lang="en-US" sz="1000" dirty="0"/>
          </a:p>
        </p:txBody>
      </p:sp>
      <p:graphicFrame>
        <p:nvGraphicFramePr>
          <p:cNvPr id="27" name="Comparis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358488"/>
                <a:gridCol w="435848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Drug</a:t>
                      </a: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Mechanism</a:t>
                      </a: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Key safety point</a:t>
                      </a: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Colchicine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Disrupts neutrophil microtubules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Narrow window; diarrhea dose-limiting; CYP3A4/P-gp inhibitors; renal/hepatic dosing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Allopurinol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Xanthine oxidase inhibitor (via oxypurinol)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HLA-B*58:01 hypersensitivity; renal dosing; ↓ dose with azathioprine/mercaptopurine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Febuxostat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Xanthine oxidase inhibitor (different structure)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Boxed warning: cardiovascular death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Probenecid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Uricosuric: blocks URAT1 reabsorption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Hydrate; avoid with uric acid stones or significant renal impairment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Pegloticase</a:t>
                      </a: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, rasburicase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Uricase: uric acid → allantoin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G6PD deficiency (hemolysis); infusion reactions; antibodies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8" name="Table sources"/>
          <p:cNvSpPr txBox="1"/>
          <p:nvPr/>
        </p:nvSpPr>
        <p:spPr>
          <a:xfrm>
            <a:off x="548640" y="4710176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Focus: what tells these apart.  Sources: S8–S13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GOUT: ACUTE FLARES &amp; URATE-LOWERING THERAPY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Compare: Name clues: gout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4F8A"/>
                </a:solidFill>
              </a:rPr>
              <a:t>Objectives: SO1 · SO4 · IO2.1 · IO2.2 · IO2.3 · IO2.4 · IO2.5</a:t>
            </a:r>
            <a:endParaRPr lang="en-US" sz="8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L04 · Musculoskeletal Pharmacology — Session 2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27</a:t>
            </a:r>
            <a:endParaRPr lang="en-US" sz="1000" dirty="0"/>
          </a:p>
        </p:txBody>
      </p:sp>
      <p:graphicFrame>
        <p:nvGraphicFramePr>
          <p:cNvPr id="28" name="Comparis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358488"/>
                <a:gridCol w="435848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Name pattern</a:t>
                      </a: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Drug class</a:t>
                      </a: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Examples</a:t>
                      </a: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-ostat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Xanthine oxidase inhibitor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Febuxostat (allopurinol is the exception)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-ase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Enzyme (uricase)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Pegloticase, rasburicase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colchicine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Plant-derived alkaloid, no stem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Colchicine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probenecid, lesinurad-type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Uricosurics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Probenecid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-profen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Propionic-acid NSAIDs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Ibuprofen, naproxen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-sone, -olone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Corticosteroids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Prednisone, methylprednisolone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able sources"/>
          <p:cNvSpPr txBox="1"/>
          <p:nvPr/>
        </p:nvSpPr>
        <p:spPr>
          <a:xfrm>
            <a:off x="548640" y="4342384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Focus: what tells these apart.  Sources: S15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GOUT: ACUTE FLARES &amp; URATE-LOWERING THERAPY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Compare: Gout drugs in the reading (textbook)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4F8A"/>
                </a:solidFill>
              </a:rPr>
              <a:t>Objectives: SO1 · SO4 · IO2.1 · IO2.2 · IO2.3 · IO2.4 · IO2.5</a:t>
            </a:r>
            <a:endParaRPr lang="en-US" sz="8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L04 · Musculoskeletal Pharmacology — Session 2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28</a:t>
            </a:r>
            <a:endParaRPr lang="en-US" sz="1000" dirty="0"/>
          </a:p>
        </p:txBody>
      </p:sp>
      <p:graphicFrame>
        <p:nvGraphicFramePr>
          <p:cNvPr id="29" name="Comparis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358488"/>
                <a:gridCol w="435848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Drug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Dose / PK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What sets it apart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Allopurinol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Start 100 mg/d; +100 mg every 2–5 weeks to &lt;6 mg/dL (max 800); oxypurinol t½ 15 h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Pruritic rash 3%; AHS 2–4 weeks in; HLA-B 5801 (Han Chinese, Korean, Thai); cut azathioprine 75%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Colchicine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1.2 mg then 0.6 mg; prophylaxis 0.6 mg once–twice daily; t½ 9 h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Within 36 h (guideline); not dialyzable; no longer given IV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Febuxostat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40 or 80 mg daily; target &lt;6.0 mg/dL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Safe in moderate CKD; for allopurinol intolerance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NSAIDs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Any except aspirin, salicylates, tolmetin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Aspirin ≤2.6 g/d retains urate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Pegloticase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8 mg IV every 2 weeks; t½ 6–14 days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With methotrexate fewer reactions; flares first 3–6 months; avoid in G6PD deficiency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Probenecid (lesinurad withdrawn 2019)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0.5 g/d → 1 g/d after 1 week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Start 2–3 weeks after an attack; high urine volume, pH &gt; 6.0; ↓ penicillin secretion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Glucocorticoids in gout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Prednisone 30–50 mg/d × 1–2 days, taper 7–10 days; intra-articular triamcinolone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Rule out joint infection; good in CKD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Interleukin-1 inhibitors in gout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Anakinra 100 mg/day × 3 days; canakinumab 150 mg once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Not FDA approved for gout; option when standard drugs fail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able sources"/>
          <p:cNvSpPr txBox="1"/>
          <p:nvPr/>
        </p:nvSpPr>
        <p:spPr>
          <a:xfrm>
            <a:off x="548640" y="5868924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Focus: what tells these apart.  Sources: p. 695; p. 696; p. 697; p. 698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GOUT: ACUTE FLARES &amp; URATE-LOWERING THERAPY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hooks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4F8A"/>
                </a:solidFill>
              </a:rPr>
              <a:t>Objectives: SO1 · SO4 · IO2.1 · IO2.2 · IO2.3 · IO2.4 · IO2.5</a:t>
            </a:r>
            <a:endParaRPr lang="en-US" sz="8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L04 · Musculoskeletal Pharmacology — Session 2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29</a:t>
            </a:r>
            <a:endParaRPr lang="en-US" sz="1000" dirty="0"/>
          </a:p>
        </p:txBody>
      </p:sp>
      <p:sp>
        <p:nvSpPr>
          <p:cNvPr id="7" name="Why it happens card"/>
          <p:cNvSpPr/>
          <p:nvPr/>
        </p:nvSpPr>
        <p:spPr>
          <a:xfrm>
            <a:off x="548640" y="1325880"/>
            <a:ext cx="5364328" cy="2276856"/>
          </a:xfrm>
          <a:prstGeom prst="roundRect">
            <a:avLst>
              <a:gd name="adj" fmla="val 4819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Why it happens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pic>
        <p:nvPicPr>
          <p:cNvPr id="9" name="Why it happens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Why it happens heading"/>
          <p:cNvSpPr txBox="1"/>
          <p:nvPr/>
        </p:nvSpPr>
        <p:spPr>
          <a:xfrm>
            <a:off x="1353312" y="1508760"/>
            <a:ext cx="4358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472C4"/>
                </a:solidFill>
              </a:rPr>
              <a:t>Why it happens</a:t>
            </a:r>
            <a:endParaRPr lang="en-US" sz="1800" dirty="0"/>
          </a:p>
        </p:txBody>
      </p:sp>
      <p:sp>
        <p:nvSpPr>
          <p:cNvPr id="11" name="Why it happens body"/>
          <p:cNvSpPr txBox="1"/>
          <p:nvPr/>
        </p:nvSpPr>
        <p:spPr>
          <a:xfrm>
            <a:off x="777240" y="2075688"/>
            <a:ext cx="4907128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Why not start allopurinol in a flare? Shifting urate levels mobilizes crystals — starting or changing ULT during a flare can worsen or prolong it. Calm the flare first.</a:t>
            </a:r>
            <a:r>
              <a:rPr lang="en-US" sz="1300" dirty="0">
                <a:solidFill>
                  <a:srgbClr val="666666"/>
                </a:solidFill>
              </a:rPr>
              <a:t>  S7 (notes); SG U2-R10</a:t>
            </a:r>
            <a:endParaRPr lang="en-US" sz="1800" dirty="0"/>
          </a:p>
        </p:txBody>
      </p:sp>
      <p:sp>
        <p:nvSpPr>
          <p:cNvPr id="12" name="Mnemonic (memory aid) card"/>
          <p:cNvSpPr/>
          <p:nvPr/>
        </p:nvSpPr>
        <p:spPr>
          <a:xfrm>
            <a:off x="548640" y="3831336"/>
            <a:ext cx="5364328" cy="2276856"/>
          </a:xfrm>
          <a:prstGeom prst="roundRect">
            <a:avLst>
              <a:gd name="adj" fmla="val 4819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3" name="Mnemonic (memory aid) icon circle"/>
          <p:cNvSpPr/>
          <p:nvPr/>
        </p:nvSpPr>
        <p:spPr>
          <a:xfrm>
            <a:off x="777240" y="4014216"/>
            <a:ext cx="438912" cy="438912"/>
          </a:xfrm>
          <a:prstGeom prst="ellipse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pic>
        <p:nvPicPr>
          <p:cNvPr id="14" name="Mnemonic (memory aid)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4114800"/>
            <a:ext cx="237744" cy="237744"/>
          </a:xfrm>
          <a:prstGeom prst="rect">
            <a:avLst/>
          </a:prstGeom>
        </p:spPr>
      </p:pic>
      <p:sp>
        <p:nvSpPr>
          <p:cNvPr id="15" name="Mnemonic (memory aid) heading"/>
          <p:cNvSpPr txBox="1"/>
          <p:nvPr/>
        </p:nvSpPr>
        <p:spPr>
          <a:xfrm>
            <a:off x="1353312" y="4014216"/>
            <a:ext cx="4358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030A0"/>
                </a:solidFill>
              </a:rPr>
              <a:t>Mnemonic (memory aid)</a:t>
            </a:r>
            <a:endParaRPr lang="en-US" sz="1800" dirty="0"/>
          </a:p>
        </p:txBody>
      </p:sp>
      <p:sp>
        <p:nvSpPr>
          <p:cNvPr id="16" name="Mnemonic (memory aid) body"/>
          <p:cNvSpPr txBox="1"/>
          <p:nvPr/>
        </p:nvSpPr>
        <p:spPr>
          <a:xfrm>
            <a:off x="777240" y="4581144"/>
            <a:ext cx="4907128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Make less, pee more, break it down:</a:t>
            </a:r>
            <a:r>
              <a:rPr lang="en-US" sz="1800" dirty="0">
                <a:solidFill>
                  <a:srgbClr val="1F1F1F"/>
                </a:solidFill>
              </a:rPr>
              <a:t> xanthine oxidase inhibitors make less; probenecid pees more; pegloticase breaks it down.</a:t>
            </a:r>
            <a:r>
              <a:rPr lang="en-US" sz="1300" dirty="0">
                <a:solidFill>
                  <a:srgbClr val="666666"/>
                </a:solidFill>
              </a:rPr>
              <a:t>  S10–S13; SG U2-R9</a:t>
            </a:r>
            <a:endParaRPr lang="en-US" sz="1800" dirty="0"/>
          </a:p>
        </p:txBody>
      </p:sp>
      <p:sp>
        <p:nvSpPr>
          <p:cNvPr id="17" name="Why it happens card"/>
          <p:cNvSpPr/>
          <p:nvPr/>
        </p:nvSpPr>
        <p:spPr>
          <a:xfrm>
            <a:off x="6278728" y="1325880"/>
            <a:ext cx="5364328" cy="2276856"/>
          </a:xfrm>
          <a:prstGeom prst="roundRect">
            <a:avLst>
              <a:gd name="adj" fmla="val 4819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8" name="Why it happens icon circle"/>
          <p:cNvSpPr/>
          <p:nvPr/>
        </p:nvSpPr>
        <p:spPr>
          <a:xfrm>
            <a:off x="6507328" y="1508760"/>
            <a:ext cx="438912" cy="438912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pic>
        <p:nvPicPr>
          <p:cNvPr id="19" name="Why it happens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7912" y="1609344"/>
            <a:ext cx="237744" cy="237744"/>
          </a:xfrm>
          <a:prstGeom prst="rect">
            <a:avLst/>
          </a:prstGeom>
        </p:spPr>
      </p:pic>
      <p:sp>
        <p:nvSpPr>
          <p:cNvPr id="20" name="Why it happens heading"/>
          <p:cNvSpPr txBox="1"/>
          <p:nvPr/>
        </p:nvSpPr>
        <p:spPr>
          <a:xfrm>
            <a:off x="7083400" y="1508760"/>
            <a:ext cx="4358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472C4"/>
                </a:solidFill>
              </a:rPr>
              <a:t>Why it happens</a:t>
            </a:r>
            <a:endParaRPr lang="en-US" sz="1800" dirty="0"/>
          </a:p>
        </p:txBody>
      </p:sp>
      <p:sp>
        <p:nvSpPr>
          <p:cNvPr id="21" name="Why it happens body"/>
          <p:cNvSpPr txBox="1"/>
          <p:nvPr/>
        </p:nvSpPr>
        <p:spPr>
          <a:xfrm>
            <a:off x="6507328" y="2075688"/>
            <a:ext cx="4907128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Why does colchicine have to start early? It works on the neutrophil’s cytoskeleton, stopping migration — once neutrophils have flooded the joint, it has less to prevent.</a:t>
            </a:r>
            <a:r>
              <a:rPr lang="en-US" sz="1300" dirty="0">
                <a:solidFill>
                  <a:srgbClr val="666666"/>
                </a:solidFill>
              </a:rPr>
              <a:t>  S9; S9 (notes)</a:t>
            </a:r>
            <a:endParaRPr lang="en-US" sz="1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GOUT: ACUTE FLARES &amp; URATE-LOWERING THERAPY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High-yield summary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4F8A"/>
                </a:solidFill>
              </a:rPr>
              <a:t>Objectives: SO1 · SO4 · IO2.1 · IO2.2 · IO2.3 · IO2.4 · IO2.5</a:t>
            </a:r>
            <a:endParaRPr lang="en-US" sz="8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L04 · Musculoskeletal Pharmacology — Session 2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30</a:t>
            </a:r>
            <a:endParaRPr lang="en-US" sz="1000" dirty="0"/>
          </a:p>
        </p:txBody>
      </p:sp>
      <p:sp>
        <p:nvSpPr>
          <p:cNvPr id="7" name="If you remember nothing else card"/>
          <p:cNvSpPr/>
          <p:nvPr/>
        </p:nvSpPr>
        <p:spPr>
          <a:xfrm>
            <a:off x="548640" y="1325880"/>
            <a:ext cx="11094415" cy="3552444"/>
          </a:xfrm>
          <a:prstGeom prst="roundRect">
            <a:avLst>
              <a:gd name="adj" fmla="val 3089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If you remember nothing else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pic>
        <p:nvPicPr>
          <p:cNvPr id="9" name="If you remember nothing else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If you remember nothing else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55A11"/>
                </a:solidFill>
              </a:rPr>
              <a:t>If you remember nothing else</a:t>
            </a:r>
            <a:endParaRPr lang="en-US" sz="1800" dirty="0"/>
          </a:p>
        </p:txBody>
      </p:sp>
      <p:sp>
        <p:nvSpPr>
          <p:cNvPr id="11" name="If you remember nothing else body"/>
          <p:cNvSpPr txBox="1"/>
          <p:nvPr/>
        </p:nvSpPr>
        <p:spPr>
          <a:xfrm>
            <a:off x="777240" y="2075688"/>
            <a:ext cx="10637215" cy="2683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Acute gout treatment and chronic urate-lowering therapy are different goals, started at different times.</a:t>
            </a:r>
            <a:r>
              <a:rPr lang="en-US" sz="1300" dirty="0">
                <a:solidFill>
                  <a:srgbClr val="666666"/>
                </a:solidFill>
              </a:rPr>
              <a:t>  S49; S7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Flare: colchicine, NSAID, or corticosteroid. Prevention: allopurinol/febuxostat (↓ production) or probenecid (↑ excretion).</a:t>
            </a:r>
            <a:r>
              <a:rPr lang="en-US" sz="1300" dirty="0">
                <a:solidFill>
                  <a:srgbClr val="666666"/>
                </a:solidFill>
              </a:rPr>
              <a:t>  S7; SG U2-R9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Colchicine: microtubules; best within 24 h; diarrhea; CYP3A4/P-gp inhibitors.</a:t>
            </a:r>
            <a:r>
              <a:rPr lang="en-US" sz="1300" dirty="0">
                <a:solidFill>
                  <a:srgbClr val="666666"/>
                </a:solidFill>
              </a:rPr>
              <a:t>  S8; S9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Allopurinol: HLA-B*58:01; febuxostat: boxed CV death warning.</a:t>
            </a:r>
            <a:r>
              <a:rPr lang="en-US" sz="1300" dirty="0">
                <a:solidFill>
                  <a:srgbClr val="666666"/>
                </a:solidFill>
              </a:rPr>
              <a:t>  S10; S11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Pegloticase/rasburicase: no G6PD deficiency.</a:t>
            </a:r>
            <a:r>
              <a:rPr lang="en-US" sz="1300" dirty="0">
                <a:solidFill>
                  <a:srgbClr val="666666"/>
                </a:solidFill>
              </a:rPr>
              <a:t>  S13</a:t>
            </a:r>
            <a:endParaRPr lang="en-US" sz="1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CLINICAL VIGNETTE · LECTURE QUICK CHECK S14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4F8A"/>
                </a:solidFill>
              </a:rPr>
              <a:t>Objectives: SO1 · SO4 · IO2.1 · IO2.2 · IO2.3 · IO2.4 · IO2.5</a:t>
            </a:r>
            <a:endParaRPr lang="en-US" sz="8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L04 · Musculoskeletal Pharmacology — Session 2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31</a:t>
            </a:r>
            <a:endParaRPr lang="en-US" sz="1000" dirty="0"/>
          </a:p>
        </p:txBody>
      </p:sp>
      <p:sp>
        <p:nvSpPr>
          <p:cNvPr id="7" name="Question stem card"/>
          <p:cNvSpPr/>
          <p:nvPr/>
        </p:nvSpPr>
        <p:spPr>
          <a:xfrm>
            <a:off x="548640" y="1325880"/>
            <a:ext cx="11094415" cy="923544"/>
          </a:xfrm>
          <a:prstGeom prst="roundRect">
            <a:avLst>
              <a:gd name="adj" fmla="val 990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Question stem"/>
          <p:cNvSpPr txBox="1"/>
          <p:nvPr/>
        </p:nvSpPr>
        <p:spPr>
          <a:xfrm>
            <a:off x="777240" y="1325880"/>
            <a:ext cx="10637215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A 54-year-old presents with sudden, severe pain, redness, and swelling of the first metatarsophalangeal joint, consistent with an acute gout flare. What is the right plan today?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245973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4597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A</a:t>
            </a:r>
            <a:endParaRPr lang="en-US" sz="1400" dirty="0"/>
          </a:p>
        </p:txBody>
      </p:sp>
      <p:sp>
        <p:nvSpPr>
          <p:cNvPr id="11" name="Option A"/>
          <p:cNvSpPr txBox="1"/>
          <p:nvPr/>
        </p:nvSpPr>
        <p:spPr>
          <a:xfrm>
            <a:off x="1188720" y="243230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Start allopurinol today to lower the uric acid fast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300837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0083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B</a:t>
            </a:r>
            <a:endParaRPr lang="en-US" sz="1400" dirty="0"/>
          </a:p>
        </p:txBody>
      </p:sp>
      <p:sp>
        <p:nvSpPr>
          <p:cNvPr id="14" name="Option B"/>
          <p:cNvSpPr txBox="1"/>
          <p:nvPr/>
        </p:nvSpPr>
        <p:spPr>
          <a:xfrm>
            <a:off x="1188720" y="298094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Give probenecid now to flush the uric acid out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48640" y="355701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5570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C</a:t>
            </a:r>
            <a:endParaRPr lang="en-US" sz="1400" dirty="0"/>
          </a:p>
        </p:txBody>
      </p:sp>
      <p:sp>
        <p:nvSpPr>
          <p:cNvPr id="17" name="Option C"/>
          <p:cNvSpPr txBox="1"/>
          <p:nvPr/>
        </p:nvSpPr>
        <p:spPr>
          <a:xfrm>
            <a:off x="1188720" y="352958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Give pegloticase now as the fastest uric acid drop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48640" y="410565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41056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D</a:t>
            </a:r>
            <a:endParaRPr lang="en-US" sz="1400" dirty="0"/>
          </a:p>
        </p:txBody>
      </p:sp>
      <p:sp>
        <p:nvSpPr>
          <p:cNvPr id="20" name="Option D"/>
          <p:cNvSpPr txBox="1"/>
          <p:nvPr/>
        </p:nvSpPr>
        <p:spPr>
          <a:xfrm>
            <a:off x="1188720" y="407822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Treat the flare now; defer urate-lowering therapy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48640" y="465429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46542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E</a:t>
            </a:r>
            <a:endParaRPr lang="en-US" sz="1400" dirty="0"/>
          </a:p>
        </p:txBody>
      </p:sp>
      <p:sp>
        <p:nvSpPr>
          <p:cNvPr id="23" name="Option E"/>
          <p:cNvSpPr txBox="1"/>
          <p:nvPr/>
        </p:nvSpPr>
        <p:spPr>
          <a:xfrm>
            <a:off x="1188720" y="462686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Start allopurinol and colchicine together right now</a:t>
            </a:r>
            <a:endParaRPr lang="en-US" sz="1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CLINICAL VIGNETTE · ANSWER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1: D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4F8A"/>
                </a:solidFill>
              </a:rPr>
              <a:t>Objectives: SO1 · SO4 · IO2.1 · IO2.2 · IO2.3 · IO2.4 · IO2.5</a:t>
            </a:r>
            <a:endParaRPr lang="en-US" sz="8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L04 · Musculoskeletal Pharmacology — Session 2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32</a:t>
            </a:r>
            <a:endParaRPr lang="en-US" sz="1000" dirty="0"/>
          </a:p>
        </p:txBody>
      </p:sp>
      <p:sp>
        <p:nvSpPr>
          <p:cNvPr id="7" name="Correct answer"/>
          <p:cNvSpPr/>
          <p:nvPr/>
        </p:nvSpPr>
        <p:spPr>
          <a:xfrm>
            <a:off x="548640" y="1325880"/>
            <a:ext cx="11094415" cy="548640"/>
          </a:xfrm>
          <a:prstGeom prst="roundRect">
            <a:avLst>
              <a:gd name="adj" fmla="val 16667"/>
            </a:avLst>
          </a:prstGeom>
          <a:solidFill>
            <a:srgbClr val="E2F0D9"/>
          </a:solidFill>
          <a:ln w="19050">
            <a:solidFill>
              <a:srgbClr val="548235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35608"/>
            <a:ext cx="329184" cy="32918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234440" y="1325880"/>
            <a:ext cx="101800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D. </a:t>
            </a:r>
            <a:r>
              <a:rPr lang="en-US" sz="1600" b="1" dirty="0">
                <a:solidFill>
                  <a:srgbClr val="1F1F1F"/>
                </a:solidFill>
              </a:rPr>
              <a:t>Treat the flare now; defer urate-lowering therapy</a:t>
            </a:r>
            <a:endParaRPr lang="en-US" sz="1600" dirty="0"/>
          </a:p>
        </p:txBody>
      </p:sp>
      <p:sp>
        <p:nvSpPr>
          <p:cNvPr id="10" name="Why correct"/>
          <p:cNvSpPr txBox="1"/>
          <p:nvPr/>
        </p:nvSpPr>
        <p:spPr>
          <a:xfrm>
            <a:off x="777240" y="2011680"/>
            <a:ext cx="10637215" cy="724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</a:rPr>
              <a:t>Treat the acute flare first (colchicine, NSAID, or corticosteroid); urate-lowering therapy is deferred until the flare resolves, then used for long-term prevention (S14; SG U2-R10).</a:t>
            </a:r>
            <a:r>
              <a:rPr lang="en-US" sz="1100" dirty="0">
                <a:solidFill>
                  <a:srgbClr val="666666"/>
                </a:solidFill>
              </a:rPr>
              <a:t>  S14; SG U2-R10</a:t>
            </a:r>
            <a:endParaRPr lang="en-US" sz="1600" dirty="0"/>
          </a:p>
        </p:txBody>
      </p:sp>
      <p:sp>
        <p:nvSpPr>
          <p:cNvPr id="11" name="Why others wrong card"/>
          <p:cNvSpPr/>
          <p:nvPr/>
        </p:nvSpPr>
        <p:spPr>
          <a:xfrm>
            <a:off x="548640" y="2873248"/>
            <a:ext cx="11094415" cy="1952752"/>
          </a:xfrm>
          <a:prstGeom prst="roundRect">
            <a:avLst>
              <a:gd name="adj" fmla="val 468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2" name="Why others wrong"/>
          <p:cNvSpPr txBox="1"/>
          <p:nvPr/>
        </p:nvSpPr>
        <p:spPr>
          <a:xfrm>
            <a:off x="777240" y="2982976"/>
            <a:ext cx="10637215" cy="1769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C00000"/>
                </a:solidFill>
              </a:rPr>
              <a:t>Why the other choices are wrong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A. Start allopurinol today to lower the uric acid fast — </a:t>
            </a:r>
            <a:r>
              <a:rPr lang="en-US" sz="1600" dirty="0">
                <a:solidFill>
                  <a:srgbClr val="1F1F1F"/>
                </a:solidFill>
              </a:rPr>
              <a:t>Starting ULT during a flare can prolong it (S7).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B. Give probenecid now to flush the uric acid out — </a:t>
            </a:r>
            <a:r>
              <a:rPr lang="en-US" sz="1600" dirty="0">
                <a:solidFill>
                  <a:srgbClr val="1F1F1F"/>
                </a:solidFill>
              </a:rPr>
              <a:t>Probenecid is chronic ULT, not flare treatment (S12).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C. Give pegloticase now as the fastest uric acid drop — </a:t>
            </a:r>
            <a:r>
              <a:rPr lang="en-US" sz="1600" dirty="0">
                <a:solidFill>
                  <a:srgbClr val="1F1F1F"/>
                </a:solidFill>
              </a:rPr>
              <a:t>Pegloticase is for refractory chronic gout (S12).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E. Start allopurinol and colchicine together right now — </a:t>
            </a:r>
            <a:r>
              <a:rPr lang="en-US" sz="1600" dirty="0">
                <a:solidFill>
                  <a:srgbClr val="1F1F1F"/>
                </a:solidFill>
              </a:rPr>
              <a:t>ULT waits until the flare resolves; colchicine alone treats the flare (S14).</a:t>
            </a:r>
            <a:endParaRPr lang="en-US" sz="16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CLINICAL VIGNETTE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4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4F8A"/>
                </a:solidFill>
              </a:rPr>
              <a:t>Objectives: SO1 · SO4 · IO2.1 · IO2.2 · IO2.3 · IO2.4 · IO2.5</a:t>
            </a:r>
            <a:endParaRPr lang="en-US" sz="8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L04 · Musculoskeletal Pharmacology — Session 2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33</a:t>
            </a:r>
            <a:endParaRPr lang="en-US" sz="1000" dirty="0"/>
          </a:p>
        </p:txBody>
      </p:sp>
      <p:sp>
        <p:nvSpPr>
          <p:cNvPr id="7" name="Question stem card"/>
          <p:cNvSpPr/>
          <p:nvPr/>
        </p:nvSpPr>
        <p:spPr>
          <a:xfrm>
            <a:off x="548640" y="1325880"/>
            <a:ext cx="11094415" cy="644652"/>
          </a:xfrm>
          <a:prstGeom prst="roundRect">
            <a:avLst>
              <a:gd name="adj" fmla="val 14184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Question stem"/>
          <p:cNvSpPr txBox="1"/>
          <p:nvPr/>
        </p:nvSpPr>
        <p:spPr>
          <a:xfrm>
            <a:off x="777240" y="1325880"/>
            <a:ext cx="10637215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A patient on colchicine for a gout flare is prescribed clarithromycin for pneumonia. What is the concern?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2180844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1808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A</a:t>
            </a:r>
            <a:endParaRPr lang="en-US" sz="1400" dirty="0"/>
          </a:p>
        </p:txBody>
      </p:sp>
      <p:sp>
        <p:nvSpPr>
          <p:cNvPr id="11" name="Option A"/>
          <p:cNvSpPr txBox="1"/>
          <p:nvPr/>
        </p:nvSpPr>
        <p:spPr>
          <a:xfrm>
            <a:off x="1188720" y="2153412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The pair raises uric acid and worsens the flare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2729484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27294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B</a:t>
            </a:r>
            <a:endParaRPr lang="en-US" sz="1400" dirty="0"/>
          </a:p>
        </p:txBody>
      </p:sp>
      <p:sp>
        <p:nvSpPr>
          <p:cNvPr id="14" name="Option B"/>
          <p:cNvSpPr txBox="1"/>
          <p:nvPr/>
        </p:nvSpPr>
        <p:spPr>
          <a:xfrm>
            <a:off x="1188720" y="2702052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Clarithromycin triggers HLA-B*58:01 hypersensitivity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48640" y="3278124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2781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C</a:t>
            </a:r>
            <a:endParaRPr lang="en-US" sz="1400" dirty="0"/>
          </a:p>
        </p:txBody>
      </p:sp>
      <p:sp>
        <p:nvSpPr>
          <p:cNvPr id="17" name="Option C"/>
          <p:cNvSpPr txBox="1"/>
          <p:nvPr/>
        </p:nvSpPr>
        <p:spPr>
          <a:xfrm>
            <a:off x="1188720" y="3250692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The two together cause hemolysis in G6PD deficiency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48640" y="3826764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38267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D</a:t>
            </a:r>
            <a:endParaRPr lang="en-US" sz="1400" dirty="0"/>
          </a:p>
        </p:txBody>
      </p:sp>
      <p:sp>
        <p:nvSpPr>
          <p:cNvPr id="20" name="Option D"/>
          <p:cNvSpPr txBox="1"/>
          <p:nvPr/>
        </p:nvSpPr>
        <p:spPr>
          <a:xfrm>
            <a:off x="1188720" y="3799332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Clarithromycin speeds colchicine clearance, so the flare returns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48640" y="4375404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43754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E</a:t>
            </a:r>
            <a:endParaRPr lang="en-US" sz="1400" dirty="0"/>
          </a:p>
        </p:txBody>
      </p:sp>
      <p:sp>
        <p:nvSpPr>
          <p:cNvPr id="23" name="Option E"/>
          <p:cNvSpPr txBox="1"/>
          <p:nvPr/>
        </p:nvSpPr>
        <p:spPr>
          <a:xfrm>
            <a:off x="1188720" y="4347972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CYP3A4/P-gp inhibition raises colchicine to toxic levels</a:t>
            </a:r>
            <a:endParaRPr lang="en-US" sz="1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CLINICAL VIGNETTE · ANSWER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4: E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4F8A"/>
                </a:solidFill>
              </a:rPr>
              <a:t>Objectives: SO1 · SO4 · IO2.1 · IO2.2 · IO2.3 · IO2.4 · IO2.5</a:t>
            </a:r>
            <a:endParaRPr lang="en-US" sz="8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L04 · Musculoskeletal Pharmacology — Session 2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34</a:t>
            </a:r>
            <a:endParaRPr lang="en-US" sz="1000" dirty="0"/>
          </a:p>
        </p:txBody>
      </p:sp>
      <p:sp>
        <p:nvSpPr>
          <p:cNvPr id="7" name="Correct answer"/>
          <p:cNvSpPr/>
          <p:nvPr/>
        </p:nvSpPr>
        <p:spPr>
          <a:xfrm>
            <a:off x="548640" y="1325880"/>
            <a:ext cx="11094415" cy="548640"/>
          </a:xfrm>
          <a:prstGeom prst="roundRect">
            <a:avLst>
              <a:gd name="adj" fmla="val 16667"/>
            </a:avLst>
          </a:prstGeom>
          <a:solidFill>
            <a:srgbClr val="E2F0D9"/>
          </a:solidFill>
          <a:ln w="19050">
            <a:solidFill>
              <a:srgbClr val="548235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35608"/>
            <a:ext cx="329184" cy="32918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234440" y="1325880"/>
            <a:ext cx="101800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E. </a:t>
            </a:r>
            <a:r>
              <a:rPr lang="en-US" sz="1600" b="1" dirty="0">
                <a:solidFill>
                  <a:srgbClr val="1F1F1F"/>
                </a:solidFill>
              </a:rPr>
              <a:t>CYP3A4/P-gp inhibition raises colchicine to toxic levels</a:t>
            </a:r>
            <a:endParaRPr lang="en-US" sz="1600" dirty="0"/>
          </a:p>
        </p:txBody>
      </p:sp>
      <p:sp>
        <p:nvSpPr>
          <p:cNvPr id="10" name="Why correct"/>
          <p:cNvSpPr txBox="1"/>
          <p:nvPr/>
        </p:nvSpPr>
        <p:spPr>
          <a:xfrm>
            <a:off x="777240" y="2011680"/>
            <a:ext cx="10637215" cy="47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</a:rPr>
              <a:t>CYP3A4 and P-gp inhibitors such as clarithromycin, cyclosporine, and strong CYP3A4 inhibitors raise colchicine toxicity (S9).</a:t>
            </a:r>
            <a:r>
              <a:rPr lang="en-US" sz="1100" dirty="0">
                <a:solidFill>
                  <a:srgbClr val="666666"/>
                </a:solidFill>
              </a:rPr>
              <a:t>  S9</a:t>
            </a:r>
            <a:endParaRPr lang="en-US" sz="1600" dirty="0"/>
          </a:p>
        </p:txBody>
      </p:sp>
      <p:sp>
        <p:nvSpPr>
          <p:cNvPr id="11" name="Why others wrong card"/>
          <p:cNvSpPr/>
          <p:nvPr/>
        </p:nvSpPr>
        <p:spPr>
          <a:xfrm>
            <a:off x="548640" y="2625344"/>
            <a:ext cx="11094415" cy="1704848"/>
          </a:xfrm>
          <a:prstGeom prst="roundRect">
            <a:avLst>
              <a:gd name="adj" fmla="val 5364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2" name="Why others wrong"/>
          <p:cNvSpPr txBox="1"/>
          <p:nvPr/>
        </p:nvSpPr>
        <p:spPr>
          <a:xfrm>
            <a:off x="777240" y="2735072"/>
            <a:ext cx="10637215" cy="1521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C00000"/>
                </a:solidFill>
              </a:rPr>
              <a:t>Why the other choices are wrong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A. The pair raises uric acid and worsens the flare — </a:t>
            </a:r>
            <a:r>
              <a:rPr lang="en-US" sz="1600" dirty="0">
                <a:solidFill>
                  <a:srgbClr val="1F1F1F"/>
                </a:solidFill>
              </a:rPr>
              <a:t>The taught interaction is colchicine toxicity (S9).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B. Clarithromycin triggers HLA-B*58:01 hypersensitivity — </a:t>
            </a:r>
            <a:r>
              <a:rPr lang="en-US" sz="1600" dirty="0">
                <a:solidFill>
                  <a:srgbClr val="1F1F1F"/>
                </a:solidFill>
              </a:rPr>
              <a:t>HLA-B*58:01 relates to allopurinol (S11).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C. The two together cause hemolysis in G6PD deficiency — </a:t>
            </a:r>
            <a:r>
              <a:rPr lang="en-US" sz="1600" dirty="0">
                <a:solidFill>
                  <a:srgbClr val="1F1F1F"/>
                </a:solidFill>
              </a:rPr>
              <a:t>Hemolysis in G6PD deficiency is the uricase warning (S13).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D. Clarithromycin speeds colchicine clearance, so the flare returns — </a:t>
            </a:r>
            <a:r>
              <a:rPr lang="en-US" sz="1600" dirty="0">
                <a:solidFill>
                  <a:srgbClr val="1F1F1F"/>
                </a:solidFill>
              </a:rPr>
              <a:t>It is an inhibitor; levels rise (S9).</a:t>
            </a:r>
            <a:endParaRPr lang="en-US" sz="16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2F4F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6E0F5"/>
                </a:solidFill>
              </a:rPr>
              <a:t>Drug class 2 of 4</a:t>
            </a:r>
            <a:endParaRPr lang="en-US" sz="16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187452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Skeletal Muscle Relaxants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108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6E0F5"/>
                </a:solidFill>
              </a:rPr>
              <a:t>Covers objectives: SO2 · SO4 · IO2.1 · IO2.2 · IO2.3 · IO2.5 · IO2.6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83321" y="4297680"/>
            <a:ext cx="640080" cy="640080"/>
          </a:xfrm>
          <a:prstGeom prst="ellipse">
            <a:avLst/>
          </a:prstGeom>
          <a:solidFill>
            <a:srgbClr val="44546A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8769" y="4453128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94360" y="5029200"/>
            <a:ext cx="101800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Class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1892762" y="4297680"/>
            <a:ext cx="640080" cy="640080"/>
          </a:xfrm>
          <a:prstGeom prst="ellipse">
            <a:avLst/>
          </a:prstGeom>
          <a:solidFill>
            <a:srgbClr val="4472C4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8210" y="4453128"/>
            <a:ext cx="329184" cy="32918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703802" y="5029200"/>
            <a:ext cx="101800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Prototype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3002204" y="4297680"/>
            <a:ext cx="640080" cy="640080"/>
          </a:xfrm>
          <a:prstGeom prst="ellipse">
            <a:avLst/>
          </a:prstGeom>
          <a:solidFill>
            <a:srgbClr val="7030A0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7652" y="4453128"/>
            <a:ext cx="329184" cy="32918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2813243" y="5029200"/>
            <a:ext cx="101800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Mechanism of action</a:t>
            </a:r>
            <a:endParaRPr lang="en-US" sz="1000" dirty="0"/>
          </a:p>
        </p:txBody>
      </p:sp>
      <p:sp>
        <p:nvSpPr>
          <p:cNvPr id="14" name="Shape 9"/>
          <p:cNvSpPr/>
          <p:nvPr/>
        </p:nvSpPr>
        <p:spPr>
          <a:xfrm>
            <a:off x="4111645" y="4297680"/>
            <a:ext cx="640080" cy="640080"/>
          </a:xfrm>
          <a:prstGeom prst="ellipse">
            <a:avLst/>
          </a:prstGeom>
          <a:solidFill>
            <a:srgbClr val="548235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7093" y="4453128"/>
            <a:ext cx="329184" cy="32918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3922685" y="5029200"/>
            <a:ext cx="101800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Indications</a:t>
            </a:r>
            <a:endParaRPr lang="en-US" sz="1000" dirty="0"/>
          </a:p>
        </p:txBody>
      </p:sp>
      <p:sp>
        <p:nvSpPr>
          <p:cNvPr id="17" name="Shape 11"/>
          <p:cNvSpPr/>
          <p:nvPr/>
        </p:nvSpPr>
        <p:spPr>
          <a:xfrm>
            <a:off x="5221087" y="4297680"/>
            <a:ext cx="640080" cy="640080"/>
          </a:xfrm>
          <a:prstGeom prst="ellipse">
            <a:avLst/>
          </a:prstGeom>
          <a:solidFill>
            <a:srgbClr val="C55A11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6535" y="4453128"/>
            <a:ext cx="329184" cy="329184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5032126" y="5029200"/>
            <a:ext cx="101800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Adverse effects</a:t>
            </a:r>
            <a:endParaRPr lang="en-US" sz="1000" dirty="0"/>
          </a:p>
        </p:txBody>
      </p:sp>
      <p:sp>
        <p:nvSpPr>
          <p:cNvPr id="20" name="Shape 13"/>
          <p:cNvSpPr/>
          <p:nvPr/>
        </p:nvSpPr>
        <p:spPr>
          <a:xfrm>
            <a:off x="6330528" y="4297680"/>
            <a:ext cx="640080" cy="640080"/>
          </a:xfrm>
          <a:prstGeom prst="ellipse">
            <a:avLst/>
          </a:prstGeom>
          <a:solidFill>
            <a:srgbClr val="C00000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5976" y="4453128"/>
            <a:ext cx="329184" cy="329184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6141568" y="5029200"/>
            <a:ext cx="101800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Contraindications</a:t>
            </a:r>
            <a:endParaRPr lang="en-US" sz="1000" dirty="0"/>
          </a:p>
        </p:txBody>
      </p:sp>
      <p:sp>
        <p:nvSpPr>
          <p:cNvPr id="23" name="Shape 15"/>
          <p:cNvSpPr/>
          <p:nvPr/>
        </p:nvSpPr>
        <p:spPr>
          <a:xfrm>
            <a:off x="7439970" y="4297680"/>
            <a:ext cx="640080" cy="640080"/>
          </a:xfrm>
          <a:prstGeom prst="ellipse">
            <a:avLst/>
          </a:prstGeom>
          <a:solidFill>
            <a:srgbClr val="7F6000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95418" y="4453128"/>
            <a:ext cx="329184" cy="329184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7251009" y="5029200"/>
            <a:ext cx="101800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Drug interactions</a:t>
            </a:r>
            <a:endParaRPr lang="en-US" sz="1000" dirty="0"/>
          </a:p>
        </p:txBody>
      </p:sp>
      <p:sp>
        <p:nvSpPr>
          <p:cNvPr id="26" name="Shape 17"/>
          <p:cNvSpPr/>
          <p:nvPr/>
        </p:nvSpPr>
        <p:spPr>
          <a:xfrm>
            <a:off x="8549411" y="4297680"/>
            <a:ext cx="640080" cy="640080"/>
          </a:xfrm>
          <a:prstGeom prst="ellipse">
            <a:avLst/>
          </a:prstGeom>
          <a:solidFill>
            <a:srgbClr val="2E75B6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04859" y="4453128"/>
            <a:ext cx="329184" cy="329184"/>
          </a:xfrm>
          <a:prstGeom prst="rect">
            <a:avLst/>
          </a:prstGeom>
        </p:spPr>
      </p:pic>
      <p:sp>
        <p:nvSpPr>
          <p:cNvPr id="28" name="Text 18"/>
          <p:cNvSpPr txBox="1"/>
          <p:nvPr/>
        </p:nvSpPr>
        <p:spPr>
          <a:xfrm>
            <a:off x="8360451" y="5029200"/>
            <a:ext cx="101800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Pharmacokinetics</a:t>
            </a:r>
            <a:endParaRPr lang="en-US" sz="1000" dirty="0"/>
          </a:p>
        </p:txBody>
      </p:sp>
      <p:sp>
        <p:nvSpPr>
          <p:cNvPr id="29" name="Shape 19"/>
          <p:cNvSpPr/>
          <p:nvPr/>
        </p:nvSpPr>
        <p:spPr>
          <a:xfrm>
            <a:off x="9658853" y="4297680"/>
            <a:ext cx="640080" cy="640080"/>
          </a:xfrm>
          <a:prstGeom prst="ellipse">
            <a:avLst/>
          </a:prstGeom>
          <a:solidFill>
            <a:srgbClr val="1F7A7A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14301" y="4453128"/>
            <a:ext cx="329184" cy="329184"/>
          </a:xfrm>
          <a:prstGeom prst="rect">
            <a:avLst/>
          </a:prstGeom>
        </p:spPr>
      </p:pic>
      <p:sp>
        <p:nvSpPr>
          <p:cNvPr id="31" name="Text 20"/>
          <p:cNvSpPr txBox="1"/>
          <p:nvPr/>
        </p:nvSpPr>
        <p:spPr>
          <a:xfrm>
            <a:off x="9469892" y="5029200"/>
            <a:ext cx="101800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Monitoring</a:t>
            </a:r>
            <a:endParaRPr lang="en-US" sz="1000" dirty="0"/>
          </a:p>
        </p:txBody>
      </p:sp>
      <p:sp>
        <p:nvSpPr>
          <p:cNvPr id="32" name="Shape 21"/>
          <p:cNvSpPr/>
          <p:nvPr/>
        </p:nvSpPr>
        <p:spPr>
          <a:xfrm>
            <a:off x="10768294" y="4297680"/>
            <a:ext cx="640080" cy="640080"/>
          </a:xfrm>
          <a:prstGeom prst="ellipse">
            <a:avLst/>
          </a:prstGeom>
          <a:solidFill>
            <a:srgbClr val="2E75B6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3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23742" y="4453128"/>
            <a:ext cx="329184" cy="329184"/>
          </a:xfrm>
          <a:prstGeom prst="rect">
            <a:avLst/>
          </a:prstGeom>
        </p:spPr>
      </p:pic>
      <p:sp>
        <p:nvSpPr>
          <p:cNvPr id="34" name="Text 22"/>
          <p:cNvSpPr txBox="1"/>
          <p:nvPr/>
        </p:nvSpPr>
        <p:spPr>
          <a:xfrm>
            <a:off x="10579334" y="5029200"/>
            <a:ext cx="101800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Clinical pearls</a:t>
            </a:r>
            <a:endParaRPr lang="en-US" sz="1000" dirty="0"/>
          </a:p>
        </p:txBody>
      </p:sp>
      <p:sp>
        <p:nvSpPr>
          <p:cNvPr id="35" name="Text 23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6E0F5"/>
                </a:solidFill>
              </a:rPr>
              <a:t>35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SKELETAL MUSCLE RELAXANTS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4F8A"/>
                </a:solidFill>
              </a:rPr>
              <a:t>Objectives: SO2 · SO4 · IO2.1 · IO2.2 · IO2.3 · IO2.5 · IO2.6</a:t>
            </a:r>
            <a:endParaRPr lang="en-US" sz="8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L04 · Musculoskeletal Pharmacology — Session 2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36</a:t>
            </a:r>
            <a:endParaRPr lang="en-US" sz="1000" dirty="0"/>
          </a:p>
        </p:txBody>
      </p:sp>
      <p:sp>
        <p:nvSpPr>
          <p:cNvPr id="7" name="Class (1/2) card"/>
          <p:cNvSpPr/>
          <p:nvPr/>
        </p:nvSpPr>
        <p:spPr>
          <a:xfrm>
            <a:off x="548640" y="1325880"/>
            <a:ext cx="11094415" cy="4000500"/>
          </a:xfrm>
          <a:prstGeom prst="roundRect">
            <a:avLst>
              <a:gd name="adj" fmla="val 274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Class (1/2)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44546A"/>
          </a:solidFill>
          <a:ln w="12700">
            <a:solidFill>
              <a:srgbClr val="44546A"/>
            </a:solidFill>
            <a:prstDash val="solid"/>
          </a:ln>
        </p:spPr>
      </p:sp>
      <p:pic>
        <p:nvPicPr>
          <p:cNvPr id="9" name="Class (1/2)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Class (1/2)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4546A"/>
                </a:solidFill>
              </a:rPr>
              <a:t>Class (1/2)</a:t>
            </a:r>
            <a:endParaRPr lang="en-US" sz="1800" dirty="0"/>
          </a:p>
        </p:txBody>
      </p:sp>
      <p:sp>
        <p:nvSpPr>
          <p:cNvPr id="11" name="Class (1/2) body"/>
          <p:cNvSpPr txBox="1"/>
          <p:nvPr/>
        </p:nvSpPr>
        <p:spPr>
          <a:xfrm>
            <a:off x="777240" y="2075688"/>
            <a:ext cx="10637215" cy="3131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Different mechanisms for </a:t>
            </a:r>
            <a:r>
              <a:rPr lang="en-US" sz="1800" b="1" dirty="0">
                <a:solidFill>
                  <a:srgbClr val="1F1F1F"/>
                </a:solidFill>
              </a:rPr>
              <a:t>spasm, spasticity, and rigidity</a:t>
            </a:r>
            <a:r>
              <a:rPr lang="en-US" sz="1800" dirty="0">
                <a:solidFill>
                  <a:srgbClr val="1F1F1F"/>
                </a:solidFill>
              </a:rPr>
              <a:t> — not the same thing, and they often require distinct pharmacologic approaches.</a:t>
            </a:r>
            <a:r>
              <a:rPr lang="en-US" sz="1300" dirty="0">
                <a:solidFill>
                  <a:srgbClr val="666666"/>
                </a:solidFill>
              </a:rPr>
              <a:t>  S16; S17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Muscle spasm:</a:t>
            </a:r>
            <a:r>
              <a:rPr lang="en-US" sz="1800" dirty="0">
                <a:solidFill>
                  <a:srgbClr val="1F1F1F"/>
                </a:solidFill>
              </a:rPr>
              <a:t> sudden, involuntary contraction, often from acute musculoskeletal injury; typically treated with centrally acting relaxants.</a:t>
            </a:r>
            <a:r>
              <a:rPr lang="en-US" sz="1300" dirty="0">
                <a:solidFill>
                  <a:srgbClr val="666666"/>
                </a:solidFill>
              </a:rPr>
              <a:t>  S17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Spasticity:</a:t>
            </a:r>
            <a:r>
              <a:rPr lang="en-US" sz="1800" dirty="0">
                <a:solidFill>
                  <a:srgbClr val="1F1F1F"/>
                </a:solidFill>
              </a:rPr>
              <a:t> velocity-dependent increased tone from </a:t>
            </a:r>
            <a:r>
              <a:rPr lang="en-US" sz="1800" b="1" dirty="0">
                <a:solidFill>
                  <a:srgbClr val="1F1F1F"/>
                </a:solidFill>
              </a:rPr>
              <a:t>upper motor neuron injury</a:t>
            </a:r>
            <a:r>
              <a:rPr lang="en-US" sz="1800" dirty="0">
                <a:solidFill>
                  <a:srgbClr val="1F1F1F"/>
                </a:solidFill>
              </a:rPr>
              <a:t>. </a:t>
            </a:r>
            <a:r>
              <a:rPr lang="en-US" sz="1800" b="1" dirty="0">
                <a:solidFill>
                  <a:srgbClr val="1F1F1F"/>
                </a:solidFill>
              </a:rPr>
              <a:t>Rigidity:</a:t>
            </a:r>
            <a:r>
              <a:rPr lang="en-US" sz="1800" dirty="0">
                <a:solidFill>
                  <a:srgbClr val="1F1F1F"/>
                </a:solidFill>
              </a:rPr>
              <a:t> constant increased tone, independent of velocity.</a:t>
            </a:r>
            <a:r>
              <a:rPr lang="en-US" sz="1300" dirty="0">
                <a:solidFill>
                  <a:srgbClr val="666666"/>
                </a:solidFill>
              </a:rPr>
              <a:t>  S17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Where tone is controlled:</a:t>
            </a:r>
            <a:r>
              <a:rPr lang="en-US" sz="1800" dirty="0">
                <a:solidFill>
                  <a:srgbClr val="1F1F1F"/>
                </a:solidFill>
              </a:rPr>
              <a:t> upper motor neurons (descending inhibitory pathways) ▸ spinal interneurons (GABA, glycine, alpha-2) ▸ alpha motor neuron ▸ neuromuscular junction (ACh release) ▸ muscle fiber contraction (SR Ca²⁺ release).</a:t>
            </a:r>
            <a:r>
              <a:rPr lang="en-US" sz="1300" dirty="0">
                <a:solidFill>
                  <a:srgbClr val="666666"/>
                </a:solidFill>
              </a:rPr>
              <a:t>  S18</a:t>
            </a:r>
            <a:endParaRPr lang="en-US" sz="1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SKELETAL MUSCLE RELAXANTS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(cont.)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4F8A"/>
                </a:solidFill>
              </a:rPr>
              <a:t>Objectives: SO2 · SO4 · IO2.1 · IO2.2 · IO2.3 · IO2.5 · IO2.6</a:t>
            </a:r>
            <a:endParaRPr lang="en-US" sz="8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L04 · Musculoskeletal Pharmacology — Session 2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37</a:t>
            </a:r>
            <a:endParaRPr lang="en-US" sz="1000" dirty="0"/>
          </a:p>
        </p:txBody>
      </p:sp>
      <p:sp>
        <p:nvSpPr>
          <p:cNvPr id="7" name="Class (2/2) card"/>
          <p:cNvSpPr/>
          <p:nvPr/>
        </p:nvSpPr>
        <p:spPr>
          <a:xfrm>
            <a:off x="548640" y="1325880"/>
            <a:ext cx="11094415" cy="3721608"/>
          </a:xfrm>
          <a:prstGeom prst="roundRect">
            <a:avLst>
              <a:gd name="adj" fmla="val 2948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Class (2/2)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44546A"/>
          </a:solidFill>
          <a:ln w="12700">
            <a:solidFill>
              <a:srgbClr val="44546A"/>
            </a:solidFill>
            <a:prstDash val="solid"/>
          </a:ln>
        </p:spPr>
      </p:sp>
      <p:pic>
        <p:nvPicPr>
          <p:cNvPr id="9" name="Class (2/2)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Class (2/2)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4546A"/>
                </a:solidFill>
              </a:rPr>
              <a:t>Class (2/2)</a:t>
            </a:r>
            <a:endParaRPr lang="en-US" sz="1800" dirty="0"/>
          </a:p>
        </p:txBody>
      </p:sp>
      <p:sp>
        <p:nvSpPr>
          <p:cNvPr id="11" name="Class (2/2) body"/>
          <p:cNvSpPr txBox="1"/>
          <p:nvPr/>
        </p:nvSpPr>
        <p:spPr>
          <a:xfrm>
            <a:off x="777240" y="2075688"/>
            <a:ext cx="10637215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Centrally acting</a:t>
            </a:r>
            <a:r>
              <a:rPr lang="en-US" sz="1800" dirty="0">
                <a:solidFill>
                  <a:srgbClr val="1F1F1F"/>
                </a:solidFill>
              </a:rPr>
              <a:t> (act within the CNS to reduce muscle tone): cyclobenzaprine, tizanidine, baclofen — first-line; carisoprodol, methocarbamol, metaxalone, chlorzoxazone — other options.</a:t>
            </a:r>
            <a:r>
              <a:rPr lang="en-US" sz="1300" dirty="0">
                <a:solidFill>
                  <a:srgbClr val="666666"/>
                </a:solidFill>
              </a:rPr>
              <a:t>  S19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Peripherally / locally acting:</a:t>
            </a:r>
            <a:r>
              <a:rPr lang="en-US" sz="1800" dirty="0">
                <a:solidFill>
                  <a:srgbClr val="1F1F1F"/>
                </a:solidFill>
              </a:rPr>
              <a:t> dantrolene acts directly on skeletal muscle itself; botulinum toxin acts at the neuromuscular junction — useful when a central mechanism is not desired (or not safe).</a:t>
            </a:r>
            <a:r>
              <a:rPr lang="en-US" sz="1300" dirty="0">
                <a:solidFill>
                  <a:srgbClr val="666666"/>
                </a:solidFill>
              </a:rPr>
              <a:t>  S19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Highest-yield distinction:</a:t>
            </a:r>
            <a:r>
              <a:rPr lang="en-US" sz="1800" dirty="0">
                <a:solidFill>
                  <a:srgbClr val="1F1F1F"/>
                </a:solidFill>
              </a:rPr>
              <a:t> “where does the drug act?” sorts every agent into one of two buckets — </a:t>
            </a:r>
            <a:r>
              <a:rPr lang="en-US" sz="1800" b="1" dirty="0">
                <a:solidFill>
                  <a:srgbClr val="1F1F1F"/>
                </a:solidFill>
              </a:rPr>
              <a:t>dantrolene is the only one in the peripheral (muscle) bucket.</a:t>
            </a:r>
            <a:r>
              <a:rPr lang="en-US" sz="1300" dirty="0">
                <a:solidFill>
                  <a:srgbClr val="666666"/>
                </a:solidFill>
              </a:rPr>
              <a:t>  S20; S20 (notes); SG U2-R11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Spasticity is common after spinal injury, cerebral palsy, multiple sclerosis, and stroke; these drugs relieve painful spasm better than they restore function.</a:t>
            </a:r>
            <a:r>
              <a:rPr lang="en-US" sz="1300" dirty="0">
                <a:solidFill>
                  <a:srgbClr val="666666"/>
                </a:solidFill>
              </a:rPr>
              <a:t>  p. 510; p. 511</a:t>
            </a:r>
            <a:endParaRPr lang="en-US" sz="1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SKELETAL MUSCLE RELAXANTS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+ other drugs named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4F8A"/>
                </a:solidFill>
              </a:rPr>
              <a:t>Objectives: SO2 · SO4 · IO2.1 · IO2.2 · IO2.3 · IO2.5 · IO2.6</a:t>
            </a:r>
            <a:endParaRPr lang="en-US" sz="8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L04 · Musculoskeletal Pharmacology — Session 2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38</a:t>
            </a:r>
            <a:endParaRPr lang="en-US" sz="1000" dirty="0"/>
          </a:p>
        </p:txBody>
      </p:sp>
      <p:sp>
        <p:nvSpPr>
          <p:cNvPr id="7" name="Prototype + other drugs named card"/>
          <p:cNvSpPr/>
          <p:nvPr/>
        </p:nvSpPr>
        <p:spPr>
          <a:xfrm>
            <a:off x="548640" y="1325880"/>
            <a:ext cx="11094415" cy="2606040"/>
          </a:xfrm>
          <a:prstGeom prst="roundRect">
            <a:avLst>
              <a:gd name="adj" fmla="val 421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Prototype + other drugs named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pic>
        <p:nvPicPr>
          <p:cNvPr id="9" name="Prototype + other drugs named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Prototype + other drugs named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472C4"/>
                </a:solidFill>
              </a:rPr>
              <a:t>Prototype + other drugs named</a:t>
            </a:r>
            <a:endParaRPr lang="en-US" sz="1800" dirty="0"/>
          </a:p>
        </p:txBody>
      </p:sp>
      <p:sp>
        <p:nvSpPr>
          <p:cNvPr id="11" name="Prototype + other drugs named body"/>
          <p:cNvSpPr txBox="1"/>
          <p:nvPr/>
        </p:nvSpPr>
        <p:spPr>
          <a:xfrm>
            <a:off x="777240" y="2075688"/>
            <a:ext cx="106372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Baclofen — GABA-B agonist (spinal cord).</a:t>
            </a:r>
            <a:r>
              <a:rPr lang="en-US" sz="1300" dirty="0">
                <a:solidFill>
                  <a:srgbClr val="666666"/>
                </a:solidFill>
              </a:rPr>
              <a:t>  S21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Tizanidine — central α2-adrenergic agonist.</a:t>
            </a:r>
            <a:r>
              <a:rPr lang="en-US" sz="1300" dirty="0">
                <a:solidFill>
                  <a:srgbClr val="666666"/>
                </a:solidFill>
              </a:rPr>
              <a:t>  S23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Cyclobenzaprine — tricyclic-like central relaxant (brainstem).</a:t>
            </a:r>
            <a:r>
              <a:rPr lang="en-US" sz="1300" dirty="0">
                <a:solidFill>
                  <a:srgbClr val="666666"/>
                </a:solidFill>
              </a:rPr>
              <a:t>  S25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Dantrolene — RyR1 blocker in the muscle fiber.</a:t>
            </a:r>
            <a:r>
              <a:rPr lang="en-US" sz="1300" dirty="0">
                <a:solidFill>
                  <a:srgbClr val="666666"/>
                </a:solidFill>
              </a:rPr>
              <a:t>  S28</a:t>
            </a:r>
            <a:endParaRPr lang="en-US" sz="1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SKELETAL MUSCLE RELAXANTS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 of action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4F8A"/>
                </a:solidFill>
              </a:rPr>
              <a:t>Objectives: SO2 · SO4 · IO2.1 · IO2.2 · IO2.3 · IO2.5 · IO2.6</a:t>
            </a:r>
            <a:endParaRPr lang="en-US" sz="8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L04 · Musculoskeletal Pharmacology — Session 2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39</a:t>
            </a:r>
            <a:endParaRPr lang="en-US" sz="1000" dirty="0"/>
          </a:p>
        </p:txBody>
      </p:sp>
      <p:sp>
        <p:nvSpPr>
          <p:cNvPr id="7" name="Mechanism of action (1/2) card"/>
          <p:cNvSpPr/>
          <p:nvPr/>
        </p:nvSpPr>
        <p:spPr>
          <a:xfrm>
            <a:off x="548640" y="1325880"/>
            <a:ext cx="11094415" cy="4279392"/>
          </a:xfrm>
          <a:prstGeom prst="roundRect">
            <a:avLst>
              <a:gd name="adj" fmla="val 2564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Mechanism of action (1/2)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pic>
        <p:nvPicPr>
          <p:cNvPr id="9" name="Mechanism of action (1/2)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Mechanism of action (1/2)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030A0"/>
                </a:solidFill>
              </a:rPr>
              <a:t>Mechanism of action (1/2)</a:t>
            </a:r>
            <a:endParaRPr lang="en-US" sz="1800" dirty="0"/>
          </a:p>
        </p:txBody>
      </p:sp>
      <p:sp>
        <p:nvSpPr>
          <p:cNvPr id="11" name="Mechanism of action (1/2) body"/>
          <p:cNvSpPr txBox="1"/>
          <p:nvPr/>
        </p:nvSpPr>
        <p:spPr>
          <a:xfrm>
            <a:off x="777240" y="2075688"/>
            <a:ext cx="10637215" cy="3410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Central agents</a:t>
            </a:r>
            <a:r>
              <a:rPr lang="en-US" sz="1800" dirty="0">
                <a:solidFill>
                  <a:srgbClr val="1F1F1F"/>
                </a:solidFill>
              </a:rPr>
              <a:t> reduce CNS excitatory output to motor neurons → ↓ muscle tone. Baclofen and tizanidine act on spinal interneurons and afferents; cyclobenzaprine acts in the brainstem.</a:t>
            </a:r>
            <a:r>
              <a:rPr lang="en-US" sz="1300" dirty="0">
                <a:solidFill>
                  <a:srgbClr val="666666"/>
                </a:solidFill>
              </a:rPr>
              <a:t>  S18; S20; SG U2-R11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Baclofen — mechanism: GABA-B receptor agonist in the spinal cord.</a:t>
            </a:r>
            <a:r>
              <a:rPr lang="en-US" sz="1800" dirty="0">
                <a:solidFill>
                  <a:srgbClr val="1F1F1F"/>
                </a:solidFill>
              </a:rPr>
              <a:t> Binding GABA-B → opens K⁺ channels, closes Ca²⁺ channels (presynaptic inhibition) → less excitatory transmitter release → lower motor neuron firing → reduced spasticity.</a:t>
            </a:r>
            <a:r>
              <a:rPr lang="en-US" sz="1300" dirty="0">
                <a:solidFill>
                  <a:srgbClr val="666666"/>
                </a:solidFill>
              </a:rPr>
              <a:t>  S21; S22; SG U2-M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Tizanidine — mechanism: central α2-adrenergic agonist.</a:t>
            </a:r>
            <a:r>
              <a:rPr lang="en-US" sz="1800" dirty="0">
                <a:solidFill>
                  <a:srgbClr val="1F1F1F"/>
                </a:solidFill>
              </a:rPr>
              <a:t> Activating alpha-2 receptors → reduced presynaptic release of excitatory amino acids → lower motor neuron activity → reduced muscle tone.</a:t>
            </a:r>
            <a:r>
              <a:rPr lang="en-US" sz="1300" dirty="0">
                <a:solidFill>
                  <a:srgbClr val="666666"/>
                </a:solidFill>
              </a:rPr>
              <a:t>  S23; S24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Cyclobenzaprine:</a:t>
            </a:r>
            <a:r>
              <a:rPr lang="en-US" sz="1800" dirty="0">
                <a:solidFill>
                  <a:srgbClr val="1F1F1F"/>
                </a:solidFill>
              </a:rPr>
              <a:t> acts in the brainstem; antagonizes </a:t>
            </a:r>
            <a:r>
              <a:rPr lang="en-US" sz="1800" b="1" dirty="0">
                <a:solidFill>
                  <a:srgbClr val="1F1F1F"/>
                </a:solidFill>
              </a:rPr>
              <a:t>5-HT2</a:t>
            </a:r>
            <a:r>
              <a:rPr lang="en-US" sz="1800" dirty="0">
                <a:solidFill>
                  <a:srgbClr val="1F1F1F"/>
                </a:solidFill>
              </a:rPr>
              <a:t> and descending serotonergic and noradrenergic pathways → reduced tonic somatic motor activity → muscle relaxation. Structurally related to tricyclic antidepressants.</a:t>
            </a:r>
            <a:r>
              <a:rPr lang="en-US" sz="1300" dirty="0">
                <a:solidFill>
                  <a:srgbClr val="666666"/>
                </a:solidFill>
              </a:rPr>
              <a:t>  S25; S26</a:t>
            </a:r>
            <a:endParaRPr lang="en-US" sz="18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SKELETAL MUSCLE RELAXANTS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 of action (cont.)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4F8A"/>
                </a:solidFill>
              </a:rPr>
              <a:t>Objectives: SO2 · SO4 · IO2.1 · IO2.2 · IO2.3 · IO2.5 · IO2.6</a:t>
            </a:r>
            <a:endParaRPr lang="en-US" sz="8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L04 · Musculoskeletal Pharmacology — Session 2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40</a:t>
            </a:r>
            <a:endParaRPr lang="en-US" sz="1000" dirty="0"/>
          </a:p>
        </p:txBody>
      </p:sp>
      <p:sp>
        <p:nvSpPr>
          <p:cNvPr id="7" name="Mechanism of action (2/2) card"/>
          <p:cNvSpPr/>
          <p:nvPr/>
        </p:nvSpPr>
        <p:spPr>
          <a:xfrm>
            <a:off x="548640" y="1325880"/>
            <a:ext cx="11094415" cy="4389120"/>
          </a:xfrm>
          <a:prstGeom prst="roundRect">
            <a:avLst>
              <a:gd name="adj" fmla="val 250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Mechanism of action (2/2)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pic>
        <p:nvPicPr>
          <p:cNvPr id="9" name="Mechanism of action (2/2)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Mechanism of action (2/2)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030A0"/>
                </a:solidFill>
              </a:rPr>
              <a:t>Mechanism of action (2/2)</a:t>
            </a:r>
            <a:endParaRPr lang="en-US" sz="1800" dirty="0"/>
          </a:p>
        </p:txBody>
      </p:sp>
      <p:sp>
        <p:nvSpPr>
          <p:cNvPr id="11" name="Mechanism of action (2/2) body"/>
          <p:cNvSpPr txBox="1"/>
          <p:nvPr/>
        </p:nvSpPr>
        <p:spPr>
          <a:xfrm>
            <a:off x="777240" y="2075688"/>
            <a:ext cx="10637215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Dantrolene — mechanism: decreases calcium release from the skeletal muscle sarcoplasmic reticulum.</a:t>
            </a:r>
            <a:r>
              <a:rPr lang="en-US" sz="1800" dirty="0">
                <a:solidFill>
                  <a:srgbClr val="1F1F1F"/>
                </a:solidFill>
              </a:rPr>
              <a:t> Nerve impulse → DHPR activated → </a:t>
            </a:r>
            <a:r>
              <a:rPr lang="en-US" sz="1800" b="1" dirty="0">
                <a:solidFill>
                  <a:srgbClr val="1F1F1F"/>
                </a:solidFill>
              </a:rPr>
              <a:t>RyR1</a:t>
            </a:r>
            <a:r>
              <a:rPr lang="en-US" sz="1800" dirty="0">
                <a:solidFill>
                  <a:srgbClr val="1F1F1F"/>
                </a:solidFill>
              </a:rPr>
              <a:t> opens → Ca²⁺ released → contraction; dantrolene blocks RyR1 → less Ca²⁺ → relaxation.</a:t>
            </a:r>
            <a:r>
              <a:rPr lang="en-US" sz="1300" dirty="0">
                <a:solidFill>
                  <a:srgbClr val="666666"/>
                </a:solidFill>
              </a:rPr>
              <a:t>  S28; S29; S18; SG U2-R11; SG U2-M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Dantrolene acts inside the fiber on RyR1 — directly on the muscle fiber, not the CNS — distinct from every centrally acting agent.</a:t>
            </a:r>
            <a:r>
              <a:rPr lang="en-US" sz="1300" dirty="0">
                <a:solidFill>
                  <a:srgbClr val="666666"/>
                </a:solidFill>
              </a:rPr>
              <a:t>  S28; S18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Botulinum toxin — blocks presynaptic acetylcholine release at the neuromuscular junction</a:t>
            </a:r>
            <a:r>
              <a:rPr lang="en-US" sz="1800" dirty="0">
                <a:solidFill>
                  <a:srgbClr val="1F1F1F"/>
                </a:solidFill>
              </a:rPr>
              <a:t> (ACh release at the junction) — a third mechanism, distinct from both CNS-acting drugs and dantrolene’s sarcoplasmic-reticulum action.</a:t>
            </a:r>
            <a:r>
              <a:rPr lang="en-US" sz="1300" dirty="0">
                <a:solidFill>
                  <a:srgbClr val="666666"/>
                </a:solidFill>
              </a:rPr>
              <a:t>  S27; S27 (notes); S18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Diazepam (GABA-A) reduces spasticity partly in the spinal cord, but sedates at the doses needed.</a:t>
            </a:r>
            <a:r>
              <a:rPr lang="en-US" sz="1300" dirty="0">
                <a:solidFill>
                  <a:srgbClr val="666666"/>
                </a:solidFill>
              </a:rPr>
              <a:t>  p. 511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Dantrolene binds RyR1; cardiac and smooth muscle use RyR2, so they are minimally depressed.</a:t>
            </a:r>
            <a:r>
              <a:rPr lang="en-US" sz="1300" dirty="0">
                <a:solidFill>
                  <a:srgbClr val="666666"/>
                </a:solidFill>
              </a:rPr>
              <a:t>  p. 513</a:t>
            </a:r>
            <a:endParaRPr lang="en-US" sz="18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SKELETAL MUSCLE RELAXANTS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Indications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4F8A"/>
                </a:solidFill>
              </a:rPr>
              <a:t>Objectives: SO2 · SO4 · IO2.1 · IO2.2 · IO2.3 · IO2.5 · IO2.6</a:t>
            </a:r>
            <a:endParaRPr lang="en-US" sz="8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L04 · Musculoskeletal Pharmacology — Session 2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41</a:t>
            </a:r>
            <a:endParaRPr lang="en-US" sz="1000" dirty="0"/>
          </a:p>
        </p:txBody>
      </p:sp>
      <p:sp>
        <p:nvSpPr>
          <p:cNvPr id="7" name="Indications (1/2) card"/>
          <p:cNvSpPr/>
          <p:nvPr/>
        </p:nvSpPr>
        <p:spPr>
          <a:xfrm>
            <a:off x="548640" y="1325880"/>
            <a:ext cx="11094415" cy="4000500"/>
          </a:xfrm>
          <a:prstGeom prst="roundRect">
            <a:avLst>
              <a:gd name="adj" fmla="val 274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Indications (1/2)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548235"/>
          </a:solidFill>
          <a:ln w="12700">
            <a:solidFill>
              <a:srgbClr val="548235"/>
            </a:solidFill>
            <a:prstDash val="solid"/>
          </a:ln>
        </p:spPr>
      </p:sp>
      <p:pic>
        <p:nvPicPr>
          <p:cNvPr id="9" name="Indications (1/2)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Indications (1/2)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48235"/>
                </a:solidFill>
              </a:rPr>
              <a:t>Indications (1/2)</a:t>
            </a:r>
            <a:endParaRPr lang="en-US" sz="1800" dirty="0"/>
          </a:p>
        </p:txBody>
      </p:sp>
      <p:sp>
        <p:nvSpPr>
          <p:cNvPr id="11" name="Indications (1/2) body"/>
          <p:cNvSpPr txBox="1"/>
          <p:nvPr/>
        </p:nvSpPr>
        <p:spPr>
          <a:xfrm>
            <a:off x="777240" y="2075688"/>
            <a:ext cx="10637215" cy="3131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Baclofen:</a:t>
            </a:r>
            <a:r>
              <a:rPr lang="en-US" sz="1800" dirty="0">
                <a:solidFill>
                  <a:srgbClr val="1F1F1F"/>
                </a:solidFill>
              </a:rPr>
              <a:t> spasticity, particularly from spinal cord injury or multiple sclerosis; intrathecal option for severe spasticity.</a:t>
            </a:r>
            <a:r>
              <a:rPr lang="en-US" sz="1300" dirty="0">
                <a:solidFill>
                  <a:srgbClr val="666666"/>
                </a:solidFill>
              </a:rPr>
              <a:t>  S21; S22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Cyclobenzaprine — </a:t>
            </a:r>
            <a:r>
              <a:rPr lang="en-US" sz="1800" b="1" dirty="0">
                <a:solidFill>
                  <a:srgbClr val="1F1F1F"/>
                </a:solidFill>
              </a:rPr>
              <a:t>primary use: short-term treatment of acute, localized muscle spasm</a:t>
            </a:r>
            <a:r>
              <a:rPr lang="en-US" sz="1800" dirty="0">
                <a:solidFill>
                  <a:srgbClr val="1F1F1F"/>
                </a:solidFill>
              </a:rPr>
              <a:t>; short-term use only, 2–3 weeks.</a:t>
            </a:r>
            <a:r>
              <a:rPr lang="en-US" sz="1300" dirty="0">
                <a:solidFill>
                  <a:srgbClr val="666666"/>
                </a:solidFill>
              </a:rPr>
              <a:t>  S25; S26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Dantrolene — </a:t>
            </a:r>
            <a:r>
              <a:rPr lang="en-US" sz="1800" b="1" dirty="0">
                <a:solidFill>
                  <a:srgbClr val="1F1F1F"/>
                </a:solidFill>
              </a:rPr>
              <a:t>clinical use #1: malignant hyperthermia (a true emergency indication)</a:t>
            </a:r>
            <a:r>
              <a:rPr lang="en-US" sz="1800" dirty="0">
                <a:solidFill>
                  <a:srgbClr val="1F1F1F"/>
                </a:solidFill>
              </a:rPr>
              <a:t> (triggered by volatile anesthetics and succinylcholine) — a true emergency, perioperative indication where the drug is literally life-saving.</a:t>
            </a:r>
            <a:r>
              <a:rPr lang="en-US" sz="1300" dirty="0">
                <a:solidFill>
                  <a:srgbClr val="666666"/>
                </a:solidFill>
              </a:rPr>
              <a:t>  S28; S28 (notes); S29; SG U2-R11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Dantrolene #2:</a:t>
            </a:r>
            <a:r>
              <a:rPr lang="en-US" sz="1800" dirty="0">
                <a:solidFill>
                  <a:srgbClr val="1F1F1F"/>
                </a:solidFill>
              </a:rPr>
              <a:t> chronic spasticity, when central agents are not appropriate; also used for neuroleptic malignant syndrome. IV formulation for acute crisis.</a:t>
            </a:r>
            <a:r>
              <a:rPr lang="en-US" sz="1300" dirty="0">
                <a:solidFill>
                  <a:srgbClr val="666666"/>
                </a:solidFill>
              </a:rPr>
              <a:t>  S28; S29</a:t>
            </a:r>
            <a:endParaRPr lang="en-US" sz="18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SKELETAL MUSCLE RELAXANTS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Indications (cont.)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4F8A"/>
                </a:solidFill>
              </a:rPr>
              <a:t>Objectives: SO2 · SO4 · IO2.1 · IO2.2 · IO2.3 · IO2.5 · IO2.6</a:t>
            </a:r>
            <a:endParaRPr lang="en-US" sz="8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L04 · Musculoskeletal Pharmacology — Session 2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42</a:t>
            </a:r>
            <a:endParaRPr lang="en-US" sz="1000" dirty="0"/>
          </a:p>
        </p:txBody>
      </p:sp>
      <p:sp>
        <p:nvSpPr>
          <p:cNvPr id="7" name="Indications (2/2) card"/>
          <p:cNvSpPr/>
          <p:nvPr/>
        </p:nvSpPr>
        <p:spPr>
          <a:xfrm>
            <a:off x="548640" y="1325880"/>
            <a:ext cx="11094415" cy="2884932"/>
          </a:xfrm>
          <a:prstGeom prst="roundRect">
            <a:avLst>
              <a:gd name="adj" fmla="val 380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Indications (2/2)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548235"/>
          </a:solidFill>
          <a:ln w="12700">
            <a:solidFill>
              <a:srgbClr val="548235"/>
            </a:solidFill>
            <a:prstDash val="solid"/>
          </a:ln>
        </p:spPr>
      </p:sp>
      <p:pic>
        <p:nvPicPr>
          <p:cNvPr id="9" name="Indications (2/2)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Indications (2/2)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48235"/>
                </a:solidFill>
              </a:rPr>
              <a:t>Indications (2/2)</a:t>
            </a:r>
            <a:endParaRPr lang="en-US" sz="1800" dirty="0"/>
          </a:p>
        </p:txBody>
      </p:sp>
      <p:sp>
        <p:nvSpPr>
          <p:cNvPr id="11" name="Indications (2/2) body"/>
          <p:cNvSpPr txBox="1"/>
          <p:nvPr/>
        </p:nvSpPr>
        <p:spPr>
          <a:xfrm>
            <a:off x="777240" y="2075688"/>
            <a:ext cx="10637215" cy="2016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Botulinum toxin:</a:t>
            </a:r>
            <a:r>
              <a:rPr lang="en-US" sz="1800" dirty="0">
                <a:solidFill>
                  <a:srgbClr val="1F1F1F"/>
                </a:solidFill>
              </a:rPr>
              <a:t> focal spasticity or dystonia; effect is local and temporary, requiring repeat injections.</a:t>
            </a:r>
            <a:r>
              <a:rPr lang="en-US" sz="1300" dirty="0">
                <a:solidFill>
                  <a:srgbClr val="666666"/>
                </a:solidFill>
              </a:rPr>
              <a:t>  S27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Malignant hyperthermia: give IV dantrolene 1 mg/kg, repeated as needed, while controlling acidosis and temperature.</a:t>
            </a:r>
            <a:r>
              <a:rPr lang="en-US" sz="1300" dirty="0">
                <a:solidFill>
                  <a:srgbClr val="666666"/>
                </a:solidFill>
              </a:rPr>
              <a:t>  p. 513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Cyclobenzaprine is ineffective for spasm from cerebral palsy or spinal cord injury.</a:t>
            </a:r>
            <a:r>
              <a:rPr lang="en-US" sz="1300" dirty="0">
                <a:solidFill>
                  <a:srgbClr val="666666"/>
                </a:solidFill>
              </a:rPr>
              <a:t>  p. 513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Gabapentin has shown promise as a spasmolytic in multiple sclerosis.</a:t>
            </a:r>
            <a:r>
              <a:rPr lang="en-US" sz="1300" dirty="0">
                <a:solidFill>
                  <a:srgbClr val="666666"/>
                </a:solidFill>
              </a:rPr>
              <a:t>  p. 512</a:t>
            </a:r>
            <a:endParaRPr lang="en-US" sz="18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SKELETAL MUSCLE RELAXANTS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Adverse effects (boxed warnings first)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4F8A"/>
                </a:solidFill>
              </a:rPr>
              <a:t>Objectives: SO2 · SO4 · IO2.1 · IO2.2 · IO2.3 · IO2.5 · IO2.6</a:t>
            </a:r>
            <a:endParaRPr lang="en-US" sz="8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L04 · Musculoskeletal Pharmacology — Session 2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43</a:t>
            </a:r>
            <a:endParaRPr lang="en-US" sz="1000" dirty="0"/>
          </a:p>
        </p:txBody>
      </p:sp>
      <p:sp>
        <p:nvSpPr>
          <p:cNvPr id="7" name="Adverse effects (boxed warnings first) (1/2) card"/>
          <p:cNvSpPr/>
          <p:nvPr/>
        </p:nvSpPr>
        <p:spPr>
          <a:xfrm>
            <a:off x="548640" y="1325880"/>
            <a:ext cx="11094415" cy="4219956"/>
          </a:xfrm>
          <a:prstGeom prst="roundRect">
            <a:avLst>
              <a:gd name="adj" fmla="val 260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Adverse effects (boxed warnings first) (1/2)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pic>
        <p:nvPicPr>
          <p:cNvPr id="9" name="Adverse effects (boxed warnings first) (1/2)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Adverse effects (boxed warnings first) (1/2)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55A11"/>
                </a:solidFill>
              </a:rPr>
              <a:t>Adverse effects (boxed warnings first) (1/2)</a:t>
            </a:r>
            <a:endParaRPr lang="en-US" sz="1800" dirty="0"/>
          </a:p>
        </p:txBody>
      </p:sp>
      <p:sp>
        <p:nvSpPr>
          <p:cNvPr id="11" name="Adverse effects (boxed warnings first) (1/2) body"/>
          <p:cNvSpPr txBox="1"/>
          <p:nvPr/>
        </p:nvSpPr>
        <p:spPr>
          <a:xfrm>
            <a:off x="777240" y="2075688"/>
            <a:ext cx="10637215" cy="3351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Botulinum toxin: black box warning for distant spread of toxin, greatest in children treated for spasticity.</a:t>
            </a:r>
            <a:r>
              <a:rPr lang="en-US" sz="1300" dirty="0">
                <a:solidFill>
                  <a:srgbClr val="666666"/>
                </a:solidFill>
              </a:rPr>
              <a:t>  p. 513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Baclofen:</a:t>
            </a:r>
            <a:r>
              <a:rPr lang="en-US" sz="1800" dirty="0">
                <a:solidFill>
                  <a:srgbClr val="1F1F1F"/>
                </a:solidFill>
              </a:rPr>
              <a:t> CNS depression — sedation and weakness, additive risk with other CNS depressants.</a:t>
            </a:r>
            <a:r>
              <a:rPr lang="en-US" sz="1300" dirty="0">
                <a:solidFill>
                  <a:srgbClr val="666666"/>
                </a:solidFill>
              </a:rPr>
              <a:t>  S21; S22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Baclofen withdrawal:</a:t>
            </a:r>
            <a:r>
              <a:rPr lang="en-US" sz="1800" dirty="0">
                <a:solidFill>
                  <a:srgbClr val="1F1F1F"/>
                </a:solidFill>
              </a:rPr>
              <a:t> abrupt discontinuation (especially intrathecal) can cause a dangerous syndrome — </a:t>
            </a:r>
            <a:r>
              <a:rPr lang="en-US" sz="1800" b="1" dirty="0">
                <a:solidFill>
                  <a:srgbClr val="1F1F1F"/>
                </a:solidFill>
              </a:rPr>
              <a:t>seizures, hyperthermia, rebound spasticity</a:t>
            </a:r>
            <a:r>
              <a:rPr lang="en-US" sz="1800" dirty="0">
                <a:solidFill>
                  <a:srgbClr val="1F1F1F"/>
                </a:solidFill>
              </a:rPr>
              <a:t>.</a:t>
            </a:r>
            <a:r>
              <a:rPr lang="en-US" sz="1300" dirty="0">
                <a:solidFill>
                  <a:srgbClr val="666666"/>
                </a:solidFill>
              </a:rPr>
              <a:t>  S21; S22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Tizanidine:</a:t>
            </a:r>
            <a:r>
              <a:rPr lang="en-US" sz="1800" dirty="0">
                <a:solidFill>
                  <a:srgbClr val="1F1F1F"/>
                </a:solidFill>
              </a:rPr>
              <a:t> sedation, hypotension and bradycardia, dry mouth, </a:t>
            </a:r>
            <a:r>
              <a:rPr lang="en-US" sz="1800" b="1" dirty="0">
                <a:solidFill>
                  <a:srgbClr val="1F1F1F"/>
                </a:solidFill>
              </a:rPr>
              <a:t>hepatotoxicity</a:t>
            </a:r>
            <a:r>
              <a:rPr lang="en-US" sz="1800" dirty="0">
                <a:solidFill>
                  <a:srgbClr val="1F1F1F"/>
                </a:solidFill>
              </a:rPr>
              <a:t>.</a:t>
            </a:r>
            <a:r>
              <a:rPr lang="en-US" sz="1300" dirty="0">
                <a:solidFill>
                  <a:srgbClr val="666666"/>
                </a:solidFill>
              </a:rPr>
              <a:t>  S23; S24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Cyclobenzaprine:</a:t>
            </a:r>
            <a:r>
              <a:rPr lang="en-US" sz="1800" dirty="0">
                <a:solidFill>
                  <a:srgbClr val="1F1F1F"/>
                </a:solidFill>
              </a:rPr>
              <a:t> prominent sedation (commonly dosed at night); </a:t>
            </a:r>
            <a:r>
              <a:rPr lang="en-US" sz="1800" b="1" dirty="0">
                <a:solidFill>
                  <a:srgbClr val="1F1F1F"/>
                </a:solidFill>
              </a:rPr>
              <a:t>anticholinergic</a:t>
            </a:r>
            <a:r>
              <a:rPr lang="en-US" sz="1800" dirty="0">
                <a:solidFill>
                  <a:srgbClr val="1F1F1F"/>
                </a:solidFill>
              </a:rPr>
              <a:t> effects — dry mouth, blurred vision, urinary retention, confusion.</a:t>
            </a:r>
            <a:r>
              <a:rPr lang="en-US" sz="1300" dirty="0">
                <a:solidFill>
                  <a:srgbClr val="666666"/>
                </a:solidFill>
              </a:rPr>
              <a:t>  S25; S26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Dantrolene:</a:t>
            </a:r>
            <a:r>
              <a:rPr lang="en-US" sz="1800" dirty="0">
                <a:solidFill>
                  <a:srgbClr val="1F1F1F"/>
                </a:solidFill>
              </a:rPr>
              <a:t> hepatotoxicity; generalized weakness.</a:t>
            </a:r>
            <a:r>
              <a:rPr lang="en-US" sz="1300" dirty="0">
                <a:solidFill>
                  <a:srgbClr val="666666"/>
                </a:solidFill>
              </a:rPr>
              <a:t>  S29</a:t>
            </a:r>
            <a:endParaRPr lang="en-US" sz="14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SKELETAL MUSCLE RELAXANTS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Adverse effects (boxed warnings first) (cont.)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4F8A"/>
                </a:solidFill>
              </a:rPr>
              <a:t>Objectives: SO2 · SO4 · IO2.1 · IO2.2 · IO2.3 · IO2.5 · IO2.6</a:t>
            </a:r>
            <a:endParaRPr lang="en-US" sz="8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L04 · Musculoskeletal Pharmacology — Session 2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44</a:t>
            </a:r>
            <a:endParaRPr lang="en-US" sz="1000" dirty="0"/>
          </a:p>
        </p:txBody>
      </p:sp>
      <p:sp>
        <p:nvSpPr>
          <p:cNvPr id="7" name="Adverse effects (boxed warnings first) (2/2) card"/>
          <p:cNvSpPr/>
          <p:nvPr/>
        </p:nvSpPr>
        <p:spPr>
          <a:xfrm>
            <a:off x="548640" y="1325880"/>
            <a:ext cx="11094415" cy="3831336"/>
          </a:xfrm>
          <a:prstGeom prst="roundRect">
            <a:avLst>
              <a:gd name="adj" fmla="val 2864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Adverse effects (boxed warnings first) (2/2)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pic>
        <p:nvPicPr>
          <p:cNvPr id="9" name="Adverse effects (boxed warnings first) (2/2)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Adverse effects (boxed warnings first) (2/2)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55A11"/>
                </a:solidFill>
              </a:rPr>
              <a:t>Adverse effects (boxed warnings first) (2/2)</a:t>
            </a:r>
            <a:endParaRPr lang="en-US" sz="1800" dirty="0"/>
          </a:p>
        </p:txBody>
      </p:sp>
      <p:sp>
        <p:nvSpPr>
          <p:cNvPr id="11" name="Adverse effects (boxed warnings first) (2/2) body"/>
          <p:cNvSpPr txBox="1"/>
          <p:nvPr/>
        </p:nvSpPr>
        <p:spPr>
          <a:xfrm>
            <a:off x="777240" y="2075688"/>
            <a:ext cx="10637215" cy="296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Carisoprodol — metabolized to meprobamate; Schedule IV controlled substance with dependence/misuse potential.</a:t>
            </a:r>
            <a:r>
              <a:rPr lang="en-US" sz="1300" dirty="0">
                <a:solidFill>
                  <a:srgbClr val="666666"/>
                </a:solidFill>
              </a:rPr>
              <a:t>  S27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Chlorzoxazone:</a:t>
            </a:r>
            <a:r>
              <a:rPr lang="en-US" sz="1800" dirty="0">
                <a:solidFill>
                  <a:srgbClr val="1F1F1F"/>
                </a:solidFill>
              </a:rPr>
              <a:t> rare but notable hepatotoxicity risk. Methocarbamol is generally less sedating than cyclobenzaprine; metaxalone has a relatively favorable sedation profile.</a:t>
            </a:r>
            <a:r>
              <a:rPr lang="en-US" sz="1300" dirty="0">
                <a:solidFill>
                  <a:srgbClr val="666666"/>
                </a:solidFill>
              </a:rPr>
              <a:t>  S27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Tizanidine causes hypotension in 16–33%; abrupt withdrawal causes rebound hypertension and tachycardia.</a:t>
            </a:r>
            <a:r>
              <a:rPr lang="en-US" sz="1300" dirty="0">
                <a:solidFill>
                  <a:srgbClr val="666666"/>
                </a:solidFill>
              </a:rPr>
              <a:t>  p. 512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High-dose baclofen: somnolence, respiratory depression, coma; more seizures in epilepsy.</a:t>
            </a:r>
            <a:r>
              <a:rPr lang="en-US" sz="1300" dirty="0">
                <a:solidFill>
                  <a:srgbClr val="666666"/>
                </a:solidFill>
              </a:rPr>
              <a:t>  p. 512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Carisoprodol withdrawal after long use: anxiety, tremor, twitching, insomnia, hallucinations.</a:t>
            </a:r>
            <a:r>
              <a:rPr lang="en-US" sz="1300" dirty="0">
                <a:solidFill>
                  <a:srgbClr val="666666"/>
                </a:solidFill>
              </a:rPr>
              <a:t>  p. 511</a:t>
            </a:r>
            <a:endParaRPr lang="en-US" sz="18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SKELETAL MUSCLE RELAXANTS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Contraindications · Drug interactions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4F8A"/>
                </a:solidFill>
              </a:rPr>
              <a:t>Objectives: SO2 · SO4 · IO2.1 · IO2.2 · IO2.3 · IO2.5 · IO2.6</a:t>
            </a:r>
            <a:endParaRPr lang="en-US" sz="8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L04 · Musculoskeletal Pharmacology — Session 2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45</a:t>
            </a:r>
            <a:endParaRPr lang="en-US" sz="1000" dirty="0"/>
          </a:p>
        </p:txBody>
      </p:sp>
      <p:sp>
        <p:nvSpPr>
          <p:cNvPr id="7" name="Contraindications card"/>
          <p:cNvSpPr/>
          <p:nvPr/>
        </p:nvSpPr>
        <p:spPr>
          <a:xfrm>
            <a:off x="548640" y="1325880"/>
            <a:ext cx="5410048" cy="3611880"/>
          </a:xfrm>
          <a:prstGeom prst="roundRect">
            <a:avLst>
              <a:gd name="adj" fmla="val 3038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Contraindications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pic>
        <p:nvPicPr>
          <p:cNvPr id="9" name="Contraindications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Contraindications heading"/>
          <p:cNvSpPr txBox="1"/>
          <p:nvPr/>
        </p:nvSpPr>
        <p:spPr>
          <a:xfrm>
            <a:off x="1353312" y="1508760"/>
            <a:ext cx="4404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0000"/>
                </a:solidFill>
              </a:rPr>
              <a:t>Contraindications</a:t>
            </a:r>
            <a:endParaRPr lang="en-US" sz="1800" dirty="0"/>
          </a:p>
        </p:txBody>
      </p:sp>
      <p:sp>
        <p:nvSpPr>
          <p:cNvPr id="11" name="Contraindications body"/>
          <p:cNvSpPr txBox="1"/>
          <p:nvPr/>
        </p:nvSpPr>
        <p:spPr>
          <a:xfrm>
            <a:off x="777240" y="2075688"/>
            <a:ext cx="495284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Cyclobenzaprine: use caution in older adults (</a:t>
            </a:r>
            <a:r>
              <a:rPr lang="en-US" sz="1800" b="1" dirty="0">
                <a:solidFill>
                  <a:srgbClr val="1F1F1F"/>
                </a:solidFill>
              </a:rPr>
              <a:t>Beers list</a:t>
            </a:r>
            <a:r>
              <a:rPr lang="en-US" sz="1800" dirty="0">
                <a:solidFill>
                  <a:srgbClr val="1F1F1F"/>
                </a:solidFill>
              </a:rPr>
              <a:t>); MAOIs contraindicated.</a:t>
            </a:r>
            <a:r>
              <a:rPr lang="en-US" sz="1300" dirty="0">
                <a:solidFill>
                  <a:srgbClr val="666666"/>
                </a:solidFill>
              </a:rPr>
              <a:t>  S25; S26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Tizanidine with ciprofloxacin or fluvoxamine is contraindicated (CYP1A2).</a:t>
            </a:r>
            <a:r>
              <a:rPr lang="en-US" sz="1300" dirty="0">
                <a:solidFill>
                  <a:srgbClr val="666666"/>
                </a:solidFill>
              </a:rPr>
              <a:t>  S24</a:t>
            </a:r>
            <a:endParaRPr lang="en-US" sz="1800" dirty="0"/>
          </a:p>
        </p:txBody>
      </p:sp>
      <p:sp>
        <p:nvSpPr>
          <p:cNvPr id="12" name="Drug interactions card"/>
          <p:cNvSpPr/>
          <p:nvPr/>
        </p:nvSpPr>
        <p:spPr>
          <a:xfrm>
            <a:off x="6233008" y="1325880"/>
            <a:ext cx="5410048" cy="3611880"/>
          </a:xfrm>
          <a:prstGeom prst="roundRect">
            <a:avLst>
              <a:gd name="adj" fmla="val 3038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3" name="Drug interactions icon circle"/>
          <p:cNvSpPr/>
          <p:nvPr/>
        </p:nvSpPr>
        <p:spPr>
          <a:xfrm>
            <a:off x="6461608" y="1508760"/>
            <a:ext cx="438912" cy="438912"/>
          </a:xfrm>
          <a:prstGeom prst="ellipse">
            <a:avLst/>
          </a:prstGeom>
          <a:solidFill>
            <a:srgbClr val="7F6000"/>
          </a:solidFill>
          <a:ln w="12700">
            <a:solidFill>
              <a:srgbClr val="7F6000"/>
            </a:solidFill>
            <a:prstDash val="solid"/>
          </a:ln>
        </p:spPr>
      </p:sp>
      <p:pic>
        <p:nvPicPr>
          <p:cNvPr id="14" name="Drug interactions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2192" y="1609344"/>
            <a:ext cx="237744" cy="237744"/>
          </a:xfrm>
          <a:prstGeom prst="rect">
            <a:avLst/>
          </a:prstGeom>
        </p:spPr>
      </p:pic>
      <p:sp>
        <p:nvSpPr>
          <p:cNvPr id="15" name="Drug interactions heading"/>
          <p:cNvSpPr txBox="1"/>
          <p:nvPr/>
        </p:nvSpPr>
        <p:spPr>
          <a:xfrm>
            <a:off x="7037680" y="1508760"/>
            <a:ext cx="4404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F6000"/>
                </a:solidFill>
              </a:rPr>
              <a:t>Drug interactions</a:t>
            </a:r>
            <a:endParaRPr lang="en-US" sz="1800" dirty="0"/>
          </a:p>
        </p:txBody>
      </p:sp>
      <p:sp>
        <p:nvSpPr>
          <p:cNvPr id="16" name="Drug interactions body"/>
          <p:cNvSpPr txBox="1"/>
          <p:nvPr/>
        </p:nvSpPr>
        <p:spPr>
          <a:xfrm>
            <a:off x="6461608" y="2075688"/>
            <a:ext cx="495284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Tizanidine + CYP1A2 inhibitors</a:t>
            </a:r>
            <a:r>
              <a:rPr lang="en-US" sz="1800" dirty="0">
                <a:solidFill>
                  <a:srgbClr val="1F1F1F"/>
                </a:solidFill>
              </a:rPr>
              <a:t> (ciprofloxacin, fluvoxamine) → strongly raised levels; additive effect with antihypertensives.</a:t>
            </a:r>
            <a:r>
              <a:rPr lang="en-US" sz="1300" dirty="0">
                <a:solidFill>
                  <a:srgbClr val="666666"/>
                </a:solidFill>
              </a:rPr>
              <a:t>  S24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Cyclobenzaprine:</a:t>
            </a:r>
            <a:r>
              <a:rPr lang="en-US" sz="1800" dirty="0">
                <a:solidFill>
                  <a:srgbClr val="1F1F1F"/>
                </a:solidFill>
              </a:rPr>
              <a:t> serotonin syndrome risk with SSRIs, SNRIs, tramadol; MAOIs contraindicated.</a:t>
            </a:r>
            <a:r>
              <a:rPr lang="en-US" sz="1300" dirty="0">
                <a:solidFill>
                  <a:srgbClr val="666666"/>
                </a:solidFill>
              </a:rPr>
              <a:t>  S26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Baclofen:</a:t>
            </a:r>
            <a:r>
              <a:rPr lang="en-US" sz="1800" dirty="0">
                <a:solidFill>
                  <a:srgbClr val="1F1F1F"/>
                </a:solidFill>
              </a:rPr>
              <a:t> additive sedation with other CNS depressants.</a:t>
            </a:r>
            <a:r>
              <a:rPr lang="en-US" sz="1300" dirty="0">
                <a:solidFill>
                  <a:srgbClr val="666666"/>
                </a:solidFill>
              </a:rPr>
              <a:t>  S21</a:t>
            </a:r>
            <a:endParaRPr lang="en-US" sz="18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SKELETAL MUSCLE RELAXANTS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Pharmacokinetics · Monitoring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4F8A"/>
                </a:solidFill>
              </a:rPr>
              <a:t>Objectives: SO2 · SO4 · IO2.1 · IO2.2 · IO2.3 · IO2.5 · IO2.6</a:t>
            </a:r>
            <a:endParaRPr lang="en-US" sz="8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L04 · Musculoskeletal Pharmacology — Session 2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46</a:t>
            </a:r>
            <a:endParaRPr lang="en-US" sz="1000" dirty="0"/>
          </a:p>
        </p:txBody>
      </p:sp>
      <p:sp>
        <p:nvSpPr>
          <p:cNvPr id="7" name="Pharmacokinetics card"/>
          <p:cNvSpPr/>
          <p:nvPr/>
        </p:nvSpPr>
        <p:spPr>
          <a:xfrm>
            <a:off x="548640" y="1325880"/>
            <a:ext cx="5410048" cy="3054096"/>
          </a:xfrm>
          <a:prstGeom prst="roundRect">
            <a:avLst>
              <a:gd name="adj" fmla="val 359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Pharmacokinetics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pic>
        <p:nvPicPr>
          <p:cNvPr id="9" name="Pharmacokinetics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Pharmacokinetics heading"/>
          <p:cNvSpPr txBox="1"/>
          <p:nvPr/>
        </p:nvSpPr>
        <p:spPr>
          <a:xfrm>
            <a:off x="1353312" y="1508760"/>
            <a:ext cx="4404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5B6"/>
                </a:solidFill>
              </a:rPr>
              <a:t>Pharmacokinetics</a:t>
            </a:r>
            <a:endParaRPr lang="en-US" sz="1800" dirty="0"/>
          </a:p>
        </p:txBody>
      </p:sp>
      <p:sp>
        <p:nvSpPr>
          <p:cNvPr id="11" name="Pharmacokinetics body"/>
          <p:cNvSpPr txBox="1"/>
          <p:nvPr/>
        </p:nvSpPr>
        <p:spPr>
          <a:xfrm>
            <a:off x="777240" y="2075688"/>
            <a:ext cx="4952848" cy="218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Baclofen: renal dose adjustment.</a:t>
            </a:r>
            <a:r>
              <a:rPr lang="en-US" sz="1300" dirty="0">
                <a:solidFill>
                  <a:srgbClr val="666666"/>
                </a:solidFill>
              </a:rPr>
              <a:t>  S22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Tizanidine: start 2 mg every 6–8 hours, max 36 mg/d; adjust for hepatic or renal impairment.</a:t>
            </a:r>
            <a:r>
              <a:rPr lang="en-US" sz="1300" dirty="0">
                <a:solidFill>
                  <a:srgbClr val="666666"/>
                </a:solidFill>
              </a:rPr>
              <a:t>  p. 512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Dantrolene: only about one-third of an oral dose is absorbed; half-life about 8 hours.</a:t>
            </a:r>
            <a:r>
              <a:rPr lang="en-US" sz="1300" dirty="0">
                <a:solidFill>
                  <a:srgbClr val="666666"/>
                </a:solidFill>
              </a:rPr>
              <a:t>  p. 513</a:t>
            </a:r>
            <a:endParaRPr lang="en-US" sz="1800" dirty="0"/>
          </a:p>
        </p:txBody>
      </p:sp>
      <p:sp>
        <p:nvSpPr>
          <p:cNvPr id="12" name="Monitoring card"/>
          <p:cNvSpPr/>
          <p:nvPr/>
        </p:nvSpPr>
        <p:spPr>
          <a:xfrm>
            <a:off x="6233008" y="1325880"/>
            <a:ext cx="5410048" cy="3054096"/>
          </a:xfrm>
          <a:prstGeom prst="roundRect">
            <a:avLst>
              <a:gd name="adj" fmla="val 359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3" name="Monitoring icon circle"/>
          <p:cNvSpPr/>
          <p:nvPr/>
        </p:nvSpPr>
        <p:spPr>
          <a:xfrm>
            <a:off x="6461608" y="1508760"/>
            <a:ext cx="438912" cy="438912"/>
          </a:xfrm>
          <a:prstGeom prst="ellipse">
            <a:avLst/>
          </a:prstGeom>
          <a:solidFill>
            <a:srgbClr val="1F7A7A"/>
          </a:solidFill>
          <a:ln w="12700">
            <a:solidFill>
              <a:srgbClr val="1F7A7A"/>
            </a:solidFill>
            <a:prstDash val="solid"/>
          </a:ln>
        </p:spPr>
      </p:sp>
      <p:pic>
        <p:nvPicPr>
          <p:cNvPr id="14" name="Monitoring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2192" y="1609344"/>
            <a:ext cx="237744" cy="237744"/>
          </a:xfrm>
          <a:prstGeom prst="rect">
            <a:avLst/>
          </a:prstGeom>
        </p:spPr>
      </p:pic>
      <p:sp>
        <p:nvSpPr>
          <p:cNvPr id="15" name="Monitoring heading"/>
          <p:cNvSpPr txBox="1"/>
          <p:nvPr/>
        </p:nvSpPr>
        <p:spPr>
          <a:xfrm>
            <a:off x="7037680" y="1508760"/>
            <a:ext cx="4404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7A7A"/>
                </a:solidFill>
              </a:rPr>
              <a:t>Monitoring</a:t>
            </a:r>
            <a:endParaRPr lang="en-US" sz="1800" dirty="0"/>
          </a:p>
        </p:txBody>
      </p:sp>
      <p:sp>
        <p:nvSpPr>
          <p:cNvPr id="16" name="Monitoring body"/>
          <p:cNvSpPr txBox="1"/>
          <p:nvPr/>
        </p:nvSpPr>
        <p:spPr>
          <a:xfrm>
            <a:off x="6461608" y="2075688"/>
            <a:ext cx="4952848" cy="218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Tizanidine requires liver function monitoring (LFTs) with regular use.</a:t>
            </a:r>
            <a:r>
              <a:rPr lang="en-US" sz="1300" dirty="0">
                <a:solidFill>
                  <a:srgbClr val="666666"/>
                </a:solidFill>
              </a:rPr>
              <a:t>  S23; S24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Never stop intrathecal baclofen abruptly.</a:t>
            </a:r>
            <a:r>
              <a:rPr lang="en-US" sz="1300" dirty="0">
                <a:solidFill>
                  <a:srgbClr val="666666"/>
                </a:solidFill>
              </a:rPr>
              <a:t>  S21; S22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Botulinum toxin injections: no more often than every 3 months.</a:t>
            </a:r>
            <a:r>
              <a:rPr lang="en-US" sz="1300" dirty="0">
                <a:solidFill>
                  <a:srgbClr val="666666"/>
                </a:solidFill>
              </a:rPr>
              <a:t>  p. 513</a:t>
            </a:r>
            <a:endParaRPr lang="en-US" sz="18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SKELETAL MUSCLE RELAXANTS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pearls / "why" hook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4F8A"/>
                </a:solidFill>
              </a:rPr>
              <a:t>Objectives: SO2 · SO4 · IO2.1 · IO2.2 · IO2.3 · IO2.5 · IO2.6</a:t>
            </a:r>
            <a:endParaRPr lang="en-US" sz="8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L04 · Musculoskeletal Pharmacology — Session 2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47</a:t>
            </a:r>
            <a:endParaRPr lang="en-US" sz="1000" dirty="0"/>
          </a:p>
        </p:txBody>
      </p:sp>
      <p:sp>
        <p:nvSpPr>
          <p:cNvPr id="7" name="Clinical pearls / &quot;why&quot; hook card"/>
          <p:cNvSpPr/>
          <p:nvPr/>
        </p:nvSpPr>
        <p:spPr>
          <a:xfrm>
            <a:off x="548640" y="1325880"/>
            <a:ext cx="11094415" cy="4668012"/>
          </a:xfrm>
          <a:prstGeom prst="roundRect">
            <a:avLst>
              <a:gd name="adj" fmla="val 235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Clinical pearls / &quot;why&quot; hook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pic>
        <p:nvPicPr>
          <p:cNvPr id="9" name="Clinical pearls / &quot;why&quot; hook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Clinical pearls / &amp;quot;why&amp;quot; hook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5B6"/>
                </a:solidFill>
              </a:rPr>
              <a:t>Clinical pearls / "why" hook</a:t>
            </a:r>
            <a:endParaRPr lang="en-US" sz="1800" dirty="0"/>
          </a:p>
        </p:txBody>
      </p:sp>
      <p:sp>
        <p:nvSpPr>
          <p:cNvPr id="11" name="Clinical pearls / &quot;why&quot; hook body"/>
          <p:cNvSpPr txBox="1"/>
          <p:nvPr/>
        </p:nvSpPr>
        <p:spPr>
          <a:xfrm>
            <a:off x="777240" y="2075688"/>
            <a:ext cx="10637215" cy="3799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Name clues: </a:t>
            </a:r>
            <a:r>
              <a:rPr lang="en-US" sz="1800" b="1" dirty="0">
                <a:solidFill>
                  <a:srgbClr val="1F1F1F"/>
                </a:solidFill>
              </a:rPr>
              <a:t>-curonium / -curium</a:t>
            </a:r>
            <a:r>
              <a:rPr lang="en-US" sz="1800" dirty="0">
                <a:solidFill>
                  <a:srgbClr val="1F1F1F"/>
                </a:solidFill>
              </a:rPr>
              <a:t> nondepolarizing neuromuscular blockers (vecuronium, atracurium, cisatracurium); </a:t>
            </a:r>
            <a:r>
              <a:rPr lang="en-US" sz="1800" b="1" dirty="0">
                <a:solidFill>
                  <a:srgbClr val="1F1F1F"/>
                </a:solidFill>
              </a:rPr>
              <a:t>succinylcholine</a:t>
            </a:r>
            <a:r>
              <a:rPr lang="en-US" sz="1800" dirty="0">
                <a:solidFill>
                  <a:srgbClr val="1F1F1F"/>
                </a:solidFill>
              </a:rPr>
              <a:t> depolarizing blocker; </a:t>
            </a:r>
            <a:r>
              <a:rPr lang="en-US" sz="1800" b="1" dirty="0">
                <a:solidFill>
                  <a:srgbClr val="1F1F1F"/>
                </a:solidFill>
              </a:rPr>
              <a:t>-azepam</a:t>
            </a:r>
            <a:r>
              <a:rPr lang="en-US" sz="1800" dirty="0">
                <a:solidFill>
                  <a:srgbClr val="1F1F1F"/>
                </a:solidFill>
              </a:rPr>
              <a:t> benzodiazepine (GABA-A, diazepam).</a:t>
            </a:r>
            <a:r>
              <a:rPr lang="en-US" sz="1300" dirty="0">
                <a:solidFill>
                  <a:srgbClr val="666666"/>
                </a:solidFill>
              </a:rPr>
              <a:t>  S30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Name clues: </a:t>
            </a:r>
            <a:r>
              <a:rPr lang="en-US" sz="1800" b="1" dirty="0">
                <a:solidFill>
                  <a:srgbClr val="1F1F1F"/>
                </a:solidFill>
              </a:rPr>
              <a:t>cyclo-</a:t>
            </a:r>
            <a:r>
              <a:rPr lang="en-US" sz="1800" dirty="0">
                <a:solidFill>
                  <a:srgbClr val="1F1F1F"/>
                </a:solidFill>
              </a:rPr>
              <a:t> tricyclic-like (cyclobenzaprine); </a:t>
            </a:r>
            <a:r>
              <a:rPr lang="en-US" sz="1800" b="1" dirty="0">
                <a:solidFill>
                  <a:srgbClr val="1F1F1F"/>
                </a:solidFill>
              </a:rPr>
              <a:t>-idine</a:t>
            </a:r>
            <a:r>
              <a:rPr lang="en-US" sz="1800" dirty="0">
                <a:solidFill>
                  <a:srgbClr val="1F1F1F"/>
                </a:solidFill>
              </a:rPr>
              <a:t> central alpha-2 agonist (tizanidine); baclofen has no shared stem (GABA analog); </a:t>
            </a:r>
            <a:r>
              <a:rPr lang="en-US" sz="1800" b="1" dirty="0">
                <a:solidFill>
                  <a:srgbClr val="1F1F1F"/>
                </a:solidFill>
              </a:rPr>
              <a:t>-trolene</a:t>
            </a:r>
            <a:r>
              <a:rPr lang="en-US" sz="1800" dirty="0">
                <a:solidFill>
                  <a:srgbClr val="1F1F1F"/>
                </a:solidFill>
              </a:rPr>
              <a:t> blocks RyR1 (dantrolene); </a:t>
            </a:r>
            <a:r>
              <a:rPr lang="en-US" sz="1800" b="1" dirty="0">
                <a:solidFill>
                  <a:srgbClr val="1F1F1F"/>
                </a:solidFill>
              </a:rPr>
              <a:t>-toxin</a:t>
            </a:r>
            <a:r>
              <a:rPr lang="en-US" sz="1800" dirty="0">
                <a:solidFill>
                  <a:srgbClr val="1F1F1F"/>
                </a:solidFill>
              </a:rPr>
              <a:t> blocks ACh release (botulinum toxin).</a:t>
            </a:r>
            <a:r>
              <a:rPr lang="en-US" sz="1300" dirty="0">
                <a:solidFill>
                  <a:srgbClr val="666666"/>
                </a:solidFill>
              </a:rPr>
              <a:t>  S30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Neuromuscular blockers (anesthesia, ICU) paralyze at the end plate and have no CNS activity; succinylcholine is the only depolarizing one.</a:t>
            </a:r>
            <a:r>
              <a:rPr lang="en-US" sz="1300" dirty="0">
                <a:solidFill>
                  <a:srgbClr val="666666"/>
                </a:solidFill>
              </a:rPr>
              <a:t>  p. 499; p. 503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Succinylcholine can cause fatal hyperkalemia after burns, denervation, or major trauma, and with volatile anesthetics can trigger malignant hyperthermia.</a:t>
            </a:r>
            <a:r>
              <a:rPr lang="en-US" sz="1300" dirty="0">
                <a:solidFill>
                  <a:srgbClr val="666666"/>
                </a:solidFill>
              </a:rPr>
              <a:t>  p. 508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Sugammadex reverses rocuronium/vecuronium; it binds progestins, so use backup contraception for 7 days.</a:t>
            </a:r>
            <a:r>
              <a:rPr lang="en-US" sz="1300" dirty="0">
                <a:solidFill>
                  <a:srgbClr val="666666"/>
                </a:solidFill>
              </a:rPr>
              <a:t>  p. 509; p. 510</a:t>
            </a:r>
            <a:endParaRPr lang="en-US" sz="18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SKELETAL MUSCLE RELAXANTS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5 · Skeletal muscle relaxants: central vs. peripheral site of action</a:t>
            </a:r>
            <a:endParaRPr lang="en-US" sz="21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4F8A"/>
                </a:solidFill>
              </a:rPr>
              <a:t>Objectives: SO2 · SO4 · IO2.1 · IO2.2 · IO2.3 · IO2.5 · IO2.6</a:t>
            </a:r>
            <a:endParaRPr lang="en-US" sz="8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L04 · Musculoskeletal Pharmacology — Session 2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48</a:t>
            </a:r>
            <a:endParaRPr lang="en-US" sz="1000" dirty="0"/>
          </a:p>
        </p:txBody>
      </p:sp>
      <p:pic>
        <p:nvPicPr>
          <p:cNvPr id="7" name="Figure S20_1.jpg" descr="/home/user/dpas-pharm/work/L04/figures/S20_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82840" y="1325880"/>
            <a:ext cx="7226015" cy="3671824"/>
          </a:xfrm>
          <a:prstGeom prst="rect">
            <a:avLst/>
          </a:prstGeom>
        </p:spPr>
      </p:pic>
      <p:sp>
        <p:nvSpPr>
          <p:cNvPr id="8" name="Figure caption"/>
          <p:cNvSpPr txBox="1"/>
          <p:nvPr/>
        </p:nvSpPr>
        <p:spPr>
          <a:xfrm>
            <a:off x="548640" y="5180584"/>
            <a:ext cx="11094415" cy="1083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</a:rPr>
              <a:t>Original illustrative diagram (not from Katzung): cyclobenzaprine (brainstem), tizanidine (α2), and baclofen (GABA-B, spinal cord) act within the central nervous system to reduce excitatory output to motor neurons, lowering muscle tone (spasm/spasticity); dantrolene acts directly on the skeletal muscle fiber itself, reducing Ca²⁺ release from the sarcoplasmic reticulum and muscle contraction.</a:t>
            </a:r>
            <a:r>
              <a:rPr lang="en-US" sz="1100" dirty="0">
                <a:solidFill>
                  <a:srgbClr val="666666"/>
                </a:solidFill>
              </a:rPr>
              <a:t>  S20; S20 (notes)</a:t>
            </a:r>
            <a:endParaRPr lang="en-US" sz="16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SKELETAL MUSCLE RELAXANTS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Compare: Spasm vs. spasticity vs. rigidity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4F8A"/>
                </a:solidFill>
              </a:rPr>
              <a:t>Objectives: SO2 · SO4 · IO2.1 · IO2.2 · IO2.3 · IO2.5 · IO2.6</a:t>
            </a:r>
            <a:endParaRPr lang="en-US" sz="8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L04 · Musculoskeletal Pharmacology — Session 2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49</a:t>
            </a:r>
            <a:endParaRPr lang="en-US" sz="1000" dirty="0"/>
          </a:p>
        </p:txBody>
      </p:sp>
      <p:graphicFrame>
        <p:nvGraphicFramePr>
          <p:cNvPr id="50" name="Comparis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358488"/>
                <a:gridCol w="435848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What it is</a:t>
                      </a: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Typical approach</a:t>
                      </a: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Muscle spasm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Sudden, involuntary contraction, often after acute injury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Centrally acting relaxant (e.g., cyclobenzaprine, short term)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Spasticity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Velocity-dependent ↑ tone from upper motor neuron injury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Baclofen, tizanidine; dantrolene if central agents unsuitable; botulinum toxin if focal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Rigidity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Constant ↑ tone, independent of velocity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Distinct pharmacologic approach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8" name="Table sources"/>
          <p:cNvSpPr txBox="1"/>
          <p:nvPr/>
        </p:nvSpPr>
        <p:spPr>
          <a:xfrm>
            <a:off x="548640" y="346252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Focus: what tells these apart.  Sources: S17; S19; S21; S27; S28</a:t>
            </a:r>
            <a:endParaRPr lang="en-US" sz="11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SKELETAL MUSCLE RELAXANTS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Compare: The muscle relaxants side by side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4F8A"/>
                </a:solidFill>
              </a:rPr>
              <a:t>Objectives: SO2 · SO4 · IO2.1 · IO2.2 · IO2.3 · IO2.5 · IO2.6</a:t>
            </a:r>
            <a:endParaRPr lang="en-US" sz="8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L04 · Musculoskeletal Pharmacology — Session 2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50</a:t>
            </a:r>
            <a:endParaRPr lang="en-US" sz="1000" dirty="0"/>
          </a:p>
        </p:txBody>
      </p:sp>
      <p:graphicFrame>
        <p:nvGraphicFramePr>
          <p:cNvPr id="51" name="Comparis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905658"/>
                <a:gridCol w="2905658"/>
                <a:gridCol w="290565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Drug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Site · mechanism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Use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Watch for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Baclofen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Spinal cord · GABA-B agonist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Spasticity (MS, spinal cord injury); intrathecal for severe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Sedation, weakness; renal dosing; </a:t>
                      </a:r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abrupt withdrawal: seizures, hyperthermia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Tizanidine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CNS · α2 agonist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Spasticity / tone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Hypotension, bradycardia, dry mouth, </a:t>
                      </a:r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LFTs</a:t>
                      </a: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; CYP1A2 (ciprofloxacin, fluvoxamine)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Cyclobenzaprine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Brainstem · 5-HT2 antagonism (TCA-like)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Acute local spasm, 2–3 weeks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Sedation, </a:t>
                      </a:r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anticholinergic</a:t>
                      </a: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 (Beers); serotonin syndrome; no MAOIs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Carisoprodol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CNS (→ meprobamate)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Other central option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Schedule IV: dependence, misuse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able sources"/>
          <p:cNvSpPr txBox="1"/>
          <p:nvPr/>
        </p:nvSpPr>
        <p:spPr>
          <a:xfrm>
            <a:off x="548640" y="42722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Focus: what tells these apart.  Sources: S19; S21–S29</a:t>
            </a:r>
            <a:endParaRPr lang="en-US" sz="11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SKELETAL MUSCLE RELAXANTS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Compare: The muscle relaxants side by side (cont.)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4F8A"/>
                </a:solidFill>
              </a:rPr>
              <a:t>Objectives: SO2 · SO4 · IO2.1 · IO2.2 · IO2.3 · IO2.5 · IO2.6</a:t>
            </a:r>
            <a:endParaRPr lang="en-US" sz="8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L04 · Musculoskeletal Pharmacology — Session 2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51</a:t>
            </a:r>
            <a:endParaRPr lang="en-US" sz="1000" dirty="0"/>
          </a:p>
        </p:txBody>
      </p:sp>
      <p:graphicFrame>
        <p:nvGraphicFramePr>
          <p:cNvPr id="52" name="Comparis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905658"/>
                <a:gridCol w="2905658"/>
                <a:gridCol w="290565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Drug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Site · mechanism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Use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Watch for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Methocarbamol · metaxalone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CNS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Other central options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Less sedating than cyclobenzaprine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Chlorzoxazone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CNS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Other central option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Rare hepatotoxicity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Dantrolene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Muscle fiber · blocks RyR1 Ca²⁺ release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Malignant hyperthermia</a:t>
                      </a: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; spasticity; NMS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Hepatotoxicity, weakness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Botulinum toxin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Neuromuscular junction · blocks ACh release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Focal spasticity, dystonia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Local and temporary; repeat injections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able sources"/>
          <p:cNvSpPr txBox="1"/>
          <p:nvPr/>
        </p:nvSpPr>
        <p:spPr>
          <a:xfrm>
            <a:off x="548640" y="38384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Focus: what tells these apart.  Sources: S19; S21–S29</a:t>
            </a:r>
            <a:endParaRPr lang="en-US" sz="11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SKELETAL MUSCLE RELAXANTS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Compare: Name clues: muscle relaxants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4F8A"/>
                </a:solidFill>
              </a:rPr>
              <a:t>Objectives: SO2 · SO4 · IO2.1 · IO2.2 · IO2.3 · IO2.5 · IO2.6</a:t>
            </a:r>
            <a:endParaRPr lang="en-US" sz="8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L04 · Musculoskeletal Pharmacology — Session 2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52</a:t>
            </a:r>
            <a:endParaRPr lang="en-US" sz="1000" dirty="0"/>
          </a:p>
        </p:txBody>
      </p:sp>
      <p:graphicFrame>
        <p:nvGraphicFramePr>
          <p:cNvPr id="53" name="Comparis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358488"/>
                <a:gridCol w="435848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Name clue</a:t>
                      </a: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Class</a:t>
                      </a: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Examples</a:t>
                      </a: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-curonium / -curium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Nondepolarizing neuromuscular blockers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Vecuronium, atracurium, cisatracurium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succinylcholine (-choline)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Depolarizing neuromuscular blocker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Succinylcholine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-azepam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Benzodiazepine (GABA-A)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Diazepam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cyclo- (tricyclic ring)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Tricyclic-like central relaxant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Cyclobenzaprine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-idine (imidazoline)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Central alpha-2 agonist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Tizanidine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No shared stem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GABA-B agonist (GABA analog)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Baclofen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-trolene (hydantoin derivative)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Blocks RyR1 in the muscle fiber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Dantrolene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-toxin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Blocks presynaptic ACh release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Botulinum toxin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able sources"/>
          <p:cNvSpPr txBox="1"/>
          <p:nvPr/>
        </p:nvSpPr>
        <p:spPr>
          <a:xfrm>
            <a:off x="548640" y="5094224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Focus: what tells these apart.  Sources: S30</a:t>
            </a:r>
            <a:endParaRPr lang="en-US" sz="11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SKELETAL MUSCLE RELAXANTS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Compare: Spasmolytics in the reading (textbook)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4F8A"/>
                </a:solidFill>
              </a:rPr>
              <a:t>Objectives: SO2 · SO4 · IO2.1 · IO2.2 · IO2.3 · IO2.5 · IO2.6</a:t>
            </a:r>
            <a:endParaRPr lang="en-US" sz="8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L04 · Musculoskeletal Pharmacology — Session 2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53</a:t>
            </a:r>
            <a:endParaRPr lang="en-US" sz="1000" dirty="0"/>
          </a:p>
        </p:txBody>
      </p:sp>
      <p:graphicFrame>
        <p:nvGraphicFramePr>
          <p:cNvPr id="54" name="Comparis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358488"/>
                <a:gridCol w="435848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Drug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Dose / PK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What sets it apart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Baclofen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15 mg twice daily → 100 mg daily; t½ 3–4 h; intrathecal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Less sedating than diazepam; withdraw very slowly; caution in pregnancy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Tizanidine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2 mg every 6–8 h, max 36 mg/d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1/10–1/15 of clonidine’s BP effect; hypotension 16–33%; CYP1A2; rebound hypertension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Diazepam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4 mg/d → max 60 mg/d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GABA-A; works for spasm of any origin but sedates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Cyclobenzaprine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20–40 mg/d in divided doses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Antimuscarinic; confusion, hallucinations; not for CP or cord injury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Carisoprodol, meprobamate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Schedule IV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Withdrawal syndrome after extensive use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Botulinum toxin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Injected; lasts weeks to months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Cleaves SNAP-25/synaptobrevin; dystonia, spastic disorders; black box: spread of toxin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Dantrolene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25 mg/d → 100 mg four times daily; MH 1 mg/kg IV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RyR1 only; weakness, sedation, hepatitis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Gabapentin, pregabalin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Not covered in materials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Other centrally acting spasmolytic drugs: promising in MS spasticity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able sources"/>
          <p:cNvSpPr txBox="1"/>
          <p:nvPr/>
        </p:nvSpPr>
        <p:spPr>
          <a:xfrm>
            <a:off x="548640" y="565200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Focus: what tells these apart.  Sources: p. 511; p. 512; p. 513</a:t>
            </a:r>
            <a:endParaRPr lang="en-US" sz="11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SKELETAL MUSCLE RELAXANTS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Compare: Neuromuscular blockers (anesthesia) — the reading’s essentials</a:t>
            </a:r>
            <a:endParaRPr lang="en-US" sz="2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4F8A"/>
                </a:solidFill>
              </a:rPr>
              <a:t>Objectives: SO2 · SO4 · IO2.1 · IO2.2 · IO2.3 · IO2.5 · IO2.6</a:t>
            </a:r>
            <a:endParaRPr lang="en-US" sz="8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L04 · Musculoskeletal Pharmacology — Session 2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54</a:t>
            </a:r>
            <a:endParaRPr lang="en-US" sz="1000" dirty="0"/>
          </a:p>
        </p:txBody>
      </p:sp>
      <p:graphicFrame>
        <p:nvGraphicFramePr>
          <p:cNvPr id="55" name="Comparis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358488"/>
                <a:gridCol w="435848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Nondepolarizing (rocuronium, vecuronium, cisatracurium)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Depolarizing (succinylcholine)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Normal neuromuscular function → mechanism of action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Compete with ACh at the nicotinic end-plate receptor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Agonist: depolarizes and holds the end plate (phase I), then desensitizes (phase II)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Skeletal muscle paralysis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Onset: rocuronium fastest (60–120 s)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Fasciculations, then paralysis &lt; 90 s; lasts &lt; 10 min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Neuromuscular response to cholinesterase inhibitors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Reversed (neostigmine); sugammadex for rocuronium/vecuronium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Phase I block augmented, not reversed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Cardiovascular effects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Vecuronium, cisatracurium, rocuronium: minimal; histamine release with atracurium/tubocurarine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Arrhythmias; bradycardia with a repeat dose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Neuromuscular blockade enhanced by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Volatile anesthetics (isoflurane most), aminoglycosides, myasthenia gravis, old age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Plasma cholinesterase variants (dibucaine number)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Key dangers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Residual block → hypoventilation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Hyperkalemia (burns, denervation); MH trigger; ↑ intraocular and intragastric pressure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able sources"/>
          <p:cNvSpPr txBox="1"/>
          <p:nvPr/>
        </p:nvSpPr>
        <p:spPr>
          <a:xfrm>
            <a:off x="548640" y="5395976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Focus: what tells these apart.  Sources: p. 500; p. 503; p. 504; p. 507; p. 508; p. 509</a:t>
            </a:r>
            <a:endParaRPr lang="en-US" sz="11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SKELETAL MUSCLE RELAXANTS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hooks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4F8A"/>
                </a:solidFill>
              </a:rPr>
              <a:t>Objectives: SO2 · SO4 · IO2.1 · IO2.2 · IO2.3 · IO2.5 · IO2.6</a:t>
            </a:r>
            <a:endParaRPr lang="en-US" sz="8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L04 · Musculoskeletal Pharmacology — Session 2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55</a:t>
            </a:r>
            <a:endParaRPr lang="en-US" sz="1000" dirty="0"/>
          </a:p>
        </p:txBody>
      </p:sp>
      <p:sp>
        <p:nvSpPr>
          <p:cNvPr id="7" name="Why it happens card"/>
          <p:cNvSpPr/>
          <p:nvPr/>
        </p:nvSpPr>
        <p:spPr>
          <a:xfrm>
            <a:off x="548640" y="1325880"/>
            <a:ext cx="5364328" cy="2555748"/>
          </a:xfrm>
          <a:prstGeom prst="roundRect">
            <a:avLst>
              <a:gd name="adj" fmla="val 429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Why it happens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pic>
        <p:nvPicPr>
          <p:cNvPr id="9" name="Why it happens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Why it happens heading"/>
          <p:cNvSpPr txBox="1"/>
          <p:nvPr/>
        </p:nvSpPr>
        <p:spPr>
          <a:xfrm>
            <a:off x="1353312" y="1508760"/>
            <a:ext cx="4358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472C4"/>
                </a:solidFill>
              </a:rPr>
              <a:t>Why it happens</a:t>
            </a:r>
            <a:endParaRPr lang="en-US" sz="1800" dirty="0"/>
          </a:p>
        </p:txBody>
      </p:sp>
      <p:sp>
        <p:nvSpPr>
          <p:cNvPr id="11" name="Why it happens body"/>
          <p:cNvSpPr txBox="1"/>
          <p:nvPr/>
        </p:nvSpPr>
        <p:spPr>
          <a:xfrm>
            <a:off x="777240" y="2075688"/>
            <a:ext cx="4907128" cy="1687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Why is dantrolene the malignant hyperthermia drug? MH is runaway calcium release through RyR1 in muscle; a CNS drug can’t reach that — dantrolene blocks RyR1 itself.</a:t>
            </a:r>
            <a:r>
              <a:rPr lang="en-US" sz="1300" dirty="0">
                <a:solidFill>
                  <a:srgbClr val="666666"/>
                </a:solidFill>
              </a:rPr>
              <a:t>  S28; S29; SG U2-R11</a:t>
            </a:r>
            <a:endParaRPr lang="en-US" sz="1800" dirty="0"/>
          </a:p>
        </p:txBody>
      </p:sp>
      <p:sp>
        <p:nvSpPr>
          <p:cNvPr id="12" name="Why it happens card"/>
          <p:cNvSpPr/>
          <p:nvPr/>
        </p:nvSpPr>
        <p:spPr>
          <a:xfrm>
            <a:off x="6278728" y="1325880"/>
            <a:ext cx="5364328" cy="2276856"/>
          </a:xfrm>
          <a:prstGeom prst="roundRect">
            <a:avLst>
              <a:gd name="adj" fmla="val 4819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3" name="Why it happens icon circle"/>
          <p:cNvSpPr/>
          <p:nvPr/>
        </p:nvSpPr>
        <p:spPr>
          <a:xfrm>
            <a:off x="6507328" y="1508760"/>
            <a:ext cx="438912" cy="438912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pic>
        <p:nvPicPr>
          <p:cNvPr id="14" name="Why it happens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7912" y="1609344"/>
            <a:ext cx="237744" cy="237744"/>
          </a:xfrm>
          <a:prstGeom prst="rect">
            <a:avLst/>
          </a:prstGeom>
        </p:spPr>
      </p:pic>
      <p:sp>
        <p:nvSpPr>
          <p:cNvPr id="15" name="Why it happens heading"/>
          <p:cNvSpPr txBox="1"/>
          <p:nvPr/>
        </p:nvSpPr>
        <p:spPr>
          <a:xfrm>
            <a:off x="7083400" y="1508760"/>
            <a:ext cx="4358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472C4"/>
                </a:solidFill>
              </a:rPr>
              <a:t>Why it happens</a:t>
            </a:r>
            <a:endParaRPr lang="en-US" sz="1800" dirty="0"/>
          </a:p>
        </p:txBody>
      </p:sp>
      <p:sp>
        <p:nvSpPr>
          <p:cNvPr id="16" name="Why it happens body"/>
          <p:cNvSpPr txBox="1"/>
          <p:nvPr/>
        </p:nvSpPr>
        <p:spPr>
          <a:xfrm>
            <a:off x="6507328" y="2075688"/>
            <a:ext cx="4907128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Why does stopping intrathecal baclofen go badly? The spinal cord loses its GABA-B brake all at once: seizures, hyperthermia, and rebound spasticity.</a:t>
            </a:r>
            <a:r>
              <a:rPr lang="en-US" sz="1300" dirty="0">
                <a:solidFill>
                  <a:srgbClr val="666666"/>
                </a:solidFill>
              </a:rPr>
              <a:t>  S21; S22</a:t>
            </a:r>
            <a:endParaRPr lang="en-US" sz="1800" dirty="0"/>
          </a:p>
        </p:txBody>
      </p:sp>
      <p:sp>
        <p:nvSpPr>
          <p:cNvPr id="17" name="Mnemonic (memory aid) card"/>
          <p:cNvSpPr/>
          <p:nvPr/>
        </p:nvSpPr>
        <p:spPr>
          <a:xfrm>
            <a:off x="6278728" y="3831336"/>
            <a:ext cx="5364328" cy="1997964"/>
          </a:xfrm>
          <a:prstGeom prst="roundRect">
            <a:avLst>
              <a:gd name="adj" fmla="val 5492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8" name="Mnemonic (memory aid) icon circle"/>
          <p:cNvSpPr/>
          <p:nvPr/>
        </p:nvSpPr>
        <p:spPr>
          <a:xfrm>
            <a:off x="6507328" y="4014216"/>
            <a:ext cx="438912" cy="438912"/>
          </a:xfrm>
          <a:prstGeom prst="ellipse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pic>
        <p:nvPicPr>
          <p:cNvPr id="19" name="Mnemonic (memory aid)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7912" y="4114800"/>
            <a:ext cx="237744" cy="237744"/>
          </a:xfrm>
          <a:prstGeom prst="rect">
            <a:avLst/>
          </a:prstGeom>
        </p:spPr>
      </p:pic>
      <p:sp>
        <p:nvSpPr>
          <p:cNvPr id="20" name="Mnemonic (memory aid) heading"/>
          <p:cNvSpPr txBox="1"/>
          <p:nvPr/>
        </p:nvSpPr>
        <p:spPr>
          <a:xfrm>
            <a:off x="7083400" y="4014216"/>
            <a:ext cx="4358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030A0"/>
                </a:solidFill>
              </a:rPr>
              <a:t>Mnemonic (memory aid)</a:t>
            </a:r>
            <a:endParaRPr lang="en-US" sz="1800" dirty="0"/>
          </a:p>
        </p:txBody>
      </p:sp>
      <p:sp>
        <p:nvSpPr>
          <p:cNvPr id="21" name="Mnemonic (memory aid) body"/>
          <p:cNvSpPr txBox="1"/>
          <p:nvPr/>
        </p:nvSpPr>
        <p:spPr>
          <a:xfrm>
            <a:off x="6507328" y="4581144"/>
            <a:ext cx="4907128" cy="1129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Cyclobenzaprine looks like a tricyclic, acts like one:</a:t>
            </a:r>
            <a:r>
              <a:rPr lang="en-US" sz="1800" dirty="0">
                <a:solidFill>
                  <a:srgbClr val="1F1F1F"/>
                </a:solidFill>
              </a:rPr>
              <a:t> sleepy, dry, can’t pee, confused — and serotonin syndrome with SSRIs.</a:t>
            </a:r>
            <a:r>
              <a:rPr lang="en-US" sz="1300" dirty="0">
                <a:solidFill>
                  <a:srgbClr val="666666"/>
                </a:solidFill>
              </a:rPr>
              <a:t>  S25; S26</a:t>
            </a:r>
            <a:endParaRPr lang="en-US" sz="18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SKELETAL MUSCLE RELAXANTS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High-yield summary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4F8A"/>
                </a:solidFill>
              </a:rPr>
              <a:t>Objectives: SO2 · SO4 · IO2.1 · IO2.2 · IO2.3 · IO2.5 · IO2.6</a:t>
            </a:r>
            <a:endParaRPr lang="en-US" sz="8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L04 · Musculoskeletal Pharmacology — Session 2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56</a:t>
            </a:r>
            <a:endParaRPr lang="en-US" sz="1000" dirty="0"/>
          </a:p>
        </p:txBody>
      </p:sp>
      <p:sp>
        <p:nvSpPr>
          <p:cNvPr id="7" name="If you remember nothing else card"/>
          <p:cNvSpPr/>
          <p:nvPr/>
        </p:nvSpPr>
        <p:spPr>
          <a:xfrm>
            <a:off x="548640" y="1325880"/>
            <a:ext cx="11094415" cy="3273552"/>
          </a:xfrm>
          <a:prstGeom prst="roundRect">
            <a:avLst>
              <a:gd name="adj" fmla="val 3352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If you remember nothing else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pic>
        <p:nvPicPr>
          <p:cNvPr id="9" name="If you remember nothing else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If you remember nothing else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55A11"/>
                </a:solidFill>
              </a:rPr>
              <a:t>If you remember nothing else</a:t>
            </a:r>
            <a:endParaRPr lang="en-US" sz="1800" dirty="0"/>
          </a:p>
        </p:txBody>
      </p:sp>
      <p:sp>
        <p:nvSpPr>
          <p:cNvPr id="11" name="If you remember nothing else body"/>
          <p:cNvSpPr txBox="1"/>
          <p:nvPr/>
        </p:nvSpPr>
        <p:spPr>
          <a:xfrm>
            <a:off x="777240" y="2075688"/>
            <a:ext cx="10637215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Central (cyclobenzaprine, tizanidine, baclofen) vs. peripheral (dantrolene — muscle; botulinum — junction).</a:t>
            </a:r>
            <a:r>
              <a:rPr lang="en-US" sz="1300" dirty="0">
                <a:solidFill>
                  <a:srgbClr val="666666"/>
                </a:solidFill>
              </a:rPr>
              <a:t>  S19; S20; SG U2-R11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Dantrolene blocks RyR1 SR Ca²⁺ release → malignant hyperthermia.</a:t>
            </a:r>
            <a:r>
              <a:rPr lang="en-US" sz="1300" dirty="0">
                <a:solidFill>
                  <a:srgbClr val="666666"/>
                </a:solidFill>
              </a:rPr>
              <a:t>  S28; S29; SG U2-R11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Baclofen: GABA-B; never stop intrathecal abruptly.</a:t>
            </a:r>
            <a:r>
              <a:rPr lang="en-US" sz="1300" dirty="0">
                <a:solidFill>
                  <a:srgbClr val="666666"/>
                </a:solidFill>
              </a:rPr>
              <a:t>  S21; S22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Tizanidine: α2; LFTs; no ciprofloxacin/fluvoxamine.</a:t>
            </a:r>
            <a:r>
              <a:rPr lang="en-US" sz="1300" dirty="0">
                <a:solidFill>
                  <a:srgbClr val="666666"/>
                </a:solidFill>
              </a:rPr>
              <a:t>  S23; S24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Cyclobenzaprine: anticholinergic, Beers list, 2–3 weeks.</a:t>
            </a:r>
            <a:r>
              <a:rPr lang="en-US" sz="1300" dirty="0">
                <a:solidFill>
                  <a:srgbClr val="666666"/>
                </a:solidFill>
              </a:rPr>
              <a:t>  S25; S26</a:t>
            </a:r>
            <a:endParaRPr lang="en-US" sz="18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CLINICAL VIGNETTE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8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4F8A"/>
                </a:solidFill>
              </a:rPr>
              <a:t>Objectives: SO2 · SO4 · IO2.1 · IO2.2 · IO2.3 · IO2.5 · IO2.6</a:t>
            </a:r>
            <a:endParaRPr lang="en-US" sz="8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L04 · Musculoskeletal Pharmacology — Session 2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57</a:t>
            </a:r>
            <a:endParaRPr lang="en-US" sz="1000" dirty="0"/>
          </a:p>
        </p:txBody>
      </p:sp>
      <p:sp>
        <p:nvSpPr>
          <p:cNvPr id="7" name="Question stem card"/>
          <p:cNvSpPr/>
          <p:nvPr/>
        </p:nvSpPr>
        <p:spPr>
          <a:xfrm>
            <a:off x="548640" y="1325880"/>
            <a:ext cx="11094415" cy="923544"/>
          </a:xfrm>
          <a:prstGeom prst="roundRect">
            <a:avLst>
              <a:gd name="adj" fmla="val 990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Question stem"/>
          <p:cNvSpPr txBox="1"/>
          <p:nvPr/>
        </p:nvSpPr>
        <p:spPr>
          <a:xfrm>
            <a:off x="777240" y="1325880"/>
            <a:ext cx="10637215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During general anesthesia with a volatile agent and succinylcholine, a patient develops rising temperature, rigidity, and acidosis. Which drug is the emergency treatment, and where does it act?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245973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4597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A</a:t>
            </a:r>
            <a:endParaRPr lang="en-US" sz="1400" dirty="0"/>
          </a:p>
        </p:txBody>
      </p:sp>
      <p:sp>
        <p:nvSpPr>
          <p:cNvPr id="11" name="Option A"/>
          <p:cNvSpPr txBox="1"/>
          <p:nvPr/>
        </p:nvSpPr>
        <p:spPr>
          <a:xfrm>
            <a:off x="1188720" y="243230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Botulinum toxin, blocking acetylcholine release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300837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0083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B</a:t>
            </a:r>
            <a:endParaRPr lang="en-US" sz="1400" dirty="0"/>
          </a:p>
        </p:txBody>
      </p:sp>
      <p:sp>
        <p:nvSpPr>
          <p:cNvPr id="14" name="Option B"/>
          <p:cNvSpPr txBox="1"/>
          <p:nvPr/>
        </p:nvSpPr>
        <p:spPr>
          <a:xfrm>
            <a:off x="1188720" y="298094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Baclofen, activating GABA-B receptors in the cord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48640" y="355701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5570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C</a:t>
            </a:r>
            <a:endParaRPr lang="en-US" sz="1400" dirty="0"/>
          </a:p>
        </p:txBody>
      </p:sp>
      <p:sp>
        <p:nvSpPr>
          <p:cNvPr id="17" name="Option C"/>
          <p:cNvSpPr txBox="1"/>
          <p:nvPr/>
        </p:nvSpPr>
        <p:spPr>
          <a:xfrm>
            <a:off x="1188720" y="352958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Dantrolene, blocking RyR1 calcium release in muscle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48640" y="410565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41056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D</a:t>
            </a:r>
            <a:endParaRPr lang="en-US" sz="1400" dirty="0"/>
          </a:p>
        </p:txBody>
      </p:sp>
      <p:sp>
        <p:nvSpPr>
          <p:cNvPr id="20" name="Option D"/>
          <p:cNvSpPr txBox="1"/>
          <p:nvPr/>
        </p:nvSpPr>
        <p:spPr>
          <a:xfrm>
            <a:off x="1188720" y="407822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Tizanidine, activating central alpha-2 receptors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48640" y="465429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46542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E</a:t>
            </a:r>
            <a:endParaRPr lang="en-US" sz="1400" dirty="0"/>
          </a:p>
        </p:txBody>
      </p:sp>
      <p:sp>
        <p:nvSpPr>
          <p:cNvPr id="23" name="Option E"/>
          <p:cNvSpPr txBox="1"/>
          <p:nvPr/>
        </p:nvSpPr>
        <p:spPr>
          <a:xfrm>
            <a:off x="1188720" y="462686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Cyclobenzaprine, acting in the brainstem</a:t>
            </a:r>
            <a:endParaRPr lang="en-US" sz="18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CLINICAL VIGNETTE · ANSWER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8: C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4F8A"/>
                </a:solidFill>
              </a:rPr>
              <a:t>Objectives: SO2 · SO4 · IO2.1 · IO2.2 · IO2.3 · IO2.5 · IO2.6</a:t>
            </a:r>
            <a:endParaRPr lang="en-US" sz="8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L04 · Musculoskeletal Pharmacology — Session 2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58</a:t>
            </a:r>
            <a:endParaRPr lang="en-US" sz="1000" dirty="0"/>
          </a:p>
        </p:txBody>
      </p:sp>
      <p:sp>
        <p:nvSpPr>
          <p:cNvPr id="7" name="Correct answer"/>
          <p:cNvSpPr/>
          <p:nvPr/>
        </p:nvSpPr>
        <p:spPr>
          <a:xfrm>
            <a:off x="548640" y="1325880"/>
            <a:ext cx="11094415" cy="548640"/>
          </a:xfrm>
          <a:prstGeom prst="roundRect">
            <a:avLst>
              <a:gd name="adj" fmla="val 16667"/>
            </a:avLst>
          </a:prstGeom>
          <a:solidFill>
            <a:srgbClr val="E2F0D9"/>
          </a:solidFill>
          <a:ln w="19050">
            <a:solidFill>
              <a:srgbClr val="548235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35608"/>
            <a:ext cx="329184" cy="32918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234440" y="1325880"/>
            <a:ext cx="101800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C. </a:t>
            </a:r>
            <a:r>
              <a:rPr lang="en-US" sz="1600" b="1" dirty="0">
                <a:solidFill>
                  <a:srgbClr val="1F1F1F"/>
                </a:solidFill>
              </a:rPr>
              <a:t>Dantrolene, blocking RyR1 calcium release in muscle</a:t>
            </a:r>
            <a:endParaRPr lang="en-US" sz="1600" dirty="0"/>
          </a:p>
        </p:txBody>
      </p:sp>
      <p:sp>
        <p:nvSpPr>
          <p:cNvPr id="10" name="Why correct"/>
          <p:cNvSpPr txBox="1"/>
          <p:nvPr/>
        </p:nvSpPr>
        <p:spPr>
          <a:xfrm>
            <a:off x="777240" y="2011680"/>
            <a:ext cx="10637215" cy="724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</a:rPr>
              <a:t>Malignant hyperthermia is triggered by volatile anesthetics and succinylcholine; dantrolene blocks RyR1 so less calcium leaves the sarcoplasmic reticulum (S28; S29; SG U2-R11).</a:t>
            </a:r>
            <a:r>
              <a:rPr lang="en-US" sz="1100" dirty="0">
                <a:solidFill>
                  <a:srgbClr val="666666"/>
                </a:solidFill>
              </a:rPr>
              <a:t>  S28; S29; SG U2-R11</a:t>
            </a:r>
            <a:endParaRPr lang="en-US" sz="1600" dirty="0"/>
          </a:p>
        </p:txBody>
      </p:sp>
      <p:sp>
        <p:nvSpPr>
          <p:cNvPr id="11" name="Why others wrong card"/>
          <p:cNvSpPr/>
          <p:nvPr/>
        </p:nvSpPr>
        <p:spPr>
          <a:xfrm>
            <a:off x="548640" y="2873248"/>
            <a:ext cx="11094415" cy="1704848"/>
          </a:xfrm>
          <a:prstGeom prst="roundRect">
            <a:avLst>
              <a:gd name="adj" fmla="val 5364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2" name="Why others wrong"/>
          <p:cNvSpPr txBox="1"/>
          <p:nvPr/>
        </p:nvSpPr>
        <p:spPr>
          <a:xfrm>
            <a:off x="777240" y="2982976"/>
            <a:ext cx="10637215" cy="1521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C00000"/>
                </a:solidFill>
              </a:rPr>
              <a:t>Why the other choices are wrong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A. Botulinum toxin, blocking acetylcholine release — </a:t>
            </a:r>
            <a:r>
              <a:rPr lang="en-US" sz="1600" dirty="0">
                <a:solidFill>
                  <a:srgbClr val="1F1F1F"/>
                </a:solidFill>
              </a:rPr>
              <a:t>Local, temporary; not an emergency drug (S27).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B. Baclofen, activating GABA-B receptors in the cord — </a:t>
            </a:r>
            <a:r>
              <a:rPr lang="en-US" sz="1600" dirty="0">
                <a:solidFill>
                  <a:srgbClr val="1F1F1F"/>
                </a:solidFill>
              </a:rPr>
              <a:t>Baclofen is a central spasticity drug, not the MH treatment (S21).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D. Tizanidine, activating central alpha-2 receptors — </a:t>
            </a:r>
            <a:r>
              <a:rPr lang="en-US" sz="1600" dirty="0">
                <a:solidFill>
                  <a:srgbClr val="1F1F1F"/>
                </a:solidFill>
              </a:rPr>
              <a:t>Central agent; not the MH emergency drug (S23).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E. Cyclobenzaprine, acting in the brainstem — </a:t>
            </a:r>
            <a:r>
              <a:rPr lang="en-US" sz="1600" dirty="0">
                <a:solidFill>
                  <a:srgbClr val="1F1F1F"/>
                </a:solidFill>
              </a:rPr>
              <a:t>Central agents don’t reach the muscle defect (S20).</a:t>
            </a:r>
            <a:endParaRPr lang="en-US" sz="16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2F4F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6E0F5"/>
                </a:solidFill>
              </a:rPr>
              <a:t>Drug class 3 of 4</a:t>
            </a:r>
            <a:endParaRPr lang="en-US" sz="16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187452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Bone Pharmacology &amp; Osteoporosis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108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6E0F5"/>
                </a:solidFill>
              </a:rPr>
              <a:t>Covers objectives: SO3 · SO4 · IO2.1 · IO2.2 · IO2.3 · IO2.4 · IO2.5 · IO2.6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83321" y="4297680"/>
            <a:ext cx="640080" cy="640080"/>
          </a:xfrm>
          <a:prstGeom prst="ellipse">
            <a:avLst/>
          </a:prstGeom>
          <a:solidFill>
            <a:srgbClr val="44546A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8769" y="4453128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94360" y="5029200"/>
            <a:ext cx="101800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Class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1892762" y="4297680"/>
            <a:ext cx="640080" cy="640080"/>
          </a:xfrm>
          <a:prstGeom prst="ellipse">
            <a:avLst/>
          </a:prstGeom>
          <a:solidFill>
            <a:srgbClr val="4472C4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8210" y="4453128"/>
            <a:ext cx="329184" cy="32918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703802" y="5029200"/>
            <a:ext cx="101800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Prototype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3002204" y="4297680"/>
            <a:ext cx="640080" cy="640080"/>
          </a:xfrm>
          <a:prstGeom prst="ellipse">
            <a:avLst/>
          </a:prstGeom>
          <a:solidFill>
            <a:srgbClr val="7030A0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7652" y="4453128"/>
            <a:ext cx="329184" cy="32918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2813243" y="5029200"/>
            <a:ext cx="101800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Mechanism of action</a:t>
            </a:r>
            <a:endParaRPr lang="en-US" sz="1000" dirty="0"/>
          </a:p>
        </p:txBody>
      </p:sp>
      <p:sp>
        <p:nvSpPr>
          <p:cNvPr id="14" name="Shape 9"/>
          <p:cNvSpPr/>
          <p:nvPr/>
        </p:nvSpPr>
        <p:spPr>
          <a:xfrm>
            <a:off x="4111645" y="4297680"/>
            <a:ext cx="640080" cy="640080"/>
          </a:xfrm>
          <a:prstGeom prst="ellipse">
            <a:avLst/>
          </a:prstGeom>
          <a:solidFill>
            <a:srgbClr val="548235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7093" y="4453128"/>
            <a:ext cx="329184" cy="32918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3922685" y="5029200"/>
            <a:ext cx="101800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Indications</a:t>
            </a:r>
            <a:endParaRPr lang="en-US" sz="1000" dirty="0"/>
          </a:p>
        </p:txBody>
      </p:sp>
      <p:sp>
        <p:nvSpPr>
          <p:cNvPr id="17" name="Shape 11"/>
          <p:cNvSpPr/>
          <p:nvPr/>
        </p:nvSpPr>
        <p:spPr>
          <a:xfrm>
            <a:off x="5221087" y="4297680"/>
            <a:ext cx="640080" cy="640080"/>
          </a:xfrm>
          <a:prstGeom prst="ellipse">
            <a:avLst/>
          </a:prstGeom>
          <a:solidFill>
            <a:srgbClr val="C55A11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6535" y="4453128"/>
            <a:ext cx="329184" cy="329184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5032126" y="5029200"/>
            <a:ext cx="101800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Adverse effects</a:t>
            </a:r>
            <a:endParaRPr lang="en-US" sz="1000" dirty="0"/>
          </a:p>
        </p:txBody>
      </p:sp>
      <p:sp>
        <p:nvSpPr>
          <p:cNvPr id="20" name="Shape 13"/>
          <p:cNvSpPr/>
          <p:nvPr/>
        </p:nvSpPr>
        <p:spPr>
          <a:xfrm>
            <a:off x="6330528" y="4297680"/>
            <a:ext cx="640080" cy="640080"/>
          </a:xfrm>
          <a:prstGeom prst="ellipse">
            <a:avLst/>
          </a:prstGeom>
          <a:solidFill>
            <a:srgbClr val="C00000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5976" y="4453128"/>
            <a:ext cx="329184" cy="329184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6141568" y="5029200"/>
            <a:ext cx="101800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Contraindications</a:t>
            </a:r>
            <a:endParaRPr lang="en-US" sz="1000" dirty="0"/>
          </a:p>
        </p:txBody>
      </p:sp>
      <p:sp>
        <p:nvSpPr>
          <p:cNvPr id="23" name="Shape 15"/>
          <p:cNvSpPr/>
          <p:nvPr/>
        </p:nvSpPr>
        <p:spPr>
          <a:xfrm>
            <a:off x="7439970" y="4297680"/>
            <a:ext cx="640080" cy="640080"/>
          </a:xfrm>
          <a:prstGeom prst="ellipse">
            <a:avLst/>
          </a:prstGeom>
          <a:solidFill>
            <a:srgbClr val="7F6000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95418" y="4453128"/>
            <a:ext cx="329184" cy="329184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7251009" y="5029200"/>
            <a:ext cx="101800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Drug interactions</a:t>
            </a:r>
            <a:endParaRPr lang="en-US" sz="1000" dirty="0"/>
          </a:p>
        </p:txBody>
      </p:sp>
      <p:sp>
        <p:nvSpPr>
          <p:cNvPr id="26" name="Shape 17"/>
          <p:cNvSpPr/>
          <p:nvPr/>
        </p:nvSpPr>
        <p:spPr>
          <a:xfrm>
            <a:off x="8549411" y="4297680"/>
            <a:ext cx="640080" cy="640080"/>
          </a:xfrm>
          <a:prstGeom prst="ellipse">
            <a:avLst/>
          </a:prstGeom>
          <a:solidFill>
            <a:srgbClr val="2E75B6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04859" y="4453128"/>
            <a:ext cx="329184" cy="329184"/>
          </a:xfrm>
          <a:prstGeom prst="rect">
            <a:avLst/>
          </a:prstGeom>
        </p:spPr>
      </p:pic>
      <p:sp>
        <p:nvSpPr>
          <p:cNvPr id="28" name="Text 18"/>
          <p:cNvSpPr txBox="1"/>
          <p:nvPr/>
        </p:nvSpPr>
        <p:spPr>
          <a:xfrm>
            <a:off x="8360451" y="5029200"/>
            <a:ext cx="101800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Pharmacokinetics</a:t>
            </a:r>
            <a:endParaRPr lang="en-US" sz="1000" dirty="0"/>
          </a:p>
        </p:txBody>
      </p:sp>
      <p:sp>
        <p:nvSpPr>
          <p:cNvPr id="29" name="Shape 19"/>
          <p:cNvSpPr/>
          <p:nvPr/>
        </p:nvSpPr>
        <p:spPr>
          <a:xfrm>
            <a:off x="9658853" y="4297680"/>
            <a:ext cx="640080" cy="640080"/>
          </a:xfrm>
          <a:prstGeom prst="ellipse">
            <a:avLst/>
          </a:prstGeom>
          <a:solidFill>
            <a:srgbClr val="1F7A7A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14301" y="4453128"/>
            <a:ext cx="329184" cy="329184"/>
          </a:xfrm>
          <a:prstGeom prst="rect">
            <a:avLst/>
          </a:prstGeom>
        </p:spPr>
      </p:pic>
      <p:sp>
        <p:nvSpPr>
          <p:cNvPr id="31" name="Text 20"/>
          <p:cNvSpPr txBox="1"/>
          <p:nvPr/>
        </p:nvSpPr>
        <p:spPr>
          <a:xfrm>
            <a:off x="9469892" y="5029200"/>
            <a:ext cx="101800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Monitoring</a:t>
            </a:r>
            <a:endParaRPr lang="en-US" sz="1000" dirty="0"/>
          </a:p>
        </p:txBody>
      </p:sp>
      <p:sp>
        <p:nvSpPr>
          <p:cNvPr id="32" name="Shape 21"/>
          <p:cNvSpPr/>
          <p:nvPr/>
        </p:nvSpPr>
        <p:spPr>
          <a:xfrm>
            <a:off x="10768294" y="4297680"/>
            <a:ext cx="640080" cy="640080"/>
          </a:xfrm>
          <a:prstGeom prst="ellipse">
            <a:avLst/>
          </a:prstGeom>
          <a:solidFill>
            <a:srgbClr val="2E75B6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3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23742" y="4453128"/>
            <a:ext cx="329184" cy="329184"/>
          </a:xfrm>
          <a:prstGeom prst="rect">
            <a:avLst/>
          </a:prstGeom>
        </p:spPr>
      </p:pic>
      <p:sp>
        <p:nvSpPr>
          <p:cNvPr id="34" name="Text 22"/>
          <p:cNvSpPr txBox="1"/>
          <p:nvPr/>
        </p:nvSpPr>
        <p:spPr>
          <a:xfrm>
            <a:off x="10579334" y="5029200"/>
            <a:ext cx="101800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Clinical pearls</a:t>
            </a:r>
            <a:endParaRPr lang="en-US" sz="1000" dirty="0"/>
          </a:p>
        </p:txBody>
      </p:sp>
      <p:sp>
        <p:nvSpPr>
          <p:cNvPr id="35" name="Text 23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6E0F5"/>
                </a:solidFill>
              </a:rPr>
              <a:t>59</a:t>
            </a:r>
            <a:endParaRPr lang="en-US" sz="10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BONE PHARMACOLOGY &amp; OSTEOPOROSIS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4F8A"/>
                </a:solidFill>
              </a:rPr>
              <a:t>Objectives: SO3 · SO4 · IO2.1 · IO2.2 · IO2.3 · IO2.4 · IO2.5 · IO2.6</a:t>
            </a:r>
            <a:endParaRPr lang="en-US" sz="8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L04 · Musculoskeletal Pharmacology — Session 2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60</a:t>
            </a:r>
            <a:endParaRPr lang="en-US" sz="1000" dirty="0"/>
          </a:p>
        </p:txBody>
      </p:sp>
      <p:sp>
        <p:nvSpPr>
          <p:cNvPr id="7" name="Class (1/3) card"/>
          <p:cNvSpPr/>
          <p:nvPr/>
        </p:nvSpPr>
        <p:spPr>
          <a:xfrm>
            <a:off x="548640" y="1325880"/>
            <a:ext cx="11094415" cy="3442716"/>
          </a:xfrm>
          <a:prstGeom prst="roundRect">
            <a:avLst>
              <a:gd name="adj" fmla="val 3187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Class (1/3)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44546A"/>
          </a:solidFill>
          <a:ln w="12700">
            <a:solidFill>
              <a:srgbClr val="44546A"/>
            </a:solidFill>
            <a:prstDash val="solid"/>
          </a:ln>
        </p:spPr>
      </p:sp>
      <p:pic>
        <p:nvPicPr>
          <p:cNvPr id="9" name="Class (1/3)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Class (1/3)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4546A"/>
                </a:solidFill>
              </a:rPr>
              <a:t>Class (1/3)</a:t>
            </a:r>
            <a:endParaRPr lang="en-US" sz="1800" dirty="0"/>
          </a:p>
        </p:txBody>
      </p:sp>
      <p:sp>
        <p:nvSpPr>
          <p:cNvPr id="11" name="Class (1/3) body"/>
          <p:cNvSpPr txBox="1"/>
          <p:nvPr/>
        </p:nvSpPr>
        <p:spPr>
          <a:xfrm>
            <a:off x="777240" y="2075688"/>
            <a:ext cx="10637215" cy="2574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Bone pharmacology is about </a:t>
            </a:r>
            <a:r>
              <a:rPr lang="en-US" sz="1800" b="1" dirty="0">
                <a:solidFill>
                  <a:srgbClr val="1F1F1F"/>
                </a:solidFill>
              </a:rPr>
              <a:t>balancing bone formation and bone resorption</a:t>
            </a:r>
            <a:r>
              <a:rPr lang="en-US" sz="1800" dirty="0">
                <a:solidFill>
                  <a:srgbClr val="1F1F1F"/>
                </a:solidFill>
              </a:rPr>
              <a:t>.</a:t>
            </a:r>
            <a:r>
              <a:rPr lang="en-US" sz="1300" dirty="0">
                <a:solidFill>
                  <a:srgbClr val="666666"/>
                </a:solidFill>
              </a:rPr>
              <a:t>  S31; S49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Osteoblasts</a:t>
            </a:r>
            <a:r>
              <a:rPr lang="en-US" sz="1800" dirty="0">
                <a:solidFill>
                  <a:srgbClr val="1F1F1F"/>
                </a:solidFill>
              </a:rPr>
              <a:t> build new bone matrix (promoted by several osteoporosis therapies); </a:t>
            </a:r>
            <a:r>
              <a:rPr lang="en-US" sz="1800" b="1" dirty="0">
                <a:solidFill>
                  <a:srgbClr val="1F1F1F"/>
                </a:solidFill>
              </a:rPr>
              <a:t>osteoclasts</a:t>
            </a:r>
            <a:r>
              <a:rPr lang="en-US" sz="1800" dirty="0">
                <a:solidFill>
                  <a:srgbClr val="1F1F1F"/>
                </a:solidFill>
              </a:rPr>
              <a:t> resorb existing bone (suppressed by most osteoporosis therapies).</a:t>
            </a:r>
            <a:r>
              <a:rPr lang="en-US" sz="1300" dirty="0">
                <a:solidFill>
                  <a:srgbClr val="666666"/>
                </a:solidFill>
              </a:rPr>
              <a:t>  S32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Nearly every osteoporosis drug shifts this balance one way or the other — slowing osteoclasts or stimulating osteoblasts.</a:t>
            </a:r>
            <a:r>
              <a:rPr lang="en-US" sz="1300" dirty="0">
                <a:solidFill>
                  <a:srgbClr val="666666"/>
                </a:solidFill>
              </a:rPr>
              <a:t>  S32 (notes)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RANKL/OPG:</a:t>
            </a:r>
            <a:r>
              <a:rPr lang="en-US" sz="1800" dirty="0">
                <a:solidFill>
                  <a:srgbClr val="1F1F1F"/>
                </a:solidFill>
              </a:rPr>
              <a:t> osteoblasts or stromal cells express RANKL → RANKL binds RANK on osteoclast precursors → osteoclast differentiation and activation → bone resorption releases calcium.</a:t>
            </a:r>
            <a:r>
              <a:rPr lang="en-US" sz="1300" dirty="0">
                <a:solidFill>
                  <a:srgbClr val="666666"/>
                </a:solidFill>
              </a:rPr>
              <a:t>  S33</a:t>
            </a:r>
            <a:endParaRPr lang="en-US" sz="18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BONE PHARMACOLOGY &amp; OSTEOPOROSIS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(cont.)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4F8A"/>
                </a:solidFill>
              </a:rPr>
              <a:t>Objectives: SO3 · SO4 · IO2.1 · IO2.2 · IO2.3 · IO2.4 · IO2.5 · IO2.6</a:t>
            </a:r>
            <a:endParaRPr lang="en-US" sz="8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L04 · Musculoskeletal Pharmacology — Session 2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61</a:t>
            </a:r>
            <a:endParaRPr lang="en-US" sz="1000" dirty="0"/>
          </a:p>
        </p:txBody>
      </p:sp>
      <p:sp>
        <p:nvSpPr>
          <p:cNvPr id="7" name="Class (2/3) card"/>
          <p:cNvSpPr/>
          <p:nvPr/>
        </p:nvSpPr>
        <p:spPr>
          <a:xfrm>
            <a:off x="548640" y="1325880"/>
            <a:ext cx="11094415" cy="3721608"/>
          </a:xfrm>
          <a:prstGeom prst="roundRect">
            <a:avLst>
              <a:gd name="adj" fmla="val 2948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Class (2/3)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44546A"/>
          </a:solidFill>
          <a:ln w="12700">
            <a:solidFill>
              <a:srgbClr val="44546A"/>
            </a:solidFill>
            <a:prstDash val="solid"/>
          </a:ln>
        </p:spPr>
      </p:sp>
      <p:pic>
        <p:nvPicPr>
          <p:cNvPr id="9" name="Class (2/3)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Class (2/3)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4546A"/>
                </a:solidFill>
              </a:rPr>
              <a:t>Class (2/3)</a:t>
            </a:r>
            <a:endParaRPr lang="en-US" sz="1800" dirty="0"/>
          </a:p>
        </p:txBody>
      </p:sp>
      <p:sp>
        <p:nvSpPr>
          <p:cNvPr id="11" name="Class (2/3) body"/>
          <p:cNvSpPr txBox="1"/>
          <p:nvPr/>
        </p:nvSpPr>
        <p:spPr>
          <a:xfrm>
            <a:off x="777240" y="2075688"/>
            <a:ext cx="10637215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OPG</a:t>
            </a:r>
            <a:r>
              <a:rPr lang="en-US" sz="1800" dirty="0">
                <a:solidFill>
                  <a:srgbClr val="1F1F1F"/>
                </a:solidFill>
              </a:rPr>
              <a:t> is a decoy receptor that blocks RANKL. Estrogen increases OPG; denosumab mimics OPG. Sclerostin inhibits Wnt signaling in osteoblasts.</a:t>
            </a:r>
            <a:r>
              <a:rPr lang="en-US" sz="1300" dirty="0">
                <a:solidFill>
                  <a:srgbClr val="666666"/>
                </a:solidFill>
              </a:rPr>
              <a:t>  S33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PTH:</a:t>
            </a:r>
            <a:r>
              <a:rPr lang="en-US" sz="1800" dirty="0">
                <a:solidFill>
                  <a:srgbClr val="1F1F1F"/>
                </a:solidFill>
              </a:rPr>
              <a:t> intermittent dosing favors formation; continuous exposure raises RANKL and resorption.</a:t>
            </a:r>
            <a:r>
              <a:rPr lang="en-US" sz="1300" dirty="0">
                <a:solidFill>
                  <a:srgbClr val="666666"/>
                </a:solidFill>
              </a:rPr>
              <a:t>  S33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Calcium homeostasis:</a:t>
            </a:r>
            <a:r>
              <a:rPr lang="en-US" sz="1800" dirty="0">
                <a:solidFill>
                  <a:srgbClr val="1F1F1F"/>
                </a:solidFill>
              </a:rPr>
              <a:t> PTH raises serum calcium (mobilizes bone calcium when levels drop); vitamin D increases intestinal calcium absorption; calcitonin lowers serum calcium and opposes PTH; calcium is the substrate being regulated (intake, bone storage, excretion).</a:t>
            </a:r>
            <a:r>
              <a:rPr lang="en-US" sz="1300" dirty="0">
                <a:solidFill>
                  <a:srgbClr val="666666"/>
                </a:solidFill>
              </a:rPr>
              <a:t>  S34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PTH feedback loop:</a:t>
            </a:r>
            <a:r>
              <a:rPr lang="en-US" sz="1800" dirty="0">
                <a:solidFill>
                  <a:srgbClr val="1F1F1F"/>
                </a:solidFill>
              </a:rPr>
              <a:t> falling serum calcium → PTH → raises calcium via bone resorption, renal reabsorption, and (via vitamin D activation) intestinal absorption; restored calcium inhibits further PTH.</a:t>
            </a:r>
            <a:r>
              <a:rPr lang="en-US" sz="1300" dirty="0">
                <a:solidFill>
                  <a:srgbClr val="666666"/>
                </a:solidFill>
              </a:rPr>
              <a:t>  S35; SG U2-R12</a:t>
            </a:r>
            <a:endParaRPr lang="en-US" sz="18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BONE PHARMACOLOGY &amp; OSTEOPOROSIS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(cont.)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4F8A"/>
                </a:solidFill>
              </a:rPr>
              <a:t>Objectives: SO3 · SO4 · IO2.1 · IO2.2 · IO2.3 · IO2.4 · IO2.5 · IO2.6</a:t>
            </a:r>
            <a:endParaRPr lang="en-US" sz="8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L04 · Musculoskeletal Pharmacology — Session 2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62</a:t>
            </a:r>
            <a:endParaRPr lang="en-US" sz="1000" dirty="0"/>
          </a:p>
        </p:txBody>
      </p:sp>
      <p:sp>
        <p:nvSpPr>
          <p:cNvPr id="7" name="Class (3/3) card"/>
          <p:cNvSpPr/>
          <p:nvPr/>
        </p:nvSpPr>
        <p:spPr>
          <a:xfrm>
            <a:off x="548640" y="1325880"/>
            <a:ext cx="11094415" cy="3721608"/>
          </a:xfrm>
          <a:prstGeom prst="roundRect">
            <a:avLst>
              <a:gd name="adj" fmla="val 2948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Class (3/3)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44546A"/>
          </a:solidFill>
          <a:ln w="12700">
            <a:solidFill>
              <a:srgbClr val="44546A"/>
            </a:solidFill>
            <a:prstDash val="solid"/>
          </a:ln>
        </p:spPr>
      </p:sp>
      <p:pic>
        <p:nvPicPr>
          <p:cNvPr id="9" name="Class (3/3)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Class (3/3)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4546A"/>
                </a:solidFill>
              </a:rPr>
              <a:t>Class (3/3)</a:t>
            </a:r>
            <a:endParaRPr lang="en-US" sz="1800" dirty="0"/>
          </a:p>
        </p:txBody>
      </p:sp>
      <p:sp>
        <p:nvSpPr>
          <p:cNvPr id="11" name="Class (3/3) body"/>
          <p:cNvSpPr txBox="1"/>
          <p:nvPr/>
        </p:nvSpPr>
        <p:spPr>
          <a:xfrm>
            <a:off x="777240" y="2075688"/>
            <a:ext cx="10637215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Risk factors:</a:t>
            </a:r>
            <a:r>
              <a:rPr lang="en-US" sz="1800" dirty="0">
                <a:solidFill>
                  <a:srgbClr val="1F1F1F"/>
                </a:solidFill>
              </a:rPr>
              <a:t> aging; estrogen deficiency (e.g., postmenopausal status); </a:t>
            </a:r>
            <a:r>
              <a:rPr lang="en-US" sz="1800" b="1" dirty="0">
                <a:solidFill>
                  <a:srgbClr val="1F1F1F"/>
                </a:solidFill>
              </a:rPr>
              <a:t>chronic glucocorticoid use</a:t>
            </a:r>
            <a:r>
              <a:rPr lang="en-US" sz="1800" dirty="0">
                <a:solidFill>
                  <a:srgbClr val="1F1F1F"/>
                </a:solidFill>
              </a:rPr>
              <a:t>; low calcium or vitamin D intake; low physical activity.</a:t>
            </a:r>
            <a:r>
              <a:rPr lang="en-US" sz="1300" dirty="0">
                <a:solidFill>
                  <a:srgbClr val="666666"/>
                </a:solidFill>
              </a:rPr>
              <a:t>  S36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About 98% of the body’s calcium is in bone; PTH, FGF23, and 1,25-dihydroxyvitamin D are the principal regulators.</a:t>
            </a:r>
            <a:r>
              <a:rPr lang="en-US" sz="1300" dirty="0">
                <a:solidFill>
                  <a:srgbClr val="666666"/>
                </a:solidFill>
              </a:rPr>
              <a:t>  p. 811; p. 812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Excess endogenous PTH nets bone resorption, but low intermittent doses build bone first — the basis for teriparatide.</a:t>
            </a:r>
            <a:r>
              <a:rPr lang="en-US" sz="1300" dirty="0">
                <a:solidFill>
                  <a:srgbClr val="666666"/>
                </a:solidFill>
              </a:rPr>
              <a:t>  p. 815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Glucocorticoids block vitamin D–driven gut calcium transport, raise renal calcium loss, block formation, and initially stimulate resorption.</a:t>
            </a:r>
            <a:r>
              <a:rPr lang="en-US" sz="1300" dirty="0">
                <a:solidFill>
                  <a:srgbClr val="666666"/>
                </a:solidFill>
              </a:rPr>
              <a:t>  p. 818</a:t>
            </a:r>
            <a:endParaRPr lang="en-US" sz="18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BONE PHARMACOLOGY &amp; OSTEOPOROSIS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+ other drugs named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4F8A"/>
                </a:solidFill>
              </a:rPr>
              <a:t>Objectives: SO3 · SO4 · IO2.1 · IO2.2 · IO2.3 · IO2.4 · IO2.5 · IO2.6</a:t>
            </a:r>
            <a:endParaRPr lang="en-US" sz="8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L04 · Musculoskeletal Pharmacology — Session 2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63</a:t>
            </a:r>
            <a:endParaRPr lang="en-US" sz="1000" dirty="0"/>
          </a:p>
        </p:txBody>
      </p:sp>
      <p:sp>
        <p:nvSpPr>
          <p:cNvPr id="7" name="Prototype + other drugs named card"/>
          <p:cNvSpPr/>
          <p:nvPr/>
        </p:nvSpPr>
        <p:spPr>
          <a:xfrm>
            <a:off x="548640" y="1325880"/>
            <a:ext cx="11094415" cy="2606040"/>
          </a:xfrm>
          <a:prstGeom prst="roundRect">
            <a:avLst>
              <a:gd name="adj" fmla="val 421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Prototype + other drugs named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pic>
        <p:nvPicPr>
          <p:cNvPr id="9" name="Prototype + other drugs named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Prototype + other drugs named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472C4"/>
                </a:solidFill>
              </a:rPr>
              <a:t>Prototype + other drugs named</a:t>
            </a:r>
            <a:endParaRPr lang="en-US" sz="1800" dirty="0"/>
          </a:p>
        </p:txBody>
      </p:sp>
      <p:sp>
        <p:nvSpPr>
          <p:cNvPr id="11" name="Prototype + other drugs named body"/>
          <p:cNvSpPr txBox="1"/>
          <p:nvPr/>
        </p:nvSpPr>
        <p:spPr>
          <a:xfrm>
            <a:off x="777240" y="2075688"/>
            <a:ext cx="106372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Alendronate — oral bisphosphonate (first-line).</a:t>
            </a:r>
            <a:r>
              <a:rPr lang="en-US" sz="1300" dirty="0">
                <a:solidFill>
                  <a:srgbClr val="666666"/>
                </a:solidFill>
              </a:rPr>
              <a:t>  S37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Denosumab — RANKL monoclonal antibody.</a:t>
            </a:r>
            <a:r>
              <a:rPr lang="en-US" sz="1300" dirty="0">
                <a:solidFill>
                  <a:srgbClr val="666666"/>
                </a:solidFill>
              </a:rPr>
              <a:t>  S42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Teriparatide — PTH analog (anabolic).</a:t>
            </a:r>
            <a:r>
              <a:rPr lang="en-US" sz="1300" dirty="0">
                <a:solidFill>
                  <a:srgbClr val="666666"/>
                </a:solidFill>
              </a:rPr>
              <a:t>  S42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Raloxifene — SERM; romosozumab — sclerostin antibody.</a:t>
            </a:r>
            <a:r>
              <a:rPr lang="en-US" sz="1300" dirty="0">
                <a:solidFill>
                  <a:srgbClr val="666666"/>
                </a:solidFill>
              </a:rPr>
              <a:t>  S42</a:t>
            </a:r>
            <a:endParaRPr lang="en-US" sz="18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BONE PHARMACOLOGY &amp; OSTEOPOROSIS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 of action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4F8A"/>
                </a:solidFill>
              </a:rPr>
              <a:t>Objectives: SO3 · SO4 · IO2.1 · IO2.2 · IO2.3 · IO2.4 · IO2.5 · IO2.6</a:t>
            </a:r>
            <a:endParaRPr lang="en-US" sz="8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L04 · Musculoskeletal Pharmacology — Session 2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64</a:t>
            </a:r>
            <a:endParaRPr lang="en-US" sz="1000" dirty="0"/>
          </a:p>
        </p:txBody>
      </p:sp>
      <p:sp>
        <p:nvSpPr>
          <p:cNvPr id="7" name="Mechanism of action (1/2) card"/>
          <p:cNvSpPr/>
          <p:nvPr/>
        </p:nvSpPr>
        <p:spPr>
          <a:xfrm>
            <a:off x="548640" y="1325880"/>
            <a:ext cx="11094415" cy="3721608"/>
          </a:xfrm>
          <a:prstGeom prst="roundRect">
            <a:avLst>
              <a:gd name="adj" fmla="val 2948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Mechanism of action (1/2)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pic>
        <p:nvPicPr>
          <p:cNvPr id="9" name="Mechanism of action (1/2)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Mechanism of action (1/2)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030A0"/>
                </a:solidFill>
              </a:rPr>
              <a:t>Mechanism of action (1/2)</a:t>
            </a:r>
            <a:endParaRPr lang="en-US" sz="1800" dirty="0"/>
          </a:p>
        </p:txBody>
      </p:sp>
      <p:sp>
        <p:nvSpPr>
          <p:cNvPr id="11" name="Mechanism of action (1/2) body"/>
          <p:cNvSpPr txBox="1"/>
          <p:nvPr/>
        </p:nvSpPr>
        <p:spPr>
          <a:xfrm>
            <a:off x="777240" y="2075688"/>
            <a:ext cx="10637215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Bisphosphonates — </a:t>
            </a:r>
            <a:r>
              <a:rPr lang="en-US" sz="1800" b="1" dirty="0">
                <a:solidFill>
                  <a:srgbClr val="1F1F1F"/>
                </a:solidFill>
              </a:rPr>
              <a:t>mechanism: inhibit osteoclast-mediated bone resorption.</a:t>
            </a:r>
            <a:r>
              <a:rPr lang="en-US" sz="1800" dirty="0">
                <a:solidFill>
                  <a:srgbClr val="1F1F1F"/>
                </a:solidFill>
              </a:rPr>
              <a:t> They bind hydroxyapatite at resorption sites → osteoclasts take them up → nitrogen-containing agents inhibit </a:t>
            </a:r>
            <a:r>
              <a:rPr lang="en-US" sz="1800" b="1" dirty="0">
                <a:solidFill>
                  <a:srgbClr val="1F1F1F"/>
                </a:solidFill>
              </a:rPr>
              <a:t>FPP synthase</a:t>
            </a:r>
            <a:r>
              <a:rPr lang="en-US" sz="1800" dirty="0">
                <a:solidFill>
                  <a:srgbClr val="1F1F1F"/>
                </a:solidFill>
              </a:rPr>
              <a:t> (mevalonate pathway) → loss of prenylation of small GTPases → </a:t>
            </a:r>
            <a:r>
              <a:rPr lang="en-US" sz="1800" b="1" dirty="0">
                <a:solidFill>
                  <a:srgbClr val="1F1F1F"/>
                </a:solidFill>
              </a:rPr>
              <a:t>osteoclast apoptosis</a:t>
            </a:r>
            <a:r>
              <a:rPr lang="en-US" sz="1800" dirty="0">
                <a:solidFill>
                  <a:srgbClr val="1F1F1F"/>
                </a:solidFill>
              </a:rPr>
              <a:t>.</a:t>
            </a:r>
            <a:r>
              <a:rPr lang="en-US" sz="1300" dirty="0">
                <a:solidFill>
                  <a:srgbClr val="666666"/>
                </a:solidFill>
              </a:rPr>
              <a:t>  S37; S38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Denosumab:</a:t>
            </a:r>
            <a:r>
              <a:rPr lang="en-US" sz="1800" dirty="0">
                <a:solidFill>
                  <a:srgbClr val="1F1F1F"/>
                </a:solidFill>
              </a:rPr>
              <a:t> monoclonal antibody, </a:t>
            </a:r>
            <a:r>
              <a:rPr lang="en-US" sz="1800" b="1" dirty="0">
                <a:solidFill>
                  <a:srgbClr val="1F1F1F"/>
                </a:solidFill>
              </a:rPr>
              <a:t>RANKL inhibitor</a:t>
            </a:r>
            <a:r>
              <a:rPr lang="en-US" sz="1800" dirty="0">
                <a:solidFill>
                  <a:srgbClr val="1F1F1F"/>
                </a:solidFill>
              </a:rPr>
              <a:t> — blocks osteoclast formation.</a:t>
            </a:r>
            <a:r>
              <a:rPr lang="en-US" sz="1300" dirty="0">
                <a:solidFill>
                  <a:srgbClr val="666666"/>
                </a:solidFill>
              </a:rPr>
              <a:t>  S42; S43; SG U2-M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Teriparatide</a:t>
            </a:r>
            <a:r>
              <a:rPr lang="en-US" sz="1800" dirty="0">
                <a:solidFill>
                  <a:srgbClr val="1F1F1F"/>
                </a:solidFill>
              </a:rPr>
              <a:t> (PTH 1-34, daily injection) / </a:t>
            </a:r>
            <a:r>
              <a:rPr lang="en-US" sz="1800" b="1" dirty="0">
                <a:solidFill>
                  <a:srgbClr val="1F1F1F"/>
                </a:solidFill>
              </a:rPr>
              <a:t>abaloparatide:</a:t>
            </a:r>
            <a:r>
              <a:rPr lang="en-US" sz="1800" dirty="0">
                <a:solidFill>
                  <a:srgbClr val="1F1F1F"/>
                </a:solidFill>
              </a:rPr>
              <a:t> PTH-analog “anabolic” agents that stimulate osteoblasts and new bone formation.</a:t>
            </a:r>
            <a:r>
              <a:rPr lang="en-US" sz="1300" dirty="0">
                <a:solidFill>
                  <a:srgbClr val="666666"/>
                </a:solidFill>
              </a:rPr>
              <a:t>  S42; S43; SG U2-M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Romosozumab:</a:t>
            </a:r>
            <a:r>
              <a:rPr lang="en-US" sz="1800" dirty="0">
                <a:solidFill>
                  <a:srgbClr val="1F1F1F"/>
                </a:solidFill>
              </a:rPr>
              <a:t> sclerostin antibody that both builds bone and limits resorption — increases formation, decreases resorption → BMD up, fracture risk down.</a:t>
            </a:r>
            <a:r>
              <a:rPr lang="en-US" sz="1300" dirty="0">
                <a:solidFill>
                  <a:srgbClr val="666666"/>
                </a:solidFill>
              </a:rPr>
              <a:t>  S42; S43</a:t>
            </a:r>
            <a:endParaRPr lang="en-US" sz="18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BONE PHARMACOLOGY &amp; OSTEOPOROSIS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 of action (cont.)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4F8A"/>
                </a:solidFill>
              </a:rPr>
              <a:t>Objectives: SO3 · SO4 · IO2.1 · IO2.2 · IO2.3 · IO2.4 · IO2.5 · IO2.6</a:t>
            </a:r>
            <a:endParaRPr lang="en-US" sz="8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L04 · Musculoskeletal Pharmacology — Session 2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65</a:t>
            </a:r>
            <a:endParaRPr lang="en-US" sz="1000" dirty="0"/>
          </a:p>
        </p:txBody>
      </p:sp>
      <p:sp>
        <p:nvSpPr>
          <p:cNvPr id="7" name="Mechanism of action (2/2) card"/>
          <p:cNvSpPr/>
          <p:nvPr/>
        </p:nvSpPr>
        <p:spPr>
          <a:xfrm>
            <a:off x="548640" y="1325880"/>
            <a:ext cx="11094415" cy="3721608"/>
          </a:xfrm>
          <a:prstGeom prst="roundRect">
            <a:avLst>
              <a:gd name="adj" fmla="val 2948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Mechanism of action (2/2)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pic>
        <p:nvPicPr>
          <p:cNvPr id="9" name="Mechanism of action (2/2)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Mechanism of action (2/2)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030A0"/>
                </a:solidFill>
              </a:rPr>
              <a:t>Mechanism of action (2/2)</a:t>
            </a:r>
            <a:endParaRPr lang="en-US" sz="1800" dirty="0"/>
          </a:p>
        </p:txBody>
      </p:sp>
      <p:sp>
        <p:nvSpPr>
          <p:cNvPr id="11" name="Mechanism of action (2/2) body"/>
          <p:cNvSpPr txBox="1"/>
          <p:nvPr/>
        </p:nvSpPr>
        <p:spPr>
          <a:xfrm>
            <a:off x="777240" y="2075688"/>
            <a:ext cx="10637215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SERMs</a:t>
            </a:r>
            <a:r>
              <a:rPr lang="en-US" sz="1800" dirty="0">
                <a:solidFill>
                  <a:srgbClr val="1F1F1F"/>
                </a:solidFill>
              </a:rPr>
              <a:t> — selective estrogen receptor modulators (raloxifene): estrogen-like effect on bone — antiresorptive, like calcitonin.</a:t>
            </a:r>
            <a:r>
              <a:rPr lang="en-US" sz="1300" dirty="0">
                <a:solidFill>
                  <a:srgbClr val="666666"/>
                </a:solidFill>
              </a:rPr>
              <a:t>  S42; S43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Glucocorticoid-induced osteoporosis:</a:t>
            </a:r>
            <a:r>
              <a:rPr lang="en-US" sz="1800" dirty="0">
                <a:solidFill>
                  <a:srgbClr val="1F1F1F"/>
                </a:solidFill>
              </a:rPr>
              <a:t> glucocorticoids increase osteoclast-mediated resorption and suppress osteoblast-driven formation.</a:t>
            </a:r>
            <a:r>
              <a:rPr lang="en-US" sz="1300" dirty="0">
                <a:solidFill>
                  <a:srgbClr val="666666"/>
                </a:solidFill>
              </a:rPr>
              <a:t>  S53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Amino-bisphosphonates (alendronate, risedronate) inhibit farnesyl pyrophosphate synthase in the mevalonate pathway.</a:t>
            </a:r>
            <a:r>
              <a:rPr lang="en-US" sz="1300" dirty="0">
                <a:solidFill>
                  <a:srgbClr val="666666"/>
                </a:solidFill>
              </a:rPr>
              <a:t>  p. 820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Denosumab does not kill osteoclasts and does not deposit in bone, so its effect reverses when stopped.</a:t>
            </a:r>
            <a:r>
              <a:rPr lang="en-US" sz="1300" dirty="0">
                <a:solidFill>
                  <a:srgbClr val="666666"/>
                </a:solidFill>
              </a:rPr>
              <a:t>  p. 820</a:t>
            </a:r>
            <a:endParaRPr lang="en-US" sz="18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BONE PHARMACOLOGY &amp; OSTEOPOROSIS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Indications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4F8A"/>
                </a:solidFill>
              </a:rPr>
              <a:t>Objectives: SO3 · SO4 · IO2.1 · IO2.2 · IO2.3 · IO2.4 · IO2.5 · IO2.6</a:t>
            </a:r>
            <a:endParaRPr lang="en-US" sz="8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L04 · Musculoskeletal Pharmacology — Session 2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66</a:t>
            </a:r>
            <a:endParaRPr lang="en-US" sz="1000" dirty="0"/>
          </a:p>
        </p:txBody>
      </p:sp>
      <p:sp>
        <p:nvSpPr>
          <p:cNvPr id="7" name="Indications card"/>
          <p:cNvSpPr/>
          <p:nvPr/>
        </p:nvSpPr>
        <p:spPr>
          <a:xfrm>
            <a:off x="548640" y="1325880"/>
            <a:ext cx="11094415" cy="4219956"/>
          </a:xfrm>
          <a:prstGeom prst="roundRect">
            <a:avLst>
              <a:gd name="adj" fmla="val 260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Indications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548235"/>
          </a:solidFill>
          <a:ln w="12700">
            <a:solidFill>
              <a:srgbClr val="548235"/>
            </a:solidFill>
            <a:prstDash val="solid"/>
          </a:ln>
        </p:spPr>
      </p:sp>
      <p:pic>
        <p:nvPicPr>
          <p:cNvPr id="9" name="Indications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Indications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48235"/>
                </a:solidFill>
              </a:rPr>
              <a:t>Indications</a:t>
            </a:r>
            <a:endParaRPr lang="en-US" sz="1800" dirty="0"/>
          </a:p>
        </p:txBody>
      </p:sp>
      <p:sp>
        <p:nvSpPr>
          <p:cNvPr id="11" name="Indications body"/>
          <p:cNvSpPr txBox="1"/>
          <p:nvPr/>
        </p:nvSpPr>
        <p:spPr>
          <a:xfrm>
            <a:off x="777240" y="2075688"/>
            <a:ext cx="10637215" cy="3351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Bisphosphonates are first-line for most patients with osteoporosis.</a:t>
            </a:r>
            <a:r>
              <a:rPr lang="en-US" sz="1300" dirty="0">
                <a:solidFill>
                  <a:srgbClr val="666666"/>
                </a:solidFill>
              </a:rPr>
              <a:t>  S37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Higher-risk patients may need an </a:t>
            </a:r>
            <a:r>
              <a:rPr lang="en-US" sz="1800" b="1" dirty="0">
                <a:solidFill>
                  <a:srgbClr val="1F1F1F"/>
                </a:solidFill>
              </a:rPr>
              <a:t>anabolic agent first</a:t>
            </a:r>
            <a:r>
              <a:rPr lang="en-US" sz="1800" dirty="0">
                <a:solidFill>
                  <a:srgbClr val="1F1F1F"/>
                </a:solidFill>
              </a:rPr>
              <a:t>.</a:t>
            </a:r>
            <a:r>
              <a:rPr lang="en-US" sz="1300" dirty="0">
                <a:solidFill>
                  <a:srgbClr val="666666"/>
                </a:solidFill>
              </a:rPr>
              <a:t>  S45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Raloxifene also reduces breast cancer risk.</a:t>
            </a:r>
            <a:r>
              <a:rPr lang="en-US" sz="1300" dirty="0">
                <a:solidFill>
                  <a:srgbClr val="666666"/>
                </a:solidFill>
              </a:rPr>
              <a:t>  S42; S43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Raloxifene protects against spine fractures but not hip fractures; bisphosphonates, denosumab, and teriparatide protect both.</a:t>
            </a:r>
            <a:r>
              <a:rPr lang="en-US" sz="1300" dirty="0">
                <a:solidFill>
                  <a:srgbClr val="666666"/>
                </a:solidFill>
              </a:rPr>
              <a:t>  p. 827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Vitamin D (800 IU/d) with calcium improves bone density, reduces falls, and prevents fractures — the base under every osteoporosis drug.</a:t>
            </a:r>
            <a:r>
              <a:rPr lang="en-US" sz="1300" dirty="0">
                <a:solidFill>
                  <a:srgbClr val="666666"/>
                </a:solidFill>
              </a:rPr>
              <a:t>  p. 827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Calcitonin is less effective (spine fractures only); bisphosphonates and calcitonin are first-line for Paget disease.</a:t>
            </a:r>
            <a:r>
              <a:rPr lang="en-US" sz="1300" dirty="0">
                <a:solidFill>
                  <a:srgbClr val="666666"/>
                </a:solidFill>
              </a:rPr>
              <a:t>  p. 828; p. 829</a:t>
            </a:r>
            <a:endParaRPr lang="en-US" sz="18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BONE PHARMACOLOGY &amp; OSTEOPOROSIS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Adverse effects (boxed warnings first)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4F8A"/>
                </a:solidFill>
              </a:rPr>
              <a:t>Objectives: SO3 · SO4 · IO2.1 · IO2.2 · IO2.3 · IO2.4 · IO2.5 · IO2.6</a:t>
            </a:r>
            <a:endParaRPr lang="en-US" sz="8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L04 · Musculoskeletal Pharmacology — Session 2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67</a:t>
            </a:r>
            <a:endParaRPr lang="en-US" sz="1000" dirty="0"/>
          </a:p>
        </p:txBody>
      </p:sp>
      <p:sp>
        <p:nvSpPr>
          <p:cNvPr id="7" name="Adverse effects (boxed warnings first) (1/2) card"/>
          <p:cNvSpPr/>
          <p:nvPr/>
        </p:nvSpPr>
        <p:spPr>
          <a:xfrm>
            <a:off x="548640" y="1325880"/>
            <a:ext cx="11094415" cy="2884932"/>
          </a:xfrm>
          <a:prstGeom prst="roundRect">
            <a:avLst>
              <a:gd name="adj" fmla="val 380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Adverse effects (boxed warnings first) (1/2)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pic>
        <p:nvPicPr>
          <p:cNvPr id="9" name="Adverse effects (boxed warnings first) (1/2)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Adverse effects (boxed warnings first) (1/2)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55A11"/>
                </a:solidFill>
              </a:rPr>
              <a:t>Adverse effects (boxed warnings first) (1/2)</a:t>
            </a:r>
            <a:endParaRPr lang="en-US" sz="1800" dirty="0"/>
          </a:p>
        </p:txBody>
      </p:sp>
      <p:sp>
        <p:nvSpPr>
          <p:cNvPr id="11" name="Adverse effects (boxed warnings first) (1/2) body"/>
          <p:cNvSpPr txBox="1"/>
          <p:nvPr/>
        </p:nvSpPr>
        <p:spPr>
          <a:xfrm>
            <a:off x="777240" y="2075688"/>
            <a:ext cx="10637215" cy="2016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Romosozumab: boxed warning for MI, stroke, and cardiovascular death.</a:t>
            </a:r>
            <a:r>
              <a:rPr lang="en-US" sz="1300" dirty="0">
                <a:solidFill>
                  <a:srgbClr val="666666"/>
                </a:solidFill>
              </a:rPr>
              <a:t>  S43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Romosozumab: black box — contraindicated after MI or stroke within the past year.</a:t>
            </a:r>
            <a:r>
              <a:rPr lang="en-US" sz="1300" dirty="0">
                <a:solidFill>
                  <a:srgbClr val="666666"/>
                </a:solidFill>
              </a:rPr>
              <a:t>  p. 820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Bisphosphonates:</a:t>
            </a:r>
            <a:r>
              <a:rPr lang="en-US" sz="1800" dirty="0">
                <a:solidFill>
                  <a:srgbClr val="1F1F1F"/>
                </a:solidFill>
              </a:rPr>
              <a:t> esophageal irritation; hypocalcemia; osteonecrosis of the jaw (rare); atypical femoral fractures (rare, with long-term use).</a:t>
            </a:r>
            <a:r>
              <a:rPr lang="en-US" sz="1300" dirty="0">
                <a:solidFill>
                  <a:srgbClr val="666666"/>
                </a:solidFill>
              </a:rPr>
              <a:t>  S38; S40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IV zoledronic acid:</a:t>
            </a:r>
            <a:r>
              <a:rPr lang="en-US" sz="1800" dirty="0">
                <a:solidFill>
                  <a:srgbClr val="1F1F1F"/>
                </a:solidFill>
              </a:rPr>
              <a:t> acute-phase reaction (flu-like), mitigated with acetaminophen.</a:t>
            </a:r>
            <a:r>
              <a:rPr lang="en-US" sz="1300" dirty="0">
                <a:solidFill>
                  <a:srgbClr val="666666"/>
                </a:solidFill>
              </a:rPr>
              <a:t>  S41</a:t>
            </a:r>
            <a:endParaRPr lang="en-US" sz="18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BONE PHARMACOLOGY &amp; OSTEOPOROSIS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Adverse effects (boxed warnings first) (cont.)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4F8A"/>
                </a:solidFill>
              </a:rPr>
              <a:t>Objectives: SO3 · SO4 · IO2.1 · IO2.2 · IO2.3 · IO2.4 · IO2.5 · IO2.6</a:t>
            </a:r>
            <a:endParaRPr lang="en-US" sz="8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L04 · Musculoskeletal Pharmacology — Session 2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68</a:t>
            </a:r>
            <a:endParaRPr lang="en-US" sz="1000" dirty="0"/>
          </a:p>
        </p:txBody>
      </p:sp>
      <p:sp>
        <p:nvSpPr>
          <p:cNvPr id="7" name="Adverse effects (boxed warnings first) (2/2) card"/>
          <p:cNvSpPr/>
          <p:nvPr/>
        </p:nvSpPr>
        <p:spPr>
          <a:xfrm>
            <a:off x="548640" y="1325880"/>
            <a:ext cx="11094415" cy="3163824"/>
          </a:xfrm>
          <a:prstGeom prst="roundRect">
            <a:avLst>
              <a:gd name="adj" fmla="val 3468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Adverse effects (boxed warnings first) (2/2)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pic>
        <p:nvPicPr>
          <p:cNvPr id="9" name="Adverse effects (boxed warnings first) (2/2)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Adverse effects (boxed warnings first) (2/2)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55A11"/>
                </a:solidFill>
              </a:rPr>
              <a:t>Adverse effects (boxed warnings first) (2/2)</a:t>
            </a:r>
            <a:endParaRPr lang="en-US" sz="1800" dirty="0"/>
          </a:p>
        </p:txBody>
      </p:sp>
      <p:sp>
        <p:nvSpPr>
          <p:cNvPr id="11" name="Adverse effects (boxed warnings first) (2/2) body"/>
          <p:cNvSpPr txBox="1"/>
          <p:nvPr/>
        </p:nvSpPr>
        <p:spPr>
          <a:xfrm>
            <a:off x="777240" y="2075688"/>
            <a:ext cx="10637215" cy="2295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Raloxifene:</a:t>
            </a:r>
            <a:r>
              <a:rPr lang="en-US" sz="1800" dirty="0">
                <a:solidFill>
                  <a:srgbClr val="1F1F1F"/>
                </a:solidFill>
              </a:rPr>
              <a:t> raises VTE risk; hot flashes.</a:t>
            </a:r>
            <a:r>
              <a:rPr lang="en-US" sz="1300" dirty="0">
                <a:solidFill>
                  <a:srgbClr val="666666"/>
                </a:solidFill>
              </a:rPr>
              <a:t>  S43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Denosumab discontinuation causes rebound vertebral fractures</a:t>
            </a:r>
            <a:r>
              <a:rPr lang="en-US" sz="1800" dirty="0">
                <a:solidFill>
                  <a:srgbClr val="1F1F1F"/>
                </a:solidFill>
              </a:rPr>
              <a:t> — transition to a bisphosphonate.</a:t>
            </a:r>
            <a:r>
              <a:rPr lang="en-US" sz="1300" dirty="0">
                <a:solidFill>
                  <a:srgbClr val="666666"/>
                </a:solidFill>
              </a:rPr>
              <a:t>  S43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Osteonecrosis of the jaw is rare at osteoporosis doses (~1/100,000 patient-years), more common with high-dose IV zoledronate for cancer.</a:t>
            </a:r>
            <a:r>
              <a:rPr lang="en-US" sz="1300" dirty="0">
                <a:solidFill>
                  <a:srgbClr val="666666"/>
                </a:solidFill>
              </a:rPr>
              <a:t>  p. 820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Denosumab: possible infection risk, transient hypocalcemia (CKD, vitamin D deficiency), and rebound resorption if interrupted.</a:t>
            </a:r>
            <a:r>
              <a:rPr lang="en-US" sz="1300" dirty="0">
                <a:solidFill>
                  <a:srgbClr val="666666"/>
                </a:solidFill>
              </a:rPr>
              <a:t>  p. 820</a:t>
            </a:r>
            <a:endParaRPr lang="en-US" sz="18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BONE PHARMACOLOGY &amp; OSTEOPOROSIS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Contraindications · Drug interactions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4F8A"/>
                </a:solidFill>
              </a:rPr>
              <a:t>Objectives: SO3 · SO4 · IO2.1 · IO2.2 · IO2.3 · IO2.4 · IO2.5 · IO2.6</a:t>
            </a:r>
            <a:endParaRPr lang="en-US" sz="8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L04 · Musculoskeletal Pharmacology — Session 2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69</a:t>
            </a:r>
            <a:endParaRPr lang="en-US" sz="1000" dirty="0"/>
          </a:p>
        </p:txBody>
      </p:sp>
      <p:sp>
        <p:nvSpPr>
          <p:cNvPr id="7" name="Contraindications card"/>
          <p:cNvSpPr/>
          <p:nvPr/>
        </p:nvSpPr>
        <p:spPr>
          <a:xfrm>
            <a:off x="548640" y="1325880"/>
            <a:ext cx="5410048" cy="3890772"/>
          </a:xfrm>
          <a:prstGeom prst="roundRect">
            <a:avLst>
              <a:gd name="adj" fmla="val 282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Contraindications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pic>
        <p:nvPicPr>
          <p:cNvPr id="9" name="Contraindications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Contraindications heading"/>
          <p:cNvSpPr txBox="1"/>
          <p:nvPr/>
        </p:nvSpPr>
        <p:spPr>
          <a:xfrm>
            <a:off x="1353312" y="1508760"/>
            <a:ext cx="4404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0000"/>
                </a:solidFill>
              </a:rPr>
              <a:t>Contraindications</a:t>
            </a:r>
            <a:endParaRPr lang="en-US" sz="1800" dirty="0"/>
          </a:p>
        </p:txBody>
      </p:sp>
      <p:sp>
        <p:nvSpPr>
          <p:cNvPr id="11" name="Contraindications body"/>
          <p:cNvSpPr txBox="1"/>
          <p:nvPr/>
        </p:nvSpPr>
        <p:spPr>
          <a:xfrm>
            <a:off x="777240" y="2075688"/>
            <a:ext cx="4952848" cy="3022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Bisphosphonates: contraindicated with severe renal impairment (CrCl below 30–35 mL/min) — some are avoided in significant renal impairment.</a:t>
            </a:r>
            <a:r>
              <a:rPr lang="en-US" sz="1300" dirty="0">
                <a:solidFill>
                  <a:srgbClr val="666666"/>
                </a:solidFill>
              </a:rPr>
              <a:t>  S38; S45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Oral bisphosphonates: avoid in esophageal stricture, achalasia, or inability to sit upright.</a:t>
            </a:r>
            <a:r>
              <a:rPr lang="en-US" sz="1300" dirty="0">
                <a:solidFill>
                  <a:srgbClr val="666666"/>
                </a:solidFill>
              </a:rPr>
              <a:t>  S41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Unlike bisphosphonates, denosumab can be used in advanced renal disease (not renally cleared) — watch calcium.</a:t>
            </a:r>
            <a:r>
              <a:rPr lang="en-US" sz="1300" dirty="0">
                <a:solidFill>
                  <a:srgbClr val="666666"/>
                </a:solidFill>
              </a:rPr>
              <a:t>  p. 820</a:t>
            </a:r>
            <a:endParaRPr lang="en-US" sz="1800" dirty="0"/>
          </a:p>
        </p:txBody>
      </p:sp>
      <p:sp>
        <p:nvSpPr>
          <p:cNvPr id="12" name="Drug interactions card"/>
          <p:cNvSpPr/>
          <p:nvPr/>
        </p:nvSpPr>
        <p:spPr>
          <a:xfrm>
            <a:off x="6233008" y="1325880"/>
            <a:ext cx="5410048" cy="3890772"/>
          </a:xfrm>
          <a:prstGeom prst="roundRect">
            <a:avLst>
              <a:gd name="adj" fmla="val 282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3" name="Drug interactions icon circle"/>
          <p:cNvSpPr/>
          <p:nvPr/>
        </p:nvSpPr>
        <p:spPr>
          <a:xfrm>
            <a:off x="6461608" y="1508760"/>
            <a:ext cx="438912" cy="438912"/>
          </a:xfrm>
          <a:prstGeom prst="ellipse">
            <a:avLst/>
          </a:prstGeom>
          <a:solidFill>
            <a:srgbClr val="7F6000"/>
          </a:solidFill>
          <a:ln w="12700">
            <a:solidFill>
              <a:srgbClr val="7F6000"/>
            </a:solidFill>
            <a:prstDash val="solid"/>
          </a:ln>
        </p:spPr>
      </p:sp>
      <p:pic>
        <p:nvPicPr>
          <p:cNvPr id="14" name="Drug interactions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2192" y="1609344"/>
            <a:ext cx="237744" cy="237744"/>
          </a:xfrm>
          <a:prstGeom prst="rect">
            <a:avLst/>
          </a:prstGeom>
        </p:spPr>
      </p:pic>
      <p:sp>
        <p:nvSpPr>
          <p:cNvPr id="15" name="Drug interactions heading"/>
          <p:cNvSpPr txBox="1"/>
          <p:nvPr/>
        </p:nvSpPr>
        <p:spPr>
          <a:xfrm>
            <a:off x="7037680" y="1508760"/>
            <a:ext cx="4404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F6000"/>
                </a:solidFill>
              </a:rPr>
              <a:t>Drug interactions</a:t>
            </a:r>
            <a:endParaRPr lang="en-US" sz="1800" dirty="0"/>
          </a:p>
        </p:txBody>
      </p:sp>
      <p:sp>
        <p:nvSpPr>
          <p:cNvPr id="16" name="Drug interactions body"/>
          <p:cNvSpPr txBox="1"/>
          <p:nvPr/>
        </p:nvSpPr>
        <p:spPr>
          <a:xfrm>
            <a:off x="6461608" y="2075688"/>
            <a:ext cx="4952848" cy="3022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Food, calcium, coffee, and antacids reduce oral bisphosphonate absorption further.</a:t>
            </a:r>
            <a:r>
              <a:rPr lang="en-US" sz="1300" dirty="0">
                <a:solidFill>
                  <a:srgbClr val="666666"/>
                </a:solidFill>
              </a:rPr>
              <a:t>  S41</a:t>
            </a:r>
            <a:endParaRPr lang="en-US" sz="18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BONE PHARMACOLOGY &amp; OSTEOPOROSIS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Pharmacokinetics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4F8A"/>
                </a:solidFill>
              </a:rPr>
              <a:t>Objectives: SO3 · SO4 · IO2.1 · IO2.2 · IO2.3 · IO2.4 · IO2.5 · IO2.6</a:t>
            </a:r>
            <a:endParaRPr lang="en-US" sz="8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L04 · Musculoskeletal Pharmacology — Session 2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70</a:t>
            </a:r>
            <a:endParaRPr lang="en-US" sz="1000" dirty="0"/>
          </a:p>
        </p:txBody>
      </p:sp>
      <p:sp>
        <p:nvSpPr>
          <p:cNvPr id="7" name="Pharmacokinetics card"/>
          <p:cNvSpPr/>
          <p:nvPr/>
        </p:nvSpPr>
        <p:spPr>
          <a:xfrm>
            <a:off x="548640" y="1325880"/>
            <a:ext cx="11094415" cy="4219956"/>
          </a:xfrm>
          <a:prstGeom prst="roundRect">
            <a:avLst>
              <a:gd name="adj" fmla="val 260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Pharmacokinetics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pic>
        <p:nvPicPr>
          <p:cNvPr id="9" name="Pharmacokinetics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Pharmacokinetics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5B6"/>
                </a:solidFill>
              </a:rPr>
              <a:t>Pharmacokinetics</a:t>
            </a:r>
            <a:endParaRPr lang="en-US" sz="1800" dirty="0"/>
          </a:p>
        </p:txBody>
      </p:sp>
      <p:sp>
        <p:nvSpPr>
          <p:cNvPr id="11" name="Pharmacokinetics body"/>
          <p:cNvSpPr txBox="1"/>
          <p:nvPr/>
        </p:nvSpPr>
        <p:spPr>
          <a:xfrm>
            <a:off x="777240" y="2075688"/>
            <a:ext cx="10637215" cy="3351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Bisphosphonates have a long skeletal half-life — the effect persists after stopping.</a:t>
            </a:r>
            <a:r>
              <a:rPr lang="en-US" sz="1300" dirty="0">
                <a:solidFill>
                  <a:srgbClr val="666666"/>
                </a:solidFill>
              </a:rPr>
              <a:t>  S38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Poor oral absorption (under 1%) → take fasting with plain water.</a:t>
            </a:r>
            <a:r>
              <a:rPr lang="en-US" sz="1300" dirty="0">
                <a:solidFill>
                  <a:srgbClr val="666666"/>
                </a:solidFill>
              </a:rPr>
              <a:t>  S41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Dosing:</a:t>
            </a:r>
            <a:r>
              <a:rPr lang="en-US" sz="1800" dirty="0">
                <a:solidFill>
                  <a:srgbClr val="1F1F1F"/>
                </a:solidFill>
              </a:rPr>
              <a:t> alendronate, risedronate — oral, typically weekly; ibandronate — oral, monthly; zoledronic acid — IV, as infrequently as once yearly.</a:t>
            </a:r>
            <a:r>
              <a:rPr lang="en-US" sz="1300" dirty="0">
                <a:solidFill>
                  <a:srgbClr val="666666"/>
                </a:solidFill>
              </a:rPr>
              <a:t>  S37; S39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Teriparatide is limited to 2 years lifetime, then follow with an antiresorptive.</a:t>
            </a:r>
            <a:r>
              <a:rPr lang="en-US" sz="1300" dirty="0">
                <a:solidFill>
                  <a:srgbClr val="666666"/>
                </a:solidFill>
              </a:rPr>
              <a:t>  S43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Bisphosphonates: less than 10% of an oral dose is absorbed; about half goes to bone, the rest is excreted unchanged in urine.</a:t>
            </a:r>
            <a:r>
              <a:rPr lang="en-US" sz="1300" dirty="0">
                <a:solidFill>
                  <a:srgbClr val="666666"/>
                </a:solidFill>
              </a:rPr>
              <a:t>  p. 819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Denosumab 60 mg SC every 6 months; teriparatide 20 mcg SC daily; romosozumab 210 mg SC monthly for one year, then an antiresorptive.</a:t>
            </a:r>
            <a:r>
              <a:rPr lang="en-US" sz="1300" dirty="0">
                <a:solidFill>
                  <a:srgbClr val="666666"/>
                </a:solidFill>
              </a:rPr>
              <a:t>  p. 819; p. 827</a:t>
            </a:r>
            <a:endParaRPr lang="en-US" sz="18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BONE PHARMACOLOGY &amp; OSTEOPOROSIS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4F8A"/>
                </a:solidFill>
              </a:rPr>
              <a:t>Objectives: SO3 · SO4 · IO2.1 · IO2.2 · IO2.3 · IO2.4 · IO2.5 · IO2.6</a:t>
            </a:r>
            <a:endParaRPr lang="en-US" sz="8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L04 · Musculoskeletal Pharmacology — Session 2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71</a:t>
            </a:r>
            <a:endParaRPr lang="en-US" sz="1000" dirty="0"/>
          </a:p>
        </p:txBody>
      </p:sp>
      <p:sp>
        <p:nvSpPr>
          <p:cNvPr id="7" name="Monitoring card"/>
          <p:cNvSpPr/>
          <p:nvPr/>
        </p:nvSpPr>
        <p:spPr>
          <a:xfrm>
            <a:off x="548640" y="1325880"/>
            <a:ext cx="11094415" cy="3442716"/>
          </a:xfrm>
          <a:prstGeom prst="roundRect">
            <a:avLst>
              <a:gd name="adj" fmla="val 3187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Monitoring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1F7A7A"/>
          </a:solidFill>
          <a:ln w="12700">
            <a:solidFill>
              <a:srgbClr val="1F7A7A"/>
            </a:solidFill>
            <a:prstDash val="solid"/>
          </a:ln>
        </p:spPr>
      </p:sp>
      <p:pic>
        <p:nvPicPr>
          <p:cNvPr id="9" name="Monitoring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Monitoring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7A7A"/>
                </a:solidFill>
              </a:rPr>
              <a:t>Monitoring</a:t>
            </a:r>
            <a:endParaRPr lang="en-US" sz="1800" dirty="0"/>
          </a:p>
        </p:txBody>
      </p:sp>
      <p:sp>
        <p:nvSpPr>
          <p:cNvPr id="11" name="Monitoring body"/>
          <p:cNvSpPr txBox="1"/>
          <p:nvPr/>
        </p:nvSpPr>
        <p:spPr>
          <a:xfrm>
            <a:off x="777240" y="2075688"/>
            <a:ext cx="10637215" cy="2574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Oral counseling:</a:t>
            </a:r>
            <a:r>
              <a:rPr lang="en-US" sz="1800" dirty="0">
                <a:solidFill>
                  <a:srgbClr val="1F1F1F"/>
                </a:solidFill>
              </a:rPr>
              <a:t> take with a </a:t>
            </a:r>
            <a:r>
              <a:rPr lang="en-US" sz="1800" b="1" dirty="0">
                <a:solidFill>
                  <a:srgbClr val="1F1F1F"/>
                </a:solidFill>
              </a:rPr>
              <a:t>full glass of water</a:t>
            </a:r>
            <a:r>
              <a:rPr lang="en-US" sz="1800" dirty="0">
                <a:solidFill>
                  <a:srgbClr val="1F1F1F"/>
                </a:solidFill>
              </a:rPr>
              <a:t>, first thing in the morning, on an empty stomach well before food, and </a:t>
            </a:r>
            <a:r>
              <a:rPr lang="en-US" sz="1800" b="1" dirty="0">
                <a:solidFill>
                  <a:srgbClr val="1F1F1F"/>
                </a:solidFill>
              </a:rPr>
              <a:t>remain upright</a:t>
            </a:r>
            <a:r>
              <a:rPr lang="en-US" sz="1800" dirty="0">
                <a:solidFill>
                  <a:srgbClr val="1F1F1F"/>
                </a:solidFill>
              </a:rPr>
              <a:t> (sitting or standing) for the specified period after dosing (30 minutes).</a:t>
            </a:r>
            <a:r>
              <a:rPr lang="en-US" sz="1300" dirty="0">
                <a:solidFill>
                  <a:srgbClr val="666666"/>
                </a:solidFill>
              </a:rPr>
              <a:t>  S40; S41; SG U2-R13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Ensure calcium and vitamin D repletion before starting; correct hypocalcemia first.</a:t>
            </a:r>
            <a:r>
              <a:rPr lang="en-US" sz="1300" dirty="0">
                <a:solidFill>
                  <a:srgbClr val="666666"/>
                </a:solidFill>
              </a:rPr>
              <a:t>  S38; S41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Consider a </a:t>
            </a:r>
            <a:r>
              <a:rPr lang="en-US" sz="1800" b="1" dirty="0">
                <a:solidFill>
                  <a:srgbClr val="1F1F1F"/>
                </a:solidFill>
              </a:rPr>
              <a:t>drug holiday after 3–5 years</a:t>
            </a:r>
            <a:r>
              <a:rPr lang="en-US" sz="1800" dirty="0">
                <a:solidFill>
                  <a:srgbClr val="1F1F1F"/>
                </a:solidFill>
              </a:rPr>
              <a:t> of oral therapy (osteonecrosis of the jaw, atypical femur fracture with long-term use).</a:t>
            </a:r>
            <a:r>
              <a:rPr lang="en-US" sz="1300" dirty="0">
                <a:solidFill>
                  <a:srgbClr val="666666"/>
                </a:solidFill>
              </a:rPr>
              <a:t>  S38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Reassess after 5 years of bisphosphonate (3 for zoledronate); a drug holiday if fracture risk allows.</a:t>
            </a:r>
            <a:r>
              <a:rPr lang="en-US" sz="1300" dirty="0">
                <a:solidFill>
                  <a:srgbClr val="666666"/>
                </a:solidFill>
              </a:rPr>
              <a:t>  p. 820</a:t>
            </a:r>
            <a:endParaRPr lang="en-US" sz="18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BONE PHARMACOLOGY &amp; OSTEOPOROSIS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pearls / "why" hook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4F8A"/>
                </a:solidFill>
              </a:rPr>
              <a:t>Objectives: SO3 · SO4 · IO2.1 · IO2.2 · IO2.3 · IO2.4 · IO2.5 · IO2.6</a:t>
            </a:r>
            <a:endParaRPr lang="en-US" sz="8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L04 · Musculoskeletal Pharmacology — Session 2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72</a:t>
            </a:r>
            <a:endParaRPr lang="en-US" sz="1000" dirty="0"/>
          </a:p>
        </p:txBody>
      </p:sp>
      <p:sp>
        <p:nvSpPr>
          <p:cNvPr id="7" name="Clinical pearls / &quot;why&quot; hook (1/2) card"/>
          <p:cNvSpPr/>
          <p:nvPr/>
        </p:nvSpPr>
        <p:spPr>
          <a:xfrm>
            <a:off x="548640" y="1325880"/>
            <a:ext cx="11094415" cy="3054096"/>
          </a:xfrm>
          <a:prstGeom prst="roundRect">
            <a:avLst>
              <a:gd name="adj" fmla="val 359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Clinical pearls / &quot;why&quot; hook (1/2)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pic>
        <p:nvPicPr>
          <p:cNvPr id="9" name="Clinical pearls / &quot;why&quot; hook (1/2)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Clinical pearls / &amp;quot;why&amp;quot; hook (1/2)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5B6"/>
                </a:solidFill>
              </a:rPr>
              <a:t>Clinical pearls / "why" hook (1/2)</a:t>
            </a:r>
            <a:endParaRPr lang="en-US" sz="1800" dirty="0"/>
          </a:p>
        </p:txBody>
      </p:sp>
      <p:sp>
        <p:nvSpPr>
          <p:cNvPr id="11" name="Clinical pearls / &quot;why&quot; hook (1/2) body"/>
          <p:cNvSpPr txBox="1"/>
          <p:nvPr/>
        </p:nvSpPr>
        <p:spPr>
          <a:xfrm>
            <a:off x="777240" y="2075688"/>
            <a:ext cx="10637215" cy="218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The “remain upright” point is extremely high-yield: esophageal injury is largely preventable with correct administration.</a:t>
            </a:r>
            <a:r>
              <a:rPr lang="en-US" sz="1300" dirty="0">
                <a:solidFill>
                  <a:srgbClr val="666666"/>
                </a:solidFill>
              </a:rPr>
              <a:t>  S40 (notes); S41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Dosing frequency is a major real-world driver of which bisphosphonate a patient actually takes consistently.</a:t>
            </a:r>
            <a:r>
              <a:rPr lang="en-US" sz="1300" dirty="0">
                <a:solidFill>
                  <a:srgbClr val="666666"/>
                </a:solidFill>
              </a:rPr>
              <a:t>  S39 (notes)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Teriparatide, abaloparatide, and romosozumab are the </a:t>
            </a:r>
            <a:r>
              <a:rPr lang="en-US" sz="1800" b="1" dirty="0">
                <a:solidFill>
                  <a:srgbClr val="1F1F1F"/>
                </a:solidFill>
              </a:rPr>
              <a:t>anabolic exception</a:t>
            </a:r>
            <a:r>
              <a:rPr lang="en-US" sz="1800" dirty="0">
                <a:solidFill>
                  <a:srgbClr val="1F1F1F"/>
                </a:solidFill>
              </a:rPr>
              <a:t> — they actively build new bone; most other osteoporosis drugs just slow resorption.</a:t>
            </a:r>
            <a:r>
              <a:rPr lang="en-US" sz="1300" dirty="0">
                <a:solidFill>
                  <a:srgbClr val="666666"/>
                </a:solidFill>
              </a:rPr>
              <a:t>  S42 (notes); S44</a:t>
            </a:r>
            <a:endParaRPr lang="en-US" sz="18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BONE PHARMACOLOGY &amp; OSTEOPOROSIS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pearls / "why" hook (cont.)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4F8A"/>
                </a:solidFill>
              </a:rPr>
              <a:t>Objectives: SO3 · SO4 · IO2.1 · IO2.2 · IO2.3 · IO2.4 · IO2.5 · IO2.6</a:t>
            </a:r>
            <a:endParaRPr lang="en-US" sz="8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L04 · Musculoskeletal Pharmacology — Session 2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73</a:t>
            </a:r>
            <a:endParaRPr lang="en-US" sz="1000" dirty="0"/>
          </a:p>
        </p:txBody>
      </p:sp>
      <p:sp>
        <p:nvSpPr>
          <p:cNvPr id="7" name="Clinical pearls / &quot;why&quot; hook (2/2) card"/>
          <p:cNvSpPr/>
          <p:nvPr/>
        </p:nvSpPr>
        <p:spPr>
          <a:xfrm>
            <a:off x="548640" y="1325880"/>
            <a:ext cx="11094415" cy="3611880"/>
          </a:xfrm>
          <a:prstGeom prst="roundRect">
            <a:avLst>
              <a:gd name="adj" fmla="val 3038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Clinical pearls / &quot;why&quot; hook (2/2)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pic>
        <p:nvPicPr>
          <p:cNvPr id="9" name="Clinical pearls / &quot;why&quot; hook (2/2)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Clinical pearls / &amp;quot;why&amp;quot; hook (2/2)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5B6"/>
                </a:solidFill>
              </a:rPr>
              <a:t>Clinical pearls / "why" hook (2/2)</a:t>
            </a:r>
            <a:endParaRPr lang="en-US" sz="1800" dirty="0"/>
          </a:p>
        </p:txBody>
      </p:sp>
      <p:sp>
        <p:nvSpPr>
          <p:cNvPr id="11" name="Clinical pearls / &quot;why&quot; hook (2/2) body"/>
          <p:cNvSpPr txBox="1"/>
          <p:nvPr/>
        </p:nvSpPr>
        <p:spPr>
          <a:xfrm>
            <a:off x="777240" y="2075688"/>
            <a:ext cx="1063721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Glucocorticoid-induced osteoporosis is especially high-yield — it connects to the corticosteroid use for OA/RA in Session 1.</a:t>
            </a:r>
            <a:r>
              <a:rPr lang="en-US" sz="1300" dirty="0">
                <a:solidFill>
                  <a:srgbClr val="666666"/>
                </a:solidFill>
              </a:rPr>
              <a:t>  S36 (notes)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Choosing therapy:</a:t>
            </a:r>
            <a:r>
              <a:rPr lang="en-US" sz="1800" dirty="0">
                <a:solidFill>
                  <a:srgbClr val="1F1F1F"/>
                </a:solidFill>
              </a:rPr>
              <a:t> fracture risk, renal function, previous fracture history, glucocorticoid exposure, adherence (weekly oral vs. yearly IV vs. injectable), and route preference. This checklist is a direct echo of Lecture 1’s clinical decision-making framework.</a:t>
            </a:r>
            <a:r>
              <a:rPr lang="en-US" sz="1300" dirty="0">
                <a:solidFill>
                  <a:srgbClr val="666666"/>
                </a:solidFill>
              </a:rPr>
              <a:t>  S45; S45 (notes)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Name clues: </a:t>
            </a:r>
            <a:r>
              <a:rPr lang="en-US" sz="1800" b="1" dirty="0">
                <a:solidFill>
                  <a:srgbClr val="1F1F1F"/>
                </a:solidFill>
              </a:rPr>
              <a:t>-dronate</a:t>
            </a:r>
            <a:r>
              <a:rPr lang="en-US" sz="1800" dirty="0">
                <a:solidFill>
                  <a:srgbClr val="1F1F1F"/>
                </a:solidFill>
              </a:rPr>
              <a:t> bisphosphonates (zoledronic acid = zoledronate); </a:t>
            </a:r>
            <a:r>
              <a:rPr lang="en-US" sz="1800" b="1" dirty="0">
                <a:solidFill>
                  <a:srgbClr val="1F1F1F"/>
                </a:solidFill>
              </a:rPr>
              <a:t>-sumab</a:t>
            </a:r>
            <a:r>
              <a:rPr lang="en-US" sz="1800" dirty="0">
                <a:solidFill>
                  <a:srgbClr val="1F1F1F"/>
                </a:solidFill>
              </a:rPr>
              <a:t> bone monoclonal antibodies (denosumab RANKL, romosozumab sclerostin); </a:t>
            </a:r>
            <a:r>
              <a:rPr lang="en-US" sz="1800" b="1" dirty="0">
                <a:solidFill>
                  <a:srgbClr val="1F1F1F"/>
                </a:solidFill>
              </a:rPr>
              <a:t>-fene</a:t>
            </a:r>
            <a:r>
              <a:rPr lang="en-US" sz="1800" dirty="0">
                <a:solidFill>
                  <a:srgbClr val="1F1F1F"/>
                </a:solidFill>
              </a:rPr>
              <a:t> SERM (raloxifene); </a:t>
            </a:r>
            <a:r>
              <a:rPr lang="en-US" sz="1800" b="1" dirty="0">
                <a:solidFill>
                  <a:srgbClr val="1F1F1F"/>
                </a:solidFill>
              </a:rPr>
              <a:t>-tide</a:t>
            </a:r>
            <a:r>
              <a:rPr lang="en-US" sz="1800" dirty="0">
                <a:solidFill>
                  <a:srgbClr val="1F1F1F"/>
                </a:solidFill>
              </a:rPr>
              <a:t> PTH analogs (teriparatide, abaloparatide); calcitonin has no shared stem (hormone).</a:t>
            </a:r>
            <a:r>
              <a:rPr lang="en-US" sz="1300" dirty="0">
                <a:solidFill>
                  <a:srgbClr val="666666"/>
                </a:solidFill>
              </a:rPr>
              <a:t>  S46</a:t>
            </a:r>
            <a:endParaRPr lang="en-US" sz="18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BONE PHARMACOLOGY &amp; OSTEOPOROSIS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6 · Calcium homeostasis: the PTH feedback loop</a:t>
            </a:r>
            <a:endParaRPr lang="en-US" sz="28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4F8A"/>
                </a:solidFill>
              </a:rPr>
              <a:t>Objectives: SO3 · SO4 · IO2.1 · IO2.2 · IO2.3 · IO2.4 · IO2.5 · IO2.6</a:t>
            </a:r>
            <a:endParaRPr lang="en-US" sz="8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L04 · Musculoskeletal Pharmacology — Session 2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74</a:t>
            </a:r>
            <a:endParaRPr lang="en-US" sz="1000" dirty="0"/>
          </a:p>
        </p:txBody>
      </p:sp>
      <p:pic>
        <p:nvPicPr>
          <p:cNvPr id="7" name="Figure S35_1.jpg" descr="/home/user/dpas-pharm/work/L04/figures/S35_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68520" y="1325880"/>
            <a:ext cx="6654656" cy="3671824"/>
          </a:xfrm>
          <a:prstGeom prst="rect">
            <a:avLst/>
          </a:prstGeom>
        </p:spPr>
      </p:pic>
      <p:sp>
        <p:nvSpPr>
          <p:cNvPr id="8" name="Figure caption"/>
          <p:cNvSpPr txBox="1"/>
          <p:nvPr/>
        </p:nvSpPr>
        <p:spPr>
          <a:xfrm>
            <a:off x="548640" y="5180584"/>
            <a:ext cx="11094415" cy="1083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</a:rPr>
              <a:t>Original illustrative diagram (not from Katzung): ↓ serum calcium → parathyroid gland releases PTH → bone (↑ osteoclast resorption), kidney (↑ Ca²⁺ reabsorption, activates vitamin D), intestine (↑ Ca²⁺ absorption via vitamin D) → ↑ serum calcium (restored). Negative feedback restores calcium, which inhibits further PTH release; calcitonin opposes PTH (lowers serum calcium when it is elevated). This loop is the physiologic backdrop for every osteoporosis drug.</a:t>
            </a:r>
            <a:r>
              <a:rPr lang="en-US" sz="1100" dirty="0">
                <a:solidFill>
                  <a:srgbClr val="666666"/>
                </a:solidFill>
              </a:rPr>
              <a:t>  S35; S35 (notes)</a:t>
            </a:r>
            <a:endParaRPr lang="en-US" sz="16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BONE PHARMACOLOGY &amp; OSTEOPOROSIS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7 · Bisphosphonate dosing frequency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4F8A"/>
                </a:solidFill>
              </a:rPr>
              <a:t>Objectives: SO3 · SO4 · IO2.1 · IO2.2 · IO2.3 · IO2.4 · IO2.5 · IO2.6</a:t>
            </a:r>
            <a:endParaRPr lang="en-US" sz="8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L04 · Musculoskeletal Pharmacology — Session 2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75</a:t>
            </a:r>
            <a:endParaRPr lang="en-US" sz="1000" dirty="0"/>
          </a:p>
        </p:txBody>
      </p:sp>
      <p:pic>
        <p:nvPicPr>
          <p:cNvPr id="7" name="Figure S39_1.jpg" descr="/home/user/dpas-pharm/work/L04/figures/S39_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53327" y="1325880"/>
            <a:ext cx="6485042" cy="3919728"/>
          </a:xfrm>
          <a:prstGeom prst="rect">
            <a:avLst/>
          </a:prstGeom>
        </p:spPr>
      </p:pic>
      <p:sp>
        <p:nvSpPr>
          <p:cNvPr id="8" name="Figure caption"/>
          <p:cNvSpPr txBox="1"/>
          <p:nvPr/>
        </p:nvSpPr>
        <p:spPr>
          <a:xfrm>
            <a:off x="548640" y="5428488"/>
            <a:ext cx="11094415" cy="835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</a:rPr>
              <a:t>Original illustrative comparison (illustrative dosing-frequency values, not from Katzung): alendronate/risedronate (oral, weekly) 52 doses per year; ibandronate (oral, monthly) 12 per year; zoledronic acid (IV, yearly) 1 per year. Dosing frequency drives adherence.</a:t>
            </a:r>
            <a:r>
              <a:rPr lang="en-US" sz="1100" dirty="0">
                <a:solidFill>
                  <a:srgbClr val="666666"/>
                </a:solidFill>
              </a:rPr>
              <a:t>  S39; S39 (notes)</a:t>
            </a:r>
            <a:endParaRPr lang="en-US" sz="16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BONE PHARMACOLOGY &amp; OSTEOPOROSIS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8 · How osteoporosis drugs shift the remodeling balance</a:t>
            </a:r>
            <a:endParaRPr lang="en-US" sz="24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4F8A"/>
                </a:solidFill>
              </a:rPr>
              <a:t>Objectives: SO3 · SO4 · IO2.1 · IO2.2 · IO2.3 · IO2.4 · IO2.5 · IO2.6</a:t>
            </a:r>
            <a:endParaRPr lang="en-US" sz="8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L04 · Musculoskeletal Pharmacology — Session 2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76</a:t>
            </a:r>
            <a:endParaRPr lang="en-US" sz="1000" dirty="0"/>
          </a:p>
        </p:txBody>
      </p:sp>
      <p:pic>
        <p:nvPicPr>
          <p:cNvPr id="7" name="Figure S44_1.jpg" descr="/home/user/dpas-pharm/work/L04/figures/S44_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33571" y="1325880"/>
            <a:ext cx="6924554" cy="3919728"/>
          </a:xfrm>
          <a:prstGeom prst="rect">
            <a:avLst/>
          </a:prstGeom>
        </p:spPr>
      </p:pic>
      <p:sp>
        <p:nvSpPr>
          <p:cNvPr id="8" name="Figure caption"/>
          <p:cNvSpPr txBox="1"/>
          <p:nvPr/>
        </p:nvSpPr>
        <p:spPr>
          <a:xfrm>
            <a:off x="548640" y="5428488"/>
            <a:ext cx="11094415" cy="835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</a:rPr>
              <a:t>Original illustrative diagram (not from Katzung): a bone remodeling balance — bone resorption (osteoclasts) is inhibited by bisphosphonates, denosumab, SERMs (raloxifene), and calcitonin; bone formation (osteoblasts) is stimulated by teriparatide, abaloparatide, and romosozumab. The capstone bone figure: every drug lands on one side or the other.</a:t>
            </a:r>
            <a:r>
              <a:rPr lang="en-US" sz="1100" dirty="0">
                <a:solidFill>
                  <a:srgbClr val="666666"/>
                </a:solidFill>
              </a:rPr>
              <a:t>  S44; S44 (notes)</a:t>
            </a:r>
            <a:endParaRPr lang="en-US" sz="16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BONE PHARMACOLOGY &amp; OSTEOPOROSIS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Sources disagree: Oral bisphosphonate absorption</a:t>
            </a:r>
            <a:endParaRPr lang="en-US" sz="29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4F8A"/>
                </a:solidFill>
              </a:rPr>
              <a:t>Objectives: SO3 · SO4 · IO2.1 · IO2.2 · IO2.3 · IO2.4 · IO2.5 · IO2.6</a:t>
            </a:r>
            <a:endParaRPr lang="en-US" sz="8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L04 · Musculoskeletal Pharmacology — Session 2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77</a:t>
            </a:r>
            <a:endParaRPr lang="en-US" sz="1000" dirty="0"/>
          </a:p>
        </p:txBody>
      </p:sp>
      <p:sp>
        <p:nvSpPr>
          <p:cNvPr id="7" name="Lecture slides say card"/>
          <p:cNvSpPr/>
          <p:nvPr/>
        </p:nvSpPr>
        <p:spPr>
          <a:xfrm>
            <a:off x="548640" y="1325880"/>
            <a:ext cx="5364328" cy="2011680"/>
          </a:xfrm>
          <a:prstGeom prst="roundRect">
            <a:avLst>
              <a:gd name="adj" fmla="val 5455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Lecture slides say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pic>
        <p:nvPicPr>
          <p:cNvPr id="9" name="Lecture slides say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Lecture slides say heading"/>
          <p:cNvSpPr txBox="1"/>
          <p:nvPr/>
        </p:nvSpPr>
        <p:spPr>
          <a:xfrm>
            <a:off x="1353312" y="1508760"/>
            <a:ext cx="4358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472C4"/>
                </a:solidFill>
              </a:rPr>
              <a:t>Lecture slides say</a:t>
            </a:r>
            <a:endParaRPr lang="en-US" sz="1800" dirty="0"/>
          </a:p>
        </p:txBody>
      </p:sp>
      <p:sp>
        <p:nvSpPr>
          <p:cNvPr id="11" name="Lecture slides say body"/>
          <p:cNvSpPr txBox="1"/>
          <p:nvPr/>
        </p:nvSpPr>
        <p:spPr>
          <a:xfrm>
            <a:off x="777240" y="2075688"/>
            <a:ext cx="49071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Poor oral absorption (under 1%).</a:t>
            </a:r>
            <a:r>
              <a:rPr lang="en-US" sz="1300" dirty="0">
                <a:solidFill>
                  <a:srgbClr val="666666"/>
                </a:solidFill>
              </a:rPr>
              <a:t>  S41</a:t>
            </a:r>
            <a:endParaRPr lang="en-US" sz="1800" dirty="0"/>
          </a:p>
        </p:txBody>
      </p:sp>
      <p:sp>
        <p:nvSpPr>
          <p:cNvPr id="12" name="Textbook says card"/>
          <p:cNvSpPr/>
          <p:nvPr/>
        </p:nvSpPr>
        <p:spPr>
          <a:xfrm>
            <a:off x="6278728" y="1325880"/>
            <a:ext cx="5364328" cy="2011680"/>
          </a:xfrm>
          <a:prstGeom prst="roundRect">
            <a:avLst>
              <a:gd name="adj" fmla="val 5455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3" name="Textbook says icon circle"/>
          <p:cNvSpPr/>
          <p:nvPr/>
        </p:nvSpPr>
        <p:spPr>
          <a:xfrm>
            <a:off x="6507328" y="1508760"/>
            <a:ext cx="438912" cy="438912"/>
          </a:xfrm>
          <a:prstGeom prst="ellipse">
            <a:avLst/>
          </a:prstGeom>
          <a:solidFill>
            <a:srgbClr val="B07D00"/>
          </a:solidFill>
          <a:ln w="12700">
            <a:solidFill>
              <a:srgbClr val="B07D00"/>
            </a:solidFill>
            <a:prstDash val="solid"/>
          </a:ln>
        </p:spPr>
      </p:sp>
      <p:pic>
        <p:nvPicPr>
          <p:cNvPr id="14" name="Textbook says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7912" y="1609344"/>
            <a:ext cx="237744" cy="237744"/>
          </a:xfrm>
          <a:prstGeom prst="rect">
            <a:avLst/>
          </a:prstGeom>
        </p:spPr>
      </p:pic>
      <p:sp>
        <p:nvSpPr>
          <p:cNvPr id="15" name="Textbook says heading"/>
          <p:cNvSpPr txBox="1"/>
          <p:nvPr/>
        </p:nvSpPr>
        <p:spPr>
          <a:xfrm>
            <a:off x="7083400" y="1508760"/>
            <a:ext cx="4358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07D00"/>
                </a:solidFill>
              </a:rPr>
              <a:t>Textbook says</a:t>
            </a:r>
            <a:endParaRPr lang="en-US" sz="1800" dirty="0"/>
          </a:p>
        </p:txBody>
      </p:sp>
      <p:sp>
        <p:nvSpPr>
          <p:cNvPr id="16" name="Textbook says body"/>
          <p:cNvSpPr txBox="1"/>
          <p:nvPr/>
        </p:nvSpPr>
        <p:spPr>
          <a:xfrm>
            <a:off x="6507328" y="2075688"/>
            <a:ext cx="49071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Less than 10% of an oral dose is absorbed.</a:t>
            </a:r>
            <a:r>
              <a:rPr lang="en-US" sz="1300" dirty="0">
                <a:solidFill>
                  <a:srgbClr val="666666"/>
                </a:solidFill>
              </a:rPr>
              <a:t>  p. 819</a:t>
            </a:r>
            <a:endParaRPr lang="en-US" sz="14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BONE PHARMACOLOGY &amp; OSTEOPOROSIS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Compare: Osteoporosis drugs at a glance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4F8A"/>
                </a:solidFill>
              </a:rPr>
              <a:t>Objectives: SO3 · SO4 · IO2.1 · IO2.2 · IO2.3 · IO2.4 · IO2.5 · IO2.6</a:t>
            </a:r>
            <a:endParaRPr lang="en-US" sz="8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L04 · Musculoskeletal Pharmacology — Session 2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78</a:t>
            </a:r>
            <a:endParaRPr lang="en-US" sz="1000" dirty="0"/>
          </a:p>
        </p:txBody>
      </p:sp>
      <p:graphicFrame>
        <p:nvGraphicFramePr>
          <p:cNvPr id="79" name="Comparis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905658"/>
                <a:gridCol w="2905658"/>
                <a:gridCol w="290565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Drug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Side of the balance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Route · schedule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Key safety point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Alendronate, risedronate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Antiresorptive (osteoclast apoptosis)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Oral, weekly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Full glass of water, upright 30 min, fasting; esophagitis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Ibandronate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Antiresorptive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Oral, monthly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Same oral rules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Zoledronic acid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Antiresorptive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IV, yearly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Flu-like acute-phase reaction; avoid if CrCl &lt; 30–35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Denosumab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Antiresorptive (RANKL antibody, mimics OPG)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Injection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Rebound vertebral fractures if stopped → bisphosphonate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Raloxifene</a:t>
                      </a:r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 (SERM)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Antiresorptive (estrogen-like on bone)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Oral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VTE; hot flashes; may ↓ breast cancer risk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Calcitonin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Antiresorptive (opposes PTH)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Not covered in materials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Not covered in materials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Teriparatide</a:t>
                      </a:r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, abaloparatide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Anabolic</a:t>
                      </a: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 (PTH analog)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Daily injection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2-year lifetime limit, then antiresorptive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Romosozumab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Anabolic + antiresorptive</a:t>
                      </a: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 (sclerostin antibody)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Injection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Boxed: MI, stroke, CV death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able sources"/>
          <p:cNvSpPr txBox="1"/>
          <p:nvPr/>
        </p:nvSpPr>
        <p:spPr>
          <a:xfrm>
            <a:off x="548640" y="5868924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Focus: what tells these apart.  Sources: S37–S44</a:t>
            </a:r>
            <a:endParaRPr lang="en-US" sz="11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BONE PHARMACOLOGY &amp; OSTEOPOROSIS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Compare: Oral bisphosphonate rules — and why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4F8A"/>
                </a:solidFill>
              </a:rPr>
              <a:t>Objectives: SO3 · SO4 · IO2.1 · IO2.2 · IO2.3 · IO2.4 · IO2.5 · IO2.6</a:t>
            </a:r>
            <a:endParaRPr lang="en-US" sz="8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L04 · Musculoskeletal Pharmacology — Session 2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79</a:t>
            </a:r>
            <a:endParaRPr lang="en-US" sz="1000" dirty="0"/>
          </a:p>
        </p:txBody>
      </p:sp>
      <p:graphicFrame>
        <p:nvGraphicFramePr>
          <p:cNvPr id="80" name="Comparis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71697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Rule</a:t>
                      </a: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Why</a:t>
                      </a: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Fasting, first thing in the morning, plain water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Absorption is under 1%; food, calcium, coffee and antacids cut it further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Full glass of water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Washes the tablet past the esophagus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Stay upright 30 minutes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Lowers esophageal contact time and irritation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Not with stricture, achalasia, or inability to sit up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Tablet would sit in the esophagus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Correct calcium and vitamin D first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Shutting down resorption can drop calcium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8" name="Table sources"/>
          <p:cNvSpPr txBox="1"/>
          <p:nvPr/>
        </p:nvSpPr>
        <p:spPr>
          <a:xfrm>
            <a:off x="548640" y="4710176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Focus: what tells these apart.  Sources: S40; S41; SG U2-R13</a:t>
            </a:r>
            <a:endParaRPr lang="en-US" sz="11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BONE PHARMACOLOGY &amp; OSTEOPOROSIS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Compare: Name clues: bone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4F8A"/>
                </a:solidFill>
              </a:rPr>
              <a:t>Objectives: SO3 · SO4 · IO2.1 · IO2.2 · IO2.3 · IO2.4 · IO2.5 · IO2.6</a:t>
            </a:r>
            <a:endParaRPr lang="en-US" sz="8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L04 · Musculoskeletal Pharmacology — Session 2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80</a:t>
            </a:r>
            <a:endParaRPr lang="en-US" sz="1000" dirty="0"/>
          </a:p>
        </p:txBody>
      </p:sp>
      <p:graphicFrame>
        <p:nvGraphicFramePr>
          <p:cNvPr id="81" name="Comparis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358488"/>
                <a:gridCol w="435848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Name clue</a:t>
                      </a: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Class</a:t>
                      </a: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Examples</a:t>
                      </a: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-dronate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Bisphosphonates (inhibit osteoclast resorption)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Alendronate, risedronate, ibandronate; zoledronic acid (zoledronate)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-sumab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Monoclonal antibodies (-mab) targeting bone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Denosumab (RANKL), romosozumab (sclerostin)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-fene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Selective estrogen receptor modulator (SERM)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Raloxifene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-tide (peptide)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PTH analogs (anabolic)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Teriparatide, abaloparatide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No shared stem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Calcitonin (hormone)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Calcitonin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8" name="Table sources"/>
          <p:cNvSpPr txBox="1"/>
          <p:nvPr/>
        </p:nvSpPr>
        <p:spPr>
          <a:xfrm>
            <a:off x="548640" y="3966464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Focus: what tells these apart.  Sources: S46</a:t>
            </a:r>
            <a:endParaRPr lang="en-US" sz="11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BONE PHARMACOLOGY &amp; OSTEOPOROSIS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Compare: Hormones and drugs in bone mineral homeostasis (textbook)</a:t>
            </a:r>
            <a:endParaRPr lang="en-US" sz="21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4F8A"/>
                </a:solidFill>
              </a:rPr>
              <a:t>Objectives: SO3 · SO4 · IO2.1 · IO2.2 · IO2.3 · IO2.4 · IO2.5 · IO2.6</a:t>
            </a:r>
            <a:endParaRPr lang="en-US" sz="8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L04 · Musculoskeletal Pharmacology — Session 2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81</a:t>
            </a:r>
            <a:endParaRPr lang="en-US" sz="1000" dirty="0"/>
          </a:p>
        </p:txBody>
      </p:sp>
      <p:graphicFrame>
        <p:nvGraphicFramePr>
          <p:cNvPr id="82" name="Comparis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358488"/>
                <a:gridCol w="435848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Regulator / drug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What it does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Clinical use or point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Parathyroid hormone (PTH)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↑ serum calcium, ↓ phosphate; ↑ 1,25(OH)₂D; RANKL via osteoblasts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Intermittent PTH 1-34 (teriparatide) is anabolic; rhPTH 1-84 for hypoparathyroidism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Vitamin D (1,25-dihydroxyvitamin D)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↑ gut calcium and phosphate absorption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Vitamin D preparations: D3 preferred; calcitriol when speed matters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Fibroblast growth factor 23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↓ phosphate reabsorption and 1,25(OH)₂D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Burosumab (anti-FGF23) for X-linked hypophosphatemia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Calcitonin (secondary regulator)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Inhibits osteoclasts; ↓ calcium and phosphate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Salmon form lasts 40–50 min; Paget, hypercalcemia, osteoporosis (weaker)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Glucocorticoids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Net bone loss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Common cause of adult osteoporosis; treat sarcoid/vitamin D hypercalcemia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Estrogens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Reduce PTH-driven resorption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Prevent postmenopausal loss; long-term use out of favor → SERMs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able sources"/>
          <p:cNvSpPr txBox="1"/>
          <p:nvPr/>
        </p:nvSpPr>
        <p:spPr>
          <a:xfrm>
            <a:off x="548640" y="4962144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Focus: what tells these apart.  Sources: p. 813; p. 815; p. 816; p. 817; p. 818; p. 819; p. 820; p. 821; p. 824; p. 825</a:t>
            </a:r>
            <a:endParaRPr lang="en-US" sz="11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BONE PHARMACOLOGY &amp; OSTEOPOROSIS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Compare: Hormones and drugs in bone mineral homeostasis (textbook) (cont.)</a:t>
            </a:r>
            <a:endParaRPr lang="en-US" sz="22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4F8A"/>
                </a:solidFill>
              </a:rPr>
              <a:t>Objectives: SO3 · SO4 · IO2.1 · IO2.2 · IO2.3 · IO2.4 · IO2.5 · IO2.6</a:t>
            </a:r>
            <a:endParaRPr lang="en-US" sz="8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L04 · Musculoskeletal Pharmacology — Session 2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82</a:t>
            </a:r>
            <a:endParaRPr lang="en-US" sz="1000" dirty="0"/>
          </a:p>
        </p:txBody>
      </p:sp>
      <p:graphicFrame>
        <p:nvGraphicFramePr>
          <p:cNvPr id="83" name="Comparis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358488"/>
                <a:gridCol w="435848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Regulator / drug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What it does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Clinical use or point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Sclerostin antibodies (romosozumab)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Unblock Wnt → osteoblasts; ↓ resorption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1 year, then antiresorptive; MI/stroke boxed warning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Calcimimetics (cinacalcet, etelcalcetide)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Activate the calcium-sensing receptor → ↓ PTH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Secondary hyperparathyroidism in CKD; cinacalcet 30 → 90 mg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Thiazide diuretics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↓ renal calcium excretion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Idiopathic hypercalciuria stones; avoid loop diuretics there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Fluoride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Stabilizes hydroxyapatite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Dental caries; not FDA approved for osteoporosis (fractures not reduced)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Strontium ranelate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↓ resorption, ↑ formation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Europe only; not approved in the USA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8" name="Table sources"/>
          <p:cNvSpPr txBox="1"/>
          <p:nvPr/>
        </p:nvSpPr>
        <p:spPr>
          <a:xfrm>
            <a:off x="548640" y="4400296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Focus: what tells these apart.  Sources: p. 813; p. 815; p. 816; p. 817; p. 818; p. 819; p. 820; p. 821; p. 824; p. 825</a:t>
            </a:r>
            <a:endParaRPr lang="en-US" sz="11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BONE PHARMACOLOGY &amp; OSTEOPOROSIS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Compare: Calcium and phosphate disorders (textbook, clinical pharmacology)</a:t>
            </a:r>
            <a:endParaRPr lang="en-US" sz="22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4F8A"/>
                </a:solidFill>
              </a:rPr>
              <a:t>Objectives: SO3 · SO4 · IO2.1 · IO2.2 · IO2.3 · IO2.4 · IO2.5 · IO2.6</a:t>
            </a:r>
            <a:endParaRPr lang="en-US" sz="8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L04 · Musculoskeletal Pharmacology — Session 2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83</a:t>
            </a:r>
            <a:endParaRPr lang="en-US" sz="1000" dirty="0"/>
          </a:p>
        </p:txBody>
      </p:sp>
      <p:graphicFrame>
        <p:nvGraphicFramePr>
          <p:cNvPr id="84" name="Comparis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358488"/>
                <a:gridCol w="435848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Disorder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Drug approach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Pearl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Hypercalcemia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Saline diuresis 500–1000 mL/h, then furosemide; pamidronate 60–90 mg or zoledronate 4 mg IV; calcitonin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Calcitonin acts in 4–6 h; gallium nitrate seldom used; glucocorticoids for sarcoid, vitamin D, myeloma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Hypocalcemia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IV 10% calcium gluconate slowly; oral 1000–1500 mg elemental/day; calcitriol 0.25–1 mcg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Calcium carbonate 40% calcium (with meals if achlorhydric) vs. citrate 21%; check magnesium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Hyperphosphatemia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Diet + binders: sevelamer, lanthanum, calcium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Aluminum binders sparingly (bone disease)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Hypophosphatemia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Oral phosphate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Long term: weakness, osteomalacia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Primary hyperparathyroidism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Surgery; cinacalcet if not a candidate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Rule out familial hypocalciuric hypercalcemia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Hypoparathyroidism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Calcitriol + calcium; rhPTH 1-84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Hypercalciuria limits standard therapy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able sources"/>
          <p:cNvSpPr txBox="1"/>
          <p:nvPr/>
        </p:nvSpPr>
        <p:spPr>
          <a:xfrm>
            <a:off x="548640" y="474522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Focus: what tells these apart.  Sources: p. 822; p. 823; p. 824; p. 825; p. 826; p. 829</a:t>
            </a:r>
            <a:endParaRPr lang="en-US" sz="11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BONE PHARMACOLOGY &amp; OSTEOPOROSIS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Compare: Calcium and phosphate disorders (textbook, clinical pharmacology) (cont.)</a:t>
            </a:r>
            <a:endParaRPr lang="en-US" sz="22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4F8A"/>
                </a:solidFill>
              </a:rPr>
              <a:t>Objectives: SO3 · SO4 · IO2.1 · IO2.2 · IO2.3 · IO2.4 · IO2.5 · IO2.6</a:t>
            </a:r>
            <a:endParaRPr lang="en-US" sz="8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L04 · Musculoskeletal Pharmacology — Session 2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84</a:t>
            </a:r>
            <a:endParaRPr lang="en-US" sz="1000" dirty="0"/>
          </a:p>
        </p:txBody>
      </p:sp>
      <p:graphicFrame>
        <p:nvGraphicFramePr>
          <p:cNvPr id="85" name="Comparis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358488"/>
                <a:gridCol w="435848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Disorder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Drug approach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Pearl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Nutritional vitamin D deficiency or insufficiency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D2 or D3 1000–4000 IU/d or 50,000 IU/week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25(OH)D &gt; 12 ng/mL prevents rickets; 20–30 ng/mL target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Chronic kidney disease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Calcitriol, doxercalciferol, paricalcitol; binders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Keep calcium × phosphate &lt; 55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Intestinal osteodystrophy (malabsorption)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High-dose vitamin D 25,000–50,000 IU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Osteoporosis + osteomalacia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Idiopathic hypercalciuria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Hydrochlorothiazide up to 50 mg twice daily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Not loop diuretics; allopurinol an alternative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Paget disease of bone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Bisphosphonates (higher doses), calcitonin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Follow alkaline phosphatase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Enteric oxaluria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Calcium carbonate 1–2 g/day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Calcium binds gut oxalate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able sources"/>
          <p:cNvSpPr txBox="1"/>
          <p:nvPr/>
        </p:nvSpPr>
        <p:spPr>
          <a:xfrm>
            <a:off x="548640" y="4311396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Focus: what tells these apart.  Sources: p. 822; p. 823; p. 824; p. 825; p. 826; p. 829</a:t>
            </a:r>
            <a:endParaRPr lang="en-US" sz="11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BONE PHARMACOLOGY &amp; OSTEOPOROSIS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hooks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4F8A"/>
                </a:solidFill>
              </a:rPr>
              <a:t>Objectives: SO3 · SO4 · IO2.1 · IO2.2 · IO2.3 · IO2.4 · IO2.5 · IO2.6</a:t>
            </a:r>
            <a:endParaRPr lang="en-US" sz="8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L04 · Musculoskeletal Pharmacology — Session 2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85</a:t>
            </a:r>
            <a:endParaRPr lang="en-US" sz="1000" dirty="0"/>
          </a:p>
        </p:txBody>
      </p:sp>
      <p:sp>
        <p:nvSpPr>
          <p:cNvPr id="7" name="Why it happens card"/>
          <p:cNvSpPr/>
          <p:nvPr/>
        </p:nvSpPr>
        <p:spPr>
          <a:xfrm>
            <a:off x="548640" y="1325880"/>
            <a:ext cx="5364328" cy="2276856"/>
          </a:xfrm>
          <a:prstGeom prst="roundRect">
            <a:avLst>
              <a:gd name="adj" fmla="val 4819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Why it happens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pic>
        <p:nvPicPr>
          <p:cNvPr id="9" name="Why it happens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Why it happens heading"/>
          <p:cNvSpPr txBox="1"/>
          <p:nvPr/>
        </p:nvSpPr>
        <p:spPr>
          <a:xfrm>
            <a:off x="1353312" y="1508760"/>
            <a:ext cx="4358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472C4"/>
                </a:solidFill>
              </a:rPr>
              <a:t>Why it happens</a:t>
            </a:r>
            <a:endParaRPr lang="en-US" sz="1800" dirty="0"/>
          </a:p>
        </p:txBody>
      </p:sp>
      <p:sp>
        <p:nvSpPr>
          <p:cNvPr id="11" name="Why it happens body"/>
          <p:cNvSpPr txBox="1"/>
          <p:nvPr/>
        </p:nvSpPr>
        <p:spPr>
          <a:xfrm>
            <a:off x="777240" y="2075688"/>
            <a:ext cx="4907128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Why does stopping denosumab cause fractures? It blocks osteoclast formation without killing them; stop it and resorption rebounds — so hand off to a bisphosphonate.</a:t>
            </a:r>
            <a:r>
              <a:rPr lang="en-US" sz="1300" dirty="0">
                <a:solidFill>
                  <a:srgbClr val="666666"/>
                </a:solidFill>
              </a:rPr>
              <a:t>  S43</a:t>
            </a:r>
            <a:endParaRPr lang="en-US" sz="1800" dirty="0"/>
          </a:p>
        </p:txBody>
      </p:sp>
      <p:sp>
        <p:nvSpPr>
          <p:cNvPr id="12" name="Mnemonic (memory aid) card"/>
          <p:cNvSpPr/>
          <p:nvPr/>
        </p:nvSpPr>
        <p:spPr>
          <a:xfrm>
            <a:off x="548640" y="3831336"/>
            <a:ext cx="5364328" cy="1997964"/>
          </a:xfrm>
          <a:prstGeom prst="roundRect">
            <a:avLst>
              <a:gd name="adj" fmla="val 5492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3" name="Mnemonic (memory aid) icon circle"/>
          <p:cNvSpPr/>
          <p:nvPr/>
        </p:nvSpPr>
        <p:spPr>
          <a:xfrm>
            <a:off x="777240" y="4014216"/>
            <a:ext cx="438912" cy="438912"/>
          </a:xfrm>
          <a:prstGeom prst="ellipse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pic>
        <p:nvPicPr>
          <p:cNvPr id="14" name="Mnemonic (memory aid)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4114800"/>
            <a:ext cx="237744" cy="237744"/>
          </a:xfrm>
          <a:prstGeom prst="rect">
            <a:avLst/>
          </a:prstGeom>
        </p:spPr>
      </p:pic>
      <p:sp>
        <p:nvSpPr>
          <p:cNvPr id="15" name="Mnemonic (memory aid) heading"/>
          <p:cNvSpPr txBox="1"/>
          <p:nvPr/>
        </p:nvSpPr>
        <p:spPr>
          <a:xfrm>
            <a:off x="1353312" y="4014216"/>
            <a:ext cx="4358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030A0"/>
                </a:solidFill>
              </a:rPr>
              <a:t>Mnemonic (memory aid)</a:t>
            </a:r>
            <a:endParaRPr lang="en-US" sz="1800" dirty="0"/>
          </a:p>
        </p:txBody>
      </p:sp>
      <p:sp>
        <p:nvSpPr>
          <p:cNvPr id="16" name="Mnemonic (memory aid) body"/>
          <p:cNvSpPr txBox="1"/>
          <p:nvPr/>
        </p:nvSpPr>
        <p:spPr>
          <a:xfrm>
            <a:off x="777240" y="4581144"/>
            <a:ext cx="4907128" cy="1129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PTH pulls from three: Bone, Kidney, Gut.</a:t>
            </a:r>
            <a:r>
              <a:rPr lang="en-US" sz="1800" dirty="0">
                <a:solidFill>
                  <a:srgbClr val="1F1F1F"/>
                </a:solidFill>
              </a:rPr>
              <a:t> Intermittent PTH builds; continuous PTH breaks down.</a:t>
            </a:r>
            <a:r>
              <a:rPr lang="en-US" sz="1300" dirty="0">
                <a:solidFill>
                  <a:srgbClr val="666666"/>
                </a:solidFill>
              </a:rPr>
              <a:t>  S33; S35; SG U2-R12</a:t>
            </a:r>
            <a:endParaRPr lang="en-US" sz="1800" dirty="0"/>
          </a:p>
        </p:txBody>
      </p:sp>
      <p:sp>
        <p:nvSpPr>
          <p:cNvPr id="17" name="Why it happens card"/>
          <p:cNvSpPr/>
          <p:nvPr/>
        </p:nvSpPr>
        <p:spPr>
          <a:xfrm>
            <a:off x="6278728" y="1325880"/>
            <a:ext cx="5364328" cy="2276856"/>
          </a:xfrm>
          <a:prstGeom prst="roundRect">
            <a:avLst>
              <a:gd name="adj" fmla="val 4819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8" name="Why it happens icon circle"/>
          <p:cNvSpPr/>
          <p:nvPr/>
        </p:nvSpPr>
        <p:spPr>
          <a:xfrm>
            <a:off x="6507328" y="1508760"/>
            <a:ext cx="438912" cy="438912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pic>
        <p:nvPicPr>
          <p:cNvPr id="19" name="Why it happens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7912" y="1609344"/>
            <a:ext cx="237744" cy="237744"/>
          </a:xfrm>
          <a:prstGeom prst="rect">
            <a:avLst/>
          </a:prstGeom>
        </p:spPr>
      </p:pic>
      <p:sp>
        <p:nvSpPr>
          <p:cNvPr id="20" name="Why it happens heading"/>
          <p:cNvSpPr txBox="1"/>
          <p:nvPr/>
        </p:nvSpPr>
        <p:spPr>
          <a:xfrm>
            <a:off x="7083400" y="1508760"/>
            <a:ext cx="4358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472C4"/>
                </a:solidFill>
              </a:rPr>
              <a:t>Why it happens</a:t>
            </a:r>
            <a:endParaRPr lang="en-US" sz="1800" dirty="0"/>
          </a:p>
        </p:txBody>
      </p:sp>
      <p:sp>
        <p:nvSpPr>
          <p:cNvPr id="21" name="Why it happens body"/>
          <p:cNvSpPr txBox="1"/>
          <p:nvPr/>
        </p:nvSpPr>
        <p:spPr>
          <a:xfrm>
            <a:off x="6507328" y="2075688"/>
            <a:ext cx="4907128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Why the strict bisphosphonate rules? Under 1% is absorbed, and a tablet lodged in the esophagus burns it — fasting, plain water, upright.</a:t>
            </a:r>
            <a:r>
              <a:rPr lang="en-US" sz="1300" dirty="0">
                <a:solidFill>
                  <a:srgbClr val="666666"/>
                </a:solidFill>
              </a:rPr>
              <a:t>  S41; SG U2-R13</a:t>
            </a:r>
            <a:endParaRPr lang="en-US" sz="18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BONE PHARMACOLOGY &amp; OSTEOPOROSIS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High-yield summary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4F8A"/>
                </a:solidFill>
              </a:rPr>
              <a:t>Objectives: SO3 · SO4 · IO2.1 · IO2.2 · IO2.3 · IO2.4 · IO2.5 · IO2.6</a:t>
            </a:r>
            <a:endParaRPr lang="en-US" sz="8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L04 · Musculoskeletal Pharmacology — Session 2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86</a:t>
            </a:r>
            <a:endParaRPr lang="en-US" sz="1000" dirty="0"/>
          </a:p>
        </p:txBody>
      </p:sp>
      <p:sp>
        <p:nvSpPr>
          <p:cNvPr id="7" name="If you remember nothing else card"/>
          <p:cNvSpPr/>
          <p:nvPr/>
        </p:nvSpPr>
        <p:spPr>
          <a:xfrm>
            <a:off x="548640" y="1325880"/>
            <a:ext cx="11094415" cy="3662172"/>
          </a:xfrm>
          <a:prstGeom prst="roundRect">
            <a:avLst>
              <a:gd name="adj" fmla="val 2996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If you remember nothing else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pic>
        <p:nvPicPr>
          <p:cNvPr id="9" name="If you remember nothing else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If you remember nothing else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55A11"/>
                </a:solidFill>
              </a:rPr>
              <a:t>If you remember nothing else</a:t>
            </a:r>
            <a:endParaRPr lang="en-US" sz="1800" dirty="0"/>
          </a:p>
        </p:txBody>
      </p:sp>
      <p:sp>
        <p:nvSpPr>
          <p:cNvPr id="11" name="If you remember nothing else body"/>
          <p:cNvSpPr txBox="1"/>
          <p:nvPr/>
        </p:nvSpPr>
        <p:spPr>
          <a:xfrm>
            <a:off x="777240" y="2075688"/>
            <a:ext cx="10637215" cy="2793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Bone pharmacology is fundamentally about the balance between osteoblast and osteoclast activity.</a:t>
            </a:r>
            <a:r>
              <a:rPr lang="en-US" sz="1300" dirty="0">
                <a:solidFill>
                  <a:srgbClr val="666666"/>
                </a:solidFill>
              </a:rPr>
              <a:t>  S49; S32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PTH: falling calcium → bone resorption, renal reabsorption, vitamin D–mediated gut absorption.</a:t>
            </a:r>
            <a:r>
              <a:rPr lang="en-US" sz="1300" dirty="0">
                <a:solidFill>
                  <a:srgbClr val="666666"/>
                </a:solidFill>
              </a:rPr>
              <a:t>  S35; SG U2-R12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Bisphosphonates first-line; full glass of water, upright 30 minutes.</a:t>
            </a:r>
            <a:r>
              <a:rPr lang="en-US" sz="1300" dirty="0">
                <a:solidFill>
                  <a:srgbClr val="666666"/>
                </a:solidFill>
              </a:rPr>
              <a:t>  S37; S40; SG U2-R13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Anabolic: teriparatide/abaloparatide (2-year limit), romosozumab (boxed CV).</a:t>
            </a:r>
            <a:r>
              <a:rPr lang="en-US" sz="1300" dirty="0">
                <a:solidFill>
                  <a:srgbClr val="666666"/>
                </a:solidFill>
              </a:rPr>
              <a:t>  S42; S43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Denosumab = RANKL antibody; stopping → rebound vertebral fractures.</a:t>
            </a:r>
            <a:r>
              <a:rPr lang="en-US" sz="1300" dirty="0">
                <a:solidFill>
                  <a:srgbClr val="666666"/>
                </a:solidFill>
              </a:rPr>
              <a:t>  S42; S43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Glucocorticoids: ↑ resorption, ↓ formation → osteoporosis.</a:t>
            </a:r>
            <a:r>
              <a:rPr lang="en-US" sz="1300" dirty="0">
                <a:solidFill>
                  <a:srgbClr val="666666"/>
                </a:solidFill>
              </a:rPr>
              <a:t>  S36; S53</a:t>
            </a:r>
            <a:endParaRPr lang="en-US" sz="18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CLINICAL VIGNETTE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15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4F8A"/>
                </a:solidFill>
              </a:rPr>
              <a:t>Objectives: SO3 · SO4 · IO2.1 · IO2.2 · IO2.3 · IO2.4 · IO2.5 · IO2.6</a:t>
            </a:r>
            <a:endParaRPr lang="en-US" sz="8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L04 · Musculoskeletal Pharmacology — Session 2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87</a:t>
            </a:r>
            <a:endParaRPr lang="en-US" sz="1000" dirty="0"/>
          </a:p>
        </p:txBody>
      </p:sp>
      <p:sp>
        <p:nvSpPr>
          <p:cNvPr id="7" name="Question stem card"/>
          <p:cNvSpPr/>
          <p:nvPr/>
        </p:nvSpPr>
        <p:spPr>
          <a:xfrm>
            <a:off x="548640" y="1325880"/>
            <a:ext cx="11094415" cy="923544"/>
          </a:xfrm>
          <a:prstGeom prst="roundRect">
            <a:avLst>
              <a:gd name="adj" fmla="val 990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Question stem"/>
          <p:cNvSpPr txBox="1"/>
          <p:nvPr/>
        </p:nvSpPr>
        <p:spPr>
          <a:xfrm>
            <a:off x="777240" y="1325880"/>
            <a:ext cx="10637215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A 66-year-old woman starts weekly alendronate. Which counseling point most reduces her risk of esophageal injury?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245973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4597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A</a:t>
            </a:r>
            <a:endParaRPr lang="en-US" sz="1400" dirty="0"/>
          </a:p>
        </p:txBody>
      </p:sp>
      <p:sp>
        <p:nvSpPr>
          <p:cNvPr id="11" name="Option A"/>
          <p:cNvSpPr txBox="1"/>
          <p:nvPr/>
        </p:nvSpPr>
        <p:spPr>
          <a:xfrm>
            <a:off x="1188720" y="243230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Take it with coffee to speed gastric emptying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300837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0083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B</a:t>
            </a:r>
            <a:endParaRPr lang="en-US" sz="1400" dirty="0"/>
          </a:p>
        </p:txBody>
      </p:sp>
      <p:sp>
        <p:nvSpPr>
          <p:cNvPr id="14" name="Option B"/>
          <p:cNvSpPr txBox="1"/>
          <p:nvPr/>
        </p:nvSpPr>
        <p:spPr>
          <a:xfrm>
            <a:off x="1188720" y="298094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Take it with breakfast to protect the stomach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48640" y="355701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5570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C</a:t>
            </a:r>
            <a:endParaRPr lang="en-US" sz="1400" dirty="0"/>
          </a:p>
        </p:txBody>
      </p:sp>
      <p:sp>
        <p:nvSpPr>
          <p:cNvPr id="17" name="Option C"/>
          <p:cNvSpPr txBox="1"/>
          <p:nvPr/>
        </p:nvSpPr>
        <p:spPr>
          <a:xfrm>
            <a:off x="1188720" y="352958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Lie down for 30 minutes after the dose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48640" y="410565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41056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D</a:t>
            </a:r>
            <a:endParaRPr lang="en-US" sz="1400" dirty="0"/>
          </a:p>
        </p:txBody>
      </p:sp>
      <p:sp>
        <p:nvSpPr>
          <p:cNvPr id="20" name="Option D"/>
          <p:cNvSpPr txBox="1"/>
          <p:nvPr/>
        </p:nvSpPr>
        <p:spPr>
          <a:xfrm>
            <a:off x="1188720" y="407822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Full glass of plain water, then stay upright 30 minutes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48640" y="465429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46542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E</a:t>
            </a:r>
            <a:endParaRPr lang="en-US" sz="1400" dirty="0"/>
          </a:p>
        </p:txBody>
      </p:sp>
      <p:sp>
        <p:nvSpPr>
          <p:cNvPr id="23" name="Option E"/>
          <p:cNvSpPr txBox="1"/>
          <p:nvPr/>
        </p:nvSpPr>
        <p:spPr>
          <a:xfrm>
            <a:off x="1188720" y="462686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Take it at bedtime with a calcium supplement</a:t>
            </a:r>
            <a:endParaRPr lang="en-US" sz="18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CLINICAL VIGNETTE · ANSWER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15: D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4F8A"/>
                </a:solidFill>
              </a:rPr>
              <a:t>Objectives: SO3 · SO4 · IO2.1 · IO2.2 · IO2.3 · IO2.4 · IO2.5 · IO2.6</a:t>
            </a:r>
            <a:endParaRPr lang="en-US" sz="8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L04 · Musculoskeletal Pharmacology — Session 2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88</a:t>
            </a:r>
            <a:endParaRPr lang="en-US" sz="1000" dirty="0"/>
          </a:p>
        </p:txBody>
      </p:sp>
      <p:sp>
        <p:nvSpPr>
          <p:cNvPr id="7" name="Correct answer"/>
          <p:cNvSpPr/>
          <p:nvPr/>
        </p:nvSpPr>
        <p:spPr>
          <a:xfrm>
            <a:off x="548640" y="1325880"/>
            <a:ext cx="11094415" cy="548640"/>
          </a:xfrm>
          <a:prstGeom prst="roundRect">
            <a:avLst>
              <a:gd name="adj" fmla="val 16667"/>
            </a:avLst>
          </a:prstGeom>
          <a:solidFill>
            <a:srgbClr val="E2F0D9"/>
          </a:solidFill>
          <a:ln w="19050">
            <a:solidFill>
              <a:srgbClr val="548235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35608"/>
            <a:ext cx="329184" cy="32918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234440" y="1325880"/>
            <a:ext cx="101800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D. </a:t>
            </a:r>
            <a:r>
              <a:rPr lang="en-US" sz="1600" b="1" dirty="0">
                <a:solidFill>
                  <a:srgbClr val="1F1F1F"/>
                </a:solidFill>
              </a:rPr>
              <a:t>Full glass of plain water, then stay upright 30 minutes</a:t>
            </a:r>
            <a:endParaRPr lang="en-US" sz="1600" dirty="0"/>
          </a:p>
        </p:txBody>
      </p:sp>
      <p:sp>
        <p:nvSpPr>
          <p:cNvPr id="10" name="Why correct"/>
          <p:cNvSpPr txBox="1"/>
          <p:nvPr/>
        </p:nvSpPr>
        <p:spPr>
          <a:xfrm>
            <a:off x="777240" y="2011680"/>
            <a:ext cx="10637215" cy="724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</a:rPr>
              <a:t>Take with a full glass of water first thing in the morning, fasting, and remain upright — this reduces esophageal contact time and irritation (S40; S41; SG U2-R13).</a:t>
            </a:r>
            <a:r>
              <a:rPr lang="en-US" sz="1100" dirty="0">
                <a:solidFill>
                  <a:srgbClr val="666666"/>
                </a:solidFill>
              </a:rPr>
              <a:t>  S40; S41; SG U2-R13</a:t>
            </a:r>
            <a:endParaRPr lang="en-US" sz="1600" dirty="0"/>
          </a:p>
        </p:txBody>
      </p:sp>
      <p:sp>
        <p:nvSpPr>
          <p:cNvPr id="11" name="Why others wrong card"/>
          <p:cNvSpPr/>
          <p:nvPr/>
        </p:nvSpPr>
        <p:spPr>
          <a:xfrm>
            <a:off x="548640" y="2873248"/>
            <a:ext cx="11094415" cy="1704848"/>
          </a:xfrm>
          <a:prstGeom prst="roundRect">
            <a:avLst>
              <a:gd name="adj" fmla="val 5364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2" name="Why others wrong"/>
          <p:cNvSpPr txBox="1"/>
          <p:nvPr/>
        </p:nvSpPr>
        <p:spPr>
          <a:xfrm>
            <a:off x="777240" y="2982976"/>
            <a:ext cx="10637215" cy="1521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C00000"/>
                </a:solidFill>
              </a:rPr>
              <a:t>Why the other choices are wrong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A. Take it with coffee to speed gastric emptying — </a:t>
            </a:r>
            <a:r>
              <a:rPr lang="en-US" sz="1600" dirty="0">
                <a:solidFill>
                  <a:srgbClr val="1F1F1F"/>
                </a:solidFill>
              </a:rPr>
              <a:t>Coffee reduces absorption (S41).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B. Take it with breakfast to protect the stomach — </a:t>
            </a:r>
            <a:r>
              <a:rPr lang="en-US" sz="1600" dirty="0">
                <a:solidFill>
                  <a:srgbClr val="1F1F1F"/>
                </a:solidFill>
              </a:rPr>
              <a:t>Food cuts the already poor absorption; take it fasting (S41).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C. Lie down for 30 minutes after the dose — </a:t>
            </a:r>
            <a:r>
              <a:rPr lang="en-US" sz="1600" dirty="0">
                <a:solidFill>
                  <a:srgbClr val="1F1F1F"/>
                </a:solidFill>
              </a:rPr>
              <a:t>Remaining upright is the key counseling point (S40).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E. Take it at bedtime with a calcium supplement — </a:t>
            </a:r>
            <a:r>
              <a:rPr lang="en-US" sz="1600" dirty="0">
                <a:solidFill>
                  <a:srgbClr val="1F1F1F"/>
                </a:solidFill>
              </a:rPr>
              <a:t>Calcium blocks absorption, and lying down raises esophageal risk (S41).</a:t>
            </a:r>
            <a:endParaRPr lang="en-US" sz="16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2F4F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6E0F5"/>
                </a:solidFill>
              </a:rPr>
              <a:t>Topic 4 of 4</a:t>
            </a:r>
            <a:endParaRPr lang="en-US" sz="16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187452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All Together: Musculoskeletal Toolkit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108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6E0F5"/>
                </a:solidFill>
              </a:rPr>
              <a:t>Covers objectives: SO5 · IO2.3 · IO2.4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338042" y="4297680"/>
            <a:ext cx="640080" cy="640080"/>
          </a:xfrm>
          <a:prstGeom prst="ellipse">
            <a:avLst/>
          </a:prstGeom>
          <a:solidFill>
            <a:srgbClr val="44546A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3490" y="4453128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94360" y="5029200"/>
            <a:ext cx="212744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Key definitions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556925" y="4297680"/>
            <a:ext cx="640080" cy="640080"/>
          </a:xfrm>
          <a:prstGeom prst="ellipse">
            <a:avLst/>
          </a:prstGeom>
          <a:solidFill>
            <a:srgbClr val="7030A0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2373" y="4453128"/>
            <a:ext cx="329184" cy="32918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813243" y="5029200"/>
            <a:ext cx="212744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How it works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5775808" y="4297680"/>
            <a:ext cx="640080" cy="640080"/>
          </a:xfrm>
          <a:prstGeom prst="ellipse">
            <a:avLst/>
          </a:prstGeom>
          <a:solidFill>
            <a:srgbClr val="548235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1256" y="4453128"/>
            <a:ext cx="329184" cy="32918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032126" y="5029200"/>
            <a:ext cx="212744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Clinical relevance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7994691" y="4297680"/>
            <a:ext cx="640080" cy="640080"/>
          </a:xfrm>
          <a:prstGeom prst="ellipse">
            <a:avLst/>
          </a:prstGeom>
          <a:solidFill>
            <a:srgbClr val="4472C4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0139" y="4453128"/>
            <a:ext cx="329184" cy="32918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7251009" y="5029200"/>
            <a:ext cx="212744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Drugs named as examples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10213574" y="4297680"/>
            <a:ext cx="640080" cy="640080"/>
          </a:xfrm>
          <a:prstGeom prst="ellipse">
            <a:avLst/>
          </a:prstGeom>
          <a:solidFill>
            <a:srgbClr val="C00000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9022" y="4453128"/>
            <a:ext cx="329184" cy="329184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9469892" y="5029200"/>
            <a:ext cx="212744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Exam traps</a:t>
            </a:r>
            <a:endParaRPr lang="en-US" sz="1200" dirty="0"/>
          </a:p>
        </p:txBody>
      </p:sp>
      <p:sp>
        <p:nvSpPr>
          <p:cNvPr id="20" name="Text 13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6E0F5"/>
                </a:solidFill>
              </a:rPr>
              <a:t>89</a:t>
            </a:r>
            <a:endParaRPr lang="en-US" sz="10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PUTTING IT ALL TOGETHER: MUSCULOSKELETAL TOOLKIT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definitions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SO5 · IO2.3 · IO2.4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L04 · Musculoskeletal Pharmacology — Session 2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90</a:t>
            </a:r>
            <a:endParaRPr lang="en-US" sz="1000" dirty="0"/>
          </a:p>
        </p:txBody>
      </p:sp>
      <p:sp>
        <p:nvSpPr>
          <p:cNvPr id="7" name="Key definitions card"/>
          <p:cNvSpPr/>
          <p:nvPr/>
        </p:nvSpPr>
        <p:spPr>
          <a:xfrm>
            <a:off x="548640" y="1325880"/>
            <a:ext cx="11094415" cy="2011680"/>
          </a:xfrm>
          <a:prstGeom prst="roundRect">
            <a:avLst>
              <a:gd name="adj" fmla="val 5455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Key definitions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44546A"/>
          </a:solidFill>
          <a:ln w="12700">
            <a:solidFill>
              <a:srgbClr val="44546A"/>
            </a:solidFill>
            <a:prstDash val="solid"/>
          </a:ln>
        </p:spPr>
      </p:sp>
      <p:pic>
        <p:nvPicPr>
          <p:cNvPr id="9" name="Key definitions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Key definitions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4546A"/>
                </a:solidFill>
              </a:rPr>
              <a:t>Key definitions</a:t>
            </a:r>
            <a:endParaRPr lang="en-US" sz="1800" dirty="0"/>
          </a:p>
        </p:txBody>
      </p:sp>
      <p:sp>
        <p:nvSpPr>
          <p:cNvPr id="11" name="Key definitions body"/>
          <p:cNvSpPr txBox="1"/>
          <p:nvPr/>
        </p:nvSpPr>
        <p:spPr>
          <a:xfrm>
            <a:off x="777240" y="2075688"/>
            <a:ext cx="106372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Applying the whole musculoskeletal pharmacology toolkit: for each patient, name a first-line drug class AND the single biggest safety concern to check before prescribing it.</a:t>
            </a:r>
            <a:r>
              <a:rPr lang="en-US" sz="1300" dirty="0">
                <a:solidFill>
                  <a:srgbClr val="666666"/>
                </a:solidFill>
              </a:rPr>
              <a:t>  S47; S48 (notes)</a:t>
            </a:r>
            <a:endParaRPr lang="en-US" sz="18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PUTTING IT ALL TOGETHER: MUSCULOSKELETAL TOOLKIT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SO5 · IO2.3 · IO2.4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L04 · Musculoskeletal Pharmacology — Session 2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91</a:t>
            </a:r>
            <a:endParaRPr lang="en-US" sz="1000" dirty="0"/>
          </a:p>
        </p:txBody>
      </p:sp>
      <p:sp>
        <p:nvSpPr>
          <p:cNvPr id="7" name="How it works card"/>
          <p:cNvSpPr/>
          <p:nvPr/>
        </p:nvSpPr>
        <p:spPr>
          <a:xfrm>
            <a:off x="548640" y="1325880"/>
            <a:ext cx="11094415" cy="3662172"/>
          </a:xfrm>
          <a:prstGeom prst="roundRect">
            <a:avLst>
              <a:gd name="adj" fmla="val 2996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How it works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pic>
        <p:nvPicPr>
          <p:cNvPr id="9" name="How it works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How it works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030A0"/>
                </a:solidFill>
              </a:rPr>
              <a:t>How it works</a:t>
            </a:r>
            <a:endParaRPr lang="en-US" sz="1800" dirty="0"/>
          </a:p>
        </p:txBody>
      </p:sp>
      <p:sp>
        <p:nvSpPr>
          <p:cNvPr id="11" name="How it works body"/>
          <p:cNvSpPr txBox="1"/>
          <p:nvPr/>
        </p:nvSpPr>
        <p:spPr>
          <a:xfrm>
            <a:off x="777240" y="2075688"/>
            <a:ext cx="10637215" cy="2793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1.</a:t>
            </a:r>
            <a:r>
              <a:rPr lang="en-US" sz="1800" dirty="0">
                <a:solidFill>
                  <a:srgbClr val="1F1F1F"/>
                </a:solidFill>
              </a:rPr>
              <a:t> Pain and inflammation are related but distinct — treat them accordingly.</a:t>
            </a:r>
            <a:r>
              <a:rPr lang="en-US" sz="1300" dirty="0">
                <a:solidFill>
                  <a:srgbClr val="666666"/>
                </a:solidFill>
              </a:rPr>
              <a:t>  S49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2.</a:t>
            </a:r>
            <a:r>
              <a:rPr lang="en-US" sz="1800" dirty="0">
                <a:solidFill>
                  <a:srgbClr val="1F1F1F"/>
                </a:solidFill>
              </a:rPr>
              <a:t> NSAIDs are effective for pain and inflammation, but carry real GI, renal, and cardiovascular risk.</a:t>
            </a:r>
            <a:r>
              <a:rPr lang="en-US" sz="1300" dirty="0">
                <a:solidFill>
                  <a:srgbClr val="666666"/>
                </a:solidFill>
              </a:rPr>
              <a:t>  S49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3.</a:t>
            </a:r>
            <a:r>
              <a:rPr lang="en-US" sz="1800" dirty="0">
                <a:solidFill>
                  <a:srgbClr val="1F1F1F"/>
                </a:solidFill>
              </a:rPr>
              <a:t> DMARDs modify the underlying disease process in RA — they do more than mask symptoms.</a:t>
            </a:r>
            <a:r>
              <a:rPr lang="en-US" sz="1300" dirty="0">
                <a:solidFill>
                  <a:srgbClr val="666666"/>
                </a:solidFill>
              </a:rPr>
              <a:t>  S49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4.</a:t>
            </a:r>
            <a:r>
              <a:rPr lang="en-US" sz="1800" dirty="0">
                <a:solidFill>
                  <a:srgbClr val="1F1F1F"/>
                </a:solidFill>
              </a:rPr>
              <a:t> Acute gout treatment and chronic urate-lowering therapy are different goals, started at different times.</a:t>
            </a:r>
            <a:r>
              <a:rPr lang="en-US" sz="1300" dirty="0">
                <a:solidFill>
                  <a:srgbClr val="666666"/>
                </a:solidFill>
              </a:rPr>
              <a:t>  S49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5.</a:t>
            </a:r>
            <a:r>
              <a:rPr lang="en-US" sz="1800" dirty="0">
                <a:solidFill>
                  <a:srgbClr val="1F1F1F"/>
                </a:solidFill>
              </a:rPr>
              <a:t> Bone pharmacology is fundamentally about the balance between osteoblast and osteoclast activity.</a:t>
            </a:r>
            <a:r>
              <a:rPr lang="en-US" sz="1300" dirty="0">
                <a:solidFill>
                  <a:srgbClr val="666666"/>
                </a:solidFill>
              </a:rPr>
              <a:t>  S49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Every mechanism here — COX inhibition, CYP interactions, renal dosing, pharmacogenomics — is Lecture 1’s toolkit applied to one organ system.</a:t>
            </a:r>
            <a:r>
              <a:rPr lang="en-US" sz="1300" dirty="0">
                <a:solidFill>
                  <a:srgbClr val="666666"/>
                </a:solidFill>
              </a:rPr>
              <a:t>  S49 (notes)</a:t>
            </a:r>
            <a:endParaRPr lang="en-US" sz="18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PUTTING IT ALL TOGETHER: MUSCULOSKELETAL TOOLKIT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relevance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SO5 · IO2.3 · IO2.4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L04 · Musculoskeletal Pharmacology — Session 2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92</a:t>
            </a:r>
            <a:endParaRPr lang="en-US" sz="1000" dirty="0"/>
          </a:p>
        </p:txBody>
      </p:sp>
      <p:sp>
        <p:nvSpPr>
          <p:cNvPr id="7" name="Clinical relevance card"/>
          <p:cNvSpPr/>
          <p:nvPr/>
        </p:nvSpPr>
        <p:spPr>
          <a:xfrm>
            <a:off x="548640" y="1325880"/>
            <a:ext cx="11094415" cy="3721608"/>
          </a:xfrm>
          <a:prstGeom prst="roundRect">
            <a:avLst>
              <a:gd name="adj" fmla="val 2948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Clinical relevance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548235"/>
          </a:solidFill>
          <a:ln w="12700">
            <a:solidFill>
              <a:srgbClr val="548235"/>
            </a:solidFill>
            <a:prstDash val="solid"/>
          </a:ln>
        </p:spPr>
      </p:sp>
      <p:pic>
        <p:nvPicPr>
          <p:cNvPr id="9" name="Clinical relevance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Clinical relevance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48235"/>
                </a:solidFill>
              </a:rPr>
              <a:t>Clinical relevance</a:t>
            </a:r>
            <a:endParaRPr lang="en-US" sz="1800" dirty="0"/>
          </a:p>
        </p:txBody>
      </p:sp>
      <p:sp>
        <p:nvSpPr>
          <p:cNvPr id="11" name="Clinical relevance body"/>
          <p:cNvSpPr txBox="1"/>
          <p:nvPr/>
        </p:nvSpPr>
        <p:spPr>
          <a:xfrm>
            <a:off x="777240" y="2075688"/>
            <a:ext cx="10637215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Patient A — acute gout flare, first presentation:</a:t>
            </a:r>
            <a:r>
              <a:rPr lang="en-US" sz="1800" dirty="0">
                <a:solidFill>
                  <a:srgbClr val="1F1F1F"/>
                </a:solidFill>
              </a:rPr>
              <a:t> colchicine, NSAID, or corticosteroid; check renal/hepatic function and CYP3A4/P-gp inhibitors (colchicine). No ULT yet.</a:t>
            </a:r>
            <a:r>
              <a:rPr lang="en-US" sz="1300" dirty="0">
                <a:solidFill>
                  <a:srgbClr val="666666"/>
                </a:solidFill>
              </a:rPr>
              <a:t>  S48; S7; S9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Patient B — chronic RA, inadequately controlled:</a:t>
            </a:r>
            <a:r>
              <a:rPr lang="en-US" sz="1800" dirty="0">
                <a:solidFill>
                  <a:srgbClr val="1F1F1F"/>
                </a:solidFill>
              </a:rPr>
              <a:t> escalate DMARD therapy (biologic); check infection risk — TB and hepatitis screening first.</a:t>
            </a:r>
            <a:r>
              <a:rPr lang="en-US" sz="1300" dirty="0">
                <a:solidFill>
                  <a:srgbClr val="666666"/>
                </a:solidFill>
              </a:rPr>
              <a:t>  S48; S52; S53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Patient C — osteoarthritis + chronic kidney disease:</a:t>
            </a:r>
            <a:r>
              <a:rPr lang="en-US" sz="1800" dirty="0">
                <a:solidFill>
                  <a:srgbClr val="1F1F1F"/>
                </a:solidFill>
              </a:rPr>
              <a:t> acetaminophen or a topical NSAID; avoid oral NSAIDs (renal risk).</a:t>
            </a:r>
            <a:r>
              <a:rPr lang="en-US" sz="1300" dirty="0">
                <a:solidFill>
                  <a:srgbClr val="666666"/>
                </a:solidFill>
              </a:rPr>
              <a:t>  S48; S51; S53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Patient D — postmenopausal osteoporosis, high fracture risk:</a:t>
            </a:r>
            <a:r>
              <a:rPr lang="en-US" sz="1800" dirty="0">
                <a:solidFill>
                  <a:srgbClr val="1F1F1F"/>
                </a:solidFill>
              </a:rPr>
              <a:t> consider an anabolic agent first; check its limits (teriparatide 2 years; romosozumab CV boxed warning).</a:t>
            </a:r>
            <a:r>
              <a:rPr lang="en-US" sz="1300" dirty="0">
                <a:solidFill>
                  <a:srgbClr val="666666"/>
                </a:solidFill>
              </a:rPr>
              <a:t>  S48; S45; S43</a:t>
            </a:r>
            <a:endParaRPr lang="en-US" sz="18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PUTTING IT ALL TOGETHER: MUSCULOSKELETAL TOOLKIT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Drugs named as examples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SO5 · IO2.3 · IO2.4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L04 · Musculoskeletal Pharmacology — Session 2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93</a:t>
            </a:r>
            <a:endParaRPr lang="en-US" sz="1000" dirty="0"/>
          </a:p>
        </p:txBody>
      </p:sp>
      <p:sp>
        <p:nvSpPr>
          <p:cNvPr id="7" name="Drugs named as examples (1/2) card"/>
          <p:cNvSpPr/>
          <p:nvPr/>
        </p:nvSpPr>
        <p:spPr>
          <a:xfrm>
            <a:off x="548640" y="1325880"/>
            <a:ext cx="11094415" cy="3054096"/>
          </a:xfrm>
          <a:prstGeom prst="roundRect">
            <a:avLst>
              <a:gd name="adj" fmla="val 359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Drugs named as examples (1/2)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pic>
        <p:nvPicPr>
          <p:cNvPr id="9" name="Drugs named as examples (1/2)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Drugs named as examples (1/2)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472C4"/>
                </a:solidFill>
              </a:rPr>
              <a:t>Drugs named as examples (1/2)</a:t>
            </a:r>
            <a:endParaRPr lang="en-US" sz="1800" dirty="0"/>
          </a:p>
        </p:txBody>
      </p:sp>
      <p:sp>
        <p:nvSpPr>
          <p:cNvPr id="11" name="Drugs named as examples (1/2) body"/>
          <p:cNvSpPr txBox="1"/>
          <p:nvPr/>
        </p:nvSpPr>
        <p:spPr>
          <a:xfrm>
            <a:off x="777240" y="2075688"/>
            <a:ext cx="10637215" cy="218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Recall Q1:</a:t>
            </a:r>
            <a:r>
              <a:rPr lang="en-US" sz="1800" dirty="0">
                <a:solidFill>
                  <a:srgbClr val="1F1F1F"/>
                </a:solidFill>
              </a:rPr>
              <a:t> acetaminophen is not a reliable first-line choice for an inflammatory joint flare — it has minimal peripheral anti-inflammatory effect; it treats pain and fever, not inflammation itself.</a:t>
            </a:r>
            <a:r>
              <a:rPr lang="en-US" sz="1300" dirty="0">
                <a:solidFill>
                  <a:srgbClr val="666666"/>
                </a:solidFill>
              </a:rPr>
              <a:t>  S51; S53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Recall Q2:</a:t>
            </a:r>
            <a:r>
              <a:rPr lang="en-US" sz="1800" dirty="0">
                <a:solidFill>
                  <a:srgbClr val="1F1F1F"/>
                </a:solidFill>
              </a:rPr>
              <a:t> a 70-year-old with CKD and heart failure needing OA pain control — acetaminophen or a topical NSAID avoids the systemic renal/CV risk of oral NSAIDs.</a:t>
            </a:r>
            <a:r>
              <a:rPr lang="en-US" sz="1300" dirty="0">
                <a:solidFill>
                  <a:srgbClr val="666666"/>
                </a:solidFill>
              </a:rPr>
              <a:t>  S51; S53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Recall Q3:</a:t>
            </a:r>
            <a:r>
              <a:rPr lang="en-US" sz="1800" dirty="0">
                <a:solidFill>
                  <a:srgbClr val="1F1F1F"/>
                </a:solidFill>
              </a:rPr>
              <a:t> methotrexate inhibits dihydrofolate reductase; allopurinol inhibits xanthine oxidase; colchicine disrupts microtubules; baclofen is a GABA-B agonist.</a:t>
            </a:r>
            <a:r>
              <a:rPr lang="en-US" sz="1300" dirty="0">
                <a:solidFill>
                  <a:srgbClr val="666666"/>
                </a:solidFill>
              </a:rPr>
              <a:t>  S51; S53</a:t>
            </a:r>
            <a:endParaRPr lang="en-US" sz="18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PUTTING IT ALL TOGETHER: MUSCULOSKELETAL TOOLKIT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Drugs named as examples (cont.)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SO5 · IO2.3 · IO2.4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L04 · Musculoskeletal Pharmacology — Session 2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94</a:t>
            </a:r>
            <a:endParaRPr lang="en-US" sz="1000" dirty="0"/>
          </a:p>
        </p:txBody>
      </p:sp>
      <p:sp>
        <p:nvSpPr>
          <p:cNvPr id="7" name="Drugs named as examples (2/2) card"/>
          <p:cNvSpPr/>
          <p:nvPr/>
        </p:nvSpPr>
        <p:spPr>
          <a:xfrm>
            <a:off x="548640" y="1325880"/>
            <a:ext cx="11094415" cy="3332988"/>
          </a:xfrm>
          <a:prstGeom prst="roundRect">
            <a:avLst>
              <a:gd name="adj" fmla="val 3292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Drugs named as examples (2/2)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pic>
        <p:nvPicPr>
          <p:cNvPr id="9" name="Drugs named as examples (2/2)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Drugs named as examples (2/2)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472C4"/>
                </a:solidFill>
              </a:rPr>
              <a:t>Drugs named as examples (2/2)</a:t>
            </a:r>
            <a:endParaRPr lang="en-US" sz="1800" dirty="0"/>
          </a:p>
        </p:txBody>
      </p:sp>
      <p:sp>
        <p:nvSpPr>
          <p:cNvPr id="11" name="Drugs named as examples (2/2) body"/>
          <p:cNvSpPr txBox="1"/>
          <p:nvPr/>
        </p:nvSpPr>
        <p:spPr>
          <a:xfrm>
            <a:off x="777240" y="2075688"/>
            <a:ext cx="10637215" cy="2464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Recall Q4:</a:t>
            </a:r>
            <a:r>
              <a:rPr lang="en-US" sz="1800" dirty="0">
                <a:solidFill>
                  <a:srgbClr val="1F1F1F"/>
                </a:solidFill>
              </a:rPr>
              <a:t> fever on a biologic DMARD — immunosuppression is the shared major risk across all DMARDs; treat a fever as a possible infection until proven otherwise.</a:t>
            </a:r>
            <a:r>
              <a:rPr lang="en-US" sz="1300" dirty="0">
                <a:solidFill>
                  <a:srgbClr val="666666"/>
                </a:solidFill>
              </a:rPr>
              <a:t>  S52; S53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Recall Q5:</a:t>
            </a:r>
            <a:r>
              <a:rPr lang="en-US" sz="1800" dirty="0">
                <a:solidFill>
                  <a:srgbClr val="1F1F1F"/>
                </a:solidFill>
              </a:rPr>
              <a:t> probenecid is a uricosuric that inhibits renal tubular reabsorption of uric acid. Colchicine does not lower uric acid; febuxostat (not probenecid) is a xanthine oxidase inhibitor; ULT is deferred during a flare.</a:t>
            </a:r>
            <a:r>
              <a:rPr lang="en-US" sz="1300" dirty="0">
                <a:solidFill>
                  <a:srgbClr val="666666"/>
                </a:solidFill>
              </a:rPr>
              <a:t>  S52; S53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Recall Q6:</a:t>
            </a:r>
            <a:r>
              <a:rPr lang="en-US" sz="1800" dirty="0">
                <a:solidFill>
                  <a:srgbClr val="1F1F1F"/>
                </a:solidFill>
              </a:rPr>
              <a:t> glucocorticoids increase osteoclast-mediated bone resorption and suppress osteoblast-driven bone formation — shifting the balance toward bone loss.</a:t>
            </a:r>
            <a:r>
              <a:rPr lang="en-US" sz="1300" dirty="0">
                <a:solidFill>
                  <a:srgbClr val="666666"/>
                </a:solidFill>
              </a:rPr>
              <a:t>  S52; S53</a:t>
            </a:r>
            <a:endParaRPr lang="en-US" sz="18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PUTTING IT ALL TOGETHER: MUSCULOSKELETAL TOOLKIT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traps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SO5 · IO2.3 · IO2.4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L04 · Musculoskeletal Pharmacology — Session 2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95</a:t>
            </a:r>
            <a:endParaRPr lang="en-US" sz="1000" dirty="0"/>
          </a:p>
        </p:txBody>
      </p:sp>
      <p:sp>
        <p:nvSpPr>
          <p:cNvPr id="7" name="Exam traps card"/>
          <p:cNvSpPr/>
          <p:nvPr/>
        </p:nvSpPr>
        <p:spPr>
          <a:xfrm>
            <a:off x="548640" y="1325880"/>
            <a:ext cx="11094415" cy="4000500"/>
          </a:xfrm>
          <a:prstGeom prst="roundRect">
            <a:avLst>
              <a:gd name="adj" fmla="val 274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Exam traps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pic>
        <p:nvPicPr>
          <p:cNvPr id="9" name="Exam traps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Exam traps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0000"/>
                </a:solidFill>
              </a:rPr>
              <a:t>Exam traps</a:t>
            </a:r>
            <a:endParaRPr lang="en-US" sz="1800" dirty="0"/>
          </a:p>
        </p:txBody>
      </p:sp>
      <p:sp>
        <p:nvSpPr>
          <p:cNvPr id="11" name="Exam traps body"/>
          <p:cNvSpPr txBox="1"/>
          <p:nvPr/>
        </p:nvSpPr>
        <p:spPr>
          <a:xfrm>
            <a:off x="777240" y="2075688"/>
            <a:ext cx="10637215" cy="3131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Colchicine treats the flare but </a:t>
            </a:r>
            <a:r>
              <a:rPr lang="en-US" sz="1800" b="1" dirty="0">
                <a:solidFill>
                  <a:srgbClr val="1F1F1F"/>
                </a:solidFill>
              </a:rPr>
              <a:t>does not lower uric acid</a:t>
            </a:r>
            <a:r>
              <a:rPr lang="en-US" sz="1800" dirty="0">
                <a:solidFill>
                  <a:srgbClr val="1F1F1F"/>
                </a:solidFill>
              </a:rPr>
              <a:t>; probenecid is </a:t>
            </a:r>
            <a:r>
              <a:rPr lang="en-US" sz="1800" b="1" dirty="0">
                <a:solidFill>
                  <a:srgbClr val="1F1F1F"/>
                </a:solidFill>
              </a:rPr>
              <a:t>not</a:t>
            </a:r>
            <a:r>
              <a:rPr lang="en-US" sz="1800" dirty="0">
                <a:solidFill>
                  <a:srgbClr val="1F1F1F"/>
                </a:solidFill>
              </a:rPr>
              <a:t> a xanthine oxidase inhibitor.</a:t>
            </a:r>
            <a:r>
              <a:rPr lang="en-US" sz="1300" dirty="0">
                <a:solidFill>
                  <a:srgbClr val="666666"/>
                </a:solidFill>
              </a:rPr>
              <a:t>  S53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Baclofen is a GABA-B agonist — not a calcium channel blocker in skeletal muscle (that idea belongs to dantrolene’s RyR1 site).</a:t>
            </a:r>
            <a:r>
              <a:rPr lang="en-US" sz="1300" dirty="0">
                <a:solidFill>
                  <a:srgbClr val="666666"/>
                </a:solidFill>
              </a:rPr>
              <a:t>  S53; S29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OA in the CKD + anticoagulant + hypertension patient: oral NSAIDs carry the highest combined risk — CKD (renal/AKI risk), anticoagulant (bleeding risk), hypertension (BP/CV risk); acetaminophen or a topical NSAID is generally safer first-line.</a:t>
            </a:r>
            <a:r>
              <a:rPr lang="en-US" sz="1300" dirty="0">
                <a:solidFill>
                  <a:srgbClr val="666666"/>
                </a:solidFill>
              </a:rPr>
              <a:t>  SG U2-S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When that patient flares with gout: an oral NSAID is still relatively contraindicated; a short corticosteroid course (oral or intra-articular) is often preferred, colchicine needs renal dose adjustment. Defer allopurinol/febuxostat until the flare resolves.</a:t>
            </a:r>
            <a:r>
              <a:rPr lang="en-US" sz="1300" dirty="0">
                <a:solidFill>
                  <a:srgbClr val="666666"/>
                </a:solidFill>
              </a:rPr>
              <a:t>  SG U2-S</a:t>
            </a:r>
            <a:endParaRPr lang="en-US" sz="18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PUTTING IT ALL TOGETHER: MUSCULOSKELETAL TOOLKIT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Compare: Study-guide mechanism drill: for each drug, write its primary mechanism of action</a:t>
            </a:r>
            <a:endParaRPr lang="en-US" sz="22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SO5 · IO2.3 · IO2.4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L04 · Musculoskeletal Pharmacology — Session 2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96</a:t>
            </a:r>
            <a:endParaRPr lang="en-US" sz="1000" dirty="0"/>
          </a:p>
        </p:txBody>
      </p:sp>
      <p:graphicFrame>
        <p:nvGraphicFramePr>
          <p:cNvPr id="97" name="Comparis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71697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Drug</a:t>
                      </a: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Mechanism (your answer)</a:t>
                      </a: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Methotrexate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Inhibits dihydrofolate reductase (Session 1)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Colchicine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Disrupts neutrophil microtubule formation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Dantrolene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Decreases SR calcium release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Baclofen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GABA-B agonist (spinal cord)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Teriparatide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PTH analog — stimulates osteoblast bone formation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Denosumab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RANKL inhibitor — blocks osteoclast formation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Abatacept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Blocks T-cell costimulation (Session 1)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Spironolactone (as used for hirsutism/acne)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Blocks the androgen receptor (antiandrogen effect)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able sources"/>
          <p:cNvSpPr txBox="1"/>
          <p:nvPr/>
        </p:nvSpPr>
        <p:spPr>
          <a:xfrm>
            <a:off x="548640" y="5094224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Focus: what tells these apart.  Sources: SG U2-M</a:t>
            </a:r>
            <a:endParaRPr lang="en-US" sz="11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PUTTING IT ALL TOGETHER: MUSCULOSKELETAL TOOLKIT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Compare: Which drug would you choose? (S48)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SO5 · IO2.3 · IO2.4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L04 · Musculoskeletal Pharmacology — Session 2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97</a:t>
            </a:r>
            <a:endParaRPr lang="en-US" sz="1000" dirty="0"/>
          </a:p>
        </p:txBody>
      </p:sp>
      <p:graphicFrame>
        <p:nvGraphicFramePr>
          <p:cNvPr id="98" name="Comparis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358488"/>
                <a:gridCol w="435848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Patient</a:t>
                      </a: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First-line class</a:t>
                      </a: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Biggest safety check</a:t>
                      </a: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A · Acute gout flare, first presentation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Colchicine, NSAID, or corticosteroid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Defer ULT; colchicine renal/hepatic dosing and CYP3A4/P-gp inhibitors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B · Chronic RA, inadequately controlled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Add/escalate DMARD (biologic)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Infection: TB and hepatitis screening; fever = infection until proven otherwise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C · Osteoarthritis + CKD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Acetaminophen or topical NSAID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Avoid oral NSAIDs (AKI)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D · Postmenopausal osteoporosis, high fracture risk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Anabolic agent first, then antiresorptive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Teriparatide 2-year limit; romosozumab boxed CV warning; renal function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able sources"/>
          <p:cNvSpPr txBox="1"/>
          <p:nvPr/>
        </p:nvSpPr>
        <p:spPr>
          <a:xfrm>
            <a:off x="548640" y="4334256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Focus: what tells these apart.  Sources: S48; S45; S43; S51–S53</a:t>
            </a:r>
            <a:endParaRPr lang="en-US" sz="110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PUTTING IT ALL TOGETHER: MUSCULOSKELETAL TOOLKIT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hooks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SO5 · IO2.3 · IO2.4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L04 · Musculoskeletal Pharmacology — Session 2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98</a:t>
            </a:r>
            <a:endParaRPr lang="en-US" sz="1000" dirty="0"/>
          </a:p>
        </p:txBody>
      </p:sp>
      <p:sp>
        <p:nvSpPr>
          <p:cNvPr id="7" name="Mnemonic (memory aid) card"/>
          <p:cNvSpPr/>
          <p:nvPr/>
        </p:nvSpPr>
        <p:spPr>
          <a:xfrm>
            <a:off x="548640" y="1325880"/>
            <a:ext cx="5364328" cy="1719072"/>
          </a:xfrm>
          <a:prstGeom prst="roundRect">
            <a:avLst>
              <a:gd name="adj" fmla="val 638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Mnemonic (memory aid)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pic>
        <p:nvPicPr>
          <p:cNvPr id="9" name="Mnemonic (memory aid)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Mnemonic (memory aid) heading"/>
          <p:cNvSpPr txBox="1"/>
          <p:nvPr/>
        </p:nvSpPr>
        <p:spPr>
          <a:xfrm>
            <a:off x="1353312" y="1508760"/>
            <a:ext cx="4358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030A0"/>
                </a:solidFill>
              </a:rPr>
              <a:t>Mnemonic (memory aid)</a:t>
            </a:r>
            <a:endParaRPr lang="en-US" sz="1800" dirty="0"/>
          </a:p>
        </p:txBody>
      </p:sp>
      <p:sp>
        <p:nvSpPr>
          <p:cNvPr id="11" name="Mnemonic (memory aid) body"/>
          <p:cNvSpPr txBox="1"/>
          <p:nvPr/>
        </p:nvSpPr>
        <p:spPr>
          <a:xfrm>
            <a:off x="777240" y="2075688"/>
            <a:ext cx="490712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Every case, two answers: </a:t>
            </a:r>
            <a:r>
              <a:rPr lang="en-US" sz="1800" b="1" dirty="0">
                <a:solidFill>
                  <a:srgbClr val="1F1F1F"/>
                </a:solidFill>
              </a:rPr>
              <a:t>the class</a:t>
            </a:r>
            <a:r>
              <a:rPr lang="en-US" sz="1800" dirty="0">
                <a:solidFill>
                  <a:srgbClr val="1F1F1F"/>
                </a:solidFill>
              </a:rPr>
              <a:t> and </a:t>
            </a:r>
            <a:r>
              <a:rPr lang="en-US" sz="1800" b="1" dirty="0">
                <a:solidFill>
                  <a:srgbClr val="1F1F1F"/>
                </a:solidFill>
              </a:rPr>
              <a:t>the one thing to check before you write it</a:t>
            </a:r>
            <a:r>
              <a:rPr lang="en-US" sz="1800" dirty="0">
                <a:solidFill>
                  <a:srgbClr val="1F1F1F"/>
                </a:solidFill>
              </a:rPr>
              <a:t>.</a:t>
            </a:r>
            <a:r>
              <a:rPr lang="en-US" sz="1300" dirty="0">
                <a:solidFill>
                  <a:srgbClr val="666666"/>
                </a:solidFill>
              </a:rPr>
              <a:t>  S48 (notes)</a:t>
            </a:r>
            <a:endParaRPr lang="en-US" sz="180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PUTTING IT ALL TOGETHER: MUSCULOSKELETAL TOOLKIT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High-yield summary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SO5 · IO2.3 · IO2.4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L04 · Musculoskeletal Pharmacology — Session 2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99</a:t>
            </a:r>
            <a:endParaRPr lang="en-US" sz="1000" dirty="0"/>
          </a:p>
        </p:txBody>
      </p:sp>
      <p:sp>
        <p:nvSpPr>
          <p:cNvPr id="7" name="If you remember nothing else card"/>
          <p:cNvSpPr/>
          <p:nvPr/>
        </p:nvSpPr>
        <p:spPr>
          <a:xfrm>
            <a:off x="548640" y="1325880"/>
            <a:ext cx="11094415" cy="2011680"/>
          </a:xfrm>
          <a:prstGeom prst="roundRect">
            <a:avLst>
              <a:gd name="adj" fmla="val 5455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If you remember nothing else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pic>
        <p:nvPicPr>
          <p:cNvPr id="9" name="If you remember nothing else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If you remember nothing else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55A11"/>
                </a:solidFill>
              </a:rPr>
              <a:t>If you remember nothing else</a:t>
            </a:r>
            <a:endParaRPr lang="en-US" sz="1800" dirty="0"/>
          </a:p>
        </p:txBody>
      </p:sp>
      <p:sp>
        <p:nvSpPr>
          <p:cNvPr id="11" name="If you remember nothing else body"/>
          <p:cNvSpPr txBox="1"/>
          <p:nvPr/>
        </p:nvSpPr>
        <p:spPr>
          <a:xfrm>
            <a:off x="777240" y="2075688"/>
            <a:ext cx="106372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Five takeaways: pain ≠ inflammation; NSAIDs = GI/renal/CV risk; DMARDs change RA; gout = acute vs. chronic; bone = osteoblast vs. osteoclast.</a:t>
            </a:r>
            <a:r>
              <a:rPr lang="en-US" sz="1300" dirty="0">
                <a:solidFill>
                  <a:srgbClr val="666666"/>
                </a:solidFill>
              </a:rPr>
              <a:t>  S49</a:t>
            </a:r>
            <a:endParaRPr lang="en-US" sz="18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MECHANISM · LECTURE QUICK CHECK S51; S53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22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SO5 · IO2.3 · IO2.4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L04 · Musculoskeletal Pharmacology — Session 2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100</a:t>
            </a:r>
            <a:endParaRPr lang="en-US" sz="1000" dirty="0"/>
          </a:p>
        </p:txBody>
      </p:sp>
      <p:sp>
        <p:nvSpPr>
          <p:cNvPr id="7" name="Question stem card"/>
          <p:cNvSpPr/>
          <p:nvPr/>
        </p:nvSpPr>
        <p:spPr>
          <a:xfrm>
            <a:off x="548640" y="1325880"/>
            <a:ext cx="11094415" cy="923544"/>
          </a:xfrm>
          <a:prstGeom prst="roundRect">
            <a:avLst>
              <a:gd name="adj" fmla="val 990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Question stem"/>
          <p:cNvSpPr txBox="1"/>
          <p:nvPr/>
        </p:nvSpPr>
        <p:spPr>
          <a:xfrm>
            <a:off x="777240" y="1325880"/>
            <a:ext cx="10637215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Why is acetaminophen not a reliable first-line choice for an inflammatory joint flare, despite being a good analgesic and antipyretic?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245973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4597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A</a:t>
            </a:r>
            <a:endParaRPr lang="en-US" sz="1400" dirty="0"/>
          </a:p>
        </p:txBody>
      </p:sp>
      <p:sp>
        <p:nvSpPr>
          <p:cNvPr id="11" name="Option A"/>
          <p:cNvSpPr txBox="1"/>
          <p:nvPr/>
        </p:nvSpPr>
        <p:spPr>
          <a:xfrm>
            <a:off x="1188720" y="243230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It inhibits xanthine oxidase in the joint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300837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0083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B</a:t>
            </a:r>
            <a:endParaRPr lang="en-US" sz="1400" dirty="0"/>
          </a:p>
        </p:txBody>
      </p:sp>
      <p:sp>
        <p:nvSpPr>
          <p:cNvPr id="14" name="Option B"/>
          <p:cNvSpPr txBox="1"/>
          <p:nvPr/>
        </p:nvSpPr>
        <p:spPr>
          <a:xfrm>
            <a:off x="1188720" y="298094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It strongly inhibits COX-2 only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48640" y="355701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5570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C</a:t>
            </a:r>
            <a:endParaRPr lang="en-US" sz="1400" dirty="0"/>
          </a:p>
        </p:txBody>
      </p:sp>
      <p:sp>
        <p:nvSpPr>
          <p:cNvPr id="17" name="Option C"/>
          <p:cNvSpPr txBox="1"/>
          <p:nvPr/>
        </p:nvSpPr>
        <p:spPr>
          <a:xfrm>
            <a:off x="1188720" y="352958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It is contraindicated in all joint pain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48640" y="410565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41056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D</a:t>
            </a:r>
            <a:endParaRPr lang="en-US" sz="1400" dirty="0"/>
          </a:p>
        </p:txBody>
      </p:sp>
      <p:sp>
        <p:nvSpPr>
          <p:cNvPr id="20" name="Option D"/>
          <p:cNvSpPr txBox="1"/>
          <p:nvPr/>
        </p:nvSpPr>
        <p:spPr>
          <a:xfrm>
            <a:off x="1188720" y="407822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It has minimal peripheral anti-inflammatory effect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48640" y="465429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46542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E</a:t>
            </a:r>
            <a:endParaRPr lang="en-US" sz="1400" dirty="0"/>
          </a:p>
        </p:txBody>
      </p:sp>
      <p:sp>
        <p:nvSpPr>
          <p:cNvPr id="23" name="Option E"/>
          <p:cNvSpPr txBox="1"/>
          <p:nvPr/>
        </p:nvSpPr>
        <p:spPr>
          <a:xfrm>
            <a:off x="1188720" y="462686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It is a DMARD and too strong for mild flares</a:t>
            </a:r>
            <a:endParaRPr lang="en-US" sz="180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MECHANISM · ANSWER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22: D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SO5 · IO2.3 · IO2.4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L04 · Musculoskeletal Pharmacology — Session 2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101</a:t>
            </a:r>
            <a:endParaRPr lang="en-US" sz="1000" dirty="0"/>
          </a:p>
        </p:txBody>
      </p:sp>
      <p:sp>
        <p:nvSpPr>
          <p:cNvPr id="7" name="Correct answer"/>
          <p:cNvSpPr/>
          <p:nvPr/>
        </p:nvSpPr>
        <p:spPr>
          <a:xfrm>
            <a:off x="548640" y="1325880"/>
            <a:ext cx="11094415" cy="548640"/>
          </a:xfrm>
          <a:prstGeom prst="roundRect">
            <a:avLst>
              <a:gd name="adj" fmla="val 16667"/>
            </a:avLst>
          </a:prstGeom>
          <a:solidFill>
            <a:srgbClr val="E2F0D9"/>
          </a:solidFill>
          <a:ln w="19050">
            <a:solidFill>
              <a:srgbClr val="548235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35608"/>
            <a:ext cx="329184" cy="32918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234440" y="1325880"/>
            <a:ext cx="101800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D. </a:t>
            </a:r>
            <a:r>
              <a:rPr lang="en-US" sz="1600" b="1" dirty="0">
                <a:solidFill>
                  <a:srgbClr val="1F1F1F"/>
                </a:solidFill>
              </a:rPr>
              <a:t>It has minimal peripheral anti-inflammatory effect</a:t>
            </a:r>
            <a:endParaRPr lang="en-US" sz="1600" dirty="0"/>
          </a:p>
        </p:txBody>
      </p:sp>
      <p:sp>
        <p:nvSpPr>
          <p:cNvPr id="10" name="Why correct"/>
          <p:cNvSpPr txBox="1"/>
          <p:nvPr/>
        </p:nvSpPr>
        <p:spPr>
          <a:xfrm>
            <a:off x="777240" y="2011680"/>
            <a:ext cx="10637215" cy="724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</a:rPr>
              <a:t>Acetaminophen treats pain and fever, not inflammation itself — its peripheral anti-inflammatory effect is minimal, unlike NSAIDs (S53).</a:t>
            </a:r>
            <a:r>
              <a:rPr lang="en-US" sz="1100" dirty="0">
                <a:solidFill>
                  <a:srgbClr val="666666"/>
                </a:solidFill>
              </a:rPr>
              <a:t>  S51; S53</a:t>
            </a:r>
            <a:endParaRPr lang="en-US" sz="1600" dirty="0"/>
          </a:p>
        </p:txBody>
      </p:sp>
      <p:sp>
        <p:nvSpPr>
          <p:cNvPr id="11" name="Why others wrong card"/>
          <p:cNvSpPr/>
          <p:nvPr/>
        </p:nvSpPr>
        <p:spPr>
          <a:xfrm>
            <a:off x="548640" y="2873248"/>
            <a:ext cx="11094415" cy="1704848"/>
          </a:xfrm>
          <a:prstGeom prst="roundRect">
            <a:avLst>
              <a:gd name="adj" fmla="val 5364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2" name="Why others wrong"/>
          <p:cNvSpPr txBox="1"/>
          <p:nvPr/>
        </p:nvSpPr>
        <p:spPr>
          <a:xfrm>
            <a:off x="777240" y="2982976"/>
            <a:ext cx="10637215" cy="1521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C00000"/>
                </a:solidFill>
              </a:rPr>
              <a:t>Why the other choices are wrong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A. It inhibits xanthine oxidase in the joint — </a:t>
            </a:r>
            <a:r>
              <a:rPr lang="en-US" sz="1600" dirty="0">
                <a:solidFill>
                  <a:srgbClr val="1F1F1F"/>
                </a:solidFill>
              </a:rPr>
              <a:t>That is allopurinol (S53).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B. It strongly inhibits COX-2 only — </a:t>
            </a:r>
            <a:r>
              <a:rPr lang="en-US" sz="1600" dirty="0">
                <a:solidFill>
                  <a:srgbClr val="1F1F1F"/>
                </a:solidFill>
              </a:rPr>
              <a:t>Selective COX-2 inhibition is celecoxib (Session 1).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C. It is contraindicated in all joint pain — </a:t>
            </a:r>
            <a:r>
              <a:rPr lang="en-US" sz="1600" dirty="0">
                <a:solidFill>
                  <a:srgbClr val="1F1F1F"/>
                </a:solidFill>
              </a:rPr>
              <a:t>It is first-line for mild OA pain (S53).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E. It is a DMARD and too strong for mild flares — </a:t>
            </a:r>
            <a:r>
              <a:rPr lang="en-US" sz="1600" dirty="0">
                <a:solidFill>
                  <a:srgbClr val="1F1F1F"/>
                </a:solidFill>
              </a:rPr>
              <a:t>Acetaminophen is not a DMARD (S53).</a:t>
            </a:r>
            <a:endParaRPr lang="en-US" sz="160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CLINICAL VIGNETTE · LECTURE QUICK CHECK S51; S53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23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SO5 · IO2.3 · IO2.4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L04 · Musculoskeletal Pharmacology — Session 2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102</a:t>
            </a:r>
            <a:endParaRPr lang="en-US" sz="1000" dirty="0"/>
          </a:p>
        </p:txBody>
      </p:sp>
      <p:sp>
        <p:nvSpPr>
          <p:cNvPr id="7" name="Question stem card"/>
          <p:cNvSpPr/>
          <p:nvPr/>
        </p:nvSpPr>
        <p:spPr>
          <a:xfrm>
            <a:off x="548640" y="1325880"/>
            <a:ext cx="11094415" cy="923544"/>
          </a:xfrm>
          <a:prstGeom prst="roundRect">
            <a:avLst>
              <a:gd name="adj" fmla="val 990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Question stem"/>
          <p:cNvSpPr txBox="1"/>
          <p:nvPr/>
        </p:nvSpPr>
        <p:spPr>
          <a:xfrm>
            <a:off x="777240" y="1325880"/>
            <a:ext cx="10637215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A 70-year-old with CKD and heart failure needs osteoarthritis pain control. Considering systemic risk, which is generally the safest starting point?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245973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4597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A</a:t>
            </a:r>
            <a:endParaRPr lang="en-US" sz="1400" dirty="0"/>
          </a:p>
        </p:txBody>
      </p:sp>
      <p:sp>
        <p:nvSpPr>
          <p:cNvPr id="11" name="Option A"/>
          <p:cNvSpPr txBox="1"/>
          <p:nvPr/>
        </p:nvSpPr>
        <p:spPr>
          <a:xfrm>
            <a:off x="1188720" y="243230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Acetaminophen or a topical NSAID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300837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0083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B</a:t>
            </a:r>
            <a:endParaRPr lang="en-US" sz="1400" dirty="0"/>
          </a:p>
        </p:txBody>
      </p:sp>
      <p:sp>
        <p:nvSpPr>
          <p:cNvPr id="14" name="Option B"/>
          <p:cNvSpPr txBox="1"/>
          <p:nvPr/>
        </p:nvSpPr>
        <p:spPr>
          <a:xfrm>
            <a:off x="1188720" y="298094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Oral ibuprofen at full dose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48640" y="355701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5570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C</a:t>
            </a:r>
            <a:endParaRPr lang="en-US" sz="1400" dirty="0"/>
          </a:p>
        </p:txBody>
      </p:sp>
      <p:sp>
        <p:nvSpPr>
          <p:cNvPr id="17" name="Option C"/>
          <p:cNvSpPr txBox="1"/>
          <p:nvPr/>
        </p:nvSpPr>
        <p:spPr>
          <a:xfrm>
            <a:off x="1188720" y="352958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Oral celecoxib once daily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48640" y="410565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41056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D</a:t>
            </a:r>
            <a:endParaRPr lang="en-US" sz="1400" dirty="0"/>
          </a:p>
        </p:txBody>
      </p:sp>
      <p:sp>
        <p:nvSpPr>
          <p:cNvPr id="20" name="Option D"/>
          <p:cNvSpPr txBox="1"/>
          <p:nvPr/>
        </p:nvSpPr>
        <p:spPr>
          <a:xfrm>
            <a:off x="1188720" y="407822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Ketorolac for short courses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48640" y="465429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46542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E</a:t>
            </a:r>
            <a:endParaRPr lang="en-US" sz="1400" dirty="0"/>
          </a:p>
        </p:txBody>
      </p:sp>
      <p:sp>
        <p:nvSpPr>
          <p:cNvPr id="23" name="Option E"/>
          <p:cNvSpPr txBox="1"/>
          <p:nvPr/>
        </p:nvSpPr>
        <p:spPr>
          <a:xfrm>
            <a:off x="1188720" y="462686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Oral naproxen twice daily</a:t>
            </a:r>
            <a:endParaRPr lang="en-US" sz="180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CLINICAL VIGNETTE · ANSWER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23: A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SO5 · IO2.3 · IO2.4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L04 · Musculoskeletal Pharmacology — Session 2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103</a:t>
            </a:r>
            <a:endParaRPr lang="en-US" sz="1000" dirty="0"/>
          </a:p>
        </p:txBody>
      </p:sp>
      <p:sp>
        <p:nvSpPr>
          <p:cNvPr id="7" name="Correct answer"/>
          <p:cNvSpPr/>
          <p:nvPr/>
        </p:nvSpPr>
        <p:spPr>
          <a:xfrm>
            <a:off x="548640" y="1325880"/>
            <a:ext cx="11094415" cy="548640"/>
          </a:xfrm>
          <a:prstGeom prst="roundRect">
            <a:avLst>
              <a:gd name="adj" fmla="val 16667"/>
            </a:avLst>
          </a:prstGeom>
          <a:solidFill>
            <a:srgbClr val="E2F0D9"/>
          </a:solidFill>
          <a:ln w="19050">
            <a:solidFill>
              <a:srgbClr val="548235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35608"/>
            <a:ext cx="329184" cy="32918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234440" y="1325880"/>
            <a:ext cx="101800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A. </a:t>
            </a:r>
            <a:r>
              <a:rPr lang="en-US" sz="1600" b="1" dirty="0">
                <a:solidFill>
                  <a:srgbClr val="1F1F1F"/>
                </a:solidFill>
              </a:rPr>
              <a:t>Acetaminophen or a topical NSAID</a:t>
            </a:r>
            <a:endParaRPr lang="en-US" sz="1600" dirty="0"/>
          </a:p>
        </p:txBody>
      </p:sp>
      <p:sp>
        <p:nvSpPr>
          <p:cNvPr id="10" name="Why correct"/>
          <p:cNvSpPr txBox="1"/>
          <p:nvPr/>
        </p:nvSpPr>
        <p:spPr>
          <a:xfrm>
            <a:off x="777240" y="2011680"/>
            <a:ext cx="10637215" cy="724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</a:rPr>
              <a:t>Acetaminophen or a topical NSAID avoids the systemic renal/CV risk of oral NSAIDs in a patient with CKD and heart failure (S53).</a:t>
            </a:r>
            <a:r>
              <a:rPr lang="en-US" sz="1100" dirty="0">
                <a:solidFill>
                  <a:srgbClr val="666666"/>
                </a:solidFill>
              </a:rPr>
              <a:t>  S51; S53</a:t>
            </a:r>
            <a:endParaRPr lang="en-US" sz="1600" dirty="0"/>
          </a:p>
        </p:txBody>
      </p:sp>
      <p:sp>
        <p:nvSpPr>
          <p:cNvPr id="11" name="Why others wrong card"/>
          <p:cNvSpPr/>
          <p:nvPr/>
        </p:nvSpPr>
        <p:spPr>
          <a:xfrm>
            <a:off x="548640" y="2873248"/>
            <a:ext cx="11094415" cy="1704848"/>
          </a:xfrm>
          <a:prstGeom prst="roundRect">
            <a:avLst>
              <a:gd name="adj" fmla="val 5364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2" name="Why others wrong"/>
          <p:cNvSpPr txBox="1"/>
          <p:nvPr/>
        </p:nvSpPr>
        <p:spPr>
          <a:xfrm>
            <a:off x="777240" y="2982976"/>
            <a:ext cx="10637215" cy="1521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C00000"/>
                </a:solidFill>
              </a:rPr>
              <a:t>Why the other choices are wrong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B. Oral ibuprofen at full dose — </a:t>
            </a:r>
            <a:r>
              <a:rPr lang="en-US" sz="1600" dirty="0">
                <a:solidFill>
                  <a:srgbClr val="1F1F1F"/>
                </a:solidFill>
              </a:rPr>
              <a:t>Oral NSAIDs carry renal and CV risk (S53).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C. Oral celecoxib once daily — </a:t>
            </a:r>
            <a:r>
              <a:rPr lang="en-US" sz="1600" dirty="0">
                <a:solidFill>
                  <a:srgbClr val="1F1F1F"/>
                </a:solidFill>
              </a:rPr>
              <a:t>COX-2 selectivity doesn’t spare the kidney and raises CV risk (Session 1).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D. Ketorolac for short courses — </a:t>
            </a:r>
            <a:r>
              <a:rPr lang="en-US" sz="1600" dirty="0">
                <a:solidFill>
                  <a:srgbClr val="1F1F1F"/>
                </a:solidFill>
              </a:rPr>
              <a:t>Short-term only, significant GI/renal risk (Session 1).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E. Oral naproxen twice daily — </a:t>
            </a:r>
            <a:r>
              <a:rPr lang="en-US" sz="1600" dirty="0">
                <a:solidFill>
                  <a:srgbClr val="1F1F1F"/>
                </a:solidFill>
              </a:rPr>
              <a:t>Still a systemic NSAID with renal/CV risk (S53).</a:t>
            </a:r>
            <a:endParaRPr lang="en-US" sz="160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MECHANISM · LECTURE QUICK CHECK S51; S53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24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SO5 · IO2.3 · IO2.4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L04 · Musculoskeletal Pharmacology — Session 2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104</a:t>
            </a:r>
            <a:endParaRPr lang="en-US" sz="1000" dirty="0"/>
          </a:p>
        </p:txBody>
      </p:sp>
      <p:sp>
        <p:nvSpPr>
          <p:cNvPr id="7" name="Question stem card"/>
          <p:cNvSpPr/>
          <p:nvPr/>
        </p:nvSpPr>
        <p:spPr>
          <a:xfrm>
            <a:off x="548640" y="1325880"/>
            <a:ext cx="11094415" cy="644652"/>
          </a:xfrm>
          <a:prstGeom prst="roundRect">
            <a:avLst>
              <a:gd name="adj" fmla="val 14184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Question stem"/>
          <p:cNvSpPr txBox="1"/>
          <p:nvPr/>
        </p:nvSpPr>
        <p:spPr>
          <a:xfrm>
            <a:off x="777240" y="1325880"/>
            <a:ext cx="10637215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Which pairing correctly matches a drug with its primary mechanism?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2180844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1808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A</a:t>
            </a:r>
            <a:endParaRPr lang="en-US" sz="1400" dirty="0"/>
          </a:p>
        </p:txBody>
      </p:sp>
      <p:sp>
        <p:nvSpPr>
          <p:cNvPr id="11" name="Option A"/>
          <p:cNvSpPr txBox="1"/>
          <p:nvPr/>
        </p:nvSpPr>
        <p:spPr>
          <a:xfrm>
            <a:off x="1188720" y="2153412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Baclofen — skeletal muscle calcium channel block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2729484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27294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B</a:t>
            </a:r>
            <a:endParaRPr lang="en-US" sz="1400" dirty="0"/>
          </a:p>
        </p:txBody>
      </p:sp>
      <p:sp>
        <p:nvSpPr>
          <p:cNvPr id="14" name="Option B"/>
          <p:cNvSpPr txBox="1"/>
          <p:nvPr/>
        </p:nvSpPr>
        <p:spPr>
          <a:xfrm>
            <a:off x="1188720" y="2702052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Allopurinol — microtubule disruption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48640" y="3278124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2781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C</a:t>
            </a:r>
            <a:endParaRPr lang="en-US" sz="1400" dirty="0"/>
          </a:p>
        </p:txBody>
      </p:sp>
      <p:sp>
        <p:nvSpPr>
          <p:cNvPr id="17" name="Option C"/>
          <p:cNvSpPr txBox="1"/>
          <p:nvPr/>
        </p:nvSpPr>
        <p:spPr>
          <a:xfrm>
            <a:off x="1188720" y="3250692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Methotrexate — dihydrofolate reductase inhibition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48640" y="3826764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38267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D</a:t>
            </a:r>
            <a:endParaRPr lang="en-US" sz="1400" dirty="0"/>
          </a:p>
        </p:txBody>
      </p:sp>
      <p:sp>
        <p:nvSpPr>
          <p:cNvPr id="20" name="Option D"/>
          <p:cNvSpPr txBox="1"/>
          <p:nvPr/>
        </p:nvSpPr>
        <p:spPr>
          <a:xfrm>
            <a:off x="1188720" y="3799332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Dantrolene — GABA-B agonism in the spinal cord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48640" y="4375404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43754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E</a:t>
            </a:r>
            <a:endParaRPr lang="en-US" sz="1400" dirty="0"/>
          </a:p>
        </p:txBody>
      </p:sp>
      <p:sp>
        <p:nvSpPr>
          <p:cNvPr id="23" name="Option E"/>
          <p:cNvSpPr txBox="1"/>
          <p:nvPr/>
        </p:nvSpPr>
        <p:spPr>
          <a:xfrm>
            <a:off x="1188720" y="4347972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Colchicine — xanthine oxidase inhibition</a:t>
            </a:r>
            <a:endParaRPr lang="en-US" sz="1800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MECHANISM · ANSWER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24: C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SO5 · IO2.3 · IO2.4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L04 · Musculoskeletal Pharmacology — Session 2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105</a:t>
            </a:r>
            <a:endParaRPr lang="en-US" sz="1000" dirty="0"/>
          </a:p>
        </p:txBody>
      </p:sp>
      <p:sp>
        <p:nvSpPr>
          <p:cNvPr id="7" name="Correct answer"/>
          <p:cNvSpPr/>
          <p:nvPr/>
        </p:nvSpPr>
        <p:spPr>
          <a:xfrm>
            <a:off x="548640" y="1325880"/>
            <a:ext cx="11094415" cy="548640"/>
          </a:xfrm>
          <a:prstGeom prst="roundRect">
            <a:avLst>
              <a:gd name="adj" fmla="val 16667"/>
            </a:avLst>
          </a:prstGeom>
          <a:solidFill>
            <a:srgbClr val="E2F0D9"/>
          </a:solidFill>
          <a:ln w="19050">
            <a:solidFill>
              <a:srgbClr val="548235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35608"/>
            <a:ext cx="329184" cy="32918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234440" y="1325880"/>
            <a:ext cx="101800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C. </a:t>
            </a:r>
            <a:r>
              <a:rPr lang="en-US" sz="1600" b="1" dirty="0">
                <a:solidFill>
                  <a:srgbClr val="1F1F1F"/>
                </a:solidFill>
              </a:rPr>
              <a:t>Methotrexate — dihydrofolate reductase inhibition</a:t>
            </a:r>
            <a:endParaRPr lang="en-US" sz="1600" dirty="0"/>
          </a:p>
        </p:txBody>
      </p:sp>
      <p:sp>
        <p:nvSpPr>
          <p:cNvPr id="10" name="Why correct"/>
          <p:cNvSpPr txBox="1"/>
          <p:nvPr/>
        </p:nvSpPr>
        <p:spPr>
          <a:xfrm>
            <a:off x="777240" y="2011680"/>
            <a:ext cx="10637215" cy="724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</a:rPr>
              <a:t>Methotrexate inhibits DHFR. Allopurinol inhibits xanthine oxidase; colchicine disrupts microtubules; baclofen is a GABA-B agonist (S53).</a:t>
            </a:r>
            <a:r>
              <a:rPr lang="en-US" sz="1100" dirty="0">
                <a:solidFill>
                  <a:srgbClr val="666666"/>
                </a:solidFill>
              </a:rPr>
              <a:t>  S51; S53</a:t>
            </a:r>
            <a:endParaRPr lang="en-US" sz="1600" dirty="0"/>
          </a:p>
        </p:txBody>
      </p:sp>
      <p:sp>
        <p:nvSpPr>
          <p:cNvPr id="11" name="Why others wrong card"/>
          <p:cNvSpPr/>
          <p:nvPr/>
        </p:nvSpPr>
        <p:spPr>
          <a:xfrm>
            <a:off x="548640" y="2873248"/>
            <a:ext cx="11094415" cy="1704848"/>
          </a:xfrm>
          <a:prstGeom prst="roundRect">
            <a:avLst>
              <a:gd name="adj" fmla="val 5364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2" name="Why others wrong"/>
          <p:cNvSpPr txBox="1"/>
          <p:nvPr/>
        </p:nvSpPr>
        <p:spPr>
          <a:xfrm>
            <a:off x="777240" y="2982976"/>
            <a:ext cx="10637215" cy="1521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C00000"/>
                </a:solidFill>
              </a:rPr>
              <a:t>Why the other choices are wrong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A. Baclofen — skeletal muscle calcium channel block — </a:t>
            </a:r>
            <a:r>
              <a:rPr lang="en-US" sz="1600" dirty="0">
                <a:solidFill>
                  <a:srgbClr val="1F1F1F"/>
                </a:solidFill>
              </a:rPr>
              <a:t>Baclofen is a GABA-B agonist (S53).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B. Allopurinol — microtubule disruption — </a:t>
            </a:r>
            <a:r>
              <a:rPr lang="en-US" sz="1600" dirty="0">
                <a:solidFill>
                  <a:srgbClr val="1F1F1F"/>
                </a:solidFill>
              </a:rPr>
              <a:t>Microtubules are colchicine’s target (S53).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D. Dantrolene — GABA-B agonism in the spinal cord — </a:t>
            </a:r>
            <a:r>
              <a:rPr lang="en-US" sz="1600" dirty="0">
                <a:solidFill>
                  <a:srgbClr val="1F1F1F"/>
                </a:solidFill>
              </a:rPr>
              <a:t>Dantrolene blocks RyR1 in muscle (S29).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E. Colchicine — xanthine oxidase inhibition — </a:t>
            </a:r>
            <a:r>
              <a:rPr lang="en-US" sz="1600" dirty="0">
                <a:solidFill>
                  <a:srgbClr val="1F1F1F"/>
                </a:solidFill>
              </a:rPr>
              <a:t>Xanthine oxidase is allopurinol’s target (S53).</a:t>
            </a:r>
            <a:endParaRPr lang="en-US" sz="1600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CLINICAL VIGNETTE · LECTURE QUICK CHECK S52; S53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25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SO5 · IO2.3 · IO2.4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L04 · Musculoskeletal Pharmacology — Session 2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106</a:t>
            </a:r>
            <a:endParaRPr lang="en-US" sz="1000" dirty="0"/>
          </a:p>
        </p:txBody>
      </p:sp>
      <p:sp>
        <p:nvSpPr>
          <p:cNvPr id="7" name="Question stem card"/>
          <p:cNvSpPr/>
          <p:nvPr/>
        </p:nvSpPr>
        <p:spPr>
          <a:xfrm>
            <a:off x="548640" y="1325880"/>
            <a:ext cx="11094415" cy="644652"/>
          </a:xfrm>
          <a:prstGeom prst="roundRect">
            <a:avLst>
              <a:gd name="adj" fmla="val 14184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Question stem"/>
          <p:cNvSpPr txBox="1"/>
          <p:nvPr/>
        </p:nvSpPr>
        <p:spPr>
          <a:xfrm>
            <a:off x="777240" y="1325880"/>
            <a:ext cx="10637215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A patient on a biologic DMARD develops a fever. What is the most important immediate concern?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2180844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1808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A</a:t>
            </a:r>
            <a:endParaRPr lang="en-US" sz="1400" dirty="0"/>
          </a:p>
        </p:txBody>
      </p:sp>
      <p:sp>
        <p:nvSpPr>
          <p:cNvPr id="11" name="Option A"/>
          <p:cNvSpPr txBox="1"/>
          <p:nvPr/>
        </p:nvSpPr>
        <p:spPr>
          <a:xfrm>
            <a:off x="1188720" y="2153412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A drug allergy only, so stop and observe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2729484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27294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B</a:t>
            </a:r>
            <a:endParaRPr lang="en-US" sz="1400" dirty="0"/>
          </a:p>
        </p:txBody>
      </p:sp>
      <p:sp>
        <p:nvSpPr>
          <p:cNvPr id="14" name="Option B"/>
          <p:cNvSpPr txBox="1"/>
          <p:nvPr/>
        </p:nvSpPr>
        <p:spPr>
          <a:xfrm>
            <a:off x="1188720" y="2702052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Infection, given the drug’s immunosuppressive effect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48640" y="3278124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2781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C</a:t>
            </a:r>
            <a:endParaRPr lang="en-US" sz="1400" dirty="0"/>
          </a:p>
        </p:txBody>
      </p:sp>
      <p:sp>
        <p:nvSpPr>
          <p:cNvPr id="17" name="Option C"/>
          <p:cNvSpPr txBox="1"/>
          <p:nvPr/>
        </p:nvSpPr>
        <p:spPr>
          <a:xfrm>
            <a:off x="1188720" y="3250692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Hepatotoxicity from Phase II metabolism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48640" y="3826764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38267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D</a:t>
            </a:r>
            <a:endParaRPr lang="en-US" sz="1400" dirty="0"/>
          </a:p>
        </p:txBody>
      </p:sp>
      <p:sp>
        <p:nvSpPr>
          <p:cNvPr id="20" name="Option D"/>
          <p:cNvSpPr txBox="1"/>
          <p:nvPr/>
        </p:nvSpPr>
        <p:spPr>
          <a:xfrm>
            <a:off x="1188720" y="3799332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Osteonecrosis of the jaw from the drug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48640" y="4375404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43754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E</a:t>
            </a:r>
            <a:endParaRPr lang="en-US" sz="1400" dirty="0"/>
          </a:p>
        </p:txBody>
      </p:sp>
      <p:sp>
        <p:nvSpPr>
          <p:cNvPr id="23" name="Option E"/>
          <p:cNvSpPr txBox="1"/>
          <p:nvPr/>
        </p:nvSpPr>
        <p:spPr>
          <a:xfrm>
            <a:off x="1188720" y="4347972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Serotonin syndrome from the biologic agent</a:t>
            </a:r>
            <a:endParaRPr lang="en-US" sz="1800"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CLINICAL VIGNETTE · ANSWER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25: B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SO5 · IO2.3 · IO2.4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L04 · Musculoskeletal Pharmacology — Session 2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107</a:t>
            </a:r>
            <a:endParaRPr lang="en-US" sz="1000" dirty="0"/>
          </a:p>
        </p:txBody>
      </p:sp>
      <p:sp>
        <p:nvSpPr>
          <p:cNvPr id="7" name="Correct answer"/>
          <p:cNvSpPr/>
          <p:nvPr/>
        </p:nvSpPr>
        <p:spPr>
          <a:xfrm>
            <a:off x="548640" y="1325880"/>
            <a:ext cx="11094415" cy="548640"/>
          </a:xfrm>
          <a:prstGeom prst="roundRect">
            <a:avLst>
              <a:gd name="adj" fmla="val 16667"/>
            </a:avLst>
          </a:prstGeom>
          <a:solidFill>
            <a:srgbClr val="E2F0D9"/>
          </a:solidFill>
          <a:ln w="19050">
            <a:solidFill>
              <a:srgbClr val="548235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35608"/>
            <a:ext cx="329184" cy="32918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234440" y="1325880"/>
            <a:ext cx="101800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B. </a:t>
            </a:r>
            <a:r>
              <a:rPr lang="en-US" sz="1600" b="1" dirty="0">
                <a:solidFill>
                  <a:srgbClr val="1F1F1F"/>
                </a:solidFill>
              </a:rPr>
              <a:t>Infection, given the drug’s immunosuppressive effect</a:t>
            </a:r>
            <a:endParaRPr lang="en-US" sz="1600" dirty="0"/>
          </a:p>
        </p:txBody>
      </p:sp>
      <p:sp>
        <p:nvSpPr>
          <p:cNvPr id="10" name="Why correct"/>
          <p:cNvSpPr txBox="1"/>
          <p:nvPr/>
        </p:nvSpPr>
        <p:spPr>
          <a:xfrm>
            <a:off x="777240" y="2011680"/>
            <a:ext cx="10637215" cy="724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</a:rPr>
              <a:t>Immunosuppression is the shared major risk across all DMARDs — treat a fever as a possible infection until proven otherwise (S53).</a:t>
            </a:r>
            <a:r>
              <a:rPr lang="en-US" sz="1100" dirty="0">
                <a:solidFill>
                  <a:srgbClr val="666666"/>
                </a:solidFill>
              </a:rPr>
              <a:t>  S52; S53</a:t>
            </a:r>
            <a:endParaRPr lang="en-US" sz="1600" dirty="0"/>
          </a:p>
        </p:txBody>
      </p:sp>
      <p:sp>
        <p:nvSpPr>
          <p:cNvPr id="11" name="Why others wrong card"/>
          <p:cNvSpPr/>
          <p:nvPr/>
        </p:nvSpPr>
        <p:spPr>
          <a:xfrm>
            <a:off x="548640" y="2873248"/>
            <a:ext cx="11094415" cy="1704848"/>
          </a:xfrm>
          <a:prstGeom prst="roundRect">
            <a:avLst>
              <a:gd name="adj" fmla="val 5364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2" name="Why others wrong"/>
          <p:cNvSpPr txBox="1"/>
          <p:nvPr/>
        </p:nvSpPr>
        <p:spPr>
          <a:xfrm>
            <a:off x="777240" y="2982976"/>
            <a:ext cx="10637215" cy="1521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C00000"/>
                </a:solidFill>
              </a:rPr>
              <a:t>Why the other choices are wrong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A. A drug allergy only, so stop and observe — </a:t>
            </a:r>
            <a:r>
              <a:rPr lang="en-US" sz="1600" dirty="0">
                <a:solidFill>
                  <a:srgbClr val="1F1F1F"/>
                </a:solidFill>
              </a:rPr>
              <a:t>Infection must be assumed first (S53).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C. Hepatotoxicity from Phase II metabolism — </a:t>
            </a:r>
            <a:r>
              <a:rPr lang="en-US" sz="1600" dirty="0">
                <a:solidFill>
                  <a:srgbClr val="1F1F1F"/>
                </a:solidFill>
              </a:rPr>
              <a:t>Not the shared DMARD risk (S53).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D. Osteonecrosis of the jaw from the drug — </a:t>
            </a:r>
            <a:r>
              <a:rPr lang="en-US" sz="1600" dirty="0">
                <a:solidFill>
                  <a:srgbClr val="1F1F1F"/>
                </a:solidFill>
              </a:rPr>
              <a:t>A rare bisphosphonate effect (S40).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E. Serotonin syndrome from the biologic agent — </a:t>
            </a:r>
            <a:r>
              <a:rPr lang="en-US" sz="1600" dirty="0">
                <a:solidFill>
                  <a:srgbClr val="1F1F1F"/>
                </a:solidFill>
              </a:rPr>
              <a:t>A cyclobenzaprine interaction (S26).</a:t>
            </a:r>
            <a:endParaRPr lang="en-US" sz="1600" dirty="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MECHANISM · LECTURE QUICK CHECK S52; S53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26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SO5 · IO2.3 · IO2.4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L04 · Musculoskeletal Pharmacology — Session 2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108</a:t>
            </a:r>
            <a:endParaRPr lang="en-US" sz="1000" dirty="0"/>
          </a:p>
        </p:txBody>
      </p:sp>
      <p:sp>
        <p:nvSpPr>
          <p:cNvPr id="7" name="Question stem card"/>
          <p:cNvSpPr/>
          <p:nvPr/>
        </p:nvSpPr>
        <p:spPr>
          <a:xfrm>
            <a:off x="548640" y="1325880"/>
            <a:ext cx="11094415" cy="644652"/>
          </a:xfrm>
          <a:prstGeom prst="roundRect">
            <a:avLst>
              <a:gd name="adj" fmla="val 14184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Question stem"/>
          <p:cNvSpPr txBox="1"/>
          <p:nvPr/>
        </p:nvSpPr>
        <p:spPr>
          <a:xfrm>
            <a:off x="777240" y="1325880"/>
            <a:ext cx="10637215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Which statement about gout pharmacology is correct?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2180844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1808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A</a:t>
            </a:r>
            <a:endParaRPr lang="en-US" sz="1400" dirty="0"/>
          </a:p>
        </p:txBody>
      </p:sp>
      <p:sp>
        <p:nvSpPr>
          <p:cNvPr id="11" name="Option A"/>
          <p:cNvSpPr txBox="1"/>
          <p:nvPr/>
        </p:nvSpPr>
        <p:spPr>
          <a:xfrm>
            <a:off x="1188720" y="2153412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Febuxostat and probenecid both inhibit xanthine oxidase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2729484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27294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B</a:t>
            </a:r>
            <a:endParaRPr lang="en-US" sz="1400" dirty="0"/>
          </a:p>
        </p:txBody>
      </p:sp>
      <p:sp>
        <p:nvSpPr>
          <p:cNvPr id="14" name="Option B"/>
          <p:cNvSpPr txBox="1"/>
          <p:nvPr/>
        </p:nvSpPr>
        <p:spPr>
          <a:xfrm>
            <a:off x="1188720" y="2702052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Acute flares need urate-lowering therapy first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48640" y="3278124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2781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C</a:t>
            </a:r>
            <a:endParaRPr lang="en-US" sz="1400" dirty="0"/>
          </a:p>
        </p:txBody>
      </p:sp>
      <p:sp>
        <p:nvSpPr>
          <p:cNvPr id="17" name="Option C"/>
          <p:cNvSpPr txBox="1"/>
          <p:nvPr/>
        </p:nvSpPr>
        <p:spPr>
          <a:xfrm>
            <a:off x="1188720" y="3250692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Pegloticase blocks URAT1 in the renal tubule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48640" y="3826764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38267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D</a:t>
            </a:r>
            <a:endParaRPr lang="en-US" sz="1400" dirty="0"/>
          </a:p>
        </p:txBody>
      </p:sp>
      <p:sp>
        <p:nvSpPr>
          <p:cNvPr id="20" name="Option D"/>
          <p:cNvSpPr txBox="1"/>
          <p:nvPr/>
        </p:nvSpPr>
        <p:spPr>
          <a:xfrm>
            <a:off x="1188720" y="3799332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Colchicine lowers uric acid production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48640" y="4375404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43754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E</a:t>
            </a:r>
            <a:endParaRPr lang="en-US" sz="1400" dirty="0"/>
          </a:p>
        </p:txBody>
      </p:sp>
      <p:sp>
        <p:nvSpPr>
          <p:cNvPr id="23" name="Option E"/>
          <p:cNvSpPr txBox="1"/>
          <p:nvPr/>
        </p:nvSpPr>
        <p:spPr>
          <a:xfrm>
            <a:off x="1188720" y="4347972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Probenecid inhibits renal tubular reabsorption of urate</a:t>
            </a:r>
            <a:endParaRPr lang="en-US" sz="1800" dirty="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MECHANISM · ANSWER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26: E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SO5 · IO2.3 · IO2.4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L04 · Musculoskeletal Pharmacology — Session 2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109</a:t>
            </a:r>
            <a:endParaRPr lang="en-US" sz="1000" dirty="0"/>
          </a:p>
        </p:txBody>
      </p:sp>
      <p:sp>
        <p:nvSpPr>
          <p:cNvPr id="7" name="Correct answer"/>
          <p:cNvSpPr/>
          <p:nvPr/>
        </p:nvSpPr>
        <p:spPr>
          <a:xfrm>
            <a:off x="548640" y="1325880"/>
            <a:ext cx="11094415" cy="548640"/>
          </a:xfrm>
          <a:prstGeom prst="roundRect">
            <a:avLst>
              <a:gd name="adj" fmla="val 16667"/>
            </a:avLst>
          </a:prstGeom>
          <a:solidFill>
            <a:srgbClr val="E2F0D9"/>
          </a:solidFill>
          <a:ln w="19050">
            <a:solidFill>
              <a:srgbClr val="548235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35608"/>
            <a:ext cx="329184" cy="32918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234440" y="1325880"/>
            <a:ext cx="101800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E. </a:t>
            </a:r>
            <a:r>
              <a:rPr lang="en-US" sz="1600" b="1" dirty="0">
                <a:solidFill>
                  <a:srgbClr val="1F1F1F"/>
                </a:solidFill>
              </a:rPr>
              <a:t>Probenecid inhibits renal tubular reabsorption of urate</a:t>
            </a:r>
            <a:endParaRPr lang="en-US" sz="1600" dirty="0"/>
          </a:p>
        </p:txBody>
      </p:sp>
      <p:sp>
        <p:nvSpPr>
          <p:cNvPr id="10" name="Why correct"/>
          <p:cNvSpPr txBox="1"/>
          <p:nvPr/>
        </p:nvSpPr>
        <p:spPr>
          <a:xfrm>
            <a:off x="777240" y="2011680"/>
            <a:ext cx="10637215" cy="724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</a:rPr>
              <a:t>Probenecid is a uricosuric that inhibits renal tubular reabsorption of uric acid. Colchicine doesn’t lower uric acid; febuxostat, not probenecid, inhibits xanthine oxidase; ULT is deferred during a flare (S53).</a:t>
            </a:r>
            <a:r>
              <a:rPr lang="en-US" sz="1100" dirty="0">
                <a:solidFill>
                  <a:srgbClr val="666666"/>
                </a:solidFill>
              </a:rPr>
              <a:t>  S52; S53</a:t>
            </a:r>
            <a:endParaRPr lang="en-US" sz="1600" dirty="0"/>
          </a:p>
        </p:txBody>
      </p:sp>
      <p:sp>
        <p:nvSpPr>
          <p:cNvPr id="11" name="Why others wrong card"/>
          <p:cNvSpPr/>
          <p:nvPr/>
        </p:nvSpPr>
        <p:spPr>
          <a:xfrm>
            <a:off x="548640" y="2873248"/>
            <a:ext cx="11094415" cy="1704848"/>
          </a:xfrm>
          <a:prstGeom prst="roundRect">
            <a:avLst>
              <a:gd name="adj" fmla="val 5364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2" name="Why others wrong"/>
          <p:cNvSpPr txBox="1"/>
          <p:nvPr/>
        </p:nvSpPr>
        <p:spPr>
          <a:xfrm>
            <a:off x="777240" y="2982976"/>
            <a:ext cx="10637215" cy="1521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C00000"/>
                </a:solidFill>
              </a:rPr>
              <a:t>Why the other choices are wrong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A. Febuxostat and probenecid both inhibit xanthine oxidase — </a:t>
            </a:r>
            <a:r>
              <a:rPr lang="en-US" sz="1600" dirty="0">
                <a:solidFill>
                  <a:srgbClr val="1F1F1F"/>
                </a:solidFill>
              </a:rPr>
              <a:t>Only febuxostat does (S53).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B. Acute flares need urate-lowering therapy first — </a:t>
            </a:r>
            <a:r>
              <a:rPr lang="en-US" sz="1600" dirty="0">
                <a:solidFill>
                  <a:srgbClr val="1F1F1F"/>
                </a:solidFill>
              </a:rPr>
              <a:t>ULT is deferred during a flare (S53).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C. Pegloticase blocks URAT1 in the renal tubule — </a:t>
            </a:r>
            <a:r>
              <a:rPr lang="en-US" sz="1600" dirty="0">
                <a:solidFill>
                  <a:srgbClr val="1F1F1F"/>
                </a:solidFill>
              </a:rPr>
              <a:t>Pegloticase is a uricase (S13).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D. Colchicine lowers uric acid production — </a:t>
            </a:r>
            <a:r>
              <a:rPr lang="en-US" sz="1600" dirty="0">
                <a:solidFill>
                  <a:srgbClr val="1F1F1F"/>
                </a:solidFill>
              </a:rPr>
              <a:t>Colchicine calms inflammation; uric acid is unchanged (S53).</a:t>
            </a:r>
            <a:endParaRPr lang="en-US" sz="1600" dirty="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MECHANISM · LECTURE QUICK CHECK S52; S53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27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SO5 · IO2.3 · IO2.4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L04 · Musculoskeletal Pharmacology — Session 2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110</a:t>
            </a:r>
            <a:endParaRPr lang="en-US" sz="1000" dirty="0"/>
          </a:p>
        </p:txBody>
      </p:sp>
      <p:sp>
        <p:nvSpPr>
          <p:cNvPr id="7" name="Question stem card"/>
          <p:cNvSpPr/>
          <p:nvPr/>
        </p:nvSpPr>
        <p:spPr>
          <a:xfrm>
            <a:off x="548640" y="1325880"/>
            <a:ext cx="11094415" cy="644652"/>
          </a:xfrm>
          <a:prstGeom prst="roundRect">
            <a:avLst>
              <a:gd name="adj" fmla="val 14184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Question stem"/>
          <p:cNvSpPr txBox="1"/>
          <p:nvPr/>
        </p:nvSpPr>
        <p:spPr>
          <a:xfrm>
            <a:off x="777240" y="1325880"/>
            <a:ext cx="10637215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Glucocorticoid-induced osteoporosis risk is primarily related to which mechanism?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2180844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1808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A</a:t>
            </a:r>
            <a:endParaRPr lang="en-US" sz="1400" dirty="0"/>
          </a:p>
        </p:txBody>
      </p:sp>
      <p:sp>
        <p:nvSpPr>
          <p:cNvPr id="11" name="Option A"/>
          <p:cNvSpPr txBox="1"/>
          <p:nvPr/>
        </p:nvSpPr>
        <p:spPr>
          <a:xfrm>
            <a:off x="1188720" y="2153412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RANKL blockade, as with denosumab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2729484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27294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B</a:t>
            </a:r>
            <a:endParaRPr lang="en-US" sz="1400" dirty="0"/>
          </a:p>
        </p:txBody>
      </p:sp>
      <p:sp>
        <p:nvSpPr>
          <p:cNvPr id="14" name="Option B"/>
          <p:cNvSpPr txBox="1"/>
          <p:nvPr/>
        </p:nvSpPr>
        <p:spPr>
          <a:xfrm>
            <a:off x="1188720" y="2702052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More osteoclast resorption and less bone formation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48640" y="3278124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2781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C</a:t>
            </a:r>
            <a:endParaRPr lang="en-US" sz="1400" dirty="0"/>
          </a:p>
        </p:txBody>
      </p:sp>
      <p:sp>
        <p:nvSpPr>
          <p:cNvPr id="17" name="Option C"/>
          <p:cNvSpPr txBox="1"/>
          <p:nvPr/>
        </p:nvSpPr>
        <p:spPr>
          <a:xfrm>
            <a:off x="1188720" y="3250692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Increased calcitonin secretion by the thyroid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48640" y="3826764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38267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D</a:t>
            </a:r>
            <a:endParaRPr lang="en-US" sz="1400" dirty="0"/>
          </a:p>
        </p:txBody>
      </p:sp>
      <p:sp>
        <p:nvSpPr>
          <p:cNvPr id="20" name="Option D"/>
          <p:cNvSpPr txBox="1"/>
          <p:nvPr/>
        </p:nvSpPr>
        <p:spPr>
          <a:xfrm>
            <a:off x="1188720" y="3799332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Increased osteoblast activity and formation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48640" y="4375404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43754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E</a:t>
            </a:r>
            <a:endParaRPr lang="en-US" sz="1400" dirty="0"/>
          </a:p>
        </p:txBody>
      </p:sp>
      <p:sp>
        <p:nvSpPr>
          <p:cNvPr id="23" name="Option E"/>
          <p:cNvSpPr txBox="1"/>
          <p:nvPr/>
        </p:nvSpPr>
        <p:spPr>
          <a:xfrm>
            <a:off x="1188720" y="4347972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Excess vitamin D raising bone turnover</a:t>
            </a:r>
            <a:endParaRPr lang="en-US" sz="1800" dirty="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MECHANISM · ANSWER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27: B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SO5 · IO2.3 · IO2.4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L04 · Musculoskeletal Pharmacology — Session 2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111</a:t>
            </a:r>
            <a:endParaRPr lang="en-US" sz="1000" dirty="0"/>
          </a:p>
        </p:txBody>
      </p:sp>
      <p:sp>
        <p:nvSpPr>
          <p:cNvPr id="7" name="Correct answer"/>
          <p:cNvSpPr/>
          <p:nvPr/>
        </p:nvSpPr>
        <p:spPr>
          <a:xfrm>
            <a:off x="548640" y="1325880"/>
            <a:ext cx="11094415" cy="548640"/>
          </a:xfrm>
          <a:prstGeom prst="roundRect">
            <a:avLst>
              <a:gd name="adj" fmla="val 16667"/>
            </a:avLst>
          </a:prstGeom>
          <a:solidFill>
            <a:srgbClr val="E2F0D9"/>
          </a:solidFill>
          <a:ln w="19050">
            <a:solidFill>
              <a:srgbClr val="548235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35608"/>
            <a:ext cx="329184" cy="32918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234440" y="1325880"/>
            <a:ext cx="101800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B. </a:t>
            </a:r>
            <a:r>
              <a:rPr lang="en-US" sz="1600" b="1" dirty="0">
                <a:solidFill>
                  <a:srgbClr val="1F1F1F"/>
                </a:solidFill>
              </a:rPr>
              <a:t>More osteoclast resorption and less bone formation</a:t>
            </a:r>
            <a:endParaRPr lang="en-US" sz="1600" dirty="0"/>
          </a:p>
        </p:txBody>
      </p:sp>
      <p:sp>
        <p:nvSpPr>
          <p:cNvPr id="10" name="Why correct"/>
          <p:cNvSpPr txBox="1"/>
          <p:nvPr/>
        </p:nvSpPr>
        <p:spPr>
          <a:xfrm>
            <a:off x="777240" y="2011680"/>
            <a:ext cx="10637215" cy="724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</a:rPr>
              <a:t>Glucocorticoids increase osteoclast-mediated resorption and suppress osteoblast-driven formation, shifting the remodeling balance toward bone loss (S53).</a:t>
            </a:r>
            <a:r>
              <a:rPr lang="en-US" sz="1100" dirty="0">
                <a:solidFill>
                  <a:srgbClr val="666666"/>
                </a:solidFill>
              </a:rPr>
              <a:t>  S52; S53</a:t>
            </a:r>
            <a:endParaRPr lang="en-US" sz="1600" dirty="0"/>
          </a:p>
        </p:txBody>
      </p:sp>
      <p:sp>
        <p:nvSpPr>
          <p:cNvPr id="11" name="Why others wrong card"/>
          <p:cNvSpPr/>
          <p:nvPr/>
        </p:nvSpPr>
        <p:spPr>
          <a:xfrm>
            <a:off x="548640" y="2873248"/>
            <a:ext cx="11094415" cy="1704848"/>
          </a:xfrm>
          <a:prstGeom prst="roundRect">
            <a:avLst>
              <a:gd name="adj" fmla="val 5364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2" name="Why others wrong"/>
          <p:cNvSpPr txBox="1"/>
          <p:nvPr/>
        </p:nvSpPr>
        <p:spPr>
          <a:xfrm>
            <a:off x="777240" y="2982976"/>
            <a:ext cx="10637215" cy="1521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C00000"/>
                </a:solidFill>
              </a:rPr>
              <a:t>Why the other choices are wrong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A. RANKL blockade, as with denosumab — </a:t>
            </a:r>
            <a:r>
              <a:rPr lang="en-US" sz="1600" dirty="0">
                <a:solidFill>
                  <a:srgbClr val="1F1F1F"/>
                </a:solidFill>
              </a:rPr>
              <a:t>RANKL blockade is denosumab (S42).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C. Increased calcitonin secretion by the thyroid — </a:t>
            </a:r>
            <a:r>
              <a:rPr lang="en-US" sz="1600" dirty="0">
                <a:solidFill>
                  <a:srgbClr val="1F1F1F"/>
                </a:solidFill>
              </a:rPr>
              <a:t>Calcitonin lowers calcium; not the mechanism (S53).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D. Increased osteoblast activity and formation — </a:t>
            </a:r>
            <a:r>
              <a:rPr lang="en-US" sz="1600" dirty="0">
                <a:solidFill>
                  <a:srgbClr val="1F1F1F"/>
                </a:solidFill>
              </a:rPr>
              <a:t>Formation is suppressed (S53).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E. Excess vitamin D raising bone turnover — </a:t>
            </a:r>
            <a:r>
              <a:rPr lang="en-US" sz="1600" dirty="0">
                <a:solidFill>
                  <a:srgbClr val="1F1F1F"/>
                </a:solidFill>
              </a:rPr>
              <a:t>Not the taught mechanism (S53).</a:t>
            </a:r>
            <a:endParaRPr lang="en-US" sz="1600" dirty="0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CLINICAL VIGNETTE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28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SO5 · IO2.3 · IO2.4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L04 · Musculoskeletal Pharmacology — Session 2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112</a:t>
            </a:r>
            <a:endParaRPr lang="en-US" sz="1000" dirty="0"/>
          </a:p>
        </p:txBody>
      </p:sp>
      <p:sp>
        <p:nvSpPr>
          <p:cNvPr id="7" name="Question stem card"/>
          <p:cNvSpPr/>
          <p:nvPr/>
        </p:nvSpPr>
        <p:spPr>
          <a:xfrm>
            <a:off x="548640" y="1325880"/>
            <a:ext cx="11094415" cy="923544"/>
          </a:xfrm>
          <a:prstGeom prst="roundRect">
            <a:avLst>
              <a:gd name="adj" fmla="val 990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Question stem"/>
          <p:cNvSpPr txBox="1"/>
          <p:nvPr/>
        </p:nvSpPr>
        <p:spPr>
          <a:xfrm>
            <a:off x="777240" y="1325880"/>
            <a:ext cx="10637215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A 72-year-old with OA, CKD, hypertension, and an anticoagulant now has an acute gout flare. Which plan best fits the study guide?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245973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4597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A</a:t>
            </a:r>
            <a:endParaRPr lang="en-US" sz="1400" dirty="0"/>
          </a:p>
        </p:txBody>
      </p:sp>
      <p:sp>
        <p:nvSpPr>
          <p:cNvPr id="11" name="Option A"/>
          <p:cNvSpPr txBox="1"/>
          <p:nvPr/>
        </p:nvSpPr>
        <p:spPr>
          <a:xfrm>
            <a:off x="1188720" y="243230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Start febuxostat today to stop the flare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300837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0083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B</a:t>
            </a:r>
            <a:endParaRPr lang="en-US" sz="1400" dirty="0"/>
          </a:p>
        </p:txBody>
      </p:sp>
      <p:sp>
        <p:nvSpPr>
          <p:cNvPr id="14" name="Option B"/>
          <p:cNvSpPr txBox="1"/>
          <p:nvPr/>
        </p:nvSpPr>
        <p:spPr>
          <a:xfrm>
            <a:off x="1188720" y="298094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Probenecid now, since the kidneys are the issue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48640" y="355701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5570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C</a:t>
            </a:r>
            <a:endParaRPr lang="en-US" sz="1400" dirty="0"/>
          </a:p>
        </p:txBody>
      </p:sp>
      <p:sp>
        <p:nvSpPr>
          <p:cNvPr id="17" name="Option C"/>
          <p:cNvSpPr txBox="1"/>
          <p:nvPr/>
        </p:nvSpPr>
        <p:spPr>
          <a:xfrm>
            <a:off x="1188720" y="352958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Short corticosteroid course; defer allopurinol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48640" y="410565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41056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D</a:t>
            </a:r>
            <a:endParaRPr lang="en-US" sz="1400" dirty="0"/>
          </a:p>
        </p:txBody>
      </p:sp>
      <p:sp>
        <p:nvSpPr>
          <p:cNvPr id="20" name="Option D"/>
          <p:cNvSpPr txBox="1"/>
          <p:nvPr/>
        </p:nvSpPr>
        <p:spPr>
          <a:xfrm>
            <a:off x="1188720" y="407822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Full-dose colchicine with no adjustment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48640" y="465429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46542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E</a:t>
            </a:r>
            <a:endParaRPr lang="en-US" sz="1400" dirty="0"/>
          </a:p>
        </p:txBody>
      </p:sp>
      <p:sp>
        <p:nvSpPr>
          <p:cNvPr id="23" name="Option E"/>
          <p:cNvSpPr txBox="1"/>
          <p:nvPr/>
        </p:nvSpPr>
        <p:spPr>
          <a:xfrm>
            <a:off x="1188720" y="462686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Full-dose oral naproxen; start allopurinol now</a:t>
            </a:r>
            <a:endParaRPr lang="en-US" sz="1800" dirty="0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CLINICAL VIGNETTE · ANSWER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28: C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SO5 · IO2.3 · IO2.4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L04 · Musculoskeletal Pharmacology — Session 2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113</a:t>
            </a:r>
            <a:endParaRPr lang="en-US" sz="1000" dirty="0"/>
          </a:p>
        </p:txBody>
      </p:sp>
      <p:sp>
        <p:nvSpPr>
          <p:cNvPr id="7" name="Correct answer"/>
          <p:cNvSpPr/>
          <p:nvPr/>
        </p:nvSpPr>
        <p:spPr>
          <a:xfrm>
            <a:off x="548640" y="1325880"/>
            <a:ext cx="11094415" cy="548640"/>
          </a:xfrm>
          <a:prstGeom prst="roundRect">
            <a:avLst>
              <a:gd name="adj" fmla="val 16667"/>
            </a:avLst>
          </a:prstGeom>
          <a:solidFill>
            <a:srgbClr val="E2F0D9"/>
          </a:solidFill>
          <a:ln w="19050">
            <a:solidFill>
              <a:srgbClr val="548235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35608"/>
            <a:ext cx="329184" cy="32918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234440" y="1325880"/>
            <a:ext cx="101800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C. </a:t>
            </a:r>
            <a:r>
              <a:rPr lang="en-US" sz="1600" b="1" dirty="0">
                <a:solidFill>
                  <a:srgbClr val="1F1F1F"/>
                </a:solidFill>
              </a:rPr>
              <a:t>Short corticosteroid course; defer allopurinol</a:t>
            </a:r>
            <a:endParaRPr lang="en-US" sz="1600" dirty="0"/>
          </a:p>
        </p:txBody>
      </p:sp>
      <p:sp>
        <p:nvSpPr>
          <p:cNvPr id="10" name="Why correct"/>
          <p:cNvSpPr txBox="1"/>
          <p:nvPr/>
        </p:nvSpPr>
        <p:spPr>
          <a:xfrm>
            <a:off x="777240" y="2011680"/>
            <a:ext cx="10637215" cy="724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</a:rPr>
              <a:t>An oral NSAID is relatively contraindicated (CKD, anticoagulant, hypertension); a short corticosteroid course is often preferred, colchicine needs renal dose adjustment, and ULT waits until the flare resolves (SG U2-S).</a:t>
            </a:r>
            <a:r>
              <a:rPr lang="en-US" sz="1100" dirty="0">
                <a:solidFill>
                  <a:srgbClr val="666666"/>
                </a:solidFill>
              </a:rPr>
              <a:t>  SG U2-S; S7; S9</a:t>
            </a:r>
            <a:endParaRPr lang="en-US" sz="1600" dirty="0"/>
          </a:p>
        </p:txBody>
      </p:sp>
      <p:sp>
        <p:nvSpPr>
          <p:cNvPr id="11" name="Why others wrong card"/>
          <p:cNvSpPr/>
          <p:nvPr/>
        </p:nvSpPr>
        <p:spPr>
          <a:xfrm>
            <a:off x="548640" y="2873248"/>
            <a:ext cx="11094415" cy="1704848"/>
          </a:xfrm>
          <a:prstGeom prst="roundRect">
            <a:avLst>
              <a:gd name="adj" fmla="val 5364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2" name="Why others wrong"/>
          <p:cNvSpPr txBox="1"/>
          <p:nvPr/>
        </p:nvSpPr>
        <p:spPr>
          <a:xfrm>
            <a:off x="777240" y="2982976"/>
            <a:ext cx="10637215" cy="1521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C00000"/>
                </a:solidFill>
              </a:rPr>
              <a:t>Why the other choices are wrong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A. Start febuxostat today to stop the flare — </a:t>
            </a:r>
            <a:r>
              <a:rPr lang="en-US" sz="1600" dirty="0">
                <a:solidFill>
                  <a:srgbClr val="1F1F1F"/>
                </a:solidFill>
              </a:rPr>
              <a:t>ULT never treats a flare (S7).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B. Probenecid now, since the kidneys are the issue — </a:t>
            </a:r>
            <a:r>
              <a:rPr lang="en-US" sz="1600" dirty="0">
                <a:solidFill>
                  <a:srgbClr val="1F1F1F"/>
                </a:solidFill>
              </a:rPr>
              <a:t>Probenecid is chronic ULT and avoided in renal impairment (S12).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D. Full-dose colchicine with no adjustment — </a:t>
            </a:r>
            <a:r>
              <a:rPr lang="en-US" sz="1600" dirty="0">
                <a:solidFill>
                  <a:srgbClr val="1F1F1F"/>
                </a:solidFill>
              </a:rPr>
              <a:t>Colchicine needs renal dose adjustment (S9).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E. Full-dose oral naproxen; start allopurinol now — </a:t>
            </a:r>
            <a:r>
              <a:rPr lang="en-US" sz="1600" dirty="0">
                <a:solidFill>
                  <a:srgbClr val="1F1F1F"/>
                </a:solidFill>
              </a:rPr>
              <a:t>NSAID red flags stack up, and ULT waits (SG U2-S).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udy deck light">
  <a:themeElements>
    <a:clrScheme name="Study deck light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Study deck light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113</Slides>
  <Notes>113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113</vt:i4>
      </vt:variant>
    </vt:vector>
  </HeadingPairs>
  <TitlesOfParts>
    <vt:vector size="1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L04 Musculoskeletal Pharmacology — Session 2</dc:title>
  <dc:subject>PptxGenJS Presentation</dc:subject>
  <dc:creator>PptxGenJS</dc:creator>
  <cp:lastModifiedBy>PptxGenJS</cp:lastModifiedBy>
  <cp:revision>1</cp:revision>
  <dcterms:created xsi:type="dcterms:W3CDTF">2026-10-29T13:07:46Z</dcterms:created>
  <dcterms:modified xsi:type="dcterms:W3CDTF">2026-10-29T13:07:46Z</dcterms:modified>
</cp:coreProperties>
</file>