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25-27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image" Target="../media/image-7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image" Target="../media/image-97-3.png"/><Relationship Id="rId4" Type="http://schemas.openxmlformats.org/officeDocument/2006/relationships/image" Target="../media/image-97-4.png"/><Relationship Id="rId5" Type="http://schemas.openxmlformats.org/officeDocument/2006/relationships/image" Target="../media/image-9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image" Target="../media/image-108-3.png"/><Relationship Id="rId4" Type="http://schemas.openxmlformats.org/officeDocument/2006/relationships/image" Target="../media/image-10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332988"/>
          </a:xfrm>
          <a:prstGeom prst="roundRect">
            <a:avLst>
              <a:gd name="adj" fmla="val 32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 Lecturer: Diane S. Allen-Gipson, Ph.D., M.S., Course Director.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Prodrug:</a:t>
            </a:r>
            <a:r>
              <a:rPr lang="en-US" sz="1800" dirty="0">
                <a:solidFill>
                  <a:srgbClr val="1F1F1F"/>
                </a:solidFill>
              </a:rPr>
              <a:t> an inactive precursor converted to the active drug in the body (usually by metabolism).</a:t>
            </a:r>
            <a:r>
              <a:rPr lang="en-US" sz="1300" dirty="0">
                <a:solidFill>
                  <a:srgbClr val="666666"/>
                </a:solidFill>
              </a:rPr>
              <a:t>  p. 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Poisons</a:t>
            </a:r>
            <a:r>
              <a:rPr lang="en-US" sz="1800" dirty="0">
                <a:solidFill>
                  <a:srgbClr val="1F1F1F"/>
                </a:solidFill>
              </a:rPr>
              <a:t> are drugs with almost exclusively harmful effects — but "the dose makes the poison" (Paracelsus): any substance can harm at the wrong dose.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More than half of prescriptions in the USA are for generic drugs.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 has the </a:t>
            </a:r>
            <a:r>
              <a:rPr lang="en-US" sz="1800" b="1" dirty="0">
                <a:solidFill>
                  <a:srgbClr val="1F1F1F"/>
                </a:solidFill>
              </a:rPr>
              <a:t>highest failure rate</a:t>
            </a:r>
            <a:r>
              <a:rPr lang="en-US" sz="1800" dirty="0">
                <a:solidFill>
                  <a:srgbClr val="1F1F1F"/>
                </a:solidFill>
              </a:rPr>
              <a:t> — only about 25% of new drugs move on to Phase III.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III usually enrolls </a:t>
            </a:r>
            <a:r>
              <a:rPr lang="en-US" sz="1800" b="1" dirty="0">
                <a:solidFill>
                  <a:srgbClr val="1F1F1F"/>
                </a:solidFill>
              </a:rPr>
              <a:t>thousands</a:t>
            </a:r>
            <a:r>
              <a:rPr lang="en-US" sz="1800" dirty="0">
                <a:solidFill>
                  <a:srgbClr val="1F1F1F"/>
                </a:solidFill>
              </a:rPr>
              <a:t> of patients (Figure 1–6: 1000–6000), often double-blind and crossover, in settings like the drug's eventual use.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Less than one-third of drugs studied in humans survive clinical trials and reach the market.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 see one case of a toxicity occurring 1 in 10,000, several hundred thousand patients may need exposure — so rare effects usually surface only in Phase IV, which has </a:t>
            </a:r>
            <a:r>
              <a:rPr lang="en-US" sz="1800" b="1" dirty="0">
                <a:solidFill>
                  <a:srgbClr val="1F1F1F"/>
                </a:solidFill>
              </a:rPr>
              <a:t>no fixed duration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Marketing requires a </a:t>
            </a:r>
            <a:r>
              <a:rPr lang="en-US" sz="1800" b="1" dirty="0">
                <a:solidFill>
                  <a:srgbClr val="1F1F1F"/>
                </a:solidFill>
              </a:rPr>
              <a:t>New Drug Application (NDA)</a:t>
            </a:r>
            <a:r>
              <a:rPr lang="en-US" sz="1800" dirty="0">
                <a:solidFill>
                  <a:srgbClr val="1F1F1F"/>
                </a:solidFill>
              </a:rPr>
              <a:t> after Phase III; human testing starts only after an </a:t>
            </a:r>
            <a:r>
              <a:rPr lang="en-US" sz="1800" b="1" dirty="0">
                <a:solidFill>
                  <a:srgbClr val="1F1F1F"/>
                </a:solidFill>
              </a:rPr>
              <a:t>IND</a:t>
            </a:r>
            <a:r>
              <a:rPr lang="en-US" sz="1800" dirty="0">
                <a:solidFill>
                  <a:srgbClr val="1F1F1F"/>
                </a:solidFill>
              </a:rPr>
              <a:t> (Investigational New Drug) application.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patent lasts 20 years; after it expires, generics are approved through an </a:t>
            </a:r>
            <a:r>
              <a:rPr lang="en-US" sz="1800" b="1" dirty="0">
                <a:solidFill>
                  <a:srgbClr val="1F1F1F"/>
                </a:solidFill>
              </a:rPr>
              <a:t>abbreviated new drug application (ANDA)</a:t>
            </a:r>
            <a:r>
              <a:rPr lang="en-US" sz="1800" dirty="0">
                <a:solidFill>
                  <a:srgbClr val="1F1F1F"/>
                </a:solidFill>
              </a:rPr>
              <a:t> that requires bioequivalence data.</a:t>
            </a:r>
            <a:r>
              <a:rPr lang="en-US" sz="1300" dirty="0">
                <a:solidFill>
                  <a:srgbClr val="666666"/>
                </a:solidFill>
              </a:rPr>
              <a:t>  p. 16;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Placebo responses can occur in as many as 30–40% of subjects — the reason controlled, blinded trials are needed.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Adverse events that are both </a:t>
            </a:r>
            <a:r>
              <a:rPr lang="en-US" sz="1800" b="1" dirty="0">
                <a:solidFill>
                  <a:srgbClr val="1F1F1F"/>
                </a:solidFill>
              </a:rPr>
              <a:t>serious and unexpected</a:t>
            </a:r>
            <a:r>
              <a:rPr lang="en-US" sz="1800" dirty="0">
                <a:solidFill>
                  <a:srgbClr val="1F1F1F"/>
                </a:solidFill>
              </a:rPr>
              <a:t> must be reported to the FDA within 15 days; clinicians can report through MedWatch.</a:t>
            </a:r>
            <a:r>
              <a:rPr lang="en-US" sz="1300" dirty="0">
                <a:solidFill>
                  <a:srgbClr val="666666"/>
                </a:solidFill>
              </a:rPr>
              <a:t>  p. 18; p. 19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Thalidomide</a:t>
            </a:r>
            <a:r>
              <a:rPr lang="en-US" sz="1800" dirty="0">
                <a:solidFill>
                  <a:srgbClr val="1F1F1F"/>
                </a:solidFill>
              </a:rPr>
              <a:t> (sold in Europe as a "nontoxic" hypnotic) caused about 10,000 birth defects and led to the </a:t>
            </a:r>
            <a:r>
              <a:rPr lang="en-US" sz="1800" b="1" dirty="0">
                <a:solidFill>
                  <a:srgbClr val="1F1F1F"/>
                </a:solidFill>
              </a:rPr>
              <a:t>Kefauver-Harris Amendments (1962)</a:t>
            </a:r>
            <a:r>
              <a:rPr lang="en-US" sz="1800" dirty="0">
                <a:solidFill>
                  <a:srgbClr val="1F1F1F"/>
                </a:solidFill>
              </a:rPr>
              <a:t>, which required proof of efficacy as well as safety.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The </a:t>
            </a:r>
            <a:r>
              <a:rPr lang="en-US" sz="1800" b="1" dirty="0">
                <a:solidFill>
                  <a:srgbClr val="1F1F1F"/>
                </a:solidFill>
              </a:rPr>
              <a:t>Orphan Drug Amendment (1983)</a:t>
            </a:r>
            <a:r>
              <a:rPr lang="en-US" sz="1800" dirty="0">
                <a:solidFill>
                  <a:srgbClr val="1F1F1F"/>
                </a:solidFill>
              </a:rPr>
              <a:t> gives incentives for drugs treating diseases with fewer than 200,000 US patients.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 population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I: 20–100 healthy volunteers — but if significant toxicity is expected (cancer, AIDS therapy), volunteer </a:t>
            </a:r>
            <a:r>
              <a:rPr lang="en-US" sz="1800" b="1" dirty="0">
                <a:solidFill>
                  <a:srgbClr val="1F1F1F"/>
                </a:solidFill>
              </a:rPr>
              <a:t>patients with the disease</a:t>
            </a:r>
            <a:r>
              <a:rPr lang="en-US" sz="1800" dirty="0">
                <a:solidFill>
                  <a:srgbClr val="1F1F1F"/>
                </a:solidFill>
              </a:rPr>
              <a:t> are used instead.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II size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II: a modest number of patients (100–200) with the target disease.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3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3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According to the textbook, which clinical trial phase has the highest rate of drug failures?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Phase 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 has the highest failure rate; only about 25% of drugs move on to Phase III (p. 17).</a:t>
            </a:r>
            <a:r>
              <a:rPr lang="en-US" sz="1100" dirty="0">
                <a:solidFill>
                  <a:srgbClr val="666666"/>
                </a:solidFill>
              </a:rPr>
              <a:t>  p. 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is the approval step after Phase III, not a trial phase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— </a:t>
            </a:r>
            <a:r>
              <a:rPr lang="en-US" sz="1600" dirty="0">
                <a:solidFill>
                  <a:srgbClr val="1F1F1F"/>
                </a:solidFill>
              </a:rPr>
              <a:t>Phase III confirms efficacy in thousands, after most failures have occurred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 — </a:t>
            </a:r>
            <a:r>
              <a:rPr lang="en-US" sz="1600" dirty="0">
                <a:solidFill>
                  <a:srgbClr val="1F1F1F"/>
                </a:solidFill>
              </a:rPr>
              <a:t>Phase I sets the safe dose range in 20–100 subjects; it is not the main failure point (p. 17).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Spare receptors:</a:t>
            </a:r>
            <a:r>
              <a:rPr lang="en-US" sz="1800" dirty="0">
                <a:solidFill>
                  <a:srgbClr val="1F1F1F"/>
                </a:solidFill>
              </a:rPr>
              <a:t> a maximal response can occur without occupying every receptor (e.g., about 90% of cardiac β receptors can be blocked and maximal inotropic response still preserved).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Irreversible antagonist</a:t>
            </a:r>
            <a:r>
              <a:rPr lang="en-US" sz="1800" dirty="0">
                <a:solidFill>
                  <a:srgbClr val="1F1F1F"/>
                </a:solidFill>
              </a:rPr>
              <a:t> effects last until new receptors are made — duration depends on receptor turnover, not drug elimination (phenoxybenzamine for pheochromocytoma).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partial agonist's lower maximal effect is </a:t>
            </a:r>
            <a:r>
              <a:rPr lang="en-US" sz="1800" b="1" dirty="0">
                <a:solidFill>
                  <a:srgbClr val="1F1F1F"/>
                </a:solidFill>
              </a:rPr>
              <a:t>not</a:t>
            </a:r>
            <a:r>
              <a:rPr lang="en-US" sz="1800" dirty="0">
                <a:solidFill>
                  <a:srgbClr val="1F1F1F"/>
                </a:solidFill>
              </a:rPr>
              <a:t> due to lower affinity — it can occupy all receptors and still produce less response.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Allosteric modulators</a:t>
            </a:r>
            <a:r>
              <a:rPr lang="en-US" sz="1800" dirty="0">
                <a:solidFill>
                  <a:srgbClr val="1F1F1F"/>
                </a:solidFill>
              </a:rPr>
              <a:t> bind a different site from the agonist (e.g., benzodiazepines enhance GABA's effect).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Agonist-induced </a:t>
            </a:r>
            <a:r>
              <a:rPr lang="en-US" sz="1800" b="1" dirty="0">
                <a:solidFill>
                  <a:srgbClr val="1F1F1F"/>
                </a:solidFill>
              </a:rPr>
              <a:t>desensitization</a:t>
            </a:r>
            <a:r>
              <a:rPr lang="en-US" sz="1800" dirty="0">
                <a:solidFill>
                  <a:srgbClr val="1F1F1F"/>
                </a:solidFill>
              </a:rPr>
              <a:t> (tachyphylaxis) and downregulation reduce response with continued exposure.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Competitive antagonism is surmountable in real life: exercise or stress raises catecholamines enough to overcome a fixed propranolol dose.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Propranolol markedly slows the heart rate in pheochromocytoma (high catecholamines) but not the resting rate of a trained marathon runner.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Chemical antagonism</a:t>
            </a:r>
            <a:r>
              <a:rPr lang="en-US" sz="1800" dirty="0">
                <a:solidFill>
                  <a:srgbClr val="1F1F1F"/>
                </a:solidFill>
              </a:rPr>
              <a:t> needs no receptor: positively charged protamine binds and neutralizes negatively charged heparin.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Physiologic antagonism:</a:t>
            </a:r>
            <a:r>
              <a:rPr lang="en-US" sz="1800" dirty="0">
                <a:solidFill>
                  <a:srgbClr val="1F1F1F"/>
                </a:solidFill>
              </a:rPr>
              <a:t> two drugs act on different receptors with opposing effects (e.g., insulin opposes glucocorticoid-induced hyperglycemia).</a:t>
            </a:r>
            <a:r>
              <a:rPr lang="en-US" sz="1300" dirty="0">
                <a:solidFill>
                  <a:srgbClr val="666666"/>
                </a:solidFill>
              </a:rPr>
              <a:t>  p. 27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graphicFrame>
        <p:nvGraphicFramePr>
          <p:cNvPr id="5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graphicFrame>
        <p:nvGraphicFramePr>
          <p:cNvPr id="5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54-year-old is given phenoxybenzamine before surgery for pheochromocytoma. Blood pressure stays controlled even when the tumor releases large catecholamine surges. What best explains why the blockade persists?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activates opposing receptors, producing a physiologic counter-effect instead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is a partial agonist that caps the maximal catecholamine response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neutralizes catecholamines chemically in plasma before they reach receptors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competes reversibly, so high catecholamine levels easily displace it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irreversible antagonist's duration depends on receptor turnover, and high agonist levels cannot overcome it (p. 25).</a:t>
            </a:r>
            <a:r>
              <a:rPr lang="en-US" sz="1100" dirty="0">
                <a:solidFill>
                  <a:srgbClr val="666666"/>
                </a:solidFill>
              </a:rPr>
              <a:t>  p. 25-27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It activates opposing receptors, producing a physiologic counter-effect instead — </a:t>
            </a:r>
            <a:r>
              <a:rPr lang="en-US" sz="1600" dirty="0">
                <a:solidFill>
                  <a:srgbClr val="1F1F1F"/>
                </a:solidFill>
              </a:rPr>
              <a:t>That is physiologic antagonism, like insulin vs glucocorticoids (p. 27).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It is a partial agonist that caps the maximal catecholamine response — </a:t>
            </a:r>
            <a:r>
              <a:rPr lang="en-US" sz="1600" dirty="0">
                <a:solidFill>
                  <a:srgbClr val="1F1F1F"/>
                </a:solidFill>
              </a:rPr>
              <a:t>Partial agonists produce a submaximal response; phenoxybenzamine is an irreversible antagonist (p. 25; 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It neutralizes catecholamines chemically in plasma before they reach receptors — </a:t>
            </a:r>
            <a:r>
              <a:rPr lang="en-US" sz="1600" dirty="0">
                <a:solidFill>
                  <a:srgbClr val="1F1F1F"/>
                </a:solidFill>
              </a:rPr>
              <a:t>That is chemical antagonism, like protamine–heparin (p.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It competes reversibly, so high catecholamine levels easily displace it — </a:t>
            </a:r>
            <a:r>
              <a:rPr lang="en-US" sz="1600" dirty="0">
                <a:solidFill>
                  <a:srgbClr val="1F1F1F"/>
                </a:solidFill>
              </a:rPr>
              <a:t>That describes competitive antagonism, which surges CAN overcome (p. 25).</a:t>
            </a:r>
            <a:endParaRPr lang="en-US" sz="16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Quantal dose-response:</a:t>
            </a:r>
            <a:r>
              <a:rPr lang="en-US" sz="1800" dirty="0">
                <a:solidFill>
                  <a:srgbClr val="1F1F1F"/>
                </a:solidFill>
              </a:rPr>
              <a:t> ED₅₀ (effective in 50%), TD₅₀ (toxic in 50%), LD₅₀ (lethal in 50% of animals).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Therapeutic window:</a:t>
            </a:r>
            <a:r>
              <a:rPr lang="en-US" sz="1800" dirty="0">
                <a:solidFill>
                  <a:srgbClr val="1F1F1F"/>
                </a:solidFill>
              </a:rPr>
              <a:t> the range between the minimum therapeutic dose and the minimum toxic dose — more practical than TI for dosing a patient.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No drug causes only a single specific effect — drugs are </a:t>
            </a:r>
            <a:r>
              <a:rPr lang="en-US" sz="1800" b="1" dirty="0">
                <a:solidFill>
                  <a:srgbClr val="1F1F1F"/>
                </a:solidFill>
              </a:rPr>
              <a:t>selective</a:t>
            </a:r>
            <a:r>
              <a:rPr lang="en-US" sz="1800" dirty="0">
                <a:solidFill>
                  <a:srgbClr val="1F1F1F"/>
                </a:solidFill>
              </a:rPr>
              <a:t>, not specific.</a:t>
            </a:r>
            <a:r>
              <a:rPr lang="en-US" sz="1300" dirty="0">
                <a:solidFill>
                  <a:srgbClr val="666666"/>
                </a:solidFill>
              </a:rPr>
              <a:t>  p. 40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Asthma + hypertension on propranolol: nonselective β blockade can cause bronchoconstriction; a β₁-selective blocker (metoprolol) is an alternative.</a:t>
            </a:r>
            <a:r>
              <a:rPr lang="en-US" sz="1300" dirty="0">
                <a:solidFill>
                  <a:srgbClr val="666666"/>
                </a:solidFill>
              </a:rPr>
              <a:t>  p. 41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concept · Quantal dose-response and the therapeutic window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pic>
        <p:nvPicPr>
          <p:cNvPr id="7" name="Figure TB_quantal.png" descr="/home/user/dpas-pharm/work/L01/figures/TB_qua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6090" y="1325880"/>
            <a:ext cx="6999514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diagram (illustrative values) of a textbook concept: the % of a population showing the therapeutic effect (blue) or a toxic effect (red) as dose rises. ED₅₀ and TD₅₀ give TI = TD₅₀ ÷ ED₅₀ (an animal-study measure); the therapeutic window — minimum therapeutic dose to minimum toxic dose — is the more practical range for dosing a patient.</a:t>
            </a:r>
            <a:r>
              <a:rPr lang="en-US" sz="1100" dirty="0">
                <a:solidFill>
                  <a:srgbClr val="666666"/>
                </a:solidFill>
              </a:rPr>
              <a:t>  p. 38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graphicFrame>
        <p:nvGraphicFramePr>
          <p:cNvPr id="8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graphicFrame>
        <p:nvGraphicFramePr>
          <p:cNvPr id="82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narrow-TI drugs in numbers (textbook Table 3–1)</a:t>
            </a:r>
            <a:endParaRPr lang="en-US" sz="24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graphicFrame>
        <p:nvGraphicFramePr>
          <p:cNvPr id="8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Half-life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 level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Toxic above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Worth knowing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Digoxin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39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Vd ~500 L (sequestered in tissue); 67% excreted in urine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Lithium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22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0.7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95% excreted in urine, 0% protein-bound — renal function rules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Concentration-dependent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Saturable (capacity-limited) elimination; 89%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37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0779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44; p. 45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97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First-pass loss can happen in the </a:t>
            </a:r>
            <a:r>
              <a:rPr lang="en-US" sz="1800" b="1" dirty="0">
                <a:solidFill>
                  <a:srgbClr val="1F1F1F"/>
                </a:solidFill>
              </a:rPr>
              <a:t>gut wall</a:t>
            </a:r>
            <a:r>
              <a:rPr lang="en-US" sz="1800" dirty="0">
                <a:solidFill>
                  <a:srgbClr val="1F1F1F"/>
                </a:solidFill>
              </a:rPr>
              <a:t> (e.g., intestinal CYP3A4) as well as the liver; grapefruit juice inhibits gut-wall metabolism and P-glycoprotein, raising absorption of some drugs.</a:t>
            </a:r>
            <a:r>
              <a:rPr lang="en-US" sz="1300" dirty="0">
                <a:solidFill>
                  <a:srgbClr val="666666"/>
                </a:solidFill>
              </a:rPr>
              <a:t>  p. 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P-glycoprotein (MDR1)</a:t>
            </a:r>
            <a:r>
              <a:rPr lang="en-US" sz="1800" dirty="0">
                <a:solidFill>
                  <a:srgbClr val="1F1F1F"/>
                </a:solidFill>
              </a:rPr>
              <a:t> pumps drugs out of cells in brain, testes, and gut; inhibiting it raises digoxin blood levels.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Ion trapping: weak acids are excreted faster in </a:t>
            </a:r>
            <a:r>
              <a:rPr lang="en-US" sz="1800" b="1" dirty="0">
                <a:solidFill>
                  <a:srgbClr val="1F1F1F"/>
                </a:solidFill>
              </a:rPr>
              <a:t>alkaline</a:t>
            </a:r>
            <a:r>
              <a:rPr lang="en-US" sz="1800" dirty="0">
                <a:solidFill>
                  <a:srgbClr val="1F1F1F"/>
                </a:solidFill>
              </a:rPr>
              <a:t> urine; weak bases faster in </a:t>
            </a:r>
            <a:r>
              <a:rPr lang="en-US" sz="1800" b="1" dirty="0">
                <a:solidFill>
                  <a:srgbClr val="1F1F1F"/>
                </a:solidFill>
              </a:rPr>
              <a:t>acidic</a:t>
            </a:r>
            <a:r>
              <a:rPr lang="en-US" sz="1800" dirty="0">
                <a:solidFill>
                  <a:srgbClr val="1F1F1F"/>
                </a:solidFill>
              </a:rPr>
              <a:t> urine.</a:t>
            </a:r>
            <a:r>
              <a:rPr lang="en-US" sz="1300" dirty="0">
                <a:solidFill>
                  <a:srgbClr val="666666"/>
                </a:solidFill>
              </a:rPr>
              <a:t>  p. 10; p. 11</a:t>
            </a:r>
            <a:endParaRPr lang="en-US" sz="1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Aspirin overdose: sodium bicarbonate alkalinizes blood and urine, reducing aspirin entry into tissues and speeding its renal excretion.</a:t>
            </a:r>
            <a:r>
              <a:rPr lang="en-US" sz="1300" dirty="0">
                <a:solidFill>
                  <a:srgbClr val="666666"/>
                </a:solidFill>
              </a:rPr>
              <a:t>  p. 20</a:t>
            </a:r>
            <a:endParaRPr lang="en-US" sz="1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104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105</a:t>
            </a:r>
            <a:endParaRPr lang="en-US" sz="1000" dirty="0"/>
          </a:p>
        </p:txBody>
      </p:sp>
      <p:graphicFrame>
        <p:nvGraphicFramePr>
          <p:cNvPr id="10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106</a:t>
            </a:r>
            <a:endParaRPr lang="en-US" sz="1000" dirty="0"/>
          </a:p>
        </p:txBody>
      </p:sp>
      <p:graphicFrame>
        <p:nvGraphicFramePr>
          <p:cNvPr id="10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Bioavailability by route (textbook Table 3–3)</a:t>
            </a:r>
            <a:endParaRPr lang="en-US" sz="27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107</a:t>
            </a:r>
            <a:endParaRPr lang="en-US" sz="1000" dirty="0"/>
          </a:p>
        </p:txBody>
      </p:sp>
      <p:graphicFrame>
        <p:nvGraphicFramePr>
          <p:cNvPr id="10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Bioavailability (%)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 volumes often feasible;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Smaller volumes than IM;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convenient; first-pass effect may be important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Rectal (PR)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30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Less first-pass effect than oral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Inhalation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very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80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Usually very slow absorption; prolonged duration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71830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48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21: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22: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2026-10-22T20:05:51Z</dcterms:created>
  <dcterms:modified xsi:type="dcterms:W3CDTF">2026-10-22T20:05:51Z</dcterms:modified>
</cp:coreProperties>
</file>