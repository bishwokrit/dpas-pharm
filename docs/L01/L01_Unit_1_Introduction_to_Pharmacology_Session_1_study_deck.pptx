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</p:sldIdLst>
  <p:notesMasterIdLst>
    <p:notesMasterId r:id="rId1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notesMaster" Target="notesMasters/notesMaster1.xml"/><Relationship Id="rId116" Type="http://schemas.openxmlformats.org/officeDocument/2006/relationships/presProps" Target="presProps.xml"/><Relationship Id="rId117" Type="http://schemas.openxmlformats.org/officeDocument/2006/relationships/viewProps" Target="viewProps.xml"/><Relationship Id="rId118" Type="http://schemas.openxmlformats.org/officeDocument/2006/relationships/theme" Target="theme/theme1.xml"/><Relationship Id="rId1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image" Target="../media/image-6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image" Target="../media/image-92-3.png"/><Relationship Id="rId4" Type="http://schemas.openxmlformats.org/officeDocument/2006/relationships/image" Target="../media/image-92-4.png"/><Relationship Id="rId5" Type="http://schemas.openxmlformats.org/officeDocument/2006/relationships/image" Target="../media/image-9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106-2.png"/><Relationship Id="rId3" Type="http://schemas.openxmlformats.org/officeDocument/2006/relationships/image" Target="../media/image-106-3.png"/><Relationship Id="rId4" Type="http://schemas.openxmlformats.org/officeDocument/2006/relationships/image" Target="../media/image-10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Prodrug:</a:t>
            </a:r>
            <a:r>
              <a:rPr lang="en-US" sz="1800" dirty="0">
                <a:solidFill>
                  <a:srgbClr val="1F1F1F"/>
                </a:solidFill>
              </a:rPr>
              <a:t> an inactive precursor converted to the active drug in the body (usually by metabolism).</a:t>
            </a:r>
            <a:r>
              <a:rPr lang="en-US" sz="1300" dirty="0">
                <a:solidFill>
                  <a:srgbClr val="666666"/>
                </a:solidFill>
              </a:rPr>
              <a:t>  p. 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Poisons</a:t>
            </a:r>
            <a:r>
              <a:rPr lang="en-US" sz="1800" dirty="0">
                <a:solidFill>
                  <a:srgbClr val="1F1F1F"/>
                </a:solidFill>
              </a:rPr>
              <a:t> are drugs with almost exclusively harmful effects — but "the dose makes the poison" (Paracelsus): any substance can harm at the wrong dose.</a:t>
            </a:r>
            <a:r>
              <a:rPr lang="en-US" sz="1300" dirty="0">
                <a:solidFill>
                  <a:srgbClr val="666666"/>
                </a:solidFill>
              </a:rPr>
              <a:t>  p. 3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Drugs bind receptors by </a:t>
            </a:r>
            <a:r>
              <a:rPr lang="en-US" sz="1800" b="1" dirty="0">
                <a:solidFill>
                  <a:srgbClr val="1F1F1F"/>
                </a:solidFill>
              </a:rPr>
              <a:t>covalent</a:t>
            </a:r>
            <a:r>
              <a:rPr lang="en-US" sz="1800" dirty="0">
                <a:solidFill>
                  <a:srgbClr val="1F1F1F"/>
                </a:solidFill>
              </a:rPr>
              <a:t> bonds (strong, often irreversible), </a:t>
            </a:r>
            <a:r>
              <a:rPr lang="en-US" sz="1800" b="1" dirty="0">
                <a:solidFill>
                  <a:srgbClr val="1F1F1F"/>
                </a:solidFill>
              </a:rPr>
              <a:t>electrostatic</a:t>
            </a:r>
            <a:r>
              <a:rPr lang="en-US" sz="1800" dirty="0">
                <a:solidFill>
                  <a:srgbClr val="1F1F1F"/>
                </a:solidFill>
              </a:rPr>
              <a:t> bonds (most common) or </a:t>
            </a:r>
            <a:r>
              <a:rPr lang="en-US" sz="1800" b="1" dirty="0">
                <a:solidFill>
                  <a:srgbClr val="1F1F1F"/>
                </a:solidFill>
              </a:rPr>
              <a:t>hydrophobic</a:t>
            </a:r>
            <a:r>
              <a:rPr lang="en-US" sz="1800" dirty="0">
                <a:solidFill>
                  <a:srgbClr val="1F1F1F"/>
                </a:solidFill>
              </a:rPr>
              <a:t> bonds (weak).</a:t>
            </a:r>
            <a:r>
              <a:rPr lang="en-US" sz="1300" dirty="0">
                <a:solidFill>
                  <a:srgbClr val="666666"/>
                </a:solidFill>
              </a:rPr>
              <a:t>  p. 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Chirality:</a:t>
            </a:r>
            <a:r>
              <a:rPr lang="en-US" sz="1800" dirty="0">
                <a:solidFill>
                  <a:srgbClr val="1F1F1F"/>
                </a:solidFill>
              </a:rPr>
              <a:t> over half of drugs are mirror-image pairs (enantiomers); one is usually much more potent, yet most are sold as 50:50 mixtures.</a:t>
            </a:r>
            <a:r>
              <a:rPr lang="en-US" sz="1300" dirty="0">
                <a:solidFill>
                  <a:srgbClr val="666666"/>
                </a:solidFill>
              </a:rPr>
              <a:t>  p. 4; p. 5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2496312"/>
          </a:xfrm>
          <a:prstGeom prst="roundRect">
            <a:avLst>
              <a:gd name="adj" fmla="val 43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More than half of prescriptions in the USA are for generic drugs.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Weak bonds need a precise fit, so they are </a:t>
            </a:r>
            <a:r>
              <a:rPr lang="en-US" sz="1800" b="1" dirty="0">
                <a:solidFill>
                  <a:srgbClr val="1F1F1F"/>
                </a:solidFill>
              </a:rPr>
              <a:t>more selective</a:t>
            </a:r>
            <a:r>
              <a:rPr lang="en-US" sz="1800" dirty="0">
                <a:solidFill>
                  <a:srgbClr val="1F1F1F"/>
                </a:solidFill>
              </a:rPr>
              <a:t>. Aspirin’s covalent bond to platelet cyclooxygenase lasts until new platelets are made.</a:t>
            </a:r>
            <a:r>
              <a:rPr lang="en-US" sz="1300" dirty="0">
                <a:solidFill>
                  <a:srgbClr val="666666"/>
                </a:solidFill>
              </a:rPr>
              <a:t>  p. 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graphicFrame>
        <p:nvGraphicFramePr>
          <p:cNvPr id="1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23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Double-blind:</a:t>
            </a:r>
            <a:r>
              <a:rPr lang="en-US" sz="1800" dirty="0">
                <a:solidFill>
                  <a:srgbClr val="1F1F1F"/>
                </a:solidFill>
              </a:rPr>
              <a:t> neither subjects nor evaluators know who gets drug or placebo. </a:t>
            </a:r>
            <a:r>
              <a:rPr lang="en-US" sz="1800" b="1" dirty="0">
                <a:solidFill>
                  <a:srgbClr val="1F1F1F"/>
                </a:solidFill>
              </a:rPr>
              <a:t>Crossover:</a:t>
            </a:r>
            <a:r>
              <a:rPr lang="en-US" sz="1800" dirty="0">
                <a:solidFill>
                  <a:srgbClr val="1F1F1F"/>
                </a:solidFill>
              </a:rPr>
              <a:t> each subject gets every treatment in turn.</a:t>
            </a:r>
            <a:r>
              <a:rPr lang="en-US" sz="1300" dirty="0">
                <a:solidFill>
                  <a:srgbClr val="666666"/>
                </a:solidFill>
              </a:rPr>
              <a:t>  p. 14; p. 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IRB:</a:t>
            </a:r>
            <a:r>
              <a:rPr lang="en-US" sz="1800" dirty="0">
                <a:solidFill>
                  <a:srgbClr val="1F1F1F"/>
                </a:solidFill>
              </a:rPr>
              <a:t> the committee at each trial site that approves the ethics of the study; participants give informed consent.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 has the </a:t>
            </a:r>
            <a:r>
              <a:rPr lang="en-US" sz="1800" b="1" dirty="0">
                <a:solidFill>
                  <a:srgbClr val="1F1F1F"/>
                </a:solidFill>
              </a:rPr>
              <a:t>highest failure rate</a:t>
            </a:r>
            <a:r>
              <a:rPr lang="en-US" sz="1800" dirty="0">
                <a:solidFill>
                  <a:srgbClr val="1F1F1F"/>
                </a:solidFill>
              </a:rPr>
              <a:t> — only about 25% of new drugs move on to Phase III.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110228"/>
          </a:xfrm>
          <a:prstGeom prst="roundRect">
            <a:avLst>
              <a:gd name="adj" fmla="val 267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241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III usually enrolls </a:t>
            </a:r>
            <a:r>
              <a:rPr lang="en-US" sz="1800" b="1" dirty="0">
                <a:solidFill>
                  <a:srgbClr val="1F1F1F"/>
                </a:solidFill>
              </a:rPr>
              <a:t>thousands</a:t>
            </a:r>
            <a:r>
              <a:rPr lang="en-US" sz="1800" dirty="0">
                <a:solidFill>
                  <a:srgbClr val="1F1F1F"/>
                </a:solidFill>
              </a:rPr>
              <a:t> of patients (Figure 1–6: 1000–6000), often double-blind and crossover, in settings like the drug's eventual use.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Less than one-third of drugs studied in humans survive clinical trials and reach the market.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To see one case of a toxicity occurring 1 in 10,000, several hundred thousand patients may need exposure — so rare effects usually surface only in Phase IV, which has </a:t>
            </a:r>
            <a:r>
              <a:rPr lang="en-US" sz="1800" b="1" dirty="0">
                <a:solidFill>
                  <a:srgbClr val="1F1F1F"/>
                </a:solidFill>
              </a:rPr>
              <a:t>no fixed duration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Marketing requires a </a:t>
            </a:r>
            <a:r>
              <a:rPr lang="en-US" sz="1800" b="1" dirty="0">
                <a:solidFill>
                  <a:srgbClr val="1F1F1F"/>
                </a:solidFill>
              </a:rPr>
              <a:t>New Drug Application (NDA)</a:t>
            </a:r>
            <a:r>
              <a:rPr lang="en-US" sz="1800" dirty="0">
                <a:solidFill>
                  <a:srgbClr val="1F1F1F"/>
                </a:solidFill>
              </a:rPr>
              <a:t> after Phase III; human testing starts only after an </a:t>
            </a:r>
            <a:r>
              <a:rPr lang="en-US" sz="1800" b="1" dirty="0">
                <a:solidFill>
                  <a:srgbClr val="1F1F1F"/>
                </a:solidFill>
              </a:rPr>
              <a:t>IND</a:t>
            </a:r>
            <a:r>
              <a:rPr lang="en-US" sz="1800" dirty="0">
                <a:solidFill>
                  <a:srgbClr val="1F1F1F"/>
                </a:solidFill>
              </a:rPr>
              <a:t> (Investigational New Drug) application.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Strength of evidence: case reports &lt; cohort and case-control studies &lt; </a:t>
            </a:r>
            <a:r>
              <a:rPr lang="en-US" sz="1800" b="1" dirty="0">
                <a:solidFill>
                  <a:srgbClr val="1F1F1F"/>
                </a:solidFill>
              </a:rPr>
              <a:t>randomized controlled trials</a:t>
            </a:r>
            <a:r>
              <a:rPr lang="en-US" sz="1800" dirty="0">
                <a:solidFill>
                  <a:srgbClr val="1F1F1F"/>
                </a:solidFill>
              </a:rPr>
              <a:t> (the gold standard: randomization balances confounders).</a:t>
            </a:r>
            <a:r>
              <a:rPr lang="en-US" sz="1300" dirty="0">
                <a:solidFill>
                  <a:srgbClr val="666666"/>
                </a:solidFill>
              </a:rPr>
              <a:t>  p. 15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patent lasts 20 years; after it expires, generics are approved through an </a:t>
            </a:r>
            <a:r>
              <a:rPr lang="en-US" sz="1800" b="1" dirty="0">
                <a:solidFill>
                  <a:srgbClr val="1F1F1F"/>
                </a:solidFill>
              </a:rPr>
              <a:t>abbreviated new drug application (ANDA)</a:t>
            </a:r>
            <a:r>
              <a:rPr lang="en-US" sz="1800" dirty="0">
                <a:solidFill>
                  <a:srgbClr val="1F1F1F"/>
                </a:solidFill>
              </a:rPr>
              <a:t> that requires bioequivalence data.</a:t>
            </a:r>
            <a:r>
              <a:rPr lang="en-US" sz="1300" dirty="0">
                <a:solidFill>
                  <a:srgbClr val="666666"/>
                </a:solidFill>
              </a:rPr>
              <a:t>  p. 16;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Placebo responses can occur in as many as 30–40% of subjects — the reason controlled, blinded trials are needed.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Adverse events that are both </a:t>
            </a:r>
            <a:r>
              <a:rPr lang="en-US" sz="1800" b="1" dirty="0">
                <a:solidFill>
                  <a:srgbClr val="1F1F1F"/>
                </a:solidFill>
              </a:rPr>
              <a:t>serious and unexpected</a:t>
            </a:r>
            <a:r>
              <a:rPr lang="en-US" sz="1800" dirty="0">
                <a:solidFill>
                  <a:srgbClr val="1F1F1F"/>
                </a:solidFill>
              </a:rPr>
              <a:t> must be reported to the FDA within 15 days; clinicians can report through MedWatch.</a:t>
            </a:r>
            <a:r>
              <a:rPr lang="en-US" sz="1300" dirty="0">
                <a:solidFill>
                  <a:srgbClr val="666666"/>
                </a:solidFill>
              </a:rPr>
              <a:t>  p. 18; p. 19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Dietary supplements are regulated as food under DSHEA (1994), so they get no full FDA drug review.</a:t>
            </a:r>
            <a:r>
              <a:rPr lang="en-US" sz="1300" dirty="0">
                <a:solidFill>
                  <a:srgbClr val="666666"/>
                </a:solidFill>
              </a:rPr>
              <a:t>  p. 3; p. 16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Thalidomide</a:t>
            </a:r>
            <a:r>
              <a:rPr lang="en-US" sz="1800" dirty="0">
                <a:solidFill>
                  <a:srgbClr val="1F1F1F"/>
                </a:solidFill>
              </a:rPr>
              <a:t> (sold in Europe as a "nontoxic" hypnotic) caused about 10,000 birth defects and led to the </a:t>
            </a:r>
            <a:r>
              <a:rPr lang="en-US" sz="1800" b="1" dirty="0">
                <a:solidFill>
                  <a:srgbClr val="1F1F1F"/>
                </a:solidFill>
              </a:rPr>
              <a:t>Kefauver-Harris Amendments (1962)</a:t>
            </a:r>
            <a:r>
              <a:rPr lang="en-US" sz="1800" dirty="0">
                <a:solidFill>
                  <a:srgbClr val="1F1F1F"/>
                </a:solidFill>
              </a:rPr>
              <a:t>, which required proof of efficacy as well as safety.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The </a:t>
            </a:r>
            <a:r>
              <a:rPr lang="en-US" sz="1800" b="1" dirty="0">
                <a:solidFill>
                  <a:srgbClr val="1F1F1F"/>
                </a:solidFill>
              </a:rPr>
              <a:t>Orphan Drug Amendment (1983)</a:t>
            </a:r>
            <a:r>
              <a:rPr lang="en-US" sz="1800" dirty="0">
                <a:solidFill>
                  <a:srgbClr val="1F1F1F"/>
                </a:solidFill>
              </a:rPr>
              <a:t> gives incentives for drugs treating diseases with fewer than 200,000 US patients.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 population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I: 20–100 healthy volunteers — but if significant toxicity is expected (cancer, AIDS therapy), volunteer </a:t>
            </a:r>
            <a:r>
              <a:rPr lang="en-US" sz="1800" b="1" dirty="0">
                <a:solidFill>
                  <a:srgbClr val="1F1F1F"/>
                </a:solidFill>
              </a:rPr>
              <a:t>patients with the disease</a:t>
            </a:r>
            <a:r>
              <a:rPr lang="en-US" sz="1800" dirty="0">
                <a:solidFill>
                  <a:srgbClr val="1F1F1F"/>
                </a:solidFill>
              </a:rPr>
              <a:t> are used instead.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II size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II: a modest number of patients (100–200) with the target disease.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3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3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Major US drug laws (textbook Table 1–6)</a:t>
            </a:r>
            <a:endParaRPr lang="en-US" sz="29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graphicFrame>
        <p:nvGraphicFramePr>
          <p:cNvPr id="3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Law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did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Food, Drug, and Cosmetic Act (1938)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New drugs must be safe (not yet proven effective); followed sulfanilamide deaths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Durham-Humphrey Act (1952)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FDA decides which drugs need a prescription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Kefauver-Harris Amendments (1962)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Proof of efficacy as well as safety; adverse-reaction reporting (after thalidomide)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Comprehensive Drug Abuse Prevention and Control Act (1970)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Drug schedules and controls for habit-forming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2722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16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Major US drug laws (textbook Table 1–6) (cont.)</a:t>
            </a:r>
            <a:endParaRPr lang="en-US" sz="26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graphicFrame>
        <p:nvGraphicFramePr>
          <p:cNvPr id="3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Law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did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Orphan Drug Amendment (1983)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Incentives for diseases with fewer than 200,000 US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Drug Price Competition and Patent Restoration Act (1984)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Abbreviated applications for generics; bioequivalence data required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Dietary Supplement Health and Education Act (1994)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Supplements treated as food; no full FDA drug review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Biologics Price Competition and Innovation Act (2009)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Abbreviated pathway for biosimilars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2722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16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46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Kd:</a:t>
            </a:r>
            <a:r>
              <a:rPr lang="en-US" sz="1800" dirty="0">
                <a:solidFill>
                  <a:srgbClr val="1F1F1F"/>
                </a:solidFill>
              </a:rPr>
              <a:t> the drug concentration that fills half the receptors; a low Kd means high affinity.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Spare receptors:</a:t>
            </a:r>
            <a:r>
              <a:rPr lang="en-US" sz="1800" dirty="0">
                <a:solidFill>
                  <a:srgbClr val="1F1F1F"/>
                </a:solidFill>
              </a:rPr>
              <a:t> a maximal response can occur without occupying every receptor (e.g., about 90% of cardiac β receptors can be blocked and maximal inotropic response still preserved).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Irreversible antagonist</a:t>
            </a:r>
            <a:r>
              <a:rPr lang="en-US" sz="1800" dirty="0">
                <a:solidFill>
                  <a:srgbClr val="1F1F1F"/>
                </a:solidFill>
              </a:rPr>
              <a:t> effects last until new receptors are made — duration depends on receptor turnover, not drug elimination (phenoxybenzamine for pheochromocytoma).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partial agonist's lower maximal effect is </a:t>
            </a:r>
            <a:r>
              <a:rPr lang="en-US" sz="1800" b="1" dirty="0">
                <a:solidFill>
                  <a:srgbClr val="1F1F1F"/>
                </a:solidFill>
              </a:rPr>
              <a:t>not</a:t>
            </a:r>
            <a:r>
              <a:rPr lang="en-US" sz="1800" dirty="0">
                <a:solidFill>
                  <a:srgbClr val="1F1F1F"/>
                </a:solidFill>
              </a:rPr>
              <a:t> due to lower affinity — it can occupy all receptors and still produce less response.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Allosteric modulators</a:t>
            </a:r>
            <a:r>
              <a:rPr lang="en-US" sz="1800" dirty="0">
                <a:solidFill>
                  <a:srgbClr val="1F1F1F"/>
                </a:solidFill>
              </a:rPr>
              <a:t> bind a different site from the agonist (e.g., benzodiazepines enhance GABA's effect).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Agonist-induced </a:t>
            </a:r>
            <a:r>
              <a:rPr lang="en-US" sz="1800" b="1" dirty="0">
                <a:solidFill>
                  <a:srgbClr val="1F1F1F"/>
                </a:solidFill>
              </a:rPr>
              <a:t>desensitization</a:t>
            </a:r>
            <a:r>
              <a:rPr lang="en-US" sz="1800" dirty="0">
                <a:solidFill>
                  <a:srgbClr val="1F1F1F"/>
                </a:solidFill>
              </a:rPr>
              <a:t> (tachyphylaxis) and downregulation reduce response with continued exposure.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Targets beyond receptors: </a:t>
            </a:r>
            <a:r>
              <a:rPr lang="en-US" sz="1800" b="1" dirty="0">
                <a:solidFill>
                  <a:srgbClr val="1F1F1F"/>
                </a:solidFill>
              </a:rPr>
              <a:t>enzymes</a:t>
            </a:r>
            <a:r>
              <a:rPr lang="en-US" sz="1800" dirty="0">
                <a:solidFill>
                  <a:srgbClr val="1F1F1F"/>
                </a:solidFill>
              </a:rPr>
              <a:t> (statins on HMG-CoA reductase), </a:t>
            </a:r>
            <a:r>
              <a:rPr lang="en-US" sz="1800" b="1" dirty="0">
                <a:solidFill>
                  <a:srgbClr val="1F1F1F"/>
                </a:solidFill>
              </a:rPr>
              <a:t>transporters</a:t>
            </a:r>
            <a:r>
              <a:rPr lang="en-US" sz="1800" dirty="0">
                <a:solidFill>
                  <a:srgbClr val="1F1F1F"/>
                </a:solidFill>
              </a:rPr>
              <a:t> (digitalis on Na⁺/K⁺-ATPase; antidepressants) and </a:t>
            </a:r>
            <a:r>
              <a:rPr lang="en-US" sz="1800" b="1" dirty="0">
                <a:solidFill>
                  <a:srgbClr val="1F1F1F"/>
                </a:solidFill>
              </a:rPr>
              <a:t>structural proteins</a:t>
            </a:r>
            <a:r>
              <a:rPr lang="en-US" sz="1800" dirty="0">
                <a:solidFill>
                  <a:srgbClr val="1F1F1F"/>
                </a:solidFill>
              </a:rPr>
              <a:t> (colchicine on tubulin).</a:t>
            </a:r>
            <a:r>
              <a:rPr lang="en-US" sz="1300" dirty="0">
                <a:solidFill>
                  <a:srgbClr val="666666"/>
                </a:solidFill>
              </a:rPr>
              <a:t>  p. 22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Five signaling mechanisms carry a drug’s message into the cell: intracellular receptor, receptor tyrosine kinase, cytokine receptor (JAK-STAT), ion channel and G protein (compared in the table).</a:t>
            </a:r>
            <a:r>
              <a:rPr lang="en-US" sz="1300" dirty="0">
                <a:solidFill>
                  <a:srgbClr val="666666"/>
                </a:solidFill>
              </a:rPr>
              <a:t>  p. 28-32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Competitive antagonism is surmountable in real life: exercise or stress raises catecholamines enough to overcome a fixed propranolol dose.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Propranolol markedly slows the heart rate in pheochromocytoma (high catecholamines) but not the resting rate of a trained marathon runner.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Glucocorticoids will not stop an acute asthma attack within minutes: gene-acting drugs need hours to make new proteins.</a:t>
            </a:r>
            <a:r>
              <a:rPr lang="en-US" sz="1300" dirty="0">
                <a:solidFill>
                  <a:srgbClr val="666666"/>
                </a:solidFill>
              </a:rPr>
              <a:t>  p. 28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Phosphodiesterase inhibitors prolong second messengers: milrinone (cAMP) and sildenafil (cGMP).</a:t>
            </a:r>
            <a:r>
              <a:rPr lang="en-US" sz="1300" dirty="0">
                <a:solidFill>
                  <a:srgbClr val="666666"/>
                </a:solidFill>
              </a:rPr>
              <a:t>  p. 34; p. 35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775204"/>
          </a:xfrm>
          <a:prstGeom prst="roundRect">
            <a:avLst>
              <a:gd name="adj" fmla="val 39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906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Chemical antagonism</a:t>
            </a:r>
            <a:r>
              <a:rPr lang="en-US" sz="1800" dirty="0">
                <a:solidFill>
                  <a:srgbClr val="1F1F1F"/>
                </a:solidFill>
              </a:rPr>
              <a:t> needs no receptor: positively charged protamine binds and neutralizes negatively charged heparin.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Physiologic antagonism:</a:t>
            </a:r>
            <a:r>
              <a:rPr lang="en-US" sz="1800" dirty="0">
                <a:solidFill>
                  <a:srgbClr val="1F1F1F"/>
                </a:solidFill>
              </a:rPr>
              <a:t> two drugs act on different receptors with opposing effects (e.g., insulin opposes glucocorticoid-induced hyperglycemia).</a:t>
            </a:r>
            <a:r>
              <a:rPr lang="en-US" sz="1300" dirty="0">
                <a:solidFill>
                  <a:srgbClr val="666666"/>
                </a:solidFill>
              </a:rPr>
              <a:t>  p. 27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graphicFrame>
        <p:nvGraphicFramePr>
          <p:cNvPr id="5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graphicFrame>
        <p:nvGraphicFramePr>
          <p:cNvPr id="5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Five ways a signal crosses the membrane (textbook Ch. 2)</a:t>
            </a:r>
            <a:endParaRPr lang="en-US" sz="22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graphicFrame>
        <p:nvGraphicFramePr>
          <p:cNvPr id="5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Mechanism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it signals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Clinical point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Intracellular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Corticosteroids, sex steroids, vitamin D, thyroid hormone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Lipid-soluble ligand enters the cell; receptor changes gene transcription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Effects lag 30 min to hours and persist after the drug is gone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 tyrosine kinase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Insulin, EGF, PDGF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Receptors dimerize and phosphorylate tyrosines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Blocked in cancer (trastuzumab, gefitinib)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Cytokine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Growth hormone, erythropoietin, interferons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Separate JAK kinase activates STATs, which enter the nucleus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Same pattern as tyrosine kinases, kinase is a separate protein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Nicotinic ACh, GABA, glutamate; voltage-gated Ca²⁺ and Na⁺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Opens or blocks ion flow, changing membrane potential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Fastest signal (milliseconds); verapamil, local anesthetics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 protein–coupled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β and α adrenoceptors, muscarinic ACh, opioids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 protein (GTP) changes an effector, which changes a second messenger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family; desensitizes with continued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94969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28-32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G proteins and their second messengers (textbook Table 2–1)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graphicFrame>
        <p:nvGraphicFramePr>
          <p:cNvPr id="5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G protein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Receptors for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β-adrenergic amines, histamine, glucagon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↑ adenylyl cyclase → ↑ cAMP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α₂-adrenergic amines, muscarinic ACh, opioids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↓ cAMP; opens cardiac K⁺ channels → ↓ heart rate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Gq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Muscarinic ACh, serotonin (5-HT₂)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↑ phospholipase C → IP₃, DAG, ↑ cytoplasmic Ca²⁺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4625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32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67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Quantal dose-response:</a:t>
            </a:r>
            <a:r>
              <a:rPr lang="en-US" sz="1800" dirty="0">
                <a:solidFill>
                  <a:srgbClr val="1F1F1F"/>
                </a:solidFill>
              </a:rPr>
              <a:t> ED₅₀ (effective in 50%), TD₅₀ (toxic in 50%), LD₅₀ (lethal in 50% of animals).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Therapeutic window:</a:t>
            </a:r>
            <a:r>
              <a:rPr lang="en-US" sz="1800" dirty="0">
                <a:solidFill>
                  <a:srgbClr val="1F1F1F"/>
                </a:solidFill>
              </a:rPr>
              <a:t> the range between the minimum therapeutic dose and the minimum toxic dose — more practical than TI for dosing a patient.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70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No drug causes only a single specific effect — drugs are </a:t>
            </a:r>
            <a:r>
              <a:rPr lang="en-US" sz="1800" b="1" dirty="0">
                <a:solidFill>
                  <a:srgbClr val="1F1F1F"/>
                </a:solidFill>
              </a:rPr>
              <a:t>selective</a:t>
            </a:r>
            <a:r>
              <a:rPr lang="en-US" sz="1800" dirty="0">
                <a:solidFill>
                  <a:srgbClr val="1F1F1F"/>
                </a:solidFill>
              </a:rPr>
              <a:t>, not specific.</a:t>
            </a:r>
            <a:r>
              <a:rPr lang="en-US" sz="1300" dirty="0">
                <a:solidFill>
                  <a:srgbClr val="666666"/>
                </a:solidFill>
              </a:rPr>
              <a:t>  p. 40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Asthma + hypertension on propranolol: nonselective β blockade can cause bronchoconstriction; a β₁-selective blocker (metoprolol) is an alternative.</a:t>
            </a:r>
            <a:r>
              <a:rPr lang="en-US" sz="1300" dirty="0">
                <a:solidFill>
                  <a:srgbClr val="666666"/>
                </a:solidFill>
              </a:rPr>
              <a:t>  p. 41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concept · Quantal dose-response and the therapeutic window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pic>
        <p:nvPicPr>
          <p:cNvPr id="7" name="Figure TB_quantal.png" descr="/home/user/dpas-pharm/work/L01/figures/TB_qua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6090" y="1325880"/>
            <a:ext cx="6999514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diagram (illustrative values) of a textbook concept: the % of a population showing the therapeutic effect (blue) or a toxic effect (red) as dose rises. ED₅₀ and TD₅₀ give TI = TD₅₀ ÷ ED₅₀ (an animal-study measure); the therapeutic window — minimum therapeutic dose to minimum toxic dose — is the more practical range for dosing a patient.</a:t>
            </a:r>
            <a:r>
              <a:rPr lang="en-US" sz="1100" dirty="0">
                <a:solidFill>
                  <a:srgbClr val="666666"/>
                </a:solidFill>
              </a:rPr>
              <a:t>  p. 38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graphicFrame>
        <p:nvGraphicFramePr>
          <p:cNvPr id="7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graphicFrame>
        <p:nvGraphicFramePr>
          <p:cNvPr id="7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narrow-TI drugs in numbers (textbook Table 3–1)</a:t>
            </a:r>
            <a:endParaRPr lang="en-US" sz="24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graphicFrame>
        <p:nvGraphicFramePr>
          <p:cNvPr id="8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Half-life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 level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Toxic above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Worth knowing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Digoxin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39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Vd ~500 L (sequestered in tissue); 67% excreted in urine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Lithium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22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0.7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95% excreted in urine, 0% protein-bound — renal function rules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Concentration-dependent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Saturable (capacity-limited) elimination; 89%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37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0779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44; p. 45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92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pKa:</a:t>
            </a:r>
            <a:r>
              <a:rPr lang="en-US" sz="1800" dirty="0">
                <a:solidFill>
                  <a:srgbClr val="1F1F1F"/>
                </a:solidFill>
              </a:rPr>
              <a:t> the pH at which a drug is half ionized and half nonionized.</a:t>
            </a:r>
            <a:r>
              <a:rPr lang="en-US" sz="1300" dirty="0">
                <a:solidFill>
                  <a:srgbClr val="666666"/>
                </a:solidFill>
              </a:rPr>
              <a:t>  p. 10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First-pass loss can happen in the </a:t>
            </a:r>
            <a:r>
              <a:rPr lang="en-US" sz="1800" b="1" dirty="0">
                <a:solidFill>
                  <a:srgbClr val="1F1F1F"/>
                </a:solidFill>
              </a:rPr>
              <a:t>gut wall</a:t>
            </a:r>
            <a:r>
              <a:rPr lang="en-US" sz="1800" dirty="0">
                <a:solidFill>
                  <a:srgbClr val="1F1F1F"/>
                </a:solidFill>
              </a:rPr>
              <a:t> (e.g., intestinal CYP3A4) as well as the liver; grapefruit juice inhibits gut-wall metabolism and P-glycoprotein, raising absorption of some drugs.</a:t>
            </a:r>
            <a:r>
              <a:rPr lang="en-US" sz="1300" dirty="0">
                <a:solidFill>
                  <a:srgbClr val="666666"/>
                </a:solidFill>
              </a:rPr>
              <a:t>  p. 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P-glycoprotein (MDR1)</a:t>
            </a:r>
            <a:r>
              <a:rPr lang="en-US" sz="1800" dirty="0">
                <a:solidFill>
                  <a:srgbClr val="1F1F1F"/>
                </a:solidFill>
              </a:rPr>
              <a:t> pumps drugs out of cells in brain, testes, and gut; inhibiting it raises digoxin blood levels.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Ion trapping:</a:t>
            </a:r>
            <a:r>
              <a:rPr lang="en-US" sz="1800" dirty="0">
                <a:solidFill>
                  <a:srgbClr val="1F1F1F"/>
                </a:solidFill>
              </a:rPr>
              <a:t> weak acids are excreted faster in </a:t>
            </a:r>
            <a:r>
              <a:rPr lang="en-US" sz="1800" b="1" dirty="0">
                <a:solidFill>
                  <a:srgbClr val="1F1F1F"/>
                </a:solidFill>
              </a:rPr>
              <a:t>alkaline</a:t>
            </a:r>
            <a:r>
              <a:rPr lang="en-US" sz="1800" dirty="0">
                <a:solidFill>
                  <a:srgbClr val="1F1F1F"/>
                </a:solidFill>
              </a:rPr>
              <a:t> urine; weak bases faster in </a:t>
            </a:r>
            <a:r>
              <a:rPr lang="en-US" sz="1800" b="1" dirty="0">
                <a:solidFill>
                  <a:srgbClr val="1F1F1F"/>
                </a:solidFill>
              </a:rPr>
              <a:t>acidic</a:t>
            </a:r>
            <a:r>
              <a:rPr lang="en-US" sz="1800" dirty="0">
                <a:solidFill>
                  <a:srgbClr val="1F1F1F"/>
                </a:solidFill>
              </a:rPr>
              <a:t> urine.</a:t>
            </a:r>
            <a:r>
              <a:rPr lang="en-US" sz="1300" dirty="0">
                <a:solidFill>
                  <a:srgbClr val="666666"/>
                </a:solidFill>
              </a:rPr>
              <a:t>  p. 10; p. 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Drugs cross membranes by </a:t>
            </a:r>
            <a:r>
              <a:rPr lang="en-US" sz="1800" b="1" dirty="0">
                <a:solidFill>
                  <a:srgbClr val="1F1F1F"/>
                </a:solidFill>
              </a:rPr>
              <a:t>lipid diffusion</a:t>
            </a:r>
            <a:r>
              <a:rPr lang="en-US" sz="1800" dirty="0">
                <a:solidFill>
                  <a:srgbClr val="1F1F1F"/>
                </a:solidFill>
              </a:rPr>
              <a:t> (the main route), aqueous pores, </a:t>
            </a:r>
            <a:r>
              <a:rPr lang="en-US" sz="1800" b="1" dirty="0">
                <a:solidFill>
                  <a:srgbClr val="1F1F1F"/>
                </a:solidFill>
              </a:rPr>
              <a:t>carriers</a:t>
            </a:r>
            <a:r>
              <a:rPr lang="en-US" sz="1800" dirty="0">
                <a:solidFill>
                  <a:srgbClr val="1F1F1F"/>
                </a:solidFill>
              </a:rPr>
              <a:t> (saturable) or endocytosis (vitamin B₁₂, iron).</a:t>
            </a:r>
            <a:r>
              <a:rPr lang="en-US" sz="1300" dirty="0">
                <a:solidFill>
                  <a:srgbClr val="666666"/>
                </a:solidFill>
              </a:rPr>
              <a:t>  p. 8; p. 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Only the </a:t>
            </a:r>
            <a:r>
              <a:rPr lang="en-US" sz="1800" b="1" dirty="0">
                <a:solidFill>
                  <a:srgbClr val="1F1F1F"/>
                </a:solidFill>
              </a:rPr>
              <a:t>nonionized</a:t>
            </a:r>
            <a:r>
              <a:rPr lang="en-US" sz="1800" dirty="0">
                <a:solidFill>
                  <a:srgbClr val="1F1F1F"/>
                </a:solidFill>
              </a:rPr>
              <a:t> form crosses lipid membranes: a weak acid is mostly nonionized when pH &lt; pKa, a weak base when pH &gt; pKa (Henderson-Hasselbalch).</a:t>
            </a:r>
            <a:r>
              <a:rPr lang="en-US" sz="1300" dirty="0">
                <a:solidFill>
                  <a:srgbClr val="666666"/>
                </a:solidFill>
              </a:rPr>
              <a:t>  p. 9; p. 10</a:t>
            </a:r>
            <a:endParaRPr lang="en-US" sz="1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Aspirin overdose: sodium bicarbonate alkalinizes blood and urine, reducing aspirin entry into tissues and speeding its renal excretion.</a:t>
            </a:r>
            <a:r>
              <a:rPr lang="en-US" sz="1300" dirty="0">
                <a:solidFill>
                  <a:srgbClr val="666666"/>
                </a:solidFill>
              </a:rPr>
              <a:t>  p. 20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Weak acids: aspirin (pKa 3.5), warfarin (5.0). Weak bases: morphine (7.9), propranolol (9.4).</a:t>
            </a:r>
            <a:r>
              <a:rPr lang="en-US" sz="1300" dirty="0">
                <a:solidFill>
                  <a:srgbClr val="666666"/>
                </a:solidFill>
              </a:rPr>
              <a:t>  p. 10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graphicFrame>
        <p:nvGraphicFramePr>
          <p:cNvPr id="10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graphicFrame>
        <p:nvGraphicFramePr>
          <p:cNvPr id="10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Bioavailability by route (textbook Table 3–3)</a:t>
            </a:r>
            <a:endParaRPr lang="en-US" sz="27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104</a:t>
            </a:r>
            <a:endParaRPr lang="en-US" sz="1000" dirty="0"/>
          </a:p>
        </p:txBody>
      </p:sp>
      <p:graphicFrame>
        <p:nvGraphicFramePr>
          <p:cNvPr id="10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Bioavailability (%)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 volumes often feasible;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Smaller volumes than IM;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convenient; first-pass effect may be important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Rectal (PR)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30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Less first-pass effect than oral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Inhalation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very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80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Usually very slow absorption; prolonged duration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71830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48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What a drug’s Vd tells you about where it goes (textbook Table 3–2)</a:t>
            </a:r>
            <a:endParaRPr lang="en-US" sz="22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105</a:t>
            </a:r>
            <a:endParaRPr lang="en-US" sz="1000" dirty="0"/>
          </a:p>
        </p:txBody>
      </p:sp>
      <p:graphicFrame>
        <p:nvGraphicFramePr>
          <p:cNvPr id="10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Vd (L/kg)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Where the drug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Example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0.04 (about 2.8 L in 70 kg)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Stays in the plasma (minimum possible Vd)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 proteins such as antibodies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0.2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Extracellular water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Gentamicin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Total body water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Ethanol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Far above body 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Sequestered in tissue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Digoxin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43; p. 44; p. 46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21: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22: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23: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113</Slides>
  <Notes>113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2026-10-25T01:55:08Z</dcterms:created>
  <dcterms:modified xsi:type="dcterms:W3CDTF">2026-10-25T01:55:08Z</dcterms:modified>
</cp:coreProperties>
</file>