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</p:sldIdLst>
  <p:notesMasterIdLst>
    <p:notesMasterId r:id="rId1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notesMaster" Target="notesMasters/notesMaster1.xml"/><Relationship Id="rId117" Type="http://schemas.openxmlformats.org/officeDocument/2006/relationships/presProps" Target="presProps.xml"/><Relationship Id="rId118" Type="http://schemas.openxmlformats.org/officeDocument/2006/relationships/viewProps" Target="viewProps.xml"/><Relationship Id="rId119" Type="http://schemas.openxmlformats.org/officeDocument/2006/relationships/theme" Target="theme/theme1.xml"/><Relationship Id="rId1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S7; S8-9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S13; S16-17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S14; S14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S12 (notes); S13; S14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p. 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S23; S24-25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S22; S27-28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S22; S22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p. 25-27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S31; S32-33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S35; S36-37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S39; S40-41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S42-43; SG U1-R6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S38; S38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S30; S34; S34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S46; S47-48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S54-55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S50; S51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S53; S53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image" Target="../media/image-70-3.png"/><Relationship Id="rId4" Type="http://schemas.openxmlformats.org/officeDocument/2006/relationships/image" Target="../media/image-70-4.png"/><Relationship Id="rId5" Type="http://schemas.openxmlformats.org/officeDocument/2006/relationships/image" Target="../media/image-7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image" Target="../media/image-81-3.png"/><Relationship Id="rId4" Type="http://schemas.openxmlformats.org/officeDocument/2006/relationships/image" Target="../media/image-8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image" Target="../media/image-95-3.png"/><Relationship Id="rId4" Type="http://schemas.openxmlformats.org/officeDocument/2006/relationships/image" Target="../media/image-95-4.png"/><Relationship Id="rId5" Type="http://schemas.openxmlformats.org/officeDocument/2006/relationships/image" Target="../media/image-9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image" Target="../media/image-10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image" Target="../media/image-105-2.png"/><Relationship Id="rId3" Type="http://schemas.openxmlformats.org/officeDocument/2006/relationships/image" Target="../media/image-105-3.png"/><Relationship Id="rId4" Type="http://schemas.openxmlformats.org/officeDocument/2006/relationships/image" Target="../media/image-10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L01 · Thu, Oct 15, 2026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7830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Pharmacology — Session 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</a:rPr>
              <a:t>Pharmacology study deck · organized by topic</a:t>
            </a:r>
            <a:endParaRPr lang="en-US" sz="1800" dirty="0"/>
          </a:p>
        </p:txBody>
      </p:sp>
      <p:sp>
        <p:nvSpPr>
          <p:cNvPr id="5" name="Legend card"/>
          <p:cNvSpPr/>
          <p:nvPr/>
        </p:nvSpPr>
        <p:spPr>
          <a:xfrm>
            <a:off x="548640" y="3840480"/>
            <a:ext cx="11094415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023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How to read this deck</a:t>
            </a:r>
            <a:endParaRPr lang="en-US" sz="1600" dirty="0"/>
          </a:p>
        </p:txBody>
      </p:sp>
      <p:sp>
        <p:nvSpPr>
          <p:cNvPr id="7" name="Legend"/>
          <p:cNvSpPr txBox="1"/>
          <p:nvPr/>
        </p:nvSpPr>
        <p:spPr>
          <a:xfrm>
            <a:off x="822960" y="4389120"/>
            <a:ext cx="10545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400" dirty="0">
                <a:solidFill>
                  <a:srgbClr val="1F1F1F"/>
                </a:solidFill>
              </a:rPr>
              <a:t>  = textbook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400" dirty="0">
                <a:solidFill>
                  <a:srgbClr val="1F1F1F"/>
                </a:solidFill>
              </a:rPr>
              <a:t>  = course study guide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1F1F"/>
                </a:solidFill>
              </a:rPr>
              <a:t>Bold</a:t>
            </a:r>
            <a:r>
              <a:rPr lang="en-US" sz="1400" dirty="0">
                <a:solidFill>
                  <a:srgbClr val="1F1F1F"/>
                </a:solidFill>
              </a:rPr>
              <a:t> = emphasized on the lecture slides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S12</a:t>
            </a:r>
            <a:r>
              <a:rPr lang="en-US" sz="1400" dirty="0">
                <a:solidFill>
                  <a:srgbClr val="1F1F1F"/>
                </a:solidFill>
              </a:rPr>
              <a:t> = lecture slide 12   ·   </a:t>
            </a:r>
            <a:r>
              <a:rPr lang="en-US" sz="1400" dirty="0">
                <a:solidFill>
                  <a:srgbClr val="666666"/>
                </a:solidFill>
              </a:rPr>
              <a:t>p. 245</a:t>
            </a:r>
            <a:r>
              <a:rPr lang="en-US" sz="1400" dirty="0">
                <a:solidFill>
                  <a:srgbClr val="1F1F1F"/>
                </a:solidFill>
              </a:rPr>
              <a:t> = textbook page 245   ·   </a:t>
            </a:r>
            <a:r>
              <a:rPr lang="en-US" sz="1400" dirty="0">
                <a:solidFill>
                  <a:srgbClr val="666666"/>
                </a:solidFill>
              </a:rPr>
              <a:t>SG U1-R3</a:t>
            </a:r>
            <a:r>
              <a:rPr lang="en-US" sz="1400" dirty="0">
                <a:solidFill>
                  <a:srgbClr val="1F1F1F"/>
                </a:solidFill>
              </a:rPr>
              <a:t> = study guide item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</a:t>
            </a:r>
            <a:endParaRPr lang="en-US" sz="1000" dirty="0"/>
          </a:p>
        </p:txBody>
      </p:sp>
      <p:sp>
        <p:nvSpPr>
          <p:cNvPr id="6" name="Objective IO1.1"/>
          <p:cNvSpPr/>
          <p:nvPr/>
        </p:nvSpPr>
        <p:spPr>
          <a:xfrm>
            <a:off x="548640" y="1325880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and describe fundamental pharmacologic concepts, including pharmacokinetics, pharmacodynamics, drug-receptor interactions, dose-response relationships, therapeutic index, half-life, and steady state.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Half-life and steady state are taught in Session 2 (L02) · The Language of Pharmacology, Pharmacodynamics: Targets &amp; Receptors, Dose-Response Relationships</a:t>
            </a:r>
            <a:endParaRPr lang="en-US" sz="1200" dirty="0"/>
          </a:p>
        </p:txBody>
      </p:sp>
      <p:sp>
        <p:nvSpPr>
          <p:cNvPr id="10" name="Objective IO1.2"/>
          <p:cNvSpPr/>
          <p:nvPr/>
        </p:nvSpPr>
        <p:spPr>
          <a:xfrm>
            <a:off x="548640" y="245364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45364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45364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processes of drug absorption, distribution, metabolism, and excretion and factors that influence these processes.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45364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This session: absorption + distribution; metabolism + excretion detail in Session 2 (L02) · Pharmacokinetics: ADME — Absorption &amp; Distribution</a:t>
            </a:r>
            <a:endParaRPr lang="en-US" sz="1200" dirty="0"/>
          </a:p>
        </p:txBody>
      </p:sp>
      <p:sp>
        <p:nvSpPr>
          <p:cNvPr id="14" name="Objective IO1.3"/>
          <p:cNvSpPr/>
          <p:nvPr/>
        </p:nvSpPr>
        <p:spPr>
          <a:xfrm>
            <a:off x="548640" y="3349752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349752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349752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patient-specific factors, including age, pregnancy, renal and hepatic function, and pharmacogenetic variation, may affect medication response.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3349752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Barely covered this session; pharmacogenomics and renal dosing in Session 2 (L02) · Pharmacokinetics: ADME — Absorption &amp; Distribution</a:t>
            </a:r>
            <a:endParaRPr lang="en-US" sz="1200" dirty="0"/>
          </a:p>
        </p:txBody>
      </p:sp>
      <p:sp>
        <p:nvSpPr>
          <p:cNvPr id="18" name="Objective IO1.4"/>
          <p:cNvSpPr/>
          <p:nvPr/>
        </p:nvSpPr>
        <p:spPr>
          <a:xfrm>
            <a:off x="548640" y="4477512"/>
            <a:ext cx="11094415" cy="972312"/>
          </a:xfrm>
          <a:prstGeom prst="roundRect">
            <a:avLst>
              <a:gd name="adj" fmla="val 9404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477512"/>
            <a:ext cx="7315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477512"/>
            <a:ext cx="62179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Identify common types and mechanisms of adverse drug reactions, drug-drug interactions, and drug-disease interactions.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4477512"/>
            <a:ext cx="3596335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ADR definition + adverse-event reporting this session; drug interactions in Session 2 (L02) · The Language of Pharmacology, Drug Development &amp; Regulation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  <a:endParaRPr lang="en-US" sz="1000" dirty="0"/>
          </a:p>
        </p:txBody>
      </p:sp>
      <p:sp>
        <p:nvSpPr>
          <p:cNvPr id="6" name="Objective IO1.5"/>
          <p:cNvSpPr/>
          <p:nvPr/>
        </p:nvSpPr>
        <p:spPr>
          <a:xfrm>
            <a:off x="548640" y="132588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common components of medication orders and prescriptions, including drug name, dose, route, frequency, and duration.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drug names (generic vs brand) and routes this session · The Language of Pharmacology, Pharmacokinetics: ADME — Absorption &amp; Distribution</a:t>
            </a:r>
            <a:endParaRPr lang="en-US" sz="1200" dirty="0"/>
          </a:p>
        </p:txBody>
      </p:sp>
      <p:sp>
        <p:nvSpPr>
          <p:cNvPr id="10" name="Objective SO1"/>
          <p:cNvSpPr/>
          <p:nvPr/>
        </p:nvSpPr>
        <p:spPr>
          <a:xfrm>
            <a:off x="548640" y="2221992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22199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221992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pharmacology, pharmacodynamics, and pharmacokinetics.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221992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14" name="Objective SO2"/>
          <p:cNvSpPr/>
          <p:nvPr/>
        </p:nvSpPr>
        <p:spPr>
          <a:xfrm>
            <a:off x="548640" y="2898648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289864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2898648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major stages of drug development and FDA approval.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2898648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18" name="Objective SO3"/>
          <p:cNvSpPr/>
          <p:nvPr/>
        </p:nvSpPr>
        <p:spPr>
          <a:xfrm>
            <a:off x="548640" y="3575304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57530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357530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drugs interact with receptors to produce an effect.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3575304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22" name="Objective SO4"/>
          <p:cNvSpPr/>
          <p:nvPr/>
        </p:nvSpPr>
        <p:spPr>
          <a:xfrm>
            <a:off x="548640" y="4251960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25196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425196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a dose-response curve, including potency and efficacy.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425196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26" name="Objective SO5"/>
          <p:cNvSpPr/>
          <p:nvPr/>
        </p:nvSpPr>
        <p:spPr>
          <a:xfrm>
            <a:off x="548640" y="4928616"/>
            <a:ext cx="11094415" cy="770128"/>
          </a:xfrm>
          <a:prstGeom prst="roundRect">
            <a:avLst>
              <a:gd name="adj" fmla="val 118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4928616"/>
            <a:ext cx="7315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SO5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4928616"/>
            <a:ext cx="62179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absorption, distribution, metabolism, and excretion (ADME), including bioavailability and the first-pass effect.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4928616"/>
            <a:ext cx="3596335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Pharmacokinetics: ADME — Absorption &amp; Distribution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3332988"/>
          </a:xfrm>
          <a:prstGeom prst="roundRect">
            <a:avLst>
              <a:gd name="adj" fmla="val 32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2464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1 of 2 on Introduction to Pharmacology (Thursday, October 15): language, drug development, pharmacodynamics, dose-response, and ADME through distribution. Lecturer: Diane S. Allen-Gipson, Ph.D., M.S., Course Director.</a:t>
            </a:r>
            <a:r>
              <a:rPr lang="en-US" sz="1300" dirty="0">
                <a:solidFill>
                  <a:srgbClr val="666666"/>
                </a:solidFill>
              </a:rPr>
              <a:t>  S1; S2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2 (Thursday, October 22) continues with metabolism, excretion, PK calculations (half-life, steady state, clearance), pharmacogenomics, and the integrated clinical decision-making framework.</a:t>
            </a:r>
            <a:r>
              <a:rPr lang="en-US" sz="1300" dirty="0">
                <a:solidFill>
                  <a:srgbClr val="666666"/>
                </a:solidFill>
              </a:rPr>
              <a:t>  S2;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only half-finished after Session 1 — the lecture stopped after Distribution; Metabolism and Excretion pick up first in Session 2.</a:t>
            </a:r>
            <a:r>
              <a:rPr lang="en-US" sz="1300" dirty="0">
                <a:solidFill>
                  <a:srgbClr val="666666"/>
                </a:solidFill>
              </a:rPr>
              <a:t>  S56 (notes)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Required text: Katzung's Basic and Clinical Pharmacology, 16th Edition (Todd W. Vanderah · 2025 · McGraw-Hill Education · ISBN 1260463303 eBook) — Unit 1 reading: Chapters 1, 2, 3, 4, and 5. AccessMedicine: accessmedicine.mhmedical.com/book.aspx?bookid=3382</a:t>
            </a:r>
            <a:r>
              <a:rPr lang="en-US" sz="1300" dirty="0">
                <a:solidFill>
                  <a:srgbClr val="666666"/>
                </a:solidFill>
              </a:rPr>
              <a:t>  S3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Recommended text: Pharmacotherapy Principles and Practice (Chisholm-Burns, Schwinghammer, Malone, Kolesar, Lee · 2022 · McGraw-Hill Education · Print ISBN 9781260460278 · eText ISBN 9781260460285) — use as supplemental support alongside Katzung's Chapters 1–5, not a substitute.</a:t>
            </a:r>
            <a:r>
              <a:rPr lang="en-US" sz="1300" dirty="0">
                <a:solidFill>
                  <a:srgbClr val="666666"/>
                </a:solidFill>
              </a:rPr>
              <a:t>  S3; S3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Original figures in this deck:</a:t>
            </a:r>
            <a:r>
              <a:rPr lang="en-US" sz="1800" dirty="0">
                <a:solidFill>
                  <a:srgbClr val="1F1F1F"/>
                </a:solidFill>
              </a:rPr>
              <a:t> the lecture's Figures 1–5 (agonist &amp; antagonist effects; sigmoidal dose-response curve; potency vs. efficacy; wide vs. narrow therapeutic index; ADME compartment model) are original diagrams generated by the course director using the AI tool Claude (Anthropic, 2026, Claude Sonnet 5) to illustrate standard, non-copyrighted pharmacologic concepts — not reproduced from Katzung or any other copyrighted source. </a:t>
            </a:r>
            <a:r>
              <a:rPr lang="en-US" sz="1800" b="1" dirty="0">
                <a:solidFill>
                  <a:srgbClr val="1F1F1F"/>
                </a:solidFill>
              </a:rPr>
              <a:t>Reference:</a:t>
            </a:r>
            <a:r>
              <a:rPr lang="en-US" sz="1800" dirty="0">
                <a:solidFill>
                  <a:srgbClr val="1F1F1F"/>
                </a:solidFill>
              </a:rPr>
              <a:t> Anthropic. (2026). Claude (Sonnet 5) [Large language model].</a:t>
            </a:r>
            <a:r>
              <a:rPr lang="en-US" sz="1300" dirty="0">
                <a:solidFill>
                  <a:srgbClr val="666666"/>
                </a:solidFill>
              </a:rPr>
              <a:t>  S57; S57 (notes)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in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The Language of Pharmacology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SO1, IO1.1, IO1.4, IO1.5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Drug Development &amp; Regulation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SO2, IO1.4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65760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42900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Pharmacodynamics: Targets &amp; Receptors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SO3, IO1.1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78728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1608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6160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01688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Dose-Response Relationships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SO4, IO1.1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78728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61608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6160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01688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Pharmacokinetics: ADME — Absorption &amp; Distribution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SO5, IO1.2, IO1.3, IO1.5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1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of Pharmacology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SO1 · IO1.1 · IO1.4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Pharmacology:</a:t>
            </a:r>
            <a:r>
              <a:rPr lang="en-US" sz="1800" dirty="0">
                <a:solidFill>
                  <a:srgbClr val="1F1F1F"/>
                </a:solidFill>
              </a:rPr>
              <a:t> the scientific study of how drugs interact with living systems — from the molecular level to the whole patient.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(medication):</a:t>
            </a:r>
            <a:r>
              <a:rPr lang="en-US" sz="1800" dirty="0">
                <a:solidFill>
                  <a:srgbClr val="1F1F1F"/>
                </a:solidFill>
              </a:rPr>
              <a:t> any chemical substance used to diagnose, treat, cure, or prevent disease, or to alter a physiologic process.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effect:</a:t>
            </a:r>
            <a:r>
              <a:rPr lang="en-US" sz="1800" dirty="0">
                <a:solidFill>
                  <a:srgbClr val="1F1F1F"/>
                </a:solidFill>
              </a:rPr>
              <a:t> a measurable biological change a drug produces (e.g., lower blood pressure).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effect:</a:t>
            </a:r>
            <a:r>
              <a:rPr lang="en-US" sz="1800" dirty="0">
                <a:solidFill>
                  <a:srgbClr val="1F1F1F"/>
                </a:solidFill>
              </a:rPr>
              <a:t> the intended, beneficial pharmacologic effect for a given condition.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 drug reaction (ADR):</a:t>
            </a:r>
            <a:r>
              <a:rPr lang="en-US" sz="1800" dirty="0">
                <a:solidFill>
                  <a:srgbClr val="1F1F1F"/>
                </a:solidFill>
              </a:rPr>
              <a:t> an unintended and harmful response occurring at normal therapeutic doses.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Toxicity:</a:t>
            </a:r>
            <a:r>
              <a:rPr lang="en-US" sz="1800" dirty="0">
                <a:solidFill>
                  <a:srgbClr val="1F1F1F"/>
                </a:solidFill>
              </a:rPr>
              <a:t> harmful effects that occur as the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831336"/>
          </a:xfrm>
          <a:prstGeom prst="roundRect">
            <a:avLst>
              <a:gd name="adj" fmla="val 28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Chemical name:</a:t>
            </a:r>
            <a:r>
              <a:rPr lang="en-US" sz="1800" dirty="0">
                <a:solidFill>
                  <a:srgbClr val="1F1F1F"/>
                </a:solidFill>
              </a:rPr>
              <a:t> describes the exact molecular structure (rarely used in clinical practice).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Generic name:</a:t>
            </a:r>
            <a:r>
              <a:rPr lang="en-US" sz="1800" dirty="0">
                <a:solidFill>
                  <a:srgbClr val="1F1F1F"/>
                </a:solidFill>
              </a:rPr>
              <a:t> the official, non-proprietary name assigned to the active drug — one generic name per drug, regardless of manufacturer.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Brand (trade) name:</a:t>
            </a:r>
            <a:r>
              <a:rPr lang="en-US" sz="1800" dirty="0">
                <a:solidFill>
                  <a:srgbClr val="1F1F1F"/>
                </a:solidFill>
              </a:rPr>
              <a:t> the manufacturer's marketed name; the same generic drug may have several brand names, and brand names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Prodrug:</a:t>
            </a:r>
            <a:r>
              <a:rPr lang="en-US" sz="1800" dirty="0">
                <a:solidFill>
                  <a:srgbClr val="1F1F1F"/>
                </a:solidFill>
              </a:rPr>
              <a:t> an inactive precursor converted to the active drug in the body (usually by metabolism).</a:t>
            </a:r>
            <a:r>
              <a:rPr lang="en-US" sz="1300" dirty="0">
                <a:solidFill>
                  <a:srgbClr val="666666"/>
                </a:solidFill>
              </a:rPr>
              <a:t>  p. 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Poisons</a:t>
            </a:r>
            <a:r>
              <a:rPr lang="en-US" sz="1800" dirty="0">
                <a:solidFill>
                  <a:srgbClr val="1F1F1F"/>
                </a:solidFill>
              </a:rPr>
              <a:t> are drugs with almost exclusively harmful effects — but "the dose makes the poison" (Paracelsus): any substance can harm at the wrong dose.</a:t>
            </a:r>
            <a:r>
              <a:rPr lang="en-US" sz="1300" dirty="0">
                <a:solidFill>
                  <a:srgbClr val="666666"/>
                </a:solidFill>
              </a:rPr>
              <a:t>  p. 3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</a:t>
            </a:r>
            <a:endParaRPr lang="en-US" sz="1000" dirty="0"/>
          </a:p>
        </p:txBody>
      </p:sp>
      <p:sp>
        <p:nvSpPr>
          <p:cNvPr id="7" name="How it works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</a:t>
            </a:r>
            <a:endParaRPr lang="en-US" sz="1800" dirty="0"/>
          </a:p>
        </p:txBody>
      </p:sp>
      <p:sp>
        <p:nvSpPr>
          <p:cNvPr id="11" name="How it works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Pharmacokinetics = what the body does to the drug — ADME.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= what the drug does to the body — receptors &amp; effect.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Pharmacogenomics = how genetic variation shapes individual drug response.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Clinical Pharmacology / Toxicology = applying PK/PD to real patients, and the study of poisoning.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map covers the whole lecture: PK and PD are the two biggest buckets, and nearly everything else (toxicology, pharmacogenomics, therapeutics) sits on top of them.</a:t>
            </a:r>
            <a:r>
              <a:rPr lang="en-US" sz="1300" dirty="0">
                <a:solidFill>
                  <a:srgbClr val="666666"/>
                </a:solidFill>
              </a:rPr>
              <a:t>  S6 (notes)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498848"/>
          </a:xfrm>
          <a:prstGeom prst="roundRect">
            <a:avLst>
              <a:gd name="adj" fmla="val 243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PA students should learn and prescribe by generic name — it is unambiguous, international, and avoids confusing a patient's multiple brand-name products for different drugs.</a:t>
            </a:r>
            <a:r>
              <a:rPr lang="en-US" sz="1300" dirty="0">
                <a:solidFill>
                  <a:srgbClr val="666666"/>
                </a:solidFill>
              </a:rPr>
              <a:t>  S7;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Prescribing and counseling by generic name avoids hiding duplicate therapy — the reason PAs default to generic names.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If a patient says they take "Tylenol" and separately "acetaminophen," check for accidental double-dosing — this previews the acetaminophen toxicity discussion.</a:t>
            </a:r>
            <a:r>
              <a:rPr lang="en-US" sz="1300" dirty="0">
                <a:solidFill>
                  <a:srgbClr val="666666"/>
                </a:solidFill>
              </a:rPr>
              <a:t>  S7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Precise vocabulary (generic names, therapeutic vs. adverse effects) protects patients.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More than half of prescriptions in the USA are for generic drugs.</a:t>
            </a:r>
            <a:r>
              <a:rPr lang="en-US" sz="1300" dirty="0">
                <a:solidFill>
                  <a:srgbClr val="666666"/>
                </a:solidFill>
              </a:rPr>
              <a:t>  p. 18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Acetaminophen (generic) is sold as Tylenol and under many store brands.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"Therapeutic effect" and "pharmacologic effect" are not synonyms — a drug can have pharmacologic effects that are not therapeutic (that is often exactly what an adverse effect is).</a:t>
            </a:r>
            <a:r>
              <a:rPr lang="en-US" sz="1300" dirty="0">
                <a:solidFill>
                  <a:srgbClr val="666666"/>
                </a:solidFill>
              </a:rPr>
              <a:t>  S5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vs. toxicity: an ADR happens at normal therapeutic doses; toxicity happens when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Generic names do NOT vary by manufacturer (one per drug); brand names DO vary — and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Chemical vs. generic vs. brand name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13</a:t>
            </a:r>
            <a:endParaRPr lang="en-US" sz="1000" dirty="0"/>
          </a:p>
        </p:txBody>
      </p:sp>
      <p:graphicFrame>
        <p:nvGraphicFramePr>
          <p:cNvPr id="1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Name 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many per drug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 / clinical use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Exact molecular structure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Rarely used in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Generic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Official, non-proprietary name of the active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One — regardless of manufacturer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Learn and prescribe by it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unambiguous, international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Brand (trade)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Manufacturer's marketed name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Several possible; change between countries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Can hide a shared generic ingredient (e.g., Tylenol = acetaminophen)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71043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S7; S9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Pharmacologic effect vs. therapeutic effect vs. ADR vs. toxicity</a:t>
            </a:r>
            <a:endParaRPr lang="en-US" sz="21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14</a:t>
            </a:r>
            <a:endParaRPr lang="en-US" sz="1000" dirty="0"/>
          </a:p>
        </p:txBody>
      </p:sp>
      <p:graphicFrame>
        <p:nvGraphicFramePr>
          <p:cNvPr id="1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Intended?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Harmful?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Pharmacologic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Any measurable biological change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Therapeutic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 — intended, beneficial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For a given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Adverse drug reaction (ADR)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 — unintended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Normal therapeutic doses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Toxicity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Dose or exposure exceeds the therapeutic range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0863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S5; S5 (notes)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15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prescribe by generic name? One drug has ONE generic name but can hide under SEVERAL brand names — so brand-name products can conceal duplicate therapy and cause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inetics = the body 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eeps the drug moving (ADME). Pharmaco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ynamics = what the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rug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oes to the body.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52444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735324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835908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735324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302252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</a:t>
            </a:r>
            <a:r>
              <a:rPr lang="en-US" sz="1800" b="1" dirty="0">
                <a:solidFill>
                  <a:srgbClr val="1F1F1F"/>
                </a:solidFill>
              </a:rPr>
              <a:t>A</a:t>
            </a:r>
            <a:r>
              <a:rPr lang="en-US" sz="1800" dirty="0">
                <a:solidFill>
                  <a:srgbClr val="1F1F1F"/>
                </a:solidFill>
              </a:rPr>
              <a:t>t normal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oses, </a:t>
            </a:r>
            <a:r>
              <a:rPr lang="en-US" sz="1800" b="1" dirty="0">
                <a:solidFill>
                  <a:srgbClr val="1F1F1F"/>
                </a:solidFill>
              </a:rPr>
              <a:t>R</a:t>
            </a:r>
            <a:r>
              <a:rPr lang="en-US" sz="1800" dirty="0">
                <a:solidFill>
                  <a:srgbClr val="1F1F1F"/>
                </a:solidFill>
              </a:rPr>
              <a:t>eaction is harmful. Toxicity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oo much (exceeds the therapeutic range).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16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442716"/>
          </a:xfrm>
          <a:prstGeom prst="roundRect">
            <a:avLst>
              <a:gd name="adj" fmla="val 31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PK = what the body does to the drug (ADME); PD = what the drug does to the body (receptors &amp; effect).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unintended, harmful, at </a:t>
            </a:r>
            <a:r>
              <a:rPr lang="en-US" sz="1800" b="1" dirty="0">
                <a:solidFill>
                  <a:srgbClr val="1F1F1F"/>
                </a:solidFill>
              </a:rPr>
              <a:t>normal therapeutic doses</a:t>
            </a:r>
            <a:r>
              <a:rPr lang="en-US" sz="1800" dirty="0">
                <a:solidFill>
                  <a:srgbClr val="1F1F1F"/>
                </a:solidFill>
              </a:rPr>
              <a:t>; toxicity = dose/exposure </a:t>
            </a:r>
            <a:r>
              <a:rPr lang="en-US" sz="1800" b="1" dirty="0">
                <a:solidFill>
                  <a:srgbClr val="1F1F1F"/>
                </a:solidFill>
              </a:rPr>
              <a:t>exceeds the therapeutic range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Learn, prescribe, and counsel by </a:t>
            </a:r>
            <a:r>
              <a:rPr lang="en-US" sz="1800" b="1" dirty="0">
                <a:solidFill>
                  <a:srgbClr val="1F1F1F"/>
                </a:solidFill>
              </a:rPr>
              <a:t>generic name</a:t>
            </a:r>
            <a:r>
              <a:rPr lang="en-US" sz="1800" dirty="0">
                <a:solidFill>
                  <a:srgbClr val="1F1F1F"/>
                </a:solidFill>
              </a:rPr>
              <a:t> — brand names can hide a shared ingredient →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Pharmacology connects a drug's chemistry to its clinical effect.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LECTURE QUICK CHECK S8-9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says they take no medications, but separately mentions using "Tylenol" for headaches and a combination cold-and-flu product. What does this scenario illustrate?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Pharmacologic effect and therapeutic effect are simply two words for one thing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are identical worldwide, so the two products must contain different drugs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Chemical names are standardized internationally, so this mix-up could not happen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Generic names vary by manufacturer, which caused the confusion here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ingredient; prescribing and counseling by generic name avoids hiding duplicate therapy (S9).</a:t>
            </a:r>
            <a:r>
              <a:rPr lang="en-US" sz="1100" dirty="0">
                <a:solidFill>
                  <a:srgbClr val="666666"/>
                </a:solidFill>
              </a:rPr>
              <a:t>  S7; S8-9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Pharmacologic effect and therapeutic effect are simply two words for one thing — </a:t>
            </a:r>
            <a:r>
              <a:rPr lang="en-US" sz="1600" dirty="0">
                <a:solidFill>
                  <a:srgbClr val="1F1F1F"/>
                </a:solidFill>
              </a:rPr>
              <a:t>They are not synonyms — a pharmacologic effect may not be therapeutic (S5 notes); it also doesn't explain this case.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Brand names are identical worldwide, so the two products must contain different drugs — </a:t>
            </a:r>
            <a:r>
              <a:rPr lang="en-US" sz="1600" dirty="0">
                <a:solidFill>
                  <a:srgbClr val="1F1F1F"/>
                </a:solidFill>
              </a:rPr>
              <a:t>Brand names change between countries, and one generic drug may have several brand names (S7).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Chemical names are standardized internationally, so this mix-up could not happen — </a:t>
            </a:r>
            <a:r>
              <a:rPr lang="en-US" sz="1600" dirty="0">
                <a:solidFill>
                  <a:srgbClr val="1F1F1F"/>
                </a:solidFill>
              </a:rPr>
              <a:t>Chemical names describe exact molecular structure and are rarely used clinically (S7); they do not prevent brand-name confusion.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Generic names vary by manufacturer, which caused the confusion here — </a:t>
            </a:r>
            <a:r>
              <a:rPr lang="en-US" sz="1600" dirty="0">
                <a:solidFill>
                  <a:srgbClr val="1F1F1F"/>
                </a:solidFill>
              </a:rPr>
              <a:t>There is one generic name per drug, regardless of manufacturer (S7).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45-year-old patient takes a new medication exactly as prescribed. Drug levels are within the therapeutic range, yet the patient develops an unintended, harmful response. Which term best describes this event?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Toxicity, because any harmful drug response counts as toxicity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therapeutic effect, because the drug was taken exactly as prescribed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pharmacologic effect only, because it was a measurable biological change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antagonism, because the receptor was permanently inactivated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ADR is an unintended and harmful response occurring at normal therapeutic doses (S5).</a:t>
            </a:r>
            <a:r>
              <a:rPr lang="en-US" sz="1100" dirty="0">
                <a:solidFill>
                  <a:srgbClr val="666666"/>
                </a:solidFill>
              </a:rPr>
              <a:t>  S5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Toxicity, because any harmful drug response counts as toxicity — </a:t>
            </a:r>
            <a:r>
              <a:rPr lang="en-US" sz="1600" dirty="0">
                <a:solidFill>
                  <a:srgbClr val="1F1F1F"/>
                </a:solidFill>
              </a:rPr>
              <a:t>Toxicity is harm that occurs as dose or exposure exceeds the therapeutic range (S5); here levels were within range.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 therapeutic effect, because the drug was taken exactly as prescribed — </a:t>
            </a:r>
            <a:r>
              <a:rPr lang="en-US" sz="1600" dirty="0">
                <a:solidFill>
                  <a:srgbClr val="1F1F1F"/>
                </a:solidFill>
              </a:rPr>
              <a:t>A therapeutic effect is the intended, beneficial effect (S5); this response was unintended and harmful.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A pharmacologic effect only, because it was a measurable biological change — </a:t>
            </a:r>
            <a:r>
              <a:rPr lang="en-US" sz="1600" dirty="0">
                <a:solidFill>
                  <a:srgbClr val="1F1F1F"/>
                </a:solidFill>
              </a:rPr>
              <a:t>Every ADR is a pharmacologic effect, but 'unintended and harmful at normal doses' is the more specific, best answer (S5).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Irreversible antagonism, because the receptor was permanently inactivated — </a:t>
            </a:r>
            <a:r>
              <a:rPr lang="en-US" sz="1600" dirty="0">
                <a:solidFill>
                  <a:srgbClr val="1F1F1F"/>
                </a:solidFill>
              </a:rPr>
              <a:t>Irreversible antagonism describes receptor inactivation until new receptor is synthesized (S22) — not a type of adverse event.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644652"/>
          </a:xfrm>
          <a:prstGeom prst="roundRect">
            <a:avLst>
              <a:gd name="adj" fmla="val 141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Which statement correctly distinguishes pharmacokinetics from pharmacodynamics?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18084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1808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15341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studies receptor binding; pharmacodynamics studies absorption and excretion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272948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294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70205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applies only to IV drugs; pharmacodynamics applies only to oral drugs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27812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781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25069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studies genetic variation; pharmacodynamics studies poisoning and overdose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382676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8267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379933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is what the drug does to the body; pharmacodynamics is what the body does to the drug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37540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375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34797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is what the body does to the drug; pharmacodynamics is what the drug does to the body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3: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Pharmacokinetics is what the body does to the drug; pharmacodynamics is what the drug does to the body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PK = what the body does to the drug (ADME); PD = what the drug does to the body (receptors &amp; effect) (S6).</a:t>
            </a:r>
            <a:r>
              <a:rPr lang="en-US" sz="1100" dirty="0">
                <a:solidFill>
                  <a:srgbClr val="666666"/>
                </a:solidFill>
              </a:rPr>
              <a:t>  S6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Pharmacokinetics studies receptor binding; pharmacodynamics studies absorption and excretion — </a:t>
            </a:r>
            <a:r>
              <a:rPr lang="en-US" sz="1600" dirty="0">
                <a:solidFill>
                  <a:srgbClr val="1F1F1F"/>
                </a:solidFill>
              </a:rPr>
              <a:t>Receptors &amp; effect belong to PD; absorption and excretion (ADME) belong to PK (S6).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Pharmacokinetics applies only to IV drugs; pharmacodynamics applies only to oral drugs — </a:t>
            </a:r>
            <a:r>
              <a:rPr lang="en-US" sz="1600" dirty="0">
                <a:solidFill>
                  <a:srgbClr val="1F1F1F"/>
                </a:solidFill>
              </a:rPr>
              <a:t>Neither branch is defined by route; PK covers ADME for any route (S6, S49).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Pharmacokinetics studies genetic variation; pharmacodynamics studies poisoning and overdose — </a:t>
            </a:r>
            <a:r>
              <a:rPr lang="en-US" sz="1600" dirty="0">
                <a:solidFill>
                  <a:srgbClr val="1F1F1F"/>
                </a:solidFill>
              </a:rPr>
              <a:t>Genetic variation = pharmacogenomics; poisoning = clinical pharmacology/toxicology (S6).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Pharmacokinetics is what the drug does to the body; pharmacodynamics is what the body does to the drug — </a:t>
            </a:r>
            <a:r>
              <a:rPr lang="en-US" sz="1600" dirty="0">
                <a:solidFill>
                  <a:srgbClr val="1F1F1F"/>
                </a:solidFill>
              </a:rPr>
              <a:t>This reverses the definitions (S6).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2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Development &amp; Regulation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SO2 · IO1.4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24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3831336"/>
          </a:xfrm>
          <a:prstGeom prst="roundRect">
            <a:avLst>
              <a:gd name="adj" fmla="val 28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Efficacy:</a:t>
            </a:r>
            <a:r>
              <a:rPr lang="en-US" sz="1800" dirty="0">
                <a:solidFill>
                  <a:srgbClr val="1F1F1F"/>
                </a:solidFill>
              </a:rPr>
              <a:t> how well a drug works under ideal, controlled trial conditions.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Effectiveness:</a:t>
            </a:r>
            <a:r>
              <a:rPr lang="en-US" sz="1800" dirty="0">
                <a:solidFill>
                  <a:srgbClr val="1F1F1F"/>
                </a:solidFill>
              </a:rPr>
              <a:t> how well a drug works in everyday clinical practice, with real-world adherence and comorbidities.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Drug interactions can also reduce real-world effectiveness below trial efficacy.</a:t>
            </a:r>
            <a:r>
              <a:rPr lang="en-US" sz="1300" dirty="0">
                <a:solidFill>
                  <a:srgbClr val="666666"/>
                </a:solidFill>
              </a:rPr>
              <a:t>  SG U1-R4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Benefit vs. risk:</a:t>
            </a:r>
            <a:r>
              <a:rPr lang="en-US" sz="1800" dirty="0">
                <a:solidFill>
                  <a:srgbClr val="1F1F1F"/>
                </a:solidFill>
              </a:rPr>
              <a:t> the central question regulators and prescribers must weigh for every approval and every prescription.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Adverse-event reporting:</a:t>
            </a:r>
            <a:r>
              <a:rPr lang="en-US" sz="1800" dirty="0">
                <a:solidFill>
                  <a:srgbClr val="1F1F1F"/>
                </a:solidFill>
              </a:rPr>
              <a:t> ongoing, voluntary and mandatory reporting systems (e.g., FDA MedWatch) that catch safety signals after approval.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25</a:t>
            </a:r>
            <a:endParaRPr lang="en-US" sz="1000" dirty="0"/>
          </a:p>
        </p:txBody>
      </p:sp>
      <p:sp>
        <p:nvSpPr>
          <p:cNvPr id="7" name="How it works (1/3) card"/>
          <p:cNvSpPr/>
          <p:nvPr/>
        </p:nvSpPr>
        <p:spPr>
          <a:xfrm>
            <a:off x="548640" y="1325880"/>
            <a:ext cx="11094415" cy="3662172"/>
          </a:xfrm>
          <a:prstGeom prst="roundRect">
            <a:avLst>
              <a:gd name="adj" fmla="val 299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(1/3)</a:t>
            </a:r>
            <a:endParaRPr lang="en-US" sz="1800" dirty="0"/>
          </a:p>
        </p:txBody>
      </p:sp>
      <p:sp>
        <p:nvSpPr>
          <p:cNvPr id="11" name="How it works (1/3) body"/>
          <p:cNvSpPr txBox="1"/>
          <p:nvPr/>
        </p:nvSpPr>
        <p:spPr>
          <a:xfrm>
            <a:off x="777240" y="2075688"/>
            <a:ext cx="10637215" cy="2793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Where new drugs come from — Natural products: plants, fungi, microbes, marine organisms.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Synthetic &amp; biotech: designed small molecules; recombinant proteins.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Biologics: monoclonal antibodies, gene- and cell-based therapies.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repurposing: an existing approved drug found to treat a new condition.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From discovery to patient: Discovery → Preclinical testing → Clinical trials → FDA review → Approval → Postmarket surveillance.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candidate drugs fail somewhere along this pipeline — approval is the exception, not the rule.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26</a:t>
            </a:r>
            <a:endParaRPr lang="en-US" sz="1000" dirty="0"/>
          </a:p>
        </p:txBody>
      </p:sp>
      <p:sp>
        <p:nvSpPr>
          <p:cNvPr id="7" name="How it works (2/3)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(2/3)</a:t>
            </a:r>
            <a:endParaRPr lang="en-US" sz="1800" dirty="0"/>
          </a:p>
        </p:txBody>
      </p:sp>
      <p:sp>
        <p:nvSpPr>
          <p:cNvPr id="11" name="How it works (2/3)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I: safety, tolerability, dose-finding — a small group of healthy volunteers.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II: preliminary efficacy and side-effect profile — a few hundred patients with the target condition.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III: confirm efficacy and monitor adverse effects at scale — hundreds to thousands of patients, often multi-site.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IV: postmarketing surveillance after approval —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approved drug has passed through a structured development and regulatory pipeline (Phases I–IV).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II has the </a:t>
            </a:r>
            <a:r>
              <a:rPr lang="en-US" sz="1800" b="1" dirty="0">
                <a:solidFill>
                  <a:srgbClr val="1F1F1F"/>
                </a:solidFill>
              </a:rPr>
              <a:t>highest failure rate</a:t>
            </a:r>
            <a:r>
              <a:rPr lang="en-US" sz="1800" dirty="0">
                <a:solidFill>
                  <a:srgbClr val="1F1F1F"/>
                </a:solidFill>
              </a:rPr>
              <a:t> — only about 25% of new drugs move on to Phase III.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27</a:t>
            </a:r>
            <a:endParaRPr lang="en-US" sz="1000" dirty="0"/>
          </a:p>
        </p:txBody>
      </p:sp>
      <p:sp>
        <p:nvSpPr>
          <p:cNvPr id="7" name="How it works (3/3) card"/>
          <p:cNvSpPr/>
          <p:nvPr/>
        </p:nvSpPr>
        <p:spPr>
          <a:xfrm>
            <a:off x="548640" y="1325880"/>
            <a:ext cx="11094415" cy="3442716"/>
          </a:xfrm>
          <a:prstGeom prst="roundRect">
            <a:avLst>
              <a:gd name="adj" fmla="val 31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3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3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3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(3/3)</a:t>
            </a:r>
            <a:endParaRPr lang="en-US" sz="1800" dirty="0"/>
          </a:p>
        </p:txBody>
      </p:sp>
      <p:sp>
        <p:nvSpPr>
          <p:cNvPr id="11" name="How it works (3/3) body"/>
          <p:cNvSpPr txBox="1"/>
          <p:nvPr/>
        </p:nvSpPr>
        <p:spPr>
          <a:xfrm>
            <a:off x="777240" y="2075688"/>
            <a:ext cx="10637215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III usually enrolls </a:t>
            </a:r>
            <a:r>
              <a:rPr lang="en-US" sz="1800" b="1" dirty="0">
                <a:solidFill>
                  <a:srgbClr val="1F1F1F"/>
                </a:solidFill>
              </a:rPr>
              <a:t>thousands</a:t>
            </a:r>
            <a:r>
              <a:rPr lang="en-US" sz="1800" dirty="0">
                <a:solidFill>
                  <a:srgbClr val="1F1F1F"/>
                </a:solidFill>
              </a:rPr>
              <a:t> of patients (Figure 1–6: 1000–6000), often double-blind and crossover, in settings like the drug's eventual use.</a:t>
            </a:r>
            <a:r>
              <a:rPr lang="en-US" sz="1300" dirty="0">
                <a:solidFill>
                  <a:srgbClr val="666666"/>
                </a:solidFill>
              </a:rPr>
              <a:t>  p. 12; p. 17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Less than one-third of drugs studied in humans survive clinical trials and reach the market.</a:t>
            </a:r>
            <a:r>
              <a:rPr lang="en-US" sz="1300" dirty="0">
                <a:solidFill>
                  <a:srgbClr val="666666"/>
                </a:solidFill>
              </a:rPr>
              <a:t>  p. 14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To see one case of a toxicity occurring 1 in 10,000, several hundred thousand patients may need exposure — so rare effects usually surface only in Phase IV, which has </a:t>
            </a:r>
            <a:r>
              <a:rPr lang="en-US" sz="1800" b="1" dirty="0">
                <a:solidFill>
                  <a:srgbClr val="1F1F1F"/>
                </a:solidFill>
              </a:rPr>
              <a:t>no fixed duration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p. 18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Marketing requires a </a:t>
            </a:r>
            <a:r>
              <a:rPr lang="en-US" sz="1800" b="1" dirty="0">
                <a:solidFill>
                  <a:srgbClr val="1F1F1F"/>
                </a:solidFill>
              </a:rPr>
              <a:t>New Drug Application (NDA)</a:t>
            </a:r>
            <a:r>
              <a:rPr lang="en-US" sz="1800" dirty="0">
                <a:solidFill>
                  <a:srgbClr val="1F1F1F"/>
                </a:solidFill>
              </a:rPr>
              <a:t> after Phase III; human testing starts only after an </a:t>
            </a:r>
            <a:r>
              <a:rPr lang="en-US" sz="1800" b="1" dirty="0">
                <a:solidFill>
                  <a:srgbClr val="1F1F1F"/>
                </a:solidFill>
              </a:rPr>
              <a:t>IND</a:t>
            </a:r>
            <a:r>
              <a:rPr lang="en-US" sz="1800" dirty="0">
                <a:solidFill>
                  <a:srgbClr val="1F1F1F"/>
                </a:solidFill>
              </a:rPr>
              <a:t> (Investigational New Drug) application.</a:t>
            </a:r>
            <a:r>
              <a:rPr lang="en-US" sz="1300" dirty="0">
                <a:solidFill>
                  <a:srgbClr val="666666"/>
                </a:solidFill>
              </a:rPr>
              <a:t>  p. 12; p. 17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28</a:t>
            </a:r>
            <a:endParaRPr lang="en-US" sz="1000" dirty="0"/>
          </a:p>
        </p:txBody>
      </p:sp>
      <p:sp>
        <p:nvSpPr>
          <p:cNvPr id="7" name="Clinical relevance (1/2)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(1/2)</a:t>
            </a:r>
            <a:endParaRPr lang="en-US" sz="1800" dirty="0"/>
          </a:p>
        </p:txBody>
      </p:sp>
      <p:sp>
        <p:nvSpPr>
          <p:cNvPr id="11" name="Clinical relevance (1/2)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Postmarketing surveillance (Phase IV) is where rare adverse effects are often first detected — trial populations are too small and too short in duration to catch 1-in-10,000 events.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Case: a new medication improves symptoms in 70% of patients with a chronic, non-life-threatening condition, but postmarketing data show serious hepatotoxicity in about 1%. </a:t>
            </a:r>
            <a:r>
              <a:rPr lang="en-US" sz="1800" b="1" dirty="0">
                <a:solidFill>
                  <a:srgbClr val="1F1F1F"/>
                </a:solidFill>
              </a:rPr>
              <a:t>Would you prescribe it — and does your answer depend on what else is available?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Clinical pearl:</a:t>
            </a:r>
            <a:r>
              <a:rPr lang="en-US" sz="1800" dirty="0">
                <a:solidFill>
                  <a:srgbClr val="1F1F1F"/>
                </a:solidFill>
              </a:rPr>
              <a:t> risk-benefit analysis is always comparative — a 1% serious-toxicity rate reads very differently if it is the only effective option versus if three safer alternatives already exist.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Ask "compared to what?" rather than judging the number in isolation.</a:t>
            </a:r>
            <a:r>
              <a:rPr lang="en-US" sz="1300" dirty="0">
                <a:solidFill>
                  <a:srgbClr val="666666"/>
                </a:solidFill>
              </a:rPr>
              <a:t> 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29</a:t>
            </a:r>
            <a:endParaRPr lang="en-US" sz="1000" dirty="0"/>
          </a:p>
        </p:txBody>
      </p:sp>
      <p:sp>
        <p:nvSpPr>
          <p:cNvPr id="7" name="Clinical relevance (2/2) card"/>
          <p:cNvSpPr/>
          <p:nvPr/>
        </p:nvSpPr>
        <p:spPr>
          <a:xfrm>
            <a:off x="548640" y="1325880"/>
            <a:ext cx="11094415" cy="3054096"/>
          </a:xfrm>
          <a:prstGeom prst="roundRect">
            <a:avLst>
              <a:gd name="adj" fmla="val 35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(2/2)</a:t>
            </a:r>
            <a:endParaRPr lang="en-US" sz="1800" dirty="0"/>
          </a:p>
        </p:txBody>
      </p:sp>
      <p:sp>
        <p:nvSpPr>
          <p:cNvPr id="11" name="Clinical relevance (2/2) body"/>
          <p:cNvSpPr txBox="1"/>
          <p:nvPr/>
        </p:nvSpPr>
        <p:spPr>
          <a:xfrm>
            <a:off x="777240" y="2075688"/>
            <a:ext cx="10637215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 patent lasts 20 years; after it expires, generics are approved through an </a:t>
            </a:r>
            <a:r>
              <a:rPr lang="en-US" sz="1800" b="1" dirty="0">
                <a:solidFill>
                  <a:srgbClr val="1F1F1F"/>
                </a:solidFill>
              </a:rPr>
              <a:t>abbreviated new drug application (ANDA)</a:t>
            </a:r>
            <a:r>
              <a:rPr lang="en-US" sz="1800" dirty="0">
                <a:solidFill>
                  <a:srgbClr val="1F1F1F"/>
                </a:solidFill>
              </a:rPr>
              <a:t> that requires bioequivalence data.</a:t>
            </a:r>
            <a:r>
              <a:rPr lang="en-US" sz="1300" dirty="0">
                <a:solidFill>
                  <a:srgbClr val="666666"/>
                </a:solidFill>
              </a:rPr>
              <a:t>  p. 16; p. 18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Placebo responses can occur in as many as 30–40% of subjects — the reason controlled, blinded trials are needed.</a:t>
            </a:r>
            <a:r>
              <a:rPr lang="en-US" sz="1300" dirty="0">
                <a:solidFill>
                  <a:srgbClr val="666666"/>
                </a:solidFill>
              </a:rPr>
              <a:t>  p. 14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Adverse events that are both </a:t>
            </a:r>
            <a:r>
              <a:rPr lang="en-US" sz="1800" b="1" dirty="0">
                <a:solidFill>
                  <a:srgbClr val="1F1F1F"/>
                </a:solidFill>
              </a:rPr>
              <a:t>serious and unexpected</a:t>
            </a:r>
            <a:r>
              <a:rPr lang="en-US" sz="1800" dirty="0">
                <a:solidFill>
                  <a:srgbClr val="1F1F1F"/>
                </a:solidFill>
              </a:rPr>
              <a:t> must be reported to the FDA within 15 days; clinicians can report through MedWatch.</a:t>
            </a:r>
            <a:r>
              <a:rPr lang="en-US" sz="1300" dirty="0">
                <a:solidFill>
                  <a:srgbClr val="666666"/>
                </a:solidFill>
              </a:rPr>
              <a:t>  p. 18; p. 19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30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11094415" cy="3163824"/>
          </a:xfrm>
          <a:prstGeom prst="roundRect">
            <a:avLst>
              <a:gd name="adj" fmla="val 346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10637215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FDA MedWatch — an adverse-event reporting system.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 DMARDs (MSK unit, later) are a direct example of the "biotechnology" drug source.</a:t>
            </a:r>
            <a:r>
              <a:rPr lang="en-US" sz="1300" dirty="0">
                <a:solidFill>
                  <a:srgbClr val="666666"/>
                </a:solidFill>
              </a:rPr>
              <a:t>  S11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Thalidomide</a:t>
            </a:r>
            <a:r>
              <a:rPr lang="en-US" sz="1800" dirty="0">
                <a:solidFill>
                  <a:srgbClr val="1F1F1F"/>
                </a:solidFill>
              </a:rPr>
              <a:t> (sold in Europe as a "nontoxic" hypnotic) caused about 10,000 birth defects and led to the </a:t>
            </a:r>
            <a:r>
              <a:rPr lang="en-US" sz="1800" b="1" dirty="0">
                <a:solidFill>
                  <a:srgbClr val="1F1F1F"/>
                </a:solidFill>
              </a:rPr>
              <a:t>Kefauver-Harris Amendments (1962)</a:t>
            </a:r>
            <a:r>
              <a:rPr lang="en-US" sz="1800" dirty="0">
                <a:solidFill>
                  <a:srgbClr val="1F1F1F"/>
                </a:solidFill>
              </a:rPr>
              <a:t>, which required proof of efficacy as well as safety.</a:t>
            </a:r>
            <a:r>
              <a:rPr lang="en-US" sz="1300" dirty="0">
                <a:solidFill>
                  <a:srgbClr val="666666"/>
                </a:solidFill>
              </a:rPr>
              <a:t>  p. 16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The </a:t>
            </a:r>
            <a:r>
              <a:rPr lang="en-US" sz="1800" b="1" dirty="0">
                <a:solidFill>
                  <a:srgbClr val="1F1F1F"/>
                </a:solidFill>
              </a:rPr>
              <a:t>Orphan Drug Amendment (1983)</a:t>
            </a:r>
            <a:r>
              <a:rPr lang="en-US" sz="1800" dirty="0">
                <a:solidFill>
                  <a:srgbClr val="1F1F1F"/>
                </a:solidFill>
              </a:rPr>
              <a:t> gives incentives for drugs treating diseases with fewer than 200,000 US patients.</a:t>
            </a:r>
            <a:r>
              <a:rPr lang="en-US" sz="1300" dirty="0">
                <a:solidFill>
                  <a:srgbClr val="666666"/>
                </a:solidFill>
              </a:rPr>
              <a:t>  p. 16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31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3054096"/>
          </a:xfrm>
          <a:prstGeom prst="roundRect">
            <a:avLst>
              <a:gd name="adj" fmla="val 35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vs. effectiveness is a favorite exam distinction: efficacy is the trial result; effectiveness is what happens once real patients with real adherence patterns use the drug.</a:t>
            </a:r>
            <a:r>
              <a:rPr lang="en-US" sz="1300" dirty="0">
                <a:solidFill>
                  <a:srgbClr val="666666"/>
                </a:solidFill>
              </a:rPr>
              <a:t>  S14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— not Phase I, II, or IV — is the large pre-approval trial that confirms efficacy and monitors safety at scale.</a:t>
            </a:r>
            <a:r>
              <a:rPr lang="en-US" sz="1300" dirty="0">
                <a:solidFill>
                  <a:srgbClr val="666666"/>
                </a:solidFill>
              </a:rPr>
              <a:t>  S17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is what most people picture as "the" clinical trial, but regulatory decisions already begin shaping the drug long before that.</a:t>
            </a:r>
            <a:r>
              <a:rPr lang="en-US" sz="1300" dirty="0">
                <a:solidFill>
                  <a:srgbClr val="666666"/>
                </a:solidFill>
              </a:rPr>
              <a:t>  S13 (notes)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Sources disagree: Phase I population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32</a:t>
            </a:r>
            <a:endParaRPr lang="en-US" sz="1000" dirty="0"/>
          </a:p>
        </p:txBody>
      </p:sp>
      <p:sp>
        <p:nvSpPr>
          <p:cNvPr id="7" name="Lecture slides say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Lecture slides say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Lecture slides s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Lecture slides say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Lecture slides say</a:t>
            </a:r>
            <a:endParaRPr lang="en-US" sz="1800" dirty="0"/>
          </a:p>
        </p:txBody>
      </p:sp>
      <p:sp>
        <p:nvSpPr>
          <p:cNvPr id="11" name="Lecture slides say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I: a small group of healthy volunteers.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2" name="Textbook say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book say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B07D00"/>
          </a:solidFill>
          <a:ln w="12700">
            <a:solidFill>
              <a:srgbClr val="B07D00"/>
            </a:solidFill>
            <a:prstDash val="solid"/>
          </a:ln>
        </p:spPr>
      </p:sp>
      <p:pic>
        <p:nvPicPr>
          <p:cNvPr id="14" name="Textbook say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Textbook say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D00"/>
                </a:solidFill>
              </a:rPr>
              <a:t>Textbook says</a:t>
            </a:r>
            <a:endParaRPr lang="en-US" sz="1800" dirty="0"/>
          </a:p>
        </p:txBody>
      </p:sp>
      <p:sp>
        <p:nvSpPr>
          <p:cNvPr id="16" name="Textbook say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I: 20–100 healthy volunteers — but if significant toxicity is expected (cancer, AIDS therapy), volunteer </a:t>
            </a:r>
            <a:r>
              <a:rPr lang="en-US" sz="1800" b="1" dirty="0">
                <a:solidFill>
                  <a:srgbClr val="1F1F1F"/>
                </a:solidFill>
              </a:rPr>
              <a:t>patients with the disease</a:t>
            </a:r>
            <a:r>
              <a:rPr lang="en-US" sz="1800" dirty="0">
                <a:solidFill>
                  <a:srgbClr val="1F1F1F"/>
                </a:solidFill>
              </a:rPr>
              <a:t> are used instead.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Sources disagree: Phase II size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33</a:t>
            </a:r>
            <a:endParaRPr lang="en-US" sz="1000" dirty="0"/>
          </a:p>
        </p:txBody>
      </p:sp>
      <p:sp>
        <p:nvSpPr>
          <p:cNvPr id="7" name="Lecture slides say card"/>
          <p:cNvSpPr/>
          <p:nvPr/>
        </p:nvSpPr>
        <p:spPr>
          <a:xfrm>
            <a:off x="548640" y="1325880"/>
            <a:ext cx="5364328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Lecture slides say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Lecture slides s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Lecture slides say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Lecture slides say</a:t>
            </a:r>
            <a:endParaRPr lang="en-US" sz="1800" dirty="0"/>
          </a:p>
        </p:txBody>
      </p:sp>
      <p:sp>
        <p:nvSpPr>
          <p:cNvPr id="11" name="Lecture slides say body"/>
          <p:cNvSpPr txBox="1"/>
          <p:nvPr/>
        </p:nvSpPr>
        <p:spPr>
          <a:xfrm>
            <a:off x="777240" y="2075688"/>
            <a:ext cx="4907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II: a few hundred patients with the target condition.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2" name="Textbook says card"/>
          <p:cNvSpPr/>
          <p:nvPr/>
        </p:nvSpPr>
        <p:spPr>
          <a:xfrm>
            <a:off x="6278728" y="1325880"/>
            <a:ext cx="5364328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book say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B07D00"/>
          </a:solidFill>
          <a:ln w="12700">
            <a:solidFill>
              <a:srgbClr val="B07D00"/>
            </a:solidFill>
            <a:prstDash val="solid"/>
          </a:ln>
        </p:spPr>
      </p:sp>
      <p:pic>
        <p:nvPicPr>
          <p:cNvPr id="14" name="Textbook say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Textbook say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D00"/>
                </a:solidFill>
              </a:rPr>
              <a:t>Textbook says</a:t>
            </a:r>
            <a:endParaRPr lang="en-US" sz="1800" dirty="0"/>
          </a:p>
        </p:txBody>
      </p:sp>
      <p:sp>
        <p:nvSpPr>
          <p:cNvPr id="16" name="Textbook says body"/>
          <p:cNvSpPr txBox="1"/>
          <p:nvPr/>
        </p:nvSpPr>
        <p:spPr>
          <a:xfrm>
            <a:off x="6507328" y="2075688"/>
            <a:ext cx="4907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II: a modest number of patients (100–200) with the target disease.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Clinical trial phases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34</a:t>
            </a:r>
            <a:endParaRPr lang="en-US" sz="1000" dirty="0"/>
          </a:p>
        </p:txBody>
      </p:sp>
      <p:graphicFrame>
        <p:nvGraphicFramePr>
          <p:cNvPr id="3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Primary purpose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Typical population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Safety, tolerability, dose-finding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small group of 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Only phase in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Preliminary efficacy and side-effect profile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few hundred patients with the target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First look at whether it works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Confirm efficacy and monitor adverse effects at scale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Hundreds to thousands, often multi-site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Largest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pre-approval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trial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IV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Postmarketing surveillance after approval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general prescribed population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After 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; catches rare effects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3342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S13; S12 (notes)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Efficacy vs. effectiveness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35</a:t>
            </a:r>
            <a:endParaRPr lang="en-US" sz="1000" dirty="0"/>
          </a:p>
        </p:txBody>
      </p:sp>
      <p:graphicFrame>
        <p:nvGraphicFramePr>
          <p:cNvPr id="3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Effectiveness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Setting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Ideal, controlled trial conditions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Everyday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What changes it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Real-world adherence, comorbidities (and drug interactions — SG)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Shorthand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trial result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What happens with real patients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2146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S14; S14 (notes); SG U1-R4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36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are rare adverse effects found after approval? Trials are too small and too short to catch 1-in-10,000 events — so they show up in Phase IV, in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S12 (notes); S13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Phases by question: </a:t>
            </a:r>
            <a:r>
              <a:rPr lang="en-US" sz="1800" b="1" dirty="0">
                <a:solidFill>
                  <a:srgbClr val="1F1F1F"/>
                </a:solidFill>
              </a:rPr>
              <a:t>I</a:t>
            </a:r>
            <a:r>
              <a:rPr lang="en-US" sz="1800" dirty="0">
                <a:solidFill>
                  <a:srgbClr val="1F1F1F"/>
                </a:solidFill>
              </a:rPr>
              <a:t> = Is it safe (healthy volunteers)? </a:t>
            </a:r>
            <a:r>
              <a:rPr lang="en-US" sz="1800" b="1" dirty="0">
                <a:solidFill>
                  <a:srgbClr val="1F1F1F"/>
                </a:solidFill>
              </a:rPr>
              <a:t>II</a:t>
            </a:r>
            <a:r>
              <a:rPr lang="en-US" sz="1800" dirty="0">
                <a:solidFill>
                  <a:srgbClr val="1F1F1F"/>
                </a:solidFill>
              </a:rPr>
              <a:t> = Is there an effect? </a:t>
            </a:r>
            <a:r>
              <a:rPr lang="en-US" sz="1800" b="1" dirty="0">
                <a:solidFill>
                  <a:srgbClr val="1F1F1F"/>
                </a:solidFill>
              </a:rPr>
              <a:t>III</a:t>
            </a:r>
            <a:r>
              <a:rPr lang="en-US" sz="1800" dirty="0">
                <a:solidFill>
                  <a:srgbClr val="1F1F1F"/>
                </a:solidFill>
              </a:rPr>
              <a:t> = Is it confirmed at scale? </a:t>
            </a:r>
            <a:r>
              <a:rPr lang="en-US" sz="1800" b="1" dirty="0">
                <a:solidFill>
                  <a:srgbClr val="1F1F1F"/>
                </a:solidFill>
              </a:rPr>
              <a:t>IV</a:t>
            </a:r>
            <a:r>
              <a:rPr lang="en-US" sz="1800" dirty="0">
                <a:solidFill>
                  <a:srgbClr val="1F1F1F"/>
                </a:solidFill>
              </a:rPr>
              <a:t> = Is it still safe in everyone?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y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ontrolled conditions. Effecti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eness = real-world 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ariables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37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ideal trial conditions; </a:t>
            </a:r>
            <a:r>
              <a:rPr lang="en-US" sz="1800" b="1" dirty="0">
                <a:solidFill>
                  <a:srgbClr val="1F1F1F"/>
                </a:solidFill>
              </a:rPr>
              <a:t>effectiveness</a:t>
            </a:r>
            <a:r>
              <a:rPr lang="en-US" sz="1800" dirty="0">
                <a:solidFill>
                  <a:srgbClr val="1F1F1F"/>
                </a:solidFill>
              </a:rPr>
              <a:t> = everyday practice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 healthy volunteers → II few hundred patients → III hundreds–thousands (confirm) → IV postmarketing.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Rare adverse effects (1 in 10,000) are often first found in Phase IV.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Risk-benefit is always comparative — ask "compared to what?"</a:t>
            </a:r>
            <a:r>
              <a:rPr lang="en-US" sz="1300" dirty="0">
                <a:solidFill>
                  <a:srgbClr val="666666"/>
                </a:solidFill>
              </a:rPr>
              <a:t>  S15;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S16-17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which clinical trial phase is a drug first tested in a large patient population specifically to confirm efficacy and monitor for adverse effects at scale, just before approval?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FDA review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IV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4: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Phase III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Phase III trials enroll hundreds to thousands of patients, often at multiple sites, to confirm efficacy and monitor safety at scale before approval (S17).</a:t>
            </a:r>
            <a:r>
              <a:rPr lang="en-US" sz="1100" dirty="0">
                <a:solidFill>
                  <a:srgbClr val="666666"/>
                </a:solidFill>
              </a:rPr>
              <a:t>  S13; S16-17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Phase I — </a:t>
            </a:r>
            <a:r>
              <a:rPr lang="en-US" sz="1600" dirty="0">
                <a:solidFill>
                  <a:srgbClr val="1F1F1F"/>
                </a:solidFill>
              </a:rPr>
              <a:t>Phase I is small-scale safety/dosing in healthy volunteers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Phase II — </a:t>
            </a:r>
            <a:r>
              <a:rPr lang="en-US" sz="1600" dirty="0">
                <a:solidFill>
                  <a:srgbClr val="1F1F1F"/>
                </a:solidFill>
              </a:rPr>
              <a:t>Phase II is preliminary efficacy in a few hundred patients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FDA review — </a:t>
            </a:r>
            <a:r>
              <a:rPr lang="en-US" sz="1600" dirty="0">
                <a:solidFill>
                  <a:srgbClr val="1F1F1F"/>
                </a:solidFill>
              </a:rPr>
              <a:t>FDA review comes after clinical trials are complete, before approval (S12).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Phase IV — </a:t>
            </a:r>
            <a:r>
              <a:rPr lang="en-US" sz="1600" dirty="0">
                <a:solidFill>
                  <a:srgbClr val="1F1F1F"/>
                </a:solidFill>
              </a:rPr>
              <a:t>Phase IV is postmarketing surveillance after approval (S17).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relieved symptoms in most participants of a controlled multi-site trial. In your clinic, far fewer patients improve; many miss doses and have several comorbidities. Which concept best explains the gap?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narrow therapeutic index that appeared after approval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Lower potency than was measured during trial dose-finding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metabolism in the clinic's patients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antagonism of the drug by the comorbid conditions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5: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Efficacy is performance under ideal trial conditions; effectiveness is performance in everyday practice with real-world adherence and comorbidities (S14).</a:t>
            </a:r>
            <a:r>
              <a:rPr lang="en-US" sz="1100" dirty="0">
                <a:solidFill>
                  <a:srgbClr val="666666"/>
                </a:solidFill>
              </a:rPr>
              <a:t>  S14; S14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 narrow therapeutic index that appeared after approval — </a:t>
            </a:r>
            <a:r>
              <a:rPr lang="en-US" sz="1600" dirty="0">
                <a:solidFill>
                  <a:srgbClr val="1F1F1F"/>
                </a:solidFill>
              </a:rPr>
              <a:t>TI describes the gap between effective and toxic doses (S38), not missed doses or comorbidities.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Lower potency than was measured during trial dose-finding — </a:t>
            </a:r>
            <a:r>
              <a:rPr lang="en-US" sz="1600" dirty="0">
                <a:solidFill>
                  <a:srgbClr val="1F1F1F"/>
                </a:solidFill>
              </a:rPr>
              <a:t>Potency is the dose needed for an effect and matters for dosing, not for whether patients improve (S34).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Extensive first-pass metabolism in the clinic's patients — </a:t>
            </a:r>
            <a:r>
              <a:rPr lang="en-US" sz="1600" dirty="0">
                <a:solidFill>
                  <a:srgbClr val="1F1F1F"/>
                </a:solidFill>
              </a:rPr>
              <a:t>First-pass effect lowers oral bioavailability (S50-51); it doesn't explain adherence- and comorbidity-driven differences.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Competitive antagonism of the drug by the comorbid conditions — </a:t>
            </a:r>
            <a:r>
              <a:rPr lang="en-US" sz="1600" dirty="0">
                <a:solidFill>
                  <a:srgbClr val="1F1F1F"/>
                </a:solidFill>
              </a:rPr>
              <a:t>Competitive antagonism is a drug competing at the same receptor site (S22), not a disease effect.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Two years after approval, reports reveal a serious reaction occurring in about 1 in 10,000 patients — never seen in the clinical trials. Which best explains why it was missed before approval?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Adverse-event reporting systems accept only voluntary reports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Approval came before the drug completed any clinical trial phase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Trial populations were too small and too short to detect so rare an event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 trials enrolled patients who already had the target condition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 trials are not designed to monitor adverse effects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6: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Trial populations were too small and too short to detect so rare an event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Rare adverse effects are often first detected in Phase IV because trial populations are too small and too short in duration to catch 1-in-10,000 events (S12 notes).</a:t>
            </a:r>
            <a:r>
              <a:rPr lang="en-US" sz="1100" dirty="0">
                <a:solidFill>
                  <a:srgbClr val="666666"/>
                </a:solidFill>
              </a:rPr>
              <a:t>  S12 (notes); S13; S14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Adverse-event reporting systems accept only voluntary reports — </a:t>
            </a:r>
            <a:r>
              <a:rPr lang="en-US" sz="1600" dirty="0">
                <a:solidFill>
                  <a:srgbClr val="1F1F1F"/>
                </a:solidFill>
              </a:rPr>
              <a:t>Reporting systems are both voluntary and mandatory (S14).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Approval came before the drug completed any clinical trial phase — </a:t>
            </a:r>
            <a:r>
              <a:rPr lang="en-US" sz="1600" dirty="0">
                <a:solidFill>
                  <a:srgbClr val="1F1F1F"/>
                </a:solidFill>
              </a:rPr>
              <a:t>Approved drugs pass through a structured pipeline with clinical trials before FDA review (S12, S56).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Phase I trials enrolled patients who already had the target condition — </a:t>
            </a:r>
            <a:r>
              <a:rPr lang="en-US" sz="1600" dirty="0">
                <a:solidFill>
                  <a:srgbClr val="1F1F1F"/>
                </a:solidFill>
              </a:rPr>
              <a:t>Phase I uses a small group of healthy volunteers (S13).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Phase III trials are not designed to monitor adverse effects — </a:t>
            </a:r>
            <a:r>
              <a:rPr lang="en-US" sz="1600" dirty="0">
                <a:solidFill>
                  <a:srgbClr val="1F1F1F"/>
                </a:solidFill>
              </a:rPr>
              <a:t>Phase III confirms efficacy AND monitors adverse effects at scale (S13).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7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44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644652"/>
          </a:xfrm>
          <a:prstGeom prst="roundRect">
            <a:avLst>
              <a:gd name="adj" fmla="val 141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According to the textbook, which clinical trial phase has the highest rate of drug failures?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18084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1808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15341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IV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272948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294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70205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27812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781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25069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FDA review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382676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8267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379933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37540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375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34797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7: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45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Phase II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Phase II has the highest failure rate; only about 25% of drugs move on to Phase III (p. 17).</a:t>
            </a:r>
            <a:r>
              <a:rPr lang="en-US" sz="1100" dirty="0">
                <a:solidFill>
                  <a:srgbClr val="666666"/>
                </a:solidFill>
              </a:rPr>
              <a:t>  p. 17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Phase IV — </a:t>
            </a:r>
            <a:r>
              <a:rPr lang="en-US" sz="1600" dirty="0">
                <a:solidFill>
                  <a:srgbClr val="1F1F1F"/>
                </a:solidFill>
              </a:rPr>
              <a:t>Phase IV is postmarketing surveillance after approval (p. 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FDA review — </a:t>
            </a:r>
            <a:r>
              <a:rPr lang="en-US" sz="1600" dirty="0">
                <a:solidFill>
                  <a:srgbClr val="1F1F1F"/>
                </a:solidFill>
              </a:rPr>
              <a:t>FDA review is the approval step after Phase III, not a trial phase (p. 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Phase III — </a:t>
            </a:r>
            <a:r>
              <a:rPr lang="en-US" sz="1600" dirty="0">
                <a:solidFill>
                  <a:srgbClr val="1F1F1F"/>
                </a:solidFill>
              </a:rPr>
              <a:t>Phase III confirms efficacy in thousands, after most failures have occurred (p. 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Phase I — </a:t>
            </a:r>
            <a:r>
              <a:rPr lang="en-US" sz="1600" dirty="0">
                <a:solidFill>
                  <a:srgbClr val="1F1F1F"/>
                </a:solidFill>
              </a:rPr>
              <a:t>Phase I sets the safe dose range in 20–100 subjects; it is not the main failure point (p. 17).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3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Pharmacodynamics: Targets &amp; Receptors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SO3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47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target:</a:t>
            </a:r>
            <a:r>
              <a:rPr lang="en-US" sz="1800" dirty="0">
                <a:solidFill>
                  <a:srgbClr val="1F1F1F"/>
                </a:solidFill>
              </a:rPr>
              <a:t> the specific molecule a drug binds to produce its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Receptor:</a:t>
            </a:r>
            <a:r>
              <a:rPr lang="en-US" sz="1800" dirty="0">
                <a:solidFill>
                  <a:srgbClr val="1F1F1F"/>
                </a:solidFill>
              </a:rPr>
              <a:t> a protein target whose activation (or blockade) triggers a cellular response.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Signal transduction:</a:t>
            </a:r>
            <a:r>
              <a:rPr lang="en-US" sz="1800" dirty="0">
                <a:solidFill>
                  <a:srgbClr val="1F1F1F"/>
                </a:solidFill>
              </a:rPr>
              <a:t> the chain of molecular events that converts receptor binding into a cellular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response:</a:t>
            </a:r>
            <a:r>
              <a:rPr lang="en-US" sz="1800" dirty="0">
                <a:solidFill>
                  <a:srgbClr val="1F1F1F"/>
                </a:solidFill>
              </a:rPr>
              <a:t> the measurable downstream result — contraction, secretion, gene transcription, and so on.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Full agonist — maximal receptor activation.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48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Partial agonist — submaximal activation, even at full receptor occupancy.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— reduces baseline (constitutive) receptor activity.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— reversibly competes with agonist at the same site; overcome by more agonist.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Noncompetitive antagonist — binds elsewhere or irreversibly reduces the maximal effect.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Irreversible antagonist — permanently inactivates the receptor until new receptor is synthesized.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49</a:t>
            </a:r>
            <a:endParaRPr lang="en-US" sz="1000" dirty="0"/>
          </a:p>
        </p:txBody>
      </p:sp>
      <p:sp>
        <p:nvSpPr>
          <p:cNvPr id="7" name="How it works (1/3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(1/3)</a:t>
            </a:r>
            <a:endParaRPr lang="en-US" sz="1800" dirty="0"/>
          </a:p>
        </p:txBody>
      </p:sp>
      <p:sp>
        <p:nvSpPr>
          <p:cNvPr id="11" name="How it works (1/3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pathway: drug → target → signal transduction → response. Every pharmacodynamics topic for the rest of the course maps onto this chain.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 concept: Drug + Receptor → Drug-Receptor Complex → Cellular Response.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single chain underlies agonism, antagonism, potency, and efficacy — all describe different features of this interaction.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major drug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Receptors: G-protein-coupled, ligand-gated ion channel, enzyme-linked, nuclear.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50</a:t>
            </a:r>
            <a:endParaRPr lang="en-US" sz="1000" dirty="0"/>
          </a:p>
        </p:txBody>
      </p:sp>
      <p:sp>
        <p:nvSpPr>
          <p:cNvPr id="7" name="How it works (2/3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(2/3)</a:t>
            </a:r>
            <a:endParaRPr lang="en-US" sz="1800" dirty="0"/>
          </a:p>
        </p:txBody>
      </p:sp>
      <p:sp>
        <p:nvSpPr>
          <p:cNvPr id="11" name="How it works (2/3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Ion channels: directly gate the flow of ions across a membrane.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Enzymes: drugs can inhibit or, less commonly, activate an enzyme's activity.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Transporters &amp; nucleic acids: carrier proteins; or DNA/RNA for some antimicrobials &amp; gene therapies.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drugs target receptors or enzymes — ion channels and transporters matter especially for cardiac and CNS drugs.</a:t>
            </a:r>
            <a:r>
              <a:rPr lang="en-US" sz="1300" dirty="0">
                <a:solidFill>
                  <a:srgbClr val="666666"/>
                </a:solidFill>
              </a:rPr>
              <a:t>  S20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An inverse agonist actively reduces constitutive (baseline) receptor activity below normal; a true antagonist merely blocks the agonist without lowering baseline activity itself.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51</a:t>
            </a:r>
            <a:endParaRPr lang="en-US" sz="1000" dirty="0"/>
          </a:p>
        </p:txBody>
      </p:sp>
      <p:sp>
        <p:nvSpPr>
          <p:cNvPr id="7" name="How it works (3/3) card"/>
          <p:cNvSpPr/>
          <p:nvPr/>
        </p:nvSpPr>
        <p:spPr>
          <a:xfrm>
            <a:off x="548640" y="1325880"/>
            <a:ext cx="11094415" cy="438912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3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3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3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(3/3)</a:t>
            </a:r>
            <a:endParaRPr lang="en-US" sz="1800" dirty="0"/>
          </a:p>
        </p:txBody>
      </p:sp>
      <p:sp>
        <p:nvSpPr>
          <p:cNvPr id="11" name="How it works (3/3) body"/>
          <p:cNvSpPr txBox="1"/>
          <p:nvPr/>
        </p:nvSpPr>
        <p:spPr>
          <a:xfrm>
            <a:off x="777240" y="2075688"/>
            <a:ext cx="10637215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Spare receptors:</a:t>
            </a:r>
            <a:r>
              <a:rPr lang="en-US" sz="1800" dirty="0">
                <a:solidFill>
                  <a:srgbClr val="1F1F1F"/>
                </a:solidFill>
              </a:rPr>
              <a:t> a maximal response can occur without occupying every receptor (e.g., about 90% of cardiac β receptors can be blocked and maximal inotropic response still preserved).</a:t>
            </a:r>
            <a:r>
              <a:rPr lang="en-US" sz="1300" dirty="0">
                <a:solidFill>
                  <a:srgbClr val="666666"/>
                </a:solidFill>
              </a:rPr>
              <a:t>  p. 23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Irreversible antagonist</a:t>
            </a:r>
            <a:r>
              <a:rPr lang="en-US" sz="1800" dirty="0">
                <a:solidFill>
                  <a:srgbClr val="1F1F1F"/>
                </a:solidFill>
              </a:rPr>
              <a:t> effects last until new receptors are made — duration depends on receptor turnover, not drug elimination (phenoxybenzamine for pheochromocytoma).</a:t>
            </a:r>
            <a:r>
              <a:rPr lang="en-US" sz="1300" dirty="0">
                <a:solidFill>
                  <a:srgbClr val="666666"/>
                </a:solidFill>
              </a:rPr>
              <a:t>  p. 25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 partial agonist's lower maximal effect is </a:t>
            </a:r>
            <a:r>
              <a:rPr lang="en-US" sz="1800" b="1" dirty="0">
                <a:solidFill>
                  <a:srgbClr val="1F1F1F"/>
                </a:solidFill>
              </a:rPr>
              <a:t>not</a:t>
            </a:r>
            <a:r>
              <a:rPr lang="en-US" sz="1800" dirty="0">
                <a:solidFill>
                  <a:srgbClr val="1F1F1F"/>
                </a:solidFill>
              </a:rPr>
              <a:t> due to lower affinity — it can occupy all receptors and still produce less response.</a:t>
            </a:r>
            <a:r>
              <a:rPr lang="en-US" sz="1300" dirty="0">
                <a:solidFill>
                  <a:srgbClr val="666666"/>
                </a:solidFill>
              </a:rPr>
              <a:t>  p. 26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Allosteric modulators</a:t>
            </a:r>
            <a:r>
              <a:rPr lang="en-US" sz="1800" dirty="0">
                <a:solidFill>
                  <a:srgbClr val="1F1F1F"/>
                </a:solidFill>
              </a:rPr>
              <a:t> bind a different site from the agonist (e.g., benzodiazepines enhance GABA's effect).</a:t>
            </a:r>
            <a:r>
              <a:rPr lang="en-US" sz="1300" dirty="0">
                <a:solidFill>
                  <a:srgbClr val="666666"/>
                </a:solidFill>
              </a:rPr>
              <a:t>  p. 25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Agonist-induced </a:t>
            </a:r>
            <a:r>
              <a:rPr lang="en-US" sz="1800" b="1" dirty="0">
                <a:solidFill>
                  <a:srgbClr val="1F1F1F"/>
                </a:solidFill>
              </a:rPr>
              <a:t>desensitization</a:t>
            </a:r>
            <a:r>
              <a:rPr lang="en-US" sz="1800" dirty="0">
                <a:solidFill>
                  <a:srgbClr val="1F1F1F"/>
                </a:solidFill>
              </a:rPr>
              <a:t> (tachyphylaxis) and downregulation reduce response with continued exposure.</a:t>
            </a:r>
            <a:r>
              <a:rPr lang="en-US" sz="1300" dirty="0">
                <a:solidFill>
                  <a:srgbClr val="666666"/>
                </a:solidFill>
              </a:rPr>
              <a:t>  p. 39</a:t>
            </a:r>
            <a:endParaRPr lang="en-US" sz="14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52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608576"/>
          </a:xfrm>
          <a:prstGeom prst="roundRect">
            <a:avLst>
              <a:gd name="adj" fmla="val 238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is a selective β2-adrenergic receptor agonist.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Binding activates the β2 receptor → increases intracellular cAMP.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Rising cAMP relaxes bronchial smooth muscle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This is the same receptor-to-response logic you will reuse for every agonist drug this term.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bridges introductory pharmacodynamics into the pulmonary pharmacology seen later in the curriculum.</a:t>
            </a:r>
            <a:r>
              <a:rPr lang="en-US" sz="1300" dirty="0">
                <a:solidFill>
                  <a:srgbClr val="666666"/>
                </a:solidFill>
              </a:rPr>
              <a:t>  S26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Competitive antagonism is surmountable in real life: exercise or stress raises catecholamines enough to overcome a fixed propranolol dose.</a:t>
            </a:r>
            <a:r>
              <a:rPr lang="en-US" sz="1300" dirty="0">
                <a:solidFill>
                  <a:srgbClr val="666666"/>
                </a:solidFill>
              </a:rPr>
              <a:t>  p. 25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Propranolol markedly slows the heart rate in pheochromocytoma (high catecholamines) but not the resting rate of a trained marathon runner.</a:t>
            </a:r>
            <a:r>
              <a:rPr lang="en-US" sz="1300" dirty="0">
                <a:solidFill>
                  <a:srgbClr val="666666"/>
                </a:solidFill>
              </a:rPr>
              <a:t>  p. 39</a:t>
            </a:r>
            <a:endParaRPr lang="en-US" sz="1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53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11094415" cy="2775204"/>
          </a:xfrm>
          <a:prstGeom prst="roundRect">
            <a:avLst>
              <a:gd name="adj" fmla="val 395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10637215" cy="1906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— selective β2-adrenergic agonist (example of agonism).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Chemical antagonism</a:t>
            </a:r>
            <a:r>
              <a:rPr lang="en-US" sz="1800" dirty="0">
                <a:solidFill>
                  <a:srgbClr val="1F1F1F"/>
                </a:solidFill>
              </a:rPr>
              <a:t> needs no receptor: positively charged protamine binds and neutralizes negatively charged heparin.</a:t>
            </a:r>
            <a:r>
              <a:rPr lang="en-US" sz="1300" dirty="0">
                <a:solidFill>
                  <a:srgbClr val="666666"/>
                </a:solidFill>
              </a:rPr>
              <a:t>  p. 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Physiologic antagonism:</a:t>
            </a:r>
            <a:r>
              <a:rPr lang="en-US" sz="1800" dirty="0">
                <a:solidFill>
                  <a:srgbClr val="1F1F1F"/>
                </a:solidFill>
              </a:rPr>
              <a:t> two drugs act on different receptors with opposing effects (e.g., insulin opposes glucocorticoid-induced hyperglycemia).</a:t>
            </a:r>
            <a:r>
              <a:rPr lang="en-US" sz="1300" dirty="0">
                <a:solidFill>
                  <a:srgbClr val="666666"/>
                </a:solidFill>
              </a:rPr>
              <a:t>  p. 27</a:t>
            </a:r>
            <a:endParaRPr lang="en-US" sz="1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54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Classic exam trap: a competitive antagonist shifts the dose-response curve </a:t>
            </a:r>
            <a:r>
              <a:rPr lang="en-US" sz="1800" b="1" dirty="0">
                <a:solidFill>
                  <a:srgbClr val="1F1F1F"/>
                </a:solidFill>
              </a:rPr>
              <a:t>right</a:t>
            </a:r>
            <a:r>
              <a:rPr lang="en-US" sz="1800" dirty="0">
                <a:solidFill>
                  <a:srgbClr val="1F1F1F"/>
                </a:solidFill>
              </a:rPr>
              <a:t> (same Emax, more drug needed); a noncompetitive/irreversible antagonist </a:t>
            </a:r>
            <a:r>
              <a:rPr lang="en-US" sz="1800" b="1" dirty="0">
                <a:solidFill>
                  <a:srgbClr val="1F1F1F"/>
                </a:solidFill>
              </a:rPr>
              <a:t>lowers the Emax</a:t>
            </a:r>
            <a:r>
              <a:rPr lang="en-US" sz="1800" dirty="0">
                <a:solidFill>
                  <a:srgbClr val="1F1F1F"/>
                </a:solidFill>
              </a:rPr>
              <a:t> instead.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rightward shift with an unchanged plateau is the graphical signature of competitive antagonism — potency falls, but because the antagonism is surmountable, enough agonist can still reach the original Emax.</a:t>
            </a:r>
            <a:r>
              <a:rPr lang="en-US" sz="1300" dirty="0">
                <a:solidFill>
                  <a:srgbClr val="666666"/>
                </a:solidFill>
              </a:rPr>
              <a:t>  S25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≠ antagonist: only the inverse agonist lowers baseline activity below normal, without any agonist present.</a:t>
            </a:r>
            <a:r>
              <a:rPr lang="en-US" sz="1300" dirty="0">
                <a:solidFill>
                  <a:srgbClr val="666666"/>
                </a:solidFill>
              </a:rPr>
              <a:t>  S27-28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Study-guide distractor: "has no effect on receptor activity whatsoever" matches none of the agonist/antagonist types.</a:t>
            </a:r>
            <a:r>
              <a:rPr lang="en-US" sz="1300" dirty="0">
                <a:solidFill>
                  <a:srgbClr val="666666"/>
                </a:solidFill>
              </a:rPr>
              <a:t>  SG U1-M</a:t>
            </a:r>
            <a:endParaRPr lang="en-US" sz="1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 · Agonist &amp; antagonist effects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55</a:t>
            </a:r>
            <a:endParaRPr lang="en-US" sz="1000" dirty="0"/>
          </a:p>
        </p:txBody>
      </p:sp>
      <p:pic>
        <p:nvPicPr>
          <p:cNvPr id="7" name="Figure S23_1.png" descr="/home/user/dpas-pharm/work/L01/figures/S23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4353" y="1325880"/>
            <a:ext cx="6622989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curves (not Katzung data): a competitive antagonist shifts the curve right with the same Emax; a noncompetitive/irreversible antagonist lowers Emax instead. Read left to right: agonist alone → competitive (shifted right, same ceiling) → noncompetitive (lower ceiling).</a:t>
            </a:r>
            <a:r>
              <a:rPr lang="en-US" sz="1100" dirty="0">
                <a:solidFill>
                  <a:srgbClr val="666666"/>
                </a:solidFill>
              </a:rPr>
              <a:t>  S23; S23 (notes)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Agonists vs. antagonists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56</a:t>
            </a:r>
            <a:endParaRPr lang="en-US" sz="1000" dirty="0"/>
          </a:p>
        </p:txBody>
      </p:sp>
      <p:graphicFrame>
        <p:nvGraphicFramePr>
          <p:cNvPr id="57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does at the receptor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Dose-response curve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Full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Maximal receptor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Reaches 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Partial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even at full occupancy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Inverse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Reduces baseline (constitutive) activity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Lowers activity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below normal with no agonist present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Reversibly competes at the same 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Shifts right, same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Overcome by more agonist (surmountable)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Noncompetitive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Binds elsewhere or irreversibly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Plateaus lower instead of shifting right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Irreversible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Permanently inactivates the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Lasts until new receptor is synthesized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3340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S22; S22 (notes); S25; S27-28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The five major drug target classes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57</a:t>
            </a:r>
            <a:endParaRPr lang="en-US" sz="1000" dirty="0"/>
          </a:p>
        </p:txBody>
      </p:sp>
      <p:graphicFrame>
        <p:nvGraphicFramePr>
          <p:cNvPr id="58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 / does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Note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Receptors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G-protein-coupled, ligand-gated ion channel, enzyme-linked, nuclear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enzymes)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Ion channels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Directly gate the flow of ions across a membrane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Enzymes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Drugs inhibit or, less commonly, activate them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receptors)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Transporters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Carrier proteins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Nucleic acids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DNA/RNA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Some antimicrobials &amp; gene therapies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96646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S20; S20 (notes)</a:t>
            </a:r>
            <a:endParaRPr lang="en-US" sz="11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58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can more agonist overcome a competitive antagonist? Both compete </a:t>
            </a:r>
            <a:r>
              <a:rPr lang="en-US" sz="1800" b="1" dirty="0">
                <a:solidFill>
                  <a:srgbClr val="1F1F1F"/>
                </a:solidFill>
              </a:rPr>
              <a:t>reversibly for the same site</a:t>
            </a:r>
            <a:r>
              <a:rPr lang="en-US" sz="1800" dirty="0">
                <a:solidFill>
                  <a:srgbClr val="1F1F1F"/>
                </a:solidFill>
              </a:rPr>
              <a:t> — flood the site with agonist and it wins, so the curve shifts right but the same Emax is still reached.</a:t>
            </a:r>
            <a:r>
              <a:rPr lang="en-US" sz="1300" dirty="0">
                <a:solidFill>
                  <a:srgbClr val="666666"/>
                </a:solidFill>
              </a:rPr>
              <a:t>  S22; S25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6278728" y="1325880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6507328" y="2075688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albuterol open the airways? β2 activation → ↑ intracellular cAMP → bronchial smooth muscle relaxes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52444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735324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835908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735324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302252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ompetitive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an be outcompeted (shift right).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oncompetitive =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 full ceiling (lower Emax).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59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→ target → signal transduction → response.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= curve </a:t>
            </a:r>
            <a:r>
              <a:rPr lang="en-US" sz="1800" b="1" dirty="0">
                <a:solidFill>
                  <a:srgbClr val="1F1F1F"/>
                </a:solidFill>
              </a:rPr>
              <a:t>shifts right, same Emax</a:t>
            </a:r>
            <a:r>
              <a:rPr lang="en-US" sz="1800" dirty="0">
                <a:solidFill>
                  <a:srgbClr val="1F1F1F"/>
                </a:solidFill>
              </a:rPr>
              <a:t>; noncompetitive/irreversible = </a:t>
            </a:r>
            <a:r>
              <a:rPr lang="en-US" sz="1800" b="1" dirty="0">
                <a:solidFill>
                  <a:srgbClr val="1F1F1F"/>
                </a:solidFill>
              </a:rPr>
              <a:t>lower Emax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lowers baseline activity below normal; an antagonist only blocks.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explains how drugs bind receptors to produce agonism or antagonism.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S24-25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1, the dashed curve (+ competitive antagonist) is shifted to the right of the agonist-alone curve but reaches the same plateau at the top. What does this pattern show?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increases the agonist's potency at every dose given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turns the agonist into a partial agonist at the receptor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has no measurable effect on the agonist's curve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lowers the agonist's efficacy, so its Emax falls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8: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rightward shift with an unchanged plateau is the signature of competitive antagonism: potency falls, but because the antagonism is surmountable, enough agonist can still reach the original Emax (S25).</a:t>
            </a:r>
            <a:r>
              <a:rPr lang="en-US" sz="1100" dirty="0">
                <a:solidFill>
                  <a:srgbClr val="666666"/>
                </a:solidFill>
              </a:rPr>
              <a:t>  S23; S24-25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448560"/>
          </a:xfrm>
          <a:prstGeom prst="roundRect">
            <a:avLst>
              <a:gd name="adj" fmla="val 373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26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competitive antagonist increases the agonist's potency at every dose given — </a:t>
            </a:r>
            <a:r>
              <a:rPr lang="en-US" sz="1600" dirty="0">
                <a:solidFill>
                  <a:srgbClr val="1F1F1F"/>
                </a:solidFill>
              </a:rPr>
              <a:t>A rightward shift means MORE drug is needed — potency falls (S25).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competitive antagonist turns the agonist into a partial agonist at the receptor — </a:t>
            </a:r>
            <a:r>
              <a:rPr lang="en-US" sz="1600" dirty="0">
                <a:solidFill>
                  <a:srgbClr val="1F1F1F"/>
                </a:solidFill>
              </a:rPr>
              <a:t>A partial agonist gives submaximal activation even at full occupancy (S22); here the full plateau is still reached.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competitive antagonist has no measurable effect on the agonist's curve — </a:t>
            </a:r>
            <a:r>
              <a:rPr lang="en-US" sz="1600" dirty="0">
                <a:solidFill>
                  <a:srgbClr val="1F1F1F"/>
                </a:solidFill>
              </a:rPr>
              <a:t>The curve is clearly shifted right (S24-25).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competitive antagonist lowers the agonist's efficacy, so its Emax falls — </a:t>
            </a:r>
            <a:r>
              <a:rPr lang="en-US" sz="1600" dirty="0">
                <a:solidFill>
                  <a:srgbClr val="1F1F1F"/>
                </a:solidFill>
              </a:rPr>
              <a:t>Lowering Emax is the noncompetitive/irreversible pattern, which plateaus lower instead of shifting right (S25).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S27-28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binds the same receptor as an endogenous agonist and lowers the tissue's baseline (constitutive) activity below normal, without any agonist present. This drug is best classified as a(n):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Full agonist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Partial agonist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agonist</a:t>
            </a:r>
            <a:endParaRPr lang="en-US" sz="1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9: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Inverse agonist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inverse agonist actively reduces constitutive (baseline) receptor activity below normal (S28).</a:t>
            </a:r>
            <a:r>
              <a:rPr lang="en-US" sz="1100" dirty="0">
                <a:solidFill>
                  <a:srgbClr val="666666"/>
                </a:solidFill>
              </a:rPr>
              <a:t>  S22; S27-28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952752"/>
          </a:xfrm>
          <a:prstGeom prst="roundRect">
            <a:avLst>
              <a:gd name="adj" fmla="val 46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769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Irreversible antagonist — </a:t>
            </a:r>
            <a:r>
              <a:rPr lang="en-US" sz="1600" dirty="0">
                <a:solidFill>
                  <a:srgbClr val="1F1F1F"/>
                </a:solidFill>
              </a:rPr>
              <a:t>An irreversible antagonist permanently inactivates the receptor (S22); it does not lower baseline activity with no agonist present.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Full agonist — </a:t>
            </a:r>
            <a:r>
              <a:rPr lang="en-US" sz="1600" dirty="0">
                <a:solidFill>
                  <a:srgbClr val="1F1F1F"/>
                </a:solidFill>
              </a:rPr>
              <a:t>A full agonist produces maximal receptor activation (S22).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Competitive antagonist — </a:t>
            </a:r>
            <a:r>
              <a:rPr lang="en-US" sz="1600" dirty="0">
                <a:solidFill>
                  <a:srgbClr val="1F1F1F"/>
                </a:solidFill>
              </a:rPr>
              <a:t>A true antagonist merely blocks the agonist without lowering baseline activity itself (S28).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Partial agonist — </a:t>
            </a:r>
            <a:r>
              <a:rPr lang="en-US" sz="1600" dirty="0">
                <a:solidFill>
                  <a:srgbClr val="1F1F1F"/>
                </a:solidFill>
              </a:rPr>
              <a:t>A partial agonist produces submaximal activation, not activity below baseline (S22).</a:t>
            </a:r>
            <a:endParaRPr lang="en-US" sz="16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10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64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22-year-old patient inhales albuterol, and within minutes the bronchial smooth muscle relaxes. Which sequence best explains this effect?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blockade → falling intracellular cAMP → smooth muscle relaxation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Enzyme inhibition → falling intracellular cAMP → bronchial smooth muscle dilation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Ion channel opening → rising intracellular cAMP → smooth muscle contraction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agonism at β2 → lowered baseline activity → smooth muscle relaxation</a:t>
            </a:r>
            <a:endParaRPr lang="en-US" sz="1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10: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65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Albuterol is a selective β2 agonist: binding activates β2 → increases cAMP → relaxes bronchial smooth muscle → bronchodilation (S26).</a:t>
            </a:r>
            <a:r>
              <a:rPr lang="en-US" sz="1100" dirty="0">
                <a:solidFill>
                  <a:srgbClr val="666666"/>
                </a:solidFill>
              </a:rPr>
              <a:t>  S26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β2 receptor blockade → falling intracellular cAMP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Albuterol is an agonist — it activates, not blocks, β2, and cAMP rises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Enzyme inhibition → falling intracellular cAMP → bronchial smooth muscle dilation — </a:t>
            </a:r>
            <a:r>
              <a:rPr lang="en-US" sz="1600" dirty="0">
                <a:solidFill>
                  <a:srgbClr val="1F1F1F"/>
                </a:solidFill>
              </a:rPr>
              <a:t>The mechanism is receptor activation with rising cAMP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Ion channel opening → rising intracellular cAMP → smooth muscle contraction — </a:t>
            </a:r>
            <a:r>
              <a:rPr lang="en-US" sz="1600" dirty="0">
                <a:solidFill>
                  <a:srgbClr val="1F1F1F"/>
                </a:solidFill>
              </a:rPr>
              <a:t>Albuterol acts on the β2 receptor, and the result is relaxation, not contraction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Inverse agonism at β2 → lowered baseline activity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Inverse agonists reduce baseline activity (S22); albuterol is a selective β2 agonist (S26).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66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receives a drug that blocks a receptor. Raising the dose of the agonist medication eventually restores the full original maximal response. The blocking drug is most likely a(n):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Noncompetitive antagonist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Partial agonist</a:t>
            </a:r>
            <a:endParaRPr lang="en-US" sz="18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11: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67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Competitive antagonist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competitive antagonist reversibly competes at the same site and is overcome by more agonist — same Emax, curve shifted right (S22, S22 notes).</a:t>
            </a:r>
            <a:r>
              <a:rPr lang="en-US" sz="1100" dirty="0">
                <a:solidFill>
                  <a:srgbClr val="666666"/>
                </a:solidFill>
              </a:rPr>
              <a:t>  S22; S22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200656"/>
          </a:xfrm>
          <a:prstGeom prst="roundRect">
            <a:avLst>
              <a:gd name="adj" fmla="val 41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01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Noncompetitive antagonist — </a:t>
            </a:r>
            <a:r>
              <a:rPr lang="en-US" sz="1600" dirty="0">
                <a:solidFill>
                  <a:srgbClr val="1F1F1F"/>
                </a:solidFill>
              </a:rPr>
              <a:t>Noncompetitive antagonists reduce the maximal effect, so full Emax is not restored (S22).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Inverse agonist — </a:t>
            </a:r>
            <a:r>
              <a:rPr lang="en-US" sz="1600" dirty="0">
                <a:solidFill>
                  <a:srgbClr val="1F1F1F"/>
                </a:solidFill>
              </a:rPr>
              <a:t>An inverse agonist lowers baseline activity; the scenario describes surmountable blockade (S22, 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Irreversible antagonist — </a:t>
            </a:r>
            <a:r>
              <a:rPr lang="en-US" sz="1600" dirty="0">
                <a:solidFill>
                  <a:srgbClr val="1F1F1F"/>
                </a:solidFill>
              </a:rPr>
              <a:t>Irreversible antagonists permanently inactivate receptors until new ones are synthesized, lowering Emax (S22, S22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Partial agonist — </a:t>
            </a:r>
            <a:r>
              <a:rPr lang="en-US" sz="1600" dirty="0">
                <a:solidFill>
                  <a:srgbClr val="1F1F1F"/>
                </a:solidFill>
              </a:rPr>
              <a:t>A partial agonist itself gives submaximal activation (S22); it is not described as a blocker overcome by more agonist.</a:t>
            </a:r>
            <a:endParaRPr lang="en-US" sz="16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54-year-old is given phenoxybenzamine before surgery for pheochromocytoma. Blood pressure stays controlled even when the tumor releases large catecholamine surges. What best explains why the blockade persists?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activates opposing receptors, producing a physiologic counter-effect instead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is a partial agonist that caps the maximal catecholamine response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neutralizes catecholamines chemically in plasma before they reach receptors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competes reversibly, so high catecholamine levels easily displace it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binds receptors irreversibly; effect lasts until new receptors are made</a:t>
            </a:r>
            <a:endParaRPr lang="en-US" sz="1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12: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It binds receptors irreversibly; effect lasts until new receptors are made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irreversible antagonist's duration depends on receptor turnover, and high agonist levels cannot overcome it (p. 25).</a:t>
            </a:r>
            <a:r>
              <a:rPr lang="en-US" sz="1100" dirty="0">
                <a:solidFill>
                  <a:srgbClr val="666666"/>
                </a:solidFill>
              </a:rPr>
              <a:t>  p. 25-27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It activates opposing receptors, producing a physiologic counter-effect instead — </a:t>
            </a:r>
            <a:r>
              <a:rPr lang="en-US" sz="1600" dirty="0">
                <a:solidFill>
                  <a:srgbClr val="1F1F1F"/>
                </a:solidFill>
              </a:rPr>
              <a:t>That is physiologic antagonism, like insulin vs glucocorticoids (p. 27).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It is a partial agonist that caps the maximal catecholamine response — </a:t>
            </a:r>
            <a:r>
              <a:rPr lang="en-US" sz="1600" dirty="0">
                <a:solidFill>
                  <a:srgbClr val="1F1F1F"/>
                </a:solidFill>
              </a:rPr>
              <a:t>Partial agonists produce a submaximal response; phenoxybenzamine is an irreversible antagonist (p. 25; p. 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It neutralizes catecholamines chemically in plasma before they reach receptors — </a:t>
            </a:r>
            <a:r>
              <a:rPr lang="en-US" sz="1600" dirty="0">
                <a:solidFill>
                  <a:srgbClr val="1F1F1F"/>
                </a:solidFill>
              </a:rPr>
              <a:t>That is chemical antagonism, like protamine–heparin (p. 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It competes reversibly, so high catecholamine levels easily displace it — </a:t>
            </a:r>
            <a:r>
              <a:rPr lang="en-US" sz="1600" dirty="0">
                <a:solidFill>
                  <a:srgbClr val="1F1F1F"/>
                </a:solidFill>
              </a:rPr>
              <a:t>That describes competitive antagonism, which surges CAN overcome (p. 25).</a:t>
            </a:r>
            <a:endParaRPr lang="en-US" sz="16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4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Dose-Response Relationships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SO4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70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71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Potency:</a:t>
            </a:r>
            <a:r>
              <a:rPr lang="en-US" sz="1800" dirty="0">
                <a:solidFill>
                  <a:srgbClr val="1F1F1F"/>
                </a:solidFill>
              </a:rPr>
              <a:t> how much drug is required to produce a given effect — a more potent drug needs a lower dose.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 (Emax):</a:t>
            </a:r>
            <a:r>
              <a:rPr lang="en-US" sz="1800" dirty="0">
                <a:solidFill>
                  <a:srgbClr val="1F1F1F"/>
                </a:solidFill>
              </a:rPr>
              <a:t> the maximum effect a drug can produce, no matter how high the dose goes.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EC₅₀:</a:t>
            </a:r>
            <a:r>
              <a:rPr lang="en-US" sz="1800" dirty="0">
                <a:solidFill>
                  <a:srgbClr val="1F1F1F"/>
                </a:solidFill>
              </a:rPr>
              <a:t> the drug concentration producing 50% of the maximal effect — the standard measure of potency.</a:t>
            </a:r>
            <a:r>
              <a:rPr lang="en-US" sz="1300" dirty="0">
                <a:solidFill>
                  <a:srgbClr val="666666"/>
                </a:solidFill>
              </a:rPr>
              <a:t>  S30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Index (TI) = TD₅₀ ÷ ED₅₀ (toxic dose in 50% ÷ effective dose in 50%).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Quantal dose-response:</a:t>
            </a:r>
            <a:r>
              <a:rPr lang="en-US" sz="1800" dirty="0">
                <a:solidFill>
                  <a:srgbClr val="1F1F1F"/>
                </a:solidFill>
              </a:rPr>
              <a:t> ED₅₀ (effective in 50%), TD₅₀ (toxic in 50%), LD₅₀ (lethal in 50% of animals).</a:t>
            </a:r>
            <a:r>
              <a:rPr lang="en-US" sz="1300" dirty="0">
                <a:solidFill>
                  <a:srgbClr val="666666"/>
                </a:solidFill>
              </a:rPr>
              <a:t>  p. 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Therapeutic window:</a:t>
            </a:r>
            <a:r>
              <a:rPr lang="en-US" sz="1800" dirty="0">
                <a:solidFill>
                  <a:srgbClr val="1F1F1F"/>
                </a:solidFill>
              </a:rPr>
              <a:t> the range between the minimum therapeutic dose and the minimum toxic dose — more practical than TI for dosing a patient.</a:t>
            </a:r>
            <a:r>
              <a:rPr lang="en-US" sz="1300" dirty="0">
                <a:solidFill>
                  <a:srgbClr val="666666"/>
                </a:solidFill>
              </a:rPr>
              <a:t>  p. 38</a:t>
            </a:r>
            <a:endParaRPr lang="en-US" sz="1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72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sigmoidal dose-response curve: x-axis = log(dose), y-axis = effect. EC₅₀ is on the x-axis; Emax is the plateau — the ceiling effect.</a:t>
            </a:r>
            <a:r>
              <a:rPr lang="en-US" sz="1300" dirty="0">
                <a:solidFill>
                  <a:srgbClr val="666666"/>
                </a:solidFill>
              </a:rPr>
              <a:t>  S30 (notes); S31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is read off the curve at the halfway point between baseline and Emax.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Lower EC₅₀ = more potent. Higher Emax = more efficacious.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 properties — a drug can differ in one without differing in the other.</a:t>
            </a:r>
            <a:r>
              <a:rPr lang="en-US" sz="1300" dirty="0">
                <a:solidFill>
                  <a:srgbClr val="666666"/>
                </a:solidFill>
              </a:rPr>
              <a:t> 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curve farther left reaches the same effect at a lower dose (greater potency); curves reaching the same plateau height have identical Emax (efficacy).</a:t>
            </a:r>
            <a:r>
              <a:rPr lang="en-US" sz="1300" dirty="0">
                <a:solidFill>
                  <a:srgbClr val="666666"/>
                </a:solidFill>
              </a:rPr>
              <a:t>  S37</a:t>
            </a:r>
            <a:endParaRPr lang="en-US" sz="1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73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wide TI means a large margin between an effective dose and a toxic dose — generally safer to dose.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 TI means effective and toxic doses are close together — requires careful dosing and often blood-level monitoring.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distance between the ED₅₀ and TD₅₀ markers is the therapeutic index itself.</a:t>
            </a:r>
            <a:r>
              <a:rPr lang="en-US" sz="1300" dirty="0">
                <a:solidFill>
                  <a:srgbClr val="666666"/>
                </a:solidFill>
              </a:rPr>
              <a:t>  S41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Dose-response curves describe potency and efficacy.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74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498848"/>
          </a:xfrm>
          <a:prstGeom prst="roundRect">
            <a:avLst>
              <a:gd name="adj" fmla="val 243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clinically matters for dosing — not for choosing the "better" drug.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clinically matters much more than potency — a highly potent drug with low efficacy may be clinically useless.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With a narrow TI, a small dosing error can move a patient from effective to toxic — which is why these drugs require blood-level monitoring.</a:t>
            </a:r>
            <a:r>
              <a:rPr lang="en-US" sz="1300" dirty="0">
                <a:solidFill>
                  <a:srgbClr val="666666"/>
                </a:solidFill>
              </a:rPr>
              <a:t>  S41; S39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Students should be able to name all four narrow-TI drugs without hesitation and know that each requires therapeutic drug monitoring.</a:t>
            </a:r>
            <a:r>
              <a:rPr lang="en-US" sz="1300" dirty="0">
                <a:solidFill>
                  <a:srgbClr val="666666"/>
                </a:solidFill>
              </a:rPr>
              <a:t>  S38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No drug causes only a single specific effect — drugs are </a:t>
            </a:r>
            <a:r>
              <a:rPr lang="en-US" sz="1800" b="1" dirty="0">
                <a:solidFill>
                  <a:srgbClr val="1F1F1F"/>
                </a:solidFill>
              </a:rPr>
              <a:t>selective</a:t>
            </a:r>
            <a:r>
              <a:rPr lang="en-US" sz="1800" dirty="0">
                <a:solidFill>
                  <a:srgbClr val="1F1F1F"/>
                </a:solidFill>
              </a:rPr>
              <a:t>, not specific.</a:t>
            </a:r>
            <a:r>
              <a:rPr lang="en-US" sz="1300" dirty="0">
                <a:solidFill>
                  <a:srgbClr val="666666"/>
                </a:solidFill>
              </a:rPr>
              <a:t>  p. 40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Asthma + hypertension on propranolol: nonselective β blockade can cause bronchoconstriction; a β₁-selective blocker (metoprolol) is an alternative.</a:t>
            </a:r>
            <a:r>
              <a:rPr lang="en-US" sz="1300" dirty="0">
                <a:solidFill>
                  <a:srgbClr val="666666"/>
                </a:solidFill>
              </a:rPr>
              <a:t>  p. 41</a:t>
            </a:r>
            <a:endParaRPr lang="en-US" sz="1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75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558284"/>
          </a:xfrm>
          <a:prstGeom prst="roundRect">
            <a:avLst>
              <a:gd name="adj" fmla="val 24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68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Classic narrow-TI drugs: warfarin, lithium, digoxin, phenytoin.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558284"/>
          </a:xfrm>
          <a:prstGeom prst="roundRect">
            <a:avLst>
              <a:gd name="adj" fmla="val 24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68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drug can be very potent (tiny dose) but have low efficacy — potency alone never tells you whether a drug "works better."</a:t>
            </a:r>
            <a:r>
              <a:rPr lang="en-US" sz="1300" dirty="0">
                <a:solidFill>
                  <a:srgbClr val="666666"/>
                </a:solidFill>
              </a:rPr>
              <a:t>  S34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Same Emax + lower dose needed = MORE POTENT, EQUALLY efficacious — not "more efficacious."</a:t>
            </a:r>
            <a:r>
              <a:rPr lang="en-US" sz="1300" dirty="0">
                <a:solidFill>
                  <a:srgbClr val="666666"/>
                </a:solidFill>
              </a:rPr>
              <a:t>  S43;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measures potency — not toxicity and not bioavailability.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narrow-TI drug is not "safer because it needs a lower dose" — it has a smaller margin and needs closer monitoring.</a:t>
            </a:r>
            <a:r>
              <a:rPr lang="en-US" sz="1300" dirty="0">
                <a:solidFill>
                  <a:srgbClr val="666666"/>
                </a:solidFill>
              </a:rPr>
              <a:t>  S40-41</a:t>
            </a:r>
            <a:endParaRPr lang="en-US" sz="1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 · The sigmoidal dose-response curve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76</a:t>
            </a:r>
            <a:endParaRPr lang="en-US" sz="1000" dirty="0"/>
          </a:p>
        </p:txBody>
      </p:sp>
      <p:pic>
        <p:nvPicPr>
          <p:cNvPr id="7" name="Figure S31_1.png" descr="/home/user/dpas-pharm/work/L01/figures/S31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592" y="1325880"/>
            <a:ext cx="7144512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 (illustrative values, not from any textbook): EC₅₀ marks 50% of Emax; Emax is the plateau — the ceiling effect.</a:t>
            </a:r>
            <a:r>
              <a:rPr lang="en-US" sz="1100" dirty="0">
                <a:solidFill>
                  <a:srgbClr val="666666"/>
                </a:solidFill>
              </a:rPr>
              <a:t>  S31; S31 (notes)</a:t>
            </a:r>
            <a:endParaRPr lang="en-US" sz="16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 · Potency vs. efficacy, side by side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77</a:t>
            </a:r>
            <a:endParaRPr lang="en-US" sz="1000" dirty="0"/>
          </a:p>
        </p:txBody>
      </p:sp>
      <p:pic>
        <p:nvPicPr>
          <p:cNvPr id="7" name="Figure S35_1.png" descr="/home/user/dpas-pharm/work/L01/figures/S3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7335" y="1325880"/>
            <a:ext cx="9297025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Left panel: two drugs with the same Emax but different EC₅₀ (potency differs). Right panel: two drugs with the same EC₅₀ but different Emax (efficacy differs). Potency and efficacy are independent properties.</a:t>
            </a:r>
            <a:r>
              <a:rPr lang="en-US" sz="1100" dirty="0">
                <a:solidFill>
                  <a:srgbClr val="666666"/>
                </a:solidFill>
              </a:rPr>
              <a:t>  S35; S35 (notes)</a:t>
            </a:r>
            <a:endParaRPr lang="en-US" sz="16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 ·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78</a:t>
            </a:r>
            <a:endParaRPr lang="en-US" sz="1000" dirty="0"/>
          </a:p>
        </p:txBody>
      </p:sp>
      <p:pic>
        <p:nvPicPr>
          <p:cNvPr id="7" name="Figure S39_1.png" descr="/home/user/dpas-pharm/work/L01/figures/S39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362" y="1325880"/>
            <a:ext cx="8174970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number-line comparison: a wide gap between ED₅₀ and TD₅₀ is safer to dose than a narrow one (illustrative values). Note how close ED₅₀ and TD₅₀ sit for the narrow-TI example (e.g., warfarin, lithium, digoxin, phenytoin).</a:t>
            </a:r>
            <a:r>
              <a:rPr lang="en-US" sz="1100" dirty="0">
                <a:solidFill>
                  <a:srgbClr val="666666"/>
                </a:solidFill>
              </a:rPr>
              <a:t>  S39; S39 (notes)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Potency vs. efficacy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79</a:t>
            </a:r>
            <a:endParaRPr lang="en-US" sz="1000" dirty="0"/>
          </a:p>
        </p:txBody>
      </p:sp>
      <p:graphicFrame>
        <p:nvGraphicFramePr>
          <p:cNvPr id="80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Potency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 (Emax)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Definition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How much drug is needed to get an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maximum effect the drug can produce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Measured by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EC₅₀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 EC₅₀ = more potent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 height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 Emax = more efficacious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On the curve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farther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left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plateaus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Clinical weight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for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, not for picking the "better"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much more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potent + low efficacy may be useless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S30; S34; S37</a:t>
            </a:r>
            <a:endParaRPr lang="en-US" sz="11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80</a:t>
            </a:r>
            <a:endParaRPr lang="en-US" sz="1000" dirty="0"/>
          </a:p>
        </p:txBody>
      </p:sp>
      <p:graphicFrame>
        <p:nvGraphicFramePr>
          <p:cNvPr id="81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Wide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Narrow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ED₅₀ vs. TD₅₀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Far apart — large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Close together — small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Generally safer to dose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Careful dosing; small errors → toxic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Often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blood-level 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Examples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Warfarin, lithium, digoxin, phenytoin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342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S38; S39; S41</a:t>
            </a:r>
            <a:endParaRPr lang="en-US" sz="11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81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narrow-TI drugs need blood levels? The effective dose and the toxic dose sit so close together that a small dosing error can push the patient from effective to toxic.</a:t>
            </a:r>
            <a:r>
              <a:rPr lang="en-US" sz="1300" dirty="0">
                <a:solidFill>
                  <a:srgbClr val="666666"/>
                </a:solidFill>
              </a:rPr>
              <a:t>  S38; S41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548640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777240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114800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1353312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777240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 — "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atch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evels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uring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rescribing": 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arfarin,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ithium,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igoxin,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henytoin.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efficacy beat potency clinically? Potency only changes the dose you give; efficacy sets the ceiling of what the drug can achieve at any dose.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831336"/>
            <a:ext cx="5364328" cy="1719072"/>
          </a:xfrm>
          <a:prstGeom prst="roundRect">
            <a:avLst>
              <a:gd name="adj" fmla="val 63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81144"/>
            <a:ext cx="490712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TI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oxic over </a:t>
            </a:r>
            <a:r>
              <a:rPr lang="en-US" sz="1800" b="1" dirty="0">
                <a:solidFill>
                  <a:srgbClr val="1F1F1F"/>
                </a:solidFill>
              </a:rPr>
              <a:t>E</a:t>
            </a:r>
            <a:r>
              <a:rPr lang="en-US" sz="1800" dirty="0">
                <a:solidFill>
                  <a:srgbClr val="1F1F1F"/>
                </a:solidFill>
              </a:rPr>
              <a:t>ffective → TD₅₀ ÷ ED₅₀ (toxic on top).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82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60604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</a:t>
            </a:r>
            <a:r>
              <a:rPr lang="en-US" sz="1800" dirty="0">
                <a:solidFill>
                  <a:srgbClr val="1F1F1F"/>
                </a:solidFill>
              </a:rPr>
              <a:t> = dose needed (EC₅₀, lower = more potent); </a:t>
            </a: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Emax (ceiling).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independent; efficacy matters more clinically.</a:t>
            </a:r>
            <a:r>
              <a:rPr lang="en-US" sz="1300" dirty="0">
                <a:solidFill>
                  <a:srgbClr val="666666"/>
                </a:solidFill>
              </a:rPr>
              <a:t>  S34;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 = TD₅₀ ÷ ED₅₀</a:t>
            </a:r>
            <a:r>
              <a:rPr lang="en-US" sz="1800" dirty="0">
                <a:solidFill>
                  <a:srgbClr val="1F1F1F"/>
                </a:solidFill>
              </a:rPr>
              <a:t>; narrow TI → careful dosing + blood-level monitoring.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drugs: </a:t>
            </a:r>
            <a:r>
              <a:rPr lang="en-US" sz="1800" b="1" dirty="0">
                <a:solidFill>
                  <a:srgbClr val="1F1F1F"/>
                </a:solidFill>
              </a:rPr>
              <a:t>warfarin, lithium, digoxin, phenytoin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S32-33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 the dose-response curve in Figure 2, the point marked EC₅₀ sits exactly halfway up the rising part of the curve. What does this point represent?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the drug's maximal effect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dose at which the drug first becomes toxic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point at which the drug has no effect at all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fraction of the dose reaching circulation</a:t>
            </a:r>
            <a:endParaRPr lang="en-US" sz="18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13: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EC₅₀ is read at the halfway point between baseline and Emax — the standard graphical measure of potency (S33).</a:t>
            </a:r>
            <a:r>
              <a:rPr lang="en-US" sz="1100" dirty="0">
                <a:solidFill>
                  <a:srgbClr val="666666"/>
                </a:solidFill>
              </a:rPr>
              <a:t>  S31; S32-33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concentration producing the drug's maximal effect — </a:t>
            </a:r>
            <a:r>
              <a:rPr lang="en-US" sz="1600" dirty="0">
                <a:solidFill>
                  <a:srgbClr val="1F1F1F"/>
                </a:solidFill>
              </a:rPr>
              <a:t>The maximal effect is Emax — the plateau (S30-31).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dose at which the drug first becomes toxic — </a:t>
            </a:r>
            <a:r>
              <a:rPr lang="en-US" sz="1600" dirty="0">
                <a:solidFill>
                  <a:srgbClr val="1F1F1F"/>
                </a:solidFill>
              </a:rPr>
              <a:t>EC₅₀ is a measure of potency, not toxicity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point at which the drug has no effect at all — </a:t>
            </a:r>
            <a:r>
              <a:rPr lang="en-US" sz="1600" dirty="0">
                <a:solidFill>
                  <a:srgbClr val="1F1F1F"/>
                </a:solidFill>
              </a:rPr>
              <a:t>EC₅₀ is halfway to Emax, not zero effect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fraction of the dose reaching circulation — </a:t>
            </a:r>
            <a:r>
              <a:rPr lang="en-US" sz="1600" dirty="0">
                <a:solidFill>
                  <a:srgbClr val="1F1F1F"/>
                </a:solidFill>
              </a:rPr>
              <a:t>That is bioavailability (S50), not EC₅₀ (S33).</a:t>
            </a:r>
            <a:endParaRPr lang="en-US" sz="16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S36-37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85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the left panel of Figure 3, Drug A's curve sits to the left of Drug B's curve, but both curves plateau at the same height. What does this tell you?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efficacious than Drug B at every dose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has a wider therapeutic index than Drug B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is more potent than Drug A in this panel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and Drug B have different Emax values here</a:t>
            </a:r>
            <a:endParaRPr lang="en-US" sz="1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14: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86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curve farther left reaches the same effect at a lower dose (greater potency); the same plateau height means identical Emax (S37).</a:t>
            </a:r>
            <a:r>
              <a:rPr lang="en-US" sz="1100" dirty="0">
                <a:solidFill>
                  <a:srgbClr val="666666"/>
                </a:solidFill>
              </a:rPr>
              <a:t>  S35; S36-37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A is more efficacious than Drug B at every dose — </a:t>
            </a:r>
            <a:r>
              <a:rPr lang="en-US" sz="1600" dirty="0">
                <a:solidFill>
                  <a:srgbClr val="1F1F1F"/>
                </a:solidFill>
              </a:rPr>
              <a:t>Efficacy is the plateau height, and the plateaus are equal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Drug A has a wider therapeutic index than Drug B — </a:t>
            </a:r>
            <a:r>
              <a:rPr lang="en-US" sz="1600" dirty="0">
                <a:solidFill>
                  <a:srgbClr val="1F1F1F"/>
                </a:solidFill>
              </a:rPr>
              <a:t>TI compares TD₅₀ with ED₅₀ (S38); the figure shows only effect curves.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B is more potent than Drug A in this panel — </a:t>
            </a:r>
            <a:r>
              <a:rPr lang="en-US" sz="1600" dirty="0">
                <a:solidFill>
                  <a:srgbClr val="1F1F1F"/>
                </a:solidFill>
              </a:rPr>
              <a:t>The curve farther LEFT (Drug A) is more potent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A and Drug B have different Emax values here — </a:t>
            </a:r>
            <a:r>
              <a:rPr lang="en-US" sz="1600" dirty="0">
                <a:solidFill>
                  <a:srgbClr val="1F1F1F"/>
                </a:solidFill>
              </a:rPr>
              <a:t>Both curves reach the same plateau, so Emax is the same (S37).</a:t>
            </a:r>
            <a:endParaRPr lang="en-US" sz="16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S40-41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Comparing the two number lines in Figure 4, the narrow-TI drug's ED₅₀ and TD₅₀ markers sit much closer together than the wide-TI drug's. What is the clinical implication?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must have lower efficacy (Emax) overall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wide-TI drug is the one more likely to cause toxicity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is safer because it requires a lower dose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Therapeutic index has no real bearing on dosing safety</a:t>
            </a:r>
            <a:endParaRPr lang="en-US" sz="18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15: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ED₅₀–TD₅₀ gap is the therapeutic index; a narrow gap means a small dosing error can move a patient from effective to toxic, so these drugs need blood-level monitoring (S41).</a:t>
            </a:r>
            <a:r>
              <a:rPr lang="en-US" sz="1100" dirty="0">
                <a:solidFill>
                  <a:srgbClr val="666666"/>
                </a:solidFill>
              </a:rPr>
              <a:t>  S39; S40-41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200656"/>
          </a:xfrm>
          <a:prstGeom prst="roundRect">
            <a:avLst>
              <a:gd name="adj" fmla="val 41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01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narrow-TI drug must have lower efficacy (Emax) overall — </a:t>
            </a:r>
            <a:r>
              <a:rPr lang="en-US" sz="1600" dirty="0">
                <a:solidFill>
                  <a:srgbClr val="1F1F1F"/>
                </a:solidFill>
              </a:rPr>
              <a:t>TI compares toxic vs. effective doses; it says nothing about Emax (S30,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wide-TI drug is the one more likely to cause toxicity — </a:t>
            </a:r>
            <a:r>
              <a:rPr lang="en-US" sz="1600" dirty="0">
                <a:solidFill>
                  <a:srgbClr val="1F1F1F"/>
                </a:solidFill>
              </a:rPr>
              <a:t>A wide TI means a large margin — generally safer to dose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narrow-TI drug is safer because it requires a lower dose — </a:t>
            </a:r>
            <a:r>
              <a:rPr lang="en-US" sz="1600" dirty="0">
                <a:solidFill>
                  <a:srgbClr val="1F1F1F"/>
                </a:solidFill>
              </a:rPr>
              <a:t>A narrow TI means a SMALLER safety margin, not a safer drug (S38, S41).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Therapeutic index has no real bearing on dosing safety — </a:t>
            </a:r>
            <a:r>
              <a:rPr lang="en-US" sz="1600" dirty="0">
                <a:solidFill>
                  <a:srgbClr val="1F1F1F"/>
                </a:solidFill>
              </a:rPr>
              <a:t>TI is exactly the margin between effective and toxic dosing (S38).</a:t>
            </a:r>
            <a:endParaRPr lang="en-US" sz="16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S42-43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requires a much lower dose than Drug Y to achieve the same effect, but both drugs achieve the same maximum effect (Emax). Which statement is correct?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efficacious than Drug 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potent than Drug 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has a narrower therapeutic index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Y is more potent than Drug X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and Drug Y have different Emax values</a:t>
            </a:r>
            <a:endParaRPr lang="en-US" sz="18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16: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Drug X is more potent than Drug 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Needing a lower dose for the same effect is greater potency; since both reach the same Emax, efficacy is equal (S43).</a:t>
            </a:r>
            <a:r>
              <a:rPr lang="en-US" sz="1100" dirty="0">
                <a:solidFill>
                  <a:srgbClr val="666666"/>
                </a:solidFill>
              </a:rPr>
              <a:t>  S42-43; SG U1-R6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X is more efficacious than Drug Y — </a:t>
            </a:r>
            <a:r>
              <a:rPr lang="en-US" sz="1600" dirty="0">
                <a:solidFill>
                  <a:srgbClr val="1F1F1F"/>
                </a:solidFill>
              </a:rPr>
              <a:t>Both reach the same Emax, so efficacy is equal (S43).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X has a narrower therapeutic index — </a:t>
            </a:r>
            <a:r>
              <a:rPr lang="en-US" sz="1600" dirty="0">
                <a:solidFill>
                  <a:srgbClr val="1F1F1F"/>
                </a:solidFill>
              </a:rPr>
              <a:t>Nothing about toxic doses is given; TI = TD₅₀ ÷ ED₅₀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Y is more potent than Drug X — </a:t>
            </a:r>
            <a:r>
              <a:rPr lang="en-US" sz="1600" dirty="0">
                <a:solidFill>
                  <a:srgbClr val="1F1F1F"/>
                </a:solidFill>
              </a:rPr>
              <a:t>The drug needing the LOWER dose (X) is more potent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X and Drug Y have different Emax values — </a:t>
            </a:r>
            <a:r>
              <a:rPr lang="en-US" sz="1600" dirty="0">
                <a:solidFill>
                  <a:srgbClr val="1F1F1F"/>
                </a:solidFill>
              </a:rPr>
              <a:t>The stem states both reach the same Emax (S43).</a:t>
            </a:r>
            <a:endParaRPr lang="en-US" sz="16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17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 is starting a patient on lithium. Compared with a drug that has a wide therapeutic index, what does lithium's narrow therapeutic index mean for this patient's care?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more potent, so it can be dosed without monitoring levels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large safety margin, so dosing errors are well tolerated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higher Emax, so lower doses than usual are always enough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100% bioavailable, so blood levels never need to be checked</a:t>
            </a:r>
            <a:endParaRPr lang="en-US" sz="18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17: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narrow TI means effective and toxic doses are close together — requiring careful dosing and often blood-level monitoring; lithium is a classic narrow-TI drug (S38).</a:t>
            </a:r>
            <a:r>
              <a:rPr lang="en-US" sz="1100" dirty="0">
                <a:solidFill>
                  <a:srgbClr val="666666"/>
                </a:solidFill>
              </a:rPr>
              <a:t>  S38; S38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448560"/>
          </a:xfrm>
          <a:prstGeom prst="roundRect">
            <a:avLst>
              <a:gd name="adj" fmla="val 373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26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Lithium is more potent, so it can be dosed without monitoring levels — </a:t>
            </a:r>
            <a:r>
              <a:rPr lang="en-US" sz="1600" dirty="0">
                <a:solidFill>
                  <a:srgbClr val="1F1F1F"/>
                </a:solidFill>
              </a:rPr>
              <a:t>Potency matters for dosing amount, not safety margin; narrow-TI drugs need monitoring (S34,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Lithium has a large safety margin, so dosing errors are well tolerated — </a:t>
            </a:r>
            <a:r>
              <a:rPr lang="en-US" sz="1600" dirty="0">
                <a:solidFill>
                  <a:srgbClr val="1F1F1F"/>
                </a:solidFill>
              </a:rPr>
              <a:t>That describes a WIDE TI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Lithium has a higher Emax, so lower doses than usual are always enough — </a:t>
            </a:r>
            <a:r>
              <a:rPr lang="en-US" sz="1600" dirty="0">
                <a:solidFill>
                  <a:srgbClr val="1F1F1F"/>
                </a:solidFill>
              </a:rPr>
              <a:t>TI is about toxic vs. effective doses, not Emax (S30,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Lithium is 100% bioavailable, so blood levels never need to be checked — </a:t>
            </a:r>
            <a:r>
              <a:rPr lang="en-US" sz="1600" dirty="0">
                <a:solidFill>
                  <a:srgbClr val="1F1F1F"/>
                </a:solidFill>
              </a:rPr>
              <a:t>Bioavailability is a different concept (S50); narrow-TI drugs need monitoring (S38).</a:t>
            </a:r>
            <a:endParaRPr lang="en-US" sz="16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Two drugs relieve the same symptom. Drug A works at 5 mg and Drug B at 50 mg, but at maximal doses Drug B produces a much greater maximal effect. Which statement best guides drug selection?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has greater potency because its maximal effect is much higher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Both drugs have equal efficacy because both relieve the same symptom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has greater efficacy because it needs a much smaller dose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has greater efficacy, which matters more clinically than Drug A's potency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should be chosen because greater potency means it works better</a:t>
            </a:r>
            <a:endParaRPr lang="en-US" sz="18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18: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Drug B has greater efficacy, which matters more clinically than Drug A's potency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Efficacy (Emax) clinically matters much more than potency — a highly potent drug with low efficacy may be clinically useless (S34).</a:t>
            </a:r>
            <a:r>
              <a:rPr lang="en-US" sz="1100" dirty="0">
                <a:solidFill>
                  <a:srgbClr val="666666"/>
                </a:solidFill>
              </a:rPr>
              <a:t>  S30; S34; S34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B has greater potency because its maximal effect is much higher — </a:t>
            </a:r>
            <a:r>
              <a:rPr lang="en-US" sz="1600" dirty="0">
                <a:solidFill>
                  <a:srgbClr val="1F1F1F"/>
                </a:solidFill>
              </a:rPr>
              <a:t>Higher Emax = more efficacious, not more potent (S34).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Both drugs have equal efficacy because both relieve the same symptom — </a:t>
            </a:r>
            <a:r>
              <a:rPr lang="en-US" sz="1600" dirty="0">
                <a:solidFill>
                  <a:srgbClr val="1F1F1F"/>
                </a:solidFill>
              </a:rPr>
              <a:t>Drug B reaches a higher maximal effect, so its efficacy is greater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A has greater efficacy because it needs a much smaller dose — </a:t>
            </a:r>
            <a:r>
              <a:rPr lang="en-US" sz="1600" dirty="0">
                <a:solidFill>
                  <a:srgbClr val="1F1F1F"/>
                </a:solidFill>
              </a:rPr>
              <a:t>A smaller dose means greater POTENCY; efficacy is the maximum effect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A should be chosen because greater potency means it works better — </a:t>
            </a:r>
            <a:r>
              <a:rPr lang="en-US" sz="1600" dirty="0">
                <a:solidFill>
                  <a:srgbClr val="1F1F1F"/>
                </a:solidFill>
              </a:rPr>
              <a:t>Potency alone never tells you whether a drug works better (S34 notes).</a:t>
            </a:r>
            <a:endParaRPr lang="en-US" sz="16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5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Pharmacokinetics: ADME — Absorption &amp; Distribution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SO5 · IO1.2 · IO1.3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95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96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4608576"/>
          </a:xfrm>
          <a:prstGeom prst="roundRect">
            <a:avLst>
              <a:gd name="adj" fmla="val 238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— Absorption: movement of drug from the site of administration into the bloodstream.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 — Distribution: movement of drug from blood into tissues.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 — Metabolism: chemical transformation of drug, mainly in the liver.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 — Excretion: removal of drug/metabolites from the body, mainly via the kidney.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Bioavailability (F) = the fraction of an administered dose that reaches systemic circulation unchanged.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effect: the liver metabolizes (can inactivate a large fraction of) an orally absorbed drug before it reaches systemic circulation.</a:t>
            </a:r>
            <a:r>
              <a:rPr lang="en-US" sz="1300" dirty="0">
                <a:solidFill>
                  <a:srgbClr val="666666"/>
                </a:solidFill>
              </a:rPr>
              <a:t>  S51; S51 (notes);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Volume of distribution (Vd):</a:t>
            </a:r>
            <a:r>
              <a:rPr lang="en-US" sz="1800" dirty="0">
                <a:solidFill>
                  <a:srgbClr val="1F1F1F"/>
                </a:solidFill>
              </a:rPr>
              <a:t> a calculated value relating total drug in the body to plasma concentration — a high Vd suggests extensive tissue distribution.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97</a:t>
            </a:r>
            <a:endParaRPr lang="en-US" sz="1000" dirty="0"/>
          </a:p>
        </p:txBody>
      </p:sp>
      <p:sp>
        <p:nvSpPr>
          <p:cNvPr id="7" name="How it works (1/3) card"/>
          <p:cNvSpPr/>
          <p:nvPr/>
        </p:nvSpPr>
        <p:spPr>
          <a:xfrm>
            <a:off x="548640" y="1325880"/>
            <a:ext cx="11094415" cy="3831336"/>
          </a:xfrm>
          <a:prstGeom prst="roundRect">
            <a:avLst>
              <a:gd name="adj" fmla="val 28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(1/3)</a:t>
            </a:r>
            <a:endParaRPr lang="en-US" sz="1800" dirty="0"/>
          </a:p>
        </p:txBody>
      </p:sp>
      <p:sp>
        <p:nvSpPr>
          <p:cNvPr id="11" name="How it works (1/3) body"/>
          <p:cNvSpPr txBox="1"/>
          <p:nvPr/>
        </p:nvSpPr>
        <p:spPr>
          <a:xfrm>
            <a:off x="777240" y="2075688"/>
            <a:ext cx="10637215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the organizing skeleton for the rest of the lecture — each remaining pharmacokinetics section is one ADME letter in depth.</a:t>
            </a:r>
            <a:r>
              <a:rPr lang="en-US" sz="1300" dirty="0">
                <a:solidFill>
                  <a:srgbClr val="666666"/>
                </a:solidFill>
              </a:rPr>
              <a:t>  S45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determines how much drug reaches its target and for how long.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Metabolism (M arrow → liver) and Excretion (E arrow → kidney) are the back half of ADME — how the body gets rid of the drug; Absorption and Distribution govern how the drug arrives and spreads.</a:t>
            </a:r>
            <a:r>
              <a:rPr lang="en-US" sz="1300" dirty="0">
                <a:solidFill>
                  <a:srgbClr val="666666"/>
                </a:solidFill>
              </a:rPr>
              <a:t>  S46; S48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route: oral drug → GI tract → portal circulation → liver → systemic circulation.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By definition, an IV dose has 100% bioavailability — the entire dose enters the bloodstream directly (no absorption step).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98</a:t>
            </a:r>
            <a:endParaRPr lang="en-US" sz="1000" dirty="0"/>
          </a:p>
        </p:txBody>
      </p:sp>
      <p:sp>
        <p:nvSpPr>
          <p:cNvPr id="7" name="How it works (2/3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(2/3)</a:t>
            </a:r>
            <a:endParaRPr lang="en-US" sz="1800" dirty="0"/>
          </a:p>
        </p:txBody>
      </p:sp>
      <p:sp>
        <p:nvSpPr>
          <p:cNvPr id="11" name="How it works (2/3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Oral bioavailability is reduced by incomplete absorption and by first-pass hepatic metabolism.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Plasma protein binding:</a:t>
            </a:r>
            <a:r>
              <a:rPr lang="en-US" sz="1800" dirty="0">
                <a:solidFill>
                  <a:srgbClr val="1F1F1F"/>
                </a:solidFill>
              </a:rPr>
              <a:t> only unbound ("free") drug is pharmacologically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Lipid solubility:</a:t>
            </a:r>
            <a:r>
              <a:rPr lang="en-US" sz="1800" dirty="0">
                <a:solidFill>
                  <a:srgbClr val="1F1F1F"/>
                </a:solidFill>
              </a:rPr>
              <a:t> lipophilic drugs cross membranes more readily and distribute into fatty tissue.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Tissue perfusion:</a:t>
            </a:r>
            <a:r>
              <a:rPr lang="en-US" sz="1800" dirty="0">
                <a:solidFill>
                  <a:srgbClr val="1F1F1F"/>
                </a:solidFill>
              </a:rPr>
              <a:t> highly perfused organs (brain, heart, kidney) receive drug faster than poorly perfused tissue (fat, bone).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Vd is a theoretical volume, not a real anatomic space.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99</a:t>
            </a:r>
            <a:endParaRPr lang="en-US" sz="1000" dirty="0"/>
          </a:p>
        </p:txBody>
      </p:sp>
      <p:sp>
        <p:nvSpPr>
          <p:cNvPr id="7" name="How it works (3/3) card"/>
          <p:cNvSpPr/>
          <p:nvPr/>
        </p:nvSpPr>
        <p:spPr>
          <a:xfrm>
            <a:off x="548640" y="1325880"/>
            <a:ext cx="11094415" cy="3831336"/>
          </a:xfrm>
          <a:prstGeom prst="roundRect">
            <a:avLst>
              <a:gd name="adj" fmla="val 28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3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3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3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(3/3)</a:t>
            </a:r>
            <a:endParaRPr lang="en-US" sz="1800" dirty="0"/>
          </a:p>
        </p:txBody>
      </p:sp>
      <p:sp>
        <p:nvSpPr>
          <p:cNvPr id="11" name="How it works (3/3) body"/>
          <p:cNvSpPr txBox="1"/>
          <p:nvPr/>
        </p:nvSpPr>
        <p:spPr>
          <a:xfrm>
            <a:off x="777240" y="2075688"/>
            <a:ext cx="10637215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Blood-brain barrier — </a:t>
            </a:r>
            <a:r>
              <a:rPr lang="en-US" sz="1800" b="1" dirty="0">
                <a:solidFill>
                  <a:srgbClr val="1F1F1F"/>
                </a:solidFill>
              </a:rPr>
              <a:t>Why can some drugs readily enter the CNS while others cannot?</a:t>
            </a:r>
            <a:r>
              <a:rPr lang="en-US" sz="1800" dirty="0">
                <a:solidFill>
                  <a:srgbClr val="1F1F1F"/>
                </a:solidFill>
              </a:rPr>
              <a:t> Tight junctions between endothelial cells restrict paracellular movement.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Small, lipophilic, non-ionized drugs cross the BBB more easily than large, polar, or highly protein-bound drugs.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Efflux transporters (like P-glycoprotein) can actively pump some drugs back out of the CNS.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P-glycoprotein (MDR1)</a:t>
            </a:r>
            <a:r>
              <a:rPr lang="en-US" sz="1800" dirty="0">
                <a:solidFill>
                  <a:srgbClr val="1F1F1F"/>
                </a:solidFill>
              </a:rPr>
              <a:t> pumps drugs out of cells in brain, testes, and gut; inhibiting it raises digoxin blood levels.</a:t>
            </a:r>
            <a:r>
              <a:rPr lang="en-US" sz="1300" dirty="0">
                <a:solidFill>
                  <a:srgbClr val="666666"/>
                </a:solidFill>
              </a:rPr>
              <a:t>  p. 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Ion trapping: weak acids are excreted faster in </a:t>
            </a:r>
            <a:r>
              <a:rPr lang="en-US" sz="1800" b="1" dirty="0">
                <a:solidFill>
                  <a:srgbClr val="1F1F1F"/>
                </a:solidFill>
              </a:rPr>
              <a:t>alkaline</a:t>
            </a:r>
            <a:r>
              <a:rPr lang="en-US" sz="1800" dirty="0">
                <a:solidFill>
                  <a:srgbClr val="1F1F1F"/>
                </a:solidFill>
              </a:rPr>
              <a:t> urine; weak bases faster in </a:t>
            </a:r>
            <a:r>
              <a:rPr lang="en-US" sz="1800" b="1" dirty="0">
                <a:solidFill>
                  <a:srgbClr val="1F1F1F"/>
                </a:solidFill>
              </a:rPr>
              <a:t>acidic</a:t>
            </a:r>
            <a:r>
              <a:rPr lang="en-US" sz="1800" dirty="0">
                <a:solidFill>
                  <a:srgbClr val="1F1F1F"/>
                </a:solidFill>
              </a:rPr>
              <a:t> urine.</a:t>
            </a:r>
            <a:r>
              <a:rPr lang="en-US" sz="1300" dirty="0">
                <a:solidFill>
                  <a:srgbClr val="666666"/>
                </a:solidFill>
              </a:rPr>
              <a:t>  p. 10; p. 11</a:t>
            </a:r>
            <a:endParaRPr lang="en-US" sz="18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100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38912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Routes that bypass first-pass metabolism: essentially everything except oral — IV, sublingual, inhaled, transdermal, topical, SC, IM.</a:t>
            </a:r>
            <a:r>
              <a:rPr lang="en-US" sz="1300" dirty="0">
                <a:solidFill>
                  <a:srgbClr val="666666"/>
                </a:solidFill>
              </a:rPr>
              <a:t>  S49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Sublingual absorption enters systemic venous circulation directly, bypassing the portal vein and the liver's first-pass metabolism; oral dosing passes through the liver first.</a:t>
            </a:r>
            <a:r>
              <a:rPr lang="en-US" sz="1300" dirty="0">
                <a:solidFill>
                  <a:srgbClr val="666666"/>
                </a:solidFill>
              </a:rPr>
              <a:t>  S55;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Because the liver can inactivate a large fraction of drug first, some drugs are given sublingually or transdermally instead of orally.</a:t>
            </a:r>
            <a:r>
              <a:rPr lang="en-US" sz="1300" dirty="0">
                <a:solidFill>
                  <a:srgbClr val="666666"/>
                </a:solidFill>
              </a:rPr>
              <a:t>  S51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highly polar antibiotic would generally not cross the BBB well — unless the meninges are inflamed, as in meningitis.</a:t>
            </a:r>
            <a:r>
              <a:rPr lang="en-US" sz="1300" dirty="0">
                <a:solidFill>
                  <a:srgbClr val="666666"/>
                </a:solidFill>
              </a:rPr>
              <a:t>  S53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Aspirin overdose: sodium bicarbonate alkalinizes blood and urine, reducing aspirin entry into tissues and speeding its renal excretion.</a:t>
            </a:r>
            <a:r>
              <a:rPr lang="en-US" sz="1300" dirty="0">
                <a:solidFill>
                  <a:srgbClr val="666666"/>
                </a:solidFill>
              </a:rPr>
              <a:t>  p. 20</a:t>
            </a:r>
            <a:endParaRPr lang="en-US" sz="18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101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279392"/>
          </a:xfrm>
          <a:prstGeom prst="roundRect">
            <a:avLst>
              <a:gd name="adj" fmla="val 25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Large first-pass effect: nitroglycerin, propranolol, morphine — all require higher oral doses (or a non-oral route) to achieve the same systemic exposure as IV.</a:t>
            </a:r>
            <a:r>
              <a:rPr lang="en-US" sz="1300" dirty="0">
                <a:solidFill>
                  <a:srgbClr val="666666"/>
                </a:solidFill>
              </a:rPr>
              <a:t>  S51;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Very high Vd: digoxin — mostly sequestered in tissue, not floating around in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Subcutaneous route is common for insulin and heparin.</a:t>
            </a:r>
            <a:r>
              <a:rPr lang="en-US" sz="1300" dirty="0">
                <a:solidFill>
                  <a:srgbClr val="666666"/>
                </a:solidFill>
              </a:rPr>
              <a:t>  S49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P-glycoprotein — an efflux transporter at the BBB.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279392"/>
          </a:xfrm>
          <a:prstGeom prst="roundRect">
            <a:avLst>
              <a:gd name="adj" fmla="val 25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IV = 100% bioavailable with no absorption phase; oral is less than 100%.</a:t>
            </a:r>
            <a:r>
              <a:rPr lang="en-US" sz="1300" dirty="0">
                <a:solidFill>
                  <a:srgbClr val="666666"/>
                </a:solidFill>
              </a:rPr>
              <a:t>  S49;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Taking an oral drug with food or on an empty stomach does not bypass first-pass metabolism — sublingual does.</a:t>
            </a:r>
            <a:r>
              <a:rPr lang="en-US" sz="1300" dirty="0">
                <a:solidFill>
                  <a:srgbClr val="666666"/>
                </a:solidFill>
              </a:rPr>
              <a:t>  S54-55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very high Vd does not mean a big anatomic space — it means the drug is mostly in tissue, not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free (unbound) drug is active and can cross membranes — protein-bound drug cannot.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 · The ADME compartment model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102</a:t>
            </a:r>
            <a:endParaRPr lang="en-US" sz="1000" dirty="0"/>
          </a:p>
        </p:txBody>
      </p:sp>
      <p:pic>
        <p:nvPicPr>
          <p:cNvPr id="7" name="Figure S46_1.png" descr="/home/user/dpas-pharm/work/L01/figures/S46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992" y="1325880"/>
            <a:ext cx="7573712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compartment diagram: how a dose moves from administration through distribution, metabolism, and excretion. Dose → Absorption → Central compartment (blood/plasma) ⇄ Peripheral compartment (tissues); M arrow → Metabolism (liver), E arrow → Excretion (kidney).</a:t>
            </a:r>
            <a:r>
              <a:rPr lang="en-US" sz="1100" dirty="0">
                <a:solidFill>
                  <a:srgbClr val="666666"/>
                </a:solidFill>
              </a:rPr>
              <a:t>  S46; S46 (notes)</a:t>
            </a:r>
            <a:endParaRPr lang="en-US" sz="16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Routes of administration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103</a:t>
            </a:r>
            <a:endParaRPr lang="en-US" sz="1000" dirty="0"/>
          </a:p>
        </p:txBody>
      </p:sp>
      <p:graphicFrame>
        <p:nvGraphicFramePr>
          <p:cNvPr id="10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Route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Key feature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Bypasses first-pass?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Oral (PO)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Convenient; subject to first-pass metabolism and variable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Sublingual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Absorbed directly into systemic circulation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Intravenous (IV)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100% bioavailable; immediate onset; no absorption phase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Intramuscular (IM)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Faster than oral; good for depot/long-acting formulations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Subcutaneous (SC)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Slower, steady absorption; common for insulin, heparin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Inhaled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Rapid local effect in the lungs; minimizes systemic exposure for some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Transdermal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Slow, sustained systemic absorption through the skin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Topical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Local effect at the site of application; minimal systemic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652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S49; S49 (notes)</a:t>
            </a:r>
            <a:endParaRPr lang="en-US" sz="11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Who crosses the blood-brain barrier?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104</a:t>
            </a:r>
            <a:endParaRPr lang="en-US" sz="1000" dirty="0"/>
          </a:p>
        </p:txBody>
      </p:sp>
      <p:graphicFrame>
        <p:nvGraphicFramePr>
          <p:cNvPr id="10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more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less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Size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Small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Chemistry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Lipophilic, non-ionized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Polar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Protein binding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Highly protein-bound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Other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Pumped out by efflux transporters (P-glycoprotein)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S53</a:t>
            </a:r>
            <a:endParaRPr lang="en-US" sz="11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105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is IV bioavailability 100%? The whole dose enters the bloodstream directly — there is no absorption step and no trip through the liver first.</a:t>
            </a:r>
            <a:r>
              <a:rPr lang="en-US" sz="1300" dirty="0">
                <a:solidFill>
                  <a:srgbClr val="666666"/>
                </a:solidFill>
              </a:rPr>
              <a:t>  S50; S49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548640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777240" y="4014216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114800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1353312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777240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highly protein-bound drugs act less and cross the BBB poorly? Only free (unbound) drug is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S52; S53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sublingual skip first-pass? It drains into systemic veins, not the portal vein — so the drug reaches the body before the liver can inactivate it.</a:t>
            </a:r>
            <a:r>
              <a:rPr lang="en-US" sz="1300" dirty="0">
                <a:solidFill>
                  <a:srgbClr val="666666"/>
                </a:solidFill>
              </a:rPr>
              <a:t>  S55; S51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Big first-pass drugs "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eed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lenty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ore by mouth":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itroglycerin,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ropranolol,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106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994660"/>
          </a:xfrm>
          <a:prstGeom prst="roundRect">
            <a:avLst>
              <a:gd name="adj" fmla="val 36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125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F</a:t>
            </a:r>
            <a:r>
              <a:rPr lang="en-US" sz="1800" dirty="0">
                <a:solidFill>
                  <a:srgbClr val="1F1F1F"/>
                </a:solidFill>
              </a:rPr>
              <a:t> = fraction of dose reaching systemic circulation unchanged; IV = 100%.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First-pass: oral → GI → portal → liver → systemic; big examples nitroglycerin, propranolol, morphine.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route except oral bypasses first-pass (sublingual = direct to systemic veins).</a:t>
            </a:r>
            <a:r>
              <a:rPr lang="en-US" sz="1300" dirty="0">
                <a:solidFill>
                  <a:srgbClr val="666666"/>
                </a:solidFill>
              </a:rPr>
              <a:t>  S49 (notes); S55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</a:t>
            </a:r>
            <a:r>
              <a:rPr lang="en-US" sz="1800" b="1" dirty="0">
                <a:solidFill>
                  <a:srgbClr val="1F1F1F"/>
                </a:solidFill>
              </a:rPr>
              <a:t>free (unbound)</a:t>
            </a:r>
            <a:r>
              <a:rPr lang="en-US" sz="1800" dirty="0">
                <a:solidFill>
                  <a:srgbClr val="1F1F1F"/>
                </a:solidFill>
              </a:rPr>
              <a:t> drug is active; high </a:t>
            </a:r>
            <a:r>
              <a:rPr lang="en-US" sz="1800" b="1" dirty="0">
                <a:solidFill>
                  <a:srgbClr val="1F1F1F"/>
                </a:solidFill>
              </a:rPr>
              <a:t>Vd</a:t>
            </a:r>
            <a:r>
              <a:rPr lang="en-US" sz="1800" dirty="0">
                <a:solidFill>
                  <a:srgbClr val="1F1F1F"/>
                </a:solidFill>
              </a:rPr>
              <a:t> = drug mostly in tissue (e.g., digoxin).</a:t>
            </a:r>
            <a:r>
              <a:rPr lang="en-US" sz="1300" dirty="0">
                <a:solidFill>
                  <a:srgbClr val="666666"/>
                </a:solidFill>
              </a:rPr>
              <a:t>  S52;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BBB: small, lipophilic, non-ionized drugs cross; P-glycoprotein pumps some back out.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S47-48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1202436"/>
          </a:xfrm>
          <a:prstGeom prst="roundRect">
            <a:avLst>
              <a:gd name="adj" fmla="val 760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5, two separate arrows leave the Central Compartment box: one labeled "M" pointing to Metabolism (Liver), and one labeled "E" pointing to Excretion (Kidney). Together, these two arrows represent which part of ADME?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73862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386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71119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28726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872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325983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and distribution — how the drug arrives and spreads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83590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359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80847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Only the excretion step — removal of the drug via the kidney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38454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3845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3571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only — movement from the dose site into the blood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93318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9331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90575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Distribution only — how the drug moves out into the tissues</a:t>
            </a:r>
            <a:endParaRPr lang="en-US" sz="18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19: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M arrow (liver, biotransformation) and E arrow (kidney, elimination) are the back half of ADME — how the body gets rid of the drug (S48).</a:t>
            </a:r>
            <a:r>
              <a:rPr lang="en-US" sz="1100" dirty="0">
                <a:solidFill>
                  <a:srgbClr val="666666"/>
                </a:solidFill>
              </a:rPr>
              <a:t>  S46; S47-48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Absorption and distribution — how the drug arrives and spreads — </a:t>
            </a:r>
            <a:r>
              <a:rPr lang="en-US" sz="1600" dirty="0">
                <a:solidFill>
                  <a:srgbClr val="1F1F1F"/>
                </a:solidFill>
              </a:rPr>
              <a:t>Absorption and distribution govern how the drug arrives and spreads, not how it leaves (S48).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Only the excretion step — removal of the drug via the kidney — </a:t>
            </a:r>
            <a:r>
              <a:rPr lang="en-US" sz="1600" dirty="0">
                <a:solidFill>
                  <a:srgbClr val="1F1F1F"/>
                </a:solidFill>
              </a:rPr>
              <a:t>The figure shows TWO arrows: M (liver) and E (kidney) (S47-48).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Absorption only — movement from the dose site into the blood — </a:t>
            </a:r>
            <a:r>
              <a:rPr lang="en-US" sz="1600" dirty="0">
                <a:solidFill>
                  <a:srgbClr val="1F1F1F"/>
                </a:solidFill>
              </a:rPr>
              <a:t>Absorption is how the dose enters the bloodstream (S45), before the central compartment.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Distribution only — how the drug moves out into the tissues — </a:t>
            </a:r>
            <a:r>
              <a:rPr lang="en-US" sz="1600" dirty="0">
                <a:solidFill>
                  <a:srgbClr val="1F1F1F"/>
                </a:solidFill>
              </a:rPr>
              <a:t>Distribution is the arrow to the peripheral compartment, not to the liver/kidney (S46).</a:t>
            </a:r>
            <a:endParaRPr lang="en-US" sz="16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S54-55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20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Which route of administration bypasses first-pass hepatic metabolism entirely, by entering systemic venous circulation directly?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empty stomach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Every route equally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Sublingual route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taken with food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crushed tablet</a:t>
            </a:r>
            <a:endParaRPr lang="en-US" sz="18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20: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Sublingual route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Sublingual absorption enters systemic venous circulation directly, bypassing the portal vein and liver (S55).</a:t>
            </a:r>
            <a:r>
              <a:rPr lang="en-US" sz="1100" dirty="0">
                <a:solidFill>
                  <a:srgbClr val="666666"/>
                </a:solidFill>
              </a:rPr>
              <a:t>  S54-55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Oral, empty stomach — </a:t>
            </a:r>
            <a:r>
              <a:rPr lang="en-US" sz="1600" dirty="0">
                <a:solidFill>
                  <a:srgbClr val="1F1F1F"/>
                </a:solidFill>
              </a:rPr>
              <a:t>Oral drugs are absorbed into the portal circulation and pass through the liver first (S55).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Every route equally — </a:t>
            </a:r>
            <a:r>
              <a:rPr lang="en-US" sz="1600" dirty="0">
                <a:solidFill>
                  <a:srgbClr val="1F1F1F"/>
                </a:solidFill>
              </a:rPr>
              <a:t>Essentially every route except oral bypasses first-pass metabolism (S49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Oral, taken with food — </a:t>
            </a:r>
            <a:r>
              <a:rPr lang="en-US" sz="1600" dirty="0">
                <a:solidFill>
                  <a:srgbClr val="1F1F1F"/>
                </a:solidFill>
              </a:rPr>
              <a:t>Food doesn't change the oral route's path through the portal vein and liver (S55).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Oral, crushed tablet — </a:t>
            </a:r>
            <a:r>
              <a:rPr lang="en-US" sz="1600" dirty="0">
                <a:solidFill>
                  <a:srgbClr val="1F1F1F"/>
                </a:solidFill>
              </a:rPr>
              <a:t>Any oral dose goes GI → portal circulation → liver (S51).</a:t>
            </a:r>
            <a:endParaRPr lang="en-US" sz="16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stable on IV propranolol is switched to the oral form and needs a much higher oral dose to reach the same systemic exposure. Which best explains this?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 propranolol cannot cross the blood-brain barrier, so more must be given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has a narrow therapeutic index, so oral doses must be higher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IV form was less than 100% bioavailable, so less drug reached the blood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is highly protein-bound, so the oral form is inactive in plasma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8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21: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Propranolol has a large first-pass effect; oral doses pass GI → portal → liver before systemic circulation, so higher oral doses are needed to match IV exposure (S51, S50).</a:t>
            </a:r>
            <a:r>
              <a:rPr lang="en-US" sz="1100" dirty="0">
                <a:solidFill>
                  <a:srgbClr val="666666"/>
                </a:solidFill>
              </a:rPr>
              <a:t>  S50; S51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Oral propranolol cannot cross the blood-brain barrier, so more must be given — </a:t>
            </a:r>
            <a:r>
              <a:rPr lang="en-US" sz="1600" dirty="0">
                <a:solidFill>
                  <a:srgbClr val="1F1F1F"/>
                </a:solidFill>
              </a:rPr>
              <a:t>BBB crossing relates to CNS entry (S53), not systemic exposure after an oral dose.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Propranolol has a narrow therapeutic index, so oral doses must be higher — </a:t>
            </a:r>
            <a:r>
              <a:rPr lang="en-US" sz="1600" dirty="0">
                <a:solidFill>
                  <a:srgbClr val="1F1F1F"/>
                </a:solidFill>
              </a:rPr>
              <a:t>Narrow TI calls for careful dosing and monitoring (S38); propranolol is named for first-pass, not narrow TI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IV form was less than 100% bioavailable, so less drug reached the blood — </a:t>
            </a:r>
            <a:r>
              <a:rPr lang="en-US" sz="1600" dirty="0">
                <a:solidFill>
                  <a:srgbClr val="1F1F1F"/>
                </a:solidFill>
              </a:rPr>
              <a:t>IV has 100% bioavailability by definition (S50).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Propranolol is highly protein-bound, so the oral form is inactive in plasma — </a:t>
            </a:r>
            <a:r>
              <a:rPr lang="en-US" sz="1600" dirty="0">
                <a:solidFill>
                  <a:srgbClr val="1F1F1F"/>
                </a:solidFill>
              </a:rPr>
              <a:t>Protein binding affects free drug in plasma regardless of route (S52); the IV-to-oral gap is the first-pass effect (S51).</a:t>
            </a:r>
            <a:endParaRPr lang="en-US" sz="16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with meningitis receives a highly polar antibiotic. Which statement best describes this drug's ability to reach the CNS?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usually cross poorly, but inflamed meninges allow better entry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never reach the CNS, even when the meninges are inflamed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easily because P-glycoprotein pumps them into the CNS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easily because tight junctions favor polar molecules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well because the brain is a poorly perfused tissue</a:t>
            </a:r>
            <a:endParaRPr lang="en-US" sz="18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22: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Polar drugs usually cross poorly, but inflamed meninges allow better entry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highly polar antibiotic generally would not cross the BBB well — unless the meninges are inflamed, as in meningitis (S53 notes).</a:t>
            </a:r>
            <a:r>
              <a:rPr lang="en-US" sz="1100" dirty="0">
                <a:solidFill>
                  <a:srgbClr val="666666"/>
                </a:solidFill>
              </a:rPr>
              <a:t>  S53; S53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Polar drugs never reach the CNS, even when the meninges are inflamed — </a:t>
            </a:r>
            <a:r>
              <a:rPr lang="en-US" sz="1600" dirty="0">
                <a:solidFill>
                  <a:srgbClr val="1F1F1F"/>
                </a:solidFill>
              </a:rPr>
              <a:t>Inflamed meninges (meningitis) are the stated exception (S53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Polar drugs cross easily because P-glycoprotein pumps them into the CNS — </a:t>
            </a:r>
            <a:r>
              <a:rPr lang="en-US" sz="1600" dirty="0">
                <a:solidFill>
                  <a:srgbClr val="1F1F1F"/>
                </a:solidFill>
              </a:rPr>
              <a:t>Efflux transporters like P-glycoprotein pump some drugs back OUT of the CNS (S53).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Polar drugs cross easily because tight junctions favor polar molecules — </a:t>
            </a:r>
            <a:r>
              <a:rPr lang="en-US" sz="1600" dirty="0">
                <a:solidFill>
                  <a:srgbClr val="1F1F1F"/>
                </a:solidFill>
              </a:rPr>
              <a:t>Tight junctions restrict paracellular movement; small lipophilic non-ionized drugs cross more easily (S53).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Polar drugs cross well because the brain is a poorly perfused tissue — </a:t>
            </a:r>
            <a:r>
              <a:rPr lang="en-US" sz="1600" dirty="0">
                <a:solidFill>
                  <a:srgbClr val="1F1F1F"/>
                </a:solidFill>
              </a:rPr>
              <a:t>The brain is highly perfused (S52), and perfusion does not overcome the BBB for polar drugs (S53).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 deck light">
  <a:themeElements>
    <a:clrScheme name="Study deck light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tudy deck ligh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114</Slides>
  <Notes>114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114</vt:i4>
      </vt:variant>
    </vt:vector>
  </HeadingPairs>
  <TitlesOfParts>
    <vt:vector size="1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L01 Introduction to Pharmacology — Session 1</dc:title>
  <dc:subject>PptxGenJS Presentation</dc:subject>
  <dc:creator>PptxGenJS</dc:creator>
  <cp:lastModifiedBy>PptxGenJS</cp:lastModifiedBy>
  <cp:revision>1</cp:revision>
  <dcterms:created xsi:type="dcterms:W3CDTF">2026-10-22T18:45:00Z</dcterms:created>
  <dcterms:modified xsi:type="dcterms:W3CDTF">2026-10-22T18:45:00Z</dcterms:modified>
</cp:coreProperties>
</file>